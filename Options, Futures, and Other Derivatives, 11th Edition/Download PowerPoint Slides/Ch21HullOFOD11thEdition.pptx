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s/slide37.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6.xml" ContentType="application/vnd.openxmlformats-officedocument.presentationml.slide+xml"/>
  <Override PartName="/ppt/slides/slide35.xml" ContentType="application/vnd.openxmlformats-officedocument.presentationml.slide+xml"/>
  <Override PartName="/ppt/slides/slide34.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9.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8.xml" ContentType="application/vnd.openxmlformats-officedocument.presentationml.slide+xml"/>
  <Override PartName="/ppt/slides/slide14.xml" ContentType="application/vnd.openxmlformats-officedocument.presentationml.slide+xml"/>
  <Override PartName="/ppt/slides/slide7.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notesSlides/notesSlide34.xml" ContentType="application/vnd.openxmlformats-officedocument.presentationml.notesSlide+xml"/>
  <Override PartName="/ppt/notesSlides/notesSlide33.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1.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2.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25.xml" ContentType="application/vnd.openxmlformats-officedocument.presentationml.notesSlide+xml"/>
  <Override PartName="/ppt/notesSlides/notesSlide24.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notesSlides/notesSlide11.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18.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7.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4.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2" r:id="rId1"/>
  </p:sldMasterIdLst>
  <p:notesMasterIdLst>
    <p:notesMasterId r:id="rId42"/>
  </p:notesMasterIdLst>
  <p:sldIdLst>
    <p:sldId id="256" r:id="rId2"/>
    <p:sldId id="259" r:id="rId3"/>
    <p:sldId id="260" r:id="rId4"/>
    <p:sldId id="261" r:id="rId5"/>
    <p:sldId id="262" r:id="rId6"/>
    <p:sldId id="263" r:id="rId7"/>
    <p:sldId id="264" r:id="rId8"/>
    <p:sldId id="265" r:id="rId9"/>
    <p:sldId id="266" r:id="rId10"/>
    <p:sldId id="29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8" r:id="rId35"/>
    <p:sldId id="291" r:id="rId36"/>
    <p:sldId id="292" r:id="rId37"/>
    <p:sldId id="293" r:id="rId38"/>
    <p:sldId id="294" r:id="rId39"/>
    <p:sldId id="295" r:id="rId40"/>
    <p:sldId id="296" r:id="rId41"/>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22" y="6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customXml" Target="../customXml/item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customXml" Target="../customXml/item3.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48" Type="http://schemas.openxmlformats.org/officeDocument/2006/relationships/customXml" Target="../customXml/item2.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15.wmf"/><Relationship Id="rId1" Type="http://schemas.openxmlformats.org/officeDocument/2006/relationships/image" Target="../media/image14.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7.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B50D224A-7BD4-47F4-8ACA-550EC6298048}" type="datetimeFigureOut">
              <a:rPr lang="en-US"/>
              <a:pPr>
                <a:defRPr/>
              </a:pPr>
              <a:t>9/30/2020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40080A91-03FF-487B-90F7-EE5F50291178}" type="slidenum">
              <a:rPr lang="en-US"/>
              <a:pPr>
                <a:defRPr/>
              </a:pPr>
              <a:t>‹#›</a:t>
            </a:fld>
            <a:endParaRPr lang="en-US"/>
          </a:p>
        </p:txBody>
      </p:sp>
    </p:spTree>
    <p:extLst>
      <p:ext uri="{BB962C8B-B14F-4D97-AF65-F5344CB8AC3E}">
        <p14:creationId xmlns:p14="http://schemas.microsoft.com/office/powerpoint/2010/main" val="49847437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
        <p:nvSpPr>
          <p:cNvPr id="50180"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D1E28903-C62B-4F03-942A-D053A80290B5}" type="slidenum">
              <a:rPr lang="en-US" smtClean="0"/>
              <a:pPr fontAlgn="base">
                <a:spcBef>
                  <a:spcPct val="0"/>
                </a:spcBef>
                <a:spcAft>
                  <a:spcPct val="0"/>
                </a:spcAft>
                <a:defRPr/>
              </a:pPr>
              <a:t>1</a:t>
            </a:fld>
            <a:endParaRPr lang="en-US" smtClean="0"/>
          </a:p>
        </p:txBody>
      </p:sp>
    </p:spTree>
    <p:extLst>
      <p:ext uri="{BB962C8B-B14F-4D97-AF65-F5344CB8AC3E}">
        <p14:creationId xmlns:p14="http://schemas.microsoft.com/office/powerpoint/2010/main" val="27486144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5"/>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6D43FCDB-A2E0-4250-B131-E0C7056B247E}" type="slidenum">
              <a:rPr lang="en-US" smtClean="0"/>
              <a:pPr fontAlgn="base">
                <a:spcBef>
                  <a:spcPct val="0"/>
                </a:spcBef>
                <a:spcAft>
                  <a:spcPct val="0"/>
                </a:spcAft>
                <a:defRPr/>
              </a:pPr>
              <a:t>2</a:t>
            </a:fld>
            <a:endParaRPr lang="en-US" smtClean="0"/>
          </a:p>
        </p:txBody>
      </p:sp>
      <p:sp>
        <p:nvSpPr>
          <p:cNvPr id="50179" name="Rectangle 2"/>
          <p:cNvSpPr>
            <a:spLocks noGrp="1" noRot="1" noChangeAspect="1" noChangeArrowheads="1" noTextEdit="1"/>
          </p:cNvSpPr>
          <p:nvPr>
            <p:ph type="sldImg"/>
          </p:nvPr>
        </p:nvSpPr>
        <p:spPr bwMode="auto">
          <a:xfrm>
            <a:off x="1144588" y="687388"/>
            <a:ext cx="4568825" cy="342582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8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28047188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5"/>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82BA7927-7B40-457A-92DE-95B38708775A}" type="slidenum">
              <a:rPr lang="en-US" smtClean="0"/>
              <a:pPr fontAlgn="base">
                <a:spcBef>
                  <a:spcPct val="0"/>
                </a:spcBef>
                <a:spcAft>
                  <a:spcPct val="0"/>
                </a:spcAft>
                <a:defRPr/>
              </a:pPr>
              <a:t>3</a:t>
            </a:fld>
            <a:endParaRPr lang="en-US" smtClean="0"/>
          </a:p>
        </p:txBody>
      </p:sp>
      <p:sp>
        <p:nvSpPr>
          <p:cNvPr id="51203" name="Rectangle 2"/>
          <p:cNvSpPr>
            <a:spLocks noGrp="1" noRot="1" noChangeAspect="1" noChangeArrowheads="1" noTextEdit="1"/>
          </p:cNvSpPr>
          <p:nvPr>
            <p:ph type="sldImg"/>
          </p:nvPr>
        </p:nvSpPr>
        <p:spPr bwMode="auto">
          <a:xfrm>
            <a:off x="1144588" y="687388"/>
            <a:ext cx="4568825" cy="3425825"/>
          </a:xfrm>
          <a:noFill/>
          <a:ln cap="flat">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51204" name="Rectangle 3"/>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numCol="1" anchor="t" anchorCtr="0" compatLnSpc="1">
            <a:prstTxWarp prst="textNoShape">
              <a:avLst/>
            </a:prstTxWarp>
          </a:bodyPr>
          <a:lstStyle/>
          <a:p>
            <a:pPr eaLnBrk="1" hangingPunct="1">
              <a:spcBef>
                <a:spcPct val="0"/>
              </a:spcBef>
            </a:pPr>
            <a:endParaRPr lang="en-CA" altLang="en-US" smtClean="0"/>
          </a:p>
        </p:txBody>
      </p:sp>
    </p:spTree>
    <p:extLst>
      <p:ext uri="{BB962C8B-B14F-4D97-AF65-F5344CB8AC3E}">
        <p14:creationId xmlns:p14="http://schemas.microsoft.com/office/powerpoint/2010/main" val="26173863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5"/>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4133A558-DE3A-45C4-A7D5-1191FDD9DB70}" type="slidenum">
              <a:rPr lang="en-US" smtClean="0"/>
              <a:pPr fontAlgn="base">
                <a:spcBef>
                  <a:spcPct val="0"/>
                </a:spcBef>
                <a:spcAft>
                  <a:spcPct val="0"/>
                </a:spcAft>
                <a:defRPr/>
              </a:pPr>
              <a:t>4</a:t>
            </a:fld>
            <a:endParaRPr lang="en-US" smtClean="0"/>
          </a:p>
        </p:txBody>
      </p:sp>
      <p:sp>
        <p:nvSpPr>
          <p:cNvPr id="52227" name="Rectangle 2"/>
          <p:cNvSpPr>
            <a:spLocks noGrp="1" noRot="1" noChangeAspect="1" noChangeArrowheads="1" noTextEdit="1"/>
          </p:cNvSpPr>
          <p:nvPr>
            <p:ph type="sldImg"/>
          </p:nvPr>
        </p:nvSpPr>
        <p:spPr bwMode="auto">
          <a:xfrm>
            <a:off x="1144588" y="687388"/>
            <a:ext cx="4568825" cy="3425825"/>
          </a:xfrm>
          <a:noFill/>
          <a:ln cap="flat">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52228" name="Rectangle 3"/>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numCol="1" anchor="t" anchorCtr="0" compatLnSpc="1">
            <a:prstTxWarp prst="textNoShape">
              <a:avLst/>
            </a:prstTxWarp>
          </a:bodyPr>
          <a:lstStyle/>
          <a:p>
            <a:pPr eaLnBrk="1" hangingPunct="1">
              <a:spcBef>
                <a:spcPct val="0"/>
              </a:spcBef>
            </a:pPr>
            <a:endParaRPr lang="en-CA" altLang="en-US" smtClean="0"/>
          </a:p>
        </p:txBody>
      </p:sp>
    </p:spTree>
    <p:extLst>
      <p:ext uri="{BB962C8B-B14F-4D97-AF65-F5344CB8AC3E}">
        <p14:creationId xmlns:p14="http://schemas.microsoft.com/office/powerpoint/2010/main" val="7273194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5"/>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9523F1A5-5457-4F95-A48F-C36810EBFB35}" type="slidenum">
              <a:rPr lang="en-US" smtClean="0"/>
              <a:pPr fontAlgn="base">
                <a:spcBef>
                  <a:spcPct val="0"/>
                </a:spcBef>
                <a:spcAft>
                  <a:spcPct val="0"/>
                </a:spcAft>
                <a:defRPr/>
              </a:pPr>
              <a:t>5</a:t>
            </a:fld>
            <a:endParaRPr lang="en-US" smtClean="0"/>
          </a:p>
        </p:txBody>
      </p:sp>
    </p:spTree>
    <p:extLst>
      <p:ext uri="{BB962C8B-B14F-4D97-AF65-F5344CB8AC3E}">
        <p14:creationId xmlns:p14="http://schemas.microsoft.com/office/powerpoint/2010/main" val="36526257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5"/>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04E18C29-C90E-4B50-8C9A-E7F0B6DDFDA0}" type="slidenum">
              <a:rPr lang="en-US" smtClean="0"/>
              <a:pPr fontAlgn="base">
                <a:spcBef>
                  <a:spcPct val="0"/>
                </a:spcBef>
                <a:spcAft>
                  <a:spcPct val="0"/>
                </a:spcAft>
                <a:defRPr/>
              </a:pPr>
              <a:t>6</a:t>
            </a:fld>
            <a:endParaRPr lang="en-US" smtClean="0"/>
          </a:p>
        </p:txBody>
      </p:sp>
      <p:sp>
        <p:nvSpPr>
          <p:cNvPr id="54275" name="Rectangle 2"/>
          <p:cNvSpPr>
            <a:spLocks noGrp="1" noRot="1" noChangeAspect="1" noChangeArrowheads="1" noTextEdit="1"/>
          </p:cNvSpPr>
          <p:nvPr>
            <p:ph type="sldImg"/>
          </p:nvPr>
        </p:nvSpPr>
        <p:spPr bwMode="auto">
          <a:xfrm>
            <a:off x="1144588" y="687388"/>
            <a:ext cx="4568825" cy="3425825"/>
          </a:xfrm>
          <a:noFill/>
          <a:ln cap="flat">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54276" name="Rectangle 3"/>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numCol="1" anchor="t" anchorCtr="0" compatLnSpc="1">
            <a:prstTxWarp prst="textNoShape">
              <a:avLst/>
            </a:prstTxWarp>
          </a:bodyPr>
          <a:lstStyle/>
          <a:p>
            <a:pPr eaLnBrk="1" hangingPunct="1">
              <a:spcBef>
                <a:spcPct val="0"/>
              </a:spcBef>
            </a:pPr>
            <a:endParaRPr lang="en-CA" altLang="en-US" smtClean="0"/>
          </a:p>
        </p:txBody>
      </p:sp>
    </p:spTree>
    <p:extLst>
      <p:ext uri="{BB962C8B-B14F-4D97-AF65-F5344CB8AC3E}">
        <p14:creationId xmlns:p14="http://schemas.microsoft.com/office/powerpoint/2010/main" val="27324255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5"/>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166A2C51-1406-422D-8553-1A061E2BB390}" type="slidenum">
              <a:rPr lang="en-US" smtClean="0"/>
              <a:pPr fontAlgn="base">
                <a:spcBef>
                  <a:spcPct val="0"/>
                </a:spcBef>
                <a:spcAft>
                  <a:spcPct val="0"/>
                </a:spcAft>
                <a:defRPr/>
              </a:pPr>
              <a:t>7</a:t>
            </a:fld>
            <a:endParaRPr lang="en-US" smtClean="0"/>
          </a:p>
        </p:txBody>
      </p:sp>
      <p:sp>
        <p:nvSpPr>
          <p:cNvPr id="55299" name="Rectangle 2"/>
          <p:cNvSpPr>
            <a:spLocks noGrp="1" noRot="1" noChangeAspect="1" noChangeArrowheads="1" noTextEdit="1"/>
          </p:cNvSpPr>
          <p:nvPr>
            <p:ph type="sldImg"/>
          </p:nvPr>
        </p:nvSpPr>
        <p:spPr bwMode="auto">
          <a:xfrm>
            <a:off x="1144588" y="687388"/>
            <a:ext cx="4568825" cy="3425825"/>
          </a:xfrm>
          <a:noFill/>
          <a:ln cap="flat">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55300" name="Rectangle 3"/>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numCol="1" anchor="t" anchorCtr="0" compatLnSpc="1">
            <a:prstTxWarp prst="textNoShape">
              <a:avLst/>
            </a:prstTxWarp>
          </a:bodyPr>
          <a:lstStyle/>
          <a:p>
            <a:pPr eaLnBrk="1" hangingPunct="1">
              <a:spcBef>
                <a:spcPct val="0"/>
              </a:spcBef>
            </a:pPr>
            <a:endParaRPr lang="en-CA" altLang="en-US" smtClean="0"/>
          </a:p>
        </p:txBody>
      </p:sp>
    </p:spTree>
    <p:extLst>
      <p:ext uri="{BB962C8B-B14F-4D97-AF65-F5344CB8AC3E}">
        <p14:creationId xmlns:p14="http://schemas.microsoft.com/office/powerpoint/2010/main" val="21341481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5"/>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FBDB2954-EF4F-47E0-8BBD-5445B9FF0B8D}" type="slidenum">
              <a:rPr lang="en-US" smtClean="0"/>
              <a:pPr fontAlgn="base">
                <a:spcBef>
                  <a:spcPct val="0"/>
                </a:spcBef>
                <a:spcAft>
                  <a:spcPct val="0"/>
                </a:spcAft>
                <a:defRPr/>
              </a:pPr>
              <a:t>8</a:t>
            </a:fld>
            <a:endParaRPr lang="en-US" smtClean="0"/>
          </a:p>
        </p:txBody>
      </p:sp>
      <p:sp>
        <p:nvSpPr>
          <p:cNvPr id="56323" name="Rectangle 2"/>
          <p:cNvSpPr>
            <a:spLocks noGrp="1" noRot="1" noChangeAspect="1" noChangeArrowheads="1" noTextEdit="1"/>
          </p:cNvSpPr>
          <p:nvPr>
            <p:ph type="sldImg"/>
          </p:nvPr>
        </p:nvSpPr>
        <p:spPr bwMode="auto">
          <a:xfrm>
            <a:off x="1144588" y="687388"/>
            <a:ext cx="4568825" cy="3425825"/>
          </a:xfrm>
          <a:noFill/>
          <a:ln cap="flat">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56324" name="Rectangle 3"/>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numCol="1" anchor="t" anchorCtr="0" compatLnSpc="1">
            <a:prstTxWarp prst="textNoShape">
              <a:avLst/>
            </a:prstTxWarp>
          </a:bodyPr>
          <a:lstStyle/>
          <a:p>
            <a:pPr eaLnBrk="1" hangingPunct="1">
              <a:spcBef>
                <a:spcPct val="0"/>
              </a:spcBef>
            </a:pPr>
            <a:endParaRPr lang="en-CA" altLang="en-US" smtClean="0"/>
          </a:p>
        </p:txBody>
      </p:sp>
    </p:spTree>
    <p:extLst>
      <p:ext uri="{BB962C8B-B14F-4D97-AF65-F5344CB8AC3E}">
        <p14:creationId xmlns:p14="http://schemas.microsoft.com/office/powerpoint/2010/main" val="8196916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5"/>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D9AC7772-B774-499F-8300-9A15C5D9653F}" type="slidenum">
              <a:rPr lang="en-US" smtClean="0"/>
              <a:pPr fontAlgn="base">
                <a:spcBef>
                  <a:spcPct val="0"/>
                </a:spcBef>
                <a:spcAft>
                  <a:spcPct val="0"/>
                </a:spcAft>
                <a:defRPr/>
              </a:pPr>
              <a:t>9</a:t>
            </a:fld>
            <a:endParaRPr lang="en-US" smtClean="0"/>
          </a:p>
        </p:txBody>
      </p:sp>
      <p:sp>
        <p:nvSpPr>
          <p:cNvPr id="57347" name="Rectangle 2"/>
          <p:cNvSpPr>
            <a:spLocks noGrp="1" noRot="1" noChangeAspect="1" noChangeArrowheads="1" noTextEdit="1"/>
          </p:cNvSpPr>
          <p:nvPr>
            <p:ph type="sldImg"/>
          </p:nvPr>
        </p:nvSpPr>
        <p:spPr bwMode="auto">
          <a:xfrm>
            <a:off x="1144588" y="687388"/>
            <a:ext cx="4568825" cy="3425825"/>
          </a:xfrm>
          <a:noFill/>
          <a:ln cap="flat">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57348" name="Rectangle 3"/>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numCol="1" anchor="t" anchorCtr="0" compatLnSpc="1">
            <a:prstTxWarp prst="textNoShape">
              <a:avLst/>
            </a:prstTxWarp>
          </a:bodyPr>
          <a:lstStyle/>
          <a:p>
            <a:pPr eaLnBrk="1" hangingPunct="1">
              <a:spcBef>
                <a:spcPct val="0"/>
              </a:spcBef>
            </a:pPr>
            <a:endParaRPr lang="en-CA" altLang="en-US" smtClean="0"/>
          </a:p>
        </p:txBody>
      </p:sp>
    </p:spTree>
    <p:extLst>
      <p:ext uri="{BB962C8B-B14F-4D97-AF65-F5344CB8AC3E}">
        <p14:creationId xmlns:p14="http://schemas.microsoft.com/office/powerpoint/2010/main" val="22630947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Slide Number Placeholder 3"/>
          <p:cNvSpPr>
            <a:spLocks noGrp="1"/>
          </p:cNvSpPr>
          <p:nvPr>
            <p:ph type="sldNum" sz="quarter" idx="5"/>
          </p:nvPr>
        </p:nvSpPr>
        <p:spPr/>
        <p:txBody>
          <a:bodyPr/>
          <a:lstStyle/>
          <a:p>
            <a:pPr>
              <a:defRPr/>
            </a:pPr>
            <a:fld id="{0EEEB26F-D63F-4E63-9C21-CAF62D14F5C4}" type="slidenum">
              <a:rPr lang="en-US" smtClean="0"/>
              <a:pPr>
                <a:defRPr/>
              </a:pPr>
              <a:t>10</a:t>
            </a:fld>
            <a:endParaRPr lang="en-US"/>
          </a:p>
        </p:txBody>
      </p:sp>
    </p:spTree>
    <p:extLst>
      <p:ext uri="{BB962C8B-B14F-4D97-AF65-F5344CB8AC3E}">
        <p14:creationId xmlns:p14="http://schemas.microsoft.com/office/powerpoint/2010/main" val="367011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5"/>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25D7D91A-E2A9-4A7D-8DA6-C463D2C9165F}" type="slidenum">
              <a:rPr lang="en-US" smtClean="0"/>
              <a:pPr fontAlgn="base">
                <a:spcBef>
                  <a:spcPct val="0"/>
                </a:spcBef>
                <a:spcAft>
                  <a:spcPct val="0"/>
                </a:spcAft>
                <a:defRPr/>
              </a:pPr>
              <a:t>11</a:t>
            </a:fld>
            <a:endParaRPr lang="en-US" smtClean="0"/>
          </a:p>
        </p:txBody>
      </p:sp>
      <p:sp>
        <p:nvSpPr>
          <p:cNvPr id="59395" name="Rectangle 2"/>
          <p:cNvSpPr>
            <a:spLocks noGrp="1" noRot="1" noChangeAspect="1" noChangeArrowheads="1" noTextEdit="1"/>
          </p:cNvSpPr>
          <p:nvPr>
            <p:ph type="sldImg"/>
          </p:nvPr>
        </p:nvSpPr>
        <p:spPr bwMode="auto">
          <a:xfrm>
            <a:off x="1144588" y="687388"/>
            <a:ext cx="4568825" cy="3425825"/>
          </a:xfrm>
          <a:solidFill>
            <a:srgbClr val="FFFFFF"/>
          </a:solidFill>
          <a:ln>
            <a:solidFill>
              <a:srgbClr val="000000"/>
            </a:solidFill>
            <a:miter lim="800000"/>
            <a:headEnd/>
            <a:tailEnd/>
          </a:ln>
        </p:spPr>
      </p:sp>
      <p:sp>
        <p:nvSpPr>
          <p:cNvPr id="59396" name="Rectangle 3"/>
          <p:cNvSpPr>
            <a:spLocks noGrp="1" noChangeArrowheads="1"/>
          </p:cNvSpPr>
          <p:nvPr>
            <p:ph type="body" idx="1"/>
          </p:nvPr>
        </p:nvSpPr>
        <p:spPr bwMode="auto">
          <a:xfrm>
            <a:off x="914400" y="4343400"/>
            <a:ext cx="5029200" cy="4114800"/>
          </a:xfrm>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spcBef>
                <a:spcPct val="0"/>
              </a:spcBef>
            </a:pPr>
            <a:endParaRPr lang="en-CA" altLang="en-US" smtClean="0"/>
          </a:p>
        </p:txBody>
      </p:sp>
    </p:spTree>
    <p:extLst>
      <p:ext uri="{BB962C8B-B14F-4D97-AF65-F5344CB8AC3E}">
        <p14:creationId xmlns:p14="http://schemas.microsoft.com/office/powerpoint/2010/main" val="6981999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5"/>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E0560D75-5376-4404-BB5A-4D13589CF556}" type="slidenum">
              <a:rPr lang="en-US" smtClean="0"/>
              <a:pPr fontAlgn="base">
                <a:spcBef>
                  <a:spcPct val="0"/>
                </a:spcBef>
                <a:spcAft>
                  <a:spcPct val="0"/>
                </a:spcAft>
                <a:defRPr/>
              </a:pPr>
              <a:t>12</a:t>
            </a:fld>
            <a:endParaRPr lang="en-US" smtClean="0"/>
          </a:p>
        </p:txBody>
      </p:sp>
      <p:sp>
        <p:nvSpPr>
          <p:cNvPr id="60419" name="Rectangle 2"/>
          <p:cNvSpPr>
            <a:spLocks noGrp="1" noRot="1" noChangeAspect="1" noChangeArrowheads="1" noTextEdit="1"/>
          </p:cNvSpPr>
          <p:nvPr>
            <p:ph type="sldImg"/>
          </p:nvPr>
        </p:nvSpPr>
        <p:spPr bwMode="auto">
          <a:xfrm>
            <a:off x="1144588" y="687388"/>
            <a:ext cx="4568825" cy="3425825"/>
          </a:xfrm>
          <a:solidFill>
            <a:srgbClr val="FFFFFF"/>
          </a:solidFill>
          <a:ln>
            <a:solidFill>
              <a:srgbClr val="000000"/>
            </a:solidFill>
            <a:miter lim="800000"/>
            <a:headEnd/>
            <a:tailEnd/>
          </a:ln>
        </p:spPr>
      </p:sp>
      <p:sp>
        <p:nvSpPr>
          <p:cNvPr id="60420" name="Rectangle 3"/>
          <p:cNvSpPr>
            <a:spLocks noGrp="1" noChangeArrowheads="1"/>
          </p:cNvSpPr>
          <p:nvPr>
            <p:ph type="body" idx="1"/>
          </p:nvPr>
        </p:nvSpPr>
        <p:spPr bwMode="auto">
          <a:xfrm>
            <a:off x="914400" y="4343400"/>
            <a:ext cx="5029200" cy="4114800"/>
          </a:xfrm>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spcBef>
                <a:spcPct val="0"/>
              </a:spcBef>
            </a:pPr>
            <a:endParaRPr lang="en-CA" altLang="en-US" smtClean="0"/>
          </a:p>
        </p:txBody>
      </p:sp>
    </p:spTree>
    <p:extLst>
      <p:ext uri="{BB962C8B-B14F-4D97-AF65-F5344CB8AC3E}">
        <p14:creationId xmlns:p14="http://schemas.microsoft.com/office/powerpoint/2010/main" val="33115496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5"/>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EAC3CC2A-0BFD-460E-A982-C9F258060682}" type="slidenum">
              <a:rPr lang="en-US" smtClean="0"/>
              <a:pPr fontAlgn="base">
                <a:spcBef>
                  <a:spcPct val="0"/>
                </a:spcBef>
                <a:spcAft>
                  <a:spcPct val="0"/>
                </a:spcAft>
                <a:defRPr/>
              </a:pPr>
              <a:t>13</a:t>
            </a:fld>
            <a:endParaRPr lang="en-US" smtClean="0"/>
          </a:p>
        </p:txBody>
      </p:sp>
      <p:sp>
        <p:nvSpPr>
          <p:cNvPr id="61443" name="Rectangle 2"/>
          <p:cNvSpPr>
            <a:spLocks noGrp="1" noRot="1" noChangeAspect="1" noChangeArrowheads="1" noTextEdit="1"/>
          </p:cNvSpPr>
          <p:nvPr>
            <p:ph type="sldImg"/>
          </p:nvPr>
        </p:nvSpPr>
        <p:spPr bwMode="auto">
          <a:xfrm>
            <a:off x="1144588" y="687388"/>
            <a:ext cx="4568825" cy="3425825"/>
          </a:xfrm>
          <a:solidFill>
            <a:srgbClr val="FFFFFF"/>
          </a:solidFill>
          <a:ln>
            <a:solidFill>
              <a:srgbClr val="000000"/>
            </a:solidFill>
            <a:miter lim="800000"/>
            <a:headEnd/>
            <a:tailEnd/>
          </a:ln>
        </p:spPr>
      </p:sp>
      <p:sp>
        <p:nvSpPr>
          <p:cNvPr id="61444" name="Rectangle 3"/>
          <p:cNvSpPr>
            <a:spLocks noGrp="1" noChangeArrowheads="1"/>
          </p:cNvSpPr>
          <p:nvPr>
            <p:ph type="body" idx="1"/>
          </p:nvPr>
        </p:nvSpPr>
        <p:spPr bwMode="auto">
          <a:xfrm>
            <a:off x="914400" y="4343400"/>
            <a:ext cx="5029200" cy="4114800"/>
          </a:xfrm>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spcBef>
                <a:spcPct val="0"/>
              </a:spcBef>
            </a:pPr>
            <a:endParaRPr lang="en-CA" altLang="en-US" smtClean="0"/>
          </a:p>
        </p:txBody>
      </p:sp>
    </p:spTree>
    <p:extLst>
      <p:ext uri="{BB962C8B-B14F-4D97-AF65-F5344CB8AC3E}">
        <p14:creationId xmlns:p14="http://schemas.microsoft.com/office/powerpoint/2010/main" val="26651780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5"/>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E3A59C7D-541A-48CC-90E6-09983DB27AB0}" type="slidenum">
              <a:rPr lang="en-US" smtClean="0"/>
              <a:pPr fontAlgn="base">
                <a:spcBef>
                  <a:spcPct val="0"/>
                </a:spcBef>
                <a:spcAft>
                  <a:spcPct val="0"/>
                </a:spcAft>
                <a:defRPr/>
              </a:pPr>
              <a:t>14</a:t>
            </a:fld>
            <a:endParaRPr lang="en-US" smtClean="0"/>
          </a:p>
        </p:txBody>
      </p:sp>
      <p:sp>
        <p:nvSpPr>
          <p:cNvPr id="62467" name="Rectangle 2"/>
          <p:cNvSpPr>
            <a:spLocks noGrp="1" noRot="1" noChangeAspect="1" noChangeArrowheads="1" noTextEdit="1"/>
          </p:cNvSpPr>
          <p:nvPr>
            <p:ph type="sldImg"/>
          </p:nvPr>
        </p:nvSpPr>
        <p:spPr bwMode="auto">
          <a:xfrm>
            <a:off x="1144588" y="687388"/>
            <a:ext cx="4568825" cy="3425825"/>
          </a:xfrm>
          <a:solidFill>
            <a:srgbClr val="FFFFFF"/>
          </a:solidFill>
          <a:ln>
            <a:solidFill>
              <a:srgbClr val="000000"/>
            </a:solidFill>
            <a:miter lim="800000"/>
            <a:headEnd/>
            <a:tailEnd/>
          </a:ln>
        </p:spPr>
      </p:sp>
      <p:sp>
        <p:nvSpPr>
          <p:cNvPr id="62468" name="Rectangle 3"/>
          <p:cNvSpPr>
            <a:spLocks noGrp="1" noChangeArrowheads="1"/>
          </p:cNvSpPr>
          <p:nvPr>
            <p:ph type="body" idx="1"/>
          </p:nvPr>
        </p:nvSpPr>
        <p:spPr bwMode="auto">
          <a:xfrm>
            <a:off x="914400" y="4343400"/>
            <a:ext cx="5029200" cy="4114800"/>
          </a:xfrm>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spcBef>
                <a:spcPct val="0"/>
              </a:spcBef>
            </a:pPr>
            <a:endParaRPr lang="en-CA" altLang="en-US" smtClean="0"/>
          </a:p>
        </p:txBody>
      </p:sp>
    </p:spTree>
    <p:extLst>
      <p:ext uri="{BB962C8B-B14F-4D97-AF65-F5344CB8AC3E}">
        <p14:creationId xmlns:p14="http://schemas.microsoft.com/office/powerpoint/2010/main" val="1543926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5"/>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EE73F4E9-39DE-4F66-8C1E-8E76CBC32C27}" type="slidenum">
              <a:rPr lang="en-US" smtClean="0"/>
              <a:pPr fontAlgn="base">
                <a:spcBef>
                  <a:spcPct val="0"/>
                </a:spcBef>
                <a:spcAft>
                  <a:spcPct val="0"/>
                </a:spcAft>
                <a:defRPr/>
              </a:pPr>
              <a:t>15</a:t>
            </a:fld>
            <a:endParaRPr lang="en-US" smtClean="0"/>
          </a:p>
        </p:txBody>
      </p:sp>
      <p:sp>
        <p:nvSpPr>
          <p:cNvPr id="63491" name="Rectangle 2"/>
          <p:cNvSpPr>
            <a:spLocks noGrp="1" noRot="1" noChangeAspect="1" noChangeArrowheads="1" noTextEdit="1"/>
          </p:cNvSpPr>
          <p:nvPr>
            <p:ph type="sldImg"/>
          </p:nvPr>
        </p:nvSpPr>
        <p:spPr bwMode="auto">
          <a:xfrm>
            <a:off x="1144588" y="687388"/>
            <a:ext cx="4568825" cy="3425825"/>
          </a:xfrm>
          <a:noFill/>
          <a:ln cap="flat">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63492" name="Rectangle 3"/>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numCol="1" anchor="t" anchorCtr="0" compatLnSpc="1">
            <a:prstTxWarp prst="textNoShape">
              <a:avLst/>
            </a:prstTxWarp>
          </a:bodyPr>
          <a:lstStyle/>
          <a:p>
            <a:pPr eaLnBrk="1" hangingPunct="1">
              <a:spcBef>
                <a:spcPct val="0"/>
              </a:spcBef>
            </a:pPr>
            <a:endParaRPr lang="en-CA" altLang="en-US" smtClean="0"/>
          </a:p>
        </p:txBody>
      </p:sp>
    </p:spTree>
    <p:extLst>
      <p:ext uri="{BB962C8B-B14F-4D97-AF65-F5344CB8AC3E}">
        <p14:creationId xmlns:p14="http://schemas.microsoft.com/office/powerpoint/2010/main" val="9430059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5"/>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BC61F2C1-26F5-40E2-943B-CF23A0639277}" type="slidenum">
              <a:rPr lang="en-US" smtClean="0"/>
              <a:pPr fontAlgn="base">
                <a:spcBef>
                  <a:spcPct val="0"/>
                </a:spcBef>
                <a:spcAft>
                  <a:spcPct val="0"/>
                </a:spcAft>
                <a:defRPr/>
              </a:pPr>
              <a:t>16</a:t>
            </a:fld>
            <a:endParaRPr lang="en-US" smtClean="0"/>
          </a:p>
        </p:txBody>
      </p:sp>
      <p:sp>
        <p:nvSpPr>
          <p:cNvPr id="64515" name="Rectangle 2"/>
          <p:cNvSpPr>
            <a:spLocks noGrp="1" noRot="1" noChangeAspect="1" noChangeArrowheads="1" noTextEdit="1"/>
          </p:cNvSpPr>
          <p:nvPr>
            <p:ph type="sldImg"/>
          </p:nvPr>
        </p:nvSpPr>
        <p:spPr bwMode="auto">
          <a:xfrm>
            <a:off x="1144588" y="687388"/>
            <a:ext cx="4568825" cy="3425825"/>
          </a:xfrm>
          <a:noFill/>
          <a:ln cap="flat">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64516" name="Rectangle 3"/>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numCol="1" anchor="t" anchorCtr="0" compatLnSpc="1">
            <a:prstTxWarp prst="textNoShape">
              <a:avLst/>
            </a:prstTxWarp>
          </a:bodyPr>
          <a:lstStyle/>
          <a:p>
            <a:pPr eaLnBrk="1" hangingPunct="1">
              <a:spcBef>
                <a:spcPct val="0"/>
              </a:spcBef>
            </a:pPr>
            <a:endParaRPr lang="en-CA" altLang="en-US" smtClean="0"/>
          </a:p>
        </p:txBody>
      </p:sp>
    </p:spTree>
    <p:extLst>
      <p:ext uri="{BB962C8B-B14F-4D97-AF65-F5344CB8AC3E}">
        <p14:creationId xmlns:p14="http://schemas.microsoft.com/office/powerpoint/2010/main" val="38828206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5"/>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A8325157-40BD-4EBB-BFA1-E1E724000C14}" type="slidenum">
              <a:rPr lang="en-US" smtClean="0"/>
              <a:pPr fontAlgn="base">
                <a:spcBef>
                  <a:spcPct val="0"/>
                </a:spcBef>
                <a:spcAft>
                  <a:spcPct val="0"/>
                </a:spcAft>
                <a:defRPr/>
              </a:pPr>
              <a:t>17</a:t>
            </a:fld>
            <a:endParaRPr lang="en-US" smtClean="0"/>
          </a:p>
        </p:txBody>
      </p:sp>
      <p:sp>
        <p:nvSpPr>
          <p:cNvPr id="65539" name="Rectangle 2"/>
          <p:cNvSpPr>
            <a:spLocks noGrp="1" noRot="1" noChangeAspect="1" noChangeArrowheads="1" noTextEdit="1"/>
          </p:cNvSpPr>
          <p:nvPr>
            <p:ph type="sldImg"/>
          </p:nvPr>
        </p:nvSpPr>
        <p:spPr bwMode="auto">
          <a:xfrm>
            <a:off x="1144588" y="687388"/>
            <a:ext cx="4568825" cy="3425825"/>
          </a:xfrm>
          <a:solidFill>
            <a:srgbClr val="FFFFFF"/>
          </a:solidFill>
          <a:ln>
            <a:solidFill>
              <a:srgbClr val="000000"/>
            </a:solidFill>
            <a:miter lim="800000"/>
            <a:headEnd/>
            <a:tailEnd/>
          </a:ln>
        </p:spPr>
      </p:sp>
      <p:sp>
        <p:nvSpPr>
          <p:cNvPr id="65540" name="Rectangle 3"/>
          <p:cNvSpPr>
            <a:spLocks noGrp="1" noChangeArrowheads="1"/>
          </p:cNvSpPr>
          <p:nvPr>
            <p:ph type="body" idx="1"/>
          </p:nvPr>
        </p:nvSpPr>
        <p:spPr bwMode="auto">
          <a:xfrm>
            <a:off x="914400" y="4343400"/>
            <a:ext cx="5029200" cy="4114800"/>
          </a:xfrm>
          <a:solidFill>
            <a:srgbClr val="FFFFFF"/>
          </a:solidFill>
          <a:ln>
            <a:solidFill>
              <a:srgbClr val="000000"/>
            </a:solidFill>
            <a:miter lim="800000"/>
            <a:headEnd/>
            <a:tailEnd/>
          </a:ln>
        </p:spPr>
        <p:txBody>
          <a:bodyPr wrap="square" numCol="1" anchor="t" anchorCtr="0" compatLnSpc="1">
            <a:prstTxWarp prst="textNoShape">
              <a:avLst/>
            </a:prstTxWarp>
          </a:bodyPr>
          <a:lstStyle/>
          <a:p>
            <a:pPr eaLnBrk="1" hangingPunct="1">
              <a:spcBef>
                <a:spcPct val="0"/>
              </a:spcBef>
            </a:pPr>
            <a:endParaRPr lang="en-CA" altLang="en-US" smtClean="0"/>
          </a:p>
        </p:txBody>
      </p:sp>
    </p:spTree>
    <p:extLst>
      <p:ext uri="{BB962C8B-B14F-4D97-AF65-F5344CB8AC3E}">
        <p14:creationId xmlns:p14="http://schemas.microsoft.com/office/powerpoint/2010/main" val="387223740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5"/>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9F63D8C5-A7DC-4DB9-8ED9-2A06C6182F79}" type="slidenum">
              <a:rPr lang="en-US" smtClean="0"/>
              <a:pPr fontAlgn="base">
                <a:spcBef>
                  <a:spcPct val="0"/>
                </a:spcBef>
                <a:spcAft>
                  <a:spcPct val="0"/>
                </a:spcAft>
                <a:defRPr/>
              </a:pPr>
              <a:t>18</a:t>
            </a:fld>
            <a:endParaRPr lang="en-US" smtClean="0"/>
          </a:p>
        </p:txBody>
      </p:sp>
      <p:sp>
        <p:nvSpPr>
          <p:cNvPr id="66563" name="Rectangle 2"/>
          <p:cNvSpPr>
            <a:spLocks noGrp="1" noRot="1" noChangeAspect="1" noChangeArrowheads="1" noTextEdit="1"/>
          </p:cNvSpPr>
          <p:nvPr>
            <p:ph type="sldImg"/>
          </p:nvPr>
        </p:nvSpPr>
        <p:spPr bwMode="auto">
          <a:xfrm>
            <a:off x="1144588" y="687388"/>
            <a:ext cx="4568825" cy="3425825"/>
          </a:xfrm>
          <a:noFill/>
          <a:ln cap="flat">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66564" name="Rectangle 3"/>
          <p:cNvSpPr>
            <a:spLocks noGrp="1" noChangeArrowheads="1"/>
          </p:cNvSpPr>
          <p:nvPr>
            <p:ph type="body" idx="1"/>
          </p:nvPr>
        </p:nvSpPr>
        <p:spPr bwMode="auto">
          <a:xfrm>
            <a:off x="914400" y="4343400"/>
            <a:ext cx="50292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numCol="1" anchor="t" anchorCtr="0" compatLnSpc="1">
            <a:prstTxWarp prst="textNoShape">
              <a:avLst/>
            </a:prstTxWarp>
          </a:bodyPr>
          <a:lstStyle/>
          <a:p>
            <a:pPr eaLnBrk="1" hangingPunct="1">
              <a:spcBef>
                <a:spcPct val="0"/>
              </a:spcBef>
            </a:pPr>
            <a:endParaRPr lang="en-CA" altLang="en-US" smtClean="0"/>
          </a:p>
        </p:txBody>
      </p:sp>
    </p:spTree>
    <p:extLst>
      <p:ext uri="{BB962C8B-B14F-4D97-AF65-F5344CB8AC3E}">
        <p14:creationId xmlns:p14="http://schemas.microsoft.com/office/powerpoint/2010/main" val="2459039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5"/>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09EADCF8-69B5-4C0B-922B-59B699FA042B}" type="slidenum">
              <a:rPr lang="en-US" smtClean="0"/>
              <a:pPr fontAlgn="base">
                <a:spcBef>
                  <a:spcPct val="0"/>
                </a:spcBef>
                <a:spcAft>
                  <a:spcPct val="0"/>
                </a:spcAft>
                <a:defRPr/>
              </a:pPr>
              <a:t>19</a:t>
            </a:fld>
            <a:endParaRPr lang="en-US" smtClean="0"/>
          </a:p>
        </p:txBody>
      </p:sp>
      <p:sp>
        <p:nvSpPr>
          <p:cNvPr id="67587" name="Rectangle 2"/>
          <p:cNvSpPr>
            <a:spLocks noGrp="1" noRot="1" noChangeAspect="1" noChangeArrowheads="1" noTextEdit="1"/>
          </p:cNvSpPr>
          <p:nvPr>
            <p:ph type="sldImg"/>
          </p:nvPr>
        </p:nvSpPr>
        <p:spPr bwMode="auto">
          <a:xfrm>
            <a:off x="1144588" y="687388"/>
            <a:ext cx="4568825" cy="3425825"/>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58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CA" altLang="en-US" smtClean="0"/>
          </a:p>
        </p:txBody>
      </p:sp>
    </p:spTree>
    <p:extLst>
      <p:ext uri="{BB962C8B-B14F-4D97-AF65-F5344CB8AC3E}">
        <p14:creationId xmlns:p14="http://schemas.microsoft.com/office/powerpoint/2010/main" val="508159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5"/>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B0317E83-8756-4758-BB9F-937CB7BED504}" type="slidenum">
              <a:rPr lang="en-US" smtClean="0"/>
              <a:pPr fontAlgn="base">
                <a:spcBef>
                  <a:spcPct val="0"/>
                </a:spcBef>
                <a:spcAft>
                  <a:spcPct val="0"/>
                </a:spcAft>
                <a:defRPr/>
              </a:pPr>
              <a:t>20</a:t>
            </a:fld>
            <a:endParaRPr lang="en-US" smtClean="0"/>
          </a:p>
        </p:txBody>
      </p:sp>
      <p:sp>
        <p:nvSpPr>
          <p:cNvPr id="68611" name="Rectangle 2"/>
          <p:cNvSpPr>
            <a:spLocks noGrp="1" noRot="1" noChangeAspect="1" noChangeArrowheads="1" noTextEdit="1"/>
          </p:cNvSpPr>
          <p:nvPr>
            <p:ph type="sldImg"/>
          </p:nvPr>
        </p:nvSpPr>
        <p:spPr bwMode="auto">
          <a:xfrm>
            <a:off x="1144588" y="687388"/>
            <a:ext cx="4568825" cy="342582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861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35541794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5"/>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67333FFB-C0A0-4969-A7F4-AB6D80C2A831}" type="slidenum">
              <a:rPr lang="en-US" smtClean="0"/>
              <a:pPr fontAlgn="base">
                <a:spcBef>
                  <a:spcPct val="0"/>
                </a:spcBef>
                <a:spcAft>
                  <a:spcPct val="0"/>
                </a:spcAft>
                <a:defRPr/>
              </a:pPr>
              <a:t>21</a:t>
            </a:fld>
            <a:endParaRPr lang="en-US" smtClean="0"/>
          </a:p>
        </p:txBody>
      </p:sp>
      <p:sp>
        <p:nvSpPr>
          <p:cNvPr id="69635" name="Rectangle 2"/>
          <p:cNvSpPr>
            <a:spLocks noGrp="1" noRot="1" noChangeAspect="1" noChangeArrowheads="1" noTextEdit="1"/>
          </p:cNvSpPr>
          <p:nvPr>
            <p:ph type="sldImg"/>
          </p:nvPr>
        </p:nvSpPr>
        <p:spPr bwMode="auto">
          <a:xfrm>
            <a:off x="1144588" y="687388"/>
            <a:ext cx="4568825" cy="342582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34191060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5"/>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18B65183-99AE-4E43-8A25-C165A496D015}" type="slidenum">
              <a:rPr lang="en-US" smtClean="0"/>
              <a:pPr fontAlgn="base">
                <a:spcBef>
                  <a:spcPct val="0"/>
                </a:spcBef>
                <a:spcAft>
                  <a:spcPct val="0"/>
                </a:spcAft>
                <a:defRPr/>
              </a:pPr>
              <a:t>22</a:t>
            </a:fld>
            <a:endParaRPr lang="en-US" smtClean="0"/>
          </a:p>
        </p:txBody>
      </p:sp>
      <p:sp>
        <p:nvSpPr>
          <p:cNvPr id="70659" name="Rectangle 2"/>
          <p:cNvSpPr>
            <a:spLocks noGrp="1" noRot="1" noChangeAspect="1" noChangeArrowheads="1" noTextEdit="1"/>
          </p:cNvSpPr>
          <p:nvPr>
            <p:ph type="sldImg"/>
          </p:nvPr>
        </p:nvSpPr>
        <p:spPr bwMode="auto">
          <a:xfrm>
            <a:off x="1144588" y="687388"/>
            <a:ext cx="4568825" cy="3425825"/>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066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CA" altLang="en-US" smtClean="0"/>
          </a:p>
        </p:txBody>
      </p:sp>
    </p:spTree>
    <p:extLst>
      <p:ext uri="{BB962C8B-B14F-4D97-AF65-F5344CB8AC3E}">
        <p14:creationId xmlns:p14="http://schemas.microsoft.com/office/powerpoint/2010/main" val="9186446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5"/>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0E22CDEC-566D-40F9-A564-C0634D55CF5A}" type="slidenum">
              <a:rPr lang="en-US" smtClean="0"/>
              <a:pPr fontAlgn="base">
                <a:spcBef>
                  <a:spcPct val="0"/>
                </a:spcBef>
                <a:spcAft>
                  <a:spcPct val="0"/>
                </a:spcAft>
                <a:defRPr/>
              </a:pPr>
              <a:t>23</a:t>
            </a:fld>
            <a:endParaRPr lang="en-US" smtClean="0"/>
          </a:p>
        </p:txBody>
      </p:sp>
      <p:sp>
        <p:nvSpPr>
          <p:cNvPr id="71683" name="Rectangle 2"/>
          <p:cNvSpPr>
            <a:spLocks noGrp="1" noRot="1" noChangeAspect="1" noChangeArrowheads="1" noTextEdit="1"/>
          </p:cNvSpPr>
          <p:nvPr>
            <p:ph type="sldImg"/>
          </p:nvPr>
        </p:nvSpPr>
        <p:spPr bwMode="auto">
          <a:xfrm>
            <a:off x="1144588" y="687388"/>
            <a:ext cx="4568825" cy="3425825"/>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68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CA" altLang="en-US" smtClean="0"/>
          </a:p>
        </p:txBody>
      </p:sp>
    </p:spTree>
    <p:extLst>
      <p:ext uri="{BB962C8B-B14F-4D97-AF65-F5344CB8AC3E}">
        <p14:creationId xmlns:p14="http://schemas.microsoft.com/office/powerpoint/2010/main" val="33073039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5"/>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F1F8E5EA-EB80-45D5-8B8B-B22ECAFB2F22}" type="slidenum">
              <a:rPr lang="en-US" smtClean="0"/>
              <a:pPr fontAlgn="base">
                <a:spcBef>
                  <a:spcPct val="0"/>
                </a:spcBef>
                <a:spcAft>
                  <a:spcPct val="0"/>
                </a:spcAft>
                <a:defRPr/>
              </a:pPr>
              <a:t>24</a:t>
            </a:fld>
            <a:endParaRPr lang="en-US" smtClean="0"/>
          </a:p>
        </p:txBody>
      </p:sp>
      <p:sp>
        <p:nvSpPr>
          <p:cNvPr id="72707" name="Rectangle 2"/>
          <p:cNvSpPr>
            <a:spLocks noGrp="1" noRot="1" noChangeAspect="1" noChangeArrowheads="1" noTextEdit="1"/>
          </p:cNvSpPr>
          <p:nvPr>
            <p:ph type="sldImg"/>
          </p:nvPr>
        </p:nvSpPr>
        <p:spPr bwMode="auto">
          <a:xfrm>
            <a:off x="1144588" y="687388"/>
            <a:ext cx="4568825" cy="3425825"/>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270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CA" altLang="en-US" smtClean="0"/>
          </a:p>
        </p:txBody>
      </p:sp>
    </p:spTree>
    <p:extLst>
      <p:ext uri="{BB962C8B-B14F-4D97-AF65-F5344CB8AC3E}">
        <p14:creationId xmlns:p14="http://schemas.microsoft.com/office/powerpoint/2010/main" val="347345475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5"/>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3AD4C400-97E6-4A55-A39F-424728C91A64}" type="slidenum">
              <a:rPr lang="en-US" smtClean="0"/>
              <a:pPr fontAlgn="base">
                <a:spcBef>
                  <a:spcPct val="0"/>
                </a:spcBef>
                <a:spcAft>
                  <a:spcPct val="0"/>
                </a:spcAft>
                <a:defRPr/>
              </a:pPr>
              <a:t>25</a:t>
            </a:fld>
            <a:endParaRPr lang="en-US" smtClean="0"/>
          </a:p>
        </p:txBody>
      </p:sp>
      <p:sp>
        <p:nvSpPr>
          <p:cNvPr id="73731" name="Rectangle 2"/>
          <p:cNvSpPr>
            <a:spLocks noGrp="1" noRot="1" noChangeAspect="1" noChangeArrowheads="1" noTextEdit="1"/>
          </p:cNvSpPr>
          <p:nvPr>
            <p:ph type="sldImg"/>
          </p:nvPr>
        </p:nvSpPr>
        <p:spPr bwMode="auto">
          <a:xfrm>
            <a:off x="1144588" y="687388"/>
            <a:ext cx="4568825" cy="3425825"/>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CA" altLang="en-US" smtClean="0"/>
          </a:p>
        </p:txBody>
      </p:sp>
    </p:spTree>
    <p:extLst>
      <p:ext uri="{BB962C8B-B14F-4D97-AF65-F5344CB8AC3E}">
        <p14:creationId xmlns:p14="http://schemas.microsoft.com/office/powerpoint/2010/main" val="20789595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5"/>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63A35801-2A66-43F8-B2D2-D4C9939DF008}" type="slidenum">
              <a:rPr lang="en-US" smtClean="0"/>
              <a:pPr fontAlgn="base">
                <a:spcBef>
                  <a:spcPct val="0"/>
                </a:spcBef>
                <a:spcAft>
                  <a:spcPct val="0"/>
                </a:spcAft>
                <a:defRPr/>
              </a:pPr>
              <a:t>26</a:t>
            </a:fld>
            <a:endParaRPr lang="en-US" smtClean="0"/>
          </a:p>
        </p:txBody>
      </p:sp>
      <p:sp>
        <p:nvSpPr>
          <p:cNvPr id="74755" name="Rectangle 2"/>
          <p:cNvSpPr>
            <a:spLocks noGrp="1" noRot="1" noChangeAspect="1" noChangeArrowheads="1" noTextEdit="1"/>
          </p:cNvSpPr>
          <p:nvPr>
            <p:ph type="sldImg"/>
          </p:nvPr>
        </p:nvSpPr>
        <p:spPr bwMode="auto">
          <a:xfrm>
            <a:off x="1144588" y="687388"/>
            <a:ext cx="4568825" cy="3425825"/>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CA" altLang="en-US" smtClean="0"/>
          </a:p>
        </p:txBody>
      </p:sp>
    </p:spTree>
    <p:extLst>
      <p:ext uri="{BB962C8B-B14F-4D97-AF65-F5344CB8AC3E}">
        <p14:creationId xmlns:p14="http://schemas.microsoft.com/office/powerpoint/2010/main" val="211468134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5"/>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114DE378-9840-4E09-966E-8E58566DF71A}" type="slidenum">
              <a:rPr lang="en-US" smtClean="0"/>
              <a:pPr fontAlgn="base">
                <a:spcBef>
                  <a:spcPct val="0"/>
                </a:spcBef>
                <a:spcAft>
                  <a:spcPct val="0"/>
                </a:spcAft>
                <a:defRPr/>
              </a:pPr>
              <a:t>27</a:t>
            </a:fld>
            <a:endParaRPr lang="en-US" smtClean="0"/>
          </a:p>
        </p:txBody>
      </p:sp>
      <p:sp>
        <p:nvSpPr>
          <p:cNvPr id="75779" name="Rectangle 2"/>
          <p:cNvSpPr>
            <a:spLocks noGrp="1" noRot="1" noChangeAspect="1" noChangeArrowheads="1" noTextEdit="1"/>
          </p:cNvSpPr>
          <p:nvPr>
            <p:ph type="sldImg"/>
          </p:nvPr>
        </p:nvSpPr>
        <p:spPr bwMode="auto">
          <a:xfrm>
            <a:off x="1144588" y="687388"/>
            <a:ext cx="4568825" cy="342582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8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62064356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5"/>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A676D81C-CA81-4AF9-8E5C-E5406E6743BB}" type="slidenum">
              <a:rPr lang="en-US" smtClean="0"/>
              <a:pPr fontAlgn="base">
                <a:spcBef>
                  <a:spcPct val="0"/>
                </a:spcBef>
                <a:spcAft>
                  <a:spcPct val="0"/>
                </a:spcAft>
                <a:defRPr/>
              </a:pPr>
              <a:t>28</a:t>
            </a:fld>
            <a:endParaRPr lang="en-US" smtClean="0"/>
          </a:p>
        </p:txBody>
      </p:sp>
      <p:sp>
        <p:nvSpPr>
          <p:cNvPr id="76803" name="Rectangle 2"/>
          <p:cNvSpPr>
            <a:spLocks noGrp="1" noRot="1" noChangeAspect="1" noChangeArrowheads="1" noTextEdit="1"/>
          </p:cNvSpPr>
          <p:nvPr>
            <p:ph type="sldImg"/>
          </p:nvPr>
        </p:nvSpPr>
        <p:spPr bwMode="auto">
          <a:xfrm>
            <a:off x="1144588" y="687388"/>
            <a:ext cx="4568825" cy="342582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680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CA" altLang="en-US" smtClean="0"/>
          </a:p>
        </p:txBody>
      </p:sp>
    </p:spTree>
    <p:extLst>
      <p:ext uri="{BB962C8B-B14F-4D97-AF65-F5344CB8AC3E}">
        <p14:creationId xmlns:p14="http://schemas.microsoft.com/office/powerpoint/2010/main" val="331847101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5"/>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708E0721-6CA6-4F9E-8DCB-B0C46DA745BC}" type="slidenum">
              <a:rPr lang="en-US" smtClean="0"/>
              <a:pPr fontAlgn="base">
                <a:spcBef>
                  <a:spcPct val="0"/>
                </a:spcBef>
                <a:spcAft>
                  <a:spcPct val="0"/>
                </a:spcAft>
                <a:defRPr/>
              </a:pPr>
              <a:t>29</a:t>
            </a:fld>
            <a:endParaRPr lang="en-US" smtClean="0"/>
          </a:p>
        </p:txBody>
      </p:sp>
      <p:sp>
        <p:nvSpPr>
          <p:cNvPr id="77827" name="Rectangle 2"/>
          <p:cNvSpPr>
            <a:spLocks noGrp="1" noRot="1" noChangeAspect="1" noChangeArrowheads="1" noTextEdit="1"/>
          </p:cNvSpPr>
          <p:nvPr>
            <p:ph type="sldImg"/>
          </p:nvPr>
        </p:nvSpPr>
        <p:spPr bwMode="auto">
          <a:xfrm>
            <a:off x="1144588" y="687388"/>
            <a:ext cx="4568825" cy="3425825"/>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782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CA" altLang="en-US" smtClean="0"/>
          </a:p>
        </p:txBody>
      </p:sp>
    </p:spTree>
    <p:extLst>
      <p:ext uri="{BB962C8B-B14F-4D97-AF65-F5344CB8AC3E}">
        <p14:creationId xmlns:p14="http://schemas.microsoft.com/office/powerpoint/2010/main" val="66605821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5"/>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B1C36974-5CC3-48E8-B7C0-0A534D7FC263}" type="slidenum">
              <a:rPr lang="en-US" smtClean="0"/>
              <a:pPr fontAlgn="base">
                <a:spcBef>
                  <a:spcPct val="0"/>
                </a:spcBef>
                <a:spcAft>
                  <a:spcPct val="0"/>
                </a:spcAft>
                <a:defRPr/>
              </a:pPr>
              <a:t>30</a:t>
            </a:fld>
            <a:endParaRPr lang="en-US" smtClean="0"/>
          </a:p>
        </p:txBody>
      </p:sp>
      <p:sp>
        <p:nvSpPr>
          <p:cNvPr id="78851" name="Rectangle 2"/>
          <p:cNvSpPr>
            <a:spLocks noGrp="1" noRot="1" noChangeAspect="1" noChangeArrowheads="1" noTextEdit="1"/>
          </p:cNvSpPr>
          <p:nvPr>
            <p:ph type="sldImg"/>
          </p:nvPr>
        </p:nvSpPr>
        <p:spPr bwMode="auto">
          <a:xfrm>
            <a:off x="1144588" y="687388"/>
            <a:ext cx="4568825" cy="3425825"/>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885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CA" altLang="en-US" smtClean="0"/>
          </a:p>
        </p:txBody>
      </p:sp>
    </p:spTree>
    <p:extLst>
      <p:ext uri="{BB962C8B-B14F-4D97-AF65-F5344CB8AC3E}">
        <p14:creationId xmlns:p14="http://schemas.microsoft.com/office/powerpoint/2010/main" val="270094010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5"/>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4C08FA7D-C411-41B7-94AB-2F6ABFD42FD1}" type="slidenum">
              <a:rPr lang="en-US" smtClean="0"/>
              <a:pPr fontAlgn="base">
                <a:spcBef>
                  <a:spcPct val="0"/>
                </a:spcBef>
                <a:spcAft>
                  <a:spcPct val="0"/>
                </a:spcAft>
                <a:defRPr/>
              </a:pPr>
              <a:t>31</a:t>
            </a:fld>
            <a:endParaRPr lang="en-US" smtClean="0"/>
          </a:p>
        </p:txBody>
      </p:sp>
      <p:sp>
        <p:nvSpPr>
          <p:cNvPr id="79875" name="Rectangle 2"/>
          <p:cNvSpPr>
            <a:spLocks noGrp="1" noRot="1" noChangeAspect="1" noChangeArrowheads="1" noTextEdit="1"/>
          </p:cNvSpPr>
          <p:nvPr>
            <p:ph type="sldImg"/>
          </p:nvPr>
        </p:nvSpPr>
        <p:spPr bwMode="auto">
          <a:xfrm>
            <a:off x="1144588" y="687388"/>
            <a:ext cx="4568825" cy="3425825"/>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CA" altLang="en-US" smtClean="0"/>
          </a:p>
        </p:txBody>
      </p:sp>
    </p:spTree>
    <p:extLst>
      <p:ext uri="{BB962C8B-B14F-4D97-AF65-F5344CB8AC3E}">
        <p14:creationId xmlns:p14="http://schemas.microsoft.com/office/powerpoint/2010/main" val="364615035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5"/>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660AE158-1B3A-4DBB-BD05-EB591BE003B3}" type="slidenum">
              <a:rPr lang="en-US" smtClean="0"/>
              <a:pPr fontAlgn="base">
                <a:spcBef>
                  <a:spcPct val="0"/>
                </a:spcBef>
                <a:spcAft>
                  <a:spcPct val="0"/>
                </a:spcAft>
                <a:defRPr/>
              </a:pPr>
              <a:t>32</a:t>
            </a:fld>
            <a:endParaRPr lang="en-US" smtClean="0"/>
          </a:p>
        </p:txBody>
      </p:sp>
      <p:sp>
        <p:nvSpPr>
          <p:cNvPr id="80899" name="Rectangle 2"/>
          <p:cNvSpPr>
            <a:spLocks noGrp="1" noRot="1" noChangeAspect="1" noChangeArrowheads="1" noTextEdit="1"/>
          </p:cNvSpPr>
          <p:nvPr>
            <p:ph type="sldImg"/>
          </p:nvPr>
        </p:nvSpPr>
        <p:spPr bwMode="auto">
          <a:xfrm>
            <a:off x="1144588" y="687388"/>
            <a:ext cx="4568825" cy="342582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090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CA" altLang="en-US" smtClean="0"/>
          </a:p>
        </p:txBody>
      </p:sp>
    </p:spTree>
    <p:extLst>
      <p:ext uri="{BB962C8B-B14F-4D97-AF65-F5344CB8AC3E}">
        <p14:creationId xmlns:p14="http://schemas.microsoft.com/office/powerpoint/2010/main" val="8472354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5"/>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13BDD597-1CF9-4D92-B51C-6B59AAADDA34}" type="slidenum">
              <a:rPr lang="en-US" smtClean="0"/>
              <a:pPr fontAlgn="base">
                <a:spcBef>
                  <a:spcPct val="0"/>
                </a:spcBef>
                <a:spcAft>
                  <a:spcPct val="0"/>
                </a:spcAft>
                <a:defRPr/>
              </a:pPr>
              <a:t>33</a:t>
            </a:fld>
            <a:endParaRPr lang="en-US" smtClean="0"/>
          </a:p>
        </p:txBody>
      </p:sp>
      <p:sp>
        <p:nvSpPr>
          <p:cNvPr id="81923" name="Rectangle 2"/>
          <p:cNvSpPr>
            <a:spLocks noGrp="1" noRot="1" noChangeAspect="1" noChangeArrowheads="1" noTextEdit="1"/>
          </p:cNvSpPr>
          <p:nvPr>
            <p:ph type="sldImg"/>
          </p:nvPr>
        </p:nvSpPr>
        <p:spPr bwMode="auto">
          <a:xfrm>
            <a:off x="1144588" y="687388"/>
            <a:ext cx="4568825" cy="3425825"/>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2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CA" altLang="en-US" smtClean="0"/>
          </a:p>
        </p:txBody>
      </p:sp>
    </p:spTree>
    <p:extLst>
      <p:ext uri="{BB962C8B-B14F-4D97-AF65-F5344CB8AC3E}">
        <p14:creationId xmlns:p14="http://schemas.microsoft.com/office/powerpoint/2010/main" val="287896647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29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4" name="Slide Number Placeholder 3"/>
          <p:cNvSpPr>
            <a:spLocks noGrp="1"/>
          </p:cNvSpPr>
          <p:nvPr>
            <p:ph type="sldNum" sz="quarter" idx="5"/>
          </p:nvPr>
        </p:nvSpPr>
        <p:spPr/>
        <p:txBody>
          <a:bodyPr/>
          <a:lstStyle/>
          <a:p>
            <a:pPr>
              <a:defRPr/>
            </a:pPr>
            <a:fld id="{7418959E-F4C6-4DC0-A6D0-D4ECF3C8869E}" type="slidenum">
              <a:rPr lang="en-US" smtClean="0"/>
              <a:pPr>
                <a:defRPr/>
              </a:pPr>
              <a:t>34</a:t>
            </a:fld>
            <a:endParaRPr lang="en-US"/>
          </a:p>
        </p:txBody>
      </p:sp>
    </p:spTree>
    <p:extLst>
      <p:ext uri="{BB962C8B-B14F-4D97-AF65-F5344CB8AC3E}">
        <p14:creationId xmlns:p14="http://schemas.microsoft.com/office/powerpoint/2010/main" val="43382047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5"/>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3910FE06-F4E3-4263-975D-D557C3B04309}" type="slidenum">
              <a:rPr lang="en-US" smtClean="0"/>
              <a:pPr fontAlgn="base">
                <a:spcBef>
                  <a:spcPct val="0"/>
                </a:spcBef>
                <a:spcAft>
                  <a:spcPct val="0"/>
                </a:spcAft>
                <a:defRPr/>
              </a:pPr>
              <a:t>35</a:t>
            </a:fld>
            <a:endParaRPr lang="en-US" smtClean="0"/>
          </a:p>
        </p:txBody>
      </p:sp>
      <p:sp>
        <p:nvSpPr>
          <p:cNvPr id="83971" name="Rectangle 2"/>
          <p:cNvSpPr>
            <a:spLocks noGrp="1" noRot="1" noChangeAspect="1" noChangeArrowheads="1" noTextEdit="1"/>
          </p:cNvSpPr>
          <p:nvPr>
            <p:ph type="sldImg"/>
          </p:nvPr>
        </p:nvSpPr>
        <p:spPr bwMode="auto">
          <a:xfrm>
            <a:off x="1144588" y="687388"/>
            <a:ext cx="4568825" cy="3425825"/>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397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CA" altLang="en-US" smtClean="0"/>
          </a:p>
        </p:txBody>
      </p:sp>
    </p:spTree>
    <p:extLst>
      <p:ext uri="{BB962C8B-B14F-4D97-AF65-F5344CB8AC3E}">
        <p14:creationId xmlns:p14="http://schemas.microsoft.com/office/powerpoint/2010/main" val="41238583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5"/>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0BF49124-598C-40A0-AE31-E32AF8A5F835}" type="slidenum">
              <a:rPr lang="en-US" smtClean="0"/>
              <a:pPr fontAlgn="base">
                <a:spcBef>
                  <a:spcPct val="0"/>
                </a:spcBef>
                <a:spcAft>
                  <a:spcPct val="0"/>
                </a:spcAft>
                <a:defRPr/>
              </a:pPr>
              <a:t>36</a:t>
            </a:fld>
            <a:endParaRPr lang="en-US" smtClean="0"/>
          </a:p>
        </p:txBody>
      </p:sp>
      <p:sp>
        <p:nvSpPr>
          <p:cNvPr id="84995" name="Rectangle 2"/>
          <p:cNvSpPr>
            <a:spLocks noGrp="1" noRot="1" noChangeAspect="1" noChangeArrowheads="1" noTextEdit="1"/>
          </p:cNvSpPr>
          <p:nvPr>
            <p:ph type="sldImg"/>
          </p:nvPr>
        </p:nvSpPr>
        <p:spPr bwMode="auto">
          <a:xfrm>
            <a:off x="1144588" y="687388"/>
            <a:ext cx="4568825" cy="3425825"/>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499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CA" altLang="en-US" smtClean="0"/>
          </a:p>
        </p:txBody>
      </p:sp>
    </p:spTree>
    <p:extLst>
      <p:ext uri="{BB962C8B-B14F-4D97-AF65-F5344CB8AC3E}">
        <p14:creationId xmlns:p14="http://schemas.microsoft.com/office/powerpoint/2010/main" val="259514111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5"/>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0378F045-6272-426E-9B7C-0D0324DB4424}" type="slidenum">
              <a:rPr lang="en-US" smtClean="0"/>
              <a:pPr fontAlgn="base">
                <a:spcBef>
                  <a:spcPct val="0"/>
                </a:spcBef>
                <a:spcAft>
                  <a:spcPct val="0"/>
                </a:spcAft>
                <a:defRPr/>
              </a:pPr>
              <a:t>37</a:t>
            </a:fld>
            <a:endParaRPr lang="en-US" smtClean="0"/>
          </a:p>
        </p:txBody>
      </p:sp>
      <p:sp>
        <p:nvSpPr>
          <p:cNvPr id="86019" name="Rectangle 2"/>
          <p:cNvSpPr>
            <a:spLocks noGrp="1" noRot="1" noChangeAspect="1" noChangeArrowheads="1" noTextEdit="1"/>
          </p:cNvSpPr>
          <p:nvPr>
            <p:ph type="sldImg"/>
          </p:nvPr>
        </p:nvSpPr>
        <p:spPr bwMode="auto">
          <a:xfrm>
            <a:off x="1144588" y="687388"/>
            <a:ext cx="4568825" cy="3425825"/>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602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CA" altLang="en-US" smtClean="0"/>
          </a:p>
        </p:txBody>
      </p:sp>
    </p:spTree>
    <p:extLst>
      <p:ext uri="{BB962C8B-B14F-4D97-AF65-F5344CB8AC3E}">
        <p14:creationId xmlns:p14="http://schemas.microsoft.com/office/powerpoint/2010/main" val="401922882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5"/>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EAC8FC11-0534-42AF-9F7D-217C44A578DB}" type="slidenum">
              <a:rPr lang="en-US" smtClean="0"/>
              <a:pPr fontAlgn="base">
                <a:spcBef>
                  <a:spcPct val="0"/>
                </a:spcBef>
                <a:spcAft>
                  <a:spcPct val="0"/>
                </a:spcAft>
                <a:defRPr/>
              </a:pPr>
              <a:t>38</a:t>
            </a:fld>
            <a:endParaRPr lang="en-US" smtClean="0"/>
          </a:p>
        </p:txBody>
      </p:sp>
      <p:sp>
        <p:nvSpPr>
          <p:cNvPr id="87043" name="Rectangle 2"/>
          <p:cNvSpPr>
            <a:spLocks noGrp="1" noRot="1" noChangeAspect="1" noChangeArrowheads="1" noTextEdit="1"/>
          </p:cNvSpPr>
          <p:nvPr>
            <p:ph type="sldImg"/>
          </p:nvPr>
        </p:nvSpPr>
        <p:spPr bwMode="auto">
          <a:xfrm>
            <a:off x="1144588" y="687388"/>
            <a:ext cx="4568825" cy="342582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704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CA" altLang="en-US" smtClean="0"/>
          </a:p>
        </p:txBody>
      </p:sp>
    </p:spTree>
    <p:extLst>
      <p:ext uri="{BB962C8B-B14F-4D97-AF65-F5344CB8AC3E}">
        <p14:creationId xmlns:p14="http://schemas.microsoft.com/office/powerpoint/2010/main" val="78624210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5"/>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12F4EDB1-5BAD-4A73-89F0-41EAD900F8AC}" type="slidenum">
              <a:rPr lang="en-US" smtClean="0"/>
              <a:pPr fontAlgn="base">
                <a:spcBef>
                  <a:spcPct val="0"/>
                </a:spcBef>
                <a:spcAft>
                  <a:spcPct val="0"/>
                </a:spcAft>
                <a:defRPr/>
              </a:pPr>
              <a:t>39</a:t>
            </a:fld>
            <a:endParaRPr lang="en-US" smtClean="0"/>
          </a:p>
        </p:txBody>
      </p:sp>
      <p:sp>
        <p:nvSpPr>
          <p:cNvPr id="88067" name="Rectangle 2"/>
          <p:cNvSpPr>
            <a:spLocks noGrp="1" noRot="1" noChangeAspect="1" noChangeArrowheads="1" noTextEdit="1"/>
          </p:cNvSpPr>
          <p:nvPr>
            <p:ph type="sldImg"/>
          </p:nvPr>
        </p:nvSpPr>
        <p:spPr bwMode="auto">
          <a:xfrm>
            <a:off x="1144588" y="687388"/>
            <a:ext cx="4568825" cy="3425825"/>
          </a:xfrm>
          <a:noFill/>
          <a:ln cap="flat">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806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CA" altLang="en-US" smtClean="0"/>
          </a:p>
        </p:txBody>
      </p:sp>
    </p:spTree>
    <p:extLst>
      <p:ext uri="{BB962C8B-B14F-4D97-AF65-F5344CB8AC3E}">
        <p14:creationId xmlns:p14="http://schemas.microsoft.com/office/powerpoint/2010/main" val="19785110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5"/>
          <p:cNvSpPr>
            <a:spLocks noGrp="1" noChangeArrowheads="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6E9CD757-B513-4A0B-9E67-D8E8078436A3}" type="slidenum">
              <a:rPr lang="en-US" smtClean="0"/>
              <a:pPr fontAlgn="base">
                <a:spcBef>
                  <a:spcPct val="0"/>
                </a:spcBef>
                <a:spcAft>
                  <a:spcPct val="0"/>
                </a:spcAft>
                <a:defRPr/>
              </a:pPr>
              <a:t>40</a:t>
            </a:fld>
            <a:endParaRPr lang="en-US" smtClean="0"/>
          </a:p>
        </p:txBody>
      </p:sp>
      <p:sp>
        <p:nvSpPr>
          <p:cNvPr id="89091" name="Rectangle 2"/>
          <p:cNvSpPr>
            <a:spLocks noGrp="1" noRot="1" noChangeAspect="1" noChangeArrowheads="1" noTextEdit="1"/>
          </p:cNvSpPr>
          <p:nvPr>
            <p:ph type="sldImg"/>
          </p:nvPr>
        </p:nvSpPr>
        <p:spPr bwMode="auto">
          <a:xfrm>
            <a:off x="1144588" y="687388"/>
            <a:ext cx="4568825" cy="342582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909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CA" altLang="en-US" smtClean="0"/>
          </a:p>
        </p:txBody>
      </p:sp>
    </p:spTree>
    <p:extLst>
      <p:ext uri="{BB962C8B-B14F-4D97-AF65-F5344CB8AC3E}">
        <p14:creationId xmlns:p14="http://schemas.microsoft.com/office/powerpoint/2010/main" val="208886920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grpSp>
        <p:nvGrpSpPr>
          <p:cNvPr id="4" name="Group 2"/>
          <p:cNvGrpSpPr>
            <a:grpSpLocks/>
          </p:cNvGrpSpPr>
          <p:nvPr/>
        </p:nvGrpSpPr>
        <p:grpSpPr bwMode="auto">
          <a:xfrm>
            <a:off x="0" y="-19050"/>
            <a:ext cx="9144000" cy="6877050"/>
            <a:chOff x="0" y="-12"/>
            <a:chExt cx="5760" cy="4332"/>
          </a:xfrm>
        </p:grpSpPr>
        <p:sp>
          <p:nvSpPr>
            <p:cNvPr id="5" name="Rectangle 3"/>
            <p:cNvSpPr>
              <a:spLocks noChangeArrowheads="1"/>
            </p:cNvSpPr>
            <p:nvPr userDrawn="1"/>
          </p:nvSpPr>
          <p:spPr bwMode="hidden">
            <a:xfrm>
              <a:off x="1104" y="1008"/>
              <a:ext cx="4656" cy="3312"/>
            </a:xfrm>
            <a:prstGeom prst="rect">
              <a:avLst/>
            </a:prstGeom>
            <a:gradFill rotWithShape="0">
              <a:gsLst>
                <a:gs pos="0">
                  <a:schemeClr val="bg2"/>
                </a:gs>
                <a:gs pos="50000">
                  <a:schemeClr val="bg1"/>
                </a:gs>
                <a:gs pos="100000">
                  <a:schemeClr val="bg2"/>
                </a:gs>
              </a:gsLst>
              <a:lin ang="2700000" scaled="1"/>
            </a:gradFill>
            <a:ln w="9525">
              <a:noFill/>
              <a:miter lim="800000"/>
              <a:headEnd/>
              <a:tailEnd/>
            </a:ln>
            <a:effectLst/>
          </p:spPr>
          <p:txBody>
            <a:bodyPr wrap="none" anchor="ctr"/>
            <a:lstStyle/>
            <a:p>
              <a:pPr>
                <a:defRPr/>
              </a:pPr>
              <a:endParaRPr lang="en-US"/>
            </a:p>
          </p:txBody>
        </p:sp>
        <p:grpSp>
          <p:nvGrpSpPr>
            <p:cNvPr id="6" name="Group 4"/>
            <p:cNvGrpSpPr>
              <a:grpSpLocks/>
            </p:cNvGrpSpPr>
            <p:nvPr userDrawn="1"/>
          </p:nvGrpSpPr>
          <p:grpSpPr bwMode="auto">
            <a:xfrm>
              <a:off x="-1261" y="-157"/>
              <a:ext cx="7021" cy="1190"/>
              <a:chOff x="-1261" y="-154"/>
              <a:chExt cx="7021" cy="1190"/>
            </a:xfrm>
          </p:grpSpPr>
          <p:sp>
            <p:nvSpPr>
              <p:cNvPr id="8" name="Freeform 5"/>
              <p:cNvSpPr>
                <a:spLocks/>
              </p:cNvSpPr>
              <p:nvPr userDrawn="1"/>
            </p:nvSpPr>
            <p:spPr bwMode="ltGray">
              <a:xfrm>
                <a:off x="0" y="4"/>
                <a:ext cx="5760" cy="1032"/>
              </a:xfrm>
              <a:custGeom>
                <a:avLst/>
                <a:gdLst>
                  <a:gd name="T0" fmla="*/ 4848 w 4848"/>
                  <a:gd name="T1" fmla="*/ 432 h 432"/>
                  <a:gd name="T2" fmla="*/ 0 w 4848"/>
                  <a:gd name="T3" fmla="*/ 432 h 432"/>
                  <a:gd name="T4" fmla="*/ 0 w 4848"/>
                  <a:gd name="T5" fmla="*/ 0 h 432"/>
                  <a:gd name="T6" fmla="*/ 4848 w 4848"/>
                  <a:gd name="T7" fmla="*/ 0 h 432"/>
                  <a:gd name="T8" fmla="*/ 4848 w 4848"/>
                  <a:gd name="T9" fmla="*/ 432 h 4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848" h="432">
                    <a:moveTo>
                      <a:pt x="4848" y="432"/>
                    </a:moveTo>
                    <a:lnTo>
                      <a:pt x="0" y="432"/>
                    </a:lnTo>
                    <a:lnTo>
                      <a:pt x="0" y="0"/>
                    </a:lnTo>
                    <a:lnTo>
                      <a:pt x="4848" y="0"/>
                    </a:lnTo>
                    <a:lnTo>
                      <a:pt x="4848" y="432"/>
                    </a:lnTo>
                    <a:close/>
                  </a:path>
                </a:pathLst>
              </a:custGeom>
              <a:solidFill>
                <a:schemeClr va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nvGrpSpPr>
              <p:cNvPr id="9" name="Group 6"/>
              <p:cNvGrpSpPr>
                <a:grpSpLocks/>
              </p:cNvGrpSpPr>
              <p:nvPr userDrawn="1"/>
            </p:nvGrpSpPr>
            <p:grpSpPr bwMode="auto">
              <a:xfrm>
                <a:off x="333" y="-9"/>
                <a:ext cx="5176" cy="1044"/>
                <a:chOff x="333" y="-9"/>
                <a:chExt cx="5176" cy="1044"/>
              </a:xfrm>
            </p:grpSpPr>
            <p:sp>
              <p:nvSpPr>
                <p:cNvPr id="38" name="Freeform 7"/>
                <p:cNvSpPr>
                  <a:spLocks/>
                </p:cNvSpPr>
                <p:nvPr userDrawn="1"/>
              </p:nvSpPr>
              <p:spPr bwMode="ltGray">
                <a:xfrm>
                  <a:off x="3230" y="949"/>
                  <a:ext cx="17" cy="20"/>
                </a:xfrm>
                <a:custGeom>
                  <a:avLst/>
                  <a:gdLst>
                    <a:gd name="T0" fmla="*/ 5 w 15"/>
                    <a:gd name="T1" fmla="*/ 11 h 23"/>
                    <a:gd name="T2" fmla="*/ 15 w 15"/>
                    <a:gd name="T3" fmla="*/ 5 h 23"/>
                    <a:gd name="T4" fmla="*/ 13 w 15"/>
                    <a:gd name="T5" fmla="*/ 17 h 23"/>
                    <a:gd name="T6" fmla="*/ 5 w 15"/>
                    <a:gd name="T7" fmla="*/ 1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23">
                      <a:moveTo>
                        <a:pt x="5" y="11"/>
                      </a:moveTo>
                      <a:cubicBezTo>
                        <a:pt x="2" y="1"/>
                        <a:pt x="7" y="0"/>
                        <a:pt x="15" y="5"/>
                      </a:cubicBezTo>
                      <a:cubicBezTo>
                        <a:pt x="14" y="9"/>
                        <a:pt x="15" y="13"/>
                        <a:pt x="13" y="17"/>
                      </a:cubicBezTo>
                      <a:cubicBezTo>
                        <a:pt x="9" y="23"/>
                        <a:pt x="0" y="16"/>
                        <a:pt x="5"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39" name="Freeform 8"/>
                <p:cNvSpPr>
                  <a:spLocks/>
                </p:cNvSpPr>
                <p:nvPr userDrawn="1"/>
              </p:nvSpPr>
              <p:spPr bwMode="ltGray">
                <a:xfrm>
                  <a:off x="3406" y="1015"/>
                  <a:ext cx="21" cy="20"/>
                </a:xfrm>
                <a:custGeom>
                  <a:avLst/>
                  <a:gdLst>
                    <a:gd name="T0" fmla="*/ 3 w 20"/>
                    <a:gd name="T1" fmla="*/ 13 h 23"/>
                    <a:gd name="T2" fmla="*/ 11 w 20"/>
                    <a:gd name="T3" fmla="*/ 3 h 23"/>
                    <a:gd name="T4" fmla="*/ 7 w 20"/>
                    <a:gd name="T5" fmla="*/ 19 h 23"/>
                    <a:gd name="T6" fmla="*/ 3 w 20"/>
                    <a:gd name="T7" fmla="*/ 13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23">
                      <a:moveTo>
                        <a:pt x="3" y="13"/>
                      </a:moveTo>
                      <a:cubicBezTo>
                        <a:pt x="0" y="5"/>
                        <a:pt x="2" y="0"/>
                        <a:pt x="11" y="3"/>
                      </a:cubicBezTo>
                      <a:cubicBezTo>
                        <a:pt x="16" y="10"/>
                        <a:pt x="20" y="23"/>
                        <a:pt x="7" y="19"/>
                      </a:cubicBezTo>
                      <a:cubicBezTo>
                        <a:pt x="6" y="17"/>
                        <a:pt x="3" y="13"/>
                        <a:pt x="3" y="1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0" name="Freeform 9"/>
                <p:cNvSpPr>
                  <a:spLocks/>
                </p:cNvSpPr>
                <p:nvPr userDrawn="1"/>
              </p:nvSpPr>
              <p:spPr bwMode="ltGray">
                <a:xfrm>
                  <a:off x="2909" y="908"/>
                  <a:ext cx="31" cy="34"/>
                </a:xfrm>
                <a:custGeom>
                  <a:avLst/>
                  <a:gdLst>
                    <a:gd name="T0" fmla="*/ 16 w 30"/>
                    <a:gd name="T1" fmla="*/ 33 h 42"/>
                    <a:gd name="T2" fmla="*/ 8 w 30"/>
                    <a:gd name="T3" fmla="*/ 21 h 42"/>
                    <a:gd name="T4" fmla="*/ 0 w 30"/>
                    <a:gd name="T5" fmla="*/ 9 h 42"/>
                    <a:gd name="T6" fmla="*/ 16 w 30"/>
                    <a:gd name="T7" fmla="*/ 3 h 42"/>
                    <a:gd name="T8" fmla="*/ 30 w 30"/>
                    <a:gd name="T9" fmla="*/ 23 h 42"/>
                    <a:gd name="T10" fmla="*/ 28 w 30"/>
                    <a:gd name="T11" fmla="*/ 31 h 42"/>
                    <a:gd name="T12" fmla="*/ 16 w 30"/>
                    <a:gd name="T13" fmla="*/ 33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1" name="Freeform 10"/>
                <p:cNvSpPr>
                  <a:spLocks/>
                </p:cNvSpPr>
                <p:nvPr userDrawn="1"/>
              </p:nvSpPr>
              <p:spPr bwMode="ltGray">
                <a:xfrm>
                  <a:off x="2551" y="940"/>
                  <a:ext cx="25" cy="12"/>
                </a:xfrm>
                <a:custGeom>
                  <a:avLst/>
                  <a:gdLst>
                    <a:gd name="T0" fmla="*/ 15 w 25"/>
                    <a:gd name="T1" fmla="*/ 16 h 16"/>
                    <a:gd name="T2" fmla="*/ 3 w 25"/>
                    <a:gd name="T3" fmla="*/ 8 h 16"/>
                    <a:gd name="T4" fmla="*/ 15 w 25"/>
                    <a:gd name="T5" fmla="*/ 0 h 16"/>
                    <a:gd name="T6" fmla="*/ 15 w 25"/>
                    <a:gd name="T7" fmla="*/ 16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2" name="Freeform 11"/>
                <p:cNvSpPr>
                  <a:spLocks/>
                </p:cNvSpPr>
                <p:nvPr userDrawn="1"/>
              </p:nvSpPr>
              <p:spPr bwMode="ltGray">
                <a:xfrm>
                  <a:off x="2443" y="954"/>
                  <a:ext cx="65" cy="39"/>
                </a:xfrm>
                <a:custGeom>
                  <a:avLst/>
                  <a:gdLst>
                    <a:gd name="T0" fmla="*/ 14 w 65"/>
                    <a:gd name="T1" fmla="*/ 24 h 46"/>
                    <a:gd name="T2" fmla="*/ 30 w 65"/>
                    <a:gd name="T3" fmla="*/ 4 h 46"/>
                    <a:gd name="T4" fmla="*/ 42 w 65"/>
                    <a:gd name="T5" fmla="*/ 0 h 46"/>
                    <a:gd name="T6" fmla="*/ 58 w 65"/>
                    <a:gd name="T7" fmla="*/ 12 h 46"/>
                    <a:gd name="T8" fmla="*/ 32 w 65"/>
                    <a:gd name="T9" fmla="*/ 26 h 46"/>
                    <a:gd name="T10" fmla="*/ 12 w 65"/>
                    <a:gd name="T11" fmla="*/ 46 h 46"/>
                    <a:gd name="T12" fmla="*/ 8 w 65"/>
                    <a:gd name="T13" fmla="*/ 20 h 46"/>
                    <a:gd name="T14" fmla="*/ 12 w 65"/>
                    <a:gd name="T15" fmla="*/ 14 h 46"/>
                    <a:gd name="T16" fmla="*/ 14 w 65"/>
                    <a:gd name="T17" fmla="*/ 24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3" name="Freeform 12"/>
                <p:cNvSpPr>
                  <a:spLocks/>
                </p:cNvSpPr>
                <p:nvPr userDrawn="1"/>
              </p:nvSpPr>
              <p:spPr bwMode="ltGray">
                <a:xfrm>
                  <a:off x="2375" y="952"/>
                  <a:ext cx="68" cy="39"/>
                </a:xfrm>
                <a:custGeom>
                  <a:avLst/>
                  <a:gdLst>
                    <a:gd name="T0" fmla="*/ 0 w 69"/>
                    <a:gd name="T1" fmla="*/ 31 h 47"/>
                    <a:gd name="T2" fmla="*/ 18 w 69"/>
                    <a:gd name="T3" fmla="*/ 25 h 47"/>
                    <a:gd name="T4" fmla="*/ 52 w 69"/>
                    <a:gd name="T5" fmla="*/ 1 h 47"/>
                    <a:gd name="T6" fmla="*/ 64 w 69"/>
                    <a:gd name="T7" fmla="*/ 3 h 47"/>
                    <a:gd name="T8" fmla="*/ 50 w 69"/>
                    <a:gd name="T9" fmla="*/ 19 h 47"/>
                    <a:gd name="T10" fmla="*/ 28 w 69"/>
                    <a:gd name="T11" fmla="*/ 33 h 47"/>
                    <a:gd name="T12" fmla="*/ 22 w 69"/>
                    <a:gd name="T13" fmla="*/ 47 h 47"/>
                    <a:gd name="T14" fmla="*/ 16 w 69"/>
                    <a:gd name="T15" fmla="*/ 45 h 47"/>
                    <a:gd name="T16" fmla="*/ 12 w 69"/>
                    <a:gd name="T17" fmla="*/ 39 h 47"/>
                    <a:gd name="T18" fmla="*/ 0 w 69"/>
                    <a:gd name="T19" fmla="*/ 35 h 47"/>
                    <a:gd name="T20" fmla="*/ 0 w 69"/>
                    <a:gd name="T21" fmla="*/ 31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4" name="Freeform 13"/>
                <p:cNvSpPr>
                  <a:spLocks/>
                </p:cNvSpPr>
                <p:nvPr userDrawn="1"/>
              </p:nvSpPr>
              <p:spPr bwMode="ltGray">
                <a:xfrm>
                  <a:off x="2007" y="739"/>
                  <a:ext cx="354" cy="228"/>
                </a:xfrm>
                <a:custGeom>
                  <a:avLst/>
                  <a:gdLst>
                    <a:gd name="T0" fmla="*/ 10 w 355"/>
                    <a:gd name="T1" fmla="*/ 4 h 277"/>
                    <a:gd name="T2" fmla="*/ 36 w 355"/>
                    <a:gd name="T3" fmla="*/ 18 h 277"/>
                    <a:gd name="T4" fmla="*/ 46 w 355"/>
                    <a:gd name="T5" fmla="*/ 30 h 277"/>
                    <a:gd name="T6" fmla="*/ 76 w 355"/>
                    <a:gd name="T7" fmla="*/ 52 h 277"/>
                    <a:gd name="T8" fmla="*/ 92 w 355"/>
                    <a:gd name="T9" fmla="*/ 66 h 277"/>
                    <a:gd name="T10" fmla="*/ 122 w 355"/>
                    <a:gd name="T11" fmla="*/ 98 h 277"/>
                    <a:gd name="T12" fmla="*/ 136 w 355"/>
                    <a:gd name="T13" fmla="*/ 128 h 277"/>
                    <a:gd name="T14" fmla="*/ 148 w 355"/>
                    <a:gd name="T15" fmla="*/ 132 h 277"/>
                    <a:gd name="T16" fmla="*/ 154 w 355"/>
                    <a:gd name="T17" fmla="*/ 150 h 277"/>
                    <a:gd name="T18" fmla="*/ 176 w 355"/>
                    <a:gd name="T19" fmla="*/ 152 h 277"/>
                    <a:gd name="T20" fmla="*/ 170 w 355"/>
                    <a:gd name="T21" fmla="*/ 196 h 277"/>
                    <a:gd name="T22" fmla="*/ 180 w 355"/>
                    <a:gd name="T23" fmla="*/ 224 h 277"/>
                    <a:gd name="T24" fmla="*/ 198 w 355"/>
                    <a:gd name="T25" fmla="*/ 232 h 277"/>
                    <a:gd name="T26" fmla="*/ 216 w 355"/>
                    <a:gd name="T27" fmla="*/ 234 h 277"/>
                    <a:gd name="T28" fmla="*/ 236 w 355"/>
                    <a:gd name="T29" fmla="*/ 242 h 277"/>
                    <a:gd name="T30" fmla="*/ 254 w 355"/>
                    <a:gd name="T31" fmla="*/ 236 h 277"/>
                    <a:gd name="T32" fmla="*/ 272 w 355"/>
                    <a:gd name="T33" fmla="*/ 248 h 277"/>
                    <a:gd name="T34" fmla="*/ 296 w 355"/>
                    <a:gd name="T35" fmla="*/ 256 h 277"/>
                    <a:gd name="T36" fmla="*/ 314 w 355"/>
                    <a:gd name="T37" fmla="*/ 264 h 277"/>
                    <a:gd name="T38" fmla="*/ 352 w 355"/>
                    <a:gd name="T39" fmla="*/ 266 h 277"/>
                    <a:gd name="T40" fmla="*/ 342 w 355"/>
                    <a:gd name="T41" fmla="*/ 274 h 277"/>
                    <a:gd name="T42" fmla="*/ 322 w 355"/>
                    <a:gd name="T43" fmla="*/ 272 h 277"/>
                    <a:gd name="T44" fmla="*/ 300 w 355"/>
                    <a:gd name="T45" fmla="*/ 270 h 277"/>
                    <a:gd name="T46" fmla="*/ 288 w 355"/>
                    <a:gd name="T47" fmla="*/ 266 h 277"/>
                    <a:gd name="T48" fmla="*/ 252 w 355"/>
                    <a:gd name="T49" fmla="*/ 264 h 277"/>
                    <a:gd name="T50" fmla="*/ 234 w 355"/>
                    <a:gd name="T51" fmla="*/ 260 h 277"/>
                    <a:gd name="T52" fmla="*/ 172 w 355"/>
                    <a:gd name="T53" fmla="*/ 242 h 277"/>
                    <a:gd name="T54" fmla="*/ 160 w 355"/>
                    <a:gd name="T55" fmla="*/ 216 h 277"/>
                    <a:gd name="T56" fmla="*/ 126 w 355"/>
                    <a:gd name="T57" fmla="*/ 200 h 277"/>
                    <a:gd name="T58" fmla="*/ 108 w 355"/>
                    <a:gd name="T59" fmla="*/ 186 h 277"/>
                    <a:gd name="T60" fmla="*/ 94 w 355"/>
                    <a:gd name="T61" fmla="*/ 158 h 277"/>
                    <a:gd name="T62" fmla="*/ 68 w 355"/>
                    <a:gd name="T63" fmla="*/ 108 h 277"/>
                    <a:gd name="T64" fmla="*/ 64 w 355"/>
                    <a:gd name="T65" fmla="*/ 102 h 277"/>
                    <a:gd name="T66" fmla="*/ 58 w 355"/>
                    <a:gd name="T67" fmla="*/ 100 h 277"/>
                    <a:gd name="T68" fmla="*/ 54 w 355"/>
                    <a:gd name="T69" fmla="*/ 88 h 277"/>
                    <a:gd name="T70" fmla="*/ 38 w 355"/>
                    <a:gd name="T71" fmla="*/ 58 h 277"/>
                    <a:gd name="T72" fmla="*/ 20 w 355"/>
                    <a:gd name="T73" fmla="*/ 40 h 277"/>
                    <a:gd name="T74" fmla="*/ 4 w 355"/>
                    <a:gd name="T75" fmla="*/ 22 h 277"/>
                    <a:gd name="T76" fmla="*/ 10 w 355"/>
                    <a:gd name="T77" fmla="*/ 2 h 277"/>
                    <a:gd name="T78" fmla="*/ 10 w 355"/>
                    <a:gd name="T79" fmla="*/ 4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5" name="Freeform 14"/>
                <p:cNvSpPr>
                  <a:spLocks/>
                </p:cNvSpPr>
                <p:nvPr userDrawn="1"/>
              </p:nvSpPr>
              <p:spPr bwMode="ltGray">
                <a:xfrm>
                  <a:off x="2222" y="724"/>
                  <a:ext cx="157" cy="167"/>
                </a:xfrm>
                <a:custGeom>
                  <a:avLst/>
                  <a:gdLst>
                    <a:gd name="T0" fmla="*/ 54 w 156"/>
                    <a:gd name="T1" fmla="*/ 66 h 206"/>
                    <a:gd name="T2" fmla="*/ 66 w 156"/>
                    <a:gd name="T3" fmla="*/ 58 h 206"/>
                    <a:gd name="T4" fmla="*/ 68 w 156"/>
                    <a:gd name="T5" fmla="*/ 52 h 206"/>
                    <a:gd name="T6" fmla="*/ 80 w 156"/>
                    <a:gd name="T7" fmla="*/ 44 h 206"/>
                    <a:gd name="T8" fmla="*/ 106 w 156"/>
                    <a:gd name="T9" fmla="*/ 22 h 206"/>
                    <a:gd name="T10" fmla="*/ 112 w 156"/>
                    <a:gd name="T11" fmla="*/ 4 h 206"/>
                    <a:gd name="T12" fmla="*/ 124 w 156"/>
                    <a:gd name="T13" fmla="*/ 0 h 206"/>
                    <a:gd name="T14" fmla="*/ 150 w 156"/>
                    <a:gd name="T15" fmla="*/ 28 h 206"/>
                    <a:gd name="T16" fmla="*/ 146 w 156"/>
                    <a:gd name="T17" fmla="*/ 44 h 206"/>
                    <a:gd name="T18" fmla="*/ 126 w 156"/>
                    <a:gd name="T19" fmla="*/ 64 h 206"/>
                    <a:gd name="T20" fmla="*/ 132 w 156"/>
                    <a:gd name="T21" fmla="*/ 94 h 206"/>
                    <a:gd name="T22" fmla="*/ 142 w 156"/>
                    <a:gd name="T23" fmla="*/ 110 h 206"/>
                    <a:gd name="T24" fmla="*/ 146 w 156"/>
                    <a:gd name="T25" fmla="*/ 128 h 206"/>
                    <a:gd name="T26" fmla="*/ 128 w 156"/>
                    <a:gd name="T27" fmla="*/ 128 h 206"/>
                    <a:gd name="T28" fmla="*/ 116 w 156"/>
                    <a:gd name="T29" fmla="*/ 146 h 206"/>
                    <a:gd name="T30" fmla="*/ 104 w 156"/>
                    <a:gd name="T31" fmla="*/ 156 h 206"/>
                    <a:gd name="T32" fmla="*/ 100 w 156"/>
                    <a:gd name="T33" fmla="*/ 198 h 206"/>
                    <a:gd name="T34" fmla="*/ 88 w 156"/>
                    <a:gd name="T35" fmla="*/ 202 h 206"/>
                    <a:gd name="T36" fmla="*/ 82 w 156"/>
                    <a:gd name="T37" fmla="*/ 206 h 206"/>
                    <a:gd name="T38" fmla="*/ 76 w 156"/>
                    <a:gd name="T39" fmla="*/ 202 h 206"/>
                    <a:gd name="T40" fmla="*/ 72 w 156"/>
                    <a:gd name="T41" fmla="*/ 190 h 206"/>
                    <a:gd name="T42" fmla="*/ 60 w 156"/>
                    <a:gd name="T43" fmla="*/ 186 h 206"/>
                    <a:gd name="T44" fmla="*/ 42 w 156"/>
                    <a:gd name="T45" fmla="*/ 194 h 206"/>
                    <a:gd name="T46" fmla="*/ 28 w 156"/>
                    <a:gd name="T47" fmla="*/ 186 h 206"/>
                    <a:gd name="T48" fmla="*/ 10 w 156"/>
                    <a:gd name="T49" fmla="*/ 148 h 206"/>
                    <a:gd name="T50" fmla="*/ 4 w 156"/>
                    <a:gd name="T51" fmla="*/ 130 h 206"/>
                    <a:gd name="T52" fmla="*/ 0 w 156"/>
                    <a:gd name="T53" fmla="*/ 118 h 206"/>
                    <a:gd name="T54" fmla="*/ 20 w 156"/>
                    <a:gd name="T55" fmla="*/ 96 h 206"/>
                    <a:gd name="T56" fmla="*/ 32 w 156"/>
                    <a:gd name="T57" fmla="*/ 104 h 206"/>
                    <a:gd name="T58" fmla="*/ 34 w 156"/>
                    <a:gd name="T59" fmla="*/ 80 h 206"/>
                    <a:gd name="T60" fmla="*/ 52 w 156"/>
                    <a:gd name="T61" fmla="*/ 70 h 206"/>
                    <a:gd name="T62" fmla="*/ 54 w 156"/>
                    <a:gd name="T63" fmla="*/ 66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6" name="Freeform 15"/>
                <p:cNvSpPr>
                  <a:spLocks/>
                </p:cNvSpPr>
                <p:nvPr userDrawn="1"/>
              </p:nvSpPr>
              <p:spPr bwMode="ltGray">
                <a:xfrm>
                  <a:off x="2375" y="800"/>
                  <a:ext cx="110" cy="32"/>
                </a:xfrm>
                <a:custGeom>
                  <a:avLst/>
                  <a:gdLst>
                    <a:gd name="T0" fmla="*/ 4 w 109"/>
                    <a:gd name="T1" fmla="*/ 32 h 38"/>
                    <a:gd name="T2" fmla="*/ 18 w 109"/>
                    <a:gd name="T3" fmla="*/ 10 h 38"/>
                    <a:gd name="T4" fmla="*/ 46 w 109"/>
                    <a:gd name="T5" fmla="*/ 20 h 38"/>
                    <a:gd name="T6" fmla="*/ 72 w 109"/>
                    <a:gd name="T7" fmla="*/ 14 h 38"/>
                    <a:gd name="T8" fmla="*/ 90 w 109"/>
                    <a:gd name="T9" fmla="*/ 0 h 38"/>
                    <a:gd name="T10" fmla="*/ 76 w 109"/>
                    <a:gd name="T11" fmla="*/ 26 h 38"/>
                    <a:gd name="T12" fmla="*/ 60 w 109"/>
                    <a:gd name="T13" fmla="*/ 38 h 38"/>
                    <a:gd name="T14" fmla="*/ 42 w 109"/>
                    <a:gd name="T15" fmla="*/ 32 h 38"/>
                    <a:gd name="T16" fmla="*/ 14 w 109"/>
                    <a:gd name="T17" fmla="*/ 30 h 38"/>
                    <a:gd name="T18" fmla="*/ 4 w 109"/>
                    <a:gd name="T19" fmla="*/ 32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7" name="Freeform 16"/>
                <p:cNvSpPr>
                  <a:spLocks/>
                </p:cNvSpPr>
                <p:nvPr userDrawn="1"/>
              </p:nvSpPr>
              <p:spPr bwMode="ltGray">
                <a:xfrm>
                  <a:off x="2370" y="839"/>
                  <a:ext cx="75" cy="84"/>
                </a:xfrm>
                <a:custGeom>
                  <a:avLst/>
                  <a:gdLst>
                    <a:gd name="T0" fmla="*/ 8 w 76"/>
                    <a:gd name="T1" fmla="*/ 18 h 104"/>
                    <a:gd name="T2" fmla="*/ 18 w 76"/>
                    <a:gd name="T3" fmla="*/ 0 h 104"/>
                    <a:gd name="T4" fmla="*/ 34 w 76"/>
                    <a:gd name="T5" fmla="*/ 18 h 104"/>
                    <a:gd name="T6" fmla="*/ 62 w 76"/>
                    <a:gd name="T7" fmla="*/ 4 h 104"/>
                    <a:gd name="T8" fmla="*/ 46 w 76"/>
                    <a:gd name="T9" fmla="*/ 34 h 104"/>
                    <a:gd name="T10" fmla="*/ 54 w 76"/>
                    <a:gd name="T11" fmla="*/ 48 h 104"/>
                    <a:gd name="T12" fmla="*/ 58 w 76"/>
                    <a:gd name="T13" fmla="*/ 60 h 104"/>
                    <a:gd name="T14" fmla="*/ 46 w 76"/>
                    <a:gd name="T15" fmla="*/ 74 h 104"/>
                    <a:gd name="T16" fmla="*/ 34 w 76"/>
                    <a:gd name="T17" fmla="*/ 60 h 104"/>
                    <a:gd name="T18" fmla="*/ 22 w 76"/>
                    <a:gd name="T19" fmla="*/ 48 h 104"/>
                    <a:gd name="T20" fmla="*/ 28 w 76"/>
                    <a:gd name="T21" fmla="*/ 68 h 104"/>
                    <a:gd name="T22" fmla="*/ 30 w 76"/>
                    <a:gd name="T23" fmla="*/ 74 h 104"/>
                    <a:gd name="T24" fmla="*/ 20 w 76"/>
                    <a:gd name="T25" fmla="*/ 104 h 104"/>
                    <a:gd name="T26" fmla="*/ 12 w 76"/>
                    <a:gd name="T27" fmla="*/ 102 h 104"/>
                    <a:gd name="T28" fmla="*/ 8 w 76"/>
                    <a:gd name="T29" fmla="*/ 90 h 104"/>
                    <a:gd name="T30" fmla="*/ 0 w 76"/>
                    <a:gd name="T31" fmla="*/ 54 h 104"/>
                    <a:gd name="T32" fmla="*/ 2 w 76"/>
                    <a:gd name="T33" fmla="*/ 30 h 104"/>
                    <a:gd name="T34" fmla="*/ 8 w 76"/>
                    <a:gd name="T35" fmla="*/ 18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8" name="Freeform 17"/>
                <p:cNvSpPr>
                  <a:spLocks/>
                </p:cNvSpPr>
                <p:nvPr userDrawn="1"/>
              </p:nvSpPr>
              <p:spPr bwMode="ltGray">
                <a:xfrm>
                  <a:off x="2497" y="793"/>
                  <a:ext cx="37" cy="49"/>
                </a:xfrm>
                <a:custGeom>
                  <a:avLst/>
                  <a:gdLst>
                    <a:gd name="T0" fmla="*/ 3 w 37"/>
                    <a:gd name="T1" fmla="*/ 28 h 61"/>
                    <a:gd name="T2" fmla="*/ 13 w 37"/>
                    <a:gd name="T3" fmla="*/ 0 h 61"/>
                    <a:gd name="T4" fmla="*/ 15 w 37"/>
                    <a:gd name="T5" fmla="*/ 28 h 61"/>
                    <a:gd name="T6" fmla="*/ 37 w 37"/>
                    <a:gd name="T7" fmla="*/ 38 h 61"/>
                    <a:gd name="T8" fmla="*/ 19 w 37"/>
                    <a:gd name="T9" fmla="*/ 44 h 61"/>
                    <a:gd name="T10" fmla="*/ 5 w 37"/>
                    <a:gd name="T11" fmla="*/ 58 h 61"/>
                    <a:gd name="T12" fmla="*/ 1 w 37"/>
                    <a:gd name="T13" fmla="*/ 34 h 61"/>
                    <a:gd name="T14" fmla="*/ 3 w 37"/>
                    <a:gd name="T15" fmla="*/ 28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49" name="Freeform 18"/>
                <p:cNvSpPr>
                  <a:spLocks/>
                </p:cNvSpPr>
                <p:nvPr userDrawn="1"/>
              </p:nvSpPr>
              <p:spPr bwMode="ltGray">
                <a:xfrm>
                  <a:off x="2506" y="869"/>
                  <a:ext cx="47" cy="24"/>
                </a:xfrm>
                <a:custGeom>
                  <a:avLst/>
                  <a:gdLst>
                    <a:gd name="T0" fmla="*/ 7 w 49"/>
                    <a:gd name="T1" fmla="*/ 0 h 29"/>
                    <a:gd name="T2" fmla="*/ 29 w 49"/>
                    <a:gd name="T3" fmla="*/ 0 h 29"/>
                    <a:gd name="T4" fmla="*/ 49 w 49"/>
                    <a:gd name="T5" fmla="*/ 16 h 29"/>
                    <a:gd name="T6" fmla="*/ 35 w 49"/>
                    <a:gd name="T7" fmla="*/ 14 h 29"/>
                    <a:gd name="T8" fmla="*/ 3 w 49"/>
                    <a:gd name="T9" fmla="*/ 16 h 29"/>
                    <a:gd name="T10" fmla="*/ 7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0" name="Freeform 19"/>
                <p:cNvSpPr>
                  <a:spLocks/>
                </p:cNvSpPr>
                <p:nvPr userDrawn="1"/>
              </p:nvSpPr>
              <p:spPr bwMode="ltGray">
                <a:xfrm>
                  <a:off x="2555" y="832"/>
                  <a:ext cx="61" cy="42"/>
                </a:xfrm>
                <a:custGeom>
                  <a:avLst/>
                  <a:gdLst>
                    <a:gd name="T0" fmla="*/ 21 w 61"/>
                    <a:gd name="T1" fmla="*/ 38 h 48"/>
                    <a:gd name="T2" fmla="*/ 15 w 61"/>
                    <a:gd name="T3" fmla="*/ 26 h 48"/>
                    <a:gd name="T4" fmla="*/ 3 w 61"/>
                    <a:gd name="T5" fmla="*/ 22 h 48"/>
                    <a:gd name="T6" fmla="*/ 13 w 61"/>
                    <a:gd name="T7" fmla="*/ 8 h 48"/>
                    <a:gd name="T8" fmla="*/ 25 w 61"/>
                    <a:gd name="T9" fmla="*/ 0 h 48"/>
                    <a:gd name="T10" fmla="*/ 49 w 61"/>
                    <a:gd name="T11" fmla="*/ 10 h 48"/>
                    <a:gd name="T12" fmla="*/ 53 w 61"/>
                    <a:gd name="T13" fmla="*/ 20 h 48"/>
                    <a:gd name="T14" fmla="*/ 61 w 61"/>
                    <a:gd name="T15" fmla="*/ 32 h 48"/>
                    <a:gd name="T16" fmla="*/ 41 w 61"/>
                    <a:gd name="T17" fmla="*/ 38 h 48"/>
                    <a:gd name="T18" fmla="*/ 23 w 61"/>
                    <a:gd name="T19" fmla="*/ 44 h 48"/>
                    <a:gd name="T20" fmla="*/ 21 w 61"/>
                    <a:gd name="T21" fmla="*/ 38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1" name="Freeform 20"/>
                <p:cNvSpPr>
                  <a:spLocks/>
                </p:cNvSpPr>
                <p:nvPr userDrawn="1"/>
              </p:nvSpPr>
              <p:spPr bwMode="ltGray">
                <a:xfrm>
                  <a:off x="2572" y="852"/>
                  <a:ext cx="286" cy="149"/>
                </a:xfrm>
                <a:custGeom>
                  <a:avLst/>
                  <a:gdLst>
                    <a:gd name="T0" fmla="*/ 46 w 286"/>
                    <a:gd name="T1" fmla="*/ 28 h 182"/>
                    <a:gd name="T2" fmla="*/ 36 w 286"/>
                    <a:gd name="T3" fmla="*/ 14 h 182"/>
                    <a:gd name="T4" fmla="*/ 26 w 286"/>
                    <a:gd name="T5" fmla="*/ 30 h 182"/>
                    <a:gd name="T6" fmla="*/ 0 w 286"/>
                    <a:gd name="T7" fmla="*/ 24 h 182"/>
                    <a:gd name="T8" fmla="*/ 10 w 286"/>
                    <a:gd name="T9" fmla="*/ 42 h 182"/>
                    <a:gd name="T10" fmla="*/ 16 w 286"/>
                    <a:gd name="T11" fmla="*/ 62 h 182"/>
                    <a:gd name="T12" fmla="*/ 24 w 286"/>
                    <a:gd name="T13" fmla="*/ 48 h 182"/>
                    <a:gd name="T14" fmla="*/ 30 w 286"/>
                    <a:gd name="T15" fmla="*/ 44 h 182"/>
                    <a:gd name="T16" fmla="*/ 48 w 286"/>
                    <a:gd name="T17" fmla="*/ 56 h 182"/>
                    <a:gd name="T18" fmla="*/ 70 w 286"/>
                    <a:gd name="T19" fmla="*/ 62 h 182"/>
                    <a:gd name="T20" fmla="*/ 88 w 286"/>
                    <a:gd name="T21" fmla="*/ 72 h 182"/>
                    <a:gd name="T22" fmla="*/ 106 w 286"/>
                    <a:gd name="T23" fmla="*/ 102 h 182"/>
                    <a:gd name="T24" fmla="*/ 104 w 286"/>
                    <a:gd name="T25" fmla="*/ 122 h 182"/>
                    <a:gd name="T26" fmla="*/ 98 w 286"/>
                    <a:gd name="T27" fmla="*/ 134 h 182"/>
                    <a:gd name="T28" fmla="*/ 122 w 286"/>
                    <a:gd name="T29" fmla="*/ 128 h 182"/>
                    <a:gd name="T30" fmla="*/ 140 w 286"/>
                    <a:gd name="T31" fmla="*/ 140 h 182"/>
                    <a:gd name="T32" fmla="*/ 168 w 286"/>
                    <a:gd name="T33" fmla="*/ 148 h 182"/>
                    <a:gd name="T34" fmla="*/ 174 w 286"/>
                    <a:gd name="T35" fmla="*/ 146 h 182"/>
                    <a:gd name="T36" fmla="*/ 168 w 286"/>
                    <a:gd name="T37" fmla="*/ 134 h 182"/>
                    <a:gd name="T38" fmla="*/ 178 w 286"/>
                    <a:gd name="T39" fmla="*/ 136 h 182"/>
                    <a:gd name="T40" fmla="*/ 186 w 286"/>
                    <a:gd name="T41" fmla="*/ 118 h 182"/>
                    <a:gd name="T42" fmla="*/ 202 w 286"/>
                    <a:gd name="T43" fmla="*/ 122 h 182"/>
                    <a:gd name="T44" fmla="*/ 214 w 286"/>
                    <a:gd name="T45" fmla="*/ 130 h 182"/>
                    <a:gd name="T46" fmla="*/ 244 w 286"/>
                    <a:gd name="T47" fmla="*/ 168 h 182"/>
                    <a:gd name="T48" fmla="*/ 262 w 286"/>
                    <a:gd name="T49" fmla="*/ 178 h 182"/>
                    <a:gd name="T50" fmla="*/ 284 w 286"/>
                    <a:gd name="T51" fmla="*/ 170 h 182"/>
                    <a:gd name="T52" fmla="*/ 268 w 286"/>
                    <a:gd name="T53" fmla="*/ 160 h 182"/>
                    <a:gd name="T54" fmla="*/ 256 w 286"/>
                    <a:gd name="T55" fmla="*/ 138 h 182"/>
                    <a:gd name="T56" fmla="*/ 250 w 286"/>
                    <a:gd name="T57" fmla="*/ 132 h 182"/>
                    <a:gd name="T58" fmla="*/ 248 w 286"/>
                    <a:gd name="T59" fmla="*/ 122 h 182"/>
                    <a:gd name="T60" fmla="*/ 236 w 286"/>
                    <a:gd name="T61" fmla="*/ 116 h 182"/>
                    <a:gd name="T62" fmla="*/ 240 w 286"/>
                    <a:gd name="T63" fmla="*/ 96 h 182"/>
                    <a:gd name="T64" fmla="*/ 220 w 286"/>
                    <a:gd name="T65" fmla="*/ 86 h 182"/>
                    <a:gd name="T66" fmla="*/ 210 w 286"/>
                    <a:gd name="T67" fmla="*/ 70 h 182"/>
                    <a:gd name="T68" fmla="*/ 190 w 286"/>
                    <a:gd name="T69" fmla="*/ 54 h 182"/>
                    <a:gd name="T70" fmla="*/ 168 w 286"/>
                    <a:gd name="T71" fmla="*/ 38 h 182"/>
                    <a:gd name="T72" fmla="*/ 156 w 286"/>
                    <a:gd name="T73" fmla="*/ 34 h 182"/>
                    <a:gd name="T74" fmla="*/ 120 w 286"/>
                    <a:gd name="T75" fmla="*/ 16 h 182"/>
                    <a:gd name="T76" fmla="*/ 102 w 286"/>
                    <a:gd name="T77" fmla="*/ 4 h 182"/>
                    <a:gd name="T78" fmla="*/ 96 w 286"/>
                    <a:gd name="T79" fmla="*/ 0 h 182"/>
                    <a:gd name="T80" fmla="*/ 70 w 286"/>
                    <a:gd name="T81" fmla="*/ 10 h 182"/>
                    <a:gd name="T82" fmla="*/ 56 w 286"/>
                    <a:gd name="T83" fmla="*/ 32 h 182"/>
                    <a:gd name="T84" fmla="*/ 46 w 286"/>
                    <a:gd name="T85" fmla="*/ 28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2" name="Freeform 21"/>
                <p:cNvSpPr>
                  <a:spLocks/>
                </p:cNvSpPr>
                <p:nvPr userDrawn="1"/>
              </p:nvSpPr>
              <p:spPr bwMode="ltGray">
                <a:xfrm>
                  <a:off x="2820" y="866"/>
                  <a:ext cx="78" cy="64"/>
                </a:xfrm>
                <a:custGeom>
                  <a:avLst/>
                  <a:gdLst>
                    <a:gd name="T0" fmla="*/ 1 w 78"/>
                    <a:gd name="T1" fmla="*/ 58 h 78"/>
                    <a:gd name="T2" fmla="*/ 27 w 78"/>
                    <a:gd name="T3" fmla="*/ 60 h 78"/>
                    <a:gd name="T4" fmla="*/ 45 w 78"/>
                    <a:gd name="T5" fmla="*/ 48 h 78"/>
                    <a:gd name="T6" fmla="*/ 57 w 78"/>
                    <a:gd name="T7" fmla="*/ 30 h 78"/>
                    <a:gd name="T8" fmla="*/ 43 w 78"/>
                    <a:gd name="T9" fmla="*/ 14 h 78"/>
                    <a:gd name="T10" fmla="*/ 43 w 78"/>
                    <a:gd name="T11" fmla="*/ 4 h 78"/>
                    <a:gd name="T12" fmla="*/ 71 w 78"/>
                    <a:gd name="T13" fmla="*/ 26 h 78"/>
                    <a:gd name="T14" fmla="*/ 67 w 78"/>
                    <a:gd name="T15" fmla="*/ 54 h 78"/>
                    <a:gd name="T16" fmla="*/ 33 w 78"/>
                    <a:gd name="T17" fmla="*/ 78 h 78"/>
                    <a:gd name="T18" fmla="*/ 9 w 78"/>
                    <a:gd name="T19" fmla="*/ 66 h 78"/>
                    <a:gd name="T20" fmla="*/ 3 w 78"/>
                    <a:gd name="T21" fmla="*/ 62 h 78"/>
                    <a:gd name="T22" fmla="*/ 1 w 78"/>
                    <a:gd name="T23" fmla="*/ 58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3" name="Freeform 22"/>
                <p:cNvSpPr>
                  <a:spLocks/>
                </p:cNvSpPr>
                <p:nvPr userDrawn="1"/>
              </p:nvSpPr>
              <p:spPr bwMode="ltGray">
                <a:xfrm>
                  <a:off x="2984" y="732"/>
                  <a:ext cx="19" cy="14"/>
                </a:xfrm>
                <a:custGeom>
                  <a:avLst/>
                  <a:gdLst>
                    <a:gd name="T0" fmla="*/ 3 w 17"/>
                    <a:gd name="T1" fmla="*/ 4 h 18"/>
                    <a:gd name="T2" fmla="*/ 3 w 17"/>
                    <a:gd name="T3" fmla="*/ 14 h 18"/>
                    <a:gd name="T4" fmla="*/ 3 w 17"/>
                    <a:gd name="T5" fmla="*/ 4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4" name="Freeform 23"/>
                <p:cNvSpPr>
                  <a:spLocks/>
                </p:cNvSpPr>
                <p:nvPr userDrawn="1"/>
              </p:nvSpPr>
              <p:spPr bwMode="ltGray">
                <a:xfrm>
                  <a:off x="3083" y="830"/>
                  <a:ext cx="26" cy="19"/>
                </a:xfrm>
                <a:custGeom>
                  <a:avLst/>
                  <a:gdLst>
                    <a:gd name="T0" fmla="*/ 8 w 26"/>
                    <a:gd name="T1" fmla="*/ 14 h 22"/>
                    <a:gd name="T2" fmla="*/ 14 w 26"/>
                    <a:gd name="T3" fmla="*/ 0 h 22"/>
                    <a:gd name="T4" fmla="*/ 14 w 26"/>
                    <a:gd name="T5" fmla="*/ 22 h 22"/>
                    <a:gd name="T6" fmla="*/ 8 w 26"/>
                    <a:gd name="T7" fmla="*/ 14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2">
                      <a:moveTo>
                        <a:pt x="8" y="14"/>
                      </a:moveTo>
                      <a:cubicBezTo>
                        <a:pt x="5" y="6"/>
                        <a:pt x="5" y="3"/>
                        <a:pt x="14" y="0"/>
                      </a:cubicBezTo>
                      <a:cubicBezTo>
                        <a:pt x="26" y="4"/>
                        <a:pt x="23" y="16"/>
                        <a:pt x="14" y="22"/>
                      </a:cubicBezTo>
                      <a:cubicBezTo>
                        <a:pt x="0" y="17"/>
                        <a:pt x="13" y="3"/>
                        <a:pt x="8" y="1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5" name="Freeform 24"/>
                <p:cNvSpPr>
                  <a:spLocks/>
                </p:cNvSpPr>
                <p:nvPr userDrawn="1"/>
              </p:nvSpPr>
              <p:spPr bwMode="ltGray">
                <a:xfrm>
                  <a:off x="2766" y="610"/>
                  <a:ext cx="19" cy="12"/>
                </a:xfrm>
                <a:custGeom>
                  <a:avLst/>
                  <a:gdLst>
                    <a:gd name="T0" fmla="*/ 7 w 20"/>
                    <a:gd name="T1" fmla="*/ 12 h 15"/>
                    <a:gd name="T2" fmla="*/ 17 w 20"/>
                    <a:gd name="T3" fmla="*/ 2 h 15"/>
                    <a:gd name="T4" fmla="*/ 9 w 20"/>
                    <a:gd name="T5" fmla="*/ 12 h 15"/>
                    <a:gd name="T6" fmla="*/ 7 w 20"/>
                    <a:gd name="T7" fmla="*/ 12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6" name="Freeform 25"/>
                <p:cNvSpPr>
                  <a:spLocks/>
                </p:cNvSpPr>
                <p:nvPr userDrawn="1"/>
              </p:nvSpPr>
              <p:spPr bwMode="ltGray">
                <a:xfrm>
                  <a:off x="2600" y="712"/>
                  <a:ext cx="19" cy="12"/>
                </a:xfrm>
                <a:custGeom>
                  <a:avLst/>
                  <a:gdLst>
                    <a:gd name="T0" fmla="*/ 7 w 20"/>
                    <a:gd name="T1" fmla="*/ 12 h 15"/>
                    <a:gd name="T2" fmla="*/ 15 w 20"/>
                    <a:gd name="T3" fmla="*/ 2 h 15"/>
                    <a:gd name="T4" fmla="*/ 15 w 20"/>
                    <a:gd name="T5" fmla="*/ 14 h 15"/>
                    <a:gd name="T6" fmla="*/ 7 w 20"/>
                    <a:gd name="T7" fmla="*/ 12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7" name="Freeform 26"/>
                <p:cNvSpPr>
                  <a:spLocks/>
                </p:cNvSpPr>
                <p:nvPr userDrawn="1"/>
              </p:nvSpPr>
              <p:spPr bwMode="ltGray">
                <a:xfrm>
                  <a:off x="2417" y="680"/>
                  <a:ext cx="80" cy="66"/>
                </a:xfrm>
                <a:custGeom>
                  <a:avLst/>
                  <a:gdLst>
                    <a:gd name="T0" fmla="*/ 0 w 80"/>
                    <a:gd name="T1" fmla="*/ 50 h 80"/>
                    <a:gd name="T2" fmla="*/ 14 w 80"/>
                    <a:gd name="T3" fmla="*/ 24 h 80"/>
                    <a:gd name="T4" fmla="*/ 26 w 80"/>
                    <a:gd name="T5" fmla="*/ 20 h 80"/>
                    <a:gd name="T6" fmla="*/ 48 w 80"/>
                    <a:gd name="T7" fmla="*/ 18 h 80"/>
                    <a:gd name="T8" fmla="*/ 58 w 80"/>
                    <a:gd name="T9" fmla="*/ 0 h 80"/>
                    <a:gd name="T10" fmla="*/ 80 w 80"/>
                    <a:gd name="T11" fmla="*/ 40 h 80"/>
                    <a:gd name="T12" fmla="*/ 70 w 80"/>
                    <a:gd name="T13" fmla="*/ 56 h 80"/>
                    <a:gd name="T14" fmla="*/ 54 w 80"/>
                    <a:gd name="T15" fmla="*/ 62 h 80"/>
                    <a:gd name="T16" fmla="*/ 48 w 80"/>
                    <a:gd name="T17" fmla="*/ 80 h 80"/>
                    <a:gd name="T18" fmla="*/ 32 w 80"/>
                    <a:gd name="T19" fmla="*/ 68 h 80"/>
                    <a:gd name="T20" fmla="*/ 38 w 80"/>
                    <a:gd name="T21" fmla="*/ 52 h 80"/>
                    <a:gd name="T22" fmla="*/ 30 w 80"/>
                    <a:gd name="T23" fmla="*/ 28 h 80"/>
                    <a:gd name="T24" fmla="*/ 20 w 80"/>
                    <a:gd name="T25" fmla="*/ 48 h 80"/>
                    <a:gd name="T26" fmla="*/ 8 w 80"/>
                    <a:gd name="T27" fmla="*/ 56 h 80"/>
                    <a:gd name="T28" fmla="*/ 0 w 80"/>
                    <a:gd name="T29" fmla="*/ 50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8" name="Freeform 27"/>
                <p:cNvSpPr>
                  <a:spLocks/>
                </p:cNvSpPr>
                <p:nvPr userDrawn="1"/>
              </p:nvSpPr>
              <p:spPr bwMode="ltGray">
                <a:xfrm>
                  <a:off x="2391" y="541"/>
                  <a:ext cx="94" cy="142"/>
                </a:xfrm>
                <a:custGeom>
                  <a:avLst/>
                  <a:gdLst>
                    <a:gd name="T0" fmla="*/ 14 w 94"/>
                    <a:gd name="T1" fmla="*/ 96 h 174"/>
                    <a:gd name="T2" fmla="*/ 26 w 94"/>
                    <a:gd name="T3" fmla="*/ 128 h 174"/>
                    <a:gd name="T4" fmla="*/ 32 w 94"/>
                    <a:gd name="T5" fmla="*/ 108 h 174"/>
                    <a:gd name="T6" fmla="*/ 52 w 94"/>
                    <a:gd name="T7" fmla="*/ 100 h 174"/>
                    <a:gd name="T8" fmla="*/ 46 w 94"/>
                    <a:gd name="T9" fmla="*/ 124 h 174"/>
                    <a:gd name="T10" fmla="*/ 66 w 94"/>
                    <a:gd name="T11" fmla="*/ 126 h 174"/>
                    <a:gd name="T12" fmla="*/ 76 w 94"/>
                    <a:gd name="T13" fmla="*/ 142 h 174"/>
                    <a:gd name="T14" fmla="*/ 58 w 94"/>
                    <a:gd name="T15" fmla="*/ 148 h 174"/>
                    <a:gd name="T16" fmla="*/ 74 w 94"/>
                    <a:gd name="T17" fmla="*/ 174 h 174"/>
                    <a:gd name="T18" fmla="*/ 84 w 94"/>
                    <a:gd name="T19" fmla="*/ 154 h 174"/>
                    <a:gd name="T20" fmla="*/ 82 w 94"/>
                    <a:gd name="T21" fmla="*/ 112 h 174"/>
                    <a:gd name="T22" fmla="*/ 60 w 94"/>
                    <a:gd name="T23" fmla="*/ 106 h 174"/>
                    <a:gd name="T24" fmla="*/ 50 w 94"/>
                    <a:gd name="T25" fmla="*/ 82 h 174"/>
                    <a:gd name="T26" fmla="*/ 34 w 94"/>
                    <a:gd name="T27" fmla="*/ 82 h 174"/>
                    <a:gd name="T28" fmla="*/ 30 w 94"/>
                    <a:gd name="T29" fmla="*/ 70 h 174"/>
                    <a:gd name="T30" fmla="*/ 42 w 94"/>
                    <a:gd name="T31" fmla="*/ 42 h 174"/>
                    <a:gd name="T32" fmla="*/ 30 w 94"/>
                    <a:gd name="T33" fmla="*/ 0 h 174"/>
                    <a:gd name="T34" fmla="*/ 18 w 94"/>
                    <a:gd name="T35" fmla="*/ 22 h 174"/>
                    <a:gd name="T36" fmla="*/ 4 w 94"/>
                    <a:gd name="T37" fmla="*/ 46 h 174"/>
                    <a:gd name="T38" fmla="*/ 14 w 94"/>
                    <a:gd name="T39" fmla="*/ 76 h 174"/>
                    <a:gd name="T40" fmla="*/ 14 w 94"/>
                    <a:gd name="T41" fmla="*/ 96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59" name="Freeform 28"/>
                <p:cNvSpPr>
                  <a:spLocks/>
                </p:cNvSpPr>
                <p:nvPr userDrawn="1"/>
              </p:nvSpPr>
              <p:spPr bwMode="ltGray">
                <a:xfrm>
                  <a:off x="2415" y="644"/>
                  <a:ext cx="32" cy="41"/>
                </a:xfrm>
                <a:custGeom>
                  <a:avLst/>
                  <a:gdLst>
                    <a:gd name="T0" fmla="*/ 6 w 32"/>
                    <a:gd name="T1" fmla="*/ 24 h 50"/>
                    <a:gd name="T2" fmla="*/ 12 w 32"/>
                    <a:gd name="T3" fmla="*/ 0 h 50"/>
                    <a:gd name="T4" fmla="*/ 20 w 32"/>
                    <a:gd name="T5" fmla="*/ 16 h 50"/>
                    <a:gd name="T6" fmla="*/ 22 w 32"/>
                    <a:gd name="T7" fmla="*/ 24 h 50"/>
                    <a:gd name="T8" fmla="*/ 28 w 32"/>
                    <a:gd name="T9" fmla="*/ 26 h 50"/>
                    <a:gd name="T10" fmla="*/ 32 w 32"/>
                    <a:gd name="T11" fmla="*/ 38 h 50"/>
                    <a:gd name="T12" fmla="*/ 18 w 32"/>
                    <a:gd name="T13" fmla="*/ 50 h 50"/>
                    <a:gd name="T14" fmla="*/ 6 w 32"/>
                    <a:gd name="T15" fmla="*/ 24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0" name="Freeform 29"/>
                <p:cNvSpPr>
                  <a:spLocks/>
                </p:cNvSpPr>
                <p:nvPr userDrawn="1"/>
              </p:nvSpPr>
              <p:spPr bwMode="ltGray">
                <a:xfrm>
                  <a:off x="2349" y="654"/>
                  <a:ext cx="45" cy="41"/>
                </a:xfrm>
                <a:custGeom>
                  <a:avLst/>
                  <a:gdLst>
                    <a:gd name="T0" fmla="*/ 0 w 43"/>
                    <a:gd name="T1" fmla="*/ 44 h 50"/>
                    <a:gd name="T2" fmla="*/ 22 w 43"/>
                    <a:gd name="T3" fmla="*/ 20 h 50"/>
                    <a:gd name="T4" fmla="*/ 36 w 43"/>
                    <a:gd name="T5" fmla="*/ 0 h 50"/>
                    <a:gd name="T6" fmla="*/ 24 w 43"/>
                    <a:gd name="T7" fmla="*/ 28 h 50"/>
                    <a:gd name="T8" fmla="*/ 2 w 43"/>
                    <a:gd name="T9" fmla="*/ 50 h 50"/>
                    <a:gd name="T10" fmla="*/ 0 w 43"/>
                    <a:gd name="T11" fmla="*/ 44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1" name="Freeform 30"/>
                <p:cNvSpPr>
                  <a:spLocks/>
                </p:cNvSpPr>
                <p:nvPr userDrawn="1"/>
              </p:nvSpPr>
              <p:spPr bwMode="ltGray">
                <a:xfrm>
                  <a:off x="4808" y="597"/>
                  <a:ext cx="701" cy="438"/>
                </a:xfrm>
                <a:custGeom>
                  <a:avLst/>
                  <a:gdLst>
                    <a:gd name="T0" fmla="*/ 21 w 471"/>
                    <a:gd name="T1" fmla="*/ 280 h 281"/>
                    <a:gd name="T2" fmla="*/ 24 w 471"/>
                    <a:gd name="T3" fmla="*/ 250 h 281"/>
                    <a:gd name="T4" fmla="*/ 22 w 471"/>
                    <a:gd name="T5" fmla="*/ 245 h 281"/>
                    <a:gd name="T6" fmla="*/ 16 w 471"/>
                    <a:gd name="T7" fmla="*/ 218 h 281"/>
                    <a:gd name="T8" fmla="*/ 4 w 471"/>
                    <a:gd name="T9" fmla="*/ 215 h 281"/>
                    <a:gd name="T10" fmla="*/ 0 w 471"/>
                    <a:gd name="T11" fmla="*/ 191 h 281"/>
                    <a:gd name="T12" fmla="*/ 12 w 471"/>
                    <a:gd name="T13" fmla="*/ 180 h 281"/>
                    <a:gd name="T14" fmla="*/ 6 w 471"/>
                    <a:gd name="T15" fmla="*/ 165 h 281"/>
                    <a:gd name="T16" fmla="*/ 2 w 471"/>
                    <a:gd name="T17" fmla="*/ 160 h 281"/>
                    <a:gd name="T18" fmla="*/ 28 w 471"/>
                    <a:gd name="T19" fmla="*/ 120 h 281"/>
                    <a:gd name="T20" fmla="*/ 44 w 471"/>
                    <a:gd name="T21" fmla="*/ 96 h 281"/>
                    <a:gd name="T22" fmla="*/ 42 w 471"/>
                    <a:gd name="T23" fmla="*/ 70 h 281"/>
                    <a:gd name="T24" fmla="*/ 24 w 471"/>
                    <a:gd name="T25" fmla="*/ 43 h 281"/>
                    <a:gd name="T26" fmla="*/ 20 w 471"/>
                    <a:gd name="T27" fmla="*/ 32 h 281"/>
                    <a:gd name="T28" fmla="*/ 26 w 471"/>
                    <a:gd name="T29" fmla="*/ 36 h 281"/>
                    <a:gd name="T30" fmla="*/ 48 w 471"/>
                    <a:gd name="T31" fmla="*/ 35 h 281"/>
                    <a:gd name="T32" fmla="*/ 64 w 471"/>
                    <a:gd name="T33" fmla="*/ 11 h 281"/>
                    <a:gd name="T34" fmla="*/ 82 w 471"/>
                    <a:gd name="T35" fmla="*/ 0 h 281"/>
                    <a:gd name="T36" fmla="*/ 88 w 471"/>
                    <a:gd name="T37" fmla="*/ 2 h 281"/>
                    <a:gd name="T38" fmla="*/ 92 w 471"/>
                    <a:gd name="T39" fmla="*/ 9 h 281"/>
                    <a:gd name="T40" fmla="*/ 98 w 471"/>
                    <a:gd name="T41" fmla="*/ 5 h 281"/>
                    <a:gd name="T42" fmla="*/ 110 w 471"/>
                    <a:gd name="T43" fmla="*/ 8 h 281"/>
                    <a:gd name="T44" fmla="*/ 116 w 471"/>
                    <a:gd name="T45" fmla="*/ 9 h 281"/>
                    <a:gd name="T46" fmla="*/ 141 w 471"/>
                    <a:gd name="T47" fmla="*/ 14 h 281"/>
                    <a:gd name="T48" fmla="*/ 155 w 471"/>
                    <a:gd name="T49" fmla="*/ 24 h 281"/>
                    <a:gd name="T50" fmla="*/ 167 w 471"/>
                    <a:gd name="T51" fmla="*/ 17 h 281"/>
                    <a:gd name="T52" fmla="*/ 173 w 471"/>
                    <a:gd name="T53" fmla="*/ 14 h 281"/>
                    <a:gd name="T54" fmla="*/ 195 w 471"/>
                    <a:gd name="T55" fmla="*/ 14 h 281"/>
                    <a:gd name="T56" fmla="*/ 211 w 471"/>
                    <a:gd name="T57" fmla="*/ 32 h 281"/>
                    <a:gd name="T58" fmla="*/ 231 w 471"/>
                    <a:gd name="T59" fmla="*/ 59 h 281"/>
                    <a:gd name="T60" fmla="*/ 245 w 471"/>
                    <a:gd name="T61" fmla="*/ 70 h 281"/>
                    <a:gd name="T62" fmla="*/ 257 w 471"/>
                    <a:gd name="T63" fmla="*/ 68 h 281"/>
                    <a:gd name="T64" fmla="*/ 270 w 471"/>
                    <a:gd name="T65" fmla="*/ 65 h 281"/>
                    <a:gd name="T66" fmla="*/ 290 w 471"/>
                    <a:gd name="T67" fmla="*/ 71 h 281"/>
                    <a:gd name="T68" fmla="*/ 300 w 471"/>
                    <a:gd name="T69" fmla="*/ 81 h 281"/>
                    <a:gd name="T70" fmla="*/ 308 w 471"/>
                    <a:gd name="T71" fmla="*/ 90 h 281"/>
                    <a:gd name="T72" fmla="*/ 318 w 471"/>
                    <a:gd name="T73" fmla="*/ 111 h 281"/>
                    <a:gd name="T74" fmla="*/ 322 w 471"/>
                    <a:gd name="T75" fmla="*/ 120 h 281"/>
                    <a:gd name="T76" fmla="*/ 324 w 471"/>
                    <a:gd name="T77" fmla="*/ 125 h 281"/>
                    <a:gd name="T78" fmla="*/ 310 w 471"/>
                    <a:gd name="T79" fmla="*/ 142 h 281"/>
                    <a:gd name="T80" fmla="*/ 322 w 471"/>
                    <a:gd name="T81" fmla="*/ 141 h 281"/>
                    <a:gd name="T82" fmla="*/ 342 w 471"/>
                    <a:gd name="T83" fmla="*/ 155 h 281"/>
                    <a:gd name="T84" fmla="*/ 364 w 471"/>
                    <a:gd name="T85" fmla="*/ 157 h 281"/>
                    <a:gd name="T86" fmla="*/ 380 w 471"/>
                    <a:gd name="T87" fmla="*/ 168 h 281"/>
                    <a:gd name="T88" fmla="*/ 382 w 471"/>
                    <a:gd name="T89" fmla="*/ 172 h 281"/>
                    <a:gd name="T90" fmla="*/ 382 w 471"/>
                    <a:gd name="T91" fmla="*/ 176 h 281"/>
                    <a:gd name="T92" fmla="*/ 394 w 471"/>
                    <a:gd name="T93" fmla="*/ 172 h 281"/>
                    <a:gd name="T94" fmla="*/ 400 w 471"/>
                    <a:gd name="T95" fmla="*/ 171 h 281"/>
                    <a:gd name="T96" fmla="*/ 439 w 471"/>
                    <a:gd name="T97" fmla="*/ 185 h 281"/>
                    <a:gd name="T98" fmla="*/ 447 w 471"/>
                    <a:gd name="T99" fmla="*/ 199 h 281"/>
                    <a:gd name="T100" fmla="*/ 465 w 471"/>
                    <a:gd name="T101" fmla="*/ 201 h 281"/>
                    <a:gd name="T102" fmla="*/ 471 w 471"/>
                    <a:gd name="T103" fmla="*/ 215 h 281"/>
                    <a:gd name="T104" fmla="*/ 451 w 471"/>
                    <a:gd name="T105" fmla="*/ 258 h 281"/>
                    <a:gd name="T106" fmla="*/ 435 w 471"/>
                    <a:gd name="T107" fmla="*/ 281 h 28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1" h="281">
                      <a:moveTo>
                        <a:pt x="21" y="280"/>
                      </a:moveTo>
                      <a:cubicBezTo>
                        <a:pt x="32" y="281"/>
                        <a:pt x="25" y="253"/>
                        <a:pt x="24" y="250"/>
                      </a:cubicBezTo>
                      <a:cubicBezTo>
                        <a:pt x="23" y="248"/>
                        <a:pt x="22" y="245"/>
                        <a:pt x="22" y="245"/>
                      </a:cubicBezTo>
                      <a:cubicBezTo>
                        <a:pt x="21" y="243"/>
                        <a:pt x="20" y="221"/>
                        <a:pt x="16" y="218"/>
                      </a:cubicBezTo>
                      <a:cubicBezTo>
                        <a:pt x="13" y="216"/>
                        <a:pt x="4" y="215"/>
                        <a:pt x="4" y="215"/>
                      </a:cubicBezTo>
                      <a:cubicBezTo>
                        <a:pt x="0" y="207"/>
                        <a:pt x="3" y="200"/>
                        <a:pt x="0" y="191"/>
                      </a:cubicBezTo>
                      <a:cubicBezTo>
                        <a:pt x="2" y="185"/>
                        <a:pt x="7" y="186"/>
                        <a:pt x="12" y="180"/>
                      </a:cubicBezTo>
                      <a:cubicBezTo>
                        <a:pt x="14" y="172"/>
                        <a:pt x="14" y="169"/>
                        <a:pt x="6" y="165"/>
                      </a:cubicBezTo>
                      <a:cubicBezTo>
                        <a:pt x="4" y="163"/>
                        <a:pt x="2" y="162"/>
                        <a:pt x="2" y="160"/>
                      </a:cubicBezTo>
                      <a:cubicBezTo>
                        <a:pt x="2" y="150"/>
                        <a:pt x="16" y="123"/>
                        <a:pt x="28" y="120"/>
                      </a:cubicBezTo>
                      <a:cubicBezTo>
                        <a:pt x="32" y="111"/>
                        <a:pt x="40" y="105"/>
                        <a:pt x="44" y="96"/>
                      </a:cubicBezTo>
                      <a:cubicBezTo>
                        <a:pt x="39" y="83"/>
                        <a:pt x="38" y="85"/>
                        <a:pt x="42" y="70"/>
                      </a:cubicBezTo>
                      <a:cubicBezTo>
                        <a:pt x="38" y="60"/>
                        <a:pt x="34" y="48"/>
                        <a:pt x="24" y="43"/>
                      </a:cubicBezTo>
                      <a:cubicBezTo>
                        <a:pt x="18" y="36"/>
                        <a:pt x="10" y="37"/>
                        <a:pt x="20" y="32"/>
                      </a:cubicBezTo>
                      <a:cubicBezTo>
                        <a:pt x="27" y="34"/>
                        <a:pt x="26" y="32"/>
                        <a:pt x="26" y="36"/>
                      </a:cubicBezTo>
                      <a:cubicBezTo>
                        <a:pt x="34" y="41"/>
                        <a:pt x="39" y="39"/>
                        <a:pt x="48" y="35"/>
                      </a:cubicBezTo>
                      <a:cubicBezTo>
                        <a:pt x="45" y="22"/>
                        <a:pt x="48" y="14"/>
                        <a:pt x="64" y="11"/>
                      </a:cubicBezTo>
                      <a:cubicBezTo>
                        <a:pt x="71" y="8"/>
                        <a:pt x="75" y="3"/>
                        <a:pt x="82" y="0"/>
                      </a:cubicBezTo>
                      <a:cubicBezTo>
                        <a:pt x="84" y="1"/>
                        <a:pt x="88" y="0"/>
                        <a:pt x="88" y="2"/>
                      </a:cubicBezTo>
                      <a:cubicBezTo>
                        <a:pt x="90" y="12"/>
                        <a:pt x="75" y="13"/>
                        <a:pt x="92" y="9"/>
                      </a:cubicBezTo>
                      <a:cubicBezTo>
                        <a:pt x="94" y="8"/>
                        <a:pt x="96" y="5"/>
                        <a:pt x="98" y="5"/>
                      </a:cubicBezTo>
                      <a:cubicBezTo>
                        <a:pt x="102" y="4"/>
                        <a:pt x="106" y="7"/>
                        <a:pt x="110" y="8"/>
                      </a:cubicBezTo>
                      <a:cubicBezTo>
                        <a:pt x="112" y="8"/>
                        <a:pt x="116" y="9"/>
                        <a:pt x="116" y="9"/>
                      </a:cubicBezTo>
                      <a:cubicBezTo>
                        <a:pt x="122" y="16"/>
                        <a:pt x="129" y="13"/>
                        <a:pt x="141" y="14"/>
                      </a:cubicBezTo>
                      <a:cubicBezTo>
                        <a:pt x="143" y="21"/>
                        <a:pt x="147" y="22"/>
                        <a:pt x="155" y="24"/>
                      </a:cubicBezTo>
                      <a:cubicBezTo>
                        <a:pt x="159" y="22"/>
                        <a:pt x="163" y="20"/>
                        <a:pt x="167" y="17"/>
                      </a:cubicBezTo>
                      <a:cubicBezTo>
                        <a:pt x="169" y="16"/>
                        <a:pt x="173" y="14"/>
                        <a:pt x="173" y="14"/>
                      </a:cubicBezTo>
                      <a:cubicBezTo>
                        <a:pt x="195" y="26"/>
                        <a:pt x="175" y="20"/>
                        <a:pt x="195" y="14"/>
                      </a:cubicBezTo>
                      <a:cubicBezTo>
                        <a:pt x="207" y="17"/>
                        <a:pt x="201" y="26"/>
                        <a:pt x="211" y="32"/>
                      </a:cubicBezTo>
                      <a:cubicBezTo>
                        <a:pt x="214" y="38"/>
                        <a:pt x="224" y="55"/>
                        <a:pt x="231" y="59"/>
                      </a:cubicBezTo>
                      <a:cubicBezTo>
                        <a:pt x="241" y="70"/>
                        <a:pt x="235" y="67"/>
                        <a:pt x="245" y="70"/>
                      </a:cubicBezTo>
                      <a:cubicBezTo>
                        <a:pt x="249" y="69"/>
                        <a:pt x="253" y="69"/>
                        <a:pt x="257" y="68"/>
                      </a:cubicBezTo>
                      <a:cubicBezTo>
                        <a:pt x="261" y="67"/>
                        <a:pt x="270" y="65"/>
                        <a:pt x="270" y="65"/>
                      </a:cubicBezTo>
                      <a:cubicBezTo>
                        <a:pt x="278" y="66"/>
                        <a:pt x="283" y="67"/>
                        <a:pt x="290" y="71"/>
                      </a:cubicBezTo>
                      <a:cubicBezTo>
                        <a:pt x="304" y="88"/>
                        <a:pt x="282" y="62"/>
                        <a:pt x="300" y="81"/>
                      </a:cubicBezTo>
                      <a:cubicBezTo>
                        <a:pt x="302" y="84"/>
                        <a:pt x="308" y="90"/>
                        <a:pt x="308" y="90"/>
                      </a:cubicBezTo>
                      <a:cubicBezTo>
                        <a:pt x="311" y="98"/>
                        <a:pt x="315" y="103"/>
                        <a:pt x="318" y="111"/>
                      </a:cubicBezTo>
                      <a:cubicBezTo>
                        <a:pt x="319" y="114"/>
                        <a:pt x="321" y="117"/>
                        <a:pt x="322" y="120"/>
                      </a:cubicBezTo>
                      <a:cubicBezTo>
                        <a:pt x="323" y="122"/>
                        <a:pt x="324" y="125"/>
                        <a:pt x="324" y="125"/>
                      </a:cubicBezTo>
                      <a:cubicBezTo>
                        <a:pt x="321" y="132"/>
                        <a:pt x="313" y="134"/>
                        <a:pt x="310" y="142"/>
                      </a:cubicBezTo>
                      <a:cubicBezTo>
                        <a:pt x="313" y="151"/>
                        <a:pt x="317" y="146"/>
                        <a:pt x="322" y="141"/>
                      </a:cubicBezTo>
                      <a:cubicBezTo>
                        <a:pt x="341" y="143"/>
                        <a:pt x="339" y="142"/>
                        <a:pt x="342" y="155"/>
                      </a:cubicBezTo>
                      <a:cubicBezTo>
                        <a:pt x="351" y="150"/>
                        <a:pt x="355" y="152"/>
                        <a:pt x="364" y="157"/>
                      </a:cubicBezTo>
                      <a:cubicBezTo>
                        <a:pt x="369" y="162"/>
                        <a:pt x="372" y="166"/>
                        <a:pt x="380" y="168"/>
                      </a:cubicBezTo>
                      <a:cubicBezTo>
                        <a:pt x="381" y="169"/>
                        <a:pt x="383" y="171"/>
                        <a:pt x="382" y="172"/>
                      </a:cubicBezTo>
                      <a:cubicBezTo>
                        <a:pt x="380" y="176"/>
                        <a:pt x="368" y="172"/>
                        <a:pt x="382" y="176"/>
                      </a:cubicBezTo>
                      <a:cubicBezTo>
                        <a:pt x="386" y="175"/>
                        <a:pt x="390" y="173"/>
                        <a:pt x="394" y="172"/>
                      </a:cubicBezTo>
                      <a:cubicBezTo>
                        <a:pt x="396" y="172"/>
                        <a:pt x="400" y="171"/>
                        <a:pt x="400" y="171"/>
                      </a:cubicBezTo>
                      <a:cubicBezTo>
                        <a:pt x="413" y="177"/>
                        <a:pt x="427" y="179"/>
                        <a:pt x="439" y="185"/>
                      </a:cubicBezTo>
                      <a:cubicBezTo>
                        <a:pt x="441" y="190"/>
                        <a:pt x="445" y="194"/>
                        <a:pt x="447" y="199"/>
                      </a:cubicBezTo>
                      <a:cubicBezTo>
                        <a:pt x="453" y="198"/>
                        <a:pt x="460" y="195"/>
                        <a:pt x="465" y="201"/>
                      </a:cubicBezTo>
                      <a:cubicBezTo>
                        <a:pt x="468" y="205"/>
                        <a:pt x="471" y="215"/>
                        <a:pt x="471" y="215"/>
                      </a:cubicBezTo>
                      <a:cubicBezTo>
                        <a:pt x="468" y="231"/>
                        <a:pt x="469" y="248"/>
                        <a:pt x="451" y="258"/>
                      </a:cubicBezTo>
                      <a:cubicBezTo>
                        <a:pt x="447" y="262"/>
                        <a:pt x="437" y="275"/>
                        <a:pt x="435" y="281"/>
                      </a:cubicBezTo>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2" name="Freeform 31"/>
                <p:cNvSpPr>
                  <a:spLocks/>
                </p:cNvSpPr>
                <p:nvPr userDrawn="1"/>
              </p:nvSpPr>
              <p:spPr bwMode="ltGray">
                <a:xfrm>
                  <a:off x="3880" y="-7"/>
                  <a:ext cx="984" cy="692"/>
                </a:xfrm>
                <a:custGeom>
                  <a:avLst/>
                  <a:gdLst>
                    <a:gd name="T0" fmla="*/ 406 w 984"/>
                    <a:gd name="T1" fmla="*/ 6 h 844"/>
                    <a:gd name="T2" fmla="*/ 502 w 984"/>
                    <a:gd name="T3" fmla="*/ 34 h 844"/>
                    <a:gd name="T4" fmla="*/ 550 w 984"/>
                    <a:gd name="T5" fmla="*/ 38 h 844"/>
                    <a:gd name="T6" fmla="*/ 578 w 984"/>
                    <a:gd name="T7" fmla="*/ 130 h 844"/>
                    <a:gd name="T8" fmla="*/ 586 w 984"/>
                    <a:gd name="T9" fmla="*/ 90 h 844"/>
                    <a:gd name="T10" fmla="*/ 606 w 984"/>
                    <a:gd name="T11" fmla="*/ 70 h 844"/>
                    <a:gd name="T12" fmla="*/ 642 w 984"/>
                    <a:gd name="T13" fmla="*/ 126 h 844"/>
                    <a:gd name="T14" fmla="*/ 682 w 984"/>
                    <a:gd name="T15" fmla="*/ 98 h 844"/>
                    <a:gd name="T16" fmla="*/ 706 w 984"/>
                    <a:gd name="T17" fmla="*/ 86 h 844"/>
                    <a:gd name="T18" fmla="*/ 762 w 984"/>
                    <a:gd name="T19" fmla="*/ 2 h 844"/>
                    <a:gd name="T20" fmla="*/ 798 w 984"/>
                    <a:gd name="T21" fmla="*/ 70 h 844"/>
                    <a:gd name="T22" fmla="*/ 798 w 984"/>
                    <a:gd name="T23" fmla="*/ 130 h 844"/>
                    <a:gd name="T24" fmla="*/ 790 w 984"/>
                    <a:gd name="T25" fmla="*/ 158 h 844"/>
                    <a:gd name="T26" fmla="*/ 766 w 984"/>
                    <a:gd name="T27" fmla="*/ 162 h 844"/>
                    <a:gd name="T28" fmla="*/ 762 w 984"/>
                    <a:gd name="T29" fmla="*/ 186 h 844"/>
                    <a:gd name="T30" fmla="*/ 802 w 984"/>
                    <a:gd name="T31" fmla="*/ 226 h 844"/>
                    <a:gd name="T32" fmla="*/ 786 w 984"/>
                    <a:gd name="T33" fmla="*/ 322 h 844"/>
                    <a:gd name="T34" fmla="*/ 830 w 984"/>
                    <a:gd name="T35" fmla="*/ 414 h 844"/>
                    <a:gd name="T36" fmla="*/ 854 w 984"/>
                    <a:gd name="T37" fmla="*/ 450 h 844"/>
                    <a:gd name="T38" fmla="*/ 830 w 984"/>
                    <a:gd name="T39" fmla="*/ 450 h 844"/>
                    <a:gd name="T40" fmla="*/ 746 w 984"/>
                    <a:gd name="T41" fmla="*/ 378 h 844"/>
                    <a:gd name="T42" fmla="*/ 678 w 984"/>
                    <a:gd name="T43" fmla="*/ 402 h 844"/>
                    <a:gd name="T44" fmla="*/ 590 w 984"/>
                    <a:gd name="T45" fmla="*/ 442 h 844"/>
                    <a:gd name="T46" fmla="*/ 642 w 984"/>
                    <a:gd name="T47" fmla="*/ 578 h 844"/>
                    <a:gd name="T48" fmla="*/ 710 w 984"/>
                    <a:gd name="T49" fmla="*/ 610 h 844"/>
                    <a:gd name="T50" fmla="*/ 738 w 984"/>
                    <a:gd name="T51" fmla="*/ 550 h 844"/>
                    <a:gd name="T52" fmla="*/ 774 w 984"/>
                    <a:gd name="T53" fmla="*/ 570 h 844"/>
                    <a:gd name="T54" fmla="*/ 766 w 984"/>
                    <a:gd name="T55" fmla="*/ 630 h 844"/>
                    <a:gd name="T56" fmla="*/ 802 w 984"/>
                    <a:gd name="T57" fmla="*/ 670 h 844"/>
                    <a:gd name="T58" fmla="*/ 838 w 984"/>
                    <a:gd name="T59" fmla="*/ 658 h 844"/>
                    <a:gd name="T60" fmla="*/ 922 w 984"/>
                    <a:gd name="T61" fmla="*/ 806 h 844"/>
                    <a:gd name="T62" fmla="*/ 942 w 984"/>
                    <a:gd name="T63" fmla="*/ 826 h 844"/>
                    <a:gd name="T64" fmla="*/ 874 w 984"/>
                    <a:gd name="T65" fmla="*/ 810 h 844"/>
                    <a:gd name="T66" fmla="*/ 830 w 984"/>
                    <a:gd name="T67" fmla="*/ 758 h 844"/>
                    <a:gd name="T68" fmla="*/ 778 w 984"/>
                    <a:gd name="T69" fmla="*/ 710 h 844"/>
                    <a:gd name="T70" fmla="*/ 702 w 984"/>
                    <a:gd name="T71" fmla="*/ 662 h 844"/>
                    <a:gd name="T72" fmla="*/ 614 w 984"/>
                    <a:gd name="T73" fmla="*/ 646 h 844"/>
                    <a:gd name="T74" fmla="*/ 506 w 984"/>
                    <a:gd name="T75" fmla="*/ 594 h 844"/>
                    <a:gd name="T76" fmla="*/ 462 w 984"/>
                    <a:gd name="T77" fmla="*/ 506 h 844"/>
                    <a:gd name="T78" fmla="*/ 430 w 984"/>
                    <a:gd name="T79" fmla="*/ 462 h 844"/>
                    <a:gd name="T80" fmla="*/ 382 w 984"/>
                    <a:gd name="T81" fmla="*/ 430 h 844"/>
                    <a:gd name="T82" fmla="*/ 342 w 984"/>
                    <a:gd name="T83" fmla="*/ 370 h 844"/>
                    <a:gd name="T84" fmla="*/ 354 w 984"/>
                    <a:gd name="T85" fmla="*/ 414 h 844"/>
                    <a:gd name="T86" fmla="*/ 418 w 984"/>
                    <a:gd name="T87" fmla="*/ 494 h 844"/>
                    <a:gd name="T88" fmla="*/ 422 w 984"/>
                    <a:gd name="T89" fmla="*/ 526 h 844"/>
                    <a:gd name="T90" fmla="*/ 394 w 984"/>
                    <a:gd name="T91" fmla="*/ 498 h 844"/>
                    <a:gd name="T92" fmla="*/ 354 w 984"/>
                    <a:gd name="T93" fmla="*/ 466 h 844"/>
                    <a:gd name="T94" fmla="*/ 314 w 984"/>
                    <a:gd name="T95" fmla="*/ 402 h 844"/>
                    <a:gd name="T96" fmla="*/ 266 w 984"/>
                    <a:gd name="T97" fmla="*/ 346 h 844"/>
                    <a:gd name="T98" fmla="*/ 210 w 984"/>
                    <a:gd name="T99" fmla="*/ 314 h 844"/>
                    <a:gd name="T100" fmla="*/ 154 w 984"/>
                    <a:gd name="T101" fmla="*/ 238 h 844"/>
                    <a:gd name="T102" fmla="*/ 66 w 984"/>
                    <a:gd name="T103" fmla="*/ 66 h 844"/>
                    <a:gd name="T104" fmla="*/ 34 w 984"/>
                    <a:gd name="T105" fmla="*/ 38 h 844"/>
                    <a:gd name="T106" fmla="*/ 46 w 984"/>
                    <a:gd name="T107" fmla="*/ 22 h 844"/>
                    <a:gd name="T108" fmla="*/ 102 w 984"/>
                    <a:gd name="T109" fmla="*/ 70 h 8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984" h="844">
                      <a:moveTo>
                        <a:pt x="82" y="38"/>
                      </a:moveTo>
                      <a:lnTo>
                        <a:pt x="406" y="6"/>
                      </a:lnTo>
                      <a:cubicBezTo>
                        <a:pt x="497" y="22"/>
                        <a:pt x="465" y="0"/>
                        <a:pt x="474" y="54"/>
                      </a:cubicBezTo>
                      <a:cubicBezTo>
                        <a:pt x="492" y="48"/>
                        <a:pt x="484" y="40"/>
                        <a:pt x="502" y="34"/>
                      </a:cubicBezTo>
                      <a:cubicBezTo>
                        <a:pt x="510" y="37"/>
                        <a:pt x="517" y="46"/>
                        <a:pt x="526" y="46"/>
                      </a:cubicBezTo>
                      <a:cubicBezTo>
                        <a:pt x="534" y="46"/>
                        <a:pt x="550" y="38"/>
                        <a:pt x="550" y="38"/>
                      </a:cubicBezTo>
                      <a:cubicBezTo>
                        <a:pt x="556" y="55"/>
                        <a:pt x="552" y="60"/>
                        <a:pt x="542" y="74"/>
                      </a:cubicBezTo>
                      <a:cubicBezTo>
                        <a:pt x="555" y="114"/>
                        <a:pt x="550" y="102"/>
                        <a:pt x="578" y="130"/>
                      </a:cubicBezTo>
                      <a:cubicBezTo>
                        <a:pt x="584" y="148"/>
                        <a:pt x="590" y="148"/>
                        <a:pt x="606" y="138"/>
                      </a:cubicBezTo>
                      <a:cubicBezTo>
                        <a:pt x="600" y="119"/>
                        <a:pt x="594" y="107"/>
                        <a:pt x="586" y="90"/>
                      </a:cubicBezTo>
                      <a:cubicBezTo>
                        <a:pt x="583" y="82"/>
                        <a:pt x="578" y="66"/>
                        <a:pt x="578" y="66"/>
                      </a:cubicBezTo>
                      <a:cubicBezTo>
                        <a:pt x="585" y="44"/>
                        <a:pt x="597" y="56"/>
                        <a:pt x="606" y="70"/>
                      </a:cubicBezTo>
                      <a:cubicBezTo>
                        <a:pt x="609" y="86"/>
                        <a:pt x="608" y="117"/>
                        <a:pt x="626" y="90"/>
                      </a:cubicBezTo>
                      <a:cubicBezTo>
                        <a:pt x="648" y="97"/>
                        <a:pt x="646" y="104"/>
                        <a:pt x="642" y="126"/>
                      </a:cubicBezTo>
                      <a:cubicBezTo>
                        <a:pt x="650" y="150"/>
                        <a:pt x="665" y="141"/>
                        <a:pt x="682" y="130"/>
                      </a:cubicBezTo>
                      <a:cubicBezTo>
                        <a:pt x="689" y="108"/>
                        <a:pt x="673" y="124"/>
                        <a:pt x="682" y="98"/>
                      </a:cubicBezTo>
                      <a:cubicBezTo>
                        <a:pt x="683" y="94"/>
                        <a:pt x="690" y="96"/>
                        <a:pt x="694" y="94"/>
                      </a:cubicBezTo>
                      <a:cubicBezTo>
                        <a:pt x="698" y="92"/>
                        <a:pt x="702" y="89"/>
                        <a:pt x="706" y="86"/>
                      </a:cubicBezTo>
                      <a:cubicBezTo>
                        <a:pt x="717" y="54"/>
                        <a:pt x="688" y="54"/>
                        <a:pt x="742" y="46"/>
                      </a:cubicBezTo>
                      <a:cubicBezTo>
                        <a:pt x="748" y="27"/>
                        <a:pt x="741" y="9"/>
                        <a:pt x="762" y="2"/>
                      </a:cubicBezTo>
                      <a:cubicBezTo>
                        <a:pt x="788" y="11"/>
                        <a:pt x="777" y="38"/>
                        <a:pt x="802" y="46"/>
                      </a:cubicBezTo>
                      <a:cubicBezTo>
                        <a:pt x="831" y="36"/>
                        <a:pt x="805" y="63"/>
                        <a:pt x="798" y="70"/>
                      </a:cubicBezTo>
                      <a:cubicBezTo>
                        <a:pt x="789" y="96"/>
                        <a:pt x="787" y="96"/>
                        <a:pt x="802" y="118"/>
                      </a:cubicBezTo>
                      <a:cubicBezTo>
                        <a:pt x="801" y="122"/>
                        <a:pt x="801" y="127"/>
                        <a:pt x="798" y="130"/>
                      </a:cubicBezTo>
                      <a:cubicBezTo>
                        <a:pt x="794" y="133"/>
                        <a:pt x="784" y="129"/>
                        <a:pt x="782" y="134"/>
                      </a:cubicBezTo>
                      <a:cubicBezTo>
                        <a:pt x="780" y="142"/>
                        <a:pt x="790" y="158"/>
                        <a:pt x="790" y="158"/>
                      </a:cubicBezTo>
                      <a:cubicBezTo>
                        <a:pt x="786" y="161"/>
                        <a:pt x="783" y="165"/>
                        <a:pt x="778" y="166"/>
                      </a:cubicBezTo>
                      <a:cubicBezTo>
                        <a:pt x="774" y="167"/>
                        <a:pt x="769" y="159"/>
                        <a:pt x="766" y="162"/>
                      </a:cubicBezTo>
                      <a:cubicBezTo>
                        <a:pt x="758" y="170"/>
                        <a:pt x="794" y="182"/>
                        <a:pt x="794" y="182"/>
                      </a:cubicBezTo>
                      <a:cubicBezTo>
                        <a:pt x="804" y="211"/>
                        <a:pt x="775" y="190"/>
                        <a:pt x="762" y="186"/>
                      </a:cubicBezTo>
                      <a:cubicBezTo>
                        <a:pt x="767" y="194"/>
                        <a:pt x="773" y="202"/>
                        <a:pt x="778" y="210"/>
                      </a:cubicBezTo>
                      <a:cubicBezTo>
                        <a:pt x="783" y="218"/>
                        <a:pt x="802" y="226"/>
                        <a:pt x="802" y="226"/>
                      </a:cubicBezTo>
                      <a:cubicBezTo>
                        <a:pt x="813" y="242"/>
                        <a:pt x="804" y="245"/>
                        <a:pt x="810" y="262"/>
                      </a:cubicBezTo>
                      <a:cubicBezTo>
                        <a:pt x="803" y="282"/>
                        <a:pt x="793" y="301"/>
                        <a:pt x="786" y="322"/>
                      </a:cubicBezTo>
                      <a:cubicBezTo>
                        <a:pt x="783" y="330"/>
                        <a:pt x="778" y="346"/>
                        <a:pt x="778" y="346"/>
                      </a:cubicBezTo>
                      <a:cubicBezTo>
                        <a:pt x="785" y="366"/>
                        <a:pt x="817" y="394"/>
                        <a:pt x="830" y="414"/>
                      </a:cubicBezTo>
                      <a:cubicBezTo>
                        <a:pt x="835" y="422"/>
                        <a:pt x="841" y="430"/>
                        <a:pt x="846" y="438"/>
                      </a:cubicBezTo>
                      <a:cubicBezTo>
                        <a:pt x="849" y="442"/>
                        <a:pt x="854" y="450"/>
                        <a:pt x="854" y="450"/>
                      </a:cubicBezTo>
                      <a:cubicBezTo>
                        <a:pt x="853" y="457"/>
                        <a:pt x="855" y="466"/>
                        <a:pt x="850" y="470"/>
                      </a:cubicBezTo>
                      <a:cubicBezTo>
                        <a:pt x="844" y="475"/>
                        <a:pt x="831" y="451"/>
                        <a:pt x="830" y="450"/>
                      </a:cubicBezTo>
                      <a:cubicBezTo>
                        <a:pt x="811" y="431"/>
                        <a:pt x="789" y="421"/>
                        <a:pt x="774" y="398"/>
                      </a:cubicBezTo>
                      <a:cubicBezTo>
                        <a:pt x="769" y="379"/>
                        <a:pt x="766" y="371"/>
                        <a:pt x="746" y="378"/>
                      </a:cubicBezTo>
                      <a:cubicBezTo>
                        <a:pt x="717" y="368"/>
                        <a:pt x="730" y="368"/>
                        <a:pt x="706" y="374"/>
                      </a:cubicBezTo>
                      <a:cubicBezTo>
                        <a:pt x="688" y="402"/>
                        <a:pt x="699" y="395"/>
                        <a:pt x="678" y="402"/>
                      </a:cubicBezTo>
                      <a:cubicBezTo>
                        <a:pt x="654" y="386"/>
                        <a:pt x="650" y="390"/>
                        <a:pt x="618" y="394"/>
                      </a:cubicBezTo>
                      <a:cubicBezTo>
                        <a:pt x="607" y="411"/>
                        <a:pt x="601" y="426"/>
                        <a:pt x="590" y="442"/>
                      </a:cubicBezTo>
                      <a:cubicBezTo>
                        <a:pt x="600" y="471"/>
                        <a:pt x="593" y="459"/>
                        <a:pt x="606" y="478"/>
                      </a:cubicBezTo>
                      <a:cubicBezTo>
                        <a:pt x="593" y="518"/>
                        <a:pt x="622" y="548"/>
                        <a:pt x="642" y="578"/>
                      </a:cubicBezTo>
                      <a:cubicBezTo>
                        <a:pt x="651" y="591"/>
                        <a:pt x="651" y="601"/>
                        <a:pt x="666" y="606"/>
                      </a:cubicBezTo>
                      <a:cubicBezTo>
                        <a:pt x="680" y="627"/>
                        <a:pt x="691" y="623"/>
                        <a:pt x="710" y="610"/>
                      </a:cubicBezTo>
                      <a:cubicBezTo>
                        <a:pt x="729" y="616"/>
                        <a:pt x="729" y="606"/>
                        <a:pt x="734" y="590"/>
                      </a:cubicBezTo>
                      <a:cubicBezTo>
                        <a:pt x="735" y="577"/>
                        <a:pt x="731" y="562"/>
                        <a:pt x="738" y="550"/>
                      </a:cubicBezTo>
                      <a:cubicBezTo>
                        <a:pt x="742" y="543"/>
                        <a:pt x="762" y="542"/>
                        <a:pt x="762" y="542"/>
                      </a:cubicBezTo>
                      <a:cubicBezTo>
                        <a:pt x="783" y="547"/>
                        <a:pt x="786" y="552"/>
                        <a:pt x="774" y="570"/>
                      </a:cubicBezTo>
                      <a:cubicBezTo>
                        <a:pt x="779" y="590"/>
                        <a:pt x="790" y="605"/>
                        <a:pt x="770" y="618"/>
                      </a:cubicBezTo>
                      <a:cubicBezTo>
                        <a:pt x="769" y="622"/>
                        <a:pt x="764" y="626"/>
                        <a:pt x="766" y="630"/>
                      </a:cubicBezTo>
                      <a:cubicBezTo>
                        <a:pt x="768" y="634"/>
                        <a:pt x="775" y="634"/>
                        <a:pt x="778" y="638"/>
                      </a:cubicBezTo>
                      <a:cubicBezTo>
                        <a:pt x="788" y="651"/>
                        <a:pt x="786" y="660"/>
                        <a:pt x="802" y="670"/>
                      </a:cubicBezTo>
                      <a:cubicBezTo>
                        <a:pt x="810" y="667"/>
                        <a:pt x="818" y="665"/>
                        <a:pt x="826" y="662"/>
                      </a:cubicBezTo>
                      <a:cubicBezTo>
                        <a:pt x="830" y="661"/>
                        <a:pt x="838" y="658"/>
                        <a:pt x="838" y="658"/>
                      </a:cubicBezTo>
                      <a:cubicBezTo>
                        <a:pt x="857" y="664"/>
                        <a:pt x="864" y="680"/>
                        <a:pt x="870" y="698"/>
                      </a:cubicBezTo>
                      <a:cubicBezTo>
                        <a:pt x="859" y="731"/>
                        <a:pt x="887" y="794"/>
                        <a:pt x="922" y="806"/>
                      </a:cubicBezTo>
                      <a:cubicBezTo>
                        <a:pt x="938" y="801"/>
                        <a:pt x="941" y="792"/>
                        <a:pt x="958" y="798"/>
                      </a:cubicBezTo>
                      <a:cubicBezTo>
                        <a:pt x="984" y="837"/>
                        <a:pt x="928" y="784"/>
                        <a:pt x="942" y="826"/>
                      </a:cubicBezTo>
                      <a:cubicBezTo>
                        <a:pt x="936" y="844"/>
                        <a:pt x="930" y="844"/>
                        <a:pt x="914" y="834"/>
                      </a:cubicBezTo>
                      <a:cubicBezTo>
                        <a:pt x="903" y="817"/>
                        <a:pt x="890" y="821"/>
                        <a:pt x="874" y="810"/>
                      </a:cubicBezTo>
                      <a:cubicBezTo>
                        <a:pt x="851" y="776"/>
                        <a:pt x="882" y="816"/>
                        <a:pt x="854" y="794"/>
                      </a:cubicBezTo>
                      <a:cubicBezTo>
                        <a:pt x="843" y="785"/>
                        <a:pt x="840" y="768"/>
                        <a:pt x="830" y="758"/>
                      </a:cubicBezTo>
                      <a:cubicBezTo>
                        <a:pt x="824" y="739"/>
                        <a:pt x="817" y="724"/>
                        <a:pt x="798" y="718"/>
                      </a:cubicBezTo>
                      <a:cubicBezTo>
                        <a:pt x="791" y="696"/>
                        <a:pt x="800" y="712"/>
                        <a:pt x="778" y="710"/>
                      </a:cubicBezTo>
                      <a:cubicBezTo>
                        <a:pt x="767" y="709"/>
                        <a:pt x="746" y="702"/>
                        <a:pt x="746" y="702"/>
                      </a:cubicBezTo>
                      <a:cubicBezTo>
                        <a:pt x="729" y="691"/>
                        <a:pt x="720" y="674"/>
                        <a:pt x="702" y="662"/>
                      </a:cubicBezTo>
                      <a:cubicBezTo>
                        <a:pt x="694" y="665"/>
                        <a:pt x="687" y="673"/>
                        <a:pt x="678" y="674"/>
                      </a:cubicBezTo>
                      <a:cubicBezTo>
                        <a:pt x="657" y="677"/>
                        <a:pt x="630" y="657"/>
                        <a:pt x="614" y="646"/>
                      </a:cubicBezTo>
                      <a:cubicBezTo>
                        <a:pt x="600" y="637"/>
                        <a:pt x="580" y="639"/>
                        <a:pt x="566" y="630"/>
                      </a:cubicBezTo>
                      <a:cubicBezTo>
                        <a:pt x="546" y="617"/>
                        <a:pt x="525" y="607"/>
                        <a:pt x="506" y="594"/>
                      </a:cubicBezTo>
                      <a:cubicBezTo>
                        <a:pt x="513" y="572"/>
                        <a:pt x="509" y="551"/>
                        <a:pt x="490" y="538"/>
                      </a:cubicBezTo>
                      <a:cubicBezTo>
                        <a:pt x="485" y="522"/>
                        <a:pt x="476" y="515"/>
                        <a:pt x="462" y="506"/>
                      </a:cubicBezTo>
                      <a:cubicBezTo>
                        <a:pt x="441" y="474"/>
                        <a:pt x="469" y="513"/>
                        <a:pt x="442" y="486"/>
                      </a:cubicBezTo>
                      <a:cubicBezTo>
                        <a:pt x="436" y="480"/>
                        <a:pt x="436" y="468"/>
                        <a:pt x="430" y="462"/>
                      </a:cubicBezTo>
                      <a:cubicBezTo>
                        <a:pt x="427" y="459"/>
                        <a:pt x="422" y="459"/>
                        <a:pt x="418" y="458"/>
                      </a:cubicBezTo>
                      <a:cubicBezTo>
                        <a:pt x="407" y="447"/>
                        <a:pt x="382" y="430"/>
                        <a:pt x="382" y="430"/>
                      </a:cubicBezTo>
                      <a:cubicBezTo>
                        <a:pt x="371" y="413"/>
                        <a:pt x="358" y="399"/>
                        <a:pt x="346" y="382"/>
                      </a:cubicBezTo>
                      <a:cubicBezTo>
                        <a:pt x="344" y="378"/>
                        <a:pt x="345" y="373"/>
                        <a:pt x="342" y="370"/>
                      </a:cubicBezTo>
                      <a:cubicBezTo>
                        <a:pt x="339" y="367"/>
                        <a:pt x="334" y="367"/>
                        <a:pt x="330" y="366"/>
                      </a:cubicBezTo>
                      <a:cubicBezTo>
                        <a:pt x="322" y="390"/>
                        <a:pt x="342" y="398"/>
                        <a:pt x="354" y="414"/>
                      </a:cubicBezTo>
                      <a:cubicBezTo>
                        <a:pt x="368" y="432"/>
                        <a:pt x="372" y="446"/>
                        <a:pt x="390" y="458"/>
                      </a:cubicBezTo>
                      <a:cubicBezTo>
                        <a:pt x="409" y="487"/>
                        <a:pt x="399" y="475"/>
                        <a:pt x="418" y="494"/>
                      </a:cubicBezTo>
                      <a:cubicBezTo>
                        <a:pt x="423" y="510"/>
                        <a:pt x="428" y="517"/>
                        <a:pt x="442" y="526"/>
                      </a:cubicBezTo>
                      <a:cubicBezTo>
                        <a:pt x="450" y="550"/>
                        <a:pt x="432" y="533"/>
                        <a:pt x="422" y="526"/>
                      </a:cubicBezTo>
                      <a:cubicBezTo>
                        <a:pt x="399" y="492"/>
                        <a:pt x="430" y="532"/>
                        <a:pt x="402" y="510"/>
                      </a:cubicBezTo>
                      <a:cubicBezTo>
                        <a:pt x="398" y="507"/>
                        <a:pt x="397" y="501"/>
                        <a:pt x="394" y="498"/>
                      </a:cubicBezTo>
                      <a:cubicBezTo>
                        <a:pt x="391" y="495"/>
                        <a:pt x="386" y="493"/>
                        <a:pt x="382" y="490"/>
                      </a:cubicBezTo>
                      <a:cubicBezTo>
                        <a:pt x="377" y="474"/>
                        <a:pt x="370" y="471"/>
                        <a:pt x="354" y="466"/>
                      </a:cubicBezTo>
                      <a:cubicBezTo>
                        <a:pt x="344" y="452"/>
                        <a:pt x="340" y="447"/>
                        <a:pt x="346" y="430"/>
                      </a:cubicBezTo>
                      <a:cubicBezTo>
                        <a:pt x="338" y="418"/>
                        <a:pt x="314" y="402"/>
                        <a:pt x="314" y="402"/>
                      </a:cubicBezTo>
                      <a:cubicBezTo>
                        <a:pt x="306" y="390"/>
                        <a:pt x="298" y="378"/>
                        <a:pt x="290" y="366"/>
                      </a:cubicBezTo>
                      <a:cubicBezTo>
                        <a:pt x="284" y="357"/>
                        <a:pt x="273" y="354"/>
                        <a:pt x="266" y="346"/>
                      </a:cubicBezTo>
                      <a:cubicBezTo>
                        <a:pt x="263" y="342"/>
                        <a:pt x="262" y="337"/>
                        <a:pt x="258" y="334"/>
                      </a:cubicBezTo>
                      <a:cubicBezTo>
                        <a:pt x="243" y="324"/>
                        <a:pt x="225" y="324"/>
                        <a:pt x="210" y="314"/>
                      </a:cubicBezTo>
                      <a:cubicBezTo>
                        <a:pt x="201" y="300"/>
                        <a:pt x="194" y="291"/>
                        <a:pt x="178" y="286"/>
                      </a:cubicBezTo>
                      <a:cubicBezTo>
                        <a:pt x="160" y="260"/>
                        <a:pt x="192" y="247"/>
                        <a:pt x="154" y="238"/>
                      </a:cubicBezTo>
                      <a:cubicBezTo>
                        <a:pt x="111" y="209"/>
                        <a:pt x="106" y="149"/>
                        <a:pt x="90" y="102"/>
                      </a:cubicBezTo>
                      <a:cubicBezTo>
                        <a:pt x="86" y="90"/>
                        <a:pt x="76" y="73"/>
                        <a:pt x="66" y="66"/>
                      </a:cubicBezTo>
                      <a:cubicBezTo>
                        <a:pt x="58" y="60"/>
                        <a:pt x="42" y="50"/>
                        <a:pt x="42" y="50"/>
                      </a:cubicBezTo>
                      <a:cubicBezTo>
                        <a:pt x="39" y="46"/>
                        <a:pt x="38" y="41"/>
                        <a:pt x="34" y="38"/>
                      </a:cubicBezTo>
                      <a:cubicBezTo>
                        <a:pt x="27" y="34"/>
                        <a:pt x="10" y="30"/>
                        <a:pt x="10" y="30"/>
                      </a:cubicBezTo>
                      <a:cubicBezTo>
                        <a:pt x="0" y="1"/>
                        <a:pt x="31" y="17"/>
                        <a:pt x="46" y="22"/>
                      </a:cubicBezTo>
                      <a:cubicBezTo>
                        <a:pt x="65" y="51"/>
                        <a:pt x="61" y="41"/>
                        <a:pt x="86" y="58"/>
                      </a:cubicBezTo>
                      <a:cubicBezTo>
                        <a:pt x="94" y="70"/>
                        <a:pt x="94" y="93"/>
                        <a:pt x="102" y="70"/>
                      </a:cubicBezTo>
                      <a:cubicBezTo>
                        <a:pt x="95" y="49"/>
                        <a:pt x="82" y="62"/>
                        <a:pt x="82"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3" name="Freeform 32"/>
                <p:cNvSpPr>
                  <a:spLocks/>
                </p:cNvSpPr>
                <p:nvPr userDrawn="1"/>
              </p:nvSpPr>
              <p:spPr bwMode="ltGray">
                <a:xfrm>
                  <a:off x="3577" y="490"/>
                  <a:ext cx="36" cy="39"/>
                </a:xfrm>
                <a:custGeom>
                  <a:avLst/>
                  <a:gdLst>
                    <a:gd name="T0" fmla="*/ 6 w 36"/>
                    <a:gd name="T1" fmla="*/ 28 h 48"/>
                    <a:gd name="T2" fmla="*/ 10 w 36"/>
                    <a:gd name="T3" fmla="*/ 48 h 48"/>
                    <a:gd name="T4" fmla="*/ 6 w 36"/>
                    <a:gd name="T5" fmla="*/ 28 h 48"/>
                    <a:gd name="T6" fmla="*/ 0 60000 65536"/>
                    <a:gd name="T7" fmla="*/ 0 60000 65536"/>
                    <a:gd name="T8" fmla="*/ 0 60000 65536"/>
                  </a:gdLst>
                  <a:ahLst/>
                  <a:cxnLst>
                    <a:cxn ang="T6">
                      <a:pos x="T0" y="T1"/>
                    </a:cxn>
                    <a:cxn ang="T7">
                      <a:pos x="T2" y="T3"/>
                    </a:cxn>
                    <a:cxn ang="T8">
                      <a:pos x="T4" y="T5"/>
                    </a:cxn>
                  </a:cxnLst>
                  <a:rect l="0" t="0" r="r" b="b"/>
                  <a:pathLst>
                    <a:path w="36" h="48">
                      <a:moveTo>
                        <a:pt x="6" y="28"/>
                      </a:moveTo>
                      <a:cubicBezTo>
                        <a:pt x="25" y="0"/>
                        <a:pt x="36" y="31"/>
                        <a:pt x="10" y="48"/>
                      </a:cubicBezTo>
                      <a:cubicBezTo>
                        <a:pt x="0" y="34"/>
                        <a:pt x="0" y="40"/>
                        <a:pt x="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4" name="Freeform 33"/>
                <p:cNvSpPr>
                  <a:spLocks/>
                </p:cNvSpPr>
                <p:nvPr userDrawn="1"/>
              </p:nvSpPr>
              <p:spPr bwMode="ltGray">
                <a:xfrm>
                  <a:off x="3549" y="475"/>
                  <a:ext cx="38" cy="29"/>
                </a:xfrm>
                <a:custGeom>
                  <a:avLst/>
                  <a:gdLst>
                    <a:gd name="T0" fmla="*/ 0 w 36"/>
                    <a:gd name="T1" fmla="*/ 5 h 37"/>
                    <a:gd name="T2" fmla="*/ 12 w 36"/>
                    <a:gd name="T3" fmla="*/ 1 h 37"/>
                    <a:gd name="T4" fmla="*/ 36 w 36"/>
                    <a:gd name="T5" fmla="*/ 17 h 37"/>
                    <a:gd name="T6" fmla="*/ 8 w 36"/>
                    <a:gd name="T7" fmla="*/ 17 h 37"/>
                    <a:gd name="T8" fmla="*/ 0 w 36"/>
                    <a:gd name="T9" fmla="*/ 5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37">
                      <a:moveTo>
                        <a:pt x="0" y="5"/>
                      </a:moveTo>
                      <a:cubicBezTo>
                        <a:pt x="4" y="4"/>
                        <a:pt x="8" y="0"/>
                        <a:pt x="12" y="1"/>
                      </a:cubicBezTo>
                      <a:cubicBezTo>
                        <a:pt x="21" y="4"/>
                        <a:pt x="36" y="17"/>
                        <a:pt x="36" y="17"/>
                      </a:cubicBezTo>
                      <a:cubicBezTo>
                        <a:pt x="29" y="37"/>
                        <a:pt x="22" y="26"/>
                        <a:pt x="8" y="17"/>
                      </a:cubicBezTo>
                      <a:cubicBezTo>
                        <a:pt x="5" y="13"/>
                        <a:pt x="0" y="5"/>
                        <a:pt x="0" y="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5" name="Freeform 34"/>
                <p:cNvSpPr>
                  <a:spLocks/>
                </p:cNvSpPr>
                <p:nvPr userDrawn="1"/>
              </p:nvSpPr>
              <p:spPr bwMode="ltGray">
                <a:xfrm>
                  <a:off x="4686" y="394"/>
                  <a:ext cx="171" cy="81"/>
                </a:xfrm>
                <a:custGeom>
                  <a:avLst/>
                  <a:gdLst>
                    <a:gd name="T0" fmla="*/ 0 w 170"/>
                    <a:gd name="T1" fmla="*/ 49 h 96"/>
                    <a:gd name="T2" fmla="*/ 28 w 170"/>
                    <a:gd name="T3" fmla="*/ 25 h 96"/>
                    <a:gd name="T4" fmla="*/ 56 w 170"/>
                    <a:gd name="T5" fmla="*/ 21 h 96"/>
                    <a:gd name="T6" fmla="*/ 80 w 170"/>
                    <a:gd name="T7" fmla="*/ 9 h 96"/>
                    <a:gd name="T8" fmla="*/ 64 w 170"/>
                    <a:gd name="T9" fmla="*/ 25 h 96"/>
                    <a:gd name="T10" fmla="*/ 124 w 170"/>
                    <a:gd name="T11" fmla="*/ 49 h 96"/>
                    <a:gd name="T12" fmla="*/ 160 w 170"/>
                    <a:gd name="T13" fmla="*/ 65 h 96"/>
                    <a:gd name="T14" fmla="*/ 116 w 170"/>
                    <a:gd name="T15" fmla="*/ 77 h 96"/>
                    <a:gd name="T16" fmla="*/ 88 w 170"/>
                    <a:gd name="T17" fmla="*/ 57 h 96"/>
                    <a:gd name="T18" fmla="*/ 76 w 170"/>
                    <a:gd name="T19" fmla="*/ 53 h 96"/>
                    <a:gd name="T20" fmla="*/ 24 w 170"/>
                    <a:gd name="T21" fmla="*/ 41 h 96"/>
                    <a:gd name="T22" fmla="*/ 0 w 170"/>
                    <a:gd name="T23" fmla="*/ 49 h 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0" h="96">
                      <a:moveTo>
                        <a:pt x="0" y="49"/>
                      </a:moveTo>
                      <a:cubicBezTo>
                        <a:pt x="5" y="33"/>
                        <a:pt x="12" y="30"/>
                        <a:pt x="28" y="25"/>
                      </a:cubicBezTo>
                      <a:cubicBezTo>
                        <a:pt x="20" y="0"/>
                        <a:pt x="42" y="16"/>
                        <a:pt x="56" y="21"/>
                      </a:cubicBezTo>
                      <a:cubicBezTo>
                        <a:pt x="56" y="21"/>
                        <a:pt x="77" y="6"/>
                        <a:pt x="80" y="9"/>
                      </a:cubicBezTo>
                      <a:cubicBezTo>
                        <a:pt x="85" y="14"/>
                        <a:pt x="71" y="23"/>
                        <a:pt x="64" y="25"/>
                      </a:cubicBezTo>
                      <a:cubicBezTo>
                        <a:pt x="82" y="37"/>
                        <a:pt x="103" y="42"/>
                        <a:pt x="124" y="49"/>
                      </a:cubicBezTo>
                      <a:cubicBezTo>
                        <a:pt x="136" y="53"/>
                        <a:pt x="160" y="65"/>
                        <a:pt x="160" y="65"/>
                      </a:cubicBezTo>
                      <a:cubicBezTo>
                        <a:pt x="170" y="96"/>
                        <a:pt x="134" y="83"/>
                        <a:pt x="116" y="77"/>
                      </a:cubicBezTo>
                      <a:cubicBezTo>
                        <a:pt x="109" y="57"/>
                        <a:pt x="116" y="66"/>
                        <a:pt x="88" y="57"/>
                      </a:cubicBezTo>
                      <a:cubicBezTo>
                        <a:pt x="84" y="56"/>
                        <a:pt x="76" y="53"/>
                        <a:pt x="76" y="53"/>
                      </a:cubicBezTo>
                      <a:cubicBezTo>
                        <a:pt x="57" y="34"/>
                        <a:pt x="53" y="37"/>
                        <a:pt x="24" y="41"/>
                      </a:cubicBezTo>
                      <a:cubicBezTo>
                        <a:pt x="9" y="51"/>
                        <a:pt x="17" y="49"/>
                        <a:pt x="0" y="4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6" name="Freeform 35"/>
                <p:cNvSpPr>
                  <a:spLocks/>
                </p:cNvSpPr>
                <p:nvPr userDrawn="1"/>
              </p:nvSpPr>
              <p:spPr bwMode="ltGray">
                <a:xfrm>
                  <a:off x="4867" y="460"/>
                  <a:ext cx="138" cy="37"/>
                </a:xfrm>
                <a:custGeom>
                  <a:avLst/>
                  <a:gdLst>
                    <a:gd name="T0" fmla="*/ 0 w 138"/>
                    <a:gd name="T1" fmla="*/ 0 h 44"/>
                    <a:gd name="T2" fmla="*/ 52 w 138"/>
                    <a:gd name="T3" fmla="*/ 4 h 44"/>
                    <a:gd name="T4" fmla="*/ 88 w 138"/>
                    <a:gd name="T5" fmla="*/ 24 h 44"/>
                    <a:gd name="T6" fmla="*/ 112 w 138"/>
                    <a:gd name="T7" fmla="*/ 20 h 44"/>
                    <a:gd name="T8" fmla="*/ 108 w 138"/>
                    <a:gd name="T9" fmla="*/ 44 h 44"/>
                    <a:gd name="T10" fmla="*/ 64 w 138"/>
                    <a:gd name="T11" fmla="*/ 40 h 44"/>
                    <a:gd name="T12" fmla="*/ 0 w 138"/>
                    <a:gd name="T13" fmla="*/ 36 h 44"/>
                    <a:gd name="T14" fmla="*/ 28 w 138"/>
                    <a:gd name="T15" fmla="*/ 20 h 44"/>
                    <a:gd name="T16" fmla="*/ 0 w 138"/>
                    <a:gd name="T17" fmla="*/ 0 h 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8" h="44">
                      <a:moveTo>
                        <a:pt x="0" y="0"/>
                      </a:moveTo>
                      <a:cubicBezTo>
                        <a:pt x="19" y="3"/>
                        <a:pt x="35" y="10"/>
                        <a:pt x="52" y="4"/>
                      </a:cubicBezTo>
                      <a:cubicBezTo>
                        <a:pt x="87" y="11"/>
                        <a:pt x="61" y="15"/>
                        <a:pt x="88" y="24"/>
                      </a:cubicBezTo>
                      <a:cubicBezTo>
                        <a:pt x="96" y="23"/>
                        <a:pt x="104" y="19"/>
                        <a:pt x="112" y="20"/>
                      </a:cubicBezTo>
                      <a:cubicBezTo>
                        <a:pt x="138" y="23"/>
                        <a:pt x="118" y="41"/>
                        <a:pt x="108" y="44"/>
                      </a:cubicBezTo>
                      <a:cubicBezTo>
                        <a:pt x="78" y="34"/>
                        <a:pt x="92" y="34"/>
                        <a:pt x="64" y="40"/>
                      </a:cubicBezTo>
                      <a:cubicBezTo>
                        <a:pt x="41" y="37"/>
                        <a:pt x="22" y="41"/>
                        <a:pt x="0" y="36"/>
                      </a:cubicBezTo>
                      <a:cubicBezTo>
                        <a:pt x="6" y="11"/>
                        <a:pt x="7" y="27"/>
                        <a:pt x="28" y="20"/>
                      </a:cubicBezTo>
                      <a:cubicBezTo>
                        <a:pt x="17" y="13"/>
                        <a:pt x="0" y="13"/>
                        <a:pt x="0"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7" name="Freeform 36"/>
                <p:cNvSpPr>
                  <a:spLocks/>
                </p:cNvSpPr>
                <p:nvPr userDrawn="1"/>
              </p:nvSpPr>
              <p:spPr bwMode="ltGray">
                <a:xfrm>
                  <a:off x="4794" y="480"/>
                  <a:ext cx="56" cy="34"/>
                </a:xfrm>
                <a:custGeom>
                  <a:avLst/>
                  <a:gdLst>
                    <a:gd name="T0" fmla="*/ 17 w 57"/>
                    <a:gd name="T1" fmla="*/ 25 h 42"/>
                    <a:gd name="T2" fmla="*/ 37 w 57"/>
                    <a:gd name="T3" fmla="*/ 13 h 42"/>
                    <a:gd name="T4" fmla="*/ 17 w 57"/>
                    <a:gd name="T5" fmla="*/ 25 h 42"/>
                    <a:gd name="T6" fmla="*/ 0 60000 65536"/>
                    <a:gd name="T7" fmla="*/ 0 60000 65536"/>
                    <a:gd name="T8" fmla="*/ 0 60000 65536"/>
                  </a:gdLst>
                  <a:ahLst/>
                  <a:cxnLst>
                    <a:cxn ang="T6">
                      <a:pos x="T0" y="T1"/>
                    </a:cxn>
                    <a:cxn ang="T7">
                      <a:pos x="T2" y="T3"/>
                    </a:cxn>
                    <a:cxn ang="T8">
                      <a:pos x="T4" y="T5"/>
                    </a:cxn>
                  </a:cxnLst>
                  <a:rect l="0" t="0" r="r" b="b"/>
                  <a:pathLst>
                    <a:path w="57" h="42">
                      <a:moveTo>
                        <a:pt x="17" y="25"/>
                      </a:moveTo>
                      <a:cubicBezTo>
                        <a:pt x="0" y="0"/>
                        <a:pt x="21" y="9"/>
                        <a:pt x="37" y="13"/>
                      </a:cubicBezTo>
                      <a:cubicBezTo>
                        <a:pt x="57" y="42"/>
                        <a:pt x="30" y="25"/>
                        <a:pt x="1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8" name="Freeform 37"/>
                <p:cNvSpPr>
                  <a:spLocks/>
                </p:cNvSpPr>
                <p:nvPr userDrawn="1"/>
              </p:nvSpPr>
              <p:spPr bwMode="ltGray">
                <a:xfrm>
                  <a:off x="4757" y="375"/>
                  <a:ext cx="37" cy="44"/>
                </a:xfrm>
                <a:custGeom>
                  <a:avLst/>
                  <a:gdLst>
                    <a:gd name="T0" fmla="*/ 19 w 39"/>
                    <a:gd name="T1" fmla="*/ 32 h 52"/>
                    <a:gd name="T2" fmla="*/ 19 w 39"/>
                    <a:gd name="T3" fmla="*/ 0 h 52"/>
                    <a:gd name="T4" fmla="*/ 19 w 39"/>
                    <a:gd name="T5" fmla="*/ 32 h 52"/>
                    <a:gd name="T6" fmla="*/ 0 60000 65536"/>
                    <a:gd name="T7" fmla="*/ 0 60000 65536"/>
                    <a:gd name="T8" fmla="*/ 0 60000 65536"/>
                  </a:gdLst>
                  <a:ahLst/>
                  <a:cxnLst>
                    <a:cxn ang="T6">
                      <a:pos x="T0" y="T1"/>
                    </a:cxn>
                    <a:cxn ang="T7">
                      <a:pos x="T2" y="T3"/>
                    </a:cxn>
                    <a:cxn ang="T8">
                      <a:pos x="T4" y="T5"/>
                    </a:cxn>
                  </a:cxnLst>
                  <a:rect l="0" t="0" r="r" b="b"/>
                  <a:pathLst>
                    <a:path w="39" h="52">
                      <a:moveTo>
                        <a:pt x="19" y="32"/>
                      </a:moveTo>
                      <a:cubicBezTo>
                        <a:pt x="13" y="14"/>
                        <a:pt x="0" y="13"/>
                        <a:pt x="19" y="0"/>
                      </a:cubicBezTo>
                      <a:cubicBezTo>
                        <a:pt x="23" y="5"/>
                        <a:pt x="39" y="52"/>
                        <a:pt x="19"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69" name="Freeform 38"/>
                <p:cNvSpPr>
                  <a:spLocks/>
                </p:cNvSpPr>
                <p:nvPr userDrawn="1"/>
              </p:nvSpPr>
              <p:spPr bwMode="ltGray">
                <a:xfrm>
                  <a:off x="5054" y="507"/>
                  <a:ext cx="45" cy="66"/>
                </a:xfrm>
                <a:custGeom>
                  <a:avLst/>
                  <a:gdLst>
                    <a:gd name="T0" fmla="*/ 4 w 44"/>
                    <a:gd name="T1" fmla="*/ 9 h 80"/>
                    <a:gd name="T2" fmla="*/ 20 w 44"/>
                    <a:gd name="T3" fmla="*/ 33 h 80"/>
                    <a:gd name="T4" fmla="*/ 24 w 44"/>
                    <a:gd name="T5" fmla="*/ 49 h 80"/>
                    <a:gd name="T6" fmla="*/ 36 w 44"/>
                    <a:gd name="T7" fmla="*/ 53 h 80"/>
                    <a:gd name="T8" fmla="*/ 24 w 44"/>
                    <a:gd name="T9" fmla="*/ 73 h 80"/>
                    <a:gd name="T10" fmla="*/ 0 w 44"/>
                    <a:gd name="T11" fmla="*/ 21 h 80"/>
                    <a:gd name="T12" fmla="*/ 4 w 44"/>
                    <a:gd name="T13" fmla="*/ 9 h 8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4" h="80">
                      <a:moveTo>
                        <a:pt x="4" y="9"/>
                      </a:moveTo>
                      <a:cubicBezTo>
                        <a:pt x="9" y="17"/>
                        <a:pt x="18" y="24"/>
                        <a:pt x="20" y="33"/>
                      </a:cubicBezTo>
                      <a:cubicBezTo>
                        <a:pt x="21" y="38"/>
                        <a:pt x="21" y="45"/>
                        <a:pt x="24" y="49"/>
                      </a:cubicBezTo>
                      <a:cubicBezTo>
                        <a:pt x="27" y="52"/>
                        <a:pt x="32" y="52"/>
                        <a:pt x="36" y="53"/>
                      </a:cubicBezTo>
                      <a:cubicBezTo>
                        <a:pt x="41" y="68"/>
                        <a:pt x="44" y="80"/>
                        <a:pt x="24" y="73"/>
                      </a:cubicBezTo>
                      <a:cubicBezTo>
                        <a:pt x="19" y="55"/>
                        <a:pt x="11" y="37"/>
                        <a:pt x="0" y="21"/>
                      </a:cubicBezTo>
                      <a:cubicBezTo>
                        <a:pt x="4" y="4"/>
                        <a:pt x="4" y="0"/>
                        <a:pt x="4"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0" name="Freeform 39"/>
                <p:cNvSpPr>
                  <a:spLocks/>
                </p:cNvSpPr>
                <p:nvPr userDrawn="1"/>
              </p:nvSpPr>
              <p:spPr bwMode="ltGray">
                <a:xfrm>
                  <a:off x="4260" y="6"/>
                  <a:ext cx="480" cy="100"/>
                </a:xfrm>
                <a:custGeom>
                  <a:avLst/>
                  <a:gdLst>
                    <a:gd name="T0" fmla="*/ 220 w 323"/>
                    <a:gd name="T1" fmla="*/ 1 h 64"/>
                    <a:gd name="T2" fmla="*/ 231 w 323"/>
                    <a:gd name="T3" fmla="*/ 8 h 64"/>
                    <a:gd name="T4" fmla="*/ 235 w 323"/>
                    <a:gd name="T5" fmla="*/ 0 h 64"/>
                    <a:gd name="T6" fmla="*/ 265 w 323"/>
                    <a:gd name="T7" fmla="*/ 0 h 64"/>
                    <a:gd name="T8" fmla="*/ 287 w 323"/>
                    <a:gd name="T9" fmla="*/ 17 h 64"/>
                    <a:gd name="T10" fmla="*/ 319 w 323"/>
                    <a:gd name="T11" fmla="*/ 10 h 64"/>
                    <a:gd name="T12" fmla="*/ 314 w 323"/>
                    <a:gd name="T13" fmla="*/ 29 h 64"/>
                    <a:gd name="T14" fmla="*/ 298 w 323"/>
                    <a:gd name="T15" fmla="*/ 46 h 64"/>
                    <a:gd name="T16" fmla="*/ 295 w 323"/>
                    <a:gd name="T17" fmla="*/ 29 h 64"/>
                    <a:gd name="T18" fmla="*/ 287 w 323"/>
                    <a:gd name="T19" fmla="*/ 31 h 64"/>
                    <a:gd name="T20" fmla="*/ 279 w 323"/>
                    <a:gd name="T21" fmla="*/ 29 h 64"/>
                    <a:gd name="T22" fmla="*/ 263 w 323"/>
                    <a:gd name="T23" fmla="*/ 21 h 64"/>
                    <a:gd name="T24" fmla="*/ 228 w 323"/>
                    <a:gd name="T25" fmla="*/ 38 h 64"/>
                    <a:gd name="T26" fmla="*/ 201 w 323"/>
                    <a:gd name="T27" fmla="*/ 44 h 64"/>
                    <a:gd name="T28" fmla="*/ 212 w 323"/>
                    <a:gd name="T29" fmla="*/ 57 h 64"/>
                    <a:gd name="T30" fmla="*/ 188 w 323"/>
                    <a:gd name="T31" fmla="*/ 63 h 64"/>
                    <a:gd name="T32" fmla="*/ 169 w 323"/>
                    <a:gd name="T33" fmla="*/ 61 h 64"/>
                    <a:gd name="T34" fmla="*/ 177 w 323"/>
                    <a:gd name="T35" fmla="*/ 57 h 64"/>
                    <a:gd name="T36" fmla="*/ 171 w 323"/>
                    <a:gd name="T37" fmla="*/ 40 h 64"/>
                    <a:gd name="T38" fmla="*/ 169 w 323"/>
                    <a:gd name="T39" fmla="*/ 31 h 64"/>
                    <a:gd name="T40" fmla="*/ 158 w 323"/>
                    <a:gd name="T41" fmla="*/ 23 h 64"/>
                    <a:gd name="T42" fmla="*/ 142 w 323"/>
                    <a:gd name="T43" fmla="*/ 27 h 64"/>
                    <a:gd name="T44" fmla="*/ 134 w 323"/>
                    <a:gd name="T45" fmla="*/ 27 h 64"/>
                    <a:gd name="T46" fmla="*/ 123 w 323"/>
                    <a:gd name="T47" fmla="*/ 25 h 64"/>
                    <a:gd name="T48" fmla="*/ 83 w 323"/>
                    <a:gd name="T49" fmla="*/ 2 h 64"/>
                    <a:gd name="T50" fmla="*/ 59 w 323"/>
                    <a:gd name="T51" fmla="*/ 14 h 64"/>
                    <a:gd name="T52" fmla="*/ 1 w 323"/>
                    <a:gd name="T53" fmla="*/ 0 h 64"/>
                    <a:gd name="T54" fmla="*/ 220 w 323"/>
                    <a:gd name="T55" fmla="*/ 1 h 6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23" h="64">
                      <a:moveTo>
                        <a:pt x="220" y="1"/>
                      </a:moveTo>
                      <a:cubicBezTo>
                        <a:pt x="215" y="12"/>
                        <a:pt x="225" y="17"/>
                        <a:pt x="231" y="8"/>
                      </a:cubicBezTo>
                      <a:cubicBezTo>
                        <a:pt x="235" y="0"/>
                        <a:pt x="229" y="7"/>
                        <a:pt x="235" y="0"/>
                      </a:cubicBezTo>
                      <a:lnTo>
                        <a:pt x="265" y="0"/>
                      </a:lnTo>
                      <a:cubicBezTo>
                        <a:pt x="277" y="6"/>
                        <a:pt x="276" y="11"/>
                        <a:pt x="287" y="17"/>
                      </a:cubicBezTo>
                      <a:cubicBezTo>
                        <a:pt x="308" y="11"/>
                        <a:pt x="293" y="7"/>
                        <a:pt x="319" y="10"/>
                      </a:cubicBezTo>
                      <a:cubicBezTo>
                        <a:pt x="323" y="19"/>
                        <a:pt x="321" y="22"/>
                        <a:pt x="314" y="29"/>
                      </a:cubicBezTo>
                      <a:cubicBezTo>
                        <a:pt x="312" y="39"/>
                        <a:pt x="313" y="50"/>
                        <a:pt x="298" y="46"/>
                      </a:cubicBezTo>
                      <a:cubicBezTo>
                        <a:pt x="297" y="40"/>
                        <a:pt x="298" y="34"/>
                        <a:pt x="295" y="29"/>
                      </a:cubicBezTo>
                      <a:cubicBezTo>
                        <a:pt x="294" y="27"/>
                        <a:pt x="290" y="31"/>
                        <a:pt x="287" y="31"/>
                      </a:cubicBezTo>
                      <a:cubicBezTo>
                        <a:pt x="284" y="31"/>
                        <a:pt x="282" y="30"/>
                        <a:pt x="279" y="29"/>
                      </a:cubicBezTo>
                      <a:cubicBezTo>
                        <a:pt x="274" y="27"/>
                        <a:pt x="263" y="21"/>
                        <a:pt x="263" y="21"/>
                      </a:cubicBezTo>
                      <a:cubicBezTo>
                        <a:pt x="249" y="23"/>
                        <a:pt x="241" y="31"/>
                        <a:pt x="228" y="38"/>
                      </a:cubicBezTo>
                      <a:cubicBezTo>
                        <a:pt x="220" y="41"/>
                        <a:pt x="209" y="42"/>
                        <a:pt x="201" y="44"/>
                      </a:cubicBezTo>
                      <a:cubicBezTo>
                        <a:pt x="193" y="54"/>
                        <a:pt x="200" y="53"/>
                        <a:pt x="212" y="57"/>
                      </a:cubicBezTo>
                      <a:cubicBezTo>
                        <a:pt x="200" y="62"/>
                        <a:pt x="199" y="57"/>
                        <a:pt x="188" y="63"/>
                      </a:cubicBezTo>
                      <a:cubicBezTo>
                        <a:pt x="181" y="62"/>
                        <a:pt x="174" y="64"/>
                        <a:pt x="169" y="61"/>
                      </a:cubicBezTo>
                      <a:cubicBezTo>
                        <a:pt x="166" y="59"/>
                        <a:pt x="175" y="59"/>
                        <a:pt x="177" y="57"/>
                      </a:cubicBezTo>
                      <a:cubicBezTo>
                        <a:pt x="181" y="48"/>
                        <a:pt x="149" y="28"/>
                        <a:pt x="171" y="40"/>
                      </a:cubicBezTo>
                      <a:cubicBezTo>
                        <a:pt x="184" y="55"/>
                        <a:pt x="184" y="36"/>
                        <a:pt x="169" y="31"/>
                      </a:cubicBezTo>
                      <a:cubicBezTo>
                        <a:pt x="167" y="27"/>
                        <a:pt x="167" y="22"/>
                        <a:pt x="158" y="23"/>
                      </a:cubicBezTo>
                      <a:cubicBezTo>
                        <a:pt x="153" y="23"/>
                        <a:pt x="142" y="27"/>
                        <a:pt x="142" y="27"/>
                      </a:cubicBezTo>
                      <a:cubicBezTo>
                        <a:pt x="136" y="39"/>
                        <a:pt x="143" y="31"/>
                        <a:pt x="134" y="27"/>
                      </a:cubicBezTo>
                      <a:cubicBezTo>
                        <a:pt x="130" y="25"/>
                        <a:pt x="126" y="25"/>
                        <a:pt x="123" y="25"/>
                      </a:cubicBezTo>
                      <a:cubicBezTo>
                        <a:pt x="117" y="11"/>
                        <a:pt x="100" y="6"/>
                        <a:pt x="83" y="2"/>
                      </a:cubicBezTo>
                      <a:cubicBezTo>
                        <a:pt x="70" y="4"/>
                        <a:pt x="69" y="9"/>
                        <a:pt x="59" y="14"/>
                      </a:cubicBezTo>
                      <a:cubicBezTo>
                        <a:pt x="45" y="14"/>
                        <a:pt x="0" y="12"/>
                        <a:pt x="1" y="0"/>
                      </a:cubicBezTo>
                      <a:lnTo>
                        <a:pt x="220"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1" name="Freeform 40"/>
                <p:cNvSpPr>
                  <a:spLocks/>
                </p:cNvSpPr>
                <p:nvPr userDrawn="1"/>
              </p:nvSpPr>
              <p:spPr bwMode="ltGray">
                <a:xfrm>
                  <a:off x="3835" y="3"/>
                  <a:ext cx="446" cy="49"/>
                </a:xfrm>
                <a:custGeom>
                  <a:avLst/>
                  <a:gdLst>
                    <a:gd name="T0" fmla="*/ 105 w 300"/>
                    <a:gd name="T1" fmla="*/ 31 h 31"/>
                    <a:gd name="T2" fmla="*/ 30 w 300"/>
                    <a:gd name="T3" fmla="*/ 1 h 31"/>
                    <a:gd name="T4" fmla="*/ 285 w 300"/>
                    <a:gd name="T5" fmla="*/ 0 h 31"/>
                    <a:gd name="T6" fmla="*/ 296 w 300"/>
                    <a:gd name="T7" fmla="*/ 14 h 31"/>
                    <a:gd name="T8" fmla="*/ 264 w 300"/>
                    <a:gd name="T9" fmla="*/ 16 h 31"/>
                    <a:gd name="T10" fmla="*/ 105 w 300"/>
                    <a:gd name="T11" fmla="*/ 31 h 3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00" h="31">
                      <a:moveTo>
                        <a:pt x="105" y="31"/>
                      </a:moveTo>
                      <a:cubicBezTo>
                        <a:pt x="83" y="19"/>
                        <a:pt x="0" y="6"/>
                        <a:pt x="30" y="1"/>
                      </a:cubicBezTo>
                      <a:lnTo>
                        <a:pt x="285" y="0"/>
                      </a:lnTo>
                      <a:cubicBezTo>
                        <a:pt x="296" y="4"/>
                        <a:pt x="300" y="5"/>
                        <a:pt x="296" y="14"/>
                      </a:cubicBezTo>
                      <a:cubicBezTo>
                        <a:pt x="285" y="11"/>
                        <a:pt x="276" y="16"/>
                        <a:pt x="264" y="16"/>
                      </a:cubicBezTo>
                      <a:lnTo>
                        <a:pt x="105" y="3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2" name="Freeform 41"/>
                <p:cNvSpPr>
                  <a:spLocks/>
                </p:cNvSpPr>
                <p:nvPr userDrawn="1"/>
              </p:nvSpPr>
              <p:spPr bwMode="ltGray">
                <a:xfrm>
                  <a:off x="2853" y="74"/>
                  <a:ext cx="42" cy="25"/>
                </a:xfrm>
                <a:custGeom>
                  <a:avLst/>
                  <a:gdLst>
                    <a:gd name="T0" fmla="*/ 0 w 41"/>
                    <a:gd name="T1" fmla="*/ 25 h 29"/>
                    <a:gd name="T2" fmla="*/ 12 w 41"/>
                    <a:gd name="T3" fmla="*/ 29 h 29"/>
                    <a:gd name="T4" fmla="*/ 0 w 41"/>
                    <a:gd name="T5" fmla="*/ 25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3" name="Freeform 42"/>
                <p:cNvSpPr>
                  <a:spLocks/>
                </p:cNvSpPr>
                <p:nvPr userDrawn="1"/>
              </p:nvSpPr>
              <p:spPr bwMode="ltGray">
                <a:xfrm>
                  <a:off x="1704" y="3"/>
                  <a:ext cx="1022" cy="372"/>
                </a:xfrm>
                <a:custGeom>
                  <a:avLst/>
                  <a:gdLst>
                    <a:gd name="T0" fmla="*/ 73 w 436"/>
                    <a:gd name="T1" fmla="*/ 1 h 152"/>
                    <a:gd name="T2" fmla="*/ 436 w 436"/>
                    <a:gd name="T3" fmla="*/ 0 h 152"/>
                    <a:gd name="T4" fmla="*/ 416 w 436"/>
                    <a:gd name="T5" fmla="*/ 54 h 152"/>
                    <a:gd name="T6" fmla="*/ 397 w 436"/>
                    <a:gd name="T7" fmla="*/ 68 h 152"/>
                    <a:gd name="T8" fmla="*/ 392 w 436"/>
                    <a:gd name="T9" fmla="*/ 70 h 152"/>
                    <a:gd name="T10" fmla="*/ 375 w 436"/>
                    <a:gd name="T11" fmla="*/ 73 h 152"/>
                    <a:gd name="T12" fmla="*/ 361 w 436"/>
                    <a:gd name="T13" fmla="*/ 88 h 152"/>
                    <a:gd name="T14" fmla="*/ 362 w 436"/>
                    <a:gd name="T15" fmla="*/ 99 h 152"/>
                    <a:gd name="T16" fmla="*/ 364 w 436"/>
                    <a:gd name="T17" fmla="*/ 107 h 152"/>
                    <a:gd name="T18" fmla="*/ 366 w 436"/>
                    <a:gd name="T19" fmla="*/ 113 h 152"/>
                    <a:gd name="T20" fmla="*/ 362 w 436"/>
                    <a:gd name="T21" fmla="*/ 122 h 152"/>
                    <a:gd name="T22" fmla="*/ 351 w 436"/>
                    <a:gd name="T23" fmla="*/ 120 h 152"/>
                    <a:gd name="T24" fmla="*/ 342 w 436"/>
                    <a:gd name="T25" fmla="*/ 129 h 152"/>
                    <a:gd name="T26" fmla="*/ 347 w 436"/>
                    <a:gd name="T27" fmla="*/ 105 h 152"/>
                    <a:gd name="T28" fmla="*/ 338 w 436"/>
                    <a:gd name="T29" fmla="*/ 100 h 152"/>
                    <a:gd name="T30" fmla="*/ 344 w 436"/>
                    <a:gd name="T31" fmla="*/ 93 h 152"/>
                    <a:gd name="T32" fmla="*/ 342 w 436"/>
                    <a:gd name="T33" fmla="*/ 89 h 152"/>
                    <a:gd name="T34" fmla="*/ 320 w 436"/>
                    <a:gd name="T35" fmla="*/ 94 h 152"/>
                    <a:gd name="T36" fmla="*/ 317 w 436"/>
                    <a:gd name="T37" fmla="*/ 85 h 152"/>
                    <a:gd name="T38" fmla="*/ 297 w 436"/>
                    <a:gd name="T39" fmla="*/ 94 h 152"/>
                    <a:gd name="T40" fmla="*/ 320 w 436"/>
                    <a:gd name="T41" fmla="*/ 103 h 152"/>
                    <a:gd name="T42" fmla="*/ 305 w 436"/>
                    <a:gd name="T43" fmla="*/ 117 h 152"/>
                    <a:gd name="T44" fmla="*/ 311 w 436"/>
                    <a:gd name="T45" fmla="*/ 126 h 152"/>
                    <a:gd name="T46" fmla="*/ 315 w 436"/>
                    <a:gd name="T47" fmla="*/ 138 h 152"/>
                    <a:gd name="T48" fmla="*/ 309 w 436"/>
                    <a:gd name="T49" fmla="*/ 139 h 152"/>
                    <a:gd name="T50" fmla="*/ 314 w 436"/>
                    <a:gd name="T51" fmla="*/ 144 h 152"/>
                    <a:gd name="T52" fmla="*/ 307 w 436"/>
                    <a:gd name="T53" fmla="*/ 152 h 152"/>
                    <a:gd name="T54" fmla="*/ 0 w 436"/>
                    <a:gd name="T55" fmla="*/ 149 h 152"/>
                    <a:gd name="T56" fmla="*/ 73 w 436"/>
                    <a:gd name="T57" fmla="*/ 1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6" h="152">
                      <a:moveTo>
                        <a:pt x="73" y="1"/>
                      </a:moveTo>
                      <a:lnTo>
                        <a:pt x="436" y="0"/>
                      </a:lnTo>
                      <a:cubicBezTo>
                        <a:pt x="430"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4" name="Freeform 43"/>
                <p:cNvSpPr>
                  <a:spLocks/>
                </p:cNvSpPr>
                <p:nvPr userDrawn="1"/>
              </p:nvSpPr>
              <p:spPr bwMode="ltGray">
                <a:xfrm>
                  <a:off x="2729" y="-9"/>
                  <a:ext cx="47" cy="134"/>
                </a:xfrm>
                <a:custGeom>
                  <a:avLst/>
                  <a:gdLst>
                    <a:gd name="T0" fmla="*/ 5 w 47"/>
                    <a:gd name="T1" fmla="*/ 156 h 165"/>
                    <a:gd name="T2" fmla="*/ 15 w 47"/>
                    <a:gd name="T3" fmla="*/ 108 h 165"/>
                    <a:gd name="T4" fmla="*/ 17 w 47"/>
                    <a:gd name="T5" fmla="*/ 68 h 165"/>
                    <a:gd name="T6" fmla="*/ 11 w 47"/>
                    <a:gd name="T7" fmla="*/ 40 h 165"/>
                    <a:gd name="T8" fmla="*/ 17 w 47"/>
                    <a:gd name="T9" fmla="*/ 12 h 165"/>
                    <a:gd name="T10" fmla="*/ 21 w 47"/>
                    <a:gd name="T11" fmla="*/ 0 h 165"/>
                    <a:gd name="T12" fmla="*/ 31 w 47"/>
                    <a:gd name="T13" fmla="*/ 30 h 165"/>
                    <a:gd name="T14" fmla="*/ 47 w 47"/>
                    <a:gd name="T15" fmla="*/ 98 h 165"/>
                    <a:gd name="T16" fmla="*/ 31 w 47"/>
                    <a:gd name="T17" fmla="*/ 108 h 165"/>
                    <a:gd name="T18" fmla="*/ 23 w 47"/>
                    <a:gd name="T19" fmla="*/ 126 h 165"/>
                    <a:gd name="T20" fmla="*/ 21 w 47"/>
                    <a:gd name="T21" fmla="*/ 132 h 165"/>
                    <a:gd name="T22" fmla="*/ 27 w 47"/>
                    <a:gd name="T23" fmla="*/ 134 h 165"/>
                    <a:gd name="T24" fmla="*/ 31 w 47"/>
                    <a:gd name="T25" fmla="*/ 146 h 165"/>
                    <a:gd name="T26" fmla="*/ 13 w 47"/>
                    <a:gd name="T27" fmla="*/ 148 h 165"/>
                    <a:gd name="T28" fmla="*/ 7 w 47"/>
                    <a:gd name="T29" fmla="*/ 160 h 165"/>
                    <a:gd name="T30" fmla="*/ 3 w 47"/>
                    <a:gd name="T31" fmla="*/ 154 h 165"/>
                    <a:gd name="T32" fmla="*/ 5 w 47"/>
                    <a:gd name="T33" fmla="*/ 156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5" name="Freeform 44"/>
                <p:cNvSpPr>
                  <a:spLocks/>
                </p:cNvSpPr>
                <p:nvPr userDrawn="1"/>
              </p:nvSpPr>
              <p:spPr bwMode="ltGray">
                <a:xfrm>
                  <a:off x="2701" y="103"/>
                  <a:ext cx="138" cy="84"/>
                </a:xfrm>
                <a:custGeom>
                  <a:avLst/>
                  <a:gdLst>
                    <a:gd name="T0" fmla="*/ 26 w 138"/>
                    <a:gd name="T1" fmla="*/ 61 h 103"/>
                    <a:gd name="T2" fmla="*/ 30 w 138"/>
                    <a:gd name="T3" fmla="*/ 43 h 103"/>
                    <a:gd name="T4" fmla="*/ 50 w 138"/>
                    <a:gd name="T5" fmla="*/ 33 h 103"/>
                    <a:gd name="T6" fmla="*/ 54 w 138"/>
                    <a:gd name="T7" fmla="*/ 45 h 103"/>
                    <a:gd name="T8" fmla="*/ 66 w 138"/>
                    <a:gd name="T9" fmla="*/ 49 h 103"/>
                    <a:gd name="T10" fmla="*/ 80 w 138"/>
                    <a:gd name="T11" fmla="*/ 55 h 103"/>
                    <a:gd name="T12" fmla="*/ 116 w 138"/>
                    <a:gd name="T13" fmla="*/ 33 h 103"/>
                    <a:gd name="T14" fmla="*/ 130 w 138"/>
                    <a:gd name="T15" fmla="*/ 17 h 103"/>
                    <a:gd name="T16" fmla="*/ 138 w 138"/>
                    <a:gd name="T17" fmla="*/ 11 h 103"/>
                    <a:gd name="T18" fmla="*/ 106 w 138"/>
                    <a:gd name="T19" fmla="*/ 49 h 103"/>
                    <a:gd name="T20" fmla="*/ 84 w 138"/>
                    <a:gd name="T21" fmla="*/ 67 h 103"/>
                    <a:gd name="T22" fmla="*/ 66 w 138"/>
                    <a:gd name="T23" fmla="*/ 81 h 103"/>
                    <a:gd name="T24" fmla="*/ 48 w 138"/>
                    <a:gd name="T25" fmla="*/ 103 h 103"/>
                    <a:gd name="T26" fmla="*/ 26 w 138"/>
                    <a:gd name="T27" fmla="*/ 89 h 103"/>
                    <a:gd name="T28" fmla="*/ 20 w 138"/>
                    <a:gd name="T29" fmla="*/ 87 h 103"/>
                    <a:gd name="T30" fmla="*/ 22 w 138"/>
                    <a:gd name="T31" fmla="*/ 97 h 103"/>
                    <a:gd name="T32" fmla="*/ 0 w 138"/>
                    <a:gd name="T33" fmla="*/ 97 h 103"/>
                    <a:gd name="T34" fmla="*/ 10 w 138"/>
                    <a:gd name="T35" fmla="*/ 79 h 103"/>
                    <a:gd name="T36" fmla="*/ 26 w 138"/>
                    <a:gd name="T37" fmla="*/ 61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6" name="Freeform 45"/>
                <p:cNvSpPr>
                  <a:spLocks/>
                </p:cNvSpPr>
                <p:nvPr userDrawn="1"/>
              </p:nvSpPr>
              <p:spPr bwMode="ltGray">
                <a:xfrm>
                  <a:off x="2553" y="182"/>
                  <a:ext cx="187" cy="176"/>
                </a:xfrm>
                <a:custGeom>
                  <a:avLst/>
                  <a:gdLst>
                    <a:gd name="T0" fmla="*/ 158 w 188"/>
                    <a:gd name="T1" fmla="*/ 24 h 214"/>
                    <a:gd name="T2" fmla="*/ 160 w 188"/>
                    <a:gd name="T3" fmla="*/ 6 h 214"/>
                    <a:gd name="T4" fmla="*/ 170 w 188"/>
                    <a:gd name="T5" fmla="*/ 0 h 214"/>
                    <a:gd name="T6" fmla="*/ 182 w 188"/>
                    <a:gd name="T7" fmla="*/ 24 h 214"/>
                    <a:gd name="T8" fmla="*/ 188 w 188"/>
                    <a:gd name="T9" fmla="*/ 42 h 214"/>
                    <a:gd name="T10" fmla="*/ 178 w 188"/>
                    <a:gd name="T11" fmla="*/ 58 h 214"/>
                    <a:gd name="T12" fmla="*/ 170 w 188"/>
                    <a:gd name="T13" fmla="*/ 76 h 214"/>
                    <a:gd name="T14" fmla="*/ 162 w 188"/>
                    <a:gd name="T15" fmla="*/ 126 h 214"/>
                    <a:gd name="T16" fmla="*/ 144 w 188"/>
                    <a:gd name="T17" fmla="*/ 136 h 214"/>
                    <a:gd name="T18" fmla="*/ 120 w 188"/>
                    <a:gd name="T19" fmla="*/ 138 h 214"/>
                    <a:gd name="T20" fmla="*/ 112 w 188"/>
                    <a:gd name="T21" fmla="*/ 124 h 214"/>
                    <a:gd name="T22" fmla="*/ 102 w 188"/>
                    <a:gd name="T23" fmla="*/ 146 h 214"/>
                    <a:gd name="T24" fmla="*/ 90 w 188"/>
                    <a:gd name="T25" fmla="*/ 150 h 214"/>
                    <a:gd name="T26" fmla="*/ 80 w 188"/>
                    <a:gd name="T27" fmla="*/ 132 h 214"/>
                    <a:gd name="T28" fmla="*/ 58 w 188"/>
                    <a:gd name="T29" fmla="*/ 144 h 214"/>
                    <a:gd name="T30" fmla="*/ 76 w 188"/>
                    <a:gd name="T31" fmla="*/ 142 h 214"/>
                    <a:gd name="T32" fmla="*/ 78 w 188"/>
                    <a:gd name="T33" fmla="*/ 160 h 214"/>
                    <a:gd name="T34" fmla="*/ 58 w 188"/>
                    <a:gd name="T35" fmla="*/ 166 h 214"/>
                    <a:gd name="T36" fmla="*/ 34 w 188"/>
                    <a:gd name="T37" fmla="*/ 166 h 214"/>
                    <a:gd name="T38" fmla="*/ 36 w 188"/>
                    <a:gd name="T39" fmla="*/ 154 h 214"/>
                    <a:gd name="T40" fmla="*/ 46 w 188"/>
                    <a:gd name="T41" fmla="*/ 144 h 214"/>
                    <a:gd name="T42" fmla="*/ 34 w 188"/>
                    <a:gd name="T43" fmla="*/ 148 h 214"/>
                    <a:gd name="T44" fmla="*/ 26 w 188"/>
                    <a:gd name="T45" fmla="*/ 166 h 214"/>
                    <a:gd name="T46" fmla="*/ 30 w 188"/>
                    <a:gd name="T47" fmla="*/ 190 h 214"/>
                    <a:gd name="T48" fmla="*/ 14 w 188"/>
                    <a:gd name="T49" fmla="*/ 200 h 214"/>
                    <a:gd name="T50" fmla="*/ 0 w 188"/>
                    <a:gd name="T51" fmla="*/ 214 h 214"/>
                    <a:gd name="T52" fmla="*/ 8 w 188"/>
                    <a:gd name="T53" fmla="*/ 188 h 214"/>
                    <a:gd name="T54" fmla="*/ 0 w 188"/>
                    <a:gd name="T55" fmla="*/ 164 h 214"/>
                    <a:gd name="T56" fmla="*/ 14 w 188"/>
                    <a:gd name="T57" fmla="*/ 152 h 214"/>
                    <a:gd name="T58" fmla="*/ 32 w 188"/>
                    <a:gd name="T59" fmla="*/ 134 h 214"/>
                    <a:gd name="T60" fmla="*/ 44 w 188"/>
                    <a:gd name="T61" fmla="*/ 118 h 214"/>
                    <a:gd name="T62" fmla="*/ 72 w 188"/>
                    <a:gd name="T63" fmla="*/ 116 h 214"/>
                    <a:gd name="T64" fmla="*/ 84 w 188"/>
                    <a:gd name="T65" fmla="*/ 112 h 214"/>
                    <a:gd name="T66" fmla="*/ 114 w 188"/>
                    <a:gd name="T67" fmla="*/ 78 h 214"/>
                    <a:gd name="T68" fmla="*/ 120 w 188"/>
                    <a:gd name="T69" fmla="*/ 92 h 214"/>
                    <a:gd name="T70" fmla="*/ 132 w 188"/>
                    <a:gd name="T71" fmla="*/ 76 h 214"/>
                    <a:gd name="T72" fmla="*/ 150 w 188"/>
                    <a:gd name="T73" fmla="*/ 54 h 214"/>
                    <a:gd name="T74" fmla="*/ 154 w 188"/>
                    <a:gd name="T75" fmla="*/ 42 h 214"/>
                    <a:gd name="T76" fmla="*/ 148 w 188"/>
                    <a:gd name="T77" fmla="*/ 38 h 214"/>
                    <a:gd name="T78" fmla="*/ 152 w 188"/>
                    <a:gd name="T79" fmla="*/ 32 h 214"/>
                    <a:gd name="T80" fmla="*/ 158 w 188"/>
                    <a:gd name="T81" fmla="*/ 24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7" name="Freeform 46"/>
                <p:cNvSpPr>
                  <a:spLocks/>
                </p:cNvSpPr>
                <p:nvPr userDrawn="1"/>
              </p:nvSpPr>
              <p:spPr bwMode="ltGray">
                <a:xfrm>
                  <a:off x="2677" y="233"/>
                  <a:ext cx="14" cy="10"/>
                </a:xfrm>
                <a:custGeom>
                  <a:avLst/>
                  <a:gdLst>
                    <a:gd name="T0" fmla="*/ 0 w 13"/>
                    <a:gd name="T1" fmla="*/ 9 h 13"/>
                    <a:gd name="T2" fmla="*/ 4 w 13"/>
                    <a:gd name="T3" fmla="*/ 13 h 13"/>
                    <a:gd name="T4" fmla="*/ 0 w 13"/>
                    <a:gd name="T5" fmla="*/ 9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8" name="Freeform 47"/>
                <p:cNvSpPr>
                  <a:spLocks/>
                </p:cNvSpPr>
                <p:nvPr userDrawn="1"/>
              </p:nvSpPr>
              <p:spPr bwMode="ltGray">
                <a:xfrm>
                  <a:off x="1627" y="353"/>
                  <a:ext cx="813" cy="462"/>
                </a:xfrm>
                <a:custGeom>
                  <a:avLst/>
                  <a:gdLst>
                    <a:gd name="T0" fmla="*/ 812 w 812"/>
                    <a:gd name="T1" fmla="*/ 26 h 564"/>
                    <a:gd name="T2" fmla="*/ 778 w 812"/>
                    <a:gd name="T3" fmla="*/ 78 h 564"/>
                    <a:gd name="T4" fmla="*/ 748 w 812"/>
                    <a:gd name="T5" fmla="*/ 122 h 564"/>
                    <a:gd name="T6" fmla="*/ 722 w 812"/>
                    <a:gd name="T7" fmla="*/ 142 h 564"/>
                    <a:gd name="T8" fmla="*/ 634 w 812"/>
                    <a:gd name="T9" fmla="*/ 180 h 564"/>
                    <a:gd name="T10" fmla="*/ 632 w 812"/>
                    <a:gd name="T11" fmla="*/ 210 h 564"/>
                    <a:gd name="T12" fmla="*/ 604 w 812"/>
                    <a:gd name="T13" fmla="*/ 230 h 564"/>
                    <a:gd name="T14" fmla="*/ 620 w 812"/>
                    <a:gd name="T15" fmla="*/ 178 h 564"/>
                    <a:gd name="T16" fmla="*/ 576 w 812"/>
                    <a:gd name="T17" fmla="*/ 188 h 564"/>
                    <a:gd name="T18" fmla="*/ 556 w 812"/>
                    <a:gd name="T19" fmla="*/ 218 h 564"/>
                    <a:gd name="T20" fmla="*/ 596 w 812"/>
                    <a:gd name="T21" fmla="*/ 280 h 564"/>
                    <a:gd name="T22" fmla="*/ 594 w 812"/>
                    <a:gd name="T23" fmla="*/ 368 h 564"/>
                    <a:gd name="T24" fmla="*/ 542 w 812"/>
                    <a:gd name="T25" fmla="*/ 406 h 564"/>
                    <a:gd name="T26" fmla="*/ 522 w 812"/>
                    <a:gd name="T27" fmla="*/ 386 h 564"/>
                    <a:gd name="T28" fmla="*/ 482 w 812"/>
                    <a:gd name="T29" fmla="*/ 348 h 564"/>
                    <a:gd name="T30" fmla="*/ 462 w 812"/>
                    <a:gd name="T31" fmla="*/ 348 h 564"/>
                    <a:gd name="T32" fmla="*/ 450 w 812"/>
                    <a:gd name="T33" fmla="*/ 394 h 564"/>
                    <a:gd name="T34" fmla="*/ 500 w 812"/>
                    <a:gd name="T35" fmla="*/ 464 h 564"/>
                    <a:gd name="T36" fmla="*/ 510 w 812"/>
                    <a:gd name="T37" fmla="*/ 524 h 564"/>
                    <a:gd name="T38" fmla="*/ 526 w 812"/>
                    <a:gd name="T39" fmla="*/ 560 h 564"/>
                    <a:gd name="T40" fmla="*/ 492 w 812"/>
                    <a:gd name="T41" fmla="*/ 544 h 564"/>
                    <a:gd name="T42" fmla="*/ 470 w 812"/>
                    <a:gd name="T43" fmla="*/ 518 h 564"/>
                    <a:gd name="T44" fmla="*/ 422 w 812"/>
                    <a:gd name="T45" fmla="*/ 424 h 564"/>
                    <a:gd name="T46" fmla="*/ 426 w 812"/>
                    <a:gd name="T47" fmla="*/ 310 h 564"/>
                    <a:gd name="T48" fmla="*/ 422 w 812"/>
                    <a:gd name="T49" fmla="*/ 268 h 564"/>
                    <a:gd name="T50" fmla="*/ 412 w 812"/>
                    <a:gd name="T51" fmla="*/ 276 h 564"/>
                    <a:gd name="T52" fmla="*/ 386 w 812"/>
                    <a:gd name="T53" fmla="*/ 266 h 564"/>
                    <a:gd name="T54" fmla="*/ 360 w 812"/>
                    <a:gd name="T55" fmla="*/ 170 h 564"/>
                    <a:gd name="T56" fmla="*/ 330 w 812"/>
                    <a:gd name="T57" fmla="*/ 166 h 564"/>
                    <a:gd name="T58" fmla="*/ 288 w 812"/>
                    <a:gd name="T59" fmla="*/ 172 h 564"/>
                    <a:gd name="T60" fmla="*/ 242 w 812"/>
                    <a:gd name="T61" fmla="*/ 232 h 564"/>
                    <a:gd name="T62" fmla="*/ 196 w 812"/>
                    <a:gd name="T63" fmla="*/ 268 h 564"/>
                    <a:gd name="T64" fmla="*/ 184 w 812"/>
                    <a:gd name="T65" fmla="*/ 274 h 564"/>
                    <a:gd name="T66" fmla="*/ 160 w 812"/>
                    <a:gd name="T67" fmla="*/ 328 h 564"/>
                    <a:gd name="T68" fmla="*/ 152 w 812"/>
                    <a:gd name="T69" fmla="*/ 354 h 564"/>
                    <a:gd name="T70" fmla="*/ 128 w 812"/>
                    <a:gd name="T71" fmla="*/ 404 h 564"/>
                    <a:gd name="T72" fmla="*/ 94 w 812"/>
                    <a:gd name="T73" fmla="*/ 392 h 564"/>
                    <a:gd name="T74" fmla="*/ 66 w 812"/>
                    <a:gd name="T75" fmla="*/ 258 h 564"/>
                    <a:gd name="T76" fmla="*/ 72 w 812"/>
                    <a:gd name="T77" fmla="*/ 156 h 564"/>
                    <a:gd name="T78" fmla="*/ 44 w 812"/>
                    <a:gd name="T79" fmla="*/ 180 h 564"/>
                    <a:gd name="T80" fmla="*/ 20 w 812"/>
                    <a:gd name="T81" fmla="*/ 150 h 564"/>
                    <a:gd name="T82" fmla="*/ 24 w 812"/>
                    <a:gd name="T83" fmla="*/ 138 h 564"/>
                    <a:gd name="T84" fmla="*/ 0 w 812"/>
                    <a:gd name="T85" fmla="*/ 92 h 564"/>
                    <a:gd name="T86" fmla="*/ 798 w 812"/>
                    <a:gd name="T87" fmla="*/ 6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79" name="Freeform 48"/>
                <p:cNvSpPr>
                  <a:spLocks/>
                </p:cNvSpPr>
                <p:nvPr userDrawn="1"/>
              </p:nvSpPr>
              <p:spPr bwMode="ltGray">
                <a:xfrm>
                  <a:off x="1770" y="671"/>
                  <a:ext cx="45" cy="71"/>
                </a:xfrm>
                <a:custGeom>
                  <a:avLst/>
                  <a:gdLst>
                    <a:gd name="T0" fmla="*/ 7 w 43"/>
                    <a:gd name="T1" fmla="*/ 11 h 85"/>
                    <a:gd name="T2" fmla="*/ 17 w 43"/>
                    <a:gd name="T3" fmla="*/ 3 h 85"/>
                    <a:gd name="T4" fmla="*/ 37 w 43"/>
                    <a:gd name="T5" fmla="*/ 33 h 85"/>
                    <a:gd name="T6" fmla="*/ 19 w 43"/>
                    <a:gd name="T7" fmla="*/ 85 h 85"/>
                    <a:gd name="T8" fmla="*/ 1 w 43"/>
                    <a:gd name="T9" fmla="*/ 69 h 85"/>
                    <a:gd name="T10" fmla="*/ 7 w 43"/>
                    <a:gd name="T11" fmla="*/ 11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0" name="Freeform 49"/>
                <p:cNvSpPr>
                  <a:spLocks/>
                </p:cNvSpPr>
                <p:nvPr userDrawn="1"/>
              </p:nvSpPr>
              <p:spPr bwMode="ltGray">
                <a:xfrm>
                  <a:off x="2394" y="431"/>
                  <a:ext cx="42" cy="59"/>
                </a:xfrm>
                <a:custGeom>
                  <a:avLst/>
                  <a:gdLst>
                    <a:gd name="T0" fmla="*/ 13 w 44"/>
                    <a:gd name="T1" fmla="*/ 28 h 74"/>
                    <a:gd name="T2" fmla="*/ 29 w 44"/>
                    <a:gd name="T3" fmla="*/ 2 h 74"/>
                    <a:gd name="T4" fmla="*/ 43 w 44"/>
                    <a:gd name="T5" fmla="*/ 4 h 74"/>
                    <a:gd name="T6" fmla="*/ 39 w 44"/>
                    <a:gd name="T7" fmla="*/ 26 h 74"/>
                    <a:gd name="T8" fmla="*/ 13 w 44"/>
                    <a:gd name="T9" fmla="*/ 74 h 74"/>
                    <a:gd name="T10" fmla="*/ 7 w 44"/>
                    <a:gd name="T11" fmla="*/ 60 h 74"/>
                    <a:gd name="T12" fmla="*/ 3 w 44"/>
                    <a:gd name="T13" fmla="*/ 36 h 74"/>
                    <a:gd name="T14" fmla="*/ 13 w 44"/>
                    <a:gd name="T15" fmla="*/ 28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1" name="Freeform 50"/>
                <p:cNvSpPr>
                  <a:spLocks/>
                </p:cNvSpPr>
                <p:nvPr userDrawn="1"/>
              </p:nvSpPr>
              <p:spPr bwMode="ltGray">
                <a:xfrm>
                  <a:off x="2513" y="402"/>
                  <a:ext cx="21" cy="24"/>
                </a:xfrm>
                <a:custGeom>
                  <a:avLst/>
                  <a:gdLst>
                    <a:gd name="T0" fmla="*/ 7 w 20"/>
                    <a:gd name="T1" fmla="*/ 16 h 30"/>
                    <a:gd name="T2" fmla="*/ 5 w 20"/>
                    <a:gd name="T3" fmla="*/ 30 h 30"/>
                    <a:gd name="T4" fmla="*/ 7 w 20"/>
                    <a:gd name="T5" fmla="*/ 16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2" name="Freeform 51"/>
                <p:cNvSpPr>
                  <a:spLocks/>
                </p:cNvSpPr>
                <p:nvPr userDrawn="1"/>
              </p:nvSpPr>
              <p:spPr bwMode="ltGray">
                <a:xfrm>
                  <a:off x="333" y="169"/>
                  <a:ext cx="1015" cy="866"/>
                </a:xfrm>
                <a:custGeom>
                  <a:avLst/>
                  <a:gdLst>
                    <a:gd name="T0" fmla="*/ 481 w 682"/>
                    <a:gd name="T1" fmla="*/ 464 h 557"/>
                    <a:gd name="T2" fmla="*/ 486 w 682"/>
                    <a:gd name="T3" fmla="*/ 451 h 557"/>
                    <a:gd name="T4" fmla="*/ 500 w 682"/>
                    <a:gd name="T5" fmla="*/ 413 h 557"/>
                    <a:gd name="T6" fmla="*/ 309 w 682"/>
                    <a:gd name="T7" fmla="*/ 287 h 557"/>
                    <a:gd name="T8" fmla="*/ 282 w 682"/>
                    <a:gd name="T9" fmla="*/ 346 h 557"/>
                    <a:gd name="T10" fmla="*/ 303 w 682"/>
                    <a:gd name="T11" fmla="*/ 556 h 557"/>
                    <a:gd name="T12" fmla="*/ 282 w 682"/>
                    <a:gd name="T13" fmla="*/ 494 h 557"/>
                    <a:gd name="T14" fmla="*/ 242 w 682"/>
                    <a:gd name="T15" fmla="*/ 439 h 557"/>
                    <a:gd name="T16" fmla="*/ 245 w 682"/>
                    <a:gd name="T17" fmla="*/ 413 h 557"/>
                    <a:gd name="T18" fmla="*/ 247 w 682"/>
                    <a:gd name="T19" fmla="*/ 394 h 557"/>
                    <a:gd name="T20" fmla="*/ 220 w 682"/>
                    <a:gd name="T21" fmla="*/ 375 h 557"/>
                    <a:gd name="T22" fmla="*/ 194 w 682"/>
                    <a:gd name="T23" fmla="*/ 346 h 557"/>
                    <a:gd name="T24" fmla="*/ 148 w 682"/>
                    <a:gd name="T25" fmla="*/ 354 h 557"/>
                    <a:gd name="T26" fmla="*/ 126 w 682"/>
                    <a:gd name="T27" fmla="*/ 365 h 557"/>
                    <a:gd name="T28" fmla="*/ 78 w 682"/>
                    <a:gd name="T29" fmla="*/ 365 h 557"/>
                    <a:gd name="T30" fmla="*/ 22 w 682"/>
                    <a:gd name="T31" fmla="*/ 312 h 557"/>
                    <a:gd name="T32" fmla="*/ 11 w 682"/>
                    <a:gd name="T33" fmla="*/ 295 h 557"/>
                    <a:gd name="T34" fmla="*/ 0 w 682"/>
                    <a:gd name="T35" fmla="*/ 264 h 557"/>
                    <a:gd name="T36" fmla="*/ 24 w 682"/>
                    <a:gd name="T37" fmla="*/ 213 h 557"/>
                    <a:gd name="T38" fmla="*/ 32 w 682"/>
                    <a:gd name="T39" fmla="*/ 181 h 557"/>
                    <a:gd name="T40" fmla="*/ 51 w 682"/>
                    <a:gd name="T41" fmla="*/ 143 h 557"/>
                    <a:gd name="T42" fmla="*/ 81 w 682"/>
                    <a:gd name="T43" fmla="*/ 116 h 557"/>
                    <a:gd name="T44" fmla="*/ 167 w 682"/>
                    <a:gd name="T45" fmla="*/ 67 h 557"/>
                    <a:gd name="T46" fmla="*/ 220 w 682"/>
                    <a:gd name="T47" fmla="*/ 30 h 557"/>
                    <a:gd name="T48" fmla="*/ 258 w 682"/>
                    <a:gd name="T49" fmla="*/ 6 h 557"/>
                    <a:gd name="T50" fmla="*/ 363 w 682"/>
                    <a:gd name="T51" fmla="*/ 2 h 557"/>
                    <a:gd name="T52" fmla="*/ 398 w 682"/>
                    <a:gd name="T53" fmla="*/ 0 h 557"/>
                    <a:gd name="T54" fmla="*/ 384 w 682"/>
                    <a:gd name="T55" fmla="*/ 34 h 557"/>
                    <a:gd name="T56" fmla="*/ 443 w 682"/>
                    <a:gd name="T57" fmla="*/ 84 h 557"/>
                    <a:gd name="T58" fmla="*/ 497 w 682"/>
                    <a:gd name="T59" fmla="*/ 74 h 557"/>
                    <a:gd name="T60" fmla="*/ 529 w 682"/>
                    <a:gd name="T61" fmla="*/ 82 h 557"/>
                    <a:gd name="T62" fmla="*/ 559 w 682"/>
                    <a:gd name="T63" fmla="*/ 97 h 557"/>
                    <a:gd name="T64" fmla="*/ 572 w 682"/>
                    <a:gd name="T65" fmla="*/ 188 h 557"/>
                    <a:gd name="T66" fmla="*/ 572 w 682"/>
                    <a:gd name="T67" fmla="*/ 240 h 557"/>
                    <a:gd name="T68" fmla="*/ 599 w 682"/>
                    <a:gd name="T69" fmla="*/ 283 h 557"/>
                    <a:gd name="T70" fmla="*/ 645 w 682"/>
                    <a:gd name="T71" fmla="*/ 300 h 557"/>
                    <a:gd name="T72" fmla="*/ 680 w 682"/>
                    <a:gd name="T73" fmla="*/ 295 h 557"/>
                    <a:gd name="T74" fmla="*/ 664 w 682"/>
                    <a:gd name="T75" fmla="*/ 340 h 557"/>
                    <a:gd name="T76" fmla="*/ 599 w 682"/>
                    <a:gd name="T77" fmla="*/ 407 h 557"/>
                    <a:gd name="T78" fmla="*/ 548 w 682"/>
                    <a:gd name="T79" fmla="*/ 485 h 557"/>
                    <a:gd name="T80" fmla="*/ 556 w 682"/>
                    <a:gd name="T81" fmla="*/ 508 h 557"/>
                    <a:gd name="T82" fmla="*/ 435 w 682"/>
                    <a:gd name="T83" fmla="*/ 556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3" name="Freeform 52"/>
                <p:cNvSpPr>
                  <a:spLocks/>
                </p:cNvSpPr>
                <p:nvPr userDrawn="1"/>
              </p:nvSpPr>
              <p:spPr bwMode="ltGray">
                <a:xfrm>
                  <a:off x="727" y="495"/>
                  <a:ext cx="382" cy="540"/>
                </a:xfrm>
                <a:custGeom>
                  <a:avLst/>
                  <a:gdLst>
                    <a:gd name="T0" fmla="*/ 243 w 257"/>
                    <a:gd name="T1" fmla="*/ 347 h 347"/>
                    <a:gd name="T2" fmla="*/ 233 w 257"/>
                    <a:gd name="T3" fmla="*/ 301 h 347"/>
                    <a:gd name="T4" fmla="*/ 217 w 257"/>
                    <a:gd name="T5" fmla="*/ 288 h 347"/>
                    <a:gd name="T6" fmla="*/ 215 w 257"/>
                    <a:gd name="T7" fmla="*/ 269 h 347"/>
                    <a:gd name="T8" fmla="*/ 209 w 257"/>
                    <a:gd name="T9" fmla="*/ 254 h 347"/>
                    <a:gd name="T10" fmla="*/ 209 w 257"/>
                    <a:gd name="T11" fmla="*/ 229 h 347"/>
                    <a:gd name="T12" fmla="*/ 207 w 257"/>
                    <a:gd name="T13" fmla="*/ 214 h 347"/>
                    <a:gd name="T14" fmla="*/ 228 w 257"/>
                    <a:gd name="T15" fmla="*/ 202 h 347"/>
                    <a:gd name="T16" fmla="*/ 257 w 257"/>
                    <a:gd name="T17" fmla="*/ 197 h 347"/>
                    <a:gd name="T18" fmla="*/ 257 w 257"/>
                    <a:gd name="T19" fmla="*/ 136 h 347"/>
                    <a:gd name="T20" fmla="*/ 54 w 257"/>
                    <a:gd name="T21" fmla="*/ 96 h 347"/>
                    <a:gd name="T22" fmla="*/ 32 w 257"/>
                    <a:gd name="T23" fmla="*/ 98 h 347"/>
                    <a:gd name="T24" fmla="*/ 16 w 257"/>
                    <a:gd name="T25" fmla="*/ 102 h 347"/>
                    <a:gd name="T26" fmla="*/ 0 w 257"/>
                    <a:gd name="T27" fmla="*/ 149 h 347"/>
                    <a:gd name="T28" fmla="*/ 93 w 257"/>
                    <a:gd name="T29" fmla="*/ 346 h 347"/>
                    <a:gd name="T30" fmla="*/ 243 w 257"/>
                    <a:gd name="T31" fmla="*/ 347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4" name="Freeform 53"/>
                <p:cNvSpPr>
                  <a:spLocks/>
                </p:cNvSpPr>
                <p:nvPr userDrawn="1"/>
              </p:nvSpPr>
              <p:spPr bwMode="ltGray">
                <a:xfrm>
                  <a:off x="1400" y="896"/>
                  <a:ext cx="16" cy="29"/>
                </a:xfrm>
                <a:custGeom>
                  <a:avLst/>
                  <a:gdLst>
                    <a:gd name="T0" fmla="*/ 7 w 19"/>
                    <a:gd name="T1" fmla="*/ 25 h 37"/>
                    <a:gd name="T2" fmla="*/ 19 w 19"/>
                    <a:gd name="T3" fmla="*/ 21 h 37"/>
                    <a:gd name="T4" fmla="*/ 7 w 19"/>
                    <a:gd name="T5" fmla="*/ 25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5" name="Freeform 54"/>
                <p:cNvSpPr>
                  <a:spLocks/>
                </p:cNvSpPr>
                <p:nvPr userDrawn="1"/>
              </p:nvSpPr>
              <p:spPr bwMode="ltGray">
                <a:xfrm>
                  <a:off x="1379" y="617"/>
                  <a:ext cx="21" cy="17"/>
                </a:xfrm>
                <a:custGeom>
                  <a:avLst/>
                  <a:gdLst>
                    <a:gd name="T0" fmla="*/ 12 w 22"/>
                    <a:gd name="T1" fmla="*/ 12 h 20"/>
                    <a:gd name="T2" fmla="*/ 16 w 22"/>
                    <a:gd name="T3" fmla="*/ 0 h 20"/>
                    <a:gd name="T4" fmla="*/ 20 w 22"/>
                    <a:gd name="T5" fmla="*/ 12 h 20"/>
                    <a:gd name="T6" fmla="*/ 8 w 22"/>
                    <a:gd name="T7" fmla="*/ 20 h 20"/>
                    <a:gd name="T8" fmla="*/ 12 w 22"/>
                    <a:gd name="T9" fmla="*/ 12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6" name="Freeform 55"/>
                <p:cNvSpPr>
                  <a:spLocks/>
                </p:cNvSpPr>
                <p:nvPr userDrawn="1"/>
              </p:nvSpPr>
              <p:spPr bwMode="ltGray">
                <a:xfrm>
                  <a:off x="453" y="275"/>
                  <a:ext cx="58" cy="24"/>
                </a:xfrm>
                <a:custGeom>
                  <a:avLst/>
                  <a:gdLst>
                    <a:gd name="T0" fmla="*/ 24 w 57"/>
                    <a:gd name="T1" fmla="*/ 18 h 30"/>
                    <a:gd name="T2" fmla="*/ 32 w 57"/>
                    <a:gd name="T3" fmla="*/ 6 h 30"/>
                    <a:gd name="T4" fmla="*/ 36 w 57"/>
                    <a:gd name="T5" fmla="*/ 30 h 30"/>
                    <a:gd name="T6" fmla="*/ 24 w 57"/>
                    <a:gd name="T7" fmla="*/ 18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7" name="Freeform 56"/>
                <p:cNvSpPr>
                  <a:spLocks/>
                </p:cNvSpPr>
                <p:nvPr userDrawn="1"/>
              </p:nvSpPr>
              <p:spPr bwMode="ltGray">
                <a:xfrm>
                  <a:off x="1161" y="50"/>
                  <a:ext cx="691" cy="569"/>
                </a:xfrm>
                <a:custGeom>
                  <a:avLst/>
                  <a:gdLst>
                    <a:gd name="T0" fmla="*/ 473 w 693"/>
                    <a:gd name="T1" fmla="*/ 464 h 696"/>
                    <a:gd name="T2" fmla="*/ 393 w 693"/>
                    <a:gd name="T3" fmla="*/ 452 h 696"/>
                    <a:gd name="T4" fmla="*/ 325 w 693"/>
                    <a:gd name="T5" fmla="*/ 412 h 696"/>
                    <a:gd name="T6" fmla="*/ 265 w 693"/>
                    <a:gd name="T7" fmla="*/ 400 h 696"/>
                    <a:gd name="T8" fmla="*/ 237 w 693"/>
                    <a:gd name="T9" fmla="*/ 416 h 696"/>
                    <a:gd name="T10" fmla="*/ 261 w 693"/>
                    <a:gd name="T11" fmla="*/ 428 h 696"/>
                    <a:gd name="T12" fmla="*/ 293 w 693"/>
                    <a:gd name="T13" fmla="*/ 468 h 696"/>
                    <a:gd name="T14" fmla="*/ 321 w 693"/>
                    <a:gd name="T15" fmla="*/ 476 h 696"/>
                    <a:gd name="T16" fmla="*/ 333 w 693"/>
                    <a:gd name="T17" fmla="*/ 536 h 696"/>
                    <a:gd name="T18" fmla="*/ 313 w 693"/>
                    <a:gd name="T19" fmla="*/ 552 h 696"/>
                    <a:gd name="T20" fmla="*/ 261 w 693"/>
                    <a:gd name="T21" fmla="*/ 616 h 696"/>
                    <a:gd name="T22" fmla="*/ 225 w 693"/>
                    <a:gd name="T23" fmla="*/ 628 h 696"/>
                    <a:gd name="T24" fmla="*/ 97 w 693"/>
                    <a:gd name="T25" fmla="*/ 696 h 696"/>
                    <a:gd name="T26" fmla="*/ 77 w 693"/>
                    <a:gd name="T27" fmla="*/ 616 h 696"/>
                    <a:gd name="T28" fmla="*/ 45 w 693"/>
                    <a:gd name="T29" fmla="*/ 524 h 696"/>
                    <a:gd name="T30" fmla="*/ 33 w 693"/>
                    <a:gd name="T31" fmla="*/ 448 h 696"/>
                    <a:gd name="T32" fmla="*/ 53 w 693"/>
                    <a:gd name="T33" fmla="*/ 344 h 696"/>
                    <a:gd name="T34" fmla="*/ 17 w 693"/>
                    <a:gd name="T35" fmla="*/ 392 h 696"/>
                    <a:gd name="T36" fmla="*/ 81 w 693"/>
                    <a:gd name="T37" fmla="*/ 280 h 696"/>
                    <a:gd name="T38" fmla="*/ 113 w 693"/>
                    <a:gd name="T39" fmla="*/ 204 h 696"/>
                    <a:gd name="T40" fmla="*/ 37 w 693"/>
                    <a:gd name="T41" fmla="*/ 204 h 696"/>
                    <a:gd name="T42" fmla="*/ 1 w 693"/>
                    <a:gd name="T43" fmla="*/ 196 h 696"/>
                    <a:gd name="T44" fmla="*/ 25 w 693"/>
                    <a:gd name="T45" fmla="*/ 140 h 696"/>
                    <a:gd name="T46" fmla="*/ 97 w 693"/>
                    <a:gd name="T47" fmla="*/ 112 h 696"/>
                    <a:gd name="T48" fmla="*/ 221 w 693"/>
                    <a:gd name="T49" fmla="*/ 124 h 696"/>
                    <a:gd name="T50" fmla="*/ 229 w 693"/>
                    <a:gd name="T51" fmla="*/ 64 h 696"/>
                    <a:gd name="T52" fmla="*/ 261 w 693"/>
                    <a:gd name="T53" fmla="*/ 0 h 696"/>
                    <a:gd name="T54" fmla="*/ 357 w 693"/>
                    <a:gd name="T55" fmla="*/ 44 h 696"/>
                    <a:gd name="T56" fmla="*/ 329 w 693"/>
                    <a:gd name="T57" fmla="*/ 88 h 696"/>
                    <a:gd name="T58" fmla="*/ 301 w 693"/>
                    <a:gd name="T59" fmla="*/ 176 h 696"/>
                    <a:gd name="T60" fmla="*/ 361 w 693"/>
                    <a:gd name="T61" fmla="*/ 192 h 696"/>
                    <a:gd name="T62" fmla="*/ 373 w 693"/>
                    <a:gd name="T63" fmla="*/ 136 h 696"/>
                    <a:gd name="T64" fmla="*/ 417 w 693"/>
                    <a:gd name="T65" fmla="*/ 92 h 696"/>
                    <a:gd name="T66" fmla="*/ 497 w 693"/>
                    <a:gd name="T67" fmla="*/ 88 h 696"/>
                    <a:gd name="T68" fmla="*/ 529 w 693"/>
                    <a:gd name="T69" fmla="*/ 52 h 696"/>
                    <a:gd name="T70" fmla="*/ 541 w 693"/>
                    <a:gd name="T71" fmla="*/ 460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8" name="Freeform 57"/>
                <p:cNvSpPr>
                  <a:spLocks/>
                </p:cNvSpPr>
                <p:nvPr userDrawn="1"/>
              </p:nvSpPr>
              <p:spPr bwMode="ltGray">
                <a:xfrm>
                  <a:off x="689" y="6"/>
                  <a:ext cx="1386" cy="232"/>
                </a:xfrm>
                <a:custGeom>
                  <a:avLst/>
                  <a:gdLst>
                    <a:gd name="T0" fmla="*/ 825 w 931"/>
                    <a:gd name="T1" fmla="*/ 0 h 149"/>
                    <a:gd name="T2" fmla="*/ 143 w 931"/>
                    <a:gd name="T3" fmla="*/ 29 h 149"/>
                    <a:gd name="T4" fmla="*/ 91 w 931"/>
                    <a:gd name="T5" fmla="*/ 42 h 149"/>
                    <a:gd name="T6" fmla="*/ 62 w 931"/>
                    <a:gd name="T7" fmla="*/ 42 h 149"/>
                    <a:gd name="T8" fmla="*/ 22 w 931"/>
                    <a:gd name="T9" fmla="*/ 77 h 149"/>
                    <a:gd name="T10" fmla="*/ 0 w 931"/>
                    <a:gd name="T11" fmla="*/ 105 h 149"/>
                    <a:gd name="T12" fmla="*/ 59 w 931"/>
                    <a:gd name="T13" fmla="*/ 115 h 149"/>
                    <a:gd name="T14" fmla="*/ 97 w 931"/>
                    <a:gd name="T15" fmla="*/ 96 h 149"/>
                    <a:gd name="T16" fmla="*/ 108 w 931"/>
                    <a:gd name="T17" fmla="*/ 84 h 149"/>
                    <a:gd name="T18" fmla="*/ 167 w 931"/>
                    <a:gd name="T19" fmla="*/ 52 h 149"/>
                    <a:gd name="T20" fmla="*/ 215 w 931"/>
                    <a:gd name="T21" fmla="*/ 46 h 149"/>
                    <a:gd name="T22" fmla="*/ 237 w 931"/>
                    <a:gd name="T23" fmla="*/ 94 h 149"/>
                    <a:gd name="T24" fmla="*/ 188 w 931"/>
                    <a:gd name="T25" fmla="*/ 109 h 149"/>
                    <a:gd name="T26" fmla="*/ 231 w 931"/>
                    <a:gd name="T27" fmla="*/ 113 h 149"/>
                    <a:gd name="T28" fmla="*/ 250 w 931"/>
                    <a:gd name="T29" fmla="*/ 90 h 149"/>
                    <a:gd name="T30" fmla="*/ 266 w 931"/>
                    <a:gd name="T31" fmla="*/ 92 h 149"/>
                    <a:gd name="T32" fmla="*/ 253 w 931"/>
                    <a:gd name="T33" fmla="*/ 54 h 149"/>
                    <a:gd name="T34" fmla="*/ 266 w 931"/>
                    <a:gd name="T35" fmla="*/ 44 h 149"/>
                    <a:gd name="T36" fmla="*/ 277 w 931"/>
                    <a:gd name="T37" fmla="*/ 88 h 149"/>
                    <a:gd name="T38" fmla="*/ 266 w 931"/>
                    <a:gd name="T39" fmla="*/ 113 h 149"/>
                    <a:gd name="T40" fmla="*/ 296 w 931"/>
                    <a:gd name="T41" fmla="*/ 130 h 149"/>
                    <a:gd name="T42" fmla="*/ 299 w 931"/>
                    <a:gd name="T43" fmla="*/ 92 h 149"/>
                    <a:gd name="T44" fmla="*/ 331 w 931"/>
                    <a:gd name="T45" fmla="*/ 103 h 149"/>
                    <a:gd name="T46" fmla="*/ 382 w 931"/>
                    <a:gd name="T47" fmla="*/ 73 h 149"/>
                    <a:gd name="T48" fmla="*/ 409 w 931"/>
                    <a:gd name="T49" fmla="*/ 50 h 149"/>
                    <a:gd name="T50" fmla="*/ 439 w 931"/>
                    <a:gd name="T51" fmla="*/ 56 h 149"/>
                    <a:gd name="T52" fmla="*/ 455 w 931"/>
                    <a:gd name="T53" fmla="*/ 50 h 149"/>
                    <a:gd name="T54" fmla="*/ 431 w 931"/>
                    <a:gd name="T55" fmla="*/ 44 h 149"/>
                    <a:gd name="T56" fmla="*/ 474 w 931"/>
                    <a:gd name="T57" fmla="*/ 35 h 149"/>
                    <a:gd name="T58" fmla="*/ 544 w 931"/>
                    <a:gd name="T59" fmla="*/ 54 h 149"/>
                    <a:gd name="T60" fmla="*/ 581 w 931"/>
                    <a:gd name="T61" fmla="*/ 42 h 149"/>
                    <a:gd name="T62" fmla="*/ 584 w 931"/>
                    <a:gd name="T63" fmla="*/ 63 h 149"/>
                    <a:gd name="T64" fmla="*/ 568 w 931"/>
                    <a:gd name="T65" fmla="*/ 101 h 149"/>
                    <a:gd name="T66" fmla="*/ 611 w 931"/>
                    <a:gd name="T67" fmla="*/ 88 h 149"/>
                    <a:gd name="T68" fmla="*/ 624 w 931"/>
                    <a:gd name="T69" fmla="*/ 80 h 149"/>
                    <a:gd name="T70" fmla="*/ 648 w 931"/>
                    <a:gd name="T71" fmla="*/ 61 h 149"/>
                    <a:gd name="T72" fmla="*/ 794 w 931"/>
                    <a:gd name="T73" fmla="*/ 84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89" name="Freeform 58"/>
                <p:cNvSpPr>
                  <a:spLocks/>
                </p:cNvSpPr>
                <p:nvPr userDrawn="1"/>
              </p:nvSpPr>
              <p:spPr bwMode="ltGray">
                <a:xfrm>
                  <a:off x="971" y="91"/>
                  <a:ext cx="30" cy="25"/>
                </a:xfrm>
                <a:custGeom>
                  <a:avLst/>
                  <a:gdLst>
                    <a:gd name="T0" fmla="*/ 3 w 31"/>
                    <a:gd name="T1" fmla="*/ 28 h 30"/>
                    <a:gd name="T2" fmla="*/ 31 w 31"/>
                    <a:gd name="T3" fmla="*/ 0 h 30"/>
                    <a:gd name="T4" fmla="*/ 19 w 31"/>
                    <a:gd name="T5" fmla="*/ 24 h 30"/>
                    <a:gd name="T6" fmla="*/ 3 w 31"/>
                    <a:gd name="T7" fmla="*/ 28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90" name="Freeform 59"/>
                <p:cNvSpPr>
                  <a:spLocks/>
                </p:cNvSpPr>
                <p:nvPr userDrawn="1"/>
              </p:nvSpPr>
              <p:spPr bwMode="ltGray">
                <a:xfrm>
                  <a:off x="935" y="125"/>
                  <a:ext cx="45" cy="27"/>
                </a:xfrm>
                <a:custGeom>
                  <a:avLst/>
                  <a:gdLst>
                    <a:gd name="T0" fmla="*/ 6 w 44"/>
                    <a:gd name="T1" fmla="*/ 32 h 32"/>
                    <a:gd name="T2" fmla="*/ 22 w 44"/>
                    <a:gd name="T3" fmla="*/ 0 h 32"/>
                    <a:gd name="T4" fmla="*/ 38 w 44"/>
                    <a:gd name="T5" fmla="*/ 4 h 32"/>
                    <a:gd name="T6" fmla="*/ 6 w 44"/>
                    <a:gd name="T7" fmla="*/ 32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91" name="Freeform 60"/>
                <p:cNvSpPr>
                  <a:spLocks/>
                </p:cNvSpPr>
                <p:nvPr userDrawn="1"/>
              </p:nvSpPr>
              <p:spPr bwMode="ltGray">
                <a:xfrm>
                  <a:off x="1081" y="226"/>
                  <a:ext cx="75" cy="14"/>
                </a:xfrm>
                <a:custGeom>
                  <a:avLst/>
                  <a:gdLst>
                    <a:gd name="T0" fmla="*/ 37 w 76"/>
                    <a:gd name="T1" fmla="*/ 18 h 18"/>
                    <a:gd name="T2" fmla="*/ 25 w 76"/>
                    <a:gd name="T3" fmla="*/ 2 h 18"/>
                    <a:gd name="T4" fmla="*/ 37 w 76"/>
                    <a:gd name="T5" fmla="*/ 18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92" name="Freeform 61"/>
                <p:cNvSpPr>
                  <a:spLocks/>
                </p:cNvSpPr>
                <p:nvPr userDrawn="1"/>
              </p:nvSpPr>
              <p:spPr bwMode="ltGray">
                <a:xfrm>
                  <a:off x="1210" y="223"/>
                  <a:ext cx="42" cy="37"/>
                </a:xfrm>
                <a:custGeom>
                  <a:avLst/>
                  <a:gdLst>
                    <a:gd name="T0" fmla="*/ 0 w 42"/>
                    <a:gd name="T1" fmla="*/ 21 h 44"/>
                    <a:gd name="T2" fmla="*/ 12 w 42"/>
                    <a:gd name="T3" fmla="*/ 9 h 44"/>
                    <a:gd name="T4" fmla="*/ 0 w 42"/>
                    <a:gd name="T5" fmla="*/ 21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93" name="Freeform 62"/>
                <p:cNvSpPr>
                  <a:spLocks/>
                </p:cNvSpPr>
                <p:nvPr userDrawn="1"/>
              </p:nvSpPr>
              <p:spPr bwMode="ltGray">
                <a:xfrm>
                  <a:off x="865" y="123"/>
                  <a:ext cx="33" cy="24"/>
                </a:xfrm>
                <a:custGeom>
                  <a:avLst/>
                  <a:gdLst>
                    <a:gd name="T0" fmla="*/ 7 w 31"/>
                    <a:gd name="T1" fmla="*/ 22 h 30"/>
                    <a:gd name="T2" fmla="*/ 31 w 31"/>
                    <a:gd name="T3" fmla="*/ 10 h 30"/>
                    <a:gd name="T4" fmla="*/ 7 w 31"/>
                    <a:gd name="T5" fmla="*/ 22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nvGrpSpPr>
              <p:cNvPr id="10" name="Group 63"/>
              <p:cNvGrpSpPr>
                <a:grpSpLocks/>
              </p:cNvGrpSpPr>
              <p:nvPr userDrawn="1"/>
            </p:nvGrpSpPr>
            <p:grpSpPr bwMode="auto">
              <a:xfrm>
                <a:off x="7" y="-154"/>
                <a:ext cx="5739" cy="418"/>
                <a:chOff x="1056" y="111"/>
                <a:chExt cx="2448" cy="418"/>
              </a:xfrm>
            </p:grpSpPr>
            <p:sp>
              <p:nvSpPr>
                <p:cNvPr id="27" name="Line 64"/>
                <p:cNvSpPr>
                  <a:spLocks noChangeShapeType="1"/>
                </p:cNvSpPr>
                <p:nvPr/>
              </p:nvSpPr>
              <p:spPr bwMode="white">
                <a:xfrm>
                  <a:off x="1056" y="332"/>
                  <a:ext cx="2448"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 name="Line 65"/>
                <p:cNvSpPr>
                  <a:spLocks noChangeShapeType="1"/>
                </p:cNvSpPr>
                <p:nvPr/>
              </p:nvSpPr>
              <p:spPr bwMode="white">
                <a:xfrm>
                  <a:off x="1254"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 name="Line 66"/>
                <p:cNvSpPr>
                  <a:spLocks noChangeShapeType="1"/>
                </p:cNvSpPr>
                <p:nvPr/>
              </p:nvSpPr>
              <p:spPr bwMode="white">
                <a:xfrm>
                  <a:off x="1482"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 name="Line 67"/>
                <p:cNvSpPr>
                  <a:spLocks noChangeShapeType="1"/>
                </p:cNvSpPr>
                <p:nvPr/>
              </p:nvSpPr>
              <p:spPr bwMode="white">
                <a:xfrm>
                  <a:off x="1710"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1" name="Line 68"/>
                <p:cNvSpPr>
                  <a:spLocks noChangeShapeType="1"/>
                </p:cNvSpPr>
                <p:nvPr/>
              </p:nvSpPr>
              <p:spPr bwMode="white">
                <a:xfrm>
                  <a:off x="1938"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2" name="Line 69"/>
                <p:cNvSpPr>
                  <a:spLocks noChangeShapeType="1"/>
                </p:cNvSpPr>
                <p:nvPr/>
              </p:nvSpPr>
              <p:spPr bwMode="white">
                <a:xfrm>
                  <a:off x="2166"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3" name="Line 70"/>
                <p:cNvSpPr>
                  <a:spLocks noChangeShapeType="1"/>
                </p:cNvSpPr>
                <p:nvPr/>
              </p:nvSpPr>
              <p:spPr bwMode="white">
                <a:xfrm>
                  <a:off x="2394"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4" name="Line 71"/>
                <p:cNvSpPr>
                  <a:spLocks noChangeShapeType="1"/>
                </p:cNvSpPr>
                <p:nvPr/>
              </p:nvSpPr>
              <p:spPr bwMode="white">
                <a:xfrm>
                  <a:off x="2622"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5" name="Line 72"/>
                <p:cNvSpPr>
                  <a:spLocks noChangeShapeType="1"/>
                </p:cNvSpPr>
                <p:nvPr/>
              </p:nvSpPr>
              <p:spPr bwMode="white">
                <a:xfrm>
                  <a:off x="2850"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6" name="Line 73"/>
                <p:cNvSpPr>
                  <a:spLocks noChangeShapeType="1"/>
                </p:cNvSpPr>
                <p:nvPr/>
              </p:nvSpPr>
              <p:spPr bwMode="white">
                <a:xfrm>
                  <a:off x="3078"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7" name="Line 74"/>
                <p:cNvSpPr>
                  <a:spLocks noChangeShapeType="1"/>
                </p:cNvSpPr>
                <p:nvPr/>
              </p:nvSpPr>
              <p:spPr bwMode="white">
                <a:xfrm>
                  <a:off x="3306" y="111"/>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1" name="Group 75"/>
              <p:cNvGrpSpPr>
                <a:grpSpLocks/>
              </p:cNvGrpSpPr>
              <p:nvPr userDrawn="1"/>
            </p:nvGrpSpPr>
            <p:grpSpPr bwMode="auto">
              <a:xfrm>
                <a:off x="-1261" y="-1"/>
                <a:ext cx="2098" cy="1030"/>
                <a:chOff x="1208" y="109"/>
                <a:chExt cx="2098" cy="423"/>
              </a:xfrm>
            </p:grpSpPr>
            <p:sp>
              <p:nvSpPr>
                <p:cNvPr id="12" name="Line 76"/>
                <p:cNvSpPr>
                  <a:spLocks noChangeShapeType="1"/>
                </p:cNvSpPr>
                <p:nvPr/>
              </p:nvSpPr>
              <p:spPr bwMode="ltGray">
                <a:xfrm>
                  <a:off x="2850" y="110"/>
                  <a:ext cx="0" cy="14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3" name="Line 77"/>
                <p:cNvSpPr>
                  <a:spLocks noChangeShapeType="1"/>
                </p:cNvSpPr>
                <p:nvPr/>
              </p:nvSpPr>
              <p:spPr bwMode="ltGray">
                <a:xfrm>
                  <a:off x="2972" y="332"/>
                  <a:ext cx="7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4" name="Line 78"/>
                <p:cNvSpPr>
                  <a:spLocks noChangeShapeType="1"/>
                </p:cNvSpPr>
                <p:nvPr/>
              </p:nvSpPr>
              <p:spPr bwMode="ltGray">
                <a:xfrm>
                  <a:off x="3078" y="350"/>
                  <a:ext cx="0" cy="2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5" name="Line 79"/>
                <p:cNvSpPr>
                  <a:spLocks noChangeShapeType="1"/>
                </p:cNvSpPr>
                <p:nvPr/>
              </p:nvSpPr>
              <p:spPr bwMode="ltGray">
                <a:xfrm>
                  <a:off x="3306" y="450"/>
                  <a:ext cx="0" cy="79"/>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 name="Line 80"/>
                <p:cNvSpPr>
                  <a:spLocks noChangeShapeType="1"/>
                </p:cNvSpPr>
                <p:nvPr/>
              </p:nvSpPr>
              <p:spPr bwMode="ltGray">
                <a:xfrm>
                  <a:off x="2166" y="114"/>
                  <a:ext cx="0" cy="6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 name="Line 81"/>
                <p:cNvSpPr>
                  <a:spLocks noChangeShapeType="1"/>
                </p:cNvSpPr>
                <p:nvPr/>
              </p:nvSpPr>
              <p:spPr bwMode="ltGray">
                <a:xfrm>
                  <a:off x="1938" y="111"/>
                  <a:ext cx="0" cy="33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 name="Line 82"/>
                <p:cNvSpPr>
                  <a:spLocks noChangeShapeType="1"/>
                </p:cNvSpPr>
                <p:nvPr/>
              </p:nvSpPr>
              <p:spPr bwMode="ltGray">
                <a:xfrm flipH="1">
                  <a:off x="1912" y="332"/>
                  <a:ext cx="6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 name="Line 83"/>
                <p:cNvSpPr>
                  <a:spLocks noChangeShapeType="1"/>
                </p:cNvSpPr>
                <p:nvPr/>
              </p:nvSpPr>
              <p:spPr bwMode="ltGray">
                <a:xfrm>
                  <a:off x="1778" y="332"/>
                  <a:ext cx="6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 name="Line 84"/>
                <p:cNvSpPr>
                  <a:spLocks noChangeShapeType="1"/>
                </p:cNvSpPr>
                <p:nvPr/>
              </p:nvSpPr>
              <p:spPr bwMode="ltGray">
                <a:xfrm flipH="1">
                  <a:off x="1578" y="332"/>
                  <a:ext cx="8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 name="Line 85"/>
                <p:cNvSpPr>
                  <a:spLocks noChangeShapeType="1"/>
                </p:cNvSpPr>
                <p:nvPr/>
              </p:nvSpPr>
              <p:spPr bwMode="ltGray">
                <a:xfrm>
                  <a:off x="1208" y="332"/>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 name="Line 86"/>
                <p:cNvSpPr>
                  <a:spLocks noChangeShapeType="1"/>
                </p:cNvSpPr>
                <p:nvPr/>
              </p:nvSpPr>
              <p:spPr bwMode="ltGray">
                <a:xfrm>
                  <a:off x="1480" y="234"/>
                  <a:ext cx="0" cy="29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 name="Line 87"/>
                <p:cNvSpPr>
                  <a:spLocks noChangeShapeType="1"/>
                </p:cNvSpPr>
                <p:nvPr/>
              </p:nvSpPr>
              <p:spPr bwMode="ltGray">
                <a:xfrm>
                  <a:off x="1254" y="252"/>
                  <a:ext cx="0" cy="15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 name="Line 88"/>
                <p:cNvSpPr>
                  <a:spLocks noChangeShapeType="1"/>
                </p:cNvSpPr>
                <p:nvPr/>
              </p:nvSpPr>
              <p:spPr bwMode="ltGray">
                <a:xfrm flipH="1" flipV="1">
                  <a:off x="1482" y="109"/>
                  <a:ext cx="0" cy="2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 name="Line 89"/>
                <p:cNvSpPr>
                  <a:spLocks noChangeShapeType="1"/>
                </p:cNvSpPr>
                <p:nvPr/>
              </p:nvSpPr>
              <p:spPr bwMode="ltGray">
                <a:xfrm>
                  <a:off x="1710" y="180"/>
                  <a:ext cx="0" cy="9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 name="Line 90"/>
                <p:cNvSpPr>
                  <a:spLocks noChangeShapeType="1"/>
                </p:cNvSpPr>
                <p:nvPr/>
              </p:nvSpPr>
              <p:spPr bwMode="ltGray">
                <a:xfrm flipV="1">
                  <a:off x="1710" y="111"/>
                  <a:ext cx="0" cy="2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pic>
          <p:nvPicPr>
            <p:cNvPr id="7" name="Picture 91" descr="earth"/>
            <p:cNvPicPr>
              <a:picLocks noChangeAspect="1" noChangeArrowheads="1"/>
            </p:cNvPicPr>
            <p:nvPr userDrawn="1"/>
          </p:nvPicPr>
          <p:blipFill>
            <a:blip r:embed="rId2">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gray">
            <a:xfrm>
              <a:off x="336" y="1566"/>
              <a:ext cx="690" cy="6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212" name="Rectangle 92"/>
          <p:cNvSpPr>
            <a:spLocks noGrp="1" noChangeArrowheads="1"/>
          </p:cNvSpPr>
          <p:nvPr>
            <p:ph type="ctrTitle"/>
          </p:nvPr>
        </p:nvSpPr>
        <p:spPr>
          <a:xfrm>
            <a:off x="1828800" y="1828800"/>
            <a:ext cx="6934200" cy="2362200"/>
          </a:xfrm>
        </p:spPr>
        <p:txBody>
          <a:bodyPr/>
          <a:lstStyle>
            <a:lvl1pPr>
              <a:defRPr b="1"/>
            </a:lvl1pPr>
          </a:lstStyle>
          <a:p>
            <a:r>
              <a:rPr lang="en-US" smtClean="0"/>
              <a:t>Click to edit Master title style</a:t>
            </a:r>
            <a:endParaRPr lang="en-US" dirty="0"/>
          </a:p>
        </p:txBody>
      </p:sp>
      <p:sp>
        <p:nvSpPr>
          <p:cNvPr id="5213" name="Rectangle 93"/>
          <p:cNvSpPr>
            <a:spLocks noGrp="1" noChangeArrowheads="1"/>
          </p:cNvSpPr>
          <p:nvPr>
            <p:ph type="subTitle" idx="1"/>
          </p:nvPr>
        </p:nvSpPr>
        <p:spPr>
          <a:xfrm>
            <a:off x="1828800" y="4572000"/>
            <a:ext cx="6934200" cy="1295400"/>
          </a:xfrm>
        </p:spPr>
        <p:txBody>
          <a:bodyPr/>
          <a:lstStyle>
            <a:lvl1pPr marL="0" indent="0">
              <a:buFontTx/>
              <a:buNone/>
              <a:defRPr/>
            </a:lvl1pPr>
          </a:lstStyle>
          <a:p>
            <a:r>
              <a:rPr lang="en-US" smtClean="0"/>
              <a:t>Click to edit Master subtitle style</a:t>
            </a:r>
            <a:endParaRPr lang="en-US"/>
          </a:p>
        </p:txBody>
      </p:sp>
      <p:sp>
        <p:nvSpPr>
          <p:cNvPr id="94" name="Rectangle 94"/>
          <p:cNvSpPr>
            <a:spLocks noGrp="1" noChangeArrowheads="1"/>
          </p:cNvSpPr>
          <p:nvPr>
            <p:ph type="dt" sz="half" idx="10"/>
          </p:nvPr>
        </p:nvSpPr>
        <p:spPr>
          <a:xfrm>
            <a:off x="533400" y="6324600"/>
            <a:ext cx="1905000" cy="457200"/>
          </a:xfrm>
        </p:spPr>
        <p:txBody>
          <a:bodyPr/>
          <a:lstStyle>
            <a:lvl1pPr>
              <a:defRPr smtClean="0"/>
            </a:lvl1pPr>
          </a:lstStyle>
          <a:p>
            <a:pPr>
              <a:defRPr/>
            </a:pPr>
            <a:fld id="{120653E2-505D-4639-8144-C1DC45F60437}" type="datetime1">
              <a:rPr lang="en-US" smtClean="0"/>
              <a:t>9/30/2020</a:t>
            </a:fld>
            <a:endParaRPr lang="en-US"/>
          </a:p>
        </p:txBody>
      </p:sp>
      <p:sp>
        <p:nvSpPr>
          <p:cNvPr id="95" name="Rectangle 95"/>
          <p:cNvSpPr>
            <a:spLocks noGrp="1" noChangeArrowheads="1"/>
          </p:cNvSpPr>
          <p:nvPr>
            <p:ph type="ftr" sz="quarter" idx="11"/>
          </p:nvPr>
        </p:nvSpPr>
        <p:spPr>
          <a:xfrm>
            <a:off x="2057400" y="6324600"/>
            <a:ext cx="4343400" cy="457200"/>
          </a:xfrm>
        </p:spPr>
        <p:txBody>
          <a:bodyPr/>
          <a:lstStyle>
            <a:lvl1pPr>
              <a:defRPr smtClean="0"/>
            </a:lvl1pPr>
          </a:lstStyle>
          <a:p>
            <a:pPr>
              <a:defRPr/>
            </a:pPr>
            <a:r>
              <a:rPr lang="en-US" smtClean="0"/>
              <a:t>Options, Futures, and Other Derivatives, 11th  Edition, Copyright © John  C. Hull 2021</a:t>
            </a:r>
            <a:endParaRPr lang="en-US"/>
          </a:p>
        </p:txBody>
      </p:sp>
      <p:sp>
        <p:nvSpPr>
          <p:cNvPr id="96" name="Rectangle 96"/>
          <p:cNvSpPr>
            <a:spLocks noGrp="1" noChangeArrowheads="1"/>
          </p:cNvSpPr>
          <p:nvPr>
            <p:ph type="sldNum" sz="quarter" idx="12"/>
          </p:nvPr>
        </p:nvSpPr>
        <p:spPr>
          <a:xfrm>
            <a:off x="6858000" y="6324600"/>
            <a:ext cx="1905000" cy="457200"/>
          </a:xfrm>
        </p:spPr>
        <p:txBody>
          <a:bodyPr/>
          <a:lstStyle>
            <a:lvl1pPr>
              <a:defRPr/>
            </a:lvl1pPr>
          </a:lstStyle>
          <a:p>
            <a:pPr>
              <a:defRPr/>
            </a:pPr>
            <a:fld id="{E27EB947-535F-4A2B-A083-4D6EF2A4C4D2}" type="slidenum">
              <a:rPr lang="en-US"/>
              <a:pPr>
                <a:defRPr/>
              </a:pPr>
              <a:t>‹#›</a:t>
            </a:fld>
            <a:endParaRPr lang="en-US"/>
          </a:p>
        </p:txBody>
      </p:sp>
    </p:spTree>
    <p:extLst>
      <p:ext uri="{BB962C8B-B14F-4D97-AF65-F5344CB8AC3E}">
        <p14:creationId xmlns:p14="http://schemas.microsoft.com/office/powerpoint/2010/main" val="5119027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lvl1pPr>
              <a:defRPr sz="2800">
                <a:latin typeface="Arial" pitchFamily="34" charset="0"/>
                <a:cs typeface="Arial" pitchFamily="34" charset="0"/>
              </a:defRPr>
            </a:lvl1pPr>
            <a:lvl2pPr>
              <a:defRPr sz="2400">
                <a:latin typeface="Arial" pitchFamily="34" charset="0"/>
                <a:cs typeface="Arial" pitchFamily="34" charset="0"/>
              </a:defRPr>
            </a:lvl2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lvl1pPr>
              <a:defRPr smtClean="0"/>
            </a:lvl1pPr>
          </a:lstStyle>
          <a:p>
            <a:pPr>
              <a:defRPr/>
            </a:pPr>
            <a:fld id="{8D643160-CDE8-4A34-849D-26821F4A90A0}" type="datetime1">
              <a:rPr lang="en-US" smtClean="0"/>
              <a:t>9/30/2020</a:t>
            </a:fld>
            <a:endParaRPr lang="en-US"/>
          </a:p>
        </p:txBody>
      </p:sp>
      <p:sp>
        <p:nvSpPr>
          <p:cNvPr id="5" name="Footer Placeholder 4"/>
          <p:cNvSpPr>
            <a:spLocks noGrp="1"/>
          </p:cNvSpPr>
          <p:nvPr>
            <p:ph type="ftr" sz="quarter" idx="11"/>
          </p:nvPr>
        </p:nvSpPr>
        <p:spPr>
          <a:xfrm>
            <a:off x="1600200" y="6248400"/>
            <a:ext cx="5029200" cy="457200"/>
          </a:xfrm>
        </p:spPr>
        <p:txBody>
          <a:bodyPr/>
          <a:lstStyle>
            <a:lvl1pPr>
              <a:defRPr smtClean="0"/>
            </a:lvl1pPr>
          </a:lstStyle>
          <a:p>
            <a:pPr>
              <a:defRPr/>
            </a:pPr>
            <a:r>
              <a:rPr lang="en-US" smtClean="0"/>
              <a:t>Options, Futures, and Other Derivatives, 11th  Edition, Copyright © John  C. Hull 2021</a:t>
            </a:r>
            <a:endParaRPr lang="en-US"/>
          </a:p>
        </p:txBody>
      </p:sp>
      <p:sp>
        <p:nvSpPr>
          <p:cNvPr id="6" name="Slide Number Placeholder 5"/>
          <p:cNvSpPr>
            <a:spLocks noGrp="1"/>
          </p:cNvSpPr>
          <p:nvPr>
            <p:ph type="sldNum" sz="quarter" idx="12"/>
          </p:nvPr>
        </p:nvSpPr>
        <p:spPr/>
        <p:txBody>
          <a:bodyPr/>
          <a:lstStyle>
            <a:lvl1pPr>
              <a:defRPr/>
            </a:lvl1pPr>
          </a:lstStyle>
          <a:p>
            <a:pPr>
              <a:defRPr/>
            </a:pPr>
            <a:fld id="{C2B7BA4A-D15B-495A-9EC2-8B9FCAE2110E}" type="slidenum">
              <a:rPr lang="en-US"/>
              <a:pPr>
                <a:defRPr/>
              </a:pPr>
              <a:t>‹#›</a:t>
            </a:fld>
            <a:endParaRPr lang="en-US"/>
          </a:p>
        </p:txBody>
      </p:sp>
    </p:spTree>
    <p:extLst>
      <p:ext uri="{BB962C8B-B14F-4D97-AF65-F5344CB8AC3E}">
        <p14:creationId xmlns:p14="http://schemas.microsoft.com/office/powerpoint/2010/main" val="4457755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B53288AA-59CA-43D0-842D-C3D052749EB0}" type="datetime1">
              <a:rPr lang="en-US" smtClean="0"/>
              <a:t>9/30/2020</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smtClean="0"/>
              <a:t>Options, Futures, and Other Derivatives, 11th  Edition, Copyright © John  C. Hull 2021</a:t>
            </a: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D24B7547-4AE6-479B-8BA8-68048EB7CC02}" type="slidenum">
              <a:rPr lang="en-US"/>
              <a:pPr>
                <a:defRPr/>
              </a:pPr>
              <a:t>‹#›</a:t>
            </a:fld>
            <a:endParaRPr lang="en-US"/>
          </a:p>
        </p:txBody>
      </p:sp>
    </p:spTree>
    <p:extLst>
      <p:ext uri="{BB962C8B-B14F-4D97-AF65-F5344CB8AC3E}">
        <p14:creationId xmlns:p14="http://schemas.microsoft.com/office/powerpoint/2010/main" val="14433002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2147888"/>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2147888"/>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fld id="{9FDC05CD-C73F-470C-B62E-BFB2E5423F85}" type="datetime1">
              <a:rPr lang="en-US" smtClean="0"/>
              <a:t>9/30/2020</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smtClean="0"/>
              <a:t>Options, Futures, and Other Derivatives, 11th  Edition, Copyright © John  C. Hull 2021</a:t>
            </a: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D7C95E37-803B-4633-B7E7-654EF9141D34}" type="slidenum">
              <a:rPr lang="en-US"/>
              <a:pPr>
                <a:defRPr/>
              </a:pPr>
              <a:t>‹#›</a:t>
            </a:fld>
            <a:endParaRPr lang="en-US"/>
          </a:p>
        </p:txBody>
      </p:sp>
    </p:spTree>
    <p:extLst>
      <p:ext uri="{BB962C8B-B14F-4D97-AF65-F5344CB8AC3E}">
        <p14:creationId xmlns:p14="http://schemas.microsoft.com/office/powerpoint/2010/main" val="32652068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fld id="{C2CFC32F-8481-46AA-97D5-86F571790EAA}" type="datetime1">
              <a:rPr lang="en-US" smtClean="0"/>
              <a:t>9/30/2020</a:t>
            </a:fld>
            <a:endParaRPr lang="en-US"/>
          </a:p>
        </p:txBody>
      </p:sp>
      <p:sp>
        <p:nvSpPr>
          <p:cNvPr id="8" name="Rectangle 5"/>
          <p:cNvSpPr>
            <a:spLocks noGrp="1" noChangeArrowheads="1"/>
          </p:cNvSpPr>
          <p:nvPr>
            <p:ph type="ftr" sz="quarter" idx="11"/>
          </p:nvPr>
        </p:nvSpPr>
        <p:spPr>
          <a:ln/>
        </p:spPr>
        <p:txBody>
          <a:bodyPr/>
          <a:lstStyle>
            <a:lvl1pPr>
              <a:defRPr/>
            </a:lvl1pPr>
          </a:lstStyle>
          <a:p>
            <a:pPr>
              <a:defRPr/>
            </a:pPr>
            <a:r>
              <a:rPr lang="en-US" smtClean="0"/>
              <a:t>Options, Futures, and Other Derivatives, 11th  Edition, Copyright © John  C. Hull 2021</a:t>
            </a: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2889393F-5FA3-49F7-925C-2C6868528685}" type="slidenum">
              <a:rPr lang="en-US"/>
              <a:pPr>
                <a:defRPr/>
              </a:pPr>
              <a:t>‹#›</a:t>
            </a:fld>
            <a:endParaRPr lang="en-US"/>
          </a:p>
        </p:txBody>
      </p:sp>
    </p:spTree>
    <p:extLst>
      <p:ext uri="{BB962C8B-B14F-4D97-AF65-F5344CB8AC3E}">
        <p14:creationId xmlns:p14="http://schemas.microsoft.com/office/powerpoint/2010/main" val="8559079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smtClean="0"/>
            </a:lvl1pPr>
          </a:lstStyle>
          <a:p>
            <a:pPr>
              <a:defRPr/>
            </a:pPr>
            <a:fld id="{883B2989-13F8-4F2A-A963-6CEF4FF9D3A7}" type="datetime1">
              <a:rPr lang="en-US" smtClean="0"/>
              <a:t>9/30/2020</a:t>
            </a:fld>
            <a:endParaRPr lang="en-US"/>
          </a:p>
        </p:txBody>
      </p:sp>
      <p:sp>
        <p:nvSpPr>
          <p:cNvPr id="4" name="Footer Placeholder 3"/>
          <p:cNvSpPr>
            <a:spLocks noGrp="1"/>
          </p:cNvSpPr>
          <p:nvPr>
            <p:ph type="ftr" sz="quarter" idx="11"/>
          </p:nvPr>
        </p:nvSpPr>
        <p:spPr>
          <a:xfrm>
            <a:off x="2133600" y="6324600"/>
            <a:ext cx="4800600" cy="457200"/>
          </a:xfrm>
        </p:spPr>
        <p:txBody>
          <a:bodyPr/>
          <a:lstStyle>
            <a:lvl1pPr>
              <a:defRPr smtClean="0"/>
            </a:lvl1pPr>
          </a:lstStyle>
          <a:p>
            <a:pPr>
              <a:defRPr/>
            </a:pPr>
            <a:r>
              <a:rPr lang="en-US" smtClean="0"/>
              <a:t>Options, Futures, and Other Derivatives, 11th  Edition, Copyright © John  C. Hull 2021</a:t>
            </a:r>
            <a:endParaRPr lang="en-US"/>
          </a:p>
        </p:txBody>
      </p:sp>
      <p:sp>
        <p:nvSpPr>
          <p:cNvPr id="5" name="Slide Number Placeholder 4"/>
          <p:cNvSpPr>
            <a:spLocks noGrp="1"/>
          </p:cNvSpPr>
          <p:nvPr>
            <p:ph type="sldNum" sz="quarter" idx="12"/>
          </p:nvPr>
        </p:nvSpPr>
        <p:spPr/>
        <p:txBody>
          <a:bodyPr/>
          <a:lstStyle>
            <a:lvl1pPr>
              <a:defRPr/>
            </a:lvl1pPr>
          </a:lstStyle>
          <a:p>
            <a:pPr>
              <a:defRPr/>
            </a:pPr>
            <a:fld id="{3816CCCE-A774-43C1-992A-1B91D8DEEC27}" type="slidenum">
              <a:rPr lang="en-US"/>
              <a:pPr>
                <a:defRPr/>
              </a:pPr>
              <a:t>‹#›</a:t>
            </a:fld>
            <a:endParaRPr lang="en-US"/>
          </a:p>
        </p:txBody>
      </p:sp>
    </p:spTree>
    <p:extLst>
      <p:ext uri="{BB962C8B-B14F-4D97-AF65-F5344CB8AC3E}">
        <p14:creationId xmlns:p14="http://schemas.microsoft.com/office/powerpoint/2010/main" val="32654606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3230D355-9F7A-49DC-8E3F-6D7840A7EA2E}" type="datetime1">
              <a:rPr lang="en-US" smtClean="0"/>
              <a:t>9/30/2020</a:t>
            </a:fld>
            <a:endParaRPr lang="en-US"/>
          </a:p>
        </p:txBody>
      </p:sp>
      <p:sp>
        <p:nvSpPr>
          <p:cNvPr id="3" name="Rectangle 5"/>
          <p:cNvSpPr>
            <a:spLocks noGrp="1" noChangeArrowheads="1"/>
          </p:cNvSpPr>
          <p:nvPr>
            <p:ph type="ftr" sz="quarter" idx="11"/>
          </p:nvPr>
        </p:nvSpPr>
        <p:spPr>
          <a:ln/>
        </p:spPr>
        <p:txBody>
          <a:bodyPr/>
          <a:lstStyle>
            <a:lvl1pPr>
              <a:defRPr/>
            </a:lvl1pPr>
          </a:lstStyle>
          <a:p>
            <a:pPr>
              <a:defRPr/>
            </a:pPr>
            <a:r>
              <a:rPr lang="en-US" smtClean="0"/>
              <a:t>Options, Futures, and Other Derivatives, 11th  Edition, Copyright © John  C. Hull 2021</a:t>
            </a: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EEDABE8A-A8F2-44E2-9776-A44A0ECA384A}" type="slidenum">
              <a:rPr lang="en-US"/>
              <a:pPr>
                <a:defRPr/>
              </a:pPr>
              <a:t>‹#›</a:t>
            </a:fld>
            <a:endParaRPr lang="en-US"/>
          </a:p>
        </p:txBody>
      </p:sp>
    </p:spTree>
    <p:extLst>
      <p:ext uri="{BB962C8B-B14F-4D97-AF65-F5344CB8AC3E}">
        <p14:creationId xmlns:p14="http://schemas.microsoft.com/office/powerpoint/2010/main" val="17741959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2D43F0FE-CC13-4084-9F69-D1DECA4DB6F1}" type="datetime1">
              <a:rPr lang="en-US" smtClean="0"/>
              <a:t>9/30/2020</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smtClean="0"/>
              <a:t>Options, Futures, and Other Derivatives, 11th  Edition, Copyright © John  C. Hull 2021</a:t>
            </a: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44F9C99B-551F-4E0B-8562-BCD08E635D10}" type="slidenum">
              <a:rPr lang="en-US"/>
              <a:pPr>
                <a:defRPr/>
              </a:pPr>
              <a:t>‹#›</a:t>
            </a:fld>
            <a:endParaRPr lang="en-US"/>
          </a:p>
        </p:txBody>
      </p:sp>
    </p:spTree>
    <p:extLst>
      <p:ext uri="{BB962C8B-B14F-4D97-AF65-F5344CB8AC3E}">
        <p14:creationId xmlns:p14="http://schemas.microsoft.com/office/powerpoint/2010/main" val="1603415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8B05D7BD-1DBF-4E92-93F3-AE9F9732EEEF}" type="datetime1">
              <a:rPr lang="en-US" smtClean="0"/>
              <a:t>9/30/2020</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smtClean="0"/>
              <a:t>Options, Futures, and Other Derivatives, 11th  Edition, Copyright © John  C. Hull 2021</a:t>
            </a: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EC851FC5-B78B-435A-8193-50E4CB650DEF}" type="slidenum">
              <a:rPr lang="en-US"/>
              <a:pPr>
                <a:defRPr/>
              </a:pPr>
              <a:t>‹#›</a:t>
            </a:fld>
            <a:endParaRPr lang="en-US"/>
          </a:p>
        </p:txBody>
      </p:sp>
    </p:spTree>
    <p:extLst>
      <p:ext uri="{BB962C8B-B14F-4D97-AF65-F5344CB8AC3E}">
        <p14:creationId xmlns:p14="http://schemas.microsoft.com/office/powerpoint/2010/main" val="35518637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fld id="{50DC831F-EB51-447D-A217-E3D02B49E9A0}" type="datetime1">
              <a:rPr lang="en-US" smtClean="0"/>
              <a:t>9/30/2020</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smtClean="0"/>
              <a:t>Options, Futures, and Other Derivatives, 11th  Edition, Copyright © John  C. Hull 2021</a:t>
            </a: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AEFF1FEB-A68A-4506-87CE-8AEE88984B8C}" type="slidenum">
              <a:rPr lang="en-US"/>
              <a:pPr>
                <a:defRPr/>
              </a:pPr>
              <a:t>‹#›</a:t>
            </a:fld>
            <a:endParaRPr lang="en-US"/>
          </a:p>
        </p:txBody>
      </p:sp>
    </p:spTree>
    <p:extLst>
      <p:ext uri="{BB962C8B-B14F-4D97-AF65-F5344CB8AC3E}">
        <p14:creationId xmlns:p14="http://schemas.microsoft.com/office/powerpoint/2010/main" val="38002188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05563" y="930275"/>
            <a:ext cx="2052637" cy="533241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246063" y="930275"/>
            <a:ext cx="6007100" cy="533241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fld id="{C3007A50-9CCD-4D8B-B110-EE1751593B0A}" type="datetime1">
              <a:rPr lang="en-US" smtClean="0"/>
              <a:t>9/30/2020</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smtClean="0"/>
              <a:t>Options, Futures, and Other Derivatives, 11th  Edition, Copyright © John  C. Hull 2021</a:t>
            </a: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51E11A5E-E352-4A07-8E2E-7E5DE7E09D65}" type="slidenum">
              <a:rPr lang="en-US"/>
              <a:pPr>
                <a:defRPr/>
              </a:pPr>
              <a:t>‹#›</a:t>
            </a:fld>
            <a:endParaRPr lang="en-US"/>
          </a:p>
        </p:txBody>
      </p:sp>
    </p:spTree>
    <p:extLst>
      <p:ext uri="{BB962C8B-B14F-4D97-AF65-F5344CB8AC3E}">
        <p14:creationId xmlns:p14="http://schemas.microsoft.com/office/powerpoint/2010/main" val="34866522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719263"/>
            <a:ext cx="4038600" cy="441166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719263"/>
            <a:ext cx="4038600" cy="441166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457200" y="6248400"/>
            <a:ext cx="2133600" cy="457200"/>
          </a:xfrm>
        </p:spPr>
        <p:txBody>
          <a:bodyPr/>
          <a:lstStyle>
            <a:lvl1pPr>
              <a:defRPr smtClean="0"/>
            </a:lvl1pPr>
          </a:lstStyle>
          <a:p>
            <a:pPr>
              <a:defRPr/>
            </a:pPr>
            <a:fld id="{2A1C7BED-CF49-4026-BDAC-B3D2E6CA7D60}" type="datetime1">
              <a:rPr lang="en-US" altLang="en-US" smtClean="0"/>
              <a:t>9/30/2020</a:t>
            </a:fld>
            <a:endParaRPr lang="en-US" altLang="en-US"/>
          </a:p>
        </p:txBody>
      </p:sp>
      <p:sp>
        <p:nvSpPr>
          <p:cNvPr id="6" name="Footer Placeholder 5"/>
          <p:cNvSpPr>
            <a:spLocks noGrp="1"/>
          </p:cNvSpPr>
          <p:nvPr>
            <p:ph type="ftr" sz="quarter" idx="11"/>
          </p:nvPr>
        </p:nvSpPr>
        <p:spPr>
          <a:xfrm>
            <a:off x="250825" y="6248400"/>
            <a:ext cx="7561263" cy="457200"/>
          </a:xfrm>
        </p:spPr>
        <p:txBody>
          <a:bodyPr/>
          <a:lstStyle>
            <a:lvl1pPr>
              <a:defRPr smtClean="0"/>
            </a:lvl1pPr>
          </a:lstStyle>
          <a:p>
            <a:pPr>
              <a:defRPr/>
            </a:pPr>
            <a:r>
              <a:rPr lang="en-US" altLang="en-US" smtClean="0"/>
              <a:t>Options, Futures, and Other Derivatives, 11th  Edition, Copyright © John  C. Hull 2021</a:t>
            </a:r>
            <a:endParaRPr lang="en-US" altLang="en-US"/>
          </a:p>
        </p:txBody>
      </p:sp>
      <p:sp>
        <p:nvSpPr>
          <p:cNvPr id="7" name="Slide Number Placeholder 6"/>
          <p:cNvSpPr>
            <a:spLocks noGrp="1"/>
          </p:cNvSpPr>
          <p:nvPr>
            <p:ph type="sldNum" sz="quarter" idx="12"/>
          </p:nvPr>
        </p:nvSpPr>
        <p:spPr>
          <a:xfrm>
            <a:off x="6553200" y="6248400"/>
            <a:ext cx="2133600" cy="457200"/>
          </a:xfrm>
        </p:spPr>
        <p:txBody>
          <a:bodyPr/>
          <a:lstStyle>
            <a:lvl1pPr>
              <a:defRPr/>
            </a:lvl1pPr>
          </a:lstStyle>
          <a:p>
            <a:pPr>
              <a:defRPr/>
            </a:pPr>
            <a:fld id="{6D74AE73-8CAE-4DB5-910B-838680D5E0AF}" type="slidenum">
              <a:rPr lang="en-US" altLang="en-US"/>
              <a:pPr>
                <a:defRPr/>
              </a:pPr>
              <a:t>‹#›</a:t>
            </a:fld>
            <a:endParaRPr lang="en-US" altLang="en-US"/>
          </a:p>
        </p:txBody>
      </p:sp>
    </p:spTree>
    <p:extLst>
      <p:ext uri="{BB962C8B-B14F-4D97-AF65-F5344CB8AC3E}">
        <p14:creationId xmlns:p14="http://schemas.microsoft.com/office/powerpoint/2010/main" val="42324060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7543800" cy="12954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719263"/>
            <a:ext cx="4038600" cy="441166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719263"/>
            <a:ext cx="4038600" cy="212883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648200" y="4000500"/>
            <a:ext cx="4038600" cy="21304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Date Placeholder 5"/>
          <p:cNvSpPr>
            <a:spLocks noGrp="1"/>
          </p:cNvSpPr>
          <p:nvPr>
            <p:ph type="dt" sz="half" idx="10"/>
          </p:nvPr>
        </p:nvSpPr>
        <p:spPr>
          <a:xfrm>
            <a:off x="457200" y="6248400"/>
            <a:ext cx="2133600" cy="457200"/>
          </a:xfrm>
        </p:spPr>
        <p:txBody>
          <a:bodyPr/>
          <a:lstStyle>
            <a:lvl1pPr>
              <a:defRPr smtClean="0"/>
            </a:lvl1pPr>
          </a:lstStyle>
          <a:p>
            <a:pPr>
              <a:defRPr/>
            </a:pPr>
            <a:fld id="{CA1C567D-450E-4451-9596-DD2B2AD3EFA0}" type="datetime1">
              <a:rPr lang="en-US" smtClean="0"/>
              <a:t>9/30/2020</a:t>
            </a:fld>
            <a:endParaRPr lang="en-US"/>
          </a:p>
        </p:txBody>
      </p:sp>
      <p:sp>
        <p:nvSpPr>
          <p:cNvPr id="7" name="Footer Placeholder 6"/>
          <p:cNvSpPr>
            <a:spLocks noGrp="1"/>
          </p:cNvSpPr>
          <p:nvPr>
            <p:ph type="ftr" sz="quarter" idx="11"/>
          </p:nvPr>
        </p:nvSpPr>
        <p:spPr>
          <a:xfrm>
            <a:off x="250825" y="6248400"/>
            <a:ext cx="7561263" cy="457200"/>
          </a:xfrm>
        </p:spPr>
        <p:txBody>
          <a:bodyPr/>
          <a:lstStyle>
            <a:lvl1pPr>
              <a:defRPr smtClean="0"/>
            </a:lvl1pPr>
          </a:lstStyle>
          <a:p>
            <a:pPr>
              <a:defRPr/>
            </a:pPr>
            <a:r>
              <a:rPr lang="en-US" smtClean="0"/>
              <a:t>Options, Futures, and Other Derivatives, 11th  Edition, Copyright © John  C. Hull 2021</a:t>
            </a:r>
            <a:endParaRPr lang="en-US"/>
          </a:p>
        </p:txBody>
      </p:sp>
      <p:sp>
        <p:nvSpPr>
          <p:cNvPr id="8" name="Slide Number Placeholder 7"/>
          <p:cNvSpPr>
            <a:spLocks noGrp="1"/>
          </p:cNvSpPr>
          <p:nvPr>
            <p:ph type="sldNum" sz="quarter" idx="12"/>
          </p:nvPr>
        </p:nvSpPr>
        <p:spPr>
          <a:xfrm>
            <a:off x="6553200" y="6248400"/>
            <a:ext cx="2133600" cy="457200"/>
          </a:xfrm>
        </p:spPr>
        <p:txBody>
          <a:bodyPr/>
          <a:lstStyle>
            <a:lvl1pPr>
              <a:defRPr/>
            </a:lvl1pPr>
          </a:lstStyle>
          <a:p>
            <a:pPr>
              <a:defRPr/>
            </a:pPr>
            <a:fld id="{8EF135E5-AEA9-42CB-96FD-FF020BADA350}" type="slidenum">
              <a:rPr lang="en-US"/>
              <a:pPr>
                <a:defRPr/>
              </a:pPr>
              <a:t>‹#›</a:t>
            </a:fld>
            <a:endParaRPr lang="en-US"/>
          </a:p>
        </p:txBody>
      </p:sp>
    </p:spTree>
    <p:extLst>
      <p:ext uri="{BB962C8B-B14F-4D97-AF65-F5344CB8AC3E}">
        <p14:creationId xmlns:p14="http://schemas.microsoft.com/office/powerpoint/2010/main" val="11846502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2"/>
            </a:gs>
            <a:gs pos="50000">
              <a:schemeClr val="bg1"/>
            </a:gs>
            <a:gs pos="100000">
              <a:schemeClr val="bg2"/>
            </a:gs>
          </a:gsLst>
          <a:lin ang="2700000" scaled="1"/>
        </a:gra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46063" y="930275"/>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685800" y="2147888"/>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4100" name="Rectangle 4"/>
          <p:cNvSpPr>
            <a:spLocks noGrp="1" noChangeArrowheads="1"/>
          </p:cNvSpPr>
          <p:nvPr>
            <p:ph type="dt" sz="half" idx="2"/>
          </p:nvPr>
        </p:nvSpPr>
        <p:spPr bwMode="auto">
          <a:xfrm>
            <a:off x="6858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400" smtClean="0"/>
            </a:lvl1pPr>
          </a:lstStyle>
          <a:p>
            <a:pPr>
              <a:defRPr/>
            </a:pPr>
            <a:fld id="{041E6064-2D2B-4568-976E-40F10C715E0D}" type="datetime1">
              <a:rPr lang="en-US" smtClean="0"/>
              <a:t>9/30/2020</a:t>
            </a:fld>
            <a:endParaRPr lang="en-US"/>
          </a:p>
        </p:txBody>
      </p:sp>
      <p:sp>
        <p:nvSpPr>
          <p:cNvPr id="4101" name="Rectangle 5"/>
          <p:cNvSpPr>
            <a:spLocks noGrp="1" noChangeArrowheads="1"/>
          </p:cNvSpPr>
          <p:nvPr>
            <p:ph type="ftr" sz="quarter" idx="3"/>
          </p:nvPr>
        </p:nvSpPr>
        <p:spPr bwMode="auto">
          <a:xfrm>
            <a:off x="2667000" y="6324600"/>
            <a:ext cx="4419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400" smtClean="0"/>
            </a:lvl1pPr>
          </a:lstStyle>
          <a:p>
            <a:pPr>
              <a:defRPr/>
            </a:pPr>
            <a:r>
              <a:rPr lang="en-US" smtClean="0"/>
              <a:t>Options, Futures, and Other Derivatives, 11th  Edition, Copyright © John  C. Hull 2021</a:t>
            </a:r>
            <a:endParaRPr lang="en-US"/>
          </a:p>
        </p:txBody>
      </p:sp>
      <p:sp>
        <p:nvSpPr>
          <p:cNvPr id="4102" name="Rectangle 6"/>
          <p:cNvSpPr>
            <a:spLocks noGrp="1" noChangeArrowheads="1"/>
          </p:cNvSpPr>
          <p:nvPr>
            <p:ph type="sldNum" sz="quarter" idx="4"/>
          </p:nvPr>
        </p:nvSpPr>
        <p:spPr bwMode="auto">
          <a:xfrm>
            <a:off x="6553200" y="63246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400"/>
            </a:lvl1pPr>
          </a:lstStyle>
          <a:p>
            <a:pPr>
              <a:defRPr/>
            </a:pPr>
            <a:fld id="{2C6BA7E7-A45D-4D40-B1B5-ABE09D25A6C8}" type="slidenum">
              <a:rPr lang="en-US"/>
              <a:pPr>
                <a:defRPr/>
              </a:pPr>
              <a:t>‹#›</a:t>
            </a:fld>
            <a:endParaRPr lang="en-US"/>
          </a:p>
        </p:txBody>
      </p:sp>
      <p:grpSp>
        <p:nvGrpSpPr>
          <p:cNvPr id="1031" name="Group 7"/>
          <p:cNvGrpSpPr>
            <a:grpSpLocks/>
          </p:cNvGrpSpPr>
          <p:nvPr/>
        </p:nvGrpSpPr>
        <p:grpSpPr bwMode="auto">
          <a:xfrm>
            <a:off x="261938" y="87313"/>
            <a:ext cx="8488362" cy="831850"/>
            <a:chOff x="165" y="55"/>
            <a:chExt cx="5347" cy="524"/>
          </a:xfrm>
        </p:grpSpPr>
        <p:grpSp>
          <p:nvGrpSpPr>
            <p:cNvPr id="1032" name="Group 8"/>
            <p:cNvGrpSpPr>
              <a:grpSpLocks/>
            </p:cNvGrpSpPr>
            <p:nvPr userDrawn="1"/>
          </p:nvGrpSpPr>
          <p:grpSpPr bwMode="auto">
            <a:xfrm>
              <a:off x="664" y="104"/>
              <a:ext cx="4848" cy="432"/>
              <a:chOff x="664" y="104"/>
              <a:chExt cx="4848" cy="432"/>
            </a:xfrm>
          </p:grpSpPr>
          <p:sp>
            <p:nvSpPr>
              <p:cNvPr id="1034" name="Freeform 9"/>
              <p:cNvSpPr>
                <a:spLocks/>
              </p:cNvSpPr>
              <p:nvPr/>
            </p:nvSpPr>
            <p:spPr bwMode="ltGray">
              <a:xfrm>
                <a:off x="664" y="104"/>
                <a:ext cx="4848" cy="432"/>
              </a:xfrm>
              <a:custGeom>
                <a:avLst/>
                <a:gdLst>
                  <a:gd name="T0" fmla="*/ 4848 w 4848"/>
                  <a:gd name="T1" fmla="*/ 48 h 432"/>
                  <a:gd name="T2" fmla="*/ 4848 w 4848"/>
                  <a:gd name="T3" fmla="*/ 432 h 432"/>
                  <a:gd name="T4" fmla="*/ 0 w 4848"/>
                  <a:gd name="T5" fmla="*/ 432 h 432"/>
                  <a:gd name="T6" fmla="*/ 0 w 4848"/>
                  <a:gd name="T7" fmla="*/ 0 h 432"/>
                  <a:gd name="T8" fmla="*/ 4848 w 4848"/>
                  <a:gd name="T9" fmla="*/ 0 h 432"/>
                  <a:gd name="T10" fmla="*/ 4848 w 4848"/>
                  <a:gd name="T11" fmla="*/ 48 h 4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848" h="432">
                    <a:moveTo>
                      <a:pt x="4848" y="48"/>
                    </a:moveTo>
                    <a:lnTo>
                      <a:pt x="4848" y="432"/>
                    </a:lnTo>
                    <a:cubicBezTo>
                      <a:pt x="4848" y="432"/>
                      <a:pt x="2424" y="432"/>
                      <a:pt x="0" y="432"/>
                    </a:cubicBezTo>
                    <a:cubicBezTo>
                      <a:pt x="161" y="345"/>
                      <a:pt x="169" y="61"/>
                      <a:pt x="0" y="0"/>
                    </a:cubicBezTo>
                    <a:cubicBezTo>
                      <a:pt x="2424" y="0"/>
                      <a:pt x="4848" y="0"/>
                      <a:pt x="4848" y="0"/>
                    </a:cubicBezTo>
                    <a:lnTo>
                      <a:pt x="4848" y="48"/>
                    </a:lnTo>
                    <a:close/>
                  </a:path>
                </a:pathLst>
              </a:custGeom>
              <a:solidFill>
                <a:schemeClr val="hlink"/>
              </a:solidFill>
              <a:ln w="9525">
                <a:solidFill>
                  <a:schemeClr val="bg2"/>
                </a:solidFill>
                <a:round/>
                <a:headEnd/>
                <a:tailEnd/>
              </a:ln>
            </p:spPr>
            <p:txBody>
              <a:bodyPr wrap="none" anchor="ctr"/>
              <a:lstStyle/>
              <a:p>
                <a:endParaRPr lang="en-US"/>
              </a:p>
            </p:txBody>
          </p:sp>
          <p:grpSp>
            <p:nvGrpSpPr>
              <p:cNvPr id="1035" name="Group 10"/>
              <p:cNvGrpSpPr>
                <a:grpSpLocks/>
              </p:cNvGrpSpPr>
              <p:nvPr/>
            </p:nvGrpSpPr>
            <p:grpSpPr bwMode="auto">
              <a:xfrm>
                <a:off x="1195" y="104"/>
                <a:ext cx="3827" cy="429"/>
                <a:chOff x="1021" y="240"/>
                <a:chExt cx="3827" cy="429"/>
              </a:xfrm>
            </p:grpSpPr>
            <p:grpSp>
              <p:nvGrpSpPr>
                <p:cNvPr id="1084" name="Group 11"/>
                <p:cNvGrpSpPr>
                  <a:grpSpLocks/>
                </p:cNvGrpSpPr>
                <p:nvPr/>
              </p:nvGrpSpPr>
              <p:grpSpPr bwMode="auto">
                <a:xfrm>
                  <a:off x="1021" y="241"/>
                  <a:ext cx="2208" cy="427"/>
                  <a:chOff x="1021" y="241"/>
                  <a:chExt cx="2208" cy="427"/>
                </a:xfrm>
              </p:grpSpPr>
              <p:sp>
                <p:nvSpPr>
                  <p:cNvPr id="1128" name="Freeform 12"/>
                  <p:cNvSpPr>
                    <a:spLocks/>
                  </p:cNvSpPr>
                  <p:nvPr/>
                </p:nvSpPr>
                <p:spPr bwMode="ltGray">
                  <a:xfrm>
                    <a:off x="2257" y="633"/>
                    <a:ext cx="7" cy="8"/>
                  </a:xfrm>
                  <a:custGeom>
                    <a:avLst/>
                    <a:gdLst>
                      <a:gd name="T0" fmla="*/ 5 w 15"/>
                      <a:gd name="T1" fmla="*/ 11 h 23"/>
                      <a:gd name="T2" fmla="*/ 15 w 15"/>
                      <a:gd name="T3" fmla="*/ 5 h 23"/>
                      <a:gd name="T4" fmla="*/ 13 w 15"/>
                      <a:gd name="T5" fmla="*/ 17 h 23"/>
                      <a:gd name="T6" fmla="*/ 5 w 15"/>
                      <a:gd name="T7" fmla="*/ 11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 h="23">
                        <a:moveTo>
                          <a:pt x="5" y="11"/>
                        </a:moveTo>
                        <a:cubicBezTo>
                          <a:pt x="2" y="1"/>
                          <a:pt x="7" y="0"/>
                          <a:pt x="15" y="5"/>
                        </a:cubicBezTo>
                        <a:cubicBezTo>
                          <a:pt x="14" y="9"/>
                          <a:pt x="15" y="13"/>
                          <a:pt x="13" y="17"/>
                        </a:cubicBezTo>
                        <a:cubicBezTo>
                          <a:pt x="9" y="23"/>
                          <a:pt x="0" y="16"/>
                          <a:pt x="5"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9" name="Freeform 13"/>
                  <p:cNvSpPr>
                    <a:spLocks/>
                  </p:cNvSpPr>
                  <p:nvPr/>
                </p:nvSpPr>
                <p:spPr bwMode="ltGray">
                  <a:xfrm>
                    <a:off x="2332" y="660"/>
                    <a:ext cx="9" cy="8"/>
                  </a:xfrm>
                  <a:custGeom>
                    <a:avLst/>
                    <a:gdLst>
                      <a:gd name="T0" fmla="*/ 3 w 20"/>
                      <a:gd name="T1" fmla="*/ 13 h 23"/>
                      <a:gd name="T2" fmla="*/ 11 w 20"/>
                      <a:gd name="T3" fmla="*/ 3 h 23"/>
                      <a:gd name="T4" fmla="*/ 7 w 20"/>
                      <a:gd name="T5" fmla="*/ 19 h 23"/>
                      <a:gd name="T6" fmla="*/ 3 w 20"/>
                      <a:gd name="T7" fmla="*/ 13 h 2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23">
                        <a:moveTo>
                          <a:pt x="3" y="13"/>
                        </a:moveTo>
                        <a:cubicBezTo>
                          <a:pt x="0" y="5"/>
                          <a:pt x="2" y="0"/>
                          <a:pt x="11" y="3"/>
                        </a:cubicBezTo>
                        <a:cubicBezTo>
                          <a:pt x="16" y="10"/>
                          <a:pt x="20" y="23"/>
                          <a:pt x="7" y="19"/>
                        </a:cubicBezTo>
                        <a:cubicBezTo>
                          <a:pt x="6" y="17"/>
                          <a:pt x="3" y="13"/>
                          <a:pt x="3" y="1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0" name="Freeform 14"/>
                  <p:cNvSpPr>
                    <a:spLocks/>
                  </p:cNvSpPr>
                  <p:nvPr/>
                </p:nvSpPr>
                <p:spPr bwMode="ltGray">
                  <a:xfrm>
                    <a:off x="2120" y="616"/>
                    <a:ext cx="13" cy="14"/>
                  </a:xfrm>
                  <a:custGeom>
                    <a:avLst/>
                    <a:gdLst>
                      <a:gd name="T0" fmla="*/ 16 w 30"/>
                      <a:gd name="T1" fmla="*/ 33 h 42"/>
                      <a:gd name="T2" fmla="*/ 8 w 30"/>
                      <a:gd name="T3" fmla="*/ 21 h 42"/>
                      <a:gd name="T4" fmla="*/ 0 w 30"/>
                      <a:gd name="T5" fmla="*/ 9 h 42"/>
                      <a:gd name="T6" fmla="*/ 16 w 30"/>
                      <a:gd name="T7" fmla="*/ 3 h 42"/>
                      <a:gd name="T8" fmla="*/ 30 w 30"/>
                      <a:gd name="T9" fmla="*/ 23 h 42"/>
                      <a:gd name="T10" fmla="*/ 28 w 30"/>
                      <a:gd name="T11" fmla="*/ 31 h 42"/>
                      <a:gd name="T12" fmla="*/ 16 w 30"/>
                      <a:gd name="T13" fmla="*/ 33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1" name="Freeform 15"/>
                  <p:cNvSpPr>
                    <a:spLocks/>
                  </p:cNvSpPr>
                  <p:nvPr/>
                </p:nvSpPr>
                <p:spPr bwMode="ltGray">
                  <a:xfrm>
                    <a:off x="1967" y="629"/>
                    <a:ext cx="11" cy="5"/>
                  </a:xfrm>
                  <a:custGeom>
                    <a:avLst/>
                    <a:gdLst>
                      <a:gd name="T0" fmla="*/ 15 w 25"/>
                      <a:gd name="T1" fmla="*/ 16 h 16"/>
                      <a:gd name="T2" fmla="*/ 3 w 25"/>
                      <a:gd name="T3" fmla="*/ 8 h 16"/>
                      <a:gd name="T4" fmla="*/ 15 w 25"/>
                      <a:gd name="T5" fmla="*/ 0 h 16"/>
                      <a:gd name="T6" fmla="*/ 15 w 25"/>
                      <a:gd name="T7" fmla="*/ 16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2" name="Freeform 16"/>
                  <p:cNvSpPr>
                    <a:spLocks/>
                  </p:cNvSpPr>
                  <p:nvPr/>
                </p:nvSpPr>
                <p:spPr bwMode="ltGray">
                  <a:xfrm>
                    <a:off x="1921" y="635"/>
                    <a:ext cx="28" cy="16"/>
                  </a:xfrm>
                  <a:custGeom>
                    <a:avLst/>
                    <a:gdLst>
                      <a:gd name="T0" fmla="*/ 14 w 65"/>
                      <a:gd name="T1" fmla="*/ 24 h 46"/>
                      <a:gd name="T2" fmla="*/ 30 w 65"/>
                      <a:gd name="T3" fmla="*/ 4 h 46"/>
                      <a:gd name="T4" fmla="*/ 42 w 65"/>
                      <a:gd name="T5" fmla="*/ 0 h 46"/>
                      <a:gd name="T6" fmla="*/ 58 w 65"/>
                      <a:gd name="T7" fmla="*/ 12 h 46"/>
                      <a:gd name="T8" fmla="*/ 32 w 65"/>
                      <a:gd name="T9" fmla="*/ 26 h 46"/>
                      <a:gd name="T10" fmla="*/ 12 w 65"/>
                      <a:gd name="T11" fmla="*/ 46 h 46"/>
                      <a:gd name="T12" fmla="*/ 8 w 65"/>
                      <a:gd name="T13" fmla="*/ 20 h 46"/>
                      <a:gd name="T14" fmla="*/ 12 w 65"/>
                      <a:gd name="T15" fmla="*/ 14 h 46"/>
                      <a:gd name="T16" fmla="*/ 14 w 65"/>
                      <a:gd name="T17" fmla="*/ 24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3" name="Freeform 17"/>
                  <p:cNvSpPr>
                    <a:spLocks/>
                  </p:cNvSpPr>
                  <p:nvPr/>
                </p:nvSpPr>
                <p:spPr bwMode="ltGray">
                  <a:xfrm>
                    <a:off x="1892" y="634"/>
                    <a:ext cx="29" cy="16"/>
                  </a:xfrm>
                  <a:custGeom>
                    <a:avLst/>
                    <a:gdLst>
                      <a:gd name="T0" fmla="*/ 0 w 69"/>
                      <a:gd name="T1" fmla="*/ 31 h 47"/>
                      <a:gd name="T2" fmla="*/ 18 w 69"/>
                      <a:gd name="T3" fmla="*/ 25 h 47"/>
                      <a:gd name="T4" fmla="*/ 52 w 69"/>
                      <a:gd name="T5" fmla="*/ 1 h 47"/>
                      <a:gd name="T6" fmla="*/ 64 w 69"/>
                      <a:gd name="T7" fmla="*/ 3 h 47"/>
                      <a:gd name="T8" fmla="*/ 50 w 69"/>
                      <a:gd name="T9" fmla="*/ 19 h 47"/>
                      <a:gd name="T10" fmla="*/ 28 w 69"/>
                      <a:gd name="T11" fmla="*/ 33 h 47"/>
                      <a:gd name="T12" fmla="*/ 22 w 69"/>
                      <a:gd name="T13" fmla="*/ 47 h 47"/>
                      <a:gd name="T14" fmla="*/ 16 w 69"/>
                      <a:gd name="T15" fmla="*/ 45 h 47"/>
                      <a:gd name="T16" fmla="*/ 12 w 69"/>
                      <a:gd name="T17" fmla="*/ 39 h 47"/>
                      <a:gd name="T18" fmla="*/ 0 w 69"/>
                      <a:gd name="T19" fmla="*/ 35 h 47"/>
                      <a:gd name="T20" fmla="*/ 0 w 69"/>
                      <a:gd name="T21" fmla="*/ 31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4" name="Freeform 18"/>
                  <p:cNvSpPr>
                    <a:spLocks/>
                  </p:cNvSpPr>
                  <p:nvPr/>
                </p:nvSpPr>
                <p:spPr bwMode="ltGray">
                  <a:xfrm>
                    <a:off x="1735" y="547"/>
                    <a:ext cx="151" cy="93"/>
                  </a:xfrm>
                  <a:custGeom>
                    <a:avLst/>
                    <a:gdLst>
                      <a:gd name="T0" fmla="*/ 10 w 355"/>
                      <a:gd name="T1" fmla="*/ 4 h 277"/>
                      <a:gd name="T2" fmla="*/ 36 w 355"/>
                      <a:gd name="T3" fmla="*/ 18 h 277"/>
                      <a:gd name="T4" fmla="*/ 46 w 355"/>
                      <a:gd name="T5" fmla="*/ 30 h 277"/>
                      <a:gd name="T6" fmla="*/ 76 w 355"/>
                      <a:gd name="T7" fmla="*/ 52 h 277"/>
                      <a:gd name="T8" fmla="*/ 92 w 355"/>
                      <a:gd name="T9" fmla="*/ 66 h 277"/>
                      <a:gd name="T10" fmla="*/ 122 w 355"/>
                      <a:gd name="T11" fmla="*/ 98 h 277"/>
                      <a:gd name="T12" fmla="*/ 136 w 355"/>
                      <a:gd name="T13" fmla="*/ 128 h 277"/>
                      <a:gd name="T14" fmla="*/ 148 w 355"/>
                      <a:gd name="T15" fmla="*/ 132 h 277"/>
                      <a:gd name="T16" fmla="*/ 154 w 355"/>
                      <a:gd name="T17" fmla="*/ 150 h 277"/>
                      <a:gd name="T18" fmla="*/ 176 w 355"/>
                      <a:gd name="T19" fmla="*/ 152 h 277"/>
                      <a:gd name="T20" fmla="*/ 170 w 355"/>
                      <a:gd name="T21" fmla="*/ 196 h 277"/>
                      <a:gd name="T22" fmla="*/ 180 w 355"/>
                      <a:gd name="T23" fmla="*/ 224 h 277"/>
                      <a:gd name="T24" fmla="*/ 198 w 355"/>
                      <a:gd name="T25" fmla="*/ 232 h 277"/>
                      <a:gd name="T26" fmla="*/ 216 w 355"/>
                      <a:gd name="T27" fmla="*/ 234 h 277"/>
                      <a:gd name="T28" fmla="*/ 236 w 355"/>
                      <a:gd name="T29" fmla="*/ 242 h 277"/>
                      <a:gd name="T30" fmla="*/ 254 w 355"/>
                      <a:gd name="T31" fmla="*/ 236 h 277"/>
                      <a:gd name="T32" fmla="*/ 272 w 355"/>
                      <a:gd name="T33" fmla="*/ 248 h 277"/>
                      <a:gd name="T34" fmla="*/ 296 w 355"/>
                      <a:gd name="T35" fmla="*/ 256 h 277"/>
                      <a:gd name="T36" fmla="*/ 314 w 355"/>
                      <a:gd name="T37" fmla="*/ 264 h 277"/>
                      <a:gd name="T38" fmla="*/ 352 w 355"/>
                      <a:gd name="T39" fmla="*/ 266 h 277"/>
                      <a:gd name="T40" fmla="*/ 342 w 355"/>
                      <a:gd name="T41" fmla="*/ 274 h 277"/>
                      <a:gd name="T42" fmla="*/ 322 w 355"/>
                      <a:gd name="T43" fmla="*/ 272 h 277"/>
                      <a:gd name="T44" fmla="*/ 300 w 355"/>
                      <a:gd name="T45" fmla="*/ 270 h 277"/>
                      <a:gd name="T46" fmla="*/ 288 w 355"/>
                      <a:gd name="T47" fmla="*/ 266 h 277"/>
                      <a:gd name="T48" fmla="*/ 252 w 355"/>
                      <a:gd name="T49" fmla="*/ 264 h 277"/>
                      <a:gd name="T50" fmla="*/ 234 w 355"/>
                      <a:gd name="T51" fmla="*/ 260 h 277"/>
                      <a:gd name="T52" fmla="*/ 172 w 355"/>
                      <a:gd name="T53" fmla="*/ 242 h 277"/>
                      <a:gd name="T54" fmla="*/ 160 w 355"/>
                      <a:gd name="T55" fmla="*/ 216 h 277"/>
                      <a:gd name="T56" fmla="*/ 126 w 355"/>
                      <a:gd name="T57" fmla="*/ 200 h 277"/>
                      <a:gd name="T58" fmla="*/ 108 w 355"/>
                      <a:gd name="T59" fmla="*/ 186 h 277"/>
                      <a:gd name="T60" fmla="*/ 94 w 355"/>
                      <a:gd name="T61" fmla="*/ 158 h 277"/>
                      <a:gd name="T62" fmla="*/ 68 w 355"/>
                      <a:gd name="T63" fmla="*/ 108 h 277"/>
                      <a:gd name="T64" fmla="*/ 64 w 355"/>
                      <a:gd name="T65" fmla="*/ 102 h 277"/>
                      <a:gd name="T66" fmla="*/ 58 w 355"/>
                      <a:gd name="T67" fmla="*/ 100 h 277"/>
                      <a:gd name="T68" fmla="*/ 54 w 355"/>
                      <a:gd name="T69" fmla="*/ 88 h 277"/>
                      <a:gd name="T70" fmla="*/ 38 w 355"/>
                      <a:gd name="T71" fmla="*/ 58 h 277"/>
                      <a:gd name="T72" fmla="*/ 20 w 355"/>
                      <a:gd name="T73" fmla="*/ 40 h 277"/>
                      <a:gd name="T74" fmla="*/ 4 w 355"/>
                      <a:gd name="T75" fmla="*/ 22 h 277"/>
                      <a:gd name="T76" fmla="*/ 10 w 355"/>
                      <a:gd name="T77" fmla="*/ 2 h 277"/>
                      <a:gd name="T78" fmla="*/ 10 w 355"/>
                      <a:gd name="T79" fmla="*/ 4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5" name="Freeform 19"/>
                  <p:cNvSpPr>
                    <a:spLocks/>
                  </p:cNvSpPr>
                  <p:nvPr/>
                </p:nvSpPr>
                <p:spPr bwMode="ltGray">
                  <a:xfrm>
                    <a:off x="1827" y="541"/>
                    <a:ext cx="67" cy="68"/>
                  </a:xfrm>
                  <a:custGeom>
                    <a:avLst/>
                    <a:gdLst>
                      <a:gd name="T0" fmla="*/ 54 w 156"/>
                      <a:gd name="T1" fmla="*/ 66 h 206"/>
                      <a:gd name="T2" fmla="*/ 66 w 156"/>
                      <a:gd name="T3" fmla="*/ 58 h 206"/>
                      <a:gd name="T4" fmla="*/ 68 w 156"/>
                      <a:gd name="T5" fmla="*/ 52 h 206"/>
                      <a:gd name="T6" fmla="*/ 80 w 156"/>
                      <a:gd name="T7" fmla="*/ 44 h 206"/>
                      <a:gd name="T8" fmla="*/ 106 w 156"/>
                      <a:gd name="T9" fmla="*/ 22 h 206"/>
                      <a:gd name="T10" fmla="*/ 112 w 156"/>
                      <a:gd name="T11" fmla="*/ 4 h 206"/>
                      <a:gd name="T12" fmla="*/ 124 w 156"/>
                      <a:gd name="T13" fmla="*/ 0 h 206"/>
                      <a:gd name="T14" fmla="*/ 150 w 156"/>
                      <a:gd name="T15" fmla="*/ 28 h 206"/>
                      <a:gd name="T16" fmla="*/ 146 w 156"/>
                      <a:gd name="T17" fmla="*/ 44 h 206"/>
                      <a:gd name="T18" fmla="*/ 126 w 156"/>
                      <a:gd name="T19" fmla="*/ 64 h 206"/>
                      <a:gd name="T20" fmla="*/ 132 w 156"/>
                      <a:gd name="T21" fmla="*/ 94 h 206"/>
                      <a:gd name="T22" fmla="*/ 142 w 156"/>
                      <a:gd name="T23" fmla="*/ 110 h 206"/>
                      <a:gd name="T24" fmla="*/ 146 w 156"/>
                      <a:gd name="T25" fmla="*/ 128 h 206"/>
                      <a:gd name="T26" fmla="*/ 128 w 156"/>
                      <a:gd name="T27" fmla="*/ 128 h 206"/>
                      <a:gd name="T28" fmla="*/ 116 w 156"/>
                      <a:gd name="T29" fmla="*/ 146 h 206"/>
                      <a:gd name="T30" fmla="*/ 104 w 156"/>
                      <a:gd name="T31" fmla="*/ 156 h 206"/>
                      <a:gd name="T32" fmla="*/ 100 w 156"/>
                      <a:gd name="T33" fmla="*/ 198 h 206"/>
                      <a:gd name="T34" fmla="*/ 88 w 156"/>
                      <a:gd name="T35" fmla="*/ 202 h 206"/>
                      <a:gd name="T36" fmla="*/ 82 w 156"/>
                      <a:gd name="T37" fmla="*/ 206 h 206"/>
                      <a:gd name="T38" fmla="*/ 76 w 156"/>
                      <a:gd name="T39" fmla="*/ 202 h 206"/>
                      <a:gd name="T40" fmla="*/ 72 w 156"/>
                      <a:gd name="T41" fmla="*/ 190 h 206"/>
                      <a:gd name="T42" fmla="*/ 60 w 156"/>
                      <a:gd name="T43" fmla="*/ 186 h 206"/>
                      <a:gd name="T44" fmla="*/ 42 w 156"/>
                      <a:gd name="T45" fmla="*/ 194 h 206"/>
                      <a:gd name="T46" fmla="*/ 28 w 156"/>
                      <a:gd name="T47" fmla="*/ 186 h 206"/>
                      <a:gd name="T48" fmla="*/ 10 w 156"/>
                      <a:gd name="T49" fmla="*/ 148 h 206"/>
                      <a:gd name="T50" fmla="*/ 4 w 156"/>
                      <a:gd name="T51" fmla="*/ 130 h 206"/>
                      <a:gd name="T52" fmla="*/ 0 w 156"/>
                      <a:gd name="T53" fmla="*/ 118 h 206"/>
                      <a:gd name="T54" fmla="*/ 20 w 156"/>
                      <a:gd name="T55" fmla="*/ 96 h 206"/>
                      <a:gd name="T56" fmla="*/ 32 w 156"/>
                      <a:gd name="T57" fmla="*/ 104 h 206"/>
                      <a:gd name="T58" fmla="*/ 34 w 156"/>
                      <a:gd name="T59" fmla="*/ 80 h 206"/>
                      <a:gd name="T60" fmla="*/ 52 w 156"/>
                      <a:gd name="T61" fmla="*/ 70 h 206"/>
                      <a:gd name="T62" fmla="*/ 54 w 156"/>
                      <a:gd name="T63" fmla="*/ 66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6" name="Freeform 20"/>
                  <p:cNvSpPr>
                    <a:spLocks/>
                  </p:cNvSpPr>
                  <p:nvPr/>
                </p:nvSpPr>
                <p:spPr bwMode="ltGray">
                  <a:xfrm>
                    <a:off x="1892" y="572"/>
                    <a:ext cx="47" cy="13"/>
                  </a:xfrm>
                  <a:custGeom>
                    <a:avLst/>
                    <a:gdLst>
                      <a:gd name="T0" fmla="*/ 4 w 109"/>
                      <a:gd name="T1" fmla="*/ 32 h 38"/>
                      <a:gd name="T2" fmla="*/ 18 w 109"/>
                      <a:gd name="T3" fmla="*/ 10 h 38"/>
                      <a:gd name="T4" fmla="*/ 46 w 109"/>
                      <a:gd name="T5" fmla="*/ 20 h 38"/>
                      <a:gd name="T6" fmla="*/ 72 w 109"/>
                      <a:gd name="T7" fmla="*/ 14 h 38"/>
                      <a:gd name="T8" fmla="*/ 90 w 109"/>
                      <a:gd name="T9" fmla="*/ 0 h 38"/>
                      <a:gd name="T10" fmla="*/ 76 w 109"/>
                      <a:gd name="T11" fmla="*/ 26 h 38"/>
                      <a:gd name="T12" fmla="*/ 60 w 109"/>
                      <a:gd name="T13" fmla="*/ 38 h 38"/>
                      <a:gd name="T14" fmla="*/ 42 w 109"/>
                      <a:gd name="T15" fmla="*/ 32 h 38"/>
                      <a:gd name="T16" fmla="*/ 14 w 109"/>
                      <a:gd name="T17" fmla="*/ 30 h 38"/>
                      <a:gd name="T18" fmla="*/ 4 w 109"/>
                      <a:gd name="T19" fmla="*/ 32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7" name="Freeform 21"/>
                  <p:cNvSpPr>
                    <a:spLocks/>
                  </p:cNvSpPr>
                  <p:nvPr/>
                </p:nvSpPr>
                <p:spPr bwMode="ltGray">
                  <a:xfrm>
                    <a:off x="1890" y="588"/>
                    <a:ext cx="32" cy="34"/>
                  </a:xfrm>
                  <a:custGeom>
                    <a:avLst/>
                    <a:gdLst>
                      <a:gd name="T0" fmla="*/ 8 w 76"/>
                      <a:gd name="T1" fmla="*/ 18 h 104"/>
                      <a:gd name="T2" fmla="*/ 18 w 76"/>
                      <a:gd name="T3" fmla="*/ 0 h 104"/>
                      <a:gd name="T4" fmla="*/ 34 w 76"/>
                      <a:gd name="T5" fmla="*/ 18 h 104"/>
                      <a:gd name="T6" fmla="*/ 62 w 76"/>
                      <a:gd name="T7" fmla="*/ 4 h 104"/>
                      <a:gd name="T8" fmla="*/ 46 w 76"/>
                      <a:gd name="T9" fmla="*/ 34 h 104"/>
                      <a:gd name="T10" fmla="*/ 54 w 76"/>
                      <a:gd name="T11" fmla="*/ 48 h 104"/>
                      <a:gd name="T12" fmla="*/ 58 w 76"/>
                      <a:gd name="T13" fmla="*/ 60 h 104"/>
                      <a:gd name="T14" fmla="*/ 46 w 76"/>
                      <a:gd name="T15" fmla="*/ 74 h 104"/>
                      <a:gd name="T16" fmla="*/ 34 w 76"/>
                      <a:gd name="T17" fmla="*/ 60 h 104"/>
                      <a:gd name="T18" fmla="*/ 22 w 76"/>
                      <a:gd name="T19" fmla="*/ 48 h 104"/>
                      <a:gd name="T20" fmla="*/ 28 w 76"/>
                      <a:gd name="T21" fmla="*/ 68 h 104"/>
                      <a:gd name="T22" fmla="*/ 30 w 76"/>
                      <a:gd name="T23" fmla="*/ 74 h 104"/>
                      <a:gd name="T24" fmla="*/ 20 w 76"/>
                      <a:gd name="T25" fmla="*/ 104 h 104"/>
                      <a:gd name="T26" fmla="*/ 12 w 76"/>
                      <a:gd name="T27" fmla="*/ 102 h 104"/>
                      <a:gd name="T28" fmla="*/ 8 w 76"/>
                      <a:gd name="T29" fmla="*/ 90 h 104"/>
                      <a:gd name="T30" fmla="*/ 0 w 76"/>
                      <a:gd name="T31" fmla="*/ 54 h 104"/>
                      <a:gd name="T32" fmla="*/ 2 w 76"/>
                      <a:gd name="T33" fmla="*/ 30 h 104"/>
                      <a:gd name="T34" fmla="*/ 8 w 76"/>
                      <a:gd name="T35" fmla="*/ 18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8" name="Freeform 22"/>
                  <p:cNvSpPr>
                    <a:spLocks/>
                  </p:cNvSpPr>
                  <p:nvPr/>
                </p:nvSpPr>
                <p:spPr bwMode="ltGray">
                  <a:xfrm>
                    <a:off x="1944" y="569"/>
                    <a:ext cx="16" cy="20"/>
                  </a:xfrm>
                  <a:custGeom>
                    <a:avLst/>
                    <a:gdLst>
                      <a:gd name="T0" fmla="*/ 3 w 37"/>
                      <a:gd name="T1" fmla="*/ 28 h 61"/>
                      <a:gd name="T2" fmla="*/ 13 w 37"/>
                      <a:gd name="T3" fmla="*/ 0 h 61"/>
                      <a:gd name="T4" fmla="*/ 15 w 37"/>
                      <a:gd name="T5" fmla="*/ 28 h 61"/>
                      <a:gd name="T6" fmla="*/ 37 w 37"/>
                      <a:gd name="T7" fmla="*/ 38 h 61"/>
                      <a:gd name="T8" fmla="*/ 19 w 37"/>
                      <a:gd name="T9" fmla="*/ 44 h 61"/>
                      <a:gd name="T10" fmla="*/ 5 w 37"/>
                      <a:gd name="T11" fmla="*/ 58 h 61"/>
                      <a:gd name="T12" fmla="*/ 1 w 37"/>
                      <a:gd name="T13" fmla="*/ 34 h 61"/>
                      <a:gd name="T14" fmla="*/ 3 w 37"/>
                      <a:gd name="T15" fmla="*/ 28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39" name="Freeform 23"/>
                  <p:cNvSpPr>
                    <a:spLocks/>
                  </p:cNvSpPr>
                  <p:nvPr/>
                </p:nvSpPr>
                <p:spPr bwMode="ltGray">
                  <a:xfrm>
                    <a:off x="1948" y="600"/>
                    <a:ext cx="20" cy="10"/>
                  </a:xfrm>
                  <a:custGeom>
                    <a:avLst/>
                    <a:gdLst>
                      <a:gd name="T0" fmla="*/ 7 w 49"/>
                      <a:gd name="T1" fmla="*/ 0 h 29"/>
                      <a:gd name="T2" fmla="*/ 29 w 49"/>
                      <a:gd name="T3" fmla="*/ 0 h 29"/>
                      <a:gd name="T4" fmla="*/ 49 w 49"/>
                      <a:gd name="T5" fmla="*/ 16 h 29"/>
                      <a:gd name="T6" fmla="*/ 35 w 49"/>
                      <a:gd name="T7" fmla="*/ 14 h 29"/>
                      <a:gd name="T8" fmla="*/ 3 w 49"/>
                      <a:gd name="T9" fmla="*/ 16 h 29"/>
                      <a:gd name="T10" fmla="*/ 7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0" name="Freeform 24"/>
                  <p:cNvSpPr>
                    <a:spLocks/>
                  </p:cNvSpPr>
                  <p:nvPr/>
                </p:nvSpPr>
                <p:spPr bwMode="ltGray">
                  <a:xfrm>
                    <a:off x="1969" y="585"/>
                    <a:ext cx="26" cy="17"/>
                  </a:xfrm>
                  <a:custGeom>
                    <a:avLst/>
                    <a:gdLst>
                      <a:gd name="T0" fmla="*/ 21 w 61"/>
                      <a:gd name="T1" fmla="*/ 38 h 48"/>
                      <a:gd name="T2" fmla="*/ 15 w 61"/>
                      <a:gd name="T3" fmla="*/ 26 h 48"/>
                      <a:gd name="T4" fmla="*/ 3 w 61"/>
                      <a:gd name="T5" fmla="*/ 22 h 48"/>
                      <a:gd name="T6" fmla="*/ 13 w 61"/>
                      <a:gd name="T7" fmla="*/ 8 h 48"/>
                      <a:gd name="T8" fmla="*/ 25 w 61"/>
                      <a:gd name="T9" fmla="*/ 0 h 48"/>
                      <a:gd name="T10" fmla="*/ 49 w 61"/>
                      <a:gd name="T11" fmla="*/ 10 h 48"/>
                      <a:gd name="T12" fmla="*/ 53 w 61"/>
                      <a:gd name="T13" fmla="*/ 20 h 48"/>
                      <a:gd name="T14" fmla="*/ 61 w 61"/>
                      <a:gd name="T15" fmla="*/ 32 h 48"/>
                      <a:gd name="T16" fmla="*/ 41 w 61"/>
                      <a:gd name="T17" fmla="*/ 38 h 48"/>
                      <a:gd name="T18" fmla="*/ 23 w 61"/>
                      <a:gd name="T19" fmla="*/ 44 h 48"/>
                      <a:gd name="T20" fmla="*/ 21 w 61"/>
                      <a:gd name="T21" fmla="*/ 38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1" name="Freeform 25"/>
                  <p:cNvSpPr>
                    <a:spLocks/>
                  </p:cNvSpPr>
                  <p:nvPr/>
                </p:nvSpPr>
                <p:spPr bwMode="ltGray">
                  <a:xfrm>
                    <a:off x="1976" y="593"/>
                    <a:ext cx="122" cy="61"/>
                  </a:xfrm>
                  <a:custGeom>
                    <a:avLst/>
                    <a:gdLst>
                      <a:gd name="T0" fmla="*/ 46 w 286"/>
                      <a:gd name="T1" fmla="*/ 28 h 182"/>
                      <a:gd name="T2" fmla="*/ 36 w 286"/>
                      <a:gd name="T3" fmla="*/ 14 h 182"/>
                      <a:gd name="T4" fmla="*/ 26 w 286"/>
                      <a:gd name="T5" fmla="*/ 30 h 182"/>
                      <a:gd name="T6" fmla="*/ 0 w 286"/>
                      <a:gd name="T7" fmla="*/ 24 h 182"/>
                      <a:gd name="T8" fmla="*/ 10 w 286"/>
                      <a:gd name="T9" fmla="*/ 42 h 182"/>
                      <a:gd name="T10" fmla="*/ 16 w 286"/>
                      <a:gd name="T11" fmla="*/ 62 h 182"/>
                      <a:gd name="T12" fmla="*/ 24 w 286"/>
                      <a:gd name="T13" fmla="*/ 48 h 182"/>
                      <a:gd name="T14" fmla="*/ 30 w 286"/>
                      <a:gd name="T15" fmla="*/ 44 h 182"/>
                      <a:gd name="T16" fmla="*/ 48 w 286"/>
                      <a:gd name="T17" fmla="*/ 56 h 182"/>
                      <a:gd name="T18" fmla="*/ 70 w 286"/>
                      <a:gd name="T19" fmla="*/ 62 h 182"/>
                      <a:gd name="T20" fmla="*/ 88 w 286"/>
                      <a:gd name="T21" fmla="*/ 72 h 182"/>
                      <a:gd name="T22" fmla="*/ 106 w 286"/>
                      <a:gd name="T23" fmla="*/ 102 h 182"/>
                      <a:gd name="T24" fmla="*/ 104 w 286"/>
                      <a:gd name="T25" fmla="*/ 122 h 182"/>
                      <a:gd name="T26" fmla="*/ 98 w 286"/>
                      <a:gd name="T27" fmla="*/ 134 h 182"/>
                      <a:gd name="T28" fmla="*/ 122 w 286"/>
                      <a:gd name="T29" fmla="*/ 128 h 182"/>
                      <a:gd name="T30" fmla="*/ 140 w 286"/>
                      <a:gd name="T31" fmla="*/ 140 h 182"/>
                      <a:gd name="T32" fmla="*/ 168 w 286"/>
                      <a:gd name="T33" fmla="*/ 148 h 182"/>
                      <a:gd name="T34" fmla="*/ 174 w 286"/>
                      <a:gd name="T35" fmla="*/ 146 h 182"/>
                      <a:gd name="T36" fmla="*/ 168 w 286"/>
                      <a:gd name="T37" fmla="*/ 134 h 182"/>
                      <a:gd name="T38" fmla="*/ 178 w 286"/>
                      <a:gd name="T39" fmla="*/ 136 h 182"/>
                      <a:gd name="T40" fmla="*/ 186 w 286"/>
                      <a:gd name="T41" fmla="*/ 118 h 182"/>
                      <a:gd name="T42" fmla="*/ 202 w 286"/>
                      <a:gd name="T43" fmla="*/ 122 h 182"/>
                      <a:gd name="T44" fmla="*/ 214 w 286"/>
                      <a:gd name="T45" fmla="*/ 130 h 182"/>
                      <a:gd name="T46" fmla="*/ 244 w 286"/>
                      <a:gd name="T47" fmla="*/ 168 h 182"/>
                      <a:gd name="T48" fmla="*/ 262 w 286"/>
                      <a:gd name="T49" fmla="*/ 178 h 182"/>
                      <a:gd name="T50" fmla="*/ 284 w 286"/>
                      <a:gd name="T51" fmla="*/ 170 h 182"/>
                      <a:gd name="T52" fmla="*/ 268 w 286"/>
                      <a:gd name="T53" fmla="*/ 160 h 182"/>
                      <a:gd name="T54" fmla="*/ 256 w 286"/>
                      <a:gd name="T55" fmla="*/ 138 h 182"/>
                      <a:gd name="T56" fmla="*/ 250 w 286"/>
                      <a:gd name="T57" fmla="*/ 132 h 182"/>
                      <a:gd name="T58" fmla="*/ 248 w 286"/>
                      <a:gd name="T59" fmla="*/ 122 h 182"/>
                      <a:gd name="T60" fmla="*/ 236 w 286"/>
                      <a:gd name="T61" fmla="*/ 116 h 182"/>
                      <a:gd name="T62" fmla="*/ 240 w 286"/>
                      <a:gd name="T63" fmla="*/ 96 h 182"/>
                      <a:gd name="T64" fmla="*/ 220 w 286"/>
                      <a:gd name="T65" fmla="*/ 86 h 182"/>
                      <a:gd name="T66" fmla="*/ 210 w 286"/>
                      <a:gd name="T67" fmla="*/ 70 h 182"/>
                      <a:gd name="T68" fmla="*/ 190 w 286"/>
                      <a:gd name="T69" fmla="*/ 54 h 182"/>
                      <a:gd name="T70" fmla="*/ 168 w 286"/>
                      <a:gd name="T71" fmla="*/ 38 h 182"/>
                      <a:gd name="T72" fmla="*/ 156 w 286"/>
                      <a:gd name="T73" fmla="*/ 34 h 182"/>
                      <a:gd name="T74" fmla="*/ 120 w 286"/>
                      <a:gd name="T75" fmla="*/ 16 h 182"/>
                      <a:gd name="T76" fmla="*/ 102 w 286"/>
                      <a:gd name="T77" fmla="*/ 4 h 182"/>
                      <a:gd name="T78" fmla="*/ 96 w 286"/>
                      <a:gd name="T79" fmla="*/ 0 h 182"/>
                      <a:gd name="T80" fmla="*/ 70 w 286"/>
                      <a:gd name="T81" fmla="*/ 10 h 182"/>
                      <a:gd name="T82" fmla="*/ 56 w 286"/>
                      <a:gd name="T83" fmla="*/ 32 h 182"/>
                      <a:gd name="T84" fmla="*/ 46 w 286"/>
                      <a:gd name="T85" fmla="*/ 28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2" name="Freeform 26"/>
                  <p:cNvSpPr>
                    <a:spLocks/>
                  </p:cNvSpPr>
                  <p:nvPr/>
                </p:nvSpPr>
                <p:spPr bwMode="ltGray">
                  <a:xfrm>
                    <a:off x="2082" y="599"/>
                    <a:ext cx="33" cy="26"/>
                  </a:xfrm>
                  <a:custGeom>
                    <a:avLst/>
                    <a:gdLst>
                      <a:gd name="T0" fmla="*/ 1 w 78"/>
                      <a:gd name="T1" fmla="*/ 58 h 78"/>
                      <a:gd name="T2" fmla="*/ 27 w 78"/>
                      <a:gd name="T3" fmla="*/ 60 h 78"/>
                      <a:gd name="T4" fmla="*/ 45 w 78"/>
                      <a:gd name="T5" fmla="*/ 48 h 78"/>
                      <a:gd name="T6" fmla="*/ 57 w 78"/>
                      <a:gd name="T7" fmla="*/ 30 h 78"/>
                      <a:gd name="T8" fmla="*/ 43 w 78"/>
                      <a:gd name="T9" fmla="*/ 14 h 78"/>
                      <a:gd name="T10" fmla="*/ 43 w 78"/>
                      <a:gd name="T11" fmla="*/ 4 h 78"/>
                      <a:gd name="T12" fmla="*/ 71 w 78"/>
                      <a:gd name="T13" fmla="*/ 26 h 78"/>
                      <a:gd name="T14" fmla="*/ 67 w 78"/>
                      <a:gd name="T15" fmla="*/ 54 h 78"/>
                      <a:gd name="T16" fmla="*/ 33 w 78"/>
                      <a:gd name="T17" fmla="*/ 78 h 78"/>
                      <a:gd name="T18" fmla="*/ 9 w 78"/>
                      <a:gd name="T19" fmla="*/ 66 h 78"/>
                      <a:gd name="T20" fmla="*/ 3 w 78"/>
                      <a:gd name="T21" fmla="*/ 62 h 78"/>
                      <a:gd name="T22" fmla="*/ 1 w 78"/>
                      <a:gd name="T23" fmla="*/ 58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3" name="Freeform 27"/>
                  <p:cNvSpPr>
                    <a:spLocks/>
                  </p:cNvSpPr>
                  <p:nvPr/>
                </p:nvSpPr>
                <p:spPr bwMode="ltGray">
                  <a:xfrm>
                    <a:off x="2152" y="544"/>
                    <a:ext cx="8" cy="6"/>
                  </a:xfrm>
                  <a:custGeom>
                    <a:avLst/>
                    <a:gdLst>
                      <a:gd name="T0" fmla="*/ 3 w 17"/>
                      <a:gd name="T1" fmla="*/ 4 h 18"/>
                      <a:gd name="T2" fmla="*/ 3 w 17"/>
                      <a:gd name="T3" fmla="*/ 14 h 18"/>
                      <a:gd name="T4" fmla="*/ 3 w 17"/>
                      <a:gd name="T5" fmla="*/ 4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4" name="Freeform 28"/>
                  <p:cNvSpPr>
                    <a:spLocks/>
                  </p:cNvSpPr>
                  <p:nvPr/>
                </p:nvSpPr>
                <p:spPr bwMode="ltGray">
                  <a:xfrm>
                    <a:off x="2194" y="584"/>
                    <a:ext cx="11" cy="8"/>
                  </a:xfrm>
                  <a:custGeom>
                    <a:avLst/>
                    <a:gdLst>
                      <a:gd name="T0" fmla="*/ 8 w 26"/>
                      <a:gd name="T1" fmla="*/ 14 h 22"/>
                      <a:gd name="T2" fmla="*/ 14 w 26"/>
                      <a:gd name="T3" fmla="*/ 0 h 22"/>
                      <a:gd name="T4" fmla="*/ 14 w 26"/>
                      <a:gd name="T5" fmla="*/ 22 h 22"/>
                      <a:gd name="T6" fmla="*/ 8 w 26"/>
                      <a:gd name="T7" fmla="*/ 14 h 2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6" h="22">
                        <a:moveTo>
                          <a:pt x="8" y="14"/>
                        </a:moveTo>
                        <a:cubicBezTo>
                          <a:pt x="5" y="6"/>
                          <a:pt x="5" y="3"/>
                          <a:pt x="14" y="0"/>
                        </a:cubicBezTo>
                        <a:cubicBezTo>
                          <a:pt x="26" y="4"/>
                          <a:pt x="23" y="16"/>
                          <a:pt x="14" y="22"/>
                        </a:cubicBezTo>
                        <a:cubicBezTo>
                          <a:pt x="0" y="17"/>
                          <a:pt x="13" y="3"/>
                          <a:pt x="8" y="1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5" name="Freeform 29"/>
                  <p:cNvSpPr>
                    <a:spLocks/>
                  </p:cNvSpPr>
                  <p:nvPr/>
                </p:nvSpPr>
                <p:spPr bwMode="ltGray">
                  <a:xfrm>
                    <a:off x="2059" y="494"/>
                    <a:ext cx="8" cy="5"/>
                  </a:xfrm>
                  <a:custGeom>
                    <a:avLst/>
                    <a:gdLst>
                      <a:gd name="T0" fmla="*/ 7 w 20"/>
                      <a:gd name="T1" fmla="*/ 12 h 15"/>
                      <a:gd name="T2" fmla="*/ 17 w 20"/>
                      <a:gd name="T3" fmla="*/ 2 h 15"/>
                      <a:gd name="T4" fmla="*/ 9 w 20"/>
                      <a:gd name="T5" fmla="*/ 12 h 15"/>
                      <a:gd name="T6" fmla="*/ 7 w 20"/>
                      <a:gd name="T7" fmla="*/ 12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6" name="Freeform 30"/>
                  <p:cNvSpPr>
                    <a:spLocks/>
                  </p:cNvSpPr>
                  <p:nvPr/>
                </p:nvSpPr>
                <p:spPr bwMode="ltGray">
                  <a:xfrm>
                    <a:off x="1988" y="536"/>
                    <a:ext cx="8" cy="5"/>
                  </a:xfrm>
                  <a:custGeom>
                    <a:avLst/>
                    <a:gdLst>
                      <a:gd name="T0" fmla="*/ 7 w 20"/>
                      <a:gd name="T1" fmla="*/ 12 h 15"/>
                      <a:gd name="T2" fmla="*/ 15 w 20"/>
                      <a:gd name="T3" fmla="*/ 2 h 15"/>
                      <a:gd name="T4" fmla="*/ 15 w 20"/>
                      <a:gd name="T5" fmla="*/ 14 h 15"/>
                      <a:gd name="T6" fmla="*/ 7 w 20"/>
                      <a:gd name="T7" fmla="*/ 12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7" name="Freeform 31"/>
                  <p:cNvSpPr>
                    <a:spLocks/>
                  </p:cNvSpPr>
                  <p:nvPr/>
                </p:nvSpPr>
                <p:spPr bwMode="ltGray">
                  <a:xfrm>
                    <a:off x="1910" y="523"/>
                    <a:ext cx="34" cy="27"/>
                  </a:xfrm>
                  <a:custGeom>
                    <a:avLst/>
                    <a:gdLst>
                      <a:gd name="T0" fmla="*/ 0 w 80"/>
                      <a:gd name="T1" fmla="*/ 50 h 80"/>
                      <a:gd name="T2" fmla="*/ 14 w 80"/>
                      <a:gd name="T3" fmla="*/ 24 h 80"/>
                      <a:gd name="T4" fmla="*/ 26 w 80"/>
                      <a:gd name="T5" fmla="*/ 20 h 80"/>
                      <a:gd name="T6" fmla="*/ 48 w 80"/>
                      <a:gd name="T7" fmla="*/ 18 h 80"/>
                      <a:gd name="T8" fmla="*/ 58 w 80"/>
                      <a:gd name="T9" fmla="*/ 0 h 80"/>
                      <a:gd name="T10" fmla="*/ 80 w 80"/>
                      <a:gd name="T11" fmla="*/ 40 h 80"/>
                      <a:gd name="T12" fmla="*/ 70 w 80"/>
                      <a:gd name="T13" fmla="*/ 56 h 80"/>
                      <a:gd name="T14" fmla="*/ 54 w 80"/>
                      <a:gd name="T15" fmla="*/ 62 h 80"/>
                      <a:gd name="T16" fmla="*/ 48 w 80"/>
                      <a:gd name="T17" fmla="*/ 80 h 80"/>
                      <a:gd name="T18" fmla="*/ 32 w 80"/>
                      <a:gd name="T19" fmla="*/ 68 h 80"/>
                      <a:gd name="T20" fmla="*/ 38 w 80"/>
                      <a:gd name="T21" fmla="*/ 52 h 80"/>
                      <a:gd name="T22" fmla="*/ 30 w 80"/>
                      <a:gd name="T23" fmla="*/ 28 h 80"/>
                      <a:gd name="T24" fmla="*/ 20 w 80"/>
                      <a:gd name="T25" fmla="*/ 48 h 80"/>
                      <a:gd name="T26" fmla="*/ 8 w 80"/>
                      <a:gd name="T27" fmla="*/ 56 h 80"/>
                      <a:gd name="T28" fmla="*/ 0 w 80"/>
                      <a:gd name="T29" fmla="*/ 50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8" name="Freeform 32"/>
                  <p:cNvSpPr>
                    <a:spLocks/>
                  </p:cNvSpPr>
                  <p:nvPr/>
                </p:nvSpPr>
                <p:spPr bwMode="ltGray">
                  <a:xfrm>
                    <a:off x="1899" y="466"/>
                    <a:ext cx="40" cy="58"/>
                  </a:xfrm>
                  <a:custGeom>
                    <a:avLst/>
                    <a:gdLst>
                      <a:gd name="T0" fmla="*/ 14 w 94"/>
                      <a:gd name="T1" fmla="*/ 96 h 174"/>
                      <a:gd name="T2" fmla="*/ 26 w 94"/>
                      <a:gd name="T3" fmla="*/ 128 h 174"/>
                      <a:gd name="T4" fmla="*/ 32 w 94"/>
                      <a:gd name="T5" fmla="*/ 108 h 174"/>
                      <a:gd name="T6" fmla="*/ 52 w 94"/>
                      <a:gd name="T7" fmla="*/ 100 h 174"/>
                      <a:gd name="T8" fmla="*/ 46 w 94"/>
                      <a:gd name="T9" fmla="*/ 124 h 174"/>
                      <a:gd name="T10" fmla="*/ 66 w 94"/>
                      <a:gd name="T11" fmla="*/ 126 h 174"/>
                      <a:gd name="T12" fmla="*/ 76 w 94"/>
                      <a:gd name="T13" fmla="*/ 142 h 174"/>
                      <a:gd name="T14" fmla="*/ 58 w 94"/>
                      <a:gd name="T15" fmla="*/ 148 h 174"/>
                      <a:gd name="T16" fmla="*/ 74 w 94"/>
                      <a:gd name="T17" fmla="*/ 174 h 174"/>
                      <a:gd name="T18" fmla="*/ 84 w 94"/>
                      <a:gd name="T19" fmla="*/ 154 h 174"/>
                      <a:gd name="T20" fmla="*/ 82 w 94"/>
                      <a:gd name="T21" fmla="*/ 112 h 174"/>
                      <a:gd name="T22" fmla="*/ 60 w 94"/>
                      <a:gd name="T23" fmla="*/ 106 h 174"/>
                      <a:gd name="T24" fmla="*/ 50 w 94"/>
                      <a:gd name="T25" fmla="*/ 82 h 174"/>
                      <a:gd name="T26" fmla="*/ 34 w 94"/>
                      <a:gd name="T27" fmla="*/ 82 h 174"/>
                      <a:gd name="T28" fmla="*/ 30 w 94"/>
                      <a:gd name="T29" fmla="*/ 70 h 174"/>
                      <a:gd name="T30" fmla="*/ 42 w 94"/>
                      <a:gd name="T31" fmla="*/ 42 h 174"/>
                      <a:gd name="T32" fmla="*/ 30 w 94"/>
                      <a:gd name="T33" fmla="*/ 0 h 174"/>
                      <a:gd name="T34" fmla="*/ 18 w 94"/>
                      <a:gd name="T35" fmla="*/ 22 h 174"/>
                      <a:gd name="T36" fmla="*/ 4 w 94"/>
                      <a:gd name="T37" fmla="*/ 46 h 174"/>
                      <a:gd name="T38" fmla="*/ 14 w 94"/>
                      <a:gd name="T39" fmla="*/ 76 h 174"/>
                      <a:gd name="T40" fmla="*/ 14 w 94"/>
                      <a:gd name="T41" fmla="*/ 96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49" name="Freeform 33"/>
                  <p:cNvSpPr>
                    <a:spLocks/>
                  </p:cNvSpPr>
                  <p:nvPr/>
                </p:nvSpPr>
                <p:spPr bwMode="ltGray">
                  <a:xfrm>
                    <a:off x="1909" y="508"/>
                    <a:ext cx="14" cy="17"/>
                  </a:xfrm>
                  <a:custGeom>
                    <a:avLst/>
                    <a:gdLst>
                      <a:gd name="T0" fmla="*/ 6 w 32"/>
                      <a:gd name="T1" fmla="*/ 24 h 50"/>
                      <a:gd name="T2" fmla="*/ 12 w 32"/>
                      <a:gd name="T3" fmla="*/ 0 h 50"/>
                      <a:gd name="T4" fmla="*/ 20 w 32"/>
                      <a:gd name="T5" fmla="*/ 16 h 50"/>
                      <a:gd name="T6" fmla="*/ 22 w 32"/>
                      <a:gd name="T7" fmla="*/ 24 h 50"/>
                      <a:gd name="T8" fmla="*/ 28 w 32"/>
                      <a:gd name="T9" fmla="*/ 26 h 50"/>
                      <a:gd name="T10" fmla="*/ 32 w 32"/>
                      <a:gd name="T11" fmla="*/ 38 h 50"/>
                      <a:gd name="T12" fmla="*/ 18 w 32"/>
                      <a:gd name="T13" fmla="*/ 50 h 50"/>
                      <a:gd name="T14" fmla="*/ 6 w 32"/>
                      <a:gd name="T15" fmla="*/ 24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0" name="Freeform 34"/>
                  <p:cNvSpPr>
                    <a:spLocks/>
                  </p:cNvSpPr>
                  <p:nvPr/>
                </p:nvSpPr>
                <p:spPr bwMode="ltGray">
                  <a:xfrm>
                    <a:off x="1881" y="512"/>
                    <a:ext cx="19" cy="17"/>
                  </a:xfrm>
                  <a:custGeom>
                    <a:avLst/>
                    <a:gdLst>
                      <a:gd name="T0" fmla="*/ 0 w 43"/>
                      <a:gd name="T1" fmla="*/ 44 h 50"/>
                      <a:gd name="T2" fmla="*/ 22 w 43"/>
                      <a:gd name="T3" fmla="*/ 20 h 50"/>
                      <a:gd name="T4" fmla="*/ 36 w 43"/>
                      <a:gd name="T5" fmla="*/ 0 h 50"/>
                      <a:gd name="T6" fmla="*/ 24 w 43"/>
                      <a:gd name="T7" fmla="*/ 28 h 50"/>
                      <a:gd name="T8" fmla="*/ 2 w 43"/>
                      <a:gd name="T9" fmla="*/ 50 h 50"/>
                      <a:gd name="T10" fmla="*/ 0 w 43"/>
                      <a:gd name="T11" fmla="*/ 44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1" name="Freeform 35"/>
                  <p:cNvSpPr>
                    <a:spLocks/>
                  </p:cNvSpPr>
                  <p:nvPr/>
                </p:nvSpPr>
                <p:spPr bwMode="ltGray">
                  <a:xfrm>
                    <a:off x="2930" y="489"/>
                    <a:ext cx="299" cy="179"/>
                  </a:xfrm>
                  <a:custGeom>
                    <a:avLst/>
                    <a:gdLst>
                      <a:gd name="T0" fmla="*/ 21 w 471"/>
                      <a:gd name="T1" fmla="*/ 280 h 281"/>
                      <a:gd name="T2" fmla="*/ 24 w 471"/>
                      <a:gd name="T3" fmla="*/ 250 h 281"/>
                      <a:gd name="T4" fmla="*/ 22 w 471"/>
                      <a:gd name="T5" fmla="*/ 245 h 281"/>
                      <a:gd name="T6" fmla="*/ 16 w 471"/>
                      <a:gd name="T7" fmla="*/ 218 h 281"/>
                      <a:gd name="T8" fmla="*/ 4 w 471"/>
                      <a:gd name="T9" fmla="*/ 215 h 281"/>
                      <a:gd name="T10" fmla="*/ 0 w 471"/>
                      <a:gd name="T11" fmla="*/ 191 h 281"/>
                      <a:gd name="T12" fmla="*/ 12 w 471"/>
                      <a:gd name="T13" fmla="*/ 180 h 281"/>
                      <a:gd name="T14" fmla="*/ 6 w 471"/>
                      <a:gd name="T15" fmla="*/ 165 h 281"/>
                      <a:gd name="T16" fmla="*/ 2 w 471"/>
                      <a:gd name="T17" fmla="*/ 160 h 281"/>
                      <a:gd name="T18" fmla="*/ 28 w 471"/>
                      <a:gd name="T19" fmla="*/ 120 h 281"/>
                      <a:gd name="T20" fmla="*/ 44 w 471"/>
                      <a:gd name="T21" fmla="*/ 96 h 281"/>
                      <a:gd name="T22" fmla="*/ 42 w 471"/>
                      <a:gd name="T23" fmla="*/ 70 h 281"/>
                      <a:gd name="T24" fmla="*/ 24 w 471"/>
                      <a:gd name="T25" fmla="*/ 43 h 281"/>
                      <a:gd name="T26" fmla="*/ 20 w 471"/>
                      <a:gd name="T27" fmla="*/ 32 h 281"/>
                      <a:gd name="T28" fmla="*/ 26 w 471"/>
                      <a:gd name="T29" fmla="*/ 36 h 281"/>
                      <a:gd name="T30" fmla="*/ 48 w 471"/>
                      <a:gd name="T31" fmla="*/ 35 h 281"/>
                      <a:gd name="T32" fmla="*/ 64 w 471"/>
                      <a:gd name="T33" fmla="*/ 11 h 281"/>
                      <a:gd name="T34" fmla="*/ 82 w 471"/>
                      <a:gd name="T35" fmla="*/ 0 h 281"/>
                      <a:gd name="T36" fmla="*/ 88 w 471"/>
                      <a:gd name="T37" fmla="*/ 2 h 281"/>
                      <a:gd name="T38" fmla="*/ 92 w 471"/>
                      <a:gd name="T39" fmla="*/ 9 h 281"/>
                      <a:gd name="T40" fmla="*/ 98 w 471"/>
                      <a:gd name="T41" fmla="*/ 5 h 281"/>
                      <a:gd name="T42" fmla="*/ 110 w 471"/>
                      <a:gd name="T43" fmla="*/ 8 h 281"/>
                      <a:gd name="T44" fmla="*/ 116 w 471"/>
                      <a:gd name="T45" fmla="*/ 9 h 281"/>
                      <a:gd name="T46" fmla="*/ 141 w 471"/>
                      <a:gd name="T47" fmla="*/ 14 h 281"/>
                      <a:gd name="T48" fmla="*/ 155 w 471"/>
                      <a:gd name="T49" fmla="*/ 24 h 281"/>
                      <a:gd name="T50" fmla="*/ 167 w 471"/>
                      <a:gd name="T51" fmla="*/ 17 h 281"/>
                      <a:gd name="T52" fmla="*/ 173 w 471"/>
                      <a:gd name="T53" fmla="*/ 14 h 281"/>
                      <a:gd name="T54" fmla="*/ 195 w 471"/>
                      <a:gd name="T55" fmla="*/ 14 h 281"/>
                      <a:gd name="T56" fmla="*/ 211 w 471"/>
                      <a:gd name="T57" fmla="*/ 32 h 281"/>
                      <a:gd name="T58" fmla="*/ 231 w 471"/>
                      <a:gd name="T59" fmla="*/ 59 h 281"/>
                      <a:gd name="T60" fmla="*/ 245 w 471"/>
                      <a:gd name="T61" fmla="*/ 70 h 281"/>
                      <a:gd name="T62" fmla="*/ 257 w 471"/>
                      <a:gd name="T63" fmla="*/ 68 h 281"/>
                      <a:gd name="T64" fmla="*/ 270 w 471"/>
                      <a:gd name="T65" fmla="*/ 65 h 281"/>
                      <a:gd name="T66" fmla="*/ 290 w 471"/>
                      <a:gd name="T67" fmla="*/ 71 h 281"/>
                      <a:gd name="T68" fmla="*/ 300 w 471"/>
                      <a:gd name="T69" fmla="*/ 81 h 281"/>
                      <a:gd name="T70" fmla="*/ 308 w 471"/>
                      <a:gd name="T71" fmla="*/ 90 h 281"/>
                      <a:gd name="T72" fmla="*/ 318 w 471"/>
                      <a:gd name="T73" fmla="*/ 111 h 281"/>
                      <a:gd name="T74" fmla="*/ 322 w 471"/>
                      <a:gd name="T75" fmla="*/ 120 h 281"/>
                      <a:gd name="T76" fmla="*/ 324 w 471"/>
                      <a:gd name="T77" fmla="*/ 125 h 281"/>
                      <a:gd name="T78" fmla="*/ 310 w 471"/>
                      <a:gd name="T79" fmla="*/ 142 h 281"/>
                      <a:gd name="T80" fmla="*/ 322 w 471"/>
                      <a:gd name="T81" fmla="*/ 141 h 281"/>
                      <a:gd name="T82" fmla="*/ 342 w 471"/>
                      <a:gd name="T83" fmla="*/ 155 h 281"/>
                      <a:gd name="T84" fmla="*/ 364 w 471"/>
                      <a:gd name="T85" fmla="*/ 157 h 281"/>
                      <a:gd name="T86" fmla="*/ 380 w 471"/>
                      <a:gd name="T87" fmla="*/ 168 h 281"/>
                      <a:gd name="T88" fmla="*/ 382 w 471"/>
                      <a:gd name="T89" fmla="*/ 172 h 281"/>
                      <a:gd name="T90" fmla="*/ 382 w 471"/>
                      <a:gd name="T91" fmla="*/ 176 h 281"/>
                      <a:gd name="T92" fmla="*/ 394 w 471"/>
                      <a:gd name="T93" fmla="*/ 172 h 281"/>
                      <a:gd name="T94" fmla="*/ 400 w 471"/>
                      <a:gd name="T95" fmla="*/ 171 h 281"/>
                      <a:gd name="T96" fmla="*/ 439 w 471"/>
                      <a:gd name="T97" fmla="*/ 185 h 281"/>
                      <a:gd name="T98" fmla="*/ 447 w 471"/>
                      <a:gd name="T99" fmla="*/ 199 h 281"/>
                      <a:gd name="T100" fmla="*/ 465 w 471"/>
                      <a:gd name="T101" fmla="*/ 201 h 281"/>
                      <a:gd name="T102" fmla="*/ 471 w 471"/>
                      <a:gd name="T103" fmla="*/ 215 h 281"/>
                      <a:gd name="T104" fmla="*/ 451 w 471"/>
                      <a:gd name="T105" fmla="*/ 258 h 281"/>
                      <a:gd name="T106" fmla="*/ 435 w 471"/>
                      <a:gd name="T107" fmla="*/ 281 h 28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471" h="281">
                        <a:moveTo>
                          <a:pt x="21" y="280"/>
                        </a:moveTo>
                        <a:cubicBezTo>
                          <a:pt x="32" y="281"/>
                          <a:pt x="25" y="253"/>
                          <a:pt x="24" y="250"/>
                        </a:cubicBezTo>
                        <a:cubicBezTo>
                          <a:pt x="23" y="248"/>
                          <a:pt x="22" y="245"/>
                          <a:pt x="22" y="245"/>
                        </a:cubicBezTo>
                        <a:cubicBezTo>
                          <a:pt x="21" y="243"/>
                          <a:pt x="20" y="221"/>
                          <a:pt x="16" y="218"/>
                        </a:cubicBezTo>
                        <a:cubicBezTo>
                          <a:pt x="13" y="216"/>
                          <a:pt x="4" y="215"/>
                          <a:pt x="4" y="215"/>
                        </a:cubicBezTo>
                        <a:cubicBezTo>
                          <a:pt x="0" y="207"/>
                          <a:pt x="3" y="200"/>
                          <a:pt x="0" y="191"/>
                        </a:cubicBezTo>
                        <a:cubicBezTo>
                          <a:pt x="2" y="185"/>
                          <a:pt x="7" y="186"/>
                          <a:pt x="12" y="180"/>
                        </a:cubicBezTo>
                        <a:cubicBezTo>
                          <a:pt x="14" y="172"/>
                          <a:pt x="14" y="169"/>
                          <a:pt x="6" y="165"/>
                        </a:cubicBezTo>
                        <a:cubicBezTo>
                          <a:pt x="4" y="163"/>
                          <a:pt x="2" y="162"/>
                          <a:pt x="2" y="160"/>
                        </a:cubicBezTo>
                        <a:cubicBezTo>
                          <a:pt x="2" y="150"/>
                          <a:pt x="16" y="123"/>
                          <a:pt x="28" y="120"/>
                        </a:cubicBezTo>
                        <a:cubicBezTo>
                          <a:pt x="32" y="111"/>
                          <a:pt x="40" y="105"/>
                          <a:pt x="44" y="96"/>
                        </a:cubicBezTo>
                        <a:cubicBezTo>
                          <a:pt x="39" y="83"/>
                          <a:pt x="38" y="85"/>
                          <a:pt x="42" y="70"/>
                        </a:cubicBezTo>
                        <a:cubicBezTo>
                          <a:pt x="38" y="60"/>
                          <a:pt x="34" y="48"/>
                          <a:pt x="24" y="43"/>
                        </a:cubicBezTo>
                        <a:cubicBezTo>
                          <a:pt x="18" y="36"/>
                          <a:pt x="10" y="37"/>
                          <a:pt x="20" y="32"/>
                        </a:cubicBezTo>
                        <a:cubicBezTo>
                          <a:pt x="27" y="34"/>
                          <a:pt x="26" y="32"/>
                          <a:pt x="26" y="36"/>
                        </a:cubicBezTo>
                        <a:cubicBezTo>
                          <a:pt x="34" y="41"/>
                          <a:pt x="39" y="39"/>
                          <a:pt x="48" y="35"/>
                        </a:cubicBezTo>
                        <a:cubicBezTo>
                          <a:pt x="45" y="22"/>
                          <a:pt x="48" y="14"/>
                          <a:pt x="64" y="11"/>
                        </a:cubicBezTo>
                        <a:cubicBezTo>
                          <a:pt x="71" y="8"/>
                          <a:pt x="75" y="3"/>
                          <a:pt x="82" y="0"/>
                        </a:cubicBezTo>
                        <a:cubicBezTo>
                          <a:pt x="84" y="1"/>
                          <a:pt x="88" y="0"/>
                          <a:pt x="88" y="2"/>
                        </a:cubicBezTo>
                        <a:cubicBezTo>
                          <a:pt x="90" y="12"/>
                          <a:pt x="75" y="13"/>
                          <a:pt x="92" y="9"/>
                        </a:cubicBezTo>
                        <a:cubicBezTo>
                          <a:pt x="94" y="8"/>
                          <a:pt x="96" y="5"/>
                          <a:pt x="98" y="5"/>
                        </a:cubicBezTo>
                        <a:cubicBezTo>
                          <a:pt x="102" y="4"/>
                          <a:pt x="106" y="7"/>
                          <a:pt x="110" y="8"/>
                        </a:cubicBezTo>
                        <a:cubicBezTo>
                          <a:pt x="112" y="8"/>
                          <a:pt x="116" y="9"/>
                          <a:pt x="116" y="9"/>
                        </a:cubicBezTo>
                        <a:cubicBezTo>
                          <a:pt x="122" y="16"/>
                          <a:pt x="129" y="13"/>
                          <a:pt x="141" y="14"/>
                        </a:cubicBezTo>
                        <a:cubicBezTo>
                          <a:pt x="143" y="21"/>
                          <a:pt x="147" y="22"/>
                          <a:pt x="155" y="24"/>
                        </a:cubicBezTo>
                        <a:cubicBezTo>
                          <a:pt x="159" y="22"/>
                          <a:pt x="163" y="20"/>
                          <a:pt x="167" y="17"/>
                        </a:cubicBezTo>
                        <a:cubicBezTo>
                          <a:pt x="169" y="16"/>
                          <a:pt x="173" y="14"/>
                          <a:pt x="173" y="14"/>
                        </a:cubicBezTo>
                        <a:cubicBezTo>
                          <a:pt x="195" y="26"/>
                          <a:pt x="175" y="20"/>
                          <a:pt x="195" y="14"/>
                        </a:cubicBezTo>
                        <a:cubicBezTo>
                          <a:pt x="207" y="17"/>
                          <a:pt x="201" y="26"/>
                          <a:pt x="211" y="32"/>
                        </a:cubicBezTo>
                        <a:cubicBezTo>
                          <a:pt x="214" y="38"/>
                          <a:pt x="224" y="55"/>
                          <a:pt x="231" y="59"/>
                        </a:cubicBezTo>
                        <a:cubicBezTo>
                          <a:pt x="241" y="70"/>
                          <a:pt x="235" y="67"/>
                          <a:pt x="245" y="70"/>
                        </a:cubicBezTo>
                        <a:cubicBezTo>
                          <a:pt x="249" y="69"/>
                          <a:pt x="253" y="69"/>
                          <a:pt x="257" y="68"/>
                        </a:cubicBezTo>
                        <a:cubicBezTo>
                          <a:pt x="261" y="67"/>
                          <a:pt x="270" y="65"/>
                          <a:pt x="270" y="65"/>
                        </a:cubicBezTo>
                        <a:cubicBezTo>
                          <a:pt x="278" y="66"/>
                          <a:pt x="283" y="67"/>
                          <a:pt x="290" y="71"/>
                        </a:cubicBezTo>
                        <a:cubicBezTo>
                          <a:pt x="304" y="88"/>
                          <a:pt x="282" y="62"/>
                          <a:pt x="300" y="81"/>
                        </a:cubicBezTo>
                        <a:cubicBezTo>
                          <a:pt x="302" y="84"/>
                          <a:pt x="308" y="90"/>
                          <a:pt x="308" y="90"/>
                        </a:cubicBezTo>
                        <a:cubicBezTo>
                          <a:pt x="311" y="98"/>
                          <a:pt x="315" y="103"/>
                          <a:pt x="318" y="111"/>
                        </a:cubicBezTo>
                        <a:cubicBezTo>
                          <a:pt x="319" y="114"/>
                          <a:pt x="321" y="117"/>
                          <a:pt x="322" y="120"/>
                        </a:cubicBezTo>
                        <a:cubicBezTo>
                          <a:pt x="323" y="122"/>
                          <a:pt x="324" y="125"/>
                          <a:pt x="324" y="125"/>
                        </a:cubicBezTo>
                        <a:cubicBezTo>
                          <a:pt x="321" y="132"/>
                          <a:pt x="313" y="134"/>
                          <a:pt x="310" y="142"/>
                        </a:cubicBezTo>
                        <a:cubicBezTo>
                          <a:pt x="313" y="151"/>
                          <a:pt x="317" y="146"/>
                          <a:pt x="322" y="141"/>
                        </a:cubicBezTo>
                        <a:cubicBezTo>
                          <a:pt x="341" y="143"/>
                          <a:pt x="339" y="142"/>
                          <a:pt x="342" y="155"/>
                        </a:cubicBezTo>
                        <a:cubicBezTo>
                          <a:pt x="351" y="150"/>
                          <a:pt x="355" y="152"/>
                          <a:pt x="364" y="157"/>
                        </a:cubicBezTo>
                        <a:cubicBezTo>
                          <a:pt x="369" y="162"/>
                          <a:pt x="372" y="166"/>
                          <a:pt x="380" y="168"/>
                        </a:cubicBezTo>
                        <a:cubicBezTo>
                          <a:pt x="381" y="169"/>
                          <a:pt x="383" y="171"/>
                          <a:pt x="382" y="172"/>
                        </a:cubicBezTo>
                        <a:cubicBezTo>
                          <a:pt x="380" y="176"/>
                          <a:pt x="368" y="172"/>
                          <a:pt x="382" y="176"/>
                        </a:cubicBezTo>
                        <a:cubicBezTo>
                          <a:pt x="386" y="175"/>
                          <a:pt x="390" y="173"/>
                          <a:pt x="394" y="172"/>
                        </a:cubicBezTo>
                        <a:cubicBezTo>
                          <a:pt x="396" y="172"/>
                          <a:pt x="400" y="171"/>
                          <a:pt x="400" y="171"/>
                        </a:cubicBezTo>
                        <a:cubicBezTo>
                          <a:pt x="413" y="177"/>
                          <a:pt x="427" y="179"/>
                          <a:pt x="439" y="185"/>
                        </a:cubicBezTo>
                        <a:cubicBezTo>
                          <a:pt x="441" y="190"/>
                          <a:pt x="445" y="194"/>
                          <a:pt x="447" y="199"/>
                        </a:cubicBezTo>
                        <a:cubicBezTo>
                          <a:pt x="453" y="198"/>
                          <a:pt x="460" y="195"/>
                          <a:pt x="465" y="201"/>
                        </a:cubicBezTo>
                        <a:cubicBezTo>
                          <a:pt x="468" y="205"/>
                          <a:pt x="471" y="215"/>
                          <a:pt x="471" y="215"/>
                        </a:cubicBezTo>
                        <a:cubicBezTo>
                          <a:pt x="468" y="231"/>
                          <a:pt x="469" y="248"/>
                          <a:pt x="451" y="258"/>
                        </a:cubicBezTo>
                        <a:cubicBezTo>
                          <a:pt x="447" y="262"/>
                          <a:pt x="437" y="275"/>
                          <a:pt x="435" y="281"/>
                        </a:cubicBezTo>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2" name="Freeform 36"/>
                  <p:cNvSpPr>
                    <a:spLocks/>
                  </p:cNvSpPr>
                  <p:nvPr/>
                </p:nvSpPr>
                <p:spPr bwMode="ltGray">
                  <a:xfrm>
                    <a:off x="2534" y="242"/>
                    <a:ext cx="420" cy="283"/>
                  </a:xfrm>
                  <a:custGeom>
                    <a:avLst/>
                    <a:gdLst>
                      <a:gd name="T0" fmla="*/ 406 w 984"/>
                      <a:gd name="T1" fmla="*/ 6 h 844"/>
                      <a:gd name="T2" fmla="*/ 502 w 984"/>
                      <a:gd name="T3" fmla="*/ 34 h 844"/>
                      <a:gd name="T4" fmla="*/ 550 w 984"/>
                      <a:gd name="T5" fmla="*/ 38 h 844"/>
                      <a:gd name="T6" fmla="*/ 578 w 984"/>
                      <a:gd name="T7" fmla="*/ 130 h 844"/>
                      <a:gd name="T8" fmla="*/ 586 w 984"/>
                      <a:gd name="T9" fmla="*/ 90 h 844"/>
                      <a:gd name="T10" fmla="*/ 606 w 984"/>
                      <a:gd name="T11" fmla="*/ 70 h 844"/>
                      <a:gd name="T12" fmla="*/ 642 w 984"/>
                      <a:gd name="T13" fmla="*/ 126 h 844"/>
                      <a:gd name="T14" fmla="*/ 682 w 984"/>
                      <a:gd name="T15" fmla="*/ 98 h 844"/>
                      <a:gd name="T16" fmla="*/ 706 w 984"/>
                      <a:gd name="T17" fmla="*/ 86 h 844"/>
                      <a:gd name="T18" fmla="*/ 762 w 984"/>
                      <a:gd name="T19" fmla="*/ 2 h 844"/>
                      <a:gd name="T20" fmla="*/ 798 w 984"/>
                      <a:gd name="T21" fmla="*/ 70 h 844"/>
                      <a:gd name="T22" fmla="*/ 798 w 984"/>
                      <a:gd name="T23" fmla="*/ 130 h 844"/>
                      <a:gd name="T24" fmla="*/ 790 w 984"/>
                      <a:gd name="T25" fmla="*/ 158 h 844"/>
                      <a:gd name="T26" fmla="*/ 766 w 984"/>
                      <a:gd name="T27" fmla="*/ 162 h 844"/>
                      <a:gd name="T28" fmla="*/ 762 w 984"/>
                      <a:gd name="T29" fmla="*/ 186 h 844"/>
                      <a:gd name="T30" fmla="*/ 802 w 984"/>
                      <a:gd name="T31" fmla="*/ 226 h 844"/>
                      <a:gd name="T32" fmla="*/ 786 w 984"/>
                      <a:gd name="T33" fmla="*/ 322 h 844"/>
                      <a:gd name="T34" fmla="*/ 830 w 984"/>
                      <a:gd name="T35" fmla="*/ 414 h 844"/>
                      <a:gd name="T36" fmla="*/ 854 w 984"/>
                      <a:gd name="T37" fmla="*/ 450 h 844"/>
                      <a:gd name="T38" fmla="*/ 830 w 984"/>
                      <a:gd name="T39" fmla="*/ 450 h 844"/>
                      <a:gd name="T40" fmla="*/ 746 w 984"/>
                      <a:gd name="T41" fmla="*/ 378 h 844"/>
                      <a:gd name="T42" fmla="*/ 678 w 984"/>
                      <a:gd name="T43" fmla="*/ 402 h 844"/>
                      <a:gd name="T44" fmla="*/ 590 w 984"/>
                      <a:gd name="T45" fmla="*/ 442 h 844"/>
                      <a:gd name="T46" fmla="*/ 642 w 984"/>
                      <a:gd name="T47" fmla="*/ 578 h 844"/>
                      <a:gd name="T48" fmla="*/ 710 w 984"/>
                      <a:gd name="T49" fmla="*/ 610 h 844"/>
                      <a:gd name="T50" fmla="*/ 738 w 984"/>
                      <a:gd name="T51" fmla="*/ 550 h 844"/>
                      <a:gd name="T52" fmla="*/ 774 w 984"/>
                      <a:gd name="T53" fmla="*/ 570 h 844"/>
                      <a:gd name="T54" fmla="*/ 766 w 984"/>
                      <a:gd name="T55" fmla="*/ 630 h 844"/>
                      <a:gd name="T56" fmla="*/ 802 w 984"/>
                      <a:gd name="T57" fmla="*/ 670 h 844"/>
                      <a:gd name="T58" fmla="*/ 838 w 984"/>
                      <a:gd name="T59" fmla="*/ 658 h 844"/>
                      <a:gd name="T60" fmla="*/ 922 w 984"/>
                      <a:gd name="T61" fmla="*/ 806 h 844"/>
                      <a:gd name="T62" fmla="*/ 942 w 984"/>
                      <a:gd name="T63" fmla="*/ 826 h 844"/>
                      <a:gd name="T64" fmla="*/ 874 w 984"/>
                      <a:gd name="T65" fmla="*/ 810 h 844"/>
                      <a:gd name="T66" fmla="*/ 830 w 984"/>
                      <a:gd name="T67" fmla="*/ 758 h 844"/>
                      <a:gd name="T68" fmla="*/ 778 w 984"/>
                      <a:gd name="T69" fmla="*/ 710 h 844"/>
                      <a:gd name="T70" fmla="*/ 702 w 984"/>
                      <a:gd name="T71" fmla="*/ 662 h 844"/>
                      <a:gd name="T72" fmla="*/ 614 w 984"/>
                      <a:gd name="T73" fmla="*/ 646 h 844"/>
                      <a:gd name="T74" fmla="*/ 506 w 984"/>
                      <a:gd name="T75" fmla="*/ 594 h 844"/>
                      <a:gd name="T76" fmla="*/ 462 w 984"/>
                      <a:gd name="T77" fmla="*/ 506 h 844"/>
                      <a:gd name="T78" fmla="*/ 430 w 984"/>
                      <a:gd name="T79" fmla="*/ 462 h 844"/>
                      <a:gd name="T80" fmla="*/ 382 w 984"/>
                      <a:gd name="T81" fmla="*/ 430 h 844"/>
                      <a:gd name="T82" fmla="*/ 342 w 984"/>
                      <a:gd name="T83" fmla="*/ 370 h 844"/>
                      <a:gd name="T84" fmla="*/ 354 w 984"/>
                      <a:gd name="T85" fmla="*/ 414 h 844"/>
                      <a:gd name="T86" fmla="*/ 418 w 984"/>
                      <a:gd name="T87" fmla="*/ 494 h 844"/>
                      <a:gd name="T88" fmla="*/ 422 w 984"/>
                      <a:gd name="T89" fmla="*/ 526 h 844"/>
                      <a:gd name="T90" fmla="*/ 394 w 984"/>
                      <a:gd name="T91" fmla="*/ 498 h 844"/>
                      <a:gd name="T92" fmla="*/ 354 w 984"/>
                      <a:gd name="T93" fmla="*/ 466 h 844"/>
                      <a:gd name="T94" fmla="*/ 314 w 984"/>
                      <a:gd name="T95" fmla="*/ 402 h 844"/>
                      <a:gd name="T96" fmla="*/ 266 w 984"/>
                      <a:gd name="T97" fmla="*/ 346 h 844"/>
                      <a:gd name="T98" fmla="*/ 210 w 984"/>
                      <a:gd name="T99" fmla="*/ 314 h 844"/>
                      <a:gd name="T100" fmla="*/ 154 w 984"/>
                      <a:gd name="T101" fmla="*/ 238 h 844"/>
                      <a:gd name="T102" fmla="*/ 66 w 984"/>
                      <a:gd name="T103" fmla="*/ 66 h 844"/>
                      <a:gd name="T104" fmla="*/ 34 w 984"/>
                      <a:gd name="T105" fmla="*/ 38 h 844"/>
                      <a:gd name="T106" fmla="*/ 46 w 984"/>
                      <a:gd name="T107" fmla="*/ 22 h 844"/>
                      <a:gd name="T108" fmla="*/ 102 w 984"/>
                      <a:gd name="T109" fmla="*/ 70 h 84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984" h="844">
                        <a:moveTo>
                          <a:pt x="82" y="38"/>
                        </a:moveTo>
                        <a:lnTo>
                          <a:pt x="406" y="6"/>
                        </a:lnTo>
                        <a:cubicBezTo>
                          <a:pt x="497" y="22"/>
                          <a:pt x="465" y="0"/>
                          <a:pt x="474" y="54"/>
                        </a:cubicBezTo>
                        <a:cubicBezTo>
                          <a:pt x="492" y="48"/>
                          <a:pt x="484" y="40"/>
                          <a:pt x="502" y="34"/>
                        </a:cubicBezTo>
                        <a:cubicBezTo>
                          <a:pt x="510" y="37"/>
                          <a:pt x="517" y="46"/>
                          <a:pt x="526" y="46"/>
                        </a:cubicBezTo>
                        <a:cubicBezTo>
                          <a:pt x="534" y="46"/>
                          <a:pt x="550" y="38"/>
                          <a:pt x="550" y="38"/>
                        </a:cubicBezTo>
                        <a:cubicBezTo>
                          <a:pt x="556" y="55"/>
                          <a:pt x="552" y="60"/>
                          <a:pt x="542" y="74"/>
                        </a:cubicBezTo>
                        <a:cubicBezTo>
                          <a:pt x="555" y="114"/>
                          <a:pt x="550" y="102"/>
                          <a:pt x="578" y="130"/>
                        </a:cubicBezTo>
                        <a:cubicBezTo>
                          <a:pt x="584" y="148"/>
                          <a:pt x="590" y="148"/>
                          <a:pt x="606" y="138"/>
                        </a:cubicBezTo>
                        <a:cubicBezTo>
                          <a:pt x="600" y="119"/>
                          <a:pt x="594" y="107"/>
                          <a:pt x="586" y="90"/>
                        </a:cubicBezTo>
                        <a:cubicBezTo>
                          <a:pt x="583" y="82"/>
                          <a:pt x="578" y="66"/>
                          <a:pt x="578" y="66"/>
                        </a:cubicBezTo>
                        <a:cubicBezTo>
                          <a:pt x="585" y="44"/>
                          <a:pt x="597" y="56"/>
                          <a:pt x="606" y="70"/>
                        </a:cubicBezTo>
                        <a:cubicBezTo>
                          <a:pt x="609" y="86"/>
                          <a:pt x="608" y="117"/>
                          <a:pt x="626" y="90"/>
                        </a:cubicBezTo>
                        <a:cubicBezTo>
                          <a:pt x="648" y="97"/>
                          <a:pt x="646" y="104"/>
                          <a:pt x="642" y="126"/>
                        </a:cubicBezTo>
                        <a:cubicBezTo>
                          <a:pt x="650" y="150"/>
                          <a:pt x="665" y="141"/>
                          <a:pt x="682" y="130"/>
                        </a:cubicBezTo>
                        <a:cubicBezTo>
                          <a:pt x="689" y="108"/>
                          <a:pt x="673" y="124"/>
                          <a:pt x="682" y="98"/>
                        </a:cubicBezTo>
                        <a:cubicBezTo>
                          <a:pt x="683" y="94"/>
                          <a:pt x="690" y="96"/>
                          <a:pt x="694" y="94"/>
                        </a:cubicBezTo>
                        <a:cubicBezTo>
                          <a:pt x="698" y="92"/>
                          <a:pt x="702" y="89"/>
                          <a:pt x="706" y="86"/>
                        </a:cubicBezTo>
                        <a:cubicBezTo>
                          <a:pt x="717" y="54"/>
                          <a:pt x="688" y="54"/>
                          <a:pt x="742" y="46"/>
                        </a:cubicBezTo>
                        <a:cubicBezTo>
                          <a:pt x="748" y="27"/>
                          <a:pt x="741" y="9"/>
                          <a:pt x="762" y="2"/>
                        </a:cubicBezTo>
                        <a:cubicBezTo>
                          <a:pt x="788" y="11"/>
                          <a:pt x="777" y="38"/>
                          <a:pt x="802" y="46"/>
                        </a:cubicBezTo>
                        <a:cubicBezTo>
                          <a:pt x="831" y="36"/>
                          <a:pt x="805" y="63"/>
                          <a:pt x="798" y="70"/>
                        </a:cubicBezTo>
                        <a:cubicBezTo>
                          <a:pt x="789" y="96"/>
                          <a:pt x="787" y="96"/>
                          <a:pt x="802" y="118"/>
                        </a:cubicBezTo>
                        <a:cubicBezTo>
                          <a:pt x="801" y="122"/>
                          <a:pt x="801" y="127"/>
                          <a:pt x="798" y="130"/>
                        </a:cubicBezTo>
                        <a:cubicBezTo>
                          <a:pt x="794" y="133"/>
                          <a:pt x="784" y="129"/>
                          <a:pt x="782" y="134"/>
                        </a:cubicBezTo>
                        <a:cubicBezTo>
                          <a:pt x="780" y="142"/>
                          <a:pt x="790" y="158"/>
                          <a:pt x="790" y="158"/>
                        </a:cubicBezTo>
                        <a:cubicBezTo>
                          <a:pt x="786" y="161"/>
                          <a:pt x="783" y="165"/>
                          <a:pt x="778" y="166"/>
                        </a:cubicBezTo>
                        <a:cubicBezTo>
                          <a:pt x="774" y="167"/>
                          <a:pt x="769" y="159"/>
                          <a:pt x="766" y="162"/>
                        </a:cubicBezTo>
                        <a:cubicBezTo>
                          <a:pt x="758" y="170"/>
                          <a:pt x="794" y="182"/>
                          <a:pt x="794" y="182"/>
                        </a:cubicBezTo>
                        <a:cubicBezTo>
                          <a:pt x="804" y="211"/>
                          <a:pt x="775" y="190"/>
                          <a:pt x="762" y="186"/>
                        </a:cubicBezTo>
                        <a:cubicBezTo>
                          <a:pt x="767" y="194"/>
                          <a:pt x="773" y="202"/>
                          <a:pt x="778" y="210"/>
                        </a:cubicBezTo>
                        <a:cubicBezTo>
                          <a:pt x="783" y="218"/>
                          <a:pt x="802" y="226"/>
                          <a:pt x="802" y="226"/>
                        </a:cubicBezTo>
                        <a:cubicBezTo>
                          <a:pt x="813" y="242"/>
                          <a:pt x="804" y="245"/>
                          <a:pt x="810" y="262"/>
                        </a:cubicBezTo>
                        <a:cubicBezTo>
                          <a:pt x="803" y="282"/>
                          <a:pt x="793" y="301"/>
                          <a:pt x="786" y="322"/>
                        </a:cubicBezTo>
                        <a:cubicBezTo>
                          <a:pt x="783" y="330"/>
                          <a:pt x="778" y="346"/>
                          <a:pt x="778" y="346"/>
                        </a:cubicBezTo>
                        <a:cubicBezTo>
                          <a:pt x="785" y="366"/>
                          <a:pt x="817" y="394"/>
                          <a:pt x="830" y="414"/>
                        </a:cubicBezTo>
                        <a:cubicBezTo>
                          <a:pt x="835" y="422"/>
                          <a:pt x="841" y="430"/>
                          <a:pt x="846" y="438"/>
                        </a:cubicBezTo>
                        <a:cubicBezTo>
                          <a:pt x="849" y="442"/>
                          <a:pt x="854" y="450"/>
                          <a:pt x="854" y="450"/>
                        </a:cubicBezTo>
                        <a:cubicBezTo>
                          <a:pt x="853" y="457"/>
                          <a:pt x="855" y="466"/>
                          <a:pt x="850" y="470"/>
                        </a:cubicBezTo>
                        <a:cubicBezTo>
                          <a:pt x="844" y="475"/>
                          <a:pt x="831" y="451"/>
                          <a:pt x="830" y="450"/>
                        </a:cubicBezTo>
                        <a:cubicBezTo>
                          <a:pt x="811" y="431"/>
                          <a:pt x="789" y="421"/>
                          <a:pt x="774" y="398"/>
                        </a:cubicBezTo>
                        <a:cubicBezTo>
                          <a:pt x="769" y="379"/>
                          <a:pt x="766" y="371"/>
                          <a:pt x="746" y="378"/>
                        </a:cubicBezTo>
                        <a:cubicBezTo>
                          <a:pt x="717" y="368"/>
                          <a:pt x="730" y="368"/>
                          <a:pt x="706" y="374"/>
                        </a:cubicBezTo>
                        <a:cubicBezTo>
                          <a:pt x="688" y="402"/>
                          <a:pt x="699" y="395"/>
                          <a:pt x="678" y="402"/>
                        </a:cubicBezTo>
                        <a:cubicBezTo>
                          <a:pt x="654" y="386"/>
                          <a:pt x="650" y="390"/>
                          <a:pt x="618" y="394"/>
                        </a:cubicBezTo>
                        <a:cubicBezTo>
                          <a:pt x="607" y="411"/>
                          <a:pt x="601" y="426"/>
                          <a:pt x="590" y="442"/>
                        </a:cubicBezTo>
                        <a:cubicBezTo>
                          <a:pt x="600" y="471"/>
                          <a:pt x="593" y="459"/>
                          <a:pt x="606" y="478"/>
                        </a:cubicBezTo>
                        <a:cubicBezTo>
                          <a:pt x="593" y="518"/>
                          <a:pt x="622" y="548"/>
                          <a:pt x="642" y="578"/>
                        </a:cubicBezTo>
                        <a:cubicBezTo>
                          <a:pt x="651" y="591"/>
                          <a:pt x="651" y="601"/>
                          <a:pt x="666" y="606"/>
                        </a:cubicBezTo>
                        <a:cubicBezTo>
                          <a:pt x="680" y="627"/>
                          <a:pt x="691" y="623"/>
                          <a:pt x="710" y="610"/>
                        </a:cubicBezTo>
                        <a:cubicBezTo>
                          <a:pt x="729" y="616"/>
                          <a:pt x="729" y="606"/>
                          <a:pt x="734" y="590"/>
                        </a:cubicBezTo>
                        <a:cubicBezTo>
                          <a:pt x="735" y="577"/>
                          <a:pt x="731" y="562"/>
                          <a:pt x="738" y="550"/>
                        </a:cubicBezTo>
                        <a:cubicBezTo>
                          <a:pt x="742" y="543"/>
                          <a:pt x="762" y="542"/>
                          <a:pt x="762" y="542"/>
                        </a:cubicBezTo>
                        <a:cubicBezTo>
                          <a:pt x="783" y="547"/>
                          <a:pt x="786" y="552"/>
                          <a:pt x="774" y="570"/>
                        </a:cubicBezTo>
                        <a:cubicBezTo>
                          <a:pt x="779" y="590"/>
                          <a:pt x="790" y="605"/>
                          <a:pt x="770" y="618"/>
                        </a:cubicBezTo>
                        <a:cubicBezTo>
                          <a:pt x="769" y="622"/>
                          <a:pt x="764" y="626"/>
                          <a:pt x="766" y="630"/>
                        </a:cubicBezTo>
                        <a:cubicBezTo>
                          <a:pt x="768" y="634"/>
                          <a:pt x="775" y="634"/>
                          <a:pt x="778" y="638"/>
                        </a:cubicBezTo>
                        <a:cubicBezTo>
                          <a:pt x="788" y="651"/>
                          <a:pt x="786" y="660"/>
                          <a:pt x="802" y="670"/>
                        </a:cubicBezTo>
                        <a:cubicBezTo>
                          <a:pt x="810" y="667"/>
                          <a:pt x="818" y="665"/>
                          <a:pt x="826" y="662"/>
                        </a:cubicBezTo>
                        <a:cubicBezTo>
                          <a:pt x="830" y="661"/>
                          <a:pt x="838" y="658"/>
                          <a:pt x="838" y="658"/>
                        </a:cubicBezTo>
                        <a:cubicBezTo>
                          <a:pt x="857" y="664"/>
                          <a:pt x="864" y="680"/>
                          <a:pt x="870" y="698"/>
                        </a:cubicBezTo>
                        <a:cubicBezTo>
                          <a:pt x="859" y="731"/>
                          <a:pt x="887" y="794"/>
                          <a:pt x="922" y="806"/>
                        </a:cubicBezTo>
                        <a:cubicBezTo>
                          <a:pt x="938" y="801"/>
                          <a:pt x="941" y="792"/>
                          <a:pt x="958" y="798"/>
                        </a:cubicBezTo>
                        <a:cubicBezTo>
                          <a:pt x="984" y="837"/>
                          <a:pt x="928" y="784"/>
                          <a:pt x="942" y="826"/>
                        </a:cubicBezTo>
                        <a:cubicBezTo>
                          <a:pt x="936" y="844"/>
                          <a:pt x="930" y="844"/>
                          <a:pt x="914" y="834"/>
                        </a:cubicBezTo>
                        <a:cubicBezTo>
                          <a:pt x="903" y="817"/>
                          <a:pt x="890" y="821"/>
                          <a:pt x="874" y="810"/>
                        </a:cubicBezTo>
                        <a:cubicBezTo>
                          <a:pt x="851" y="776"/>
                          <a:pt x="882" y="816"/>
                          <a:pt x="854" y="794"/>
                        </a:cubicBezTo>
                        <a:cubicBezTo>
                          <a:pt x="843" y="785"/>
                          <a:pt x="840" y="768"/>
                          <a:pt x="830" y="758"/>
                        </a:cubicBezTo>
                        <a:cubicBezTo>
                          <a:pt x="824" y="739"/>
                          <a:pt x="817" y="724"/>
                          <a:pt x="798" y="718"/>
                        </a:cubicBezTo>
                        <a:cubicBezTo>
                          <a:pt x="791" y="696"/>
                          <a:pt x="800" y="712"/>
                          <a:pt x="778" y="710"/>
                        </a:cubicBezTo>
                        <a:cubicBezTo>
                          <a:pt x="767" y="709"/>
                          <a:pt x="746" y="702"/>
                          <a:pt x="746" y="702"/>
                        </a:cubicBezTo>
                        <a:cubicBezTo>
                          <a:pt x="729" y="691"/>
                          <a:pt x="720" y="674"/>
                          <a:pt x="702" y="662"/>
                        </a:cubicBezTo>
                        <a:cubicBezTo>
                          <a:pt x="694" y="665"/>
                          <a:pt x="687" y="673"/>
                          <a:pt x="678" y="674"/>
                        </a:cubicBezTo>
                        <a:cubicBezTo>
                          <a:pt x="657" y="677"/>
                          <a:pt x="630" y="657"/>
                          <a:pt x="614" y="646"/>
                        </a:cubicBezTo>
                        <a:cubicBezTo>
                          <a:pt x="600" y="637"/>
                          <a:pt x="580" y="639"/>
                          <a:pt x="566" y="630"/>
                        </a:cubicBezTo>
                        <a:cubicBezTo>
                          <a:pt x="546" y="617"/>
                          <a:pt x="525" y="607"/>
                          <a:pt x="506" y="594"/>
                        </a:cubicBezTo>
                        <a:cubicBezTo>
                          <a:pt x="513" y="572"/>
                          <a:pt x="509" y="551"/>
                          <a:pt x="490" y="538"/>
                        </a:cubicBezTo>
                        <a:cubicBezTo>
                          <a:pt x="485" y="522"/>
                          <a:pt x="476" y="515"/>
                          <a:pt x="462" y="506"/>
                        </a:cubicBezTo>
                        <a:cubicBezTo>
                          <a:pt x="441" y="474"/>
                          <a:pt x="469" y="513"/>
                          <a:pt x="442" y="486"/>
                        </a:cubicBezTo>
                        <a:cubicBezTo>
                          <a:pt x="436" y="480"/>
                          <a:pt x="436" y="468"/>
                          <a:pt x="430" y="462"/>
                        </a:cubicBezTo>
                        <a:cubicBezTo>
                          <a:pt x="427" y="459"/>
                          <a:pt x="422" y="459"/>
                          <a:pt x="418" y="458"/>
                        </a:cubicBezTo>
                        <a:cubicBezTo>
                          <a:pt x="407" y="447"/>
                          <a:pt x="382" y="430"/>
                          <a:pt x="382" y="430"/>
                        </a:cubicBezTo>
                        <a:cubicBezTo>
                          <a:pt x="371" y="413"/>
                          <a:pt x="358" y="399"/>
                          <a:pt x="346" y="382"/>
                        </a:cubicBezTo>
                        <a:cubicBezTo>
                          <a:pt x="344" y="378"/>
                          <a:pt x="345" y="373"/>
                          <a:pt x="342" y="370"/>
                        </a:cubicBezTo>
                        <a:cubicBezTo>
                          <a:pt x="339" y="367"/>
                          <a:pt x="334" y="367"/>
                          <a:pt x="330" y="366"/>
                        </a:cubicBezTo>
                        <a:cubicBezTo>
                          <a:pt x="322" y="390"/>
                          <a:pt x="342" y="398"/>
                          <a:pt x="354" y="414"/>
                        </a:cubicBezTo>
                        <a:cubicBezTo>
                          <a:pt x="368" y="432"/>
                          <a:pt x="372" y="446"/>
                          <a:pt x="390" y="458"/>
                        </a:cubicBezTo>
                        <a:cubicBezTo>
                          <a:pt x="409" y="487"/>
                          <a:pt x="399" y="475"/>
                          <a:pt x="418" y="494"/>
                        </a:cubicBezTo>
                        <a:cubicBezTo>
                          <a:pt x="423" y="510"/>
                          <a:pt x="428" y="517"/>
                          <a:pt x="442" y="526"/>
                        </a:cubicBezTo>
                        <a:cubicBezTo>
                          <a:pt x="450" y="550"/>
                          <a:pt x="432" y="533"/>
                          <a:pt x="422" y="526"/>
                        </a:cubicBezTo>
                        <a:cubicBezTo>
                          <a:pt x="399" y="492"/>
                          <a:pt x="430" y="532"/>
                          <a:pt x="402" y="510"/>
                        </a:cubicBezTo>
                        <a:cubicBezTo>
                          <a:pt x="398" y="507"/>
                          <a:pt x="397" y="501"/>
                          <a:pt x="394" y="498"/>
                        </a:cubicBezTo>
                        <a:cubicBezTo>
                          <a:pt x="391" y="495"/>
                          <a:pt x="386" y="493"/>
                          <a:pt x="382" y="490"/>
                        </a:cubicBezTo>
                        <a:cubicBezTo>
                          <a:pt x="377" y="474"/>
                          <a:pt x="370" y="471"/>
                          <a:pt x="354" y="466"/>
                        </a:cubicBezTo>
                        <a:cubicBezTo>
                          <a:pt x="344" y="452"/>
                          <a:pt x="340" y="447"/>
                          <a:pt x="346" y="430"/>
                        </a:cubicBezTo>
                        <a:cubicBezTo>
                          <a:pt x="338" y="418"/>
                          <a:pt x="314" y="402"/>
                          <a:pt x="314" y="402"/>
                        </a:cubicBezTo>
                        <a:cubicBezTo>
                          <a:pt x="306" y="390"/>
                          <a:pt x="298" y="378"/>
                          <a:pt x="290" y="366"/>
                        </a:cubicBezTo>
                        <a:cubicBezTo>
                          <a:pt x="284" y="357"/>
                          <a:pt x="273" y="354"/>
                          <a:pt x="266" y="346"/>
                        </a:cubicBezTo>
                        <a:cubicBezTo>
                          <a:pt x="263" y="342"/>
                          <a:pt x="262" y="337"/>
                          <a:pt x="258" y="334"/>
                        </a:cubicBezTo>
                        <a:cubicBezTo>
                          <a:pt x="243" y="324"/>
                          <a:pt x="225" y="324"/>
                          <a:pt x="210" y="314"/>
                        </a:cubicBezTo>
                        <a:cubicBezTo>
                          <a:pt x="201" y="300"/>
                          <a:pt x="194" y="291"/>
                          <a:pt x="178" y="286"/>
                        </a:cubicBezTo>
                        <a:cubicBezTo>
                          <a:pt x="160" y="260"/>
                          <a:pt x="192" y="247"/>
                          <a:pt x="154" y="238"/>
                        </a:cubicBezTo>
                        <a:cubicBezTo>
                          <a:pt x="111" y="209"/>
                          <a:pt x="106" y="149"/>
                          <a:pt x="90" y="102"/>
                        </a:cubicBezTo>
                        <a:cubicBezTo>
                          <a:pt x="86" y="90"/>
                          <a:pt x="76" y="73"/>
                          <a:pt x="66" y="66"/>
                        </a:cubicBezTo>
                        <a:cubicBezTo>
                          <a:pt x="58" y="60"/>
                          <a:pt x="42" y="50"/>
                          <a:pt x="42" y="50"/>
                        </a:cubicBezTo>
                        <a:cubicBezTo>
                          <a:pt x="39" y="46"/>
                          <a:pt x="38" y="41"/>
                          <a:pt x="34" y="38"/>
                        </a:cubicBezTo>
                        <a:cubicBezTo>
                          <a:pt x="27" y="34"/>
                          <a:pt x="10" y="30"/>
                          <a:pt x="10" y="30"/>
                        </a:cubicBezTo>
                        <a:cubicBezTo>
                          <a:pt x="0" y="1"/>
                          <a:pt x="31" y="17"/>
                          <a:pt x="46" y="22"/>
                        </a:cubicBezTo>
                        <a:cubicBezTo>
                          <a:pt x="65" y="51"/>
                          <a:pt x="61" y="41"/>
                          <a:pt x="86" y="58"/>
                        </a:cubicBezTo>
                        <a:cubicBezTo>
                          <a:pt x="94" y="70"/>
                          <a:pt x="94" y="93"/>
                          <a:pt x="102" y="70"/>
                        </a:cubicBezTo>
                        <a:cubicBezTo>
                          <a:pt x="95" y="49"/>
                          <a:pt x="82" y="62"/>
                          <a:pt x="82"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3" name="Freeform 37"/>
                  <p:cNvSpPr>
                    <a:spLocks/>
                  </p:cNvSpPr>
                  <p:nvPr/>
                </p:nvSpPr>
                <p:spPr bwMode="ltGray">
                  <a:xfrm>
                    <a:off x="2405" y="445"/>
                    <a:ext cx="15" cy="16"/>
                  </a:xfrm>
                  <a:custGeom>
                    <a:avLst/>
                    <a:gdLst>
                      <a:gd name="T0" fmla="*/ 6 w 36"/>
                      <a:gd name="T1" fmla="*/ 28 h 48"/>
                      <a:gd name="T2" fmla="*/ 10 w 36"/>
                      <a:gd name="T3" fmla="*/ 48 h 48"/>
                      <a:gd name="T4" fmla="*/ 6 w 36"/>
                      <a:gd name="T5" fmla="*/ 28 h 48"/>
                      <a:gd name="T6" fmla="*/ 0 60000 65536"/>
                      <a:gd name="T7" fmla="*/ 0 60000 65536"/>
                      <a:gd name="T8" fmla="*/ 0 60000 65536"/>
                    </a:gdLst>
                    <a:ahLst/>
                    <a:cxnLst>
                      <a:cxn ang="T6">
                        <a:pos x="T0" y="T1"/>
                      </a:cxn>
                      <a:cxn ang="T7">
                        <a:pos x="T2" y="T3"/>
                      </a:cxn>
                      <a:cxn ang="T8">
                        <a:pos x="T4" y="T5"/>
                      </a:cxn>
                    </a:cxnLst>
                    <a:rect l="0" t="0" r="r" b="b"/>
                    <a:pathLst>
                      <a:path w="36" h="48">
                        <a:moveTo>
                          <a:pt x="6" y="28"/>
                        </a:moveTo>
                        <a:cubicBezTo>
                          <a:pt x="25" y="0"/>
                          <a:pt x="36" y="31"/>
                          <a:pt x="10" y="48"/>
                        </a:cubicBezTo>
                        <a:cubicBezTo>
                          <a:pt x="0" y="34"/>
                          <a:pt x="0" y="40"/>
                          <a:pt x="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4" name="Freeform 38"/>
                  <p:cNvSpPr>
                    <a:spLocks/>
                  </p:cNvSpPr>
                  <p:nvPr/>
                </p:nvSpPr>
                <p:spPr bwMode="ltGray">
                  <a:xfrm>
                    <a:off x="2393" y="439"/>
                    <a:ext cx="16" cy="12"/>
                  </a:xfrm>
                  <a:custGeom>
                    <a:avLst/>
                    <a:gdLst>
                      <a:gd name="T0" fmla="*/ 0 w 36"/>
                      <a:gd name="T1" fmla="*/ 5 h 37"/>
                      <a:gd name="T2" fmla="*/ 12 w 36"/>
                      <a:gd name="T3" fmla="*/ 1 h 37"/>
                      <a:gd name="T4" fmla="*/ 36 w 36"/>
                      <a:gd name="T5" fmla="*/ 17 h 37"/>
                      <a:gd name="T6" fmla="*/ 8 w 36"/>
                      <a:gd name="T7" fmla="*/ 17 h 37"/>
                      <a:gd name="T8" fmla="*/ 0 w 36"/>
                      <a:gd name="T9" fmla="*/ 5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37">
                        <a:moveTo>
                          <a:pt x="0" y="5"/>
                        </a:moveTo>
                        <a:cubicBezTo>
                          <a:pt x="4" y="4"/>
                          <a:pt x="8" y="0"/>
                          <a:pt x="12" y="1"/>
                        </a:cubicBezTo>
                        <a:cubicBezTo>
                          <a:pt x="21" y="4"/>
                          <a:pt x="36" y="17"/>
                          <a:pt x="36" y="17"/>
                        </a:cubicBezTo>
                        <a:cubicBezTo>
                          <a:pt x="29" y="37"/>
                          <a:pt x="22" y="26"/>
                          <a:pt x="8" y="17"/>
                        </a:cubicBezTo>
                        <a:cubicBezTo>
                          <a:pt x="5" y="13"/>
                          <a:pt x="0" y="5"/>
                          <a:pt x="0" y="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5" name="Freeform 39"/>
                  <p:cNvSpPr>
                    <a:spLocks/>
                  </p:cNvSpPr>
                  <p:nvPr/>
                </p:nvSpPr>
                <p:spPr bwMode="ltGray">
                  <a:xfrm>
                    <a:off x="2878" y="406"/>
                    <a:ext cx="73" cy="33"/>
                  </a:xfrm>
                  <a:custGeom>
                    <a:avLst/>
                    <a:gdLst>
                      <a:gd name="T0" fmla="*/ 0 w 170"/>
                      <a:gd name="T1" fmla="*/ 49 h 96"/>
                      <a:gd name="T2" fmla="*/ 28 w 170"/>
                      <a:gd name="T3" fmla="*/ 25 h 96"/>
                      <a:gd name="T4" fmla="*/ 56 w 170"/>
                      <a:gd name="T5" fmla="*/ 21 h 96"/>
                      <a:gd name="T6" fmla="*/ 80 w 170"/>
                      <a:gd name="T7" fmla="*/ 9 h 96"/>
                      <a:gd name="T8" fmla="*/ 64 w 170"/>
                      <a:gd name="T9" fmla="*/ 25 h 96"/>
                      <a:gd name="T10" fmla="*/ 124 w 170"/>
                      <a:gd name="T11" fmla="*/ 49 h 96"/>
                      <a:gd name="T12" fmla="*/ 160 w 170"/>
                      <a:gd name="T13" fmla="*/ 65 h 96"/>
                      <a:gd name="T14" fmla="*/ 116 w 170"/>
                      <a:gd name="T15" fmla="*/ 77 h 96"/>
                      <a:gd name="T16" fmla="*/ 88 w 170"/>
                      <a:gd name="T17" fmla="*/ 57 h 96"/>
                      <a:gd name="T18" fmla="*/ 76 w 170"/>
                      <a:gd name="T19" fmla="*/ 53 h 96"/>
                      <a:gd name="T20" fmla="*/ 24 w 170"/>
                      <a:gd name="T21" fmla="*/ 41 h 96"/>
                      <a:gd name="T22" fmla="*/ 0 w 170"/>
                      <a:gd name="T23" fmla="*/ 49 h 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70" h="96">
                        <a:moveTo>
                          <a:pt x="0" y="49"/>
                        </a:moveTo>
                        <a:cubicBezTo>
                          <a:pt x="5" y="33"/>
                          <a:pt x="12" y="30"/>
                          <a:pt x="28" y="25"/>
                        </a:cubicBezTo>
                        <a:cubicBezTo>
                          <a:pt x="20" y="0"/>
                          <a:pt x="42" y="16"/>
                          <a:pt x="56" y="21"/>
                        </a:cubicBezTo>
                        <a:cubicBezTo>
                          <a:pt x="56" y="21"/>
                          <a:pt x="77" y="6"/>
                          <a:pt x="80" y="9"/>
                        </a:cubicBezTo>
                        <a:cubicBezTo>
                          <a:pt x="85" y="14"/>
                          <a:pt x="71" y="23"/>
                          <a:pt x="64" y="25"/>
                        </a:cubicBezTo>
                        <a:cubicBezTo>
                          <a:pt x="82" y="37"/>
                          <a:pt x="103" y="42"/>
                          <a:pt x="124" y="49"/>
                        </a:cubicBezTo>
                        <a:cubicBezTo>
                          <a:pt x="136" y="53"/>
                          <a:pt x="160" y="65"/>
                          <a:pt x="160" y="65"/>
                        </a:cubicBezTo>
                        <a:cubicBezTo>
                          <a:pt x="170" y="96"/>
                          <a:pt x="134" y="83"/>
                          <a:pt x="116" y="77"/>
                        </a:cubicBezTo>
                        <a:cubicBezTo>
                          <a:pt x="109" y="57"/>
                          <a:pt x="116" y="66"/>
                          <a:pt x="88" y="57"/>
                        </a:cubicBezTo>
                        <a:cubicBezTo>
                          <a:pt x="84" y="56"/>
                          <a:pt x="76" y="53"/>
                          <a:pt x="76" y="53"/>
                        </a:cubicBezTo>
                        <a:cubicBezTo>
                          <a:pt x="57" y="34"/>
                          <a:pt x="53" y="37"/>
                          <a:pt x="24" y="41"/>
                        </a:cubicBezTo>
                        <a:cubicBezTo>
                          <a:pt x="9" y="51"/>
                          <a:pt x="17" y="49"/>
                          <a:pt x="0" y="4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6" name="Freeform 40"/>
                  <p:cNvSpPr>
                    <a:spLocks/>
                  </p:cNvSpPr>
                  <p:nvPr/>
                </p:nvSpPr>
                <p:spPr bwMode="ltGray">
                  <a:xfrm>
                    <a:off x="2955" y="433"/>
                    <a:ext cx="59" cy="15"/>
                  </a:xfrm>
                  <a:custGeom>
                    <a:avLst/>
                    <a:gdLst>
                      <a:gd name="T0" fmla="*/ 0 w 138"/>
                      <a:gd name="T1" fmla="*/ 0 h 44"/>
                      <a:gd name="T2" fmla="*/ 52 w 138"/>
                      <a:gd name="T3" fmla="*/ 4 h 44"/>
                      <a:gd name="T4" fmla="*/ 88 w 138"/>
                      <a:gd name="T5" fmla="*/ 24 h 44"/>
                      <a:gd name="T6" fmla="*/ 112 w 138"/>
                      <a:gd name="T7" fmla="*/ 20 h 44"/>
                      <a:gd name="T8" fmla="*/ 108 w 138"/>
                      <a:gd name="T9" fmla="*/ 44 h 44"/>
                      <a:gd name="T10" fmla="*/ 64 w 138"/>
                      <a:gd name="T11" fmla="*/ 40 h 44"/>
                      <a:gd name="T12" fmla="*/ 0 w 138"/>
                      <a:gd name="T13" fmla="*/ 36 h 44"/>
                      <a:gd name="T14" fmla="*/ 28 w 138"/>
                      <a:gd name="T15" fmla="*/ 20 h 44"/>
                      <a:gd name="T16" fmla="*/ 0 w 138"/>
                      <a:gd name="T17" fmla="*/ 0 h 4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8" h="44">
                        <a:moveTo>
                          <a:pt x="0" y="0"/>
                        </a:moveTo>
                        <a:cubicBezTo>
                          <a:pt x="19" y="3"/>
                          <a:pt x="35" y="10"/>
                          <a:pt x="52" y="4"/>
                        </a:cubicBezTo>
                        <a:cubicBezTo>
                          <a:pt x="87" y="11"/>
                          <a:pt x="61" y="15"/>
                          <a:pt x="88" y="24"/>
                        </a:cubicBezTo>
                        <a:cubicBezTo>
                          <a:pt x="96" y="23"/>
                          <a:pt x="104" y="19"/>
                          <a:pt x="112" y="20"/>
                        </a:cubicBezTo>
                        <a:cubicBezTo>
                          <a:pt x="138" y="23"/>
                          <a:pt x="118" y="41"/>
                          <a:pt x="108" y="44"/>
                        </a:cubicBezTo>
                        <a:cubicBezTo>
                          <a:pt x="78" y="34"/>
                          <a:pt x="92" y="34"/>
                          <a:pt x="64" y="40"/>
                        </a:cubicBezTo>
                        <a:cubicBezTo>
                          <a:pt x="41" y="37"/>
                          <a:pt x="22" y="41"/>
                          <a:pt x="0" y="36"/>
                        </a:cubicBezTo>
                        <a:cubicBezTo>
                          <a:pt x="6" y="11"/>
                          <a:pt x="7" y="27"/>
                          <a:pt x="28" y="20"/>
                        </a:cubicBezTo>
                        <a:cubicBezTo>
                          <a:pt x="17" y="13"/>
                          <a:pt x="0" y="13"/>
                          <a:pt x="0"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7" name="Freeform 41"/>
                  <p:cNvSpPr>
                    <a:spLocks/>
                  </p:cNvSpPr>
                  <p:nvPr/>
                </p:nvSpPr>
                <p:spPr bwMode="ltGray">
                  <a:xfrm>
                    <a:off x="2924" y="441"/>
                    <a:ext cx="24" cy="14"/>
                  </a:xfrm>
                  <a:custGeom>
                    <a:avLst/>
                    <a:gdLst>
                      <a:gd name="T0" fmla="*/ 17 w 57"/>
                      <a:gd name="T1" fmla="*/ 25 h 42"/>
                      <a:gd name="T2" fmla="*/ 37 w 57"/>
                      <a:gd name="T3" fmla="*/ 13 h 42"/>
                      <a:gd name="T4" fmla="*/ 17 w 57"/>
                      <a:gd name="T5" fmla="*/ 25 h 42"/>
                      <a:gd name="T6" fmla="*/ 0 60000 65536"/>
                      <a:gd name="T7" fmla="*/ 0 60000 65536"/>
                      <a:gd name="T8" fmla="*/ 0 60000 65536"/>
                    </a:gdLst>
                    <a:ahLst/>
                    <a:cxnLst>
                      <a:cxn ang="T6">
                        <a:pos x="T0" y="T1"/>
                      </a:cxn>
                      <a:cxn ang="T7">
                        <a:pos x="T2" y="T3"/>
                      </a:cxn>
                      <a:cxn ang="T8">
                        <a:pos x="T4" y="T5"/>
                      </a:cxn>
                    </a:cxnLst>
                    <a:rect l="0" t="0" r="r" b="b"/>
                    <a:pathLst>
                      <a:path w="57" h="42">
                        <a:moveTo>
                          <a:pt x="17" y="25"/>
                        </a:moveTo>
                        <a:cubicBezTo>
                          <a:pt x="0" y="0"/>
                          <a:pt x="21" y="9"/>
                          <a:pt x="37" y="13"/>
                        </a:cubicBezTo>
                        <a:cubicBezTo>
                          <a:pt x="57" y="42"/>
                          <a:pt x="30" y="25"/>
                          <a:pt x="1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8" name="Freeform 42"/>
                  <p:cNvSpPr>
                    <a:spLocks/>
                  </p:cNvSpPr>
                  <p:nvPr/>
                </p:nvSpPr>
                <p:spPr bwMode="ltGray">
                  <a:xfrm>
                    <a:off x="2908" y="398"/>
                    <a:ext cx="16" cy="18"/>
                  </a:xfrm>
                  <a:custGeom>
                    <a:avLst/>
                    <a:gdLst>
                      <a:gd name="T0" fmla="*/ 19 w 39"/>
                      <a:gd name="T1" fmla="*/ 32 h 52"/>
                      <a:gd name="T2" fmla="*/ 19 w 39"/>
                      <a:gd name="T3" fmla="*/ 0 h 52"/>
                      <a:gd name="T4" fmla="*/ 19 w 39"/>
                      <a:gd name="T5" fmla="*/ 32 h 52"/>
                      <a:gd name="T6" fmla="*/ 0 60000 65536"/>
                      <a:gd name="T7" fmla="*/ 0 60000 65536"/>
                      <a:gd name="T8" fmla="*/ 0 60000 65536"/>
                    </a:gdLst>
                    <a:ahLst/>
                    <a:cxnLst>
                      <a:cxn ang="T6">
                        <a:pos x="T0" y="T1"/>
                      </a:cxn>
                      <a:cxn ang="T7">
                        <a:pos x="T2" y="T3"/>
                      </a:cxn>
                      <a:cxn ang="T8">
                        <a:pos x="T4" y="T5"/>
                      </a:cxn>
                    </a:cxnLst>
                    <a:rect l="0" t="0" r="r" b="b"/>
                    <a:pathLst>
                      <a:path w="39" h="52">
                        <a:moveTo>
                          <a:pt x="19" y="32"/>
                        </a:moveTo>
                        <a:cubicBezTo>
                          <a:pt x="13" y="14"/>
                          <a:pt x="0" y="13"/>
                          <a:pt x="19" y="0"/>
                        </a:cubicBezTo>
                        <a:cubicBezTo>
                          <a:pt x="23" y="5"/>
                          <a:pt x="39" y="52"/>
                          <a:pt x="19"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59" name="Freeform 43"/>
                  <p:cNvSpPr>
                    <a:spLocks/>
                  </p:cNvSpPr>
                  <p:nvPr/>
                </p:nvSpPr>
                <p:spPr bwMode="ltGray">
                  <a:xfrm>
                    <a:off x="3035" y="452"/>
                    <a:ext cx="19" cy="27"/>
                  </a:xfrm>
                  <a:custGeom>
                    <a:avLst/>
                    <a:gdLst>
                      <a:gd name="T0" fmla="*/ 4 w 44"/>
                      <a:gd name="T1" fmla="*/ 9 h 80"/>
                      <a:gd name="T2" fmla="*/ 20 w 44"/>
                      <a:gd name="T3" fmla="*/ 33 h 80"/>
                      <a:gd name="T4" fmla="*/ 24 w 44"/>
                      <a:gd name="T5" fmla="*/ 49 h 80"/>
                      <a:gd name="T6" fmla="*/ 36 w 44"/>
                      <a:gd name="T7" fmla="*/ 53 h 80"/>
                      <a:gd name="T8" fmla="*/ 24 w 44"/>
                      <a:gd name="T9" fmla="*/ 73 h 80"/>
                      <a:gd name="T10" fmla="*/ 0 w 44"/>
                      <a:gd name="T11" fmla="*/ 21 h 80"/>
                      <a:gd name="T12" fmla="*/ 4 w 44"/>
                      <a:gd name="T13" fmla="*/ 9 h 8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4" h="80">
                        <a:moveTo>
                          <a:pt x="4" y="9"/>
                        </a:moveTo>
                        <a:cubicBezTo>
                          <a:pt x="9" y="17"/>
                          <a:pt x="18" y="24"/>
                          <a:pt x="20" y="33"/>
                        </a:cubicBezTo>
                        <a:cubicBezTo>
                          <a:pt x="21" y="38"/>
                          <a:pt x="21" y="45"/>
                          <a:pt x="24" y="49"/>
                        </a:cubicBezTo>
                        <a:cubicBezTo>
                          <a:pt x="27" y="52"/>
                          <a:pt x="32" y="52"/>
                          <a:pt x="36" y="53"/>
                        </a:cubicBezTo>
                        <a:cubicBezTo>
                          <a:pt x="41" y="68"/>
                          <a:pt x="44" y="80"/>
                          <a:pt x="24" y="73"/>
                        </a:cubicBezTo>
                        <a:cubicBezTo>
                          <a:pt x="19" y="55"/>
                          <a:pt x="11" y="37"/>
                          <a:pt x="0" y="21"/>
                        </a:cubicBezTo>
                        <a:cubicBezTo>
                          <a:pt x="4" y="4"/>
                          <a:pt x="4" y="0"/>
                          <a:pt x="4"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0" name="Freeform 44"/>
                  <p:cNvSpPr>
                    <a:spLocks/>
                  </p:cNvSpPr>
                  <p:nvPr/>
                </p:nvSpPr>
                <p:spPr bwMode="ltGray">
                  <a:xfrm>
                    <a:off x="2696" y="247"/>
                    <a:ext cx="205" cy="41"/>
                  </a:xfrm>
                  <a:custGeom>
                    <a:avLst/>
                    <a:gdLst>
                      <a:gd name="T0" fmla="*/ 220 w 323"/>
                      <a:gd name="T1" fmla="*/ 1 h 64"/>
                      <a:gd name="T2" fmla="*/ 231 w 323"/>
                      <a:gd name="T3" fmla="*/ 8 h 64"/>
                      <a:gd name="T4" fmla="*/ 235 w 323"/>
                      <a:gd name="T5" fmla="*/ 0 h 64"/>
                      <a:gd name="T6" fmla="*/ 265 w 323"/>
                      <a:gd name="T7" fmla="*/ 0 h 64"/>
                      <a:gd name="T8" fmla="*/ 287 w 323"/>
                      <a:gd name="T9" fmla="*/ 17 h 64"/>
                      <a:gd name="T10" fmla="*/ 319 w 323"/>
                      <a:gd name="T11" fmla="*/ 10 h 64"/>
                      <a:gd name="T12" fmla="*/ 314 w 323"/>
                      <a:gd name="T13" fmla="*/ 29 h 64"/>
                      <a:gd name="T14" fmla="*/ 298 w 323"/>
                      <a:gd name="T15" fmla="*/ 46 h 64"/>
                      <a:gd name="T16" fmla="*/ 295 w 323"/>
                      <a:gd name="T17" fmla="*/ 29 h 64"/>
                      <a:gd name="T18" fmla="*/ 287 w 323"/>
                      <a:gd name="T19" fmla="*/ 31 h 64"/>
                      <a:gd name="T20" fmla="*/ 279 w 323"/>
                      <a:gd name="T21" fmla="*/ 29 h 64"/>
                      <a:gd name="T22" fmla="*/ 263 w 323"/>
                      <a:gd name="T23" fmla="*/ 21 h 64"/>
                      <a:gd name="T24" fmla="*/ 228 w 323"/>
                      <a:gd name="T25" fmla="*/ 38 h 64"/>
                      <a:gd name="T26" fmla="*/ 201 w 323"/>
                      <a:gd name="T27" fmla="*/ 44 h 64"/>
                      <a:gd name="T28" fmla="*/ 212 w 323"/>
                      <a:gd name="T29" fmla="*/ 57 h 64"/>
                      <a:gd name="T30" fmla="*/ 188 w 323"/>
                      <a:gd name="T31" fmla="*/ 63 h 64"/>
                      <a:gd name="T32" fmla="*/ 169 w 323"/>
                      <a:gd name="T33" fmla="*/ 61 h 64"/>
                      <a:gd name="T34" fmla="*/ 177 w 323"/>
                      <a:gd name="T35" fmla="*/ 57 h 64"/>
                      <a:gd name="T36" fmla="*/ 171 w 323"/>
                      <a:gd name="T37" fmla="*/ 40 h 64"/>
                      <a:gd name="T38" fmla="*/ 169 w 323"/>
                      <a:gd name="T39" fmla="*/ 31 h 64"/>
                      <a:gd name="T40" fmla="*/ 158 w 323"/>
                      <a:gd name="T41" fmla="*/ 23 h 64"/>
                      <a:gd name="T42" fmla="*/ 142 w 323"/>
                      <a:gd name="T43" fmla="*/ 27 h 64"/>
                      <a:gd name="T44" fmla="*/ 134 w 323"/>
                      <a:gd name="T45" fmla="*/ 27 h 64"/>
                      <a:gd name="T46" fmla="*/ 123 w 323"/>
                      <a:gd name="T47" fmla="*/ 25 h 64"/>
                      <a:gd name="T48" fmla="*/ 83 w 323"/>
                      <a:gd name="T49" fmla="*/ 2 h 64"/>
                      <a:gd name="T50" fmla="*/ 59 w 323"/>
                      <a:gd name="T51" fmla="*/ 14 h 64"/>
                      <a:gd name="T52" fmla="*/ 1 w 323"/>
                      <a:gd name="T53" fmla="*/ 0 h 64"/>
                      <a:gd name="T54" fmla="*/ 220 w 323"/>
                      <a:gd name="T55" fmla="*/ 1 h 6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323" h="64">
                        <a:moveTo>
                          <a:pt x="220" y="1"/>
                        </a:moveTo>
                        <a:cubicBezTo>
                          <a:pt x="215" y="12"/>
                          <a:pt x="225" y="17"/>
                          <a:pt x="231" y="8"/>
                        </a:cubicBezTo>
                        <a:cubicBezTo>
                          <a:pt x="235" y="0"/>
                          <a:pt x="229" y="7"/>
                          <a:pt x="235" y="0"/>
                        </a:cubicBezTo>
                        <a:lnTo>
                          <a:pt x="265" y="0"/>
                        </a:lnTo>
                        <a:cubicBezTo>
                          <a:pt x="277" y="6"/>
                          <a:pt x="276" y="11"/>
                          <a:pt x="287" y="17"/>
                        </a:cubicBezTo>
                        <a:cubicBezTo>
                          <a:pt x="308" y="11"/>
                          <a:pt x="293" y="7"/>
                          <a:pt x="319" y="10"/>
                        </a:cubicBezTo>
                        <a:cubicBezTo>
                          <a:pt x="323" y="19"/>
                          <a:pt x="321" y="22"/>
                          <a:pt x="314" y="29"/>
                        </a:cubicBezTo>
                        <a:cubicBezTo>
                          <a:pt x="312" y="39"/>
                          <a:pt x="313" y="50"/>
                          <a:pt x="298" y="46"/>
                        </a:cubicBezTo>
                        <a:cubicBezTo>
                          <a:pt x="297" y="40"/>
                          <a:pt x="298" y="34"/>
                          <a:pt x="295" y="29"/>
                        </a:cubicBezTo>
                        <a:cubicBezTo>
                          <a:pt x="294" y="27"/>
                          <a:pt x="290" y="31"/>
                          <a:pt x="287" y="31"/>
                        </a:cubicBezTo>
                        <a:cubicBezTo>
                          <a:pt x="284" y="31"/>
                          <a:pt x="282" y="30"/>
                          <a:pt x="279" y="29"/>
                        </a:cubicBezTo>
                        <a:cubicBezTo>
                          <a:pt x="274" y="27"/>
                          <a:pt x="263" y="21"/>
                          <a:pt x="263" y="21"/>
                        </a:cubicBezTo>
                        <a:cubicBezTo>
                          <a:pt x="249" y="23"/>
                          <a:pt x="241" y="31"/>
                          <a:pt x="228" y="38"/>
                        </a:cubicBezTo>
                        <a:cubicBezTo>
                          <a:pt x="220" y="41"/>
                          <a:pt x="209" y="42"/>
                          <a:pt x="201" y="44"/>
                        </a:cubicBezTo>
                        <a:cubicBezTo>
                          <a:pt x="193" y="54"/>
                          <a:pt x="200" y="53"/>
                          <a:pt x="212" y="57"/>
                        </a:cubicBezTo>
                        <a:cubicBezTo>
                          <a:pt x="200" y="62"/>
                          <a:pt x="199" y="57"/>
                          <a:pt x="188" y="63"/>
                        </a:cubicBezTo>
                        <a:cubicBezTo>
                          <a:pt x="181" y="62"/>
                          <a:pt x="174" y="64"/>
                          <a:pt x="169" y="61"/>
                        </a:cubicBezTo>
                        <a:cubicBezTo>
                          <a:pt x="166" y="59"/>
                          <a:pt x="175" y="59"/>
                          <a:pt x="177" y="57"/>
                        </a:cubicBezTo>
                        <a:cubicBezTo>
                          <a:pt x="181" y="48"/>
                          <a:pt x="149" y="28"/>
                          <a:pt x="171" y="40"/>
                        </a:cubicBezTo>
                        <a:cubicBezTo>
                          <a:pt x="184" y="55"/>
                          <a:pt x="184" y="36"/>
                          <a:pt x="169" y="31"/>
                        </a:cubicBezTo>
                        <a:cubicBezTo>
                          <a:pt x="167" y="27"/>
                          <a:pt x="167" y="22"/>
                          <a:pt x="158" y="23"/>
                        </a:cubicBezTo>
                        <a:cubicBezTo>
                          <a:pt x="153" y="23"/>
                          <a:pt x="142" y="27"/>
                          <a:pt x="142" y="27"/>
                        </a:cubicBezTo>
                        <a:cubicBezTo>
                          <a:pt x="136" y="39"/>
                          <a:pt x="143" y="31"/>
                          <a:pt x="134" y="27"/>
                        </a:cubicBezTo>
                        <a:cubicBezTo>
                          <a:pt x="130" y="25"/>
                          <a:pt x="126" y="25"/>
                          <a:pt x="123" y="25"/>
                        </a:cubicBezTo>
                        <a:cubicBezTo>
                          <a:pt x="117" y="11"/>
                          <a:pt x="100" y="6"/>
                          <a:pt x="83" y="2"/>
                        </a:cubicBezTo>
                        <a:cubicBezTo>
                          <a:pt x="70" y="4"/>
                          <a:pt x="69" y="9"/>
                          <a:pt x="59" y="14"/>
                        </a:cubicBezTo>
                        <a:cubicBezTo>
                          <a:pt x="45" y="14"/>
                          <a:pt x="0" y="12"/>
                          <a:pt x="1" y="0"/>
                        </a:cubicBezTo>
                        <a:lnTo>
                          <a:pt x="220"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1" name="Freeform 45"/>
                  <p:cNvSpPr>
                    <a:spLocks/>
                  </p:cNvSpPr>
                  <p:nvPr/>
                </p:nvSpPr>
                <p:spPr bwMode="ltGray">
                  <a:xfrm>
                    <a:off x="2515" y="246"/>
                    <a:ext cx="190" cy="20"/>
                  </a:xfrm>
                  <a:custGeom>
                    <a:avLst/>
                    <a:gdLst>
                      <a:gd name="T0" fmla="*/ 105 w 300"/>
                      <a:gd name="T1" fmla="*/ 31 h 31"/>
                      <a:gd name="T2" fmla="*/ 30 w 300"/>
                      <a:gd name="T3" fmla="*/ 1 h 31"/>
                      <a:gd name="T4" fmla="*/ 285 w 300"/>
                      <a:gd name="T5" fmla="*/ 0 h 31"/>
                      <a:gd name="T6" fmla="*/ 296 w 300"/>
                      <a:gd name="T7" fmla="*/ 14 h 31"/>
                      <a:gd name="T8" fmla="*/ 264 w 300"/>
                      <a:gd name="T9" fmla="*/ 16 h 31"/>
                      <a:gd name="T10" fmla="*/ 105 w 300"/>
                      <a:gd name="T11" fmla="*/ 31 h 3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00" h="31">
                        <a:moveTo>
                          <a:pt x="105" y="31"/>
                        </a:moveTo>
                        <a:cubicBezTo>
                          <a:pt x="83" y="19"/>
                          <a:pt x="0" y="6"/>
                          <a:pt x="30" y="1"/>
                        </a:cubicBezTo>
                        <a:lnTo>
                          <a:pt x="285" y="0"/>
                        </a:lnTo>
                        <a:cubicBezTo>
                          <a:pt x="296" y="4"/>
                          <a:pt x="300" y="5"/>
                          <a:pt x="296" y="14"/>
                        </a:cubicBezTo>
                        <a:cubicBezTo>
                          <a:pt x="285" y="11"/>
                          <a:pt x="276" y="16"/>
                          <a:pt x="264" y="16"/>
                        </a:cubicBezTo>
                        <a:lnTo>
                          <a:pt x="105" y="3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2" name="Freeform 46"/>
                  <p:cNvSpPr>
                    <a:spLocks/>
                  </p:cNvSpPr>
                  <p:nvPr/>
                </p:nvSpPr>
                <p:spPr bwMode="ltGray">
                  <a:xfrm>
                    <a:off x="2096" y="275"/>
                    <a:ext cx="18" cy="10"/>
                  </a:xfrm>
                  <a:custGeom>
                    <a:avLst/>
                    <a:gdLst>
                      <a:gd name="T0" fmla="*/ 0 w 41"/>
                      <a:gd name="T1" fmla="*/ 25 h 29"/>
                      <a:gd name="T2" fmla="*/ 12 w 41"/>
                      <a:gd name="T3" fmla="*/ 29 h 29"/>
                      <a:gd name="T4" fmla="*/ 0 w 41"/>
                      <a:gd name="T5" fmla="*/ 25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3" name="Freeform 47"/>
                  <p:cNvSpPr>
                    <a:spLocks/>
                  </p:cNvSpPr>
                  <p:nvPr/>
                </p:nvSpPr>
                <p:spPr bwMode="ltGray">
                  <a:xfrm>
                    <a:off x="1606" y="246"/>
                    <a:ext cx="436" cy="152"/>
                  </a:xfrm>
                  <a:custGeom>
                    <a:avLst/>
                    <a:gdLst>
                      <a:gd name="T0" fmla="*/ 73 w 436"/>
                      <a:gd name="T1" fmla="*/ 1 h 152"/>
                      <a:gd name="T2" fmla="*/ 436 w 436"/>
                      <a:gd name="T3" fmla="*/ 0 h 152"/>
                      <a:gd name="T4" fmla="*/ 416 w 436"/>
                      <a:gd name="T5" fmla="*/ 54 h 152"/>
                      <a:gd name="T6" fmla="*/ 397 w 436"/>
                      <a:gd name="T7" fmla="*/ 68 h 152"/>
                      <a:gd name="T8" fmla="*/ 392 w 436"/>
                      <a:gd name="T9" fmla="*/ 70 h 152"/>
                      <a:gd name="T10" fmla="*/ 375 w 436"/>
                      <a:gd name="T11" fmla="*/ 73 h 152"/>
                      <a:gd name="T12" fmla="*/ 361 w 436"/>
                      <a:gd name="T13" fmla="*/ 88 h 152"/>
                      <a:gd name="T14" fmla="*/ 362 w 436"/>
                      <a:gd name="T15" fmla="*/ 99 h 152"/>
                      <a:gd name="T16" fmla="*/ 364 w 436"/>
                      <a:gd name="T17" fmla="*/ 107 h 152"/>
                      <a:gd name="T18" fmla="*/ 366 w 436"/>
                      <a:gd name="T19" fmla="*/ 113 h 152"/>
                      <a:gd name="T20" fmla="*/ 362 w 436"/>
                      <a:gd name="T21" fmla="*/ 122 h 152"/>
                      <a:gd name="T22" fmla="*/ 351 w 436"/>
                      <a:gd name="T23" fmla="*/ 120 h 152"/>
                      <a:gd name="T24" fmla="*/ 342 w 436"/>
                      <a:gd name="T25" fmla="*/ 129 h 152"/>
                      <a:gd name="T26" fmla="*/ 347 w 436"/>
                      <a:gd name="T27" fmla="*/ 105 h 152"/>
                      <a:gd name="T28" fmla="*/ 338 w 436"/>
                      <a:gd name="T29" fmla="*/ 100 h 152"/>
                      <a:gd name="T30" fmla="*/ 344 w 436"/>
                      <a:gd name="T31" fmla="*/ 93 h 152"/>
                      <a:gd name="T32" fmla="*/ 342 w 436"/>
                      <a:gd name="T33" fmla="*/ 89 h 152"/>
                      <a:gd name="T34" fmla="*/ 320 w 436"/>
                      <a:gd name="T35" fmla="*/ 94 h 152"/>
                      <a:gd name="T36" fmla="*/ 317 w 436"/>
                      <a:gd name="T37" fmla="*/ 85 h 152"/>
                      <a:gd name="T38" fmla="*/ 297 w 436"/>
                      <a:gd name="T39" fmla="*/ 94 h 152"/>
                      <a:gd name="T40" fmla="*/ 320 w 436"/>
                      <a:gd name="T41" fmla="*/ 103 h 152"/>
                      <a:gd name="T42" fmla="*/ 305 w 436"/>
                      <a:gd name="T43" fmla="*/ 117 h 152"/>
                      <a:gd name="T44" fmla="*/ 311 w 436"/>
                      <a:gd name="T45" fmla="*/ 126 h 152"/>
                      <a:gd name="T46" fmla="*/ 315 w 436"/>
                      <a:gd name="T47" fmla="*/ 138 h 152"/>
                      <a:gd name="T48" fmla="*/ 309 w 436"/>
                      <a:gd name="T49" fmla="*/ 139 h 152"/>
                      <a:gd name="T50" fmla="*/ 314 w 436"/>
                      <a:gd name="T51" fmla="*/ 144 h 152"/>
                      <a:gd name="T52" fmla="*/ 307 w 436"/>
                      <a:gd name="T53" fmla="*/ 152 h 152"/>
                      <a:gd name="T54" fmla="*/ 0 w 436"/>
                      <a:gd name="T55" fmla="*/ 149 h 152"/>
                      <a:gd name="T56" fmla="*/ 73 w 436"/>
                      <a:gd name="T57" fmla="*/ 1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6" h="152">
                        <a:moveTo>
                          <a:pt x="73" y="1"/>
                        </a:moveTo>
                        <a:lnTo>
                          <a:pt x="436" y="0"/>
                        </a:lnTo>
                        <a:cubicBezTo>
                          <a:pt x="430"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4" name="Freeform 48"/>
                  <p:cNvSpPr>
                    <a:spLocks/>
                  </p:cNvSpPr>
                  <p:nvPr/>
                </p:nvSpPr>
                <p:spPr bwMode="ltGray">
                  <a:xfrm>
                    <a:off x="2043" y="241"/>
                    <a:ext cx="20" cy="55"/>
                  </a:xfrm>
                  <a:custGeom>
                    <a:avLst/>
                    <a:gdLst>
                      <a:gd name="T0" fmla="*/ 5 w 47"/>
                      <a:gd name="T1" fmla="*/ 156 h 165"/>
                      <a:gd name="T2" fmla="*/ 15 w 47"/>
                      <a:gd name="T3" fmla="*/ 108 h 165"/>
                      <a:gd name="T4" fmla="*/ 17 w 47"/>
                      <a:gd name="T5" fmla="*/ 68 h 165"/>
                      <a:gd name="T6" fmla="*/ 11 w 47"/>
                      <a:gd name="T7" fmla="*/ 40 h 165"/>
                      <a:gd name="T8" fmla="*/ 17 w 47"/>
                      <a:gd name="T9" fmla="*/ 12 h 165"/>
                      <a:gd name="T10" fmla="*/ 21 w 47"/>
                      <a:gd name="T11" fmla="*/ 0 h 165"/>
                      <a:gd name="T12" fmla="*/ 31 w 47"/>
                      <a:gd name="T13" fmla="*/ 30 h 165"/>
                      <a:gd name="T14" fmla="*/ 47 w 47"/>
                      <a:gd name="T15" fmla="*/ 98 h 165"/>
                      <a:gd name="T16" fmla="*/ 31 w 47"/>
                      <a:gd name="T17" fmla="*/ 108 h 165"/>
                      <a:gd name="T18" fmla="*/ 23 w 47"/>
                      <a:gd name="T19" fmla="*/ 126 h 165"/>
                      <a:gd name="T20" fmla="*/ 21 w 47"/>
                      <a:gd name="T21" fmla="*/ 132 h 165"/>
                      <a:gd name="T22" fmla="*/ 27 w 47"/>
                      <a:gd name="T23" fmla="*/ 134 h 165"/>
                      <a:gd name="T24" fmla="*/ 31 w 47"/>
                      <a:gd name="T25" fmla="*/ 146 h 165"/>
                      <a:gd name="T26" fmla="*/ 13 w 47"/>
                      <a:gd name="T27" fmla="*/ 148 h 165"/>
                      <a:gd name="T28" fmla="*/ 7 w 47"/>
                      <a:gd name="T29" fmla="*/ 160 h 165"/>
                      <a:gd name="T30" fmla="*/ 3 w 47"/>
                      <a:gd name="T31" fmla="*/ 154 h 165"/>
                      <a:gd name="T32" fmla="*/ 5 w 47"/>
                      <a:gd name="T33" fmla="*/ 156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5" name="Freeform 49"/>
                  <p:cNvSpPr>
                    <a:spLocks/>
                  </p:cNvSpPr>
                  <p:nvPr/>
                </p:nvSpPr>
                <p:spPr bwMode="ltGray">
                  <a:xfrm>
                    <a:off x="2031" y="287"/>
                    <a:ext cx="59" cy="34"/>
                  </a:xfrm>
                  <a:custGeom>
                    <a:avLst/>
                    <a:gdLst>
                      <a:gd name="T0" fmla="*/ 26 w 138"/>
                      <a:gd name="T1" fmla="*/ 61 h 103"/>
                      <a:gd name="T2" fmla="*/ 30 w 138"/>
                      <a:gd name="T3" fmla="*/ 43 h 103"/>
                      <a:gd name="T4" fmla="*/ 50 w 138"/>
                      <a:gd name="T5" fmla="*/ 33 h 103"/>
                      <a:gd name="T6" fmla="*/ 54 w 138"/>
                      <a:gd name="T7" fmla="*/ 45 h 103"/>
                      <a:gd name="T8" fmla="*/ 66 w 138"/>
                      <a:gd name="T9" fmla="*/ 49 h 103"/>
                      <a:gd name="T10" fmla="*/ 80 w 138"/>
                      <a:gd name="T11" fmla="*/ 55 h 103"/>
                      <a:gd name="T12" fmla="*/ 116 w 138"/>
                      <a:gd name="T13" fmla="*/ 33 h 103"/>
                      <a:gd name="T14" fmla="*/ 130 w 138"/>
                      <a:gd name="T15" fmla="*/ 17 h 103"/>
                      <a:gd name="T16" fmla="*/ 138 w 138"/>
                      <a:gd name="T17" fmla="*/ 11 h 103"/>
                      <a:gd name="T18" fmla="*/ 106 w 138"/>
                      <a:gd name="T19" fmla="*/ 49 h 103"/>
                      <a:gd name="T20" fmla="*/ 84 w 138"/>
                      <a:gd name="T21" fmla="*/ 67 h 103"/>
                      <a:gd name="T22" fmla="*/ 66 w 138"/>
                      <a:gd name="T23" fmla="*/ 81 h 103"/>
                      <a:gd name="T24" fmla="*/ 48 w 138"/>
                      <a:gd name="T25" fmla="*/ 103 h 103"/>
                      <a:gd name="T26" fmla="*/ 26 w 138"/>
                      <a:gd name="T27" fmla="*/ 89 h 103"/>
                      <a:gd name="T28" fmla="*/ 20 w 138"/>
                      <a:gd name="T29" fmla="*/ 87 h 103"/>
                      <a:gd name="T30" fmla="*/ 22 w 138"/>
                      <a:gd name="T31" fmla="*/ 97 h 103"/>
                      <a:gd name="T32" fmla="*/ 0 w 138"/>
                      <a:gd name="T33" fmla="*/ 97 h 103"/>
                      <a:gd name="T34" fmla="*/ 10 w 138"/>
                      <a:gd name="T35" fmla="*/ 79 h 103"/>
                      <a:gd name="T36" fmla="*/ 26 w 138"/>
                      <a:gd name="T37" fmla="*/ 61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6" name="Freeform 50"/>
                  <p:cNvSpPr>
                    <a:spLocks/>
                  </p:cNvSpPr>
                  <p:nvPr/>
                </p:nvSpPr>
                <p:spPr bwMode="ltGray">
                  <a:xfrm>
                    <a:off x="1968" y="319"/>
                    <a:ext cx="80" cy="72"/>
                  </a:xfrm>
                  <a:custGeom>
                    <a:avLst/>
                    <a:gdLst>
                      <a:gd name="T0" fmla="*/ 158 w 188"/>
                      <a:gd name="T1" fmla="*/ 24 h 214"/>
                      <a:gd name="T2" fmla="*/ 160 w 188"/>
                      <a:gd name="T3" fmla="*/ 6 h 214"/>
                      <a:gd name="T4" fmla="*/ 170 w 188"/>
                      <a:gd name="T5" fmla="*/ 0 h 214"/>
                      <a:gd name="T6" fmla="*/ 182 w 188"/>
                      <a:gd name="T7" fmla="*/ 24 h 214"/>
                      <a:gd name="T8" fmla="*/ 188 w 188"/>
                      <a:gd name="T9" fmla="*/ 42 h 214"/>
                      <a:gd name="T10" fmla="*/ 178 w 188"/>
                      <a:gd name="T11" fmla="*/ 58 h 214"/>
                      <a:gd name="T12" fmla="*/ 170 w 188"/>
                      <a:gd name="T13" fmla="*/ 76 h 214"/>
                      <a:gd name="T14" fmla="*/ 162 w 188"/>
                      <a:gd name="T15" fmla="*/ 126 h 214"/>
                      <a:gd name="T16" fmla="*/ 144 w 188"/>
                      <a:gd name="T17" fmla="*/ 136 h 214"/>
                      <a:gd name="T18" fmla="*/ 120 w 188"/>
                      <a:gd name="T19" fmla="*/ 138 h 214"/>
                      <a:gd name="T20" fmla="*/ 112 w 188"/>
                      <a:gd name="T21" fmla="*/ 124 h 214"/>
                      <a:gd name="T22" fmla="*/ 102 w 188"/>
                      <a:gd name="T23" fmla="*/ 146 h 214"/>
                      <a:gd name="T24" fmla="*/ 90 w 188"/>
                      <a:gd name="T25" fmla="*/ 150 h 214"/>
                      <a:gd name="T26" fmla="*/ 80 w 188"/>
                      <a:gd name="T27" fmla="*/ 132 h 214"/>
                      <a:gd name="T28" fmla="*/ 58 w 188"/>
                      <a:gd name="T29" fmla="*/ 144 h 214"/>
                      <a:gd name="T30" fmla="*/ 76 w 188"/>
                      <a:gd name="T31" fmla="*/ 142 h 214"/>
                      <a:gd name="T32" fmla="*/ 78 w 188"/>
                      <a:gd name="T33" fmla="*/ 160 h 214"/>
                      <a:gd name="T34" fmla="*/ 58 w 188"/>
                      <a:gd name="T35" fmla="*/ 166 h 214"/>
                      <a:gd name="T36" fmla="*/ 34 w 188"/>
                      <a:gd name="T37" fmla="*/ 166 h 214"/>
                      <a:gd name="T38" fmla="*/ 36 w 188"/>
                      <a:gd name="T39" fmla="*/ 154 h 214"/>
                      <a:gd name="T40" fmla="*/ 46 w 188"/>
                      <a:gd name="T41" fmla="*/ 144 h 214"/>
                      <a:gd name="T42" fmla="*/ 34 w 188"/>
                      <a:gd name="T43" fmla="*/ 148 h 214"/>
                      <a:gd name="T44" fmla="*/ 26 w 188"/>
                      <a:gd name="T45" fmla="*/ 166 h 214"/>
                      <a:gd name="T46" fmla="*/ 30 w 188"/>
                      <a:gd name="T47" fmla="*/ 190 h 214"/>
                      <a:gd name="T48" fmla="*/ 14 w 188"/>
                      <a:gd name="T49" fmla="*/ 200 h 214"/>
                      <a:gd name="T50" fmla="*/ 0 w 188"/>
                      <a:gd name="T51" fmla="*/ 214 h 214"/>
                      <a:gd name="T52" fmla="*/ 8 w 188"/>
                      <a:gd name="T53" fmla="*/ 188 h 214"/>
                      <a:gd name="T54" fmla="*/ 0 w 188"/>
                      <a:gd name="T55" fmla="*/ 164 h 214"/>
                      <a:gd name="T56" fmla="*/ 14 w 188"/>
                      <a:gd name="T57" fmla="*/ 152 h 214"/>
                      <a:gd name="T58" fmla="*/ 32 w 188"/>
                      <a:gd name="T59" fmla="*/ 134 h 214"/>
                      <a:gd name="T60" fmla="*/ 44 w 188"/>
                      <a:gd name="T61" fmla="*/ 118 h 214"/>
                      <a:gd name="T62" fmla="*/ 72 w 188"/>
                      <a:gd name="T63" fmla="*/ 116 h 214"/>
                      <a:gd name="T64" fmla="*/ 84 w 188"/>
                      <a:gd name="T65" fmla="*/ 112 h 214"/>
                      <a:gd name="T66" fmla="*/ 114 w 188"/>
                      <a:gd name="T67" fmla="*/ 78 h 214"/>
                      <a:gd name="T68" fmla="*/ 120 w 188"/>
                      <a:gd name="T69" fmla="*/ 92 h 214"/>
                      <a:gd name="T70" fmla="*/ 132 w 188"/>
                      <a:gd name="T71" fmla="*/ 76 h 214"/>
                      <a:gd name="T72" fmla="*/ 150 w 188"/>
                      <a:gd name="T73" fmla="*/ 54 h 214"/>
                      <a:gd name="T74" fmla="*/ 154 w 188"/>
                      <a:gd name="T75" fmla="*/ 42 h 214"/>
                      <a:gd name="T76" fmla="*/ 148 w 188"/>
                      <a:gd name="T77" fmla="*/ 38 h 214"/>
                      <a:gd name="T78" fmla="*/ 152 w 188"/>
                      <a:gd name="T79" fmla="*/ 32 h 214"/>
                      <a:gd name="T80" fmla="*/ 158 w 188"/>
                      <a:gd name="T81" fmla="*/ 24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7" name="Freeform 51"/>
                  <p:cNvSpPr>
                    <a:spLocks/>
                  </p:cNvSpPr>
                  <p:nvPr/>
                </p:nvSpPr>
                <p:spPr bwMode="ltGray">
                  <a:xfrm>
                    <a:off x="2021" y="340"/>
                    <a:ext cx="6" cy="4"/>
                  </a:xfrm>
                  <a:custGeom>
                    <a:avLst/>
                    <a:gdLst>
                      <a:gd name="T0" fmla="*/ 0 w 13"/>
                      <a:gd name="T1" fmla="*/ 9 h 13"/>
                      <a:gd name="T2" fmla="*/ 4 w 13"/>
                      <a:gd name="T3" fmla="*/ 13 h 13"/>
                      <a:gd name="T4" fmla="*/ 0 w 13"/>
                      <a:gd name="T5" fmla="*/ 9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8" name="Freeform 52"/>
                  <p:cNvSpPr>
                    <a:spLocks/>
                  </p:cNvSpPr>
                  <p:nvPr/>
                </p:nvSpPr>
                <p:spPr bwMode="ltGray">
                  <a:xfrm>
                    <a:off x="1573" y="389"/>
                    <a:ext cx="347" cy="189"/>
                  </a:xfrm>
                  <a:custGeom>
                    <a:avLst/>
                    <a:gdLst>
                      <a:gd name="T0" fmla="*/ 812 w 812"/>
                      <a:gd name="T1" fmla="*/ 26 h 564"/>
                      <a:gd name="T2" fmla="*/ 778 w 812"/>
                      <a:gd name="T3" fmla="*/ 78 h 564"/>
                      <a:gd name="T4" fmla="*/ 748 w 812"/>
                      <a:gd name="T5" fmla="*/ 122 h 564"/>
                      <a:gd name="T6" fmla="*/ 722 w 812"/>
                      <a:gd name="T7" fmla="*/ 142 h 564"/>
                      <a:gd name="T8" fmla="*/ 634 w 812"/>
                      <a:gd name="T9" fmla="*/ 180 h 564"/>
                      <a:gd name="T10" fmla="*/ 632 w 812"/>
                      <a:gd name="T11" fmla="*/ 210 h 564"/>
                      <a:gd name="T12" fmla="*/ 604 w 812"/>
                      <a:gd name="T13" fmla="*/ 230 h 564"/>
                      <a:gd name="T14" fmla="*/ 620 w 812"/>
                      <a:gd name="T15" fmla="*/ 178 h 564"/>
                      <a:gd name="T16" fmla="*/ 576 w 812"/>
                      <a:gd name="T17" fmla="*/ 188 h 564"/>
                      <a:gd name="T18" fmla="*/ 556 w 812"/>
                      <a:gd name="T19" fmla="*/ 218 h 564"/>
                      <a:gd name="T20" fmla="*/ 596 w 812"/>
                      <a:gd name="T21" fmla="*/ 280 h 564"/>
                      <a:gd name="T22" fmla="*/ 594 w 812"/>
                      <a:gd name="T23" fmla="*/ 368 h 564"/>
                      <a:gd name="T24" fmla="*/ 542 w 812"/>
                      <a:gd name="T25" fmla="*/ 406 h 564"/>
                      <a:gd name="T26" fmla="*/ 522 w 812"/>
                      <a:gd name="T27" fmla="*/ 386 h 564"/>
                      <a:gd name="T28" fmla="*/ 482 w 812"/>
                      <a:gd name="T29" fmla="*/ 348 h 564"/>
                      <a:gd name="T30" fmla="*/ 462 w 812"/>
                      <a:gd name="T31" fmla="*/ 348 h 564"/>
                      <a:gd name="T32" fmla="*/ 450 w 812"/>
                      <a:gd name="T33" fmla="*/ 394 h 564"/>
                      <a:gd name="T34" fmla="*/ 500 w 812"/>
                      <a:gd name="T35" fmla="*/ 464 h 564"/>
                      <a:gd name="T36" fmla="*/ 510 w 812"/>
                      <a:gd name="T37" fmla="*/ 524 h 564"/>
                      <a:gd name="T38" fmla="*/ 526 w 812"/>
                      <a:gd name="T39" fmla="*/ 560 h 564"/>
                      <a:gd name="T40" fmla="*/ 492 w 812"/>
                      <a:gd name="T41" fmla="*/ 544 h 564"/>
                      <a:gd name="T42" fmla="*/ 470 w 812"/>
                      <a:gd name="T43" fmla="*/ 518 h 564"/>
                      <a:gd name="T44" fmla="*/ 422 w 812"/>
                      <a:gd name="T45" fmla="*/ 424 h 564"/>
                      <a:gd name="T46" fmla="*/ 426 w 812"/>
                      <a:gd name="T47" fmla="*/ 310 h 564"/>
                      <a:gd name="T48" fmla="*/ 422 w 812"/>
                      <a:gd name="T49" fmla="*/ 268 h 564"/>
                      <a:gd name="T50" fmla="*/ 412 w 812"/>
                      <a:gd name="T51" fmla="*/ 276 h 564"/>
                      <a:gd name="T52" fmla="*/ 386 w 812"/>
                      <a:gd name="T53" fmla="*/ 266 h 564"/>
                      <a:gd name="T54" fmla="*/ 360 w 812"/>
                      <a:gd name="T55" fmla="*/ 170 h 564"/>
                      <a:gd name="T56" fmla="*/ 330 w 812"/>
                      <a:gd name="T57" fmla="*/ 166 h 564"/>
                      <a:gd name="T58" fmla="*/ 288 w 812"/>
                      <a:gd name="T59" fmla="*/ 172 h 564"/>
                      <a:gd name="T60" fmla="*/ 242 w 812"/>
                      <a:gd name="T61" fmla="*/ 232 h 564"/>
                      <a:gd name="T62" fmla="*/ 196 w 812"/>
                      <a:gd name="T63" fmla="*/ 268 h 564"/>
                      <a:gd name="T64" fmla="*/ 184 w 812"/>
                      <a:gd name="T65" fmla="*/ 274 h 564"/>
                      <a:gd name="T66" fmla="*/ 160 w 812"/>
                      <a:gd name="T67" fmla="*/ 328 h 564"/>
                      <a:gd name="T68" fmla="*/ 152 w 812"/>
                      <a:gd name="T69" fmla="*/ 354 h 564"/>
                      <a:gd name="T70" fmla="*/ 128 w 812"/>
                      <a:gd name="T71" fmla="*/ 404 h 564"/>
                      <a:gd name="T72" fmla="*/ 94 w 812"/>
                      <a:gd name="T73" fmla="*/ 392 h 564"/>
                      <a:gd name="T74" fmla="*/ 66 w 812"/>
                      <a:gd name="T75" fmla="*/ 258 h 564"/>
                      <a:gd name="T76" fmla="*/ 72 w 812"/>
                      <a:gd name="T77" fmla="*/ 156 h 564"/>
                      <a:gd name="T78" fmla="*/ 44 w 812"/>
                      <a:gd name="T79" fmla="*/ 180 h 564"/>
                      <a:gd name="T80" fmla="*/ 20 w 812"/>
                      <a:gd name="T81" fmla="*/ 150 h 564"/>
                      <a:gd name="T82" fmla="*/ 24 w 812"/>
                      <a:gd name="T83" fmla="*/ 138 h 564"/>
                      <a:gd name="T84" fmla="*/ 0 w 812"/>
                      <a:gd name="T85" fmla="*/ 92 h 564"/>
                      <a:gd name="T86" fmla="*/ 798 w 812"/>
                      <a:gd name="T87" fmla="*/ 6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69" name="Freeform 53"/>
                  <p:cNvSpPr>
                    <a:spLocks/>
                  </p:cNvSpPr>
                  <p:nvPr/>
                </p:nvSpPr>
                <p:spPr bwMode="ltGray">
                  <a:xfrm>
                    <a:off x="1634" y="519"/>
                    <a:ext cx="19" cy="29"/>
                  </a:xfrm>
                  <a:custGeom>
                    <a:avLst/>
                    <a:gdLst>
                      <a:gd name="T0" fmla="*/ 7 w 43"/>
                      <a:gd name="T1" fmla="*/ 11 h 85"/>
                      <a:gd name="T2" fmla="*/ 17 w 43"/>
                      <a:gd name="T3" fmla="*/ 3 h 85"/>
                      <a:gd name="T4" fmla="*/ 37 w 43"/>
                      <a:gd name="T5" fmla="*/ 33 h 85"/>
                      <a:gd name="T6" fmla="*/ 19 w 43"/>
                      <a:gd name="T7" fmla="*/ 85 h 85"/>
                      <a:gd name="T8" fmla="*/ 1 w 43"/>
                      <a:gd name="T9" fmla="*/ 69 h 85"/>
                      <a:gd name="T10" fmla="*/ 7 w 43"/>
                      <a:gd name="T11" fmla="*/ 11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0" name="Freeform 54"/>
                  <p:cNvSpPr>
                    <a:spLocks/>
                  </p:cNvSpPr>
                  <p:nvPr/>
                </p:nvSpPr>
                <p:spPr bwMode="ltGray">
                  <a:xfrm>
                    <a:off x="1900" y="421"/>
                    <a:ext cx="18" cy="24"/>
                  </a:xfrm>
                  <a:custGeom>
                    <a:avLst/>
                    <a:gdLst>
                      <a:gd name="T0" fmla="*/ 13 w 44"/>
                      <a:gd name="T1" fmla="*/ 28 h 74"/>
                      <a:gd name="T2" fmla="*/ 29 w 44"/>
                      <a:gd name="T3" fmla="*/ 2 h 74"/>
                      <a:gd name="T4" fmla="*/ 43 w 44"/>
                      <a:gd name="T5" fmla="*/ 4 h 74"/>
                      <a:gd name="T6" fmla="*/ 39 w 44"/>
                      <a:gd name="T7" fmla="*/ 26 h 74"/>
                      <a:gd name="T8" fmla="*/ 13 w 44"/>
                      <a:gd name="T9" fmla="*/ 74 h 74"/>
                      <a:gd name="T10" fmla="*/ 7 w 44"/>
                      <a:gd name="T11" fmla="*/ 60 h 74"/>
                      <a:gd name="T12" fmla="*/ 3 w 44"/>
                      <a:gd name="T13" fmla="*/ 36 h 74"/>
                      <a:gd name="T14" fmla="*/ 13 w 44"/>
                      <a:gd name="T15" fmla="*/ 28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1" name="Freeform 55"/>
                  <p:cNvSpPr>
                    <a:spLocks/>
                  </p:cNvSpPr>
                  <p:nvPr/>
                </p:nvSpPr>
                <p:spPr bwMode="ltGray">
                  <a:xfrm>
                    <a:off x="1951" y="409"/>
                    <a:ext cx="9" cy="10"/>
                  </a:xfrm>
                  <a:custGeom>
                    <a:avLst/>
                    <a:gdLst>
                      <a:gd name="T0" fmla="*/ 7 w 20"/>
                      <a:gd name="T1" fmla="*/ 16 h 30"/>
                      <a:gd name="T2" fmla="*/ 5 w 20"/>
                      <a:gd name="T3" fmla="*/ 30 h 30"/>
                      <a:gd name="T4" fmla="*/ 7 w 20"/>
                      <a:gd name="T5" fmla="*/ 16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2" name="Freeform 56"/>
                  <p:cNvSpPr>
                    <a:spLocks/>
                  </p:cNvSpPr>
                  <p:nvPr/>
                </p:nvSpPr>
                <p:spPr bwMode="ltGray">
                  <a:xfrm>
                    <a:off x="1021" y="314"/>
                    <a:ext cx="433" cy="354"/>
                  </a:xfrm>
                  <a:custGeom>
                    <a:avLst/>
                    <a:gdLst>
                      <a:gd name="T0" fmla="*/ 481 w 682"/>
                      <a:gd name="T1" fmla="*/ 464 h 557"/>
                      <a:gd name="T2" fmla="*/ 486 w 682"/>
                      <a:gd name="T3" fmla="*/ 451 h 557"/>
                      <a:gd name="T4" fmla="*/ 500 w 682"/>
                      <a:gd name="T5" fmla="*/ 413 h 557"/>
                      <a:gd name="T6" fmla="*/ 309 w 682"/>
                      <a:gd name="T7" fmla="*/ 287 h 557"/>
                      <a:gd name="T8" fmla="*/ 282 w 682"/>
                      <a:gd name="T9" fmla="*/ 346 h 557"/>
                      <a:gd name="T10" fmla="*/ 303 w 682"/>
                      <a:gd name="T11" fmla="*/ 556 h 557"/>
                      <a:gd name="T12" fmla="*/ 282 w 682"/>
                      <a:gd name="T13" fmla="*/ 494 h 557"/>
                      <a:gd name="T14" fmla="*/ 242 w 682"/>
                      <a:gd name="T15" fmla="*/ 439 h 557"/>
                      <a:gd name="T16" fmla="*/ 245 w 682"/>
                      <a:gd name="T17" fmla="*/ 413 h 557"/>
                      <a:gd name="T18" fmla="*/ 247 w 682"/>
                      <a:gd name="T19" fmla="*/ 394 h 557"/>
                      <a:gd name="T20" fmla="*/ 220 w 682"/>
                      <a:gd name="T21" fmla="*/ 375 h 557"/>
                      <a:gd name="T22" fmla="*/ 194 w 682"/>
                      <a:gd name="T23" fmla="*/ 346 h 557"/>
                      <a:gd name="T24" fmla="*/ 148 w 682"/>
                      <a:gd name="T25" fmla="*/ 354 h 557"/>
                      <a:gd name="T26" fmla="*/ 126 w 682"/>
                      <a:gd name="T27" fmla="*/ 365 h 557"/>
                      <a:gd name="T28" fmla="*/ 78 w 682"/>
                      <a:gd name="T29" fmla="*/ 365 h 557"/>
                      <a:gd name="T30" fmla="*/ 22 w 682"/>
                      <a:gd name="T31" fmla="*/ 312 h 557"/>
                      <a:gd name="T32" fmla="*/ 11 w 682"/>
                      <a:gd name="T33" fmla="*/ 295 h 557"/>
                      <a:gd name="T34" fmla="*/ 0 w 682"/>
                      <a:gd name="T35" fmla="*/ 264 h 557"/>
                      <a:gd name="T36" fmla="*/ 24 w 682"/>
                      <a:gd name="T37" fmla="*/ 213 h 557"/>
                      <a:gd name="T38" fmla="*/ 32 w 682"/>
                      <a:gd name="T39" fmla="*/ 181 h 557"/>
                      <a:gd name="T40" fmla="*/ 51 w 682"/>
                      <a:gd name="T41" fmla="*/ 143 h 557"/>
                      <a:gd name="T42" fmla="*/ 81 w 682"/>
                      <a:gd name="T43" fmla="*/ 116 h 557"/>
                      <a:gd name="T44" fmla="*/ 167 w 682"/>
                      <a:gd name="T45" fmla="*/ 67 h 557"/>
                      <a:gd name="T46" fmla="*/ 220 w 682"/>
                      <a:gd name="T47" fmla="*/ 30 h 557"/>
                      <a:gd name="T48" fmla="*/ 258 w 682"/>
                      <a:gd name="T49" fmla="*/ 6 h 557"/>
                      <a:gd name="T50" fmla="*/ 363 w 682"/>
                      <a:gd name="T51" fmla="*/ 2 h 557"/>
                      <a:gd name="T52" fmla="*/ 398 w 682"/>
                      <a:gd name="T53" fmla="*/ 0 h 557"/>
                      <a:gd name="T54" fmla="*/ 384 w 682"/>
                      <a:gd name="T55" fmla="*/ 34 h 557"/>
                      <a:gd name="T56" fmla="*/ 443 w 682"/>
                      <a:gd name="T57" fmla="*/ 84 h 557"/>
                      <a:gd name="T58" fmla="*/ 497 w 682"/>
                      <a:gd name="T59" fmla="*/ 74 h 557"/>
                      <a:gd name="T60" fmla="*/ 529 w 682"/>
                      <a:gd name="T61" fmla="*/ 82 h 557"/>
                      <a:gd name="T62" fmla="*/ 559 w 682"/>
                      <a:gd name="T63" fmla="*/ 97 h 557"/>
                      <a:gd name="T64" fmla="*/ 572 w 682"/>
                      <a:gd name="T65" fmla="*/ 188 h 557"/>
                      <a:gd name="T66" fmla="*/ 572 w 682"/>
                      <a:gd name="T67" fmla="*/ 240 h 557"/>
                      <a:gd name="T68" fmla="*/ 599 w 682"/>
                      <a:gd name="T69" fmla="*/ 283 h 557"/>
                      <a:gd name="T70" fmla="*/ 645 w 682"/>
                      <a:gd name="T71" fmla="*/ 300 h 557"/>
                      <a:gd name="T72" fmla="*/ 680 w 682"/>
                      <a:gd name="T73" fmla="*/ 295 h 557"/>
                      <a:gd name="T74" fmla="*/ 664 w 682"/>
                      <a:gd name="T75" fmla="*/ 340 h 557"/>
                      <a:gd name="T76" fmla="*/ 599 w 682"/>
                      <a:gd name="T77" fmla="*/ 407 h 557"/>
                      <a:gd name="T78" fmla="*/ 548 w 682"/>
                      <a:gd name="T79" fmla="*/ 485 h 557"/>
                      <a:gd name="T80" fmla="*/ 556 w 682"/>
                      <a:gd name="T81" fmla="*/ 508 h 557"/>
                      <a:gd name="T82" fmla="*/ 435 w 682"/>
                      <a:gd name="T83" fmla="*/ 556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3" name="Freeform 57"/>
                  <p:cNvSpPr>
                    <a:spLocks/>
                  </p:cNvSpPr>
                  <p:nvPr/>
                </p:nvSpPr>
                <p:spPr bwMode="ltGray">
                  <a:xfrm>
                    <a:off x="1189" y="447"/>
                    <a:ext cx="163" cy="221"/>
                  </a:xfrm>
                  <a:custGeom>
                    <a:avLst/>
                    <a:gdLst>
                      <a:gd name="T0" fmla="*/ 243 w 257"/>
                      <a:gd name="T1" fmla="*/ 347 h 347"/>
                      <a:gd name="T2" fmla="*/ 233 w 257"/>
                      <a:gd name="T3" fmla="*/ 301 h 347"/>
                      <a:gd name="T4" fmla="*/ 217 w 257"/>
                      <a:gd name="T5" fmla="*/ 288 h 347"/>
                      <a:gd name="T6" fmla="*/ 215 w 257"/>
                      <a:gd name="T7" fmla="*/ 269 h 347"/>
                      <a:gd name="T8" fmla="*/ 209 w 257"/>
                      <a:gd name="T9" fmla="*/ 254 h 347"/>
                      <a:gd name="T10" fmla="*/ 209 w 257"/>
                      <a:gd name="T11" fmla="*/ 229 h 347"/>
                      <a:gd name="T12" fmla="*/ 207 w 257"/>
                      <a:gd name="T13" fmla="*/ 214 h 347"/>
                      <a:gd name="T14" fmla="*/ 228 w 257"/>
                      <a:gd name="T15" fmla="*/ 202 h 347"/>
                      <a:gd name="T16" fmla="*/ 257 w 257"/>
                      <a:gd name="T17" fmla="*/ 197 h 347"/>
                      <a:gd name="T18" fmla="*/ 257 w 257"/>
                      <a:gd name="T19" fmla="*/ 136 h 347"/>
                      <a:gd name="T20" fmla="*/ 54 w 257"/>
                      <a:gd name="T21" fmla="*/ 96 h 347"/>
                      <a:gd name="T22" fmla="*/ 32 w 257"/>
                      <a:gd name="T23" fmla="*/ 98 h 347"/>
                      <a:gd name="T24" fmla="*/ 16 w 257"/>
                      <a:gd name="T25" fmla="*/ 102 h 347"/>
                      <a:gd name="T26" fmla="*/ 0 w 257"/>
                      <a:gd name="T27" fmla="*/ 149 h 347"/>
                      <a:gd name="T28" fmla="*/ 93 w 257"/>
                      <a:gd name="T29" fmla="*/ 346 h 347"/>
                      <a:gd name="T30" fmla="*/ 243 w 257"/>
                      <a:gd name="T31" fmla="*/ 347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4" name="Freeform 58"/>
                  <p:cNvSpPr>
                    <a:spLocks/>
                  </p:cNvSpPr>
                  <p:nvPr/>
                </p:nvSpPr>
                <p:spPr bwMode="ltGray">
                  <a:xfrm>
                    <a:off x="1476" y="611"/>
                    <a:ext cx="7" cy="12"/>
                  </a:xfrm>
                  <a:custGeom>
                    <a:avLst/>
                    <a:gdLst>
                      <a:gd name="T0" fmla="*/ 7 w 19"/>
                      <a:gd name="T1" fmla="*/ 25 h 37"/>
                      <a:gd name="T2" fmla="*/ 19 w 19"/>
                      <a:gd name="T3" fmla="*/ 21 h 37"/>
                      <a:gd name="T4" fmla="*/ 7 w 19"/>
                      <a:gd name="T5" fmla="*/ 25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5" name="Freeform 59"/>
                  <p:cNvSpPr>
                    <a:spLocks/>
                  </p:cNvSpPr>
                  <p:nvPr/>
                </p:nvSpPr>
                <p:spPr bwMode="ltGray">
                  <a:xfrm>
                    <a:off x="1467" y="497"/>
                    <a:ext cx="9" cy="7"/>
                  </a:xfrm>
                  <a:custGeom>
                    <a:avLst/>
                    <a:gdLst>
                      <a:gd name="T0" fmla="*/ 12 w 22"/>
                      <a:gd name="T1" fmla="*/ 12 h 20"/>
                      <a:gd name="T2" fmla="*/ 16 w 22"/>
                      <a:gd name="T3" fmla="*/ 0 h 20"/>
                      <a:gd name="T4" fmla="*/ 20 w 22"/>
                      <a:gd name="T5" fmla="*/ 12 h 20"/>
                      <a:gd name="T6" fmla="*/ 8 w 22"/>
                      <a:gd name="T7" fmla="*/ 20 h 20"/>
                      <a:gd name="T8" fmla="*/ 12 w 22"/>
                      <a:gd name="T9" fmla="*/ 12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6" name="Freeform 60"/>
                  <p:cNvSpPr>
                    <a:spLocks/>
                  </p:cNvSpPr>
                  <p:nvPr/>
                </p:nvSpPr>
                <p:spPr bwMode="ltGray">
                  <a:xfrm>
                    <a:off x="1072" y="357"/>
                    <a:ext cx="25" cy="10"/>
                  </a:xfrm>
                  <a:custGeom>
                    <a:avLst/>
                    <a:gdLst>
                      <a:gd name="T0" fmla="*/ 24 w 57"/>
                      <a:gd name="T1" fmla="*/ 18 h 30"/>
                      <a:gd name="T2" fmla="*/ 32 w 57"/>
                      <a:gd name="T3" fmla="*/ 6 h 30"/>
                      <a:gd name="T4" fmla="*/ 36 w 57"/>
                      <a:gd name="T5" fmla="*/ 30 h 30"/>
                      <a:gd name="T6" fmla="*/ 24 w 57"/>
                      <a:gd name="T7" fmla="*/ 18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7" name="Freeform 61"/>
                  <p:cNvSpPr>
                    <a:spLocks/>
                  </p:cNvSpPr>
                  <p:nvPr/>
                </p:nvSpPr>
                <p:spPr bwMode="ltGray">
                  <a:xfrm>
                    <a:off x="1374" y="265"/>
                    <a:ext cx="295" cy="233"/>
                  </a:xfrm>
                  <a:custGeom>
                    <a:avLst/>
                    <a:gdLst>
                      <a:gd name="T0" fmla="*/ 473 w 693"/>
                      <a:gd name="T1" fmla="*/ 464 h 696"/>
                      <a:gd name="T2" fmla="*/ 393 w 693"/>
                      <a:gd name="T3" fmla="*/ 452 h 696"/>
                      <a:gd name="T4" fmla="*/ 325 w 693"/>
                      <a:gd name="T5" fmla="*/ 412 h 696"/>
                      <a:gd name="T6" fmla="*/ 265 w 693"/>
                      <a:gd name="T7" fmla="*/ 400 h 696"/>
                      <a:gd name="T8" fmla="*/ 237 w 693"/>
                      <a:gd name="T9" fmla="*/ 416 h 696"/>
                      <a:gd name="T10" fmla="*/ 261 w 693"/>
                      <a:gd name="T11" fmla="*/ 428 h 696"/>
                      <a:gd name="T12" fmla="*/ 293 w 693"/>
                      <a:gd name="T13" fmla="*/ 468 h 696"/>
                      <a:gd name="T14" fmla="*/ 321 w 693"/>
                      <a:gd name="T15" fmla="*/ 476 h 696"/>
                      <a:gd name="T16" fmla="*/ 333 w 693"/>
                      <a:gd name="T17" fmla="*/ 536 h 696"/>
                      <a:gd name="T18" fmla="*/ 313 w 693"/>
                      <a:gd name="T19" fmla="*/ 552 h 696"/>
                      <a:gd name="T20" fmla="*/ 261 w 693"/>
                      <a:gd name="T21" fmla="*/ 616 h 696"/>
                      <a:gd name="T22" fmla="*/ 225 w 693"/>
                      <a:gd name="T23" fmla="*/ 628 h 696"/>
                      <a:gd name="T24" fmla="*/ 97 w 693"/>
                      <a:gd name="T25" fmla="*/ 696 h 696"/>
                      <a:gd name="T26" fmla="*/ 77 w 693"/>
                      <a:gd name="T27" fmla="*/ 616 h 696"/>
                      <a:gd name="T28" fmla="*/ 45 w 693"/>
                      <a:gd name="T29" fmla="*/ 524 h 696"/>
                      <a:gd name="T30" fmla="*/ 33 w 693"/>
                      <a:gd name="T31" fmla="*/ 448 h 696"/>
                      <a:gd name="T32" fmla="*/ 53 w 693"/>
                      <a:gd name="T33" fmla="*/ 344 h 696"/>
                      <a:gd name="T34" fmla="*/ 17 w 693"/>
                      <a:gd name="T35" fmla="*/ 392 h 696"/>
                      <a:gd name="T36" fmla="*/ 81 w 693"/>
                      <a:gd name="T37" fmla="*/ 280 h 696"/>
                      <a:gd name="T38" fmla="*/ 113 w 693"/>
                      <a:gd name="T39" fmla="*/ 204 h 696"/>
                      <a:gd name="T40" fmla="*/ 37 w 693"/>
                      <a:gd name="T41" fmla="*/ 204 h 696"/>
                      <a:gd name="T42" fmla="*/ 1 w 693"/>
                      <a:gd name="T43" fmla="*/ 196 h 696"/>
                      <a:gd name="T44" fmla="*/ 25 w 693"/>
                      <a:gd name="T45" fmla="*/ 140 h 696"/>
                      <a:gd name="T46" fmla="*/ 97 w 693"/>
                      <a:gd name="T47" fmla="*/ 112 h 696"/>
                      <a:gd name="T48" fmla="*/ 221 w 693"/>
                      <a:gd name="T49" fmla="*/ 124 h 696"/>
                      <a:gd name="T50" fmla="*/ 229 w 693"/>
                      <a:gd name="T51" fmla="*/ 64 h 696"/>
                      <a:gd name="T52" fmla="*/ 261 w 693"/>
                      <a:gd name="T53" fmla="*/ 0 h 696"/>
                      <a:gd name="T54" fmla="*/ 357 w 693"/>
                      <a:gd name="T55" fmla="*/ 44 h 696"/>
                      <a:gd name="T56" fmla="*/ 329 w 693"/>
                      <a:gd name="T57" fmla="*/ 88 h 696"/>
                      <a:gd name="T58" fmla="*/ 301 w 693"/>
                      <a:gd name="T59" fmla="*/ 176 h 696"/>
                      <a:gd name="T60" fmla="*/ 361 w 693"/>
                      <a:gd name="T61" fmla="*/ 192 h 696"/>
                      <a:gd name="T62" fmla="*/ 373 w 693"/>
                      <a:gd name="T63" fmla="*/ 136 h 696"/>
                      <a:gd name="T64" fmla="*/ 417 w 693"/>
                      <a:gd name="T65" fmla="*/ 92 h 696"/>
                      <a:gd name="T66" fmla="*/ 497 w 693"/>
                      <a:gd name="T67" fmla="*/ 88 h 696"/>
                      <a:gd name="T68" fmla="*/ 529 w 693"/>
                      <a:gd name="T69" fmla="*/ 52 h 696"/>
                      <a:gd name="T70" fmla="*/ 541 w 693"/>
                      <a:gd name="T71" fmla="*/ 460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8" name="Freeform 62"/>
                  <p:cNvSpPr>
                    <a:spLocks/>
                  </p:cNvSpPr>
                  <p:nvPr/>
                </p:nvSpPr>
                <p:spPr bwMode="ltGray">
                  <a:xfrm>
                    <a:off x="1173" y="247"/>
                    <a:ext cx="591" cy="95"/>
                  </a:xfrm>
                  <a:custGeom>
                    <a:avLst/>
                    <a:gdLst>
                      <a:gd name="T0" fmla="*/ 825 w 931"/>
                      <a:gd name="T1" fmla="*/ 0 h 149"/>
                      <a:gd name="T2" fmla="*/ 143 w 931"/>
                      <a:gd name="T3" fmla="*/ 29 h 149"/>
                      <a:gd name="T4" fmla="*/ 91 w 931"/>
                      <a:gd name="T5" fmla="*/ 42 h 149"/>
                      <a:gd name="T6" fmla="*/ 62 w 931"/>
                      <a:gd name="T7" fmla="*/ 42 h 149"/>
                      <a:gd name="T8" fmla="*/ 22 w 931"/>
                      <a:gd name="T9" fmla="*/ 77 h 149"/>
                      <a:gd name="T10" fmla="*/ 0 w 931"/>
                      <a:gd name="T11" fmla="*/ 105 h 149"/>
                      <a:gd name="T12" fmla="*/ 59 w 931"/>
                      <a:gd name="T13" fmla="*/ 115 h 149"/>
                      <a:gd name="T14" fmla="*/ 97 w 931"/>
                      <a:gd name="T15" fmla="*/ 96 h 149"/>
                      <a:gd name="T16" fmla="*/ 108 w 931"/>
                      <a:gd name="T17" fmla="*/ 84 h 149"/>
                      <a:gd name="T18" fmla="*/ 167 w 931"/>
                      <a:gd name="T19" fmla="*/ 52 h 149"/>
                      <a:gd name="T20" fmla="*/ 215 w 931"/>
                      <a:gd name="T21" fmla="*/ 46 h 149"/>
                      <a:gd name="T22" fmla="*/ 237 w 931"/>
                      <a:gd name="T23" fmla="*/ 94 h 149"/>
                      <a:gd name="T24" fmla="*/ 188 w 931"/>
                      <a:gd name="T25" fmla="*/ 109 h 149"/>
                      <a:gd name="T26" fmla="*/ 231 w 931"/>
                      <a:gd name="T27" fmla="*/ 113 h 149"/>
                      <a:gd name="T28" fmla="*/ 250 w 931"/>
                      <a:gd name="T29" fmla="*/ 90 h 149"/>
                      <a:gd name="T30" fmla="*/ 266 w 931"/>
                      <a:gd name="T31" fmla="*/ 92 h 149"/>
                      <a:gd name="T32" fmla="*/ 253 w 931"/>
                      <a:gd name="T33" fmla="*/ 54 h 149"/>
                      <a:gd name="T34" fmla="*/ 266 w 931"/>
                      <a:gd name="T35" fmla="*/ 44 h 149"/>
                      <a:gd name="T36" fmla="*/ 277 w 931"/>
                      <a:gd name="T37" fmla="*/ 88 h 149"/>
                      <a:gd name="T38" fmla="*/ 266 w 931"/>
                      <a:gd name="T39" fmla="*/ 113 h 149"/>
                      <a:gd name="T40" fmla="*/ 296 w 931"/>
                      <a:gd name="T41" fmla="*/ 130 h 149"/>
                      <a:gd name="T42" fmla="*/ 299 w 931"/>
                      <a:gd name="T43" fmla="*/ 92 h 149"/>
                      <a:gd name="T44" fmla="*/ 331 w 931"/>
                      <a:gd name="T45" fmla="*/ 103 h 149"/>
                      <a:gd name="T46" fmla="*/ 382 w 931"/>
                      <a:gd name="T47" fmla="*/ 73 h 149"/>
                      <a:gd name="T48" fmla="*/ 409 w 931"/>
                      <a:gd name="T49" fmla="*/ 50 h 149"/>
                      <a:gd name="T50" fmla="*/ 439 w 931"/>
                      <a:gd name="T51" fmla="*/ 56 h 149"/>
                      <a:gd name="T52" fmla="*/ 455 w 931"/>
                      <a:gd name="T53" fmla="*/ 50 h 149"/>
                      <a:gd name="T54" fmla="*/ 431 w 931"/>
                      <a:gd name="T55" fmla="*/ 44 h 149"/>
                      <a:gd name="T56" fmla="*/ 474 w 931"/>
                      <a:gd name="T57" fmla="*/ 35 h 149"/>
                      <a:gd name="T58" fmla="*/ 544 w 931"/>
                      <a:gd name="T59" fmla="*/ 54 h 149"/>
                      <a:gd name="T60" fmla="*/ 581 w 931"/>
                      <a:gd name="T61" fmla="*/ 42 h 149"/>
                      <a:gd name="T62" fmla="*/ 584 w 931"/>
                      <a:gd name="T63" fmla="*/ 63 h 149"/>
                      <a:gd name="T64" fmla="*/ 568 w 931"/>
                      <a:gd name="T65" fmla="*/ 101 h 149"/>
                      <a:gd name="T66" fmla="*/ 611 w 931"/>
                      <a:gd name="T67" fmla="*/ 88 h 149"/>
                      <a:gd name="T68" fmla="*/ 624 w 931"/>
                      <a:gd name="T69" fmla="*/ 80 h 149"/>
                      <a:gd name="T70" fmla="*/ 648 w 931"/>
                      <a:gd name="T71" fmla="*/ 61 h 149"/>
                      <a:gd name="T72" fmla="*/ 794 w 931"/>
                      <a:gd name="T73" fmla="*/ 84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79" name="Freeform 63"/>
                  <p:cNvSpPr>
                    <a:spLocks/>
                  </p:cNvSpPr>
                  <p:nvPr/>
                </p:nvSpPr>
                <p:spPr bwMode="ltGray">
                  <a:xfrm>
                    <a:off x="1293" y="282"/>
                    <a:ext cx="13" cy="10"/>
                  </a:xfrm>
                  <a:custGeom>
                    <a:avLst/>
                    <a:gdLst>
                      <a:gd name="T0" fmla="*/ 3 w 31"/>
                      <a:gd name="T1" fmla="*/ 28 h 30"/>
                      <a:gd name="T2" fmla="*/ 31 w 31"/>
                      <a:gd name="T3" fmla="*/ 0 h 30"/>
                      <a:gd name="T4" fmla="*/ 19 w 31"/>
                      <a:gd name="T5" fmla="*/ 24 h 30"/>
                      <a:gd name="T6" fmla="*/ 3 w 31"/>
                      <a:gd name="T7" fmla="*/ 28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80" name="Freeform 64"/>
                  <p:cNvSpPr>
                    <a:spLocks/>
                  </p:cNvSpPr>
                  <p:nvPr/>
                </p:nvSpPr>
                <p:spPr bwMode="ltGray">
                  <a:xfrm>
                    <a:off x="1278" y="296"/>
                    <a:ext cx="19" cy="11"/>
                  </a:xfrm>
                  <a:custGeom>
                    <a:avLst/>
                    <a:gdLst>
                      <a:gd name="T0" fmla="*/ 6 w 44"/>
                      <a:gd name="T1" fmla="*/ 32 h 32"/>
                      <a:gd name="T2" fmla="*/ 22 w 44"/>
                      <a:gd name="T3" fmla="*/ 0 h 32"/>
                      <a:gd name="T4" fmla="*/ 38 w 44"/>
                      <a:gd name="T5" fmla="*/ 4 h 32"/>
                      <a:gd name="T6" fmla="*/ 6 w 44"/>
                      <a:gd name="T7" fmla="*/ 32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81" name="Freeform 65"/>
                  <p:cNvSpPr>
                    <a:spLocks/>
                  </p:cNvSpPr>
                  <p:nvPr/>
                </p:nvSpPr>
                <p:spPr bwMode="ltGray">
                  <a:xfrm>
                    <a:off x="1340" y="337"/>
                    <a:ext cx="32" cy="6"/>
                  </a:xfrm>
                  <a:custGeom>
                    <a:avLst/>
                    <a:gdLst>
                      <a:gd name="T0" fmla="*/ 37 w 76"/>
                      <a:gd name="T1" fmla="*/ 18 h 18"/>
                      <a:gd name="T2" fmla="*/ 25 w 76"/>
                      <a:gd name="T3" fmla="*/ 2 h 18"/>
                      <a:gd name="T4" fmla="*/ 37 w 76"/>
                      <a:gd name="T5" fmla="*/ 18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82" name="Freeform 66"/>
                  <p:cNvSpPr>
                    <a:spLocks/>
                  </p:cNvSpPr>
                  <p:nvPr/>
                </p:nvSpPr>
                <p:spPr bwMode="ltGray">
                  <a:xfrm>
                    <a:off x="1395" y="336"/>
                    <a:ext cx="18" cy="15"/>
                  </a:xfrm>
                  <a:custGeom>
                    <a:avLst/>
                    <a:gdLst>
                      <a:gd name="T0" fmla="*/ 0 w 42"/>
                      <a:gd name="T1" fmla="*/ 21 h 44"/>
                      <a:gd name="T2" fmla="*/ 12 w 42"/>
                      <a:gd name="T3" fmla="*/ 9 h 44"/>
                      <a:gd name="T4" fmla="*/ 0 w 42"/>
                      <a:gd name="T5" fmla="*/ 21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83" name="Freeform 67"/>
                  <p:cNvSpPr>
                    <a:spLocks/>
                  </p:cNvSpPr>
                  <p:nvPr/>
                </p:nvSpPr>
                <p:spPr bwMode="ltGray">
                  <a:xfrm>
                    <a:off x="1248" y="295"/>
                    <a:ext cx="14" cy="10"/>
                  </a:xfrm>
                  <a:custGeom>
                    <a:avLst/>
                    <a:gdLst>
                      <a:gd name="T0" fmla="*/ 7 w 31"/>
                      <a:gd name="T1" fmla="*/ 22 h 30"/>
                      <a:gd name="T2" fmla="*/ 31 w 31"/>
                      <a:gd name="T3" fmla="*/ 10 h 30"/>
                      <a:gd name="T4" fmla="*/ 7 w 31"/>
                      <a:gd name="T5" fmla="*/ 22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nvGrpSpPr>
                <p:cNvPr id="1085" name="Group 68"/>
                <p:cNvGrpSpPr>
                  <a:grpSpLocks/>
                </p:cNvGrpSpPr>
                <p:nvPr/>
              </p:nvGrpSpPr>
              <p:grpSpPr bwMode="auto">
                <a:xfrm>
                  <a:off x="3709" y="240"/>
                  <a:ext cx="1139" cy="429"/>
                  <a:chOff x="3709" y="240"/>
                  <a:chExt cx="1139" cy="429"/>
                </a:xfrm>
              </p:grpSpPr>
              <p:sp>
                <p:nvSpPr>
                  <p:cNvPr id="1086" name="Freeform 69"/>
                  <p:cNvSpPr>
                    <a:spLocks/>
                  </p:cNvSpPr>
                  <p:nvPr/>
                </p:nvSpPr>
                <p:spPr bwMode="ltGray">
                  <a:xfrm>
                    <a:off x="4808" y="616"/>
                    <a:ext cx="13" cy="14"/>
                  </a:xfrm>
                  <a:custGeom>
                    <a:avLst/>
                    <a:gdLst>
                      <a:gd name="T0" fmla="*/ 16 w 30"/>
                      <a:gd name="T1" fmla="*/ 33 h 42"/>
                      <a:gd name="T2" fmla="*/ 8 w 30"/>
                      <a:gd name="T3" fmla="*/ 21 h 42"/>
                      <a:gd name="T4" fmla="*/ 0 w 30"/>
                      <a:gd name="T5" fmla="*/ 9 h 42"/>
                      <a:gd name="T6" fmla="*/ 16 w 30"/>
                      <a:gd name="T7" fmla="*/ 3 h 42"/>
                      <a:gd name="T8" fmla="*/ 30 w 30"/>
                      <a:gd name="T9" fmla="*/ 23 h 42"/>
                      <a:gd name="T10" fmla="*/ 28 w 30"/>
                      <a:gd name="T11" fmla="*/ 31 h 42"/>
                      <a:gd name="T12" fmla="*/ 16 w 30"/>
                      <a:gd name="T13" fmla="*/ 33 h 4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0" h="42">
                        <a:moveTo>
                          <a:pt x="16" y="33"/>
                        </a:moveTo>
                        <a:cubicBezTo>
                          <a:pt x="3" y="20"/>
                          <a:pt x="15" y="34"/>
                          <a:pt x="8" y="21"/>
                        </a:cubicBezTo>
                        <a:cubicBezTo>
                          <a:pt x="6" y="17"/>
                          <a:pt x="0" y="9"/>
                          <a:pt x="0" y="9"/>
                        </a:cubicBezTo>
                        <a:cubicBezTo>
                          <a:pt x="5" y="1"/>
                          <a:pt x="7" y="0"/>
                          <a:pt x="16" y="3"/>
                        </a:cubicBezTo>
                        <a:cubicBezTo>
                          <a:pt x="25" y="16"/>
                          <a:pt x="10" y="16"/>
                          <a:pt x="30" y="23"/>
                        </a:cubicBezTo>
                        <a:cubicBezTo>
                          <a:pt x="29" y="26"/>
                          <a:pt x="30" y="29"/>
                          <a:pt x="28" y="31"/>
                        </a:cubicBezTo>
                        <a:cubicBezTo>
                          <a:pt x="15" y="42"/>
                          <a:pt x="16" y="38"/>
                          <a:pt x="16" y="33"/>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87" name="Freeform 70"/>
                  <p:cNvSpPr>
                    <a:spLocks/>
                  </p:cNvSpPr>
                  <p:nvPr/>
                </p:nvSpPr>
                <p:spPr bwMode="ltGray">
                  <a:xfrm>
                    <a:off x="4655" y="629"/>
                    <a:ext cx="11" cy="5"/>
                  </a:xfrm>
                  <a:custGeom>
                    <a:avLst/>
                    <a:gdLst>
                      <a:gd name="T0" fmla="*/ 15 w 25"/>
                      <a:gd name="T1" fmla="*/ 16 h 16"/>
                      <a:gd name="T2" fmla="*/ 3 w 25"/>
                      <a:gd name="T3" fmla="*/ 8 h 16"/>
                      <a:gd name="T4" fmla="*/ 15 w 25"/>
                      <a:gd name="T5" fmla="*/ 0 h 16"/>
                      <a:gd name="T6" fmla="*/ 15 w 25"/>
                      <a:gd name="T7" fmla="*/ 16 h 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5" h="16">
                        <a:moveTo>
                          <a:pt x="15" y="16"/>
                        </a:moveTo>
                        <a:cubicBezTo>
                          <a:pt x="10" y="15"/>
                          <a:pt x="0" y="12"/>
                          <a:pt x="3" y="8"/>
                        </a:cubicBezTo>
                        <a:cubicBezTo>
                          <a:pt x="6" y="4"/>
                          <a:pt x="15" y="0"/>
                          <a:pt x="15" y="0"/>
                        </a:cubicBezTo>
                        <a:cubicBezTo>
                          <a:pt x="17" y="3"/>
                          <a:pt x="25" y="16"/>
                          <a:pt x="15"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88" name="Freeform 71"/>
                  <p:cNvSpPr>
                    <a:spLocks/>
                  </p:cNvSpPr>
                  <p:nvPr/>
                </p:nvSpPr>
                <p:spPr bwMode="ltGray">
                  <a:xfrm>
                    <a:off x="4609" y="635"/>
                    <a:ext cx="28" cy="16"/>
                  </a:xfrm>
                  <a:custGeom>
                    <a:avLst/>
                    <a:gdLst>
                      <a:gd name="T0" fmla="*/ 14 w 65"/>
                      <a:gd name="T1" fmla="*/ 24 h 46"/>
                      <a:gd name="T2" fmla="*/ 30 w 65"/>
                      <a:gd name="T3" fmla="*/ 4 h 46"/>
                      <a:gd name="T4" fmla="*/ 42 w 65"/>
                      <a:gd name="T5" fmla="*/ 0 h 46"/>
                      <a:gd name="T6" fmla="*/ 58 w 65"/>
                      <a:gd name="T7" fmla="*/ 12 h 46"/>
                      <a:gd name="T8" fmla="*/ 32 w 65"/>
                      <a:gd name="T9" fmla="*/ 26 h 46"/>
                      <a:gd name="T10" fmla="*/ 12 w 65"/>
                      <a:gd name="T11" fmla="*/ 46 h 46"/>
                      <a:gd name="T12" fmla="*/ 8 w 65"/>
                      <a:gd name="T13" fmla="*/ 20 h 46"/>
                      <a:gd name="T14" fmla="*/ 12 w 65"/>
                      <a:gd name="T15" fmla="*/ 14 h 46"/>
                      <a:gd name="T16" fmla="*/ 14 w 65"/>
                      <a:gd name="T17" fmla="*/ 24 h 4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5" h="46">
                        <a:moveTo>
                          <a:pt x="14" y="24"/>
                        </a:moveTo>
                        <a:cubicBezTo>
                          <a:pt x="18" y="13"/>
                          <a:pt x="16" y="9"/>
                          <a:pt x="30" y="4"/>
                        </a:cubicBezTo>
                        <a:cubicBezTo>
                          <a:pt x="34" y="3"/>
                          <a:pt x="42" y="0"/>
                          <a:pt x="42" y="0"/>
                        </a:cubicBezTo>
                        <a:cubicBezTo>
                          <a:pt x="50" y="1"/>
                          <a:pt x="65" y="0"/>
                          <a:pt x="58" y="12"/>
                        </a:cubicBezTo>
                        <a:cubicBezTo>
                          <a:pt x="53" y="21"/>
                          <a:pt x="40" y="21"/>
                          <a:pt x="32" y="26"/>
                        </a:cubicBezTo>
                        <a:cubicBezTo>
                          <a:pt x="26" y="35"/>
                          <a:pt x="23" y="42"/>
                          <a:pt x="12" y="46"/>
                        </a:cubicBezTo>
                        <a:cubicBezTo>
                          <a:pt x="0" y="42"/>
                          <a:pt x="5" y="30"/>
                          <a:pt x="8" y="20"/>
                        </a:cubicBezTo>
                        <a:cubicBezTo>
                          <a:pt x="9" y="18"/>
                          <a:pt x="10" y="13"/>
                          <a:pt x="12" y="14"/>
                        </a:cubicBezTo>
                        <a:cubicBezTo>
                          <a:pt x="15" y="16"/>
                          <a:pt x="13" y="21"/>
                          <a:pt x="14"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89" name="Freeform 72"/>
                  <p:cNvSpPr>
                    <a:spLocks/>
                  </p:cNvSpPr>
                  <p:nvPr/>
                </p:nvSpPr>
                <p:spPr bwMode="ltGray">
                  <a:xfrm>
                    <a:off x="4580" y="634"/>
                    <a:ext cx="29" cy="16"/>
                  </a:xfrm>
                  <a:custGeom>
                    <a:avLst/>
                    <a:gdLst>
                      <a:gd name="T0" fmla="*/ 0 w 69"/>
                      <a:gd name="T1" fmla="*/ 31 h 47"/>
                      <a:gd name="T2" fmla="*/ 18 w 69"/>
                      <a:gd name="T3" fmla="*/ 25 h 47"/>
                      <a:gd name="T4" fmla="*/ 52 w 69"/>
                      <a:gd name="T5" fmla="*/ 1 h 47"/>
                      <a:gd name="T6" fmla="*/ 64 w 69"/>
                      <a:gd name="T7" fmla="*/ 3 h 47"/>
                      <a:gd name="T8" fmla="*/ 50 w 69"/>
                      <a:gd name="T9" fmla="*/ 19 h 47"/>
                      <a:gd name="T10" fmla="*/ 28 w 69"/>
                      <a:gd name="T11" fmla="*/ 33 h 47"/>
                      <a:gd name="T12" fmla="*/ 22 w 69"/>
                      <a:gd name="T13" fmla="*/ 47 h 47"/>
                      <a:gd name="T14" fmla="*/ 16 w 69"/>
                      <a:gd name="T15" fmla="*/ 45 h 47"/>
                      <a:gd name="T16" fmla="*/ 12 w 69"/>
                      <a:gd name="T17" fmla="*/ 39 h 47"/>
                      <a:gd name="T18" fmla="*/ 0 w 69"/>
                      <a:gd name="T19" fmla="*/ 35 h 47"/>
                      <a:gd name="T20" fmla="*/ 0 w 69"/>
                      <a:gd name="T21" fmla="*/ 31 h 4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9" h="47">
                        <a:moveTo>
                          <a:pt x="0" y="31"/>
                        </a:moveTo>
                        <a:cubicBezTo>
                          <a:pt x="7" y="24"/>
                          <a:pt x="9" y="22"/>
                          <a:pt x="18" y="25"/>
                        </a:cubicBezTo>
                        <a:cubicBezTo>
                          <a:pt x="25" y="4"/>
                          <a:pt x="36" y="12"/>
                          <a:pt x="52" y="1"/>
                        </a:cubicBezTo>
                        <a:cubicBezTo>
                          <a:pt x="56" y="2"/>
                          <a:pt x="61" y="0"/>
                          <a:pt x="64" y="3"/>
                        </a:cubicBezTo>
                        <a:cubicBezTo>
                          <a:pt x="69" y="8"/>
                          <a:pt x="50" y="19"/>
                          <a:pt x="50" y="19"/>
                        </a:cubicBezTo>
                        <a:cubicBezTo>
                          <a:pt x="46" y="31"/>
                          <a:pt x="35" y="22"/>
                          <a:pt x="28" y="33"/>
                        </a:cubicBezTo>
                        <a:cubicBezTo>
                          <a:pt x="31" y="41"/>
                          <a:pt x="31" y="44"/>
                          <a:pt x="22" y="47"/>
                        </a:cubicBezTo>
                        <a:cubicBezTo>
                          <a:pt x="20" y="46"/>
                          <a:pt x="18" y="46"/>
                          <a:pt x="16" y="45"/>
                        </a:cubicBezTo>
                        <a:cubicBezTo>
                          <a:pt x="14" y="43"/>
                          <a:pt x="14" y="40"/>
                          <a:pt x="12" y="39"/>
                        </a:cubicBezTo>
                        <a:cubicBezTo>
                          <a:pt x="8" y="37"/>
                          <a:pt x="0" y="35"/>
                          <a:pt x="0" y="35"/>
                        </a:cubicBezTo>
                        <a:cubicBezTo>
                          <a:pt x="2" y="26"/>
                          <a:pt x="3" y="25"/>
                          <a:pt x="0" y="3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0" name="Freeform 73"/>
                  <p:cNvSpPr>
                    <a:spLocks/>
                  </p:cNvSpPr>
                  <p:nvPr/>
                </p:nvSpPr>
                <p:spPr bwMode="ltGray">
                  <a:xfrm>
                    <a:off x="4423" y="547"/>
                    <a:ext cx="151" cy="93"/>
                  </a:xfrm>
                  <a:custGeom>
                    <a:avLst/>
                    <a:gdLst>
                      <a:gd name="T0" fmla="*/ 10 w 355"/>
                      <a:gd name="T1" fmla="*/ 4 h 277"/>
                      <a:gd name="T2" fmla="*/ 36 w 355"/>
                      <a:gd name="T3" fmla="*/ 18 h 277"/>
                      <a:gd name="T4" fmla="*/ 46 w 355"/>
                      <a:gd name="T5" fmla="*/ 30 h 277"/>
                      <a:gd name="T6" fmla="*/ 76 w 355"/>
                      <a:gd name="T7" fmla="*/ 52 h 277"/>
                      <a:gd name="T8" fmla="*/ 92 w 355"/>
                      <a:gd name="T9" fmla="*/ 66 h 277"/>
                      <a:gd name="T10" fmla="*/ 122 w 355"/>
                      <a:gd name="T11" fmla="*/ 98 h 277"/>
                      <a:gd name="T12" fmla="*/ 136 w 355"/>
                      <a:gd name="T13" fmla="*/ 128 h 277"/>
                      <a:gd name="T14" fmla="*/ 148 w 355"/>
                      <a:gd name="T15" fmla="*/ 132 h 277"/>
                      <a:gd name="T16" fmla="*/ 154 w 355"/>
                      <a:gd name="T17" fmla="*/ 150 h 277"/>
                      <a:gd name="T18" fmla="*/ 176 w 355"/>
                      <a:gd name="T19" fmla="*/ 152 h 277"/>
                      <a:gd name="T20" fmla="*/ 170 w 355"/>
                      <a:gd name="T21" fmla="*/ 196 h 277"/>
                      <a:gd name="T22" fmla="*/ 180 w 355"/>
                      <a:gd name="T23" fmla="*/ 224 h 277"/>
                      <a:gd name="T24" fmla="*/ 198 w 355"/>
                      <a:gd name="T25" fmla="*/ 232 h 277"/>
                      <a:gd name="T26" fmla="*/ 216 w 355"/>
                      <a:gd name="T27" fmla="*/ 234 h 277"/>
                      <a:gd name="T28" fmla="*/ 236 w 355"/>
                      <a:gd name="T29" fmla="*/ 242 h 277"/>
                      <a:gd name="T30" fmla="*/ 254 w 355"/>
                      <a:gd name="T31" fmla="*/ 236 h 277"/>
                      <a:gd name="T32" fmla="*/ 272 w 355"/>
                      <a:gd name="T33" fmla="*/ 248 h 277"/>
                      <a:gd name="T34" fmla="*/ 296 w 355"/>
                      <a:gd name="T35" fmla="*/ 256 h 277"/>
                      <a:gd name="T36" fmla="*/ 314 w 355"/>
                      <a:gd name="T37" fmla="*/ 264 h 277"/>
                      <a:gd name="T38" fmla="*/ 352 w 355"/>
                      <a:gd name="T39" fmla="*/ 266 h 277"/>
                      <a:gd name="T40" fmla="*/ 342 w 355"/>
                      <a:gd name="T41" fmla="*/ 274 h 277"/>
                      <a:gd name="T42" fmla="*/ 322 w 355"/>
                      <a:gd name="T43" fmla="*/ 272 h 277"/>
                      <a:gd name="T44" fmla="*/ 300 w 355"/>
                      <a:gd name="T45" fmla="*/ 270 h 277"/>
                      <a:gd name="T46" fmla="*/ 288 w 355"/>
                      <a:gd name="T47" fmla="*/ 266 h 277"/>
                      <a:gd name="T48" fmla="*/ 252 w 355"/>
                      <a:gd name="T49" fmla="*/ 264 h 277"/>
                      <a:gd name="T50" fmla="*/ 234 w 355"/>
                      <a:gd name="T51" fmla="*/ 260 h 277"/>
                      <a:gd name="T52" fmla="*/ 172 w 355"/>
                      <a:gd name="T53" fmla="*/ 242 h 277"/>
                      <a:gd name="T54" fmla="*/ 160 w 355"/>
                      <a:gd name="T55" fmla="*/ 216 h 277"/>
                      <a:gd name="T56" fmla="*/ 126 w 355"/>
                      <a:gd name="T57" fmla="*/ 200 h 277"/>
                      <a:gd name="T58" fmla="*/ 108 w 355"/>
                      <a:gd name="T59" fmla="*/ 186 h 277"/>
                      <a:gd name="T60" fmla="*/ 94 w 355"/>
                      <a:gd name="T61" fmla="*/ 158 h 277"/>
                      <a:gd name="T62" fmla="*/ 68 w 355"/>
                      <a:gd name="T63" fmla="*/ 108 h 277"/>
                      <a:gd name="T64" fmla="*/ 64 w 355"/>
                      <a:gd name="T65" fmla="*/ 102 h 277"/>
                      <a:gd name="T66" fmla="*/ 58 w 355"/>
                      <a:gd name="T67" fmla="*/ 100 h 277"/>
                      <a:gd name="T68" fmla="*/ 54 w 355"/>
                      <a:gd name="T69" fmla="*/ 88 h 277"/>
                      <a:gd name="T70" fmla="*/ 38 w 355"/>
                      <a:gd name="T71" fmla="*/ 58 h 277"/>
                      <a:gd name="T72" fmla="*/ 20 w 355"/>
                      <a:gd name="T73" fmla="*/ 40 h 277"/>
                      <a:gd name="T74" fmla="*/ 4 w 355"/>
                      <a:gd name="T75" fmla="*/ 22 h 277"/>
                      <a:gd name="T76" fmla="*/ 10 w 355"/>
                      <a:gd name="T77" fmla="*/ 2 h 277"/>
                      <a:gd name="T78" fmla="*/ 10 w 355"/>
                      <a:gd name="T79" fmla="*/ 4 h 277"/>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55" h="277">
                        <a:moveTo>
                          <a:pt x="10" y="4"/>
                        </a:moveTo>
                        <a:cubicBezTo>
                          <a:pt x="22" y="0"/>
                          <a:pt x="24" y="14"/>
                          <a:pt x="36" y="18"/>
                        </a:cubicBezTo>
                        <a:cubicBezTo>
                          <a:pt x="37" y="19"/>
                          <a:pt x="45" y="29"/>
                          <a:pt x="46" y="30"/>
                        </a:cubicBezTo>
                        <a:cubicBezTo>
                          <a:pt x="56" y="40"/>
                          <a:pt x="67" y="38"/>
                          <a:pt x="76" y="52"/>
                        </a:cubicBezTo>
                        <a:cubicBezTo>
                          <a:pt x="80" y="58"/>
                          <a:pt x="92" y="66"/>
                          <a:pt x="92" y="66"/>
                        </a:cubicBezTo>
                        <a:cubicBezTo>
                          <a:pt x="96" y="79"/>
                          <a:pt x="112" y="88"/>
                          <a:pt x="122" y="98"/>
                        </a:cubicBezTo>
                        <a:cubicBezTo>
                          <a:pt x="124" y="105"/>
                          <a:pt x="130" y="124"/>
                          <a:pt x="136" y="128"/>
                        </a:cubicBezTo>
                        <a:cubicBezTo>
                          <a:pt x="140" y="130"/>
                          <a:pt x="148" y="132"/>
                          <a:pt x="148" y="132"/>
                        </a:cubicBezTo>
                        <a:cubicBezTo>
                          <a:pt x="150" y="138"/>
                          <a:pt x="154" y="150"/>
                          <a:pt x="154" y="150"/>
                        </a:cubicBezTo>
                        <a:cubicBezTo>
                          <a:pt x="161" y="139"/>
                          <a:pt x="168" y="144"/>
                          <a:pt x="176" y="152"/>
                        </a:cubicBezTo>
                        <a:cubicBezTo>
                          <a:pt x="174" y="167"/>
                          <a:pt x="173" y="181"/>
                          <a:pt x="170" y="196"/>
                        </a:cubicBezTo>
                        <a:cubicBezTo>
                          <a:pt x="171" y="202"/>
                          <a:pt x="174" y="220"/>
                          <a:pt x="180" y="224"/>
                        </a:cubicBezTo>
                        <a:cubicBezTo>
                          <a:pt x="185" y="228"/>
                          <a:pt x="193" y="228"/>
                          <a:pt x="198" y="232"/>
                        </a:cubicBezTo>
                        <a:cubicBezTo>
                          <a:pt x="204" y="230"/>
                          <a:pt x="216" y="234"/>
                          <a:pt x="216" y="234"/>
                        </a:cubicBezTo>
                        <a:cubicBezTo>
                          <a:pt x="223" y="241"/>
                          <a:pt x="225" y="245"/>
                          <a:pt x="236" y="242"/>
                        </a:cubicBezTo>
                        <a:cubicBezTo>
                          <a:pt x="242" y="240"/>
                          <a:pt x="254" y="236"/>
                          <a:pt x="254" y="236"/>
                        </a:cubicBezTo>
                        <a:cubicBezTo>
                          <a:pt x="260" y="240"/>
                          <a:pt x="265" y="246"/>
                          <a:pt x="272" y="248"/>
                        </a:cubicBezTo>
                        <a:cubicBezTo>
                          <a:pt x="277" y="250"/>
                          <a:pt x="291" y="252"/>
                          <a:pt x="296" y="256"/>
                        </a:cubicBezTo>
                        <a:cubicBezTo>
                          <a:pt x="301" y="260"/>
                          <a:pt x="314" y="264"/>
                          <a:pt x="314" y="264"/>
                        </a:cubicBezTo>
                        <a:cubicBezTo>
                          <a:pt x="330" y="263"/>
                          <a:pt x="338" y="261"/>
                          <a:pt x="352" y="266"/>
                        </a:cubicBezTo>
                        <a:cubicBezTo>
                          <a:pt x="355" y="275"/>
                          <a:pt x="350" y="277"/>
                          <a:pt x="342" y="274"/>
                        </a:cubicBezTo>
                        <a:cubicBezTo>
                          <a:pt x="336" y="276"/>
                          <a:pt x="322" y="272"/>
                          <a:pt x="322" y="272"/>
                        </a:cubicBezTo>
                        <a:cubicBezTo>
                          <a:pt x="314" y="275"/>
                          <a:pt x="308" y="272"/>
                          <a:pt x="300" y="270"/>
                        </a:cubicBezTo>
                        <a:cubicBezTo>
                          <a:pt x="296" y="269"/>
                          <a:pt x="288" y="266"/>
                          <a:pt x="288" y="266"/>
                        </a:cubicBezTo>
                        <a:cubicBezTo>
                          <a:pt x="276" y="270"/>
                          <a:pt x="264" y="266"/>
                          <a:pt x="252" y="264"/>
                        </a:cubicBezTo>
                        <a:cubicBezTo>
                          <a:pt x="245" y="259"/>
                          <a:pt x="242" y="257"/>
                          <a:pt x="234" y="260"/>
                        </a:cubicBezTo>
                        <a:cubicBezTo>
                          <a:pt x="211" y="252"/>
                          <a:pt x="192" y="256"/>
                          <a:pt x="172" y="242"/>
                        </a:cubicBezTo>
                        <a:cubicBezTo>
                          <a:pt x="165" y="231"/>
                          <a:pt x="176" y="221"/>
                          <a:pt x="160" y="216"/>
                        </a:cubicBezTo>
                        <a:cubicBezTo>
                          <a:pt x="154" y="233"/>
                          <a:pt x="136" y="203"/>
                          <a:pt x="126" y="200"/>
                        </a:cubicBezTo>
                        <a:cubicBezTo>
                          <a:pt x="120" y="196"/>
                          <a:pt x="114" y="190"/>
                          <a:pt x="108" y="186"/>
                        </a:cubicBezTo>
                        <a:cubicBezTo>
                          <a:pt x="104" y="175"/>
                          <a:pt x="104" y="165"/>
                          <a:pt x="94" y="158"/>
                        </a:cubicBezTo>
                        <a:cubicBezTo>
                          <a:pt x="83" y="142"/>
                          <a:pt x="85" y="119"/>
                          <a:pt x="68" y="108"/>
                        </a:cubicBezTo>
                        <a:cubicBezTo>
                          <a:pt x="67" y="106"/>
                          <a:pt x="66" y="104"/>
                          <a:pt x="64" y="102"/>
                        </a:cubicBezTo>
                        <a:cubicBezTo>
                          <a:pt x="62" y="101"/>
                          <a:pt x="59" y="102"/>
                          <a:pt x="58" y="100"/>
                        </a:cubicBezTo>
                        <a:cubicBezTo>
                          <a:pt x="56" y="97"/>
                          <a:pt x="54" y="88"/>
                          <a:pt x="54" y="88"/>
                        </a:cubicBezTo>
                        <a:cubicBezTo>
                          <a:pt x="59" y="73"/>
                          <a:pt x="52" y="61"/>
                          <a:pt x="38" y="58"/>
                        </a:cubicBezTo>
                        <a:cubicBezTo>
                          <a:pt x="32" y="49"/>
                          <a:pt x="31" y="44"/>
                          <a:pt x="20" y="40"/>
                        </a:cubicBezTo>
                        <a:cubicBezTo>
                          <a:pt x="16" y="27"/>
                          <a:pt x="16" y="26"/>
                          <a:pt x="4" y="22"/>
                        </a:cubicBezTo>
                        <a:cubicBezTo>
                          <a:pt x="1" y="13"/>
                          <a:pt x="0" y="5"/>
                          <a:pt x="10" y="2"/>
                        </a:cubicBezTo>
                        <a:cubicBezTo>
                          <a:pt x="18" y="5"/>
                          <a:pt x="18" y="4"/>
                          <a:pt x="10"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1" name="Freeform 74"/>
                  <p:cNvSpPr>
                    <a:spLocks/>
                  </p:cNvSpPr>
                  <p:nvPr/>
                </p:nvSpPr>
                <p:spPr bwMode="ltGray">
                  <a:xfrm>
                    <a:off x="4515" y="541"/>
                    <a:ext cx="67" cy="68"/>
                  </a:xfrm>
                  <a:custGeom>
                    <a:avLst/>
                    <a:gdLst>
                      <a:gd name="T0" fmla="*/ 54 w 156"/>
                      <a:gd name="T1" fmla="*/ 66 h 206"/>
                      <a:gd name="T2" fmla="*/ 66 w 156"/>
                      <a:gd name="T3" fmla="*/ 58 h 206"/>
                      <a:gd name="T4" fmla="*/ 68 w 156"/>
                      <a:gd name="T5" fmla="*/ 52 h 206"/>
                      <a:gd name="T6" fmla="*/ 80 w 156"/>
                      <a:gd name="T7" fmla="*/ 44 h 206"/>
                      <a:gd name="T8" fmla="*/ 106 w 156"/>
                      <a:gd name="T9" fmla="*/ 22 h 206"/>
                      <a:gd name="T10" fmla="*/ 112 w 156"/>
                      <a:gd name="T11" fmla="*/ 4 h 206"/>
                      <a:gd name="T12" fmla="*/ 124 w 156"/>
                      <a:gd name="T13" fmla="*/ 0 h 206"/>
                      <a:gd name="T14" fmla="*/ 150 w 156"/>
                      <a:gd name="T15" fmla="*/ 28 h 206"/>
                      <a:gd name="T16" fmla="*/ 146 w 156"/>
                      <a:gd name="T17" fmla="*/ 44 h 206"/>
                      <a:gd name="T18" fmla="*/ 126 w 156"/>
                      <a:gd name="T19" fmla="*/ 64 h 206"/>
                      <a:gd name="T20" fmla="*/ 132 w 156"/>
                      <a:gd name="T21" fmla="*/ 94 h 206"/>
                      <a:gd name="T22" fmla="*/ 142 w 156"/>
                      <a:gd name="T23" fmla="*/ 110 h 206"/>
                      <a:gd name="T24" fmla="*/ 146 w 156"/>
                      <a:gd name="T25" fmla="*/ 128 h 206"/>
                      <a:gd name="T26" fmla="*/ 128 w 156"/>
                      <a:gd name="T27" fmla="*/ 128 h 206"/>
                      <a:gd name="T28" fmla="*/ 116 w 156"/>
                      <a:gd name="T29" fmla="*/ 146 h 206"/>
                      <a:gd name="T30" fmla="*/ 104 w 156"/>
                      <a:gd name="T31" fmla="*/ 156 h 206"/>
                      <a:gd name="T32" fmla="*/ 100 w 156"/>
                      <a:gd name="T33" fmla="*/ 198 h 206"/>
                      <a:gd name="T34" fmla="*/ 88 w 156"/>
                      <a:gd name="T35" fmla="*/ 202 h 206"/>
                      <a:gd name="T36" fmla="*/ 82 w 156"/>
                      <a:gd name="T37" fmla="*/ 206 h 206"/>
                      <a:gd name="T38" fmla="*/ 76 w 156"/>
                      <a:gd name="T39" fmla="*/ 202 h 206"/>
                      <a:gd name="T40" fmla="*/ 72 w 156"/>
                      <a:gd name="T41" fmla="*/ 190 h 206"/>
                      <a:gd name="T42" fmla="*/ 60 w 156"/>
                      <a:gd name="T43" fmla="*/ 186 h 206"/>
                      <a:gd name="T44" fmla="*/ 42 w 156"/>
                      <a:gd name="T45" fmla="*/ 194 h 206"/>
                      <a:gd name="T46" fmla="*/ 28 w 156"/>
                      <a:gd name="T47" fmla="*/ 186 h 206"/>
                      <a:gd name="T48" fmla="*/ 10 w 156"/>
                      <a:gd name="T49" fmla="*/ 148 h 206"/>
                      <a:gd name="T50" fmla="*/ 4 w 156"/>
                      <a:gd name="T51" fmla="*/ 130 h 206"/>
                      <a:gd name="T52" fmla="*/ 0 w 156"/>
                      <a:gd name="T53" fmla="*/ 118 h 206"/>
                      <a:gd name="T54" fmla="*/ 20 w 156"/>
                      <a:gd name="T55" fmla="*/ 96 h 206"/>
                      <a:gd name="T56" fmla="*/ 32 w 156"/>
                      <a:gd name="T57" fmla="*/ 104 h 206"/>
                      <a:gd name="T58" fmla="*/ 34 w 156"/>
                      <a:gd name="T59" fmla="*/ 80 h 206"/>
                      <a:gd name="T60" fmla="*/ 52 w 156"/>
                      <a:gd name="T61" fmla="*/ 70 h 206"/>
                      <a:gd name="T62" fmla="*/ 54 w 156"/>
                      <a:gd name="T63" fmla="*/ 66 h 20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56" h="206">
                        <a:moveTo>
                          <a:pt x="54" y="66"/>
                        </a:moveTo>
                        <a:cubicBezTo>
                          <a:pt x="58" y="63"/>
                          <a:pt x="64" y="63"/>
                          <a:pt x="66" y="58"/>
                        </a:cubicBezTo>
                        <a:cubicBezTo>
                          <a:pt x="67" y="56"/>
                          <a:pt x="67" y="53"/>
                          <a:pt x="68" y="52"/>
                        </a:cubicBezTo>
                        <a:cubicBezTo>
                          <a:pt x="71" y="49"/>
                          <a:pt x="80" y="44"/>
                          <a:pt x="80" y="44"/>
                        </a:cubicBezTo>
                        <a:cubicBezTo>
                          <a:pt x="113" y="55"/>
                          <a:pt x="85" y="29"/>
                          <a:pt x="106" y="22"/>
                        </a:cubicBezTo>
                        <a:cubicBezTo>
                          <a:pt x="110" y="17"/>
                          <a:pt x="108" y="9"/>
                          <a:pt x="112" y="4"/>
                        </a:cubicBezTo>
                        <a:cubicBezTo>
                          <a:pt x="115" y="1"/>
                          <a:pt x="124" y="0"/>
                          <a:pt x="124" y="0"/>
                        </a:cubicBezTo>
                        <a:cubicBezTo>
                          <a:pt x="138" y="14"/>
                          <a:pt x="126" y="23"/>
                          <a:pt x="150" y="28"/>
                        </a:cubicBezTo>
                        <a:cubicBezTo>
                          <a:pt x="156" y="36"/>
                          <a:pt x="154" y="39"/>
                          <a:pt x="146" y="44"/>
                        </a:cubicBezTo>
                        <a:cubicBezTo>
                          <a:pt x="141" y="52"/>
                          <a:pt x="135" y="61"/>
                          <a:pt x="126" y="64"/>
                        </a:cubicBezTo>
                        <a:cubicBezTo>
                          <a:pt x="118" y="75"/>
                          <a:pt x="128" y="83"/>
                          <a:pt x="132" y="94"/>
                        </a:cubicBezTo>
                        <a:cubicBezTo>
                          <a:pt x="129" y="103"/>
                          <a:pt x="135" y="105"/>
                          <a:pt x="142" y="110"/>
                        </a:cubicBezTo>
                        <a:cubicBezTo>
                          <a:pt x="145" y="119"/>
                          <a:pt x="141" y="120"/>
                          <a:pt x="146" y="128"/>
                        </a:cubicBezTo>
                        <a:cubicBezTo>
                          <a:pt x="142" y="139"/>
                          <a:pt x="135" y="133"/>
                          <a:pt x="128" y="128"/>
                        </a:cubicBezTo>
                        <a:cubicBezTo>
                          <a:pt x="116" y="132"/>
                          <a:pt x="122" y="136"/>
                          <a:pt x="116" y="146"/>
                        </a:cubicBezTo>
                        <a:cubicBezTo>
                          <a:pt x="113" y="151"/>
                          <a:pt x="108" y="152"/>
                          <a:pt x="104" y="156"/>
                        </a:cubicBezTo>
                        <a:cubicBezTo>
                          <a:pt x="107" y="167"/>
                          <a:pt x="112" y="191"/>
                          <a:pt x="100" y="198"/>
                        </a:cubicBezTo>
                        <a:cubicBezTo>
                          <a:pt x="96" y="200"/>
                          <a:pt x="92" y="200"/>
                          <a:pt x="88" y="202"/>
                        </a:cubicBezTo>
                        <a:cubicBezTo>
                          <a:pt x="86" y="203"/>
                          <a:pt x="84" y="205"/>
                          <a:pt x="82" y="206"/>
                        </a:cubicBezTo>
                        <a:cubicBezTo>
                          <a:pt x="80" y="205"/>
                          <a:pt x="77" y="204"/>
                          <a:pt x="76" y="202"/>
                        </a:cubicBezTo>
                        <a:cubicBezTo>
                          <a:pt x="74" y="198"/>
                          <a:pt x="76" y="191"/>
                          <a:pt x="72" y="190"/>
                        </a:cubicBezTo>
                        <a:cubicBezTo>
                          <a:pt x="68" y="189"/>
                          <a:pt x="60" y="186"/>
                          <a:pt x="60" y="186"/>
                        </a:cubicBezTo>
                        <a:cubicBezTo>
                          <a:pt x="53" y="188"/>
                          <a:pt x="49" y="192"/>
                          <a:pt x="42" y="194"/>
                        </a:cubicBezTo>
                        <a:cubicBezTo>
                          <a:pt x="34" y="189"/>
                          <a:pt x="37" y="183"/>
                          <a:pt x="28" y="186"/>
                        </a:cubicBezTo>
                        <a:cubicBezTo>
                          <a:pt x="12" y="181"/>
                          <a:pt x="19" y="161"/>
                          <a:pt x="10" y="148"/>
                        </a:cubicBezTo>
                        <a:cubicBezTo>
                          <a:pt x="5" y="121"/>
                          <a:pt x="11" y="147"/>
                          <a:pt x="4" y="130"/>
                        </a:cubicBezTo>
                        <a:cubicBezTo>
                          <a:pt x="2" y="126"/>
                          <a:pt x="0" y="118"/>
                          <a:pt x="0" y="118"/>
                        </a:cubicBezTo>
                        <a:cubicBezTo>
                          <a:pt x="2" y="95"/>
                          <a:pt x="0" y="83"/>
                          <a:pt x="20" y="96"/>
                        </a:cubicBezTo>
                        <a:cubicBezTo>
                          <a:pt x="23" y="105"/>
                          <a:pt x="23" y="110"/>
                          <a:pt x="32" y="104"/>
                        </a:cubicBezTo>
                        <a:cubicBezTo>
                          <a:pt x="35" y="95"/>
                          <a:pt x="29" y="88"/>
                          <a:pt x="34" y="80"/>
                        </a:cubicBezTo>
                        <a:cubicBezTo>
                          <a:pt x="36" y="76"/>
                          <a:pt x="48" y="73"/>
                          <a:pt x="52" y="70"/>
                        </a:cubicBezTo>
                        <a:cubicBezTo>
                          <a:pt x="57" y="63"/>
                          <a:pt x="58" y="62"/>
                          <a:pt x="54" y="6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2" name="Freeform 75"/>
                  <p:cNvSpPr>
                    <a:spLocks/>
                  </p:cNvSpPr>
                  <p:nvPr/>
                </p:nvSpPr>
                <p:spPr bwMode="ltGray">
                  <a:xfrm>
                    <a:off x="4580" y="572"/>
                    <a:ext cx="47" cy="13"/>
                  </a:xfrm>
                  <a:custGeom>
                    <a:avLst/>
                    <a:gdLst>
                      <a:gd name="T0" fmla="*/ 4 w 109"/>
                      <a:gd name="T1" fmla="*/ 32 h 38"/>
                      <a:gd name="T2" fmla="*/ 18 w 109"/>
                      <a:gd name="T3" fmla="*/ 10 h 38"/>
                      <a:gd name="T4" fmla="*/ 46 w 109"/>
                      <a:gd name="T5" fmla="*/ 20 h 38"/>
                      <a:gd name="T6" fmla="*/ 72 w 109"/>
                      <a:gd name="T7" fmla="*/ 14 h 38"/>
                      <a:gd name="T8" fmla="*/ 90 w 109"/>
                      <a:gd name="T9" fmla="*/ 0 h 38"/>
                      <a:gd name="T10" fmla="*/ 76 w 109"/>
                      <a:gd name="T11" fmla="*/ 26 h 38"/>
                      <a:gd name="T12" fmla="*/ 60 w 109"/>
                      <a:gd name="T13" fmla="*/ 38 h 38"/>
                      <a:gd name="T14" fmla="*/ 42 w 109"/>
                      <a:gd name="T15" fmla="*/ 32 h 38"/>
                      <a:gd name="T16" fmla="*/ 14 w 109"/>
                      <a:gd name="T17" fmla="*/ 30 h 38"/>
                      <a:gd name="T18" fmla="*/ 4 w 109"/>
                      <a:gd name="T19" fmla="*/ 32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9" h="38">
                        <a:moveTo>
                          <a:pt x="4" y="32"/>
                        </a:moveTo>
                        <a:cubicBezTo>
                          <a:pt x="7" y="22"/>
                          <a:pt x="7" y="14"/>
                          <a:pt x="18" y="10"/>
                        </a:cubicBezTo>
                        <a:cubicBezTo>
                          <a:pt x="28" y="12"/>
                          <a:pt x="37" y="14"/>
                          <a:pt x="46" y="20"/>
                        </a:cubicBezTo>
                        <a:cubicBezTo>
                          <a:pt x="62" y="15"/>
                          <a:pt x="54" y="17"/>
                          <a:pt x="72" y="14"/>
                        </a:cubicBezTo>
                        <a:cubicBezTo>
                          <a:pt x="77" y="9"/>
                          <a:pt x="90" y="0"/>
                          <a:pt x="90" y="0"/>
                        </a:cubicBezTo>
                        <a:cubicBezTo>
                          <a:pt x="109" y="6"/>
                          <a:pt x="85" y="23"/>
                          <a:pt x="76" y="26"/>
                        </a:cubicBezTo>
                        <a:cubicBezTo>
                          <a:pt x="71" y="33"/>
                          <a:pt x="68" y="35"/>
                          <a:pt x="60" y="38"/>
                        </a:cubicBezTo>
                        <a:cubicBezTo>
                          <a:pt x="54" y="36"/>
                          <a:pt x="42" y="32"/>
                          <a:pt x="42" y="32"/>
                        </a:cubicBezTo>
                        <a:cubicBezTo>
                          <a:pt x="33" y="23"/>
                          <a:pt x="26" y="26"/>
                          <a:pt x="14" y="30"/>
                        </a:cubicBezTo>
                        <a:cubicBezTo>
                          <a:pt x="1" y="28"/>
                          <a:pt x="0" y="24"/>
                          <a:pt x="4"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3" name="Freeform 76"/>
                  <p:cNvSpPr>
                    <a:spLocks/>
                  </p:cNvSpPr>
                  <p:nvPr/>
                </p:nvSpPr>
                <p:spPr bwMode="ltGray">
                  <a:xfrm>
                    <a:off x="4578" y="588"/>
                    <a:ext cx="32" cy="34"/>
                  </a:xfrm>
                  <a:custGeom>
                    <a:avLst/>
                    <a:gdLst>
                      <a:gd name="T0" fmla="*/ 8 w 76"/>
                      <a:gd name="T1" fmla="*/ 18 h 104"/>
                      <a:gd name="T2" fmla="*/ 18 w 76"/>
                      <a:gd name="T3" fmla="*/ 0 h 104"/>
                      <a:gd name="T4" fmla="*/ 34 w 76"/>
                      <a:gd name="T5" fmla="*/ 18 h 104"/>
                      <a:gd name="T6" fmla="*/ 62 w 76"/>
                      <a:gd name="T7" fmla="*/ 4 h 104"/>
                      <a:gd name="T8" fmla="*/ 46 w 76"/>
                      <a:gd name="T9" fmla="*/ 34 h 104"/>
                      <a:gd name="T10" fmla="*/ 54 w 76"/>
                      <a:gd name="T11" fmla="*/ 48 h 104"/>
                      <a:gd name="T12" fmla="*/ 58 w 76"/>
                      <a:gd name="T13" fmla="*/ 60 h 104"/>
                      <a:gd name="T14" fmla="*/ 46 w 76"/>
                      <a:gd name="T15" fmla="*/ 74 h 104"/>
                      <a:gd name="T16" fmla="*/ 34 w 76"/>
                      <a:gd name="T17" fmla="*/ 60 h 104"/>
                      <a:gd name="T18" fmla="*/ 22 w 76"/>
                      <a:gd name="T19" fmla="*/ 48 h 104"/>
                      <a:gd name="T20" fmla="*/ 28 w 76"/>
                      <a:gd name="T21" fmla="*/ 68 h 104"/>
                      <a:gd name="T22" fmla="*/ 30 w 76"/>
                      <a:gd name="T23" fmla="*/ 74 h 104"/>
                      <a:gd name="T24" fmla="*/ 20 w 76"/>
                      <a:gd name="T25" fmla="*/ 104 h 104"/>
                      <a:gd name="T26" fmla="*/ 12 w 76"/>
                      <a:gd name="T27" fmla="*/ 102 h 104"/>
                      <a:gd name="T28" fmla="*/ 8 w 76"/>
                      <a:gd name="T29" fmla="*/ 90 h 104"/>
                      <a:gd name="T30" fmla="*/ 0 w 76"/>
                      <a:gd name="T31" fmla="*/ 54 h 104"/>
                      <a:gd name="T32" fmla="*/ 2 w 76"/>
                      <a:gd name="T33" fmla="*/ 30 h 104"/>
                      <a:gd name="T34" fmla="*/ 8 w 76"/>
                      <a:gd name="T35" fmla="*/ 18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76" h="104">
                        <a:moveTo>
                          <a:pt x="8" y="18"/>
                        </a:moveTo>
                        <a:cubicBezTo>
                          <a:pt x="10" y="8"/>
                          <a:pt x="9" y="3"/>
                          <a:pt x="18" y="0"/>
                        </a:cubicBezTo>
                        <a:cubicBezTo>
                          <a:pt x="28" y="3"/>
                          <a:pt x="25" y="12"/>
                          <a:pt x="34" y="18"/>
                        </a:cubicBezTo>
                        <a:cubicBezTo>
                          <a:pt x="46" y="16"/>
                          <a:pt x="51" y="8"/>
                          <a:pt x="62" y="4"/>
                        </a:cubicBezTo>
                        <a:cubicBezTo>
                          <a:pt x="76" y="9"/>
                          <a:pt x="56" y="31"/>
                          <a:pt x="46" y="34"/>
                        </a:cubicBezTo>
                        <a:cubicBezTo>
                          <a:pt x="51" y="56"/>
                          <a:pt x="43" y="29"/>
                          <a:pt x="54" y="48"/>
                        </a:cubicBezTo>
                        <a:cubicBezTo>
                          <a:pt x="56" y="52"/>
                          <a:pt x="58" y="60"/>
                          <a:pt x="58" y="60"/>
                        </a:cubicBezTo>
                        <a:cubicBezTo>
                          <a:pt x="55" y="68"/>
                          <a:pt x="54" y="71"/>
                          <a:pt x="46" y="74"/>
                        </a:cubicBezTo>
                        <a:cubicBezTo>
                          <a:pt x="38" y="71"/>
                          <a:pt x="37" y="68"/>
                          <a:pt x="34" y="60"/>
                        </a:cubicBezTo>
                        <a:cubicBezTo>
                          <a:pt x="33" y="50"/>
                          <a:pt x="32" y="33"/>
                          <a:pt x="22" y="48"/>
                        </a:cubicBezTo>
                        <a:cubicBezTo>
                          <a:pt x="25" y="60"/>
                          <a:pt x="23" y="53"/>
                          <a:pt x="28" y="68"/>
                        </a:cubicBezTo>
                        <a:cubicBezTo>
                          <a:pt x="29" y="70"/>
                          <a:pt x="30" y="74"/>
                          <a:pt x="30" y="74"/>
                        </a:cubicBezTo>
                        <a:cubicBezTo>
                          <a:pt x="24" y="84"/>
                          <a:pt x="22" y="93"/>
                          <a:pt x="20" y="104"/>
                        </a:cubicBezTo>
                        <a:cubicBezTo>
                          <a:pt x="17" y="103"/>
                          <a:pt x="14" y="104"/>
                          <a:pt x="12" y="102"/>
                        </a:cubicBezTo>
                        <a:cubicBezTo>
                          <a:pt x="9" y="99"/>
                          <a:pt x="8" y="90"/>
                          <a:pt x="8" y="90"/>
                        </a:cubicBezTo>
                        <a:cubicBezTo>
                          <a:pt x="13" y="75"/>
                          <a:pt x="14" y="64"/>
                          <a:pt x="0" y="54"/>
                        </a:cubicBezTo>
                        <a:cubicBezTo>
                          <a:pt x="1" y="46"/>
                          <a:pt x="1" y="38"/>
                          <a:pt x="2" y="30"/>
                        </a:cubicBezTo>
                        <a:cubicBezTo>
                          <a:pt x="2" y="27"/>
                          <a:pt x="13" y="2"/>
                          <a:pt x="8"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4" name="Freeform 77"/>
                  <p:cNvSpPr>
                    <a:spLocks/>
                  </p:cNvSpPr>
                  <p:nvPr/>
                </p:nvSpPr>
                <p:spPr bwMode="ltGray">
                  <a:xfrm>
                    <a:off x="4632" y="569"/>
                    <a:ext cx="16" cy="20"/>
                  </a:xfrm>
                  <a:custGeom>
                    <a:avLst/>
                    <a:gdLst>
                      <a:gd name="T0" fmla="*/ 3 w 37"/>
                      <a:gd name="T1" fmla="*/ 28 h 61"/>
                      <a:gd name="T2" fmla="*/ 13 w 37"/>
                      <a:gd name="T3" fmla="*/ 0 h 61"/>
                      <a:gd name="T4" fmla="*/ 15 w 37"/>
                      <a:gd name="T5" fmla="*/ 28 h 61"/>
                      <a:gd name="T6" fmla="*/ 37 w 37"/>
                      <a:gd name="T7" fmla="*/ 38 h 61"/>
                      <a:gd name="T8" fmla="*/ 19 w 37"/>
                      <a:gd name="T9" fmla="*/ 44 h 61"/>
                      <a:gd name="T10" fmla="*/ 5 w 37"/>
                      <a:gd name="T11" fmla="*/ 58 h 61"/>
                      <a:gd name="T12" fmla="*/ 1 w 37"/>
                      <a:gd name="T13" fmla="*/ 34 h 61"/>
                      <a:gd name="T14" fmla="*/ 3 w 37"/>
                      <a:gd name="T15" fmla="*/ 28 h 6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 h="61">
                        <a:moveTo>
                          <a:pt x="3" y="28"/>
                        </a:moveTo>
                        <a:cubicBezTo>
                          <a:pt x="5" y="14"/>
                          <a:pt x="2" y="7"/>
                          <a:pt x="13" y="0"/>
                        </a:cubicBezTo>
                        <a:cubicBezTo>
                          <a:pt x="26" y="9"/>
                          <a:pt x="23" y="17"/>
                          <a:pt x="15" y="28"/>
                        </a:cubicBezTo>
                        <a:cubicBezTo>
                          <a:pt x="25" y="31"/>
                          <a:pt x="33" y="27"/>
                          <a:pt x="37" y="38"/>
                        </a:cubicBezTo>
                        <a:cubicBezTo>
                          <a:pt x="30" y="45"/>
                          <a:pt x="28" y="47"/>
                          <a:pt x="19" y="44"/>
                        </a:cubicBezTo>
                        <a:cubicBezTo>
                          <a:pt x="13" y="54"/>
                          <a:pt x="18" y="61"/>
                          <a:pt x="5" y="58"/>
                        </a:cubicBezTo>
                        <a:cubicBezTo>
                          <a:pt x="0" y="50"/>
                          <a:pt x="3" y="44"/>
                          <a:pt x="1" y="34"/>
                        </a:cubicBezTo>
                        <a:cubicBezTo>
                          <a:pt x="2" y="32"/>
                          <a:pt x="3" y="28"/>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5" name="Freeform 78"/>
                  <p:cNvSpPr>
                    <a:spLocks/>
                  </p:cNvSpPr>
                  <p:nvPr/>
                </p:nvSpPr>
                <p:spPr bwMode="ltGray">
                  <a:xfrm>
                    <a:off x="4636" y="600"/>
                    <a:ext cx="20" cy="10"/>
                  </a:xfrm>
                  <a:custGeom>
                    <a:avLst/>
                    <a:gdLst>
                      <a:gd name="T0" fmla="*/ 7 w 49"/>
                      <a:gd name="T1" fmla="*/ 0 h 29"/>
                      <a:gd name="T2" fmla="*/ 29 w 49"/>
                      <a:gd name="T3" fmla="*/ 0 h 29"/>
                      <a:gd name="T4" fmla="*/ 49 w 49"/>
                      <a:gd name="T5" fmla="*/ 16 h 29"/>
                      <a:gd name="T6" fmla="*/ 35 w 49"/>
                      <a:gd name="T7" fmla="*/ 14 h 29"/>
                      <a:gd name="T8" fmla="*/ 3 w 49"/>
                      <a:gd name="T9" fmla="*/ 16 h 29"/>
                      <a:gd name="T10" fmla="*/ 7 w 49"/>
                      <a:gd name="T11" fmla="*/ 0 h 2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9" h="29">
                        <a:moveTo>
                          <a:pt x="7" y="0"/>
                        </a:moveTo>
                        <a:cubicBezTo>
                          <a:pt x="15" y="6"/>
                          <a:pt x="19" y="2"/>
                          <a:pt x="29" y="0"/>
                        </a:cubicBezTo>
                        <a:cubicBezTo>
                          <a:pt x="45" y="5"/>
                          <a:pt x="40" y="3"/>
                          <a:pt x="49" y="16"/>
                        </a:cubicBezTo>
                        <a:cubicBezTo>
                          <a:pt x="46" y="29"/>
                          <a:pt x="42" y="21"/>
                          <a:pt x="35" y="14"/>
                        </a:cubicBezTo>
                        <a:cubicBezTo>
                          <a:pt x="26" y="15"/>
                          <a:pt x="12" y="19"/>
                          <a:pt x="3" y="16"/>
                        </a:cubicBezTo>
                        <a:cubicBezTo>
                          <a:pt x="0" y="6"/>
                          <a:pt x="7" y="10"/>
                          <a:pt x="7" y="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6" name="Freeform 79"/>
                  <p:cNvSpPr>
                    <a:spLocks/>
                  </p:cNvSpPr>
                  <p:nvPr/>
                </p:nvSpPr>
                <p:spPr bwMode="ltGray">
                  <a:xfrm>
                    <a:off x="4657" y="585"/>
                    <a:ext cx="26" cy="17"/>
                  </a:xfrm>
                  <a:custGeom>
                    <a:avLst/>
                    <a:gdLst>
                      <a:gd name="T0" fmla="*/ 21 w 61"/>
                      <a:gd name="T1" fmla="*/ 38 h 48"/>
                      <a:gd name="T2" fmla="*/ 15 w 61"/>
                      <a:gd name="T3" fmla="*/ 26 h 48"/>
                      <a:gd name="T4" fmla="*/ 3 w 61"/>
                      <a:gd name="T5" fmla="*/ 22 h 48"/>
                      <a:gd name="T6" fmla="*/ 13 w 61"/>
                      <a:gd name="T7" fmla="*/ 8 h 48"/>
                      <a:gd name="T8" fmla="*/ 25 w 61"/>
                      <a:gd name="T9" fmla="*/ 0 h 48"/>
                      <a:gd name="T10" fmla="*/ 49 w 61"/>
                      <a:gd name="T11" fmla="*/ 10 h 48"/>
                      <a:gd name="T12" fmla="*/ 53 w 61"/>
                      <a:gd name="T13" fmla="*/ 20 h 48"/>
                      <a:gd name="T14" fmla="*/ 61 w 61"/>
                      <a:gd name="T15" fmla="*/ 32 h 48"/>
                      <a:gd name="T16" fmla="*/ 41 w 61"/>
                      <a:gd name="T17" fmla="*/ 38 h 48"/>
                      <a:gd name="T18" fmla="*/ 23 w 61"/>
                      <a:gd name="T19" fmla="*/ 44 h 48"/>
                      <a:gd name="T20" fmla="*/ 21 w 61"/>
                      <a:gd name="T21" fmla="*/ 38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1" h="48">
                        <a:moveTo>
                          <a:pt x="21" y="38"/>
                        </a:moveTo>
                        <a:cubicBezTo>
                          <a:pt x="19" y="34"/>
                          <a:pt x="19" y="29"/>
                          <a:pt x="15" y="26"/>
                        </a:cubicBezTo>
                        <a:cubicBezTo>
                          <a:pt x="12" y="24"/>
                          <a:pt x="3" y="22"/>
                          <a:pt x="3" y="22"/>
                        </a:cubicBezTo>
                        <a:cubicBezTo>
                          <a:pt x="0" y="12"/>
                          <a:pt x="5" y="12"/>
                          <a:pt x="13" y="8"/>
                        </a:cubicBezTo>
                        <a:cubicBezTo>
                          <a:pt x="17" y="6"/>
                          <a:pt x="25" y="0"/>
                          <a:pt x="25" y="0"/>
                        </a:cubicBezTo>
                        <a:cubicBezTo>
                          <a:pt x="37" y="2"/>
                          <a:pt x="41" y="2"/>
                          <a:pt x="49" y="10"/>
                        </a:cubicBezTo>
                        <a:cubicBezTo>
                          <a:pt x="45" y="21"/>
                          <a:pt x="46" y="12"/>
                          <a:pt x="53" y="20"/>
                        </a:cubicBezTo>
                        <a:cubicBezTo>
                          <a:pt x="56" y="24"/>
                          <a:pt x="61" y="32"/>
                          <a:pt x="61" y="32"/>
                        </a:cubicBezTo>
                        <a:cubicBezTo>
                          <a:pt x="56" y="47"/>
                          <a:pt x="53" y="42"/>
                          <a:pt x="41" y="38"/>
                        </a:cubicBezTo>
                        <a:cubicBezTo>
                          <a:pt x="27" y="47"/>
                          <a:pt x="34" y="48"/>
                          <a:pt x="23" y="44"/>
                        </a:cubicBezTo>
                        <a:cubicBezTo>
                          <a:pt x="22" y="42"/>
                          <a:pt x="21" y="38"/>
                          <a:pt x="21" y="3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7" name="Freeform 80"/>
                  <p:cNvSpPr>
                    <a:spLocks/>
                  </p:cNvSpPr>
                  <p:nvPr/>
                </p:nvSpPr>
                <p:spPr bwMode="ltGray">
                  <a:xfrm>
                    <a:off x="4664" y="593"/>
                    <a:ext cx="122" cy="61"/>
                  </a:xfrm>
                  <a:custGeom>
                    <a:avLst/>
                    <a:gdLst>
                      <a:gd name="T0" fmla="*/ 46 w 286"/>
                      <a:gd name="T1" fmla="*/ 28 h 182"/>
                      <a:gd name="T2" fmla="*/ 36 w 286"/>
                      <a:gd name="T3" fmla="*/ 14 h 182"/>
                      <a:gd name="T4" fmla="*/ 26 w 286"/>
                      <a:gd name="T5" fmla="*/ 30 h 182"/>
                      <a:gd name="T6" fmla="*/ 0 w 286"/>
                      <a:gd name="T7" fmla="*/ 24 h 182"/>
                      <a:gd name="T8" fmla="*/ 10 w 286"/>
                      <a:gd name="T9" fmla="*/ 42 h 182"/>
                      <a:gd name="T10" fmla="*/ 16 w 286"/>
                      <a:gd name="T11" fmla="*/ 62 h 182"/>
                      <a:gd name="T12" fmla="*/ 24 w 286"/>
                      <a:gd name="T13" fmla="*/ 48 h 182"/>
                      <a:gd name="T14" fmla="*/ 30 w 286"/>
                      <a:gd name="T15" fmla="*/ 44 h 182"/>
                      <a:gd name="T16" fmla="*/ 48 w 286"/>
                      <a:gd name="T17" fmla="*/ 56 h 182"/>
                      <a:gd name="T18" fmla="*/ 70 w 286"/>
                      <a:gd name="T19" fmla="*/ 62 h 182"/>
                      <a:gd name="T20" fmla="*/ 88 w 286"/>
                      <a:gd name="T21" fmla="*/ 72 h 182"/>
                      <a:gd name="T22" fmla="*/ 106 w 286"/>
                      <a:gd name="T23" fmla="*/ 102 h 182"/>
                      <a:gd name="T24" fmla="*/ 104 w 286"/>
                      <a:gd name="T25" fmla="*/ 122 h 182"/>
                      <a:gd name="T26" fmla="*/ 98 w 286"/>
                      <a:gd name="T27" fmla="*/ 134 h 182"/>
                      <a:gd name="T28" fmla="*/ 122 w 286"/>
                      <a:gd name="T29" fmla="*/ 128 h 182"/>
                      <a:gd name="T30" fmla="*/ 140 w 286"/>
                      <a:gd name="T31" fmla="*/ 140 h 182"/>
                      <a:gd name="T32" fmla="*/ 168 w 286"/>
                      <a:gd name="T33" fmla="*/ 148 h 182"/>
                      <a:gd name="T34" fmla="*/ 174 w 286"/>
                      <a:gd name="T35" fmla="*/ 146 h 182"/>
                      <a:gd name="T36" fmla="*/ 168 w 286"/>
                      <a:gd name="T37" fmla="*/ 134 h 182"/>
                      <a:gd name="T38" fmla="*/ 178 w 286"/>
                      <a:gd name="T39" fmla="*/ 136 h 182"/>
                      <a:gd name="T40" fmla="*/ 186 w 286"/>
                      <a:gd name="T41" fmla="*/ 118 h 182"/>
                      <a:gd name="T42" fmla="*/ 202 w 286"/>
                      <a:gd name="T43" fmla="*/ 122 h 182"/>
                      <a:gd name="T44" fmla="*/ 214 w 286"/>
                      <a:gd name="T45" fmla="*/ 130 h 182"/>
                      <a:gd name="T46" fmla="*/ 244 w 286"/>
                      <a:gd name="T47" fmla="*/ 168 h 182"/>
                      <a:gd name="T48" fmla="*/ 262 w 286"/>
                      <a:gd name="T49" fmla="*/ 178 h 182"/>
                      <a:gd name="T50" fmla="*/ 284 w 286"/>
                      <a:gd name="T51" fmla="*/ 170 h 182"/>
                      <a:gd name="T52" fmla="*/ 268 w 286"/>
                      <a:gd name="T53" fmla="*/ 160 h 182"/>
                      <a:gd name="T54" fmla="*/ 256 w 286"/>
                      <a:gd name="T55" fmla="*/ 138 h 182"/>
                      <a:gd name="T56" fmla="*/ 250 w 286"/>
                      <a:gd name="T57" fmla="*/ 132 h 182"/>
                      <a:gd name="T58" fmla="*/ 248 w 286"/>
                      <a:gd name="T59" fmla="*/ 122 h 182"/>
                      <a:gd name="T60" fmla="*/ 236 w 286"/>
                      <a:gd name="T61" fmla="*/ 116 h 182"/>
                      <a:gd name="T62" fmla="*/ 240 w 286"/>
                      <a:gd name="T63" fmla="*/ 96 h 182"/>
                      <a:gd name="T64" fmla="*/ 220 w 286"/>
                      <a:gd name="T65" fmla="*/ 86 h 182"/>
                      <a:gd name="T66" fmla="*/ 210 w 286"/>
                      <a:gd name="T67" fmla="*/ 70 h 182"/>
                      <a:gd name="T68" fmla="*/ 190 w 286"/>
                      <a:gd name="T69" fmla="*/ 54 h 182"/>
                      <a:gd name="T70" fmla="*/ 168 w 286"/>
                      <a:gd name="T71" fmla="*/ 38 h 182"/>
                      <a:gd name="T72" fmla="*/ 156 w 286"/>
                      <a:gd name="T73" fmla="*/ 34 h 182"/>
                      <a:gd name="T74" fmla="*/ 120 w 286"/>
                      <a:gd name="T75" fmla="*/ 16 h 182"/>
                      <a:gd name="T76" fmla="*/ 102 w 286"/>
                      <a:gd name="T77" fmla="*/ 4 h 182"/>
                      <a:gd name="T78" fmla="*/ 96 w 286"/>
                      <a:gd name="T79" fmla="*/ 0 h 182"/>
                      <a:gd name="T80" fmla="*/ 70 w 286"/>
                      <a:gd name="T81" fmla="*/ 10 h 182"/>
                      <a:gd name="T82" fmla="*/ 56 w 286"/>
                      <a:gd name="T83" fmla="*/ 32 h 182"/>
                      <a:gd name="T84" fmla="*/ 46 w 286"/>
                      <a:gd name="T85" fmla="*/ 28 h 18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286" h="182">
                        <a:moveTo>
                          <a:pt x="46" y="28"/>
                        </a:moveTo>
                        <a:cubicBezTo>
                          <a:pt x="41" y="14"/>
                          <a:pt x="46" y="17"/>
                          <a:pt x="36" y="14"/>
                        </a:cubicBezTo>
                        <a:cubicBezTo>
                          <a:pt x="31" y="17"/>
                          <a:pt x="26" y="30"/>
                          <a:pt x="26" y="30"/>
                        </a:cubicBezTo>
                        <a:cubicBezTo>
                          <a:pt x="12" y="25"/>
                          <a:pt x="19" y="21"/>
                          <a:pt x="0" y="24"/>
                        </a:cubicBezTo>
                        <a:cubicBezTo>
                          <a:pt x="2" y="33"/>
                          <a:pt x="2" y="37"/>
                          <a:pt x="10" y="42"/>
                        </a:cubicBezTo>
                        <a:cubicBezTo>
                          <a:pt x="12" y="49"/>
                          <a:pt x="14" y="55"/>
                          <a:pt x="16" y="62"/>
                        </a:cubicBezTo>
                        <a:cubicBezTo>
                          <a:pt x="24" y="59"/>
                          <a:pt x="27" y="57"/>
                          <a:pt x="24" y="48"/>
                        </a:cubicBezTo>
                        <a:cubicBezTo>
                          <a:pt x="26" y="47"/>
                          <a:pt x="28" y="43"/>
                          <a:pt x="30" y="44"/>
                        </a:cubicBezTo>
                        <a:cubicBezTo>
                          <a:pt x="48" y="48"/>
                          <a:pt x="36" y="52"/>
                          <a:pt x="48" y="56"/>
                        </a:cubicBezTo>
                        <a:cubicBezTo>
                          <a:pt x="74" y="65"/>
                          <a:pt x="47" y="56"/>
                          <a:pt x="70" y="62"/>
                        </a:cubicBezTo>
                        <a:cubicBezTo>
                          <a:pt x="77" y="64"/>
                          <a:pt x="88" y="72"/>
                          <a:pt x="88" y="72"/>
                        </a:cubicBezTo>
                        <a:cubicBezTo>
                          <a:pt x="96" y="84"/>
                          <a:pt x="102" y="87"/>
                          <a:pt x="106" y="102"/>
                        </a:cubicBezTo>
                        <a:cubicBezTo>
                          <a:pt x="105" y="109"/>
                          <a:pt x="106" y="115"/>
                          <a:pt x="104" y="122"/>
                        </a:cubicBezTo>
                        <a:cubicBezTo>
                          <a:pt x="103" y="126"/>
                          <a:pt x="94" y="132"/>
                          <a:pt x="98" y="134"/>
                        </a:cubicBezTo>
                        <a:cubicBezTo>
                          <a:pt x="106" y="137"/>
                          <a:pt x="122" y="128"/>
                          <a:pt x="122" y="128"/>
                        </a:cubicBezTo>
                        <a:cubicBezTo>
                          <a:pt x="130" y="131"/>
                          <a:pt x="133" y="135"/>
                          <a:pt x="140" y="140"/>
                        </a:cubicBezTo>
                        <a:cubicBezTo>
                          <a:pt x="148" y="145"/>
                          <a:pt x="159" y="145"/>
                          <a:pt x="168" y="148"/>
                        </a:cubicBezTo>
                        <a:cubicBezTo>
                          <a:pt x="170" y="147"/>
                          <a:pt x="173" y="148"/>
                          <a:pt x="174" y="146"/>
                        </a:cubicBezTo>
                        <a:cubicBezTo>
                          <a:pt x="176" y="142"/>
                          <a:pt x="164" y="136"/>
                          <a:pt x="168" y="134"/>
                        </a:cubicBezTo>
                        <a:cubicBezTo>
                          <a:pt x="171" y="132"/>
                          <a:pt x="175" y="135"/>
                          <a:pt x="178" y="136"/>
                        </a:cubicBezTo>
                        <a:cubicBezTo>
                          <a:pt x="182" y="131"/>
                          <a:pt x="186" y="118"/>
                          <a:pt x="186" y="118"/>
                        </a:cubicBezTo>
                        <a:cubicBezTo>
                          <a:pt x="189" y="119"/>
                          <a:pt x="199" y="120"/>
                          <a:pt x="202" y="122"/>
                        </a:cubicBezTo>
                        <a:cubicBezTo>
                          <a:pt x="206" y="124"/>
                          <a:pt x="214" y="130"/>
                          <a:pt x="214" y="130"/>
                        </a:cubicBezTo>
                        <a:cubicBezTo>
                          <a:pt x="224" y="145"/>
                          <a:pt x="228" y="158"/>
                          <a:pt x="244" y="168"/>
                        </a:cubicBezTo>
                        <a:cubicBezTo>
                          <a:pt x="250" y="172"/>
                          <a:pt x="262" y="178"/>
                          <a:pt x="262" y="178"/>
                        </a:cubicBezTo>
                        <a:cubicBezTo>
                          <a:pt x="265" y="178"/>
                          <a:pt x="286" y="182"/>
                          <a:pt x="284" y="170"/>
                        </a:cubicBezTo>
                        <a:cubicBezTo>
                          <a:pt x="283" y="164"/>
                          <a:pt x="268" y="160"/>
                          <a:pt x="268" y="160"/>
                        </a:cubicBezTo>
                        <a:cubicBezTo>
                          <a:pt x="261" y="150"/>
                          <a:pt x="270" y="143"/>
                          <a:pt x="256" y="138"/>
                        </a:cubicBezTo>
                        <a:cubicBezTo>
                          <a:pt x="254" y="136"/>
                          <a:pt x="251" y="135"/>
                          <a:pt x="250" y="132"/>
                        </a:cubicBezTo>
                        <a:cubicBezTo>
                          <a:pt x="248" y="129"/>
                          <a:pt x="250" y="125"/>
                          <a:pt x="248" y="122"/>
                        </a:cubicBezTo>
                        <a:cubicBezTo>
                          <a:pt x="246" y="118"/>
                          <a:pt x="240" y="118"/>
                          <a:pt x="236" y="116"/>
                        </a:cubicBezTo>
                        <a:cubicBezTo>
                          <a:pt x="230" y="107"/>
                          <a:pt x="227" y="100"/>
                          <a:pt x="240" y="96"/>
                        </a:cubicBezTo>
                        <a:cubicBezTo>
                          <a:pt x="236" y="83"/>
                          <a:pt x="236" y="84"/>
                          <a:pt x="220" y="86"/>
                        </a:cubicBezTo>
                        <a:cubicBezTo>
                          <a:pt x="209" y="82"/>
                          <a:pt x="208" y="82"/>
                          <a:pt x="210" y="70"/>
                        </a:cubicBezTo>
                        <a:cubicBezTo>
                          <a:pt x="207" y="60"/>
                          <a:pt x="199" y="57"/>
                          <a:pt x="190" y="54"/>
                        </a:cubicBezTo>
                        <a:cubicBezTo>
                          <a:pt x="181" y="45"/>
                          <a:pt x="181" y="42"/>
                          <a:pt x="168" y="38"/>
                        </a:cubicBezTo>
                        <a:cubicBezTo>
                          <a:pt x="164" y="37"/>
                          <a:pt x="156" y="34"/>
                          <a:pt x="156" y="34"/>
                        </a:cubicBezTo>
                        <a:cubicBezTo>
                          <a:pt x="146" y="24"/>
                          <a:pt x="134" y="21"/>
                          <a:pt x="120" y="16"/>
                        </a:cubicBezTo>
                        <a:cubicBezTo>
                          <a:pt x="113" y="14"/>
                          <a:pt x="108" y="8"/>
                          <a:pt x="102" y="4"/>
                        </a:cubicBezTo>
                        <a:cubicBezTo>
                          <a:pt x="100" y="3"/>
                          <a:pt x="96" y="0"/>
                          <a:pt x="96" y="0"/>
                        </a:cubicBezTo>
                        <a:cubicBezTo>
                          <a:pt x="83" y="2"/>
                          <a:pt x="79" y="1"/>
                          <a:pt x="70" y="10"/>
                        </a:cubicBezTo>
                        <a:cubicBezTo>
                          <a:pt x="67" y="19"/>
                          <a:pt x="63" y="27"/>
                          <a:pt x="56" y="32"/>
                        </a:cubicBezTo>
                        <a:cubicBezTo>
                          <a:pt x="49" y="30"/>
                          <a:pt x="52" y="31"/>
                          <a:pt x="46"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8" name="Freeform 81"/>
                  <p:cNvSpPr>
                    <a:spLocks/>
                  </p:cNvSpPr>
                  <p:nvPr/>
                </p:nvSpPr>
                <p:spPr bwMode="ltGray">
                  <a:xfrm>
                    <a:off x="4770" y="599"/>
                    <a:ext cx="33" cy="26"/>
                  </a:xfrm>
                  <a:custGeom>
                    <a:avLst/>
                    <a:gdLst>
                      <a:gd name="T0" fmla="*/ 1 w 78"/>
                      <a:gd name="T1" fmla="*/ 58 h 78"/>
                      <a:gd name="T2" fmla="*/ 27 w 78"/>
                      <a:gd name="T3" fmla="*/ 60 h 78"/>
                      <a:gd name="T4" fmla="*/ 45 w 78"/>
                      <a:gd name="T5" fmla="*/ 48 h 78"/>
                      <a:gd name="T6" fmla="*/ 57 w 78"/>
                      <a:gd name="T7" fmla="*/ 30 h 78"/>
                      <a:gd name="T8" fmla="*/ 43 w 78"/>
                      <a:gd name="T9" fmla="*/ 14 h 78"/>
                      <a:gd name="T10" fmla="*/ 43 w 78"/>
                      <a:gd name="T11" fmla="*/ 4 h 78"/>
                      <a:gd name="T12" fmla="*/ 71 w 78"/>
                      <a:gd name="T13" fmla="*/ 26 h 78"/>
                      <a:gd name="T14" fmla="*/ 67 w 78"/>
                      <a:gd name="T15" fmla="*/ 54 h 78"/>
                      <a:gd name="T16" fmla="*/ 33 w 78"/>
                      <a:gd name="T17" fmla="*/ 78 h 78"/>
                      <a:gd name="T18" fmla="*/ 9 w 78"/>
                      <a:gd name="T19" fmla="*/ 66 h 78"/>
                      <a:gd name="T20" fmla="*/ 3 w 78"/>
                      <a:gd name="T21" fmla="*/ 62 h 78"/>
                      <a:gd name="T22" fmla="*/ 1 w 78"/>
                      <a:gd name="T23" fmla="*/ 58 h 7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8" h="78">
                        <a:moveTo>
                          <a:pt x="1" y="58"/>
                        </a:moveTo>
                        <a:cubicBezTo>
                          <a:pt x="6" y="44"/>
                          <a:pt x="18" y="57"/>
                          <a:pt x="27" y="60"/>
                        </a:cubicBezTo>
                        <a:cubicBezTo>
                          <a:pt x="35" y="57"/>
                          <a:pt x="38" y="52"/>
                          <a:pt x="45" y="48"/>
                        </a:cubicBezTo>
                        <a:cubicBezTo>
                          <a:pt x="48" y="40"/>
                          <a:pt x="51" y="36"/>
                          <a:pt x="57" y="30"/>
                        </a:cubicBezTo>
                        <a:cubicBezTo>
                          <a:pt x="55" y="23"/>
                          <a:pt x="43" y="14"/>
                          <a:pt x="43" y="14"/>
                        </a:cubicBezTo>
                        <a:cubicBezTo>
                          <a:pt x="33" y="0"/>
                          <a:pt x="30" y="1"/>
                          <a:pt x="43" y="4"/>
                        </a:cubicBezTo>
                        <a:cubicBezTo>
                          <a:pt x="54" y="11"/>
                          <a:pt x="58" y="22"/>
                          <a:pt x="71" y="26"/>
                        </a:cubicBezTo>
                        <a:cubicBezTo>
                          <a:pt x="78" y="37"/>
                          <a:pt x="78" y="46"/>
                          <a:pt x="67" y="54"/>
                        </a:cubicBezTo>
                        <a:cubicBezTo>
                          <a:pt x="51" y="49"/>
                          <a:pt x="53" y="71"/>
                          <a:pt x="33" y="78"/>
                        </a:cubicBezTo>
                        <a:cubicBezTo>
                          <a:pt x="16" y="72"/>
                          <a:pt x="25" y="76"/>
                          <a:pt x="9" y="66"/>
                        </a:cubicBezTo>
                        <a:cubicBezTo>
                          <a:pt x="7" y="65"/>
                          <a:pt x="3" y="62"/>
                          <a:pt x="3" y="62"/>
                        </a:cubicBezTo>
                        <a:cubicBezTo>
                          <a:pt x="0" y="54"/>
                          <a:pt x="13" y="42"/>
                          <a:pt x="1" y="5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099" name="Freeform 82"/>
                  <p:cNvSpPr>
                    <a:spLocks/>
                  </p:cNvSpPr>
                  <p:nvPr/>
                </p:nvSpPr>
                <p:spPr bwMode="ltGray">
                  <a:xfrm>
                    <a:off x="4840" y="544"/>
                    <a:ext cx="8" cy="6"/>
                  </a:xfrm>
                  <a:custGeom>
                    <a:avLst/>
                    <a:gdLst>
                      <a:gd name="T0" fmla="*/ 3 w 17"/>
                      <a:gd name="T1" fmla="*/ 4 h 18"/>
                      <a:gd name="T2" fmla="*/ 3 w 17"/>
                      <a:gd name="T3" fmla="*/ 14 h 18"/>
                      <a:gd name="T4" fmla="*/ 3 w 17"/>
                      <a:gd name="T5" fmla="*/ 4 h 18"/>
                      <a:gd name="T6" fmla="*/ 0 60000 65536"/>
                      <a:gd name="T7" fmla="*/ 0 60000 65536"/>
                      <a:gd name="T8" fmla="*/ 0 60000 65536"/>
                    </a:gdLst>
                    <a:ahLst/>
                    <a:cxnLst>
                      <a:cxn ang="T6">
                        <a:pos x="T0" y="T1"/>
                      </a:cxn>
                      <a:cxn ang="T7">
                        <a:pos x="T2" y="T3"/>
                      </a:cxn>
                      <a:cxn ang="T8">
                        <a:pos x="T4" y="T5"/>
                      </a:cxn>
                    </a:cxnLst>
                    <a:rect l="0" t="0" r="r" b="b"/>
                    <a:pathLst>
                      <a:path w="17" h="18">
                        <a:moveTo>
                          <a:pt x="3" y="4"/>
                        </a:moveTo>
                        <a:cubicBezTo>
                          <a:pt x="17" y="7"/>
                          <a:pt x="16" y="18"/>
                          <a:pt x="3" y="14"/>
                        </a:cubicBezTo>
                        <a:cubicBezTo>
                          <a:pt x="0" y="6"/>
                          <a:pt x="7" y="0"/>
                          <a:pt x="3" y="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0" name="Freeform 83"/>
                  <p:cNvSpPr>
                    <a:spLocks/>
                  </p:cNvSpPr>
                  <p:nvPr/>
                </p:nvSpPr>
                <p:spPr bwMode="ltGray">
                  <a:xfrm>
                    <a:off x="4747" y="494"/>
                    <a:ext cx="8" cy="5"/>
                  </a:xfrm>
                  <a:custGeom>
                    <a:avLst/>
                    <a:gdLst>
                      <a:gd name="T0" fmla="*/ 7 w 20"/>
                      <a:gd name="T1" fmla="*/ 12 h 15"/>
                      <a:gd name="T2" fmla="*/ 17 w 20"/>
                      <a:gd name="T3" fmla="*/ 2 h 15"/>
                      <a:gd name="T4" fmla="*/ 9 w 20"/>
                      <a:gd name="T5" fmla="*/ 12 h 15"/>
                      <a:gd name="T6" fmla="*/ 7 w 20"/>
                      <a:gd name="T7" fmla="*/ 12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1"/>
                          <a:pt x="6" y="0"/>
                          <a:pt x="17" y="2"/>
                        </a:cubicBezTo>
                        <a:cubicBezTo>
                          <a:pt x="20" y="10"/>
                          <a:pt x="18" y="15"/>
                          <a:pt x="9" y="12"/>
                        </a:cubicBezTo>
                        <a:cubicBezTo>
                          <a:pt x="4" y="4"/>
                          <a:pt x="4" y="4"/>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1" name="Freeform 84"/>
                  <p:cNvSpPr>
                    <a:spLocks/>
                  </p:cNvSpPr>
                  <p:nvPr/>
                </p:nvSpPr>
                <p:spPr bwMode="ltGray">
                  <a:xfrm>
                    <a:off x="4676" y="536"/>
                    <a:ext cx="8" cy="5"/>
                  </a:xfrm>
                  <a:custGeom>
                    <a:avLst/>
                    <a:gdLst>
                      <a:gd name="T0" fmla="*/ 7 w 20"/>
                      <a:gd name="T1" fmla="*/ 12 h 15"/>
                      <a:gd name="T2" fmla="*/ 15 w 20"/>
                      <a:gd name="T3" fmla="*/ 2 h 15"/>
                      <a:gd name="T4" fmla="*/ 15 w 20"/>
                      <a:gd name="T5" fmla="*/ 14 h 15"/>
                      <a:gd name="T6" fmla="*/ 7 w 20"/>
                      <a:gd name="T7" fmla="*/ 12 h 1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 h="15">
                        <a:moveTo>
                          <a:pt x="7" y="12"/>
                        </a:moveTo>
                        <a:cubicBezTo>
                          <a:pt x="0" y="2"/>
                          <a:pt x="3" y="0"/>
                          <a:pt x="15" y="2"/>
                        </a:cubicBezTo>
                        <a:cubicBezTo>
                          <a:pt x="16" y="4"/>
                          <a:pt x="20" y="12"/>
                          <a:pt x="15" y="14"/>
                        </a:cubicBezTo>
                        <a:cubicBezTo>
                          <a:pt x="12" y="15"/>
                          <a:pt x="7" y="12"/>
                          <a:pt x="7"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2" name="Freeform 85"/>
                  <p:cNvSpPr>
                    <a:spLocks/>
                  </p:cNvSpPr>
                  <p:nvPr/>
                </p:nvSpPr>
                <p:spPr bwMode="ltGray">
                  <a:xfrm>
                    <a:off x="4598" y="523"/>
                    <a:ext cx="34" cy="27"/>
                  </a:xfrm>
                  <a:custGeom>
                    <a:avLst/>
                    <a:gdLst>
                      <a:gd name="T0" fmla="*/ 0 w 80"/>
                      <a:gd name="T1" fmla="*/ 50 h 80"/>
                      <a:gd name="T2" fmla="*/ 14 w 80"/>
                      <a:gd name="T3" fmla="*/ 24 h 80"/>
                      <a:gd name="T4" fmla="*/ 26 w 80"/>
                      <a:gd name="T5" fmla="*/ 20 h 80"/>
                      <a:gd name="T6" fmla="*/ 48 w 80"/>
                      <a:gd name="T7" fmla="*/ 18 h 80"/>
                      <a:gd name="T8" fmla="*/ 58 w 80"/>
                      <a:gd name="T9" fmla="*/ 0 h 80"/>
                      <a:gd name="T10" fmla="*/ 80 w 80"/>
                      <a:gd name="T11" fmla="*/ 40 h 80"/>
                      <a:gd name="T12" fmla="*/ 70 w 80"/>
                      <a:gd name="T13" fmla="*/ 56 h 80"/>
                      <a:gd name="T14" fmla="*/ 54 w 80"/>
                      <a:gd name="T15" fmla="*/ 62 h 80"/>
                      <a:gd name="T16" fmla="*/ 48 w 80"/>
                      <a:gd name="T17" fmla="*/ 80 h 80"/>
                      <a:gd name="T18" fmla="*/ 32 w 80"/>
                      <a:gd name="T19" fmla="*/ 68 h 80"/>
                      <a:gd name="T20" fmla="*/ 38 w 80"/>
                      <a:gd name="T21" fmla="*/ 52 h 80"/>
                      <a:gd name="T22" fmla="*/ 30 w 80"/>
                      <a:gd name="T23" fmla="*/ 28 h 80"/>
                      <a:gd name="T24" fmla="*/ 20 w 80"/>
                      <a:gd name="T25" fmla="*/ 48 h 80"/>
                      <a:gd name="T26" fmla="*/ 8 w 80"/>
                      <a:gd name="T27" fmla="*/ 56 h 80"/>
                      <a:gd name="T28" fmla="*/ 0 w 80"/>
                      <a:gd name="T29" fmla="*/ 50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80" h="80">
                        <a:moveTo>
                          <a:pt x="0" y="50"/>
                        </a:moveTo>
                        <a:cubicBezTo>
                          <a:pt x="1" y="47"/>
                          <a:pt x="12" y="25"/>
                          <a:pt x="14" y="24"/>
                        </a:cubicBezTo>
                        <a:cubicBezTo>
                          <a:pt x="17" y="22"/>
                          <a:pt x="26" y="20"/>
                          <a:pt x="26" y="20"/>
                        </a:cubicBezTo>
                        <a:cubicBezTo>
                          <a:pt x="34" y="23"/>
                          <a:pt x="40" y="21"/>
                          <a:pt x="48" y="18"/>
                        </a:cubicBezTo>
                        <a:cubicBezTo>
                          <a:pt x="52" y="12"/>
                          <a:pt x="54" y="6"/>
                          <a:pt x="58" y="0"/>
                        </a:cubicBezTo>
                        <a:cubicBezTo>
                          <a:pt x="70" y="4"/>
                          <a:pt x="76" y="28"/>
                          <a:pt x="80" y="40"/>
                        </a:cubicBezTo>
                        <a:cubicBezTo>
                          <a:pt x="75" y="54"/>
                          <a:pt x="80" y="50"/>
                          <a:pt x="70" y="56"/>
                        </a:cubicBezTo>
                        <a:cubicBezTo>
                          <a:pt x="61" y="53"/>
                          <a:pt x="59" y="54"/>
                          <a:pt x="54" y="62"/>
                        </a:cubicBezTo>
                        <a:cubicBezTo>
                          <a:pt x="57" y="71"/>
                          <a:pt x="56" y="75"/>
                          <a:pt x="48" y="80"/>
                        </a:cubicBezTo>
                        <a:cubicBezTo>
                          <a:pt x="40" y="77"/>
                          <a:pt x="39" y="72"/>
                          <a:pt x="32" y="68"/>
                        </a:cubicBezTo>
                        <a:cubicBezTo>
                          <a:pt x="26" y="59"/>
                          <a:pt x="30" y="57"/>
                          <a:pt x="38" y="52"/>
                        </a:cubicBezTo>
                        <a:cubicBezTo>
                          <a:pt x="41" y="42"/>
                          <a:pt x="39" y="34"/>
                          <a:pt x="30" y="28"/>
                        </a:cubicBezTo>
                        <a:cubicBezTo>
                          <a:pt x="20" y="31"/>
                          <a:pt x="30" y="40"/>
                          <a:pt x="20" y="48"/>
                        </a:cubicBezTo>
                        <a:cubicBezTo>
                          <a:pt x="16" y="51"/>
                          <a:pt x="8" y="56"/>
                          <a:pt x="8" y="56"/>
                        </a:cubicBezTo>
                        <a:cubicBezTo>
                          <a:pt x="2" y="50"/>
                          <a:pt x="5" y="50"/>
                          <a:pt x="0" y="50"/>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3" name="Freeform 86"/>
                  <p:cNvSpPr>
                    <a:spLocks/>
                  </p:cNvSpPr>
                  <p:nvPr/>
                </p:nvSpPr>
                <p:spPr bwMode="ltGray">
                  <a:xfrm>
                    <a:off x="4587" y="466"/>
                    <a:ext cx="40" cy="58"/>
                  </a:xfrm>
                  <a:custGeom>
                    <a:avLst/>
                    <a:gdLst>
                      <a:gd name="T0" fmla="*/ 14 w 94"/>
                      <a:gd name="T1" fmla="*/ 96 h 174"/>
                      <a:gd name="T2" fmla="*/ 26 w 94"/>
                      <a:gd name="T3" fmla="*/ 128 h 174"/>
                      <a:gd name="T4" fmla="*/ 32 w 94"/>
                      <a:gd name="T5" fmla="*/ 108 h 174"/>
                      <a:gd name="T6" fmla="*/ 52 w 94"/>
                      <a:gd name="T7" fmla="*/ 100 h 174"/>
                      <a:gd name="T8" fmla="*/ 46 w 94"/>
                      <a:gd name="T9" fmla="*/ 124 h 174"/>
                      <a:gd name="T10" fmla="*/ 66 w 94"/>
                      <a:gd name="T11" fmla="*/ 126 h 174"/>
                      <a:gd name="T12" fmla="*/ 76 w 94"/>
                      <a:gd name="T13" fmla="*/ 142 h 174"/>
                      <a:gd name="T14" fmla="*/ 58 w 94"/>
                      <a:gd name="T15" fmla="*/ 148 h 174"/>
                      <a:gd name="T16" fmla="*/ 74 w 94"/>
                      <a:gd name="T17" fmla="*/ 174 h 174"/>
                      <a:gd name="T18" fmla="*/ 84 w 94"/>
                      <a:gd name="T19" fmla="*/ 154 h 174"/>
                      <a:gd name="T20" fmla="*/ 82 w 94"/>
                      <a:gd name="T21" fmla="*/ 112 h 174"/>
                      <a:gd name="T22" fmla="*/ 60 w 94"/>
                      <a:gd name="T23" fmla="*/ 106 h 174"/>
                      <a:gd name="T24" fmla="*/ 50 w 94"/>
                      <a:gd name="T25" fmla="*/ 82 h 174"/>
                      <a:gd name="T26" fmla="*/ 34 w 94"/>
                      <a:gd name="T27" fmla="*/ 82 h 174"/>
                      <a:gd name="T28" fmla="*/ 30 w 94"/>
                      <a:gd name="T29" fmla="*/ 70 h 174"/>
                      <a:gd name="T30" fmla="*/ 42 w 94"/>
                      <a:gd name="T31" fmla="*/ 42 h 174"/>
                      <a:gd name="T32" fmla="*/ 30 w 94"/>
                      <a:gd name="T33" fmla="*/ 0 h 174"/>
                      <a:gd name="T34" fmla="*/ 18 w 94"/>
                      <a:gd name="T35" fmla="*/ 22 h 174"/>
                      <a:gd name="T36" fmla="*/ 4 w 94"/>
                      <a:gd name="T37" fmla="*/ 46 h 174"/>
                      <a:gd name="T38" fmla="*/ 14 w 94"/>
                      <a:gd name="T39" fmla="*/ 76 h 174"/>
                      <a:gd name="T40" fmla="*/ 14 w 94"/>
                      <a:gd name="T41" fmla="*/ 96 h 17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94" h="174">
                        <a:moveTo>
                          <a:pt x="14" y="96"/>
                        </a:moveTo>
                        <a:cubicBezTo>
                          <a:pt x="11" y="109"/>
                          <a:pt x="15" y="120"/>
                          <a:pt x="26" y="128"/>
                        </a:cubicBezTo>
                        <a:cubicBezTo>
                          <a:pt x="34" y="120"/>
                          <a:pt x="35" y="119"/>
                          <a:pt x="32" y="108"/>
                        </a:cubicBezTo>
                        <a:cubicBezTo>
                          <a:pt x="35" y="92"/>
                          <a:pt x="39" y="92"/>
                          <a:pt x="52" y="100"/>
                        </a:cubicBezTo>
                        <a:cubicBezTo>
                          <a:pt x="59" y="110"/>
                          <a:pt x="49" y="114"/>
                          <a:pt x="46" y="124"/>
                        </a:cubicBezTo>
                        <a:cubicBezTo>
                          <a:pt x="50" y="137"/>
                          <a:pt x="57" y="129"/>
                          <a:pt x="66" y="126"/>
                        </a:cubicBezTo>
                        <a:cubicBezTo>
                          <a:pt x="77" y="129"/>
                          <a:pt x="79" y="131"/>
                          <a:pt x="76" y="142"/>
                        </a:cubicBezTo>
                        <a:cubicBezTo>
                          <a:pt x="67" y="139"/>
                          <a:pt x="65" y="141"/>
                          <a:pt x="58" y="148"/>
                        </a:cubicBezTo>
                        <a:cubicBezTo>
                          <a:pt x="60" y="160"/>
                          <a:pt x="62" y="170"/>
                          <a:pt x="74" y="174"/>
                        </a:cubicBezTo>
                        <a:cubicBezTo>
                          <a:pt x="77" y="165"/>
                          <a:pt x="74" y="157"/>
                          <a:pt x="84" y="154"/>
                        </a:cubicBezTo>
                        <a:cubicBezTo>
                          <a:pt x="91" y="143"/>
                          <a:pt x="94" y="122"/>
                          <a:pt x="82" y="112"/>
                        </a:cubicBezTo>
                        <a:cubicBezTo>
                          <a:pt x="77" y="108"/>
                          <a:pt x="66" y="108"/>
                          <a:pt x="60" y="106"/>
                        </a:cubicBezTo>
                        <a:cubicBezTo>
                          <a:pt x="65" y="92"/>
                          <a:pt x="66" y="87"/>
                          <a:pt x="50" y="82"/>
                        </a:cubicBezTo>
                        <a:cubicBezTo>
                          <a:pt x="48" y="82"/>
                          <a:pt x="37" y="86"/>
                          <a:pt x="34" y="82"/>
                        </a:cubicBezTo>
                        <a:cubicBezTo>
                          <a:pt x="32" y="79"/>
                          <a:pt x="30" y="70"/>
                          <a:pt x="30" y="70"/>
                        </a:cubicBezTo>
                        <a:cubicBezTo>
                          <a:pt x="32" y="54"/>
                          <a:pt x="32" y="52"/>
                          <a:pt x="42" y="42"/>
                        </a:cubicBezTo>
                        <a:cubicBezTo>
                          <a:pt x="41" y="30"/>
                          <a:pt x="45" y="5"/>
                          <a:pt x="30" y="0"/>
                        </a:cubicBezTo>
                        <a:cubicBezTo>
                          <a:pt x="14" y="4"/>
                          <a:pt x="16" y="4"/>
                          <a:pt x="18" y="22"/>
                        </a:cubicBezTo>
                        <a:cubicBezTo>
                          <a:pt x="16" y="39"/>
                          <a:pt x="15" y="35"/>
                          <a:pt x="4" y="46"/>
                        </a:cubicBezTo>
                        <a:cubicBezTo>
                          <a:pt x="0" y="59"/>
                          <a:pt x="5" y="67"/>
                          <a:pt x="14" y="76"/>
                        </a:cubicBezTo>
                        <a:cubicBezTo>
                          <a:pt x="15" y="80"/>
                          <a:pt x="17" y="93"/>
                          <a:pt x="14" y="9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4" name="Freeform 87"/>
                  <p:cNvSpPr>
                    <a:spLocks/>
                  </p:cNvSpPr>
                  <p:nvPr/>
                </p:nvSpPr>
                <p:spPr bwMode="ltGray">
                  <a:xfrm>
                    <a:off x="4597" y="508"/>
                    <a:ext cx="14" cy="17"/>
                  </a:xfrm>
                  <a:custGeom>
                    <a:avLst/>
                    <a:gdLst>
                      <a:gd name="T0" fmla="*/ 6 w 32"/>
                      <a:gd name="T1" fmla="*/ 24 h 50"/>
                      <a:gd name="T2" fmla="*/ 12 w 32"/>
                      <a:gd name="T3" fmla="*/ 0 h 50"/>
                      <a:gd name="T4" fmla="*/ 20 w 32"/>
                      <a:gd name="T5" fmla="*/ 16 h 50"/>
                      <a:gd name="T6" fmla="*/ 22 w 32"/>
                      <a:gd name="T7" fmla="*/ 24 h 50"/>
                      <a:gd name="T8" fmla="*/ 28 w 32"/>
                      <a:gd name="T9" fmla="*/ 26 h 50"/>
                      <a:gd name="T10" fmla="*/ 32 w 32"/>
                      <a:gd name="T11" fmla="*/ 38 h 50"/>
                      <a:gd name="T12" fmla="*/ 18 w 32"/>
                      <a:gd name="T13" fmla="*/ 50 h 50"/>
                      <a:gd name="T14" fmla="*/ 6 w 32"/>
                      <a:gd name="T15" fmla="*/ 24 h 5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2" h="50">
                        <a:moveTo>
                          <a:pt x="6" y="24"/>
                        </a:moveTo>
                        <a:cubicBezTo>
                          <a:pt x="0" y="15"/>
                          <a:pt x="3" y="6"/>
                          <a:pt x="12" y="0"/>
                        </a:cubicBezTo>
                        <a:cubicBezTo>
                          <a:pt x="23" y="3"/>
                          <a:pt x="23" y="5"/>
                          <a:pt x="20" y="16"/>
                        </a:cubicBezTo>
                        <a:cubicBezTo>
                          <a:pt x="21" y="19"/>
                          <a:pt x="20" y="22"/>
                          <a:pt x="22" y="24"/>
                        </a:cubicBezTo>
                        <a:cubicBezTo>
                          <a:pt x="23" y="26"/>
                          <a:pt x="27" y="24"/>
                          <a:pt x="28" y="26"/>
                        </a:cubicBezTo>
                        <a:cubicBezTo>
                          <a:pt x="30" y="29"/>
                          <a:pt x="32" y="38"/>
                          <a:pt x="32" y="38"/>
                        </a:cubicBezTo>
                        <a:cubicBezTo>
                          <a:pt x="29" y="46"/>
                          <a:pt x="26" y="47"/>
                          <a:pt x="18" y="50"/>
                        </a:cubicBezTo>
                        <a:cubicBezTo>
                          <a:pt x="12" y="41"/>
                          <a:pt x="18" y="24"/>
                          <a:pt x="6" y="2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5" name="Freeform 88"/>
                  <p:cNvSpPr>
                    <a:spLocks/>
                  </p:cNvSpPr>
                  <p:nvPr/>
                </p:nvSpPr>
                <p:spPr bwMode="ltGray">
                  <a:xfrm>
                    <a:off x="4569" y="512"/>
                    <a:ext cx="19" cy="17"/>
                  </a:xfrm>
                  <a:custGeom>
                    <a:avLst/>
                    <a:gdLst>
                      <a:gd name="T0" fmla="*/ 0 w 43"/>
                      <a:gd name="T1" fmla="*/ 44 h 50"/>
                      <a:gd name="T2" fmla="*/ 22 w 43"/>
                      <a:gd name="T3" fmla="*/ 20 h 50"/>
                      <a:gd name="T4" fmla="*/ 36 w 43"/>
                      <a:gd name="T5" fmla="*/ 0 h 50"/>
                      <a:gd name="T6" fmla="*/ 24 w 43"/>
                      <a:gd name="T7" fmla="*/ 28 h 50"/>
                      <a:gd name="T8" fmla="*/ 2 w 43"/>
                      <a:gd name="T9" fmla="*/ 50 h 50"/>
                      <a:gd name="T10" fmla="*/ 0 w 43"/>
                      <a:gd name="T11" fmla="*/ 44 h 5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50">
                        <a:moveTo>
                          <a:pt x="0" y="44"/>
                        </a:moveTo>
                        <a:cubicBezTo>
                          <a:pt x="6" y="38"/>
                          <a:pt x="18" y="29"/>
                          <a:pt x="22" y="20"/>
                        </a:cubicBezTo>
                        <a:cubicBezTo>
                          <a:pt x="27" y="10"/>
                          <a:pt x="25" y="4"/>
                          <a:pt x="36" y="0"/>
                        </a:cubicBezTo>
                        <a:cubicBezTo>
                          <a:pt x="43" y="11"/>
                          <a:pt x="36" y="24"/>
                          <a:pt x="24" y="28"/>
                        </a:cubicBezTo>
                        <a:cubicBezTo>
                          <a:pt x="21" y="38"/>
                          <a:pt x="12" y="47"/>
                          <a:pt x="2" y="50"/>
                        </a:cubicBezTo>
                        <a:cubicBezTo>
                          <a:pt x="1" y="48"/>
                          <a:pt x="0" y="44"/>
                          <a:pt x="0" y="44"/>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6" name="Freeform 89"/>
                  <p:cNvSpPr>
                    <a:spLocks/>
                  </p:cNvSpPr>
                  <p:nvPr/>
                </p:nvSpPr>
                <p:spPr bwMode="ltGray">
                  <a:xfrm>
                    <a:off x="4784" y="275"/>
                    <a:ext cx="18" cy="10"/>
                  </a:xfrm>
                  <a:custGeom>
                    <a:avLst/>
                    <a:gdLst>
                      <a:gd name="T0" fmla="*/ 0 w 41"/>
                      <a:gd name="T1" fmla="*/ 25 h 29"/>
                      <a:gd name="T2" fmla="*/ 12 w 41"/>
                      <a:gd name="T3" fmla="*/ 29 h 29"/>
                      <a:gd name="T4" fmla="*/ 0 w 41"/>
                      <a:gd name="T5" fmla="*/ 25 h 29"/>
                      <a:gd name="T6" fmla="*/ 0 60000 65536"/>
                      <a:gd name="T7" fmla="*/ 0 60000 65536"/>
                      <a:gd name="T8" fmla="*/ 0 60000 65536"/>
                    </a:gdLst>
                    <a:ahLst/>
                    <a:cxnLst>
                      <a:cxn ang="T6">
                        <a:pos x="T0" y="T1"/>
                      </a:cxn>
                      <a:cxn ang="T7">
                        <a:pos x="T2" y="T3"/>
                      </a:cxn>
                      <a:cxn ang="T8">
                        <a:pos x="T4" y="T5"/>
                      </a:cxn>
                    </a:cxnLst>
                    <a:rect l="0" t="0" r="r" b="b"/>
                    <a:pathLst>
                      <a:path w="41" h="29">
                        <a:moveTo>
                          <a:pt x="0" y="25"/>
                        </a:moveTo>
                        <a:cubicBezTo>
                          <a:pt x="10" y="11"/>
                          <a:pt x="41" y="0"/>
                          <a:pt x="12" y="29"/>
                        </a:cubicBezTo>
                        <a:cubicBezTo>
                          <a:pt x="8" y="28"/>
                          <a:pt x="0" y="25"/>
                          <a:pt x="0"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7" name="Freeform 90"/>
                  <p:cNvSpPr>
                    <a:spLocks/>
                  </p:cNvSpPr>
                  <p:nvPr/>
                </p:nvSpPr>
                <p:spPr bwMode="ltGray">
                  <a:xfrm>
                    <a:off x="4293" y="246"/>
                    <a:ext cx="438" cy="152"/>
                  </a:xfrm>
                  <a:custGeom>
                    <a:avLst/>
                    <a:gdLst>
                      <a:gd name="T0" fmla="*/ 73 w 438"/>
                      <a:gd name="T1" fmla="*/ 1 h 152"/>
                      <a:gd name="T2" fmla="*/ 438 w 438"/>
                      <a:gd name="T3" fmla="*/ 0 h 152"/>
                      <a:gd name="T4" fmla="*/ 416 w 438"/>
                      <a:gd name="T5" fmla="*/ 54 h 152"/>
                      <a:gd name="T6" fmla="*/ 397 w 438"/>
                      <a:gd name="T7" fmla="*/ 68 h 152"/>
                      <a:gd name="T8" fmla="*/ 392 w 438"/>
                      <a:gd name="T9" fmla="*/ 70 h 152"/>
                      <a:gd name="T10" fmla="*/ 375 w 438"/>
                      <a:gd name="T11" fmla="*/ 73 h 152"/>
                      <a:gd name="T12" fmla="*/ 361 w 438"/>
                      <a:gd name="T13" fmla="*/ 88 h 152"/>
                      <a:gd name="T14" fmla="*/ 362 w 438"/>
                      <a:gd name="T15" fmla="*/ 99 h 152"/>
                      <a:gd name="T16" fmla="*/ 364 w 438"/>
                      <a:gd name="T17" fmla="*/ 107 h 152"/>
                      <a:gd name="T18" fmla="*/ 366 w 438"/>
                      <a:gd name="T19" fmla="*/ 113 h 152"/>
                      <a:gd name="T20" fmla="*/ 362 w 438"/>
                      <a:gd name="T21" fmla="*/ 122 h 152"/>
                      <a:gd name="T22" fmla="*/ 351 w 438"/>
                      <a:gd name="T23" fmla="*/ 120 h 152"/>
                      <a:gd name="T24" fmla="*/ 342 w 438"/>
                      <a:gd name="T25" fmla="*/ 129 h 152"/>
                      <a:gd name="T26" fmla="*/ 347 w 438"/>
                      <a:gd name="T27" fmla="*/ 105 h 152"/>
                      <a:gd name="T28" fmla="*/ 338 w 438"/>
                      <a:gd name="T29" fmla="*/ 100 h 152"/>
                      <a:gd name="T30" fmla="*/ 344 w 438"/>
                      <a:gd name="T31" fmla="*/ 93 h 152"/>
                      <a:gd name="T32" fmla="*/ 342 w 438"/>
                      <a:gd name="T33" fmla="*/ 89 h 152"/>
                      <a:gd name="T34" fmla="*/ 320 w 438"/>
                      <a:gd name="T35" fmla="*/ 94 h 152"/>
                      <a:gd name="T36" fmla="*/ 317 w 438"/>
                      <a:gd name="T37" fmla="*/ 85 h 152"/>
                      <a:gd name="T38" fmla="*/ 297 w 438"/>
                      <a:gd name="T39" fmla="*/ 94 h 152"/>
                      <a:gd name="T40" fmla="*/ 320 w 438"/>
                      <a:gd name="T41" fmla="*/ 103 h 152"/>
                      <a:gd name="T42" fmla="*/ 305 w 438"/>
                      <a:gd name="T43" fmla="*/ 117 h 152"/>
                      <a:gd name="T44" fmla="*/ 311 w 438"/>
                      <a:gd name="T45" fmla="*/ 126 h 152"/>
                      <a:gd name="T46" fmla="*/ 315 w 438"/>
                      <a:gd name="T47" fmla="*/ 138 h 152"/>
                      <a:gd name="T48" fmla="*/ 309 w 438"/>
                      <a:gd name="T49" fmla="*/ 139 h 152"/>
                      <a:gd name="T50" fmla="*/ 314 w 438"/>
                      <a:gd name="T51" fmla="*/ 144 h 152"/>
                      <a:gd name="T52" fmla="*/ 307 w 438"/>
                      <a:gd name="T53" fmla="*/ 152 h 152"/>
                      <a:gd name="T54" fmla="*/ 0 w 438"/>
                      <a:gd name="T55" fmla="*/ 149 h 152"/>
                      <a:gd name="T56" fmla="*/ 73 w 438"/>
                      <a:gd name="T57" fmla="*/ 1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438" h="152">
                        <a:moveTo>
                          <a:pt x="73" y="1"/>
                        </a:moveTo>
                        <a:lnTo>
                          <a:pt x="438" y="0"/>
                        </a:lnTo>
                        <a:cubicBezTo>
                          <a:pt x="432" y="15"/>
                          <a:pt x="429" y="42"/>
                          <a:pt x="416" y="54"/>
                        </a:cubicBezTo>
                        <a:cubicBezTo>
                          <a:pt x="410" y="60"/>
                          <a:pt x="405" y="63"/>
                          <a:pt x="397" y="68"/>
                        </a:cubicBezTo>
                        <a:cubicBezTo>
                          <a:pt x="396" y="69"/>
                          <a:pt x="392" y="70"/>
                          <a:pt x="392" y="70"/>
                        </a:cubicBezTo>
                        <a:cubicBezTo>
                          <a:pt x="377" y="63"/>
                          <a:pt x="385" y="68"/>
                          <a:pt x="375" y="73"/>
                        </a:cubicBezTo>
                        <a:cubicBezTo>
                          <a:pt x="371" y="82"/>
                          <a:pt x="371" y="83"/>
                          <a:pt x="361" y="88"/>
                        </a:cubicBezTo>
                        <a:cubicBezTo>
                          <a:pt x="359" y="92"/>
                          <a:pt x="364" y="93"/>
                          <a:pt x="362" y="99"/>
                        </a:cubicBezTo>
                        <a:cubicBezTo>
                          <a:pt x="363" y="102"/>
                          <a:pt x="364" y="105"/>
                          <a:pt x="364" y="107"/>
                        </a:cubicBezTo>
                        <a:cubicBezTo>
                          <a:pt x="365" y="109"/>
                          <a:pt x="366" y="111"/>
                          <a:pt x="366" y="113"/>
                        </a:cubicBezTo>
                        <a:cubicBezTo>
                          <a:pt x="365" y="115"/>
                          <a:pt x="364" y="120"/>
                          <a:pt x="362" y="122"/>
                        </a:cubicBezTo>
                        <a:cubicBezTo>
                          <a:pt x="359" y="123"/>
                          <a:pt x="354" y="119"/>
                          <a:pt x="351" y="120"/>
                        </a:cubicBezTo>
                        <a:cubicBezTo>
                          <a:pt x="347" y="129"/>
                          <a:pt x="352" y="127"/>
                          <a:pt x="342" y="129"/>
                        </a:cubicBezTo>
                        <a:cubicBezTo>
                          <a:pt x="340" y="123"/>
                          <a:pt x="345" y="111"/>
                          <a:pt x="347" y="105"/>
                        </a:cubicBezTo>
                        <a:cubicBezTo>
                          <a:pt x="347" y="100"/>
                          <a:pt x="338" y="102"/>
                          <a:pt x="338" y="100"/>
                        </a:cubicBezTo>
                        <a:cubicBezTo>
                          <a:pt x="338" y="98"/>
                          <a:pt x="344" y="95"/>
                          <a:pt x="344" y="93"/>
                        </a:cubicBezTo>
                        <a:cubicBezTo>
                          <a:pt x="344" y="92"/>
                          <a:pt x="344" y="89"/>
                          <a:pt x="342" y="89"/>
                        </a:cubicBezTo>
                        <a:cubicBezTo>
                          <a:pt x="339" y="89"/>
                          <a:pt x="324" y="94"/>
                          <a:pt x="320" y="94"/>
                        </a:cubicBezTo>
                        <a:cubicBezTo>
                          <a:pt x="317" y="86"/>
                          <a:pt x="328" y="88"/>
                          <a:pt x="317" y="85"/>
                        </a:cubicBezTo>
                        <a:cubicBezTo>
                          <a:pt x="311" y="91"/>
                          <a:pt x="306" y="93"/>
                          <a:pt x="297" y="94"/>
                        </a:cubicBezTo>
                        <a:cubicBezTo>
                          <a:pt x="300" y="104"/>
                          <a:pt x="307" y="101"/>
                          <a:pt x="320" y="103"/>
                        </a:cubicBezTo>
                        <a:cubicBezTo>
                          <a:pt x="318" y="109"/>
                          <a:pt x="311" y="111"/>
                          <a:pt x="305" y="117"/>
                        </a:cubicBezTo>
                        <a:lnTo>
                          <a:pt x="311" y="126"/>
                        </a:lnTo>
                        <a:lnTo>
                          <a:pt x="315" y="138"/>
                        </a:lnTo>
                        <a:lnTo>
                          <a:pt x="309" y="139"/>
                        </a:lnTo>
                        <a:lnTo>
                          <a:pt x="314" y="144"/>
                        </a:lnTo>
                        <a:lnTo>
                          <a:pt x="307" y="152"/>
                        </a:lnTo>
                        <a:lnTo>
                          <a:pt x="0" y="149"/>
                        </a:lnTo>
                        <a:lnTo>
                          <a:pt x="73" y="1"/>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8" name="Freeform 91"/>
                  <p:cNvSpPr>
                    <a:spLocks/>
                  </p:cNvSpPr>
                  <p:nvPr/>
                </p:nvSpPr>
                <p:spPr bwMode="ltGray">
                  <a:xfrm>
                    <a:off x="4731" y="240"/>
                    <a:ext cx="20" cy="55"/>
                  </a:xfrm>
                  <a:custGeom>
                    <a:avLst/>
                    <a:gdLst>
                      <a:gd name="T0" fmla="*/ 5 w 47"/>
                      <a:gd name="T1" fmla="*/ 156 h 165"/>
                      <a:gd name="T2" fmla="*/ 15 w 47"/>
                      <a:gd name="T3" fmla="*/ 108 h 165"/>
                      <a:gd name="T4" fmla="*/ 17 w 47"/>
                      <a:gd name="T5" fmla="*/ 68 h 165"/>
                      <a:gd name="T6" fmla="*/ 11 w 47"/>
                      <a:gd name="T7" fmla="*/ 40 h 165"/>
                      <a:gd name="T8" fmla="*/ 17 w 47"/>
                      <a:gd name="T9" fmla="*/ 12 h 165"/>
                      <a:gd name="T10" fmla="*/ 21 w 47"/>
                      <a:gd name="T11" fmla="*/ 0 h 165"/>
                      <a:gd name="T12" fmla="*/ 31 w 47"/>
                      <a:gd name="T13" fmla="*/ 30 h 165"/>
                      <a:gd name="T14" fmla="*/ 47 w 47"/>
                      <a:gd name="T15" fmla="*/ 98 h 165"/>
                      <a:gd name="T16" fmla="*/ 31 w 47"/>
                      <a:gd name="T17" fmla="*/ 108 h 165"/>
                      <a:gd name="T18" fmla="*/ 23 w 47"/>
                      <a:gd name="T19" fmla="*/ 126 h 165"/>
                      <a:gd name="T20" fmla="*/ 21 w 47"/>
                      <a:gd name="T21" fmla="*/ 132 h 165"/>
                      <a:gd name="T22" fmla="*/ 27 w 47"/>
                      <a:gd name="T23" fmla="*/ 134 h 165"/>
                      <a:gd name="T24" fmla="*/ 31 w 47"/>
                      <a:gd name="T25" fmla="*/ 146 h 165"/>
                      <a:gd name="T26" fmla="*/ 13 w 47"/>
                      <a:gd name="T27" fmla="*/ 148 h 165"/>
                      <a:gd name="T28" fmla="*/ 7 w 47"/>
                      <a:gd name="T29" fmla="*/ 160 h 165"/>
                      <a:gd name="T30" fmla="*/ 3 w 47"/>
                      <a:gd name="T31" fmla="*/ 154 h 165"/>
                      <a:gd name="T32" fmla="*/ 5 w 47"/>
                      <a:gd name="T33" fmla="*/ 156 h 16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47" h="165">
                        <a:moveTo>
                          <a:pt x="5" y="156"/>
                        </a:moveTo>
                        <a:cubicBezTo>
                          <a:pt x="0" y="141"/>
                          <a:pt x="1" y="118"/>
                          <a:pt x="15" y="108"/>
                        </a:cubicBezTo>
                        <a:cubicBezTo>
                          <a:pt x="16" y="95"/>
                          <a:pt x="17" y="81"/>
                          <a:pt x="17" y="68"/>
                        </a:cubicBezTo>
                        <a:cubicBezTo>
                          <a:pt x="17" y="58"/>
                          <a:pt x="11" y="40"/>
                          <a:pt x="11" y="40"/>
                        </a:cubicBezTo>
                        <a:cubicBezTo>
                          <a:pt x="14" y="20"/>
                          <a:pt x="11" y="29"/>
                          <a:pt x="17" y="12"/>
                        </a:cubicBezTo>
                        <a:cubicBezTo>
                          <a:pt x="18" y="8"/>
                          <a:pt x="21" y="0"/>
                          <a:pt x="21" y="0"/>
                        </a:cubicBezTo>
                        <a:cubicBezTo>
                          <a:pt x="38" y="6"/>
                          <a:pt x="33" y="7"/>
                          <a:pt x="31" y="30"/>
                        </a:cubicBezTo>
                        <a:cubicBezTo>
                          <a:pt x="38" y="52"/>
                          <a:pt x="40" y="76"/>
                          <a:pt x="47" y="98"/>
                        </a:cubicBezTo>
                        <a:cubicBezTo>
                          <a:pt x="44" y="116"/>
                          <a:pt x="45" y="113"/>
                          <a:pt x="31" y="108"/>
                        </a:cubicBezTo>
                        <a:cubicBezTo>
                          <a:pt x="25" y="118"/>
                          <a:pt x="28" y="112"/>
                          <a:pt x="23" y="126"/>
                        </a:cubicBezTo>
                        <a:cubicBezTo>
                          <a:pt x="22" y="128"/>
                          <a:pt x="21" y="132"/>
                          <a:pt x="21" y="132"/>
                        </a:cubicBezTo>
                        <a:cubicBezTo>
                          <a:pt x="23" y="133"/>
                          <a:pt x="26" y="132"/>
                          <a:pt x="27" y="134"/>
                        </a:cubicBezTo>
                        <a:cubicBezTo>
                          <a:pt x="29" y="137"/>
                          <a:pt x="31" y="146"/>
                          <a:pt x="31" y="146"/>
                        </a:cubicBezTo>
                        <a:cubicBezTo>
                          <a:pt x="27" y="165"/>
                          <a:pt x="23" y="155"/>
                          <a:pt x="13" y="148"/>
                        </a:cubicBezTo>
                        <a:cubicBezTo>
                          <a:pt x="11" y="152"/>
                          <a:pt x="11" y="160"/>
                          <a:pt x="7" y="160"/>
                        </a:cubicBezTo>
                        <a:cubicBezTo>
                          <a:pt x="5" y="160"/>
                          <a:pt x="4" y="156"/>
                          <a:pt x="3" y="154"/>
                        </a:cubicBezTo>
                        <a:cubicBezTo>
                          <a:pt x="3" y="153"/>
                          <a:pt x="4" y="155"/>
                          <a:pt x="5" y="15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09" name="Freeform 92"/>
                  <p:cNvSpPr>
                    <a:spLocks/>
                  </p:cNvSpPr>
                  <p:nvPr/>
                </p:nvSpPr>
                <p:spPr bwMode="ltGray">
                  <a:xfrm>
                    <a:off x="4719" y="287"/>
                    <a:ext cx="59" cy="34"/>
                  </a:xfrm>
                  <a:custGeom>
                    <a:avLst/>
                    <a:gdLst>
                      <a:gd name="T0" fmla="*/ 26 w 138"/>
                      <a:gd name="T1" fmla="*/ 61 h 103"/>
                      <a:gd name="T2" fmla="*/ 30 w 138"/>
                      <a:gd name="T3" fmla="*/ 43 h 103"/>
                      <a:gd name="T4" fmla="*/ 50 w 138"/>
                      <a:gd name="T5" fmla="*/ 33 h 103"/>
                      <a:gd name="T6" fmla="*/ 54 w 138"/>
                      <a:gd name="T7" fmla="*/ 45 h 103"/>
                      <a:gd name="T8" fmla="*/ 66 w 138"/>
                      <a:gd name="T9" fmla="*/ 49 h 103"/>
                      <a:gd name="T10" fmla="*/ 80 w 138"/>
                      <a:gd name="T11" fmla="*/ 55 h 103"/>
                      <a:gd name="T12" fmla="*/ 116 w 138"/>
                      <a:gd name="T13" fmla="*/ 33 h 103"/>
                      <a:gd name="T14" fmla="*/ 130 w 138"/>
                      <a:gd name="T15" fmla="*/ 17 h 103"/>
                      <a:gd name="T16" fmla="*/ 138 w 138"/>
                      <a:gd name="T17" fmla="*/ 11 h 103"/>
                      <a:gd name="T18" fmla="*/ 106 w 138"/>
                      <a:gd name="T19" fmla="*/ 49 h 103"/>
                      <a:gd name="T20" fmla="*/ 84 w 138"/>
                      <a:gd name="T21" fmla="*/ 67 h 103"/>
                      <a:gd name="T22" fmla="*/ 66 w 138"/>
                      <a:gd name="T23" fmla="*/ 81 h 103"/>
                      <a:gd name="T24" fmla="*/ 48 w 138"/>
                      <a:gd name="T25" fmla="*/ 103 h 103"/>
                      <a:gd name="T26" fmla="*/ 26 w 138"/>
                      <a:gd name="T27" fmla="*/ 89 h 103"/>
                      <a:gd name="T28" fmla="*/ 20 w 138"/>
                      <a:gd name="T29" fmla="*/ 87 h 103"/>
                      <a:gd name="T30" fmla="*/ 22 w 138"/>
                      <a:gd name="T31" fmla="*/ 97 h 103"/>
                      <a:gd name="T32" fmla="*/ 0 w 138"/>
                      <a:gd name="T33" fmla="*/ 97 h 103"/>
                      <a:gd name="T34" fmla="*/ 10 w 138"/>
                      <a:gd name="T35" fmla="*/ 79 h 103"/>
                      <a:gd name="T36" fmla="*/ 26 w 138"/>
                      <a:gd name="T37" fmla="*/ 61 h 10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38" h="103">
                        <a:moveTo>
                          <a:pt x="26" y="61"/>
                        </a:moveTo>
                        <a:cubicBezTo>
                          <a:pt x="29" y="53"/>
                          <a:pt x="33" y="51"/>
                          <a:pt x="30" y="43"/>
                        </a:cubicBezTo>
                        <a:cubicBezTo>
                          <a:pt x="33" y="27"/>
                          <a:pt x="37" y="24"/>
                          <a:pt x="50" y="33"/>
                        </a:cubicBezTo>
                        <a:cubicBezTo>
                          <a:pt x="51" y="37"/>
                          <a:pt x="53" y="41"/>
                          <a:pt x="54" y="45"/>
                        </a:cubicBezTo>
                        <a:cubicBezTo>
                          <a:pt x="55" y="49"/>
                          <a:pt x="66" y="49"/>
                          <a:pt x="66" y="49"/>
                        </a:cubicBezTo>
                        <a:cubicBezTo>
                          <a:pt x="75" y="43"/>
                          <a:pt x="77" y="45"/>
                          <a:pt x="80" y="55"/>
                        </a:cubicBezTo>
                        <a:cubicBezTo>
                          <a:pt x="92" y="47"/>
                          <a:pt x="101" y="37"/>
                          <a:pt x="116" y="33"/>
                        </a:cubicBezTo>
                        <a:cubicBezTo>
                          <a:pt x="125" y="19"/>
                          <a:pt x="120" y="24"/>
                          <a:pt x="130" y="17"/>
                        </a:cubicBezTo>
                        <a:cubicBezTo>
                          <a:pt x="134" y="11"/>
                          <a:pt x="134" y="0"/>
                          <a:pt x="138" y="11"/>
                        </a:cubicBezTo>
                        <a:cubicBezTo>
                          <a:pt x="135" y="31"/>
                          <a:pt x="126" y="45"/>
                          <a:pt x="106" y="49"/>
                        </a:cubicBezTo>
                        <a:cubicBezTo>
                          <a:pt x="97" y="55"/>
                          <a:pt x="93" y="61"/>
                          <a:pt x="84" y="67"/>
                        </a:cubicBezTo>
                        <a:cubicBezTo>
                          <a:pt x="80" y="79"/>
                          <a:pt x="79" y="79"/>
                          <a:pt x="66" y="81"/>
                        </a:cubicBezTo>
                        <a:cubicBezTo>
                          <a:pt x="60" y="90"/>
                          <a:pt x="57" y="97"/>
                          <a:pt x="48" y="103"/>
                        </a:cubicBezTo>
                        <a:cubicBezTo>
                          <a:pt x="42" y="94"/>
                          <a:pt x="37" y="93"/>
                          <a:pt x="26" y="89"/>
                        </a:cubicBezTo>
                        <a:cubicBezTo>
                          <a:pt x="24" y="88"/>
                          <a:pt x="20" y="87"/>
                          <a:pt x="20" y="87"/>
                        </a:cubicBezTo>
                        <a:cubicBezTo>
                          <a:pt x="10" y="90"/>
                          <a:pt x="14" y="94"/>
                          <a:pt x="22" y="97"/>
                        </a:cubicBezTo>
                        <a:cubicBezTo>
                          <a:pt x="14" y="103"/>
                          <a:pt x="9" y="100"/>
                          <a:pt x="0" y="97"/>
                        </a:cubicBezTo>
                        <a:cubicBezTo>
                          <a:pt x="2" y="87"/>
                          <a:pt x="1" y="82"/>
                          <a:pt x="10" y="79"/>
                        </a:cubicBezTo>
                        <a:cubicBezTo>
                          <a:pt x="15" y="63"/>
                          <a:pt x="14" y="69"/>
                          <a:pt x="26" y="6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0" name="Freeform 93"/>
                  <p:cNvSpPr>
                    <a:spLocks/>
                  </p:cNvSpPr>
                  <p:nvPr/>
                </p:nvSpPr>
                <p:spPr bwMode="ltGray">
                  <a:xfrm>
                    <a:off x="4656" y="319"/>
                    <a:ext cx="80" cy="72"/>
                  </a:xfrm>
                  <a:custGeom>
                    <a:avLst/>
                    <a:gdLst>
                      <a:gd name="T0" fmla="*/ 158 w 188"/>
                      <a:gd name="T1" fmla="*/ 24 h 214"/>
                      <a:gd name="T2" fmla="*/ 160 w 188"/>
                      <a:gd name="T3" fmla="*/ 6 h 214"/>
                      <a:gd name="T4" fmla="*/ 170 w 188"/>
                      <a:gd name="T5" fmla="*/ 0 h 214"/>
                      <a:gd name="T6" fmla="*/ 182 w 188"/>
                      <a:gd name="T7" fmla="*/ 24 h 214"/>
                      <a:gd name="T8" fmla="*/ 188 w 188"/>
                      <a:gd name="T9" fmla="*/ 42 h 214"/>
                      <a:gd name="T10" fmla="*/ 178 w 188"/>
                      <a:gd name="T11" fmla="*/ 58 h 214"/>
                      <a:gd name="T12" fmla="*/ 170 w 188"/>
                      <a:gd name="T13" fmla="*/ 76 h 214"/>
                      <a:gd name="T14" fmla="*/ 162 w 188"/>
                      <a:gd name="T15" fmla="*/ 126 h 214"/>
                      <a:gd name="T16" fmla="*/ 144 w 188"/>
                      <a:gd name="T17" fmla="*/ 136 h 214"/>
                      <a:gd name="T18" fmla="*/ 120 w 188"/>
                      <a:gd name="T19" fmla="*/ 138 h 214"/>
                      <a:gd name="T20" fmla="*/ 112 w 188"/>
                      <a:gd name="T21" fmla="*/ 124 h 214"/>
                      <a:gd name="T22" fmla="*/ 102 w 188"/>
                      <a:gd name="T23" fmla="*/ 146 h 214"/>
                      <a:gd name="T24" fmla="*/ 90 w 188"/>
                      <a:gd name="T25" fmla="*/ 150 h 214"/>
                      <a:gd name="T26" fmla="*/ 80 w 188"/>
                      <a:gd name="T27" fmla="*/ 132 h 214"/>
                      <a:gd name="T28" fmla="*/ 58 w 188"/>
                      <a:gd name="T29" fmla="*/ 144 h 214"/>
                      <a:gd name="T30" fmla="*/ 76 w 188"/>
                      <a:gd name="T31" fmla="*/ 142 h 214"/>
                      <a:gd name="T32" fmla="*/ 78 w 188"/>
                      <a:gd name="T33" fmla="*/ 160 h 214"/>
                      <a:gd name="T34" fmla="*/ 58 w 188"/>
                      <a:gd name="T35" fmla="*/ 166 h 214"/>
                      <a:gd name="T36" fmla="*/ 34 w 188"/>
                      <a:gd name="T37" fmla="*/ 166 h 214"/>
                      <a:gd name="T38" fmla="*/ 36 w 188"/>
                      <a:gd name="T39" fmla="*/ 154 h 214"/>
                      <a:gd name="T40" fmla="*/ 46 w 188"/>
                      <a:gd name="T41" fmla="*/ 144 h 214"/>
                      <a:gd name="T42" fmla="*/ 34 w 188"/>
                      <a:gd name="T43" fmla="*/ 148 h 214"/>
                      <a:gd name="T44" fmla="*/ 26 w 188"/>
                      <a:gd name="T45" fmla="*/ 166 h 214"/>
                      <a:gd name="T46" fmla="*/ 30 w 188"/>
                      <a:gd name="T47" fmla="*/ 190 h 214"/>
                      <a:gd name="T48" fmla="*/ 14 w 188"/>
                      <a:gd name="T49" fmla="*/ 200 h 214"/>
                      <a:gd name="T50" fmla="*/ 0 w 188"/>
                      <a:gd name="T51" fmla="*/ 214 h 214"/>
                      <a:gd name="T52" fmla="*/ 8 w 188"/>
                      <a:gd name="T53" fmla="*/ 188 h 214"/>
                      <a:gd name="T54" fmla="*/ 0 w 188"/>
                      <a:gd name="T55" fmla="*/ 164 h 214"/>
                      <a:gd name="T56" fmla="*/ 14 w 188"/>
                      <a:gd name="T57" fmla="*/ 152 h 214"/>
                      <a:gd name="T58" fmla="*/ 32 w 188"/>
                      <a:gd name="T59" fmla="*/ 134 h 214"/>
                      <a:gd name="T60" fmla="*/ 44 w 188"/>
                      <a:gd name="T61" fmla="*/ 118 h 214"/>
                      <a:gd name="T62" fmla="*/ 72 w 188"/>
                      <a:gd name="T63" fmla="*/ 116 h 214"/>
                      <a:gd name="T64" fmla="*/ 84 w 188"/>
                      <a:gd name="T65" fmla="*/ 112 h 214"/>
                      <a:gd name="T66" fmla="*/ 114 w 188"/>
                      <a:gd name="T67" fmla="*/ 78 h 214"/>
                      <a:gd name="T68" fmla="*/ 120 w 188"/>
                      <a:gd name="T69" fmla="*/ 92 h 214"/>
                      <a:gd name="T70" fmla="*/ 132 w 188"/>
                      <a:gd name="T71" fmla="*/ 76 h 214"/>
                      <a:gd name="T72" fmla="*/ 150 w 188"/>
                      <a:gd name="T73" fmla="*/ 54 h 214"/>
                      <a:gd name="T74" fmla="*/ 154 w 188"/>
                      <a:gd name="T75" fmla="*/ 42 h 214"/>
                      <a:gd name="T76" fmla="*/ 148 w 188"/>
                      <a:gd name="T77" fmla="*/ 38 h 214"/>
                      <a:gd name="T78" fmla="*/ 152 w 188"/>
                      <a:gd name="T79" fmla="*/ 32 h 214"/>
                      <a:gd name="T80" fmla="*/ 158 w 188"/>
                      <a:gd name="T81" fmla="*/ 24 h 214"/>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88" h="214">
                        <a:moveTo>
                          <a:pt x="158" y="24"/>
                        </a:moveTo>
                        <a:cubicBezTo>
                          <a:pt x="156" y="18"/>
                          <a:pt x="160" y="6"/>
                          <a:pt x="160" y="6"/>
                        </a:cubicBezTo>
                        <a:cubicBezTo>
                          <a:pt x="167" y="16"/>
                          <a:pt x="167" y="8"/>
                          <a:pt x="170" y="0"/>
                        </a:cubicBezTo>
                        <a:cubicBezTo>
                          <a:pt x="181" y="4"/>
                          <a:pt x="179" y="14"/>
                          <a:pt x="182" y="24"/>
                        </a:cubicBezTo>
                        <a:cubicBezTo>
                          <a:pt x="184" y="30"/>
                          <a:pt x="188" y="42"/>
                          <a:pt x="188" y="42"/>
                        </a:cubicBezTo>
                        <a:cubicBezTo>
                          <a:pt x="183" y="56"/>
                          <a:pt x="188" y="52"/>
                          <a:pt x="178" y="58"/>
                        </a:cubicBezTo>
                        <a:cubicBezTo>
                          <a:pt x="174" y="63"/>
                          <a:pt x="170" y="76"/>
                          <a:pt x="170" y="76"/>
                        </a:cubicBezTo>
                        <a:cubicBezTo>
                          <a:pt x="169" y="100"/>
                          <a:pt x="173" y="110"/>
                          <a:pt x="162" y="126"/>
                        </a:cubicBezTo>
                        <a:cubicBezTo>
                          <a:pt x="150" y="118"/>
                          <a:pt x="155" y="132"/>
                          <a:pt x="144" y="136"/>
                        </a:cubicBezTo>
                        <a:cubicBezTo>
                          <a:pt x="135" y="134"/>
                          <a:pt x="129" y="135"/>
                          <a:pt x="120" y="138"/>
                        </a:cubicBezTo>
                        <a:cubicBezTo>
                          <a:pt x="114" y="129"/>
                          <a:pt x="122" y="127"/>
                          <a:pt x="112" y="124"/>
                        </a:cubicBezTo>
                        <a:cubicBezTo>
                          <a:pt x="108" y="130"/>
                          <a:pt x="108" y="142"/>
                          <a:pt x="102" y="146"/>
                        </a:cubicBezTo>
                        <a:cubicBezTo>
                          <a:pt x="98" y="148"/>
                          <a:pt x="90" y="150"/>
                          <a:pt x="90" y="150"/>
                        </a:cubicBezTo>
                        <a:cubicBezTo>
                          <a:pt x="87" y="141"/>
                          <a:pt x="89" y="135"/>
                          <a:pt x="80" y="132"/>
                        </a:cubicBezTo>
                        <a:cubicBezTo>
                          <a:pt x="68" y="134"/>
                          <a:pt x="65" y="134"/>
                          <a:pt x="58" y="144"/>
                        </a:cubicBezTo>
                        <a:cubicBezTo>
                          <a:pt x="66" y="150"/>
                          <a:pt x="68" y="147"/>
                          <a:pt x="76" y="142"/>
                        </a:cubicBezTo>
                        <a:cubicBezTo>
                          <a:pt x="81" y="146"/>
                          <a:pt x="85" y="155"/>
                          <a:pt x="78" y="160"/>
                        </a:cubicBezTo>
                        <a:cubicBezTo>
                          <a:pt x="75" y="162"/>
                          <a:pt x="62" y="165"/>
                          <a:pt x="58" y="166"/>
                        </a:cubicBezTo>
                        <a:cubicBezTo>
                          <a:pt x="48" y="173"/>
                          <a:pt x="44" y="173"/>
                          <a:pt x="34" y="166"/>
                        </a:cubicBezTo>
                        <a:cubicBezTo>
                          <a:pt x="35" y="162"/>
                          <a:pt x="34" y="158"/>
                          <a:pt x="36" y="154"/>
                        </a:cubicBezTo>
                        <a:cubicBezTo>
                          <a:pt x="38" y="150"/>
                          <a:pt x="55" y="146"/>
                          <a:pt x="46" y="144"/>
                        </a:cubicBezTo>
                        <a:cubicBezTo>
                          <a:pt x="42" y="143"/>
                          <a:pt x="34" y="148"/>
                          <a:pt x="34" y="148"/>
                        </a:cubicBezTo>
                        <a:cubicBezTo>
                          <a:pt x="32" y="155"/>
                          <a:pt x="28" y="159"/>
                          <a:pt x="26" y="166"/>
                        </a:cubicBezTo>
                        <a:cubicBezTo>
                          <a:pt x="36" y="182"/>
                          <a:pt x="36" y="173"/>
                          <a:pt x="30" y="190"/>
                        </a:cubicBezTo>
                        <a:cubicBezTo>
                          <a:pt x="28" y="196"/>
                          <a:pt x="14" y="200"/>
                          <a:pt x="14" y="200"/>
                        </a:cubicBezTo>
                        <a:cubicBezTo>
                          <a:pt x="5" y="214"/>
                          <a:pt x="11" y="210"/>
                          <a:pt x="0" y="214"/>
                        </a:cubicBezTo>
                        <a:cubicBezTo>
                          <a:pt x="2" y="202"/>
                          <a:pt x="5" y="198"/>
                          <a:pt x="8" y="188"/>
                        </a:cubicBezTo>
                        <a:cubicBezTo>
                          <a:pt x="6" y="178"/>
                          <a:pt x="3" y="173"/>
                          <a:pt x="0" y="164"/>
                        </a:cubicBezTo>
                        <a:cubicBezTo>
                          <a:pt x="3" y="156"/>
                          <a:pt x="7" y="157"/>
                          <a:pt x="14" y="152"/>
                        </a:cubicBezTo>
                        <a:cubicBezTo>
                          <a:pt x="18" y="141"/>
                          <a:pt x="23" y="140"/>
                          <a:pt x="32" y="134"/>
                        </a:cubicBezTo>
                        <a:cubicBezTo>
                          <a:pt x="37" y="127"/>
                          <a:pt x="37" y="123"/>
                          <a:pt x="44" y="118"/>
                        </a:cubicBezTo>
                        <a:cubicBezTo>
                          <a:pt x="64" y="121"/>
                          <a:pt x="55" y="122"/>
                          <a:pt x="72" y="116"/>
                        </a:cubicBezTo>
                        <a:cubicBezTo>
                          <a:pt x="76" y="115"/>
                          <a:pt x="84" y="112"/>
                          <a:pt x="84" y="112"/>
                        </a:cubicBezTo>
                        <a:cubicBezTo>
                          <a:pt x="105" y="119"/>
                          <a:pt x="97" y="84"/>
                          <a:pt x="114" y="78"/>
                        </a:cubicBezTo>
                        <a:cubicBezTo>
                          <a:pt x="117" y="87"/>
                          <a:pt x="110" y="89"/>
                          <a:pt x="120" y="92"/>
                        </a:cubicBezTo>
                        <a:cubicBezTo>
                          <a:pt x="125" y="85"/>
                          <a:pt x="125" y="81"/>
                          <a:pt x="132" y="76"/>
                        </a:cubicBezTo>
                        <a:cubicBezTo>
                          <a:pt x="138" y="68"/>
                          <a:pt x="146" y="65"/>
                          <a:pt x="150" y="54"/>
                        </a:cubicBezTo>
                        <a:cubicBezTo>
                          <a:pt x="151" y="50"/>
                          <a:pt x="154" y="42"/>
                          <a:pt x="154" y="42"/>
                        </a:cubicBezTo>
                        <a:cubicBezTo>
                          <a:pt x="152" y="41"/>
                          <a:pt x="148" y="40"/>
                          <a:pt x="148" y="38"/>
                        </a:cubicBezTo>
                        <a:cubicBezTo>
                          <a:pt x="148" y="36"/>
                          <a:pt x="161" y="33"/>
                          <a:pt x="152" y="32"/>
                        </a:cubicBezTo>
                        <a:lnTo>
                          <a:pt x="158" y="2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1" name="Freeform 94"/>
                  <p:cNvSpPr>
                    <a:spLocks/>
                  </p:cNvSpPr>
                  <p:nvPr/>
                </p:nvSpPr>
                <p:spPr bwMode="ltGray">
                  <a:xfrm>
                    <a:off x="4709" y="340"/>
                    <a:ext cx="6" cy="4"/>
                  </a:xfrm>
                  <a:custGeom>
                    <a:avLst/>
                    <a:gdLst>
                      <a:gd name="T0" fmla="*/ 0 w 13"/>
                      <a:gd name="T1" fmla="*/ 9 h 13"/>
                      <a:gd name="T2" fmla="*/ 4 w 13"/>
                      <a:gd name="T3" fmla="*/ 13 h 13"/>
                      <a:gd name="T4" fmla="*/ 0 w 13"/>
                      <a:gd name="T5" fmla="*/ 9 h 13"/>
                      <a:gd name="T6" fmla="*/ 0 60000 65536"/>
                      <a:gd name="T7" fmla="*/ 0 60000 65536"/>
                      <a:gd name="T8" fmla="*/ 0 60000 65536"/>
                    </a:gdLst>
                    <a:ahLst/>
                    <a:cxnLst>
                      <a:cxn ang="T6">
                        <a:pos x="T0" y="T1"/>
                      </a:cxn>
                      <a:cxn ang="T7">
                        <a:pos x="T2" y="T3"/>
                      </a:cxn>
                      <a:cxn ang="T8">
                        <a:pos x="T4" y="T5"/>
                      </a:cxn>
                    </a:cxnLst>
                    <a:rect l="0" t="0" r="r" b="b"/>
                    <a:pathLst>
                      <a:path w="13" h="13">
                        <a:moveTo>
                          <a:pt x="0" y="9"/>
                        </a:moveTo>
                        <a:cubicBezTo>
                          <a:pt x="6" y="0"/>
                          <a:pt x="13" y="7"/>
                          <a:pt x="4" y="13"/>
                        </a:cubicBezTo>
                        <a:cubicBezTo>
                          <a:pt x="0" y="6"/>
                          <a:pt x="0" y="5"/>
                          <a:pt x="0" y="9"/>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2" name="Freeform 95"/>
                  <p:cNvSpPr>
                    <a:spLocks/>
                  </p:cNvSpPr>
                  <p:nvPr/>
                </p:nvSpPr>
                <p:spPr bwMode="ltGray">
                  <a:xfrm>
                    <a:off x="4261" y="389"/>
                    <a:ext cx="347" cy="189"/>
                  </a:xfrm>
                  <a:custGeom>
                    <a:avLst/>
                    <a:gdLst>
                      <a:gd name="T0" fmla="*/ 812 w 812"/>
                      <a:gd name="T1" fmla="*/ 26 h 564"/>
                      <a:gd name="T2" fmla="*/ 778 w 812"/>
                      <a:gd name="T3" fmla="*/ 78 h 564"/>
                      <a:gd name="T4" fmla="*/ 748 w 812"/>
                      <a:gd name="T5" fmla="*/ 122 h 564"/>
                      <a:gd name="T6" fmla="*/ 722 w 812"/>
                      <a:gd name="T7" fmla="*/ 142 h 564"/>
                      <a:gd name="T8" fmla="*/ 634 w 812"/>
                      <a:gd name="T9" fmla="*/ 180 h 564"/>
                      <a:gd name="T10" fmla="*/ 632 w 812"/>
                      <a:gd name="T11" fmla="*/ 210 h 564"/>
                      <a:gd name="T12" fmla="*/ 604 w 812"/>
                      <a:gd name="T13" fmla="*/ 230 h 564"/>
                      <a:gd name="T14" fmla="*/ 620 w 812"/>
                      <a:gd name="T15" fmla="*/ 178 h 564"/>
                      <a:gd name="T16" fmla="*/ 576 w 812"/>
                      <a:gd name="T17" fmla="*/ 188 h 564"/>
                      <a:gd name="T18" fmla="*/ 556 w 812"/>
                      <a:gd name="T19" fmla="*/ 218 h 564"/>
                      <a:gd name="T20" fmla="*/ 596 w 812"/>
                      <a:gd name="T21" fmla="*/ 280 h 564"/>
                      <a:gd name="T22" fmla="*/ 594 w 812"/>
                      <a:gd name="T23" fmla="*/ 368 h 564"/>
                      <a:gd name="T24" fmla="*/ 542 w 812"/>
                      <a:gd name="T25" fmla="*/ 406 h 564"/>
                      <a:gd name="T26" fmla="*/ 522 w 812"/>
                      <a:gd name="T27" fmla="*/ 386 h 564"/>
                      <a:gd name="T28" fmla="*/ 482 w 812"/>
                      <a:gd name="T29" fmla="*/ 348 h 564"/>
                      <a:gd name="T30" fmla="*/ 462 w 812"/>
                      <a:gd name="T31" fmla="*/ 348 h 564"/>
                      <a:gd name="T32" fmla="*/ 450 w 812"/>
                      <a:gd name="T33" fmla="*/ 394 h 564"/>
                      <a:gd name="T34" fmla="*/ 500 w 812"/>
                      <a:gd name="T35" fmla="*/ 464 h 564"/>
                      <a:gd name="T36" fmla="*/ 510 w 812"/>
                      <a:gd name="T37" fmla="*/ 524 h 564"/>
                      <a:gd name="T38" fmla="*/ 526 w 812"/>
                      <a:gd name="T39" fmla="*/ 560 h 564"/>
                      <a:gd name="T40" fmla="*/ 492 w 812"/>
                      <a:gd name="T41" fmla="*/ 544 h 564"/>
                      <a:gd name="T42" fmla="*/ 470 w 812"/>
                      <a:gd name="T43" fmla="*/ 518 h 564"/>
                      <a:gd name="T44" fmla="*/ 422 w 812"/>
                      <a:gd name="T45" fmla="*/ 424 h 564"/>
                      <a:gd name="T46" fmla="*/ 426 w 812"/>
                      <a:gd name="T47" fmla="*/ 310 h 564"/>
                      <a:gd name="T48" fmla="*/ 422 w 812"/>
                      <a:gd name="T49" fmla="*/ 268 h 564"/>
                      <a:gd name="T50" fmla="*/ 412 w 812"/>
                      <a:gd name="T51" fmla="*/ 276 h 564"/>
                      <a:gd name="T52" fmla="*/ 386 w 812"/>
                      <a:gd name="T53" fmla="*/ 266 h 564"/>
                      <a:gd name="T54" fmla="*/ 360 w 812"/>
                      <a:gd name="T55" fmla="*/ 170 h 564"/>
                      <a:gd name="T56" fmla="*/ 330 w 812"/>
                      <a:gd name="T57" fmla="*/ 166 h 564"/>
                      <a:gd name="T58" fmla="*/ 288 w 812"/>
                      <a:gd name="T59" fmla="*/ 172 h 564"/>
                      <a:gd name="T60" fmla="*/ 242 w 812"/>
                      <a:gd name="T61" fmla="*/ 232 h 564"/>
                      <a:gd name="T62" fmla="*/ 196 w 812"/>
                      <a:gd name="T63" fmla="*/ 268 h 564"/>
                      <a:gd name="T64" fmla="*/ 184 w 812"/>
                      <a:gd name="T65" fmla="*/ 274 h 564"/>
                      <a:gd name="T66" fmla="*/ 160 w 812"/>
                      <a:gd name="T67" fmla="*/ 328 h 564"/>
                      <a:gd name="T68" fmla="*/ 152 w 812"/>
                      <a:gd name="T69" fmla="*/ 354 h 564"/>
                      <a:gd name="T70" fmla="*/ 128 w 812"/>
                      <a:gd name="T71" fmla="*/ 404 h 564"/>
                      <a:gd name="T72" fmla="*/ 94 w 812"/>
                      <a:gd name="T73" fmla="*/ 392 h 564"/>
                      <a:gd name="T74" fmla="*/ 66 w 812"/>
                      <a:gd name="T75" fmla="*/ 258 h 564"/>
                      <a:gd name="T76" fmla="*/ 72 w 812"/>
                      <a:gd name="T77" fmla="*/ 156 h 564"/>
                      <a:gd name="T78" fmla="*/ 44 w 812"/>
                      <a:gd name="T79" fmla="*/ 180 h 564"/>
                      <a:gd name="T80" fmla="*/ 20 w 812"/>
                      <a:gd name="T81" fmla="*/ 150 h 564"/>
                      <a:gd name="T82" fmla="*/ 24 w 812"/>
                      <a:gd name="T83" fmla="*/ 138 h 564"/>
                      <a:gd name="T84" fmla="*/ 0 w 812"/>
                      <a:gd name="T85" fmla="*/ 92 h 564"/>
                      <a:gd name="T86" fmla="*/ 798 w 812"/>
                      <a:gd name="T87" fmla="*/ 6 h 56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812" h="564">
                        <a:moveTo>
                          <a:pt x="798" y="6"/>
                        </a:moveTo>
                        <a:cubicBezTo>
                          <a:pt x="801" y="15"/>
                          <a:pt x="809" y="16"/>
                          <a:pt x="812" y="26"/>
                        </a:cubicBezTo>
                        <a:cubicBezTo>
                          <a:pt x="809" y="36"/>
                          <a:pt x="801" y="41"/>
                          <a:pt x="796" y="50"/>
                        </a:cubicBezTo>
                        <a:cubicBezTo>
                          <a:pt x="791" y="61"/>
                          <a:pt x="788" y="71"/>
                          <a:pt x="778" y="78"/>
                        </a:cubicBezTo>
                        <a:cubicBezTo>
                          <a:pt x="773" y="85"/>
                          <a:pt x="771" y="88"/>
                          <a:pt x="774" y="96"/>
                        </a:cubicBezTo>
                        <a:cubicBezTo>
                          <a:pt x="767" y="107"/>
                          <a:pt x="758" y="114"/>
                          <a:pt x="748" y="122"/>
                        </a:cubicBezTo>
                        <a:cubicBezTo>
                          <a:pt x="744" y="125"/>
                          <a:pt x="736" y="130"/>
                          <a:pt x="736" y="130"/>
                        </a:cubicBezTo>
                        <a:cubicBezTo>
                          <a:pt x="740" y="141"/>
                          <a:pt x="731" y="140"/>
                          <a:pt x="722" y="142"/>
                        </a:cubicBezTo>
                        <a:cubicBezTo>
                          <a:pt x="716" y="148"/>
                          <a:pt x="712" y="151"/>
                          <a:pt x="704" y="154"/>
                        </a:cubicBezTo>
                        <a:cubicBezTo>
                          <a:pt x="686" y="150"/>
                          <a:pt x="650" y="169"/>
                          <a:pt x="634" y="180"/>
                        </a:cubicBezTo>
                        <a:cubicBezTo>
                          <a:pt x="636" y="189"/>
                          <a:pt x="631" y="193"/>
                          <a:pt x="640" y="196"/>
                        </a:cubicBezTo>
                        <a:cubicBezTo>
                          <a:pt x="643" y="205"/>
                          <a:pt x="640" y="207"/>
                          <a:pt x="632" y="210"/>
                        </a:cubicBezTo>
                        <a:cubicBezTo>
                          <a:pt x="626" y="219"/>
                          <a:pt x="623" y="226"/>
                          <a:pt x="614" y="232"/>
                        </a:cubicBezTo>
                        <a:cubicBezTo>
                          <a:pt x="611" y="231"/>
                          <a:pt x="606" y="233"/>
                          <a:pt x="604" y="230"/>
                        </a:cubicBezTo>
                        <a:cubicBezTo>
                          <a:pt x="599" y="220"/>
                          <a:pt x="610" y="199"/>
                          <a:pt x="620" y="196"/>
                        </a:cubicBezTo>
                        <a:cubicBezTo>
                          <a:pt x="623" y="187"/>
                          <a:pt x="617" y="187"/>
                          <a:pt x="620" y="178"/>
                        </a:cubicBezTo>
                        <a:cubicBezTo>
                          <a:pt x="617" y="164"/>
                          <a:pt x="609" y="168"/>
                          <a:pt x="598" y="172"/>
                        </a:cubicBezTo>
                        <a:cubicBezTo>
                          <a:pt x="592" y="180"/>
                          <a:pt x="585" y="185"/>
                          <a:pt x="576" y="188"/>
                        </a:cubicBezTo>
                        <a:cubicBezTo>
                          <a:pt x="572" y="194"/>
                          <a:pt x="568" y="200"/>
                          <a:pt x="564" y="206"/>
                        </a:cubicBezTo>
                        <a:cubicBezTo>
                          <a:pt x="561" y="210"/>
                          <a:pt x="556" y="218"/>
                          <a:pt x="556" y="218"/>
                        </a:cubicBezTo>
                        <a:cubicBezTo>
                          <a:pt x="558" y="234"/>
                          <a:pt x="559" y="243"/>
                          <a:pt x="572" y="252"/>
                        </a:cubicBezTo>
                        <a:cubicBezTo>
                          <a:pt x="579" y="262"/>
                          <a:pt x="586" y="273"/>
                          <a:pt x="596" y="280"/>
                        </a:cubicBezTo>
                        <a:cubicBezTo>
                          <a:pt x="598" y="286"/>
                          <a:pt x="602" y="298"/>
                          <a:pt x="602" y="298"/>
                        </a:cubicBezTo>
                        <a:cubicBezTo>
                          <a:pt x="601" y="308"/>
                          <a:pt x="599" y="361"/>
                          <a:pt x="594" y="368"/>
                        </a:cubicBezTo>
                        <a:cubicBezTo>
                          <a:pt x="590" y="374"/>
                          <a:pt x="576" y="378"/>
                          <a:pt x="570" y="382"/>
                        </a:cubicBezTo>
                        <a:cubicBezTo>
                          <a:pt x="563" y="393"/>
                          <a:pt x="550" y="396"/>
                          <a:pt x="542" y="406"/>
                        </a:cubicBezTo>
                        <a:cubicBezTo>
                          <a:pt x="536" y="413"/>
                          <a:pt x="539" y="417"/>
                          <a:pt x="530" y="420"/>
                        </a:cubicBezTo>
                        <a:cubicBezTo>
                          <a:pt x="526" y="408"/>
                          <a:pt x="538" y="391"/>
                          <a:pt x="522" y="386"/>
                        </a:cubicBezTo>
                        <a:cubicBezTo>
                          <a:pt x="516" y="377"/>
                          <a:pt x="510" y="364"/>
                          <a:pt x="502" y="356"/>
                        </a:cubicBezTo>
                        <a:cubicBezTo>
                          <a:pt x="497" y="341"/>
                          <a:pt x="505" y="360"/>
                          <a:pt x="482" y="348"/>
                        </a:cubicBezTo>
                        <a:cubicBezTo>
                          <a:pt x="478" y="346"/>
                          <a:pt x="478" y="339"/>
                          <a:pt x="474" y="336"/>
                        </a:cubicBezTo>
                        <a:cubicBezTo>
                          <a:pt x="470" y="323"/>
                          <a:pt x="466" y="342"/>
                          <a:pt x="462" y="348"/>
                        </a:cubicBezTo>
                        <a:cubicBezTo>
                          <a:pt x="460" y="358"/>
                          <a:pt x="456" y="363"/>
                          <a:pt x="454" y="374"/>
                        </a:cubicBezTo>
                        <a:cubicBezTo>
                          <a:pt x="457" y="383"/>
                          <a:pt x="455" y="387"/>
                          <a:pt x="450" y="394"/>
                        </a:cubicBezTo>
                        <a:cubicBezTo>
                          <a:pt x="454" y="399"/>
                          <a:pt x="464" y="411"/>
                          <a:pt x="466" y="418"/>
                        </a:cubicBezTo>
                        <a:cubicBezTo>
                          <a:pt x="474" y="443"/>
                          <a:pt x="472" y="458"/>
                          <a:pt x="500" y="464"/>
                        </a:cubicBezTo>
                        <a:cubicBezTo>
                          <a:pt x="507" y="469"/>
                          <a:pt x="510" y="474"/>
                          <a:pt x="516" y="480"/>
                        </a:cubicBezTo>
                        <a:cubicBezTo>
                          <a:pt x="511" y="494"/>
                          <a:pt x="513" y="509"/>
                          <a:pt x="510" y="524"/>
                        </a:cubicBezTo>
                        <a:cubicBezTo>
                          <a:pt x="512" y="537"/>
                          <a:pt x="511" y="541"/>
                          <a:pt x="522" y="548"/>
                        </a:cubicBezTo>
                        <a:cubicBezTo>
                          <a:pt x="523" y="552"/>
                          <a:pt x="525" y="556"/>
                          <a:pt x="526" y="560"/>
                        </a:cubicBezTo>
                        <a:cubicBezTo>
                          <a:pt x="527" y="564"/>
                          <a:pt x="514" y="556"/>
                          <a:pt x="514" y="556"/>
                        </a:cubicBezTo>
                        <a:cubicBezTo>
                          <a:pt x="502" y="564"/>
                          <a:pt x="501" y="551"/>
                          <a:pt x="492" y="544"/>
                        </a:cubicBezTo>
                        <a:cubicBezTo>
                          <a:pt x="488" y="541"/>
                          <a:pt x="480" y="536"/>
                          <a:pt x="480" y="536"/>
                        </a:cubicBezTo>
                        <a:cubicBezTo>
                          <a:pt x="471" y="522"/>
                          <a:pt x="474" y="529"/>
                          <a:pt x="470" y="518"/>
                        </a:cubicBezTo>
                        <a:cubicBezTo>
                          <a:pt x="467" y="491"/>
                          <a:pt x="461" y="446"/>
                          <a:pt x="436" y="430"/>
                        </a:cubicBezTo>
                        <a:cubicBezTo>
                          <a:pt x="428" y="433"/>
                          <a:pt x="425" y="433"/>
                          <a:pt x="422" y="424"/>
                        </a:cubicBezTo>
                        <a:cubicBezTo>
                          <a:pt x="427" y="404"/>
                          <a:pt x="432" y="383"/>
                          <a:pt x="438" y="364"/>
                        </a:cubicBezTo>
                        <a:cubicBezTo>
                          <a:pt x="436" y="343"/>
                          <a:pt x="431" y="330"/>
                          <a:pt x="426" y="310"/>
                        </a:cubicBezTo>
                        <a:cubicBezTo>
                          <a:pt x="429" y="302"/>
                          <a:pt x="425" y="300"/>
                          <a:pt x="422" y="292"/>
                        </a:cubicBezTo>
                        <a:cubicBezTo>
                          <a:pt x="424" y="282"/>
                          <a:pt x="428" y="277"/>
                          <a:pt x="422" y="268"/>
                        </a:cubicBezTo>
                        <a:cubicBezTo>
                          <a:pt x="420" y="269"/>
                          <a:pt x="418" y="269"/>
                          <a:pt x="416" y="270"/>
                        </a:cubicBezTo>
                        <a:cubicBezTo>
                          <a:pt x="414" y="272"/>
                          <a:pt x="414" y="275"/>
                          <a:pt x="412" y="276"/>
                        </a:cubicBezTo>
                        <a:cubicBezTo>
                          <a:pt x="408" y="278"/>
                          <a:pt x="400" y="280"/>
                          <a:pt x="400" y="280"/>
                        </a:cubicBezTo>
                        <a:cubicBezTo>
                          <a:pt x="394" y="274"/>
                          <a:pt x="389" y="274"/>
                          <a:pt x="386" y="266"/>
                        </a:cubicBezTo>
                        <a:cubicBezTo>
                          <a:pt x="391" y="251"/>
                          <a:pt x="379" y="206"/>
                          <a:pt x="364" y="196"/>
                        </a:cubicBezTo>
                        <a:cubicBezTo>
                          <a:pt x="357" y="186"/>
                          <a:pt x="358" y="182"/>
                          <a:pt x="360" y="170"/>
                        </a:cubicBezTo>
                        <a:cubicBezTo>
                          <a:pt x="358" y="160"/>
                          <a:pt x="356" y="147"/>
                          <a:pt x="346" y="144"/>
                        </a:cubicBezTo>
                        <a:cubicBezTo>
                          <a:pt x="343" y="154"/>
                          <a:pt x="338" y="160"/>
                          <a:pt x="330" y="166"/>
                        </a:cubicBezTo>
                        <a:cubicBezTo>
                          <a:pt x="323" y="164"/>
                          <a:pt x="308" y="160"/>
                          <a:pt x="308" y="160"/>
                        </a:cubicBezTo>
                        <a:cubicBezTo>
                          <a:pt x="296" y="162"/>
                          <a:pt x="297" y="166"/>
                          <a:pt x="288" y="172"/>
                        </a:cubicBezTo>
                        <a:cubicBezTo>
                          <a:pt x="284" y="185"/>
                          <a:pt x="282" y="191"/>
                          <a:pt x="268" y="196"/>
                        </a:cubicBezTo>
                        <a:cubicBezTo>
                          <a:pt x="264" y="200"/>
                          <a:pt x="243" y="231"/>
                          <a:pt x="242" y="232"/>
                        </a:cubicBezTo>
                        <a:cubicBezTo>
                          <a:pt x="231" y="239"/>
                          <a:pt x="215" y="247"/>
                          <a:pt x="206" y="256"/>
                        </a:cubicBezTo>
                        <a:cubicBezTo>
                          <a:pt x="202" y="260"/>
                          <a:pt x="200" y="265"/>
                          <a:pt x="196" y="268"/>
                        </a:cubicBezTo>
                        <a:cubicBezTo>
                          <a:pt x="194" y="269"/>
                          <a:pt x="192" y="269"/>
                          <a:pt x="190" y="270"/>
                        </a:cubicBezTo>
                        <a:cubicBezTo>
                          <a:pt x="188" y="271"/>
                          <a:pt x="186" y="272"/>
                          <a:pt x="184" y="274"/>
                        </a:cubicBezTo>
                        <a:cubicBezTo>
                          <a:pt x="180" y="278"/>
                          <a:pt x="172" y="286"/>
                          <a:pt x="172" y="286"/>
                        </a:cubicBezTo>
                        <a:cubicBezTo>
                          <a:pt x="167" y="300"/>
                          <a:pt x="165" y="314"/>
                          <a:pt x="160" y="328"/>
                        </a:cubicBezTo>
                        <a:cubicBezTo>
                          <a:pt x="158" y="335"/>
                          <a:pt x="156" y="341"/>
                          <a:pt x="154" y="348"/>
                        </a:cubicBezTo>
                        <a:cubicBezTo>
                          <a:pt x="153" y="350"/>
                          <a:pt x="152" y="354"/>
                          <a:pt x="152" y="354"/>
                        </a:cubicBezTo>
                        <a:cubicBezTo>
                          <a:pt x="152" y="359"/>
                          <a:pt x="156" y="384"/>
                          <a:pt x="146" y="392"/>
                        </a:cubicBezTo>
                        <a:cubicBezTo>
                          <a:pt x="141" y="397"/>
                          <a:pt x="128" y="404"/>
                          <a:pt x="128" y="404"/>
                        </a:cubicBezTo>
                        <a:cubicBezTo>
                          <a:pt x="125" y="412"/>
                          <a:pt x="122" y="421"/>
                          <a:pt x="114" y="424"/>
                        </a:cubicBezTo>
                        <a:cubicBezTo>
                          <a:pt x="100" y="419"/>
                          <a:pt x="97" y="405"/>
                          <a:pt x="94" y="392"/>
                        </a:cubicBezTo>
                        <a:cubicBezTo>
                          <a:pt x="86" y="362"/>
                          <a:pt x="82" y="332"/>
                          <a:pt x="72" y="302"/>
                        </a:cubicBezTo>
                        <a:cubicBezTo>
                          <a:pt x="71" y="281"/>
                          <a:pt x="70" y="275"/>
                          <a:pt x="66" y="258"/>
                        </a:cubicBezTo>
                        <a:cubicBezTo>
                          <a:pt x="66" y="251"/>
                          <a:pt x="68" y="219"/>
                          <a:pt x="64" y="208"/>
                        </a:cubicBezTo>
                        <a:cubicBezTo>
                          <a:pt x="70" y="191"/>
                          <a:pt x="66" y="173"/>
                          <a:pt x="72" y="156"/>
                        </a:cubicBezTo>
                        <a:cubicBezTo>
                          <a:pt x="66" y="139"/>
                          <a:pt x="60" y="168"/>
                          <a:pt x="56" y="172"/>
                        </a:cubicBezTo>
                        <a:cubicBezTo>
                          <a:pt x="53" y="175"/>
                          <a:pt x="44" y="180"/>
                          <a:pt x="44" y="180"/>
                        </a:cubicBezTo>
                        <a:cubicBezTo>
                          <a:pt x="35" y="177"/>
                          <a:pt x="28" y="173"/>
                          <a:pt x="24" y="162"/>
                        </a:cubicBezTo>
                        <a:cubicBezTo>
                          <a:pt x="23" y="158"/>
                          <a:pt x="20" y="150"/>
                          <a:pt x="20" y="150"/>
                        </a:cubicBezTo>
                        <a:cubicBezTo>
                          <a:pt x="30" y="148"/>
                          <a:pt x="30" y="143"/>
                          <a:pt x="38" y="138"/>
                        </a:cubicBezTo>
                        <a:cubicBezTo>
                          <a:pt x="35" y="128"/>
                          <a:pt x="31" y="133"/>
                          <a:pt x="24" y="138"/>
                        </a:cubicBezTo>
                        <a:cubicBezTo>
                          <a:pt x="15" y="135"/>
                          <a:pt x="15" y="132"/>
                          <a:pt x="18" y="124"/>
                        </a:cubicBezTo>
                        <a:cubicBezTo>
                          <a:pt x="11" y="114"/>
                          <a:pt x="9" y="101"/>
                          <a:pt x="0" y="92"/>
                        </a:cubicBezTo>
                        <a:lnTo>
                          <a:pt x="76" y="0"/>
                        </a:lnTo>
                        <a:lnTo>
                          <a:pt x="798" y="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3" name="Freeform 96"/>
                  <p:cNvSpPr>
                    <a:spLocks/>
                  </p:cNvSpPr>
                  <p:nvPr/>
                </p:nvSpPr>
                <p:spPr bwMode="ltGray">
                  <a:xfrm>
                    <a:off x="4322" y="519"/>
                    <a:ext cx="19" cy="29"/>
                  </a:xfrm>
                  <a:custGeom>
                    <a:avLst/>
                    <a:gdLst>
                      <a:gd name="T0" fmla="*/ 7 w 43"/>
                      <a:gd name="T1" fmla="*/ 11 h 85"/>
                      <a:gd name="T2" fmla="*/ 17 w 43"/>
                      <a:gd name="T3" fmla="*/ 3 h 85"/>
                      <a:gd name="T4" fmla="*/ 37 w 43"/>
                      <a:gd name="T5" fmla="*/ 33 h 85"/>
                      <a:gd name="T6" fmla="*/ 19 w 43"/>
                      <a:gd name="T7" fmla="*/ 85 h 85"/>
                      <a:gd name="T8" fmla="*/ 1 w 43"/>
                      <a:gd name="T9" fmla="*/ 69 h 85"/>
                      <a:gd name="T10" fmla="*/ 7 w 43"/>
                      <a:gd name="T11" fmla="*/ 11 h 8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3" h="85">
                        <a:moveTo>
                          <a:pt x="7" y="11"/>
                        </a:moveTo>
                        <a:cubicBezTo>
                          <a:pt x="4" y="2"/>
                          <a:pt x="9" y="0"/>
                          <a:pt x="17" y="3"/>
                        </a:cubicBezTo>
                        <a:cubicBezTo>
                          <a:pt x="24" y="13"/>
                          <a:pt x="28" y="24"/>
                          <a:pt x="37" y="33"/>
                        </a:cubicBezTo>
                        <a:cubicBezTo>
                          <a:pt x="43" y="52"/>
                          <a:pt x="40" y="78"/>
                          <a:pt x="19" y="85"/>
                        </a:cubicBezTo>
                        <a:cubicBezTo>
                          <a:pt x="6" y="81"/>
                          <a:pt x="5" y="81"/>
                          <a:pt x="1" y="69"/>
                        </a:cubicBezTo>
                        <a:cubicBezTo>
                          <a:pt x="2" y="66"/>
                          <a:pt x="0" y="4"/>
                          <a:pt x="7" y="1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4" name="Freeform 97"/>
                  <p:cNvSpPr>
                    <a:spLocks/>
                  </p:cNvSpPr>
                  <p:nvPr/>
                </p:nvSpPr>
                <p:spPr bwMode="ltGray">
                  <a:xfrm>
                    <a:off x="4588" y="421"/>
                    <a:ext cx="18" cy="24"/>
                  </a:xfrm>
                  <a:custGeom>
                    <a:avLst/>
                    <a:gdLst>
                      <a:gd name="T0" fmla="*/ 13 w 44"/>
                      <a:gd name="T1" fmla="*/ 28 h 74"/>
                      <a:gd name="T2" fmla="*/ 29 w 44"/>
                      <a:gd name="T3" fmla="*/ 2 h 74"/>
                      <a:gd name="T4" fmla="*/ 43 w 44"/>
                      <a:gd name="T5" fmla="*/ 4 h 74"/>
                      <a:gd name="T6" fmla="*/ 39 w 44"/>
                      <a:gd name="T7" fmla="*/ 26 h 74"/>
                      <a:gd name="T8" fmla="*/ 13 w 44"/>
                      <a:gd name="T9" fmla="*/ 74 h 74"/>
                      <a:gd name="T10" fmla="*/ 7 w 44"/>
                      <a:gd name="T11" fmla="*/ 60 h 74"/>
                      <a:gd name="T12" fmla="*/ 3 w 44"/>
                      <a:gd name="T13" fmla="*/ 36 h 74"/>
                      <a:gd name="T14" fmla="*/ 13 w 44"/>
                      <a:gd name="T15" fmla="*/ 28 h 7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4" h="74">
                        <a:moveTo>
                          <a:pt x="13" y="28"/>
                        </a:moveTo>
                        <a:cubicBezTo>
                          <a:pt x="15" y="13"/>
                          <a:pt x="14" y="7"/>
                          <a:pt x="29" y="2"/>
                        </a:cubicBezTo>
                        <a:cubicBezTo>
                          <a:pt x="34" y="3"/>
                          <a:pt x="40" y="0"/>
                          <a:pt x="43" y="4"/>
                        </a:cubicBezTo>
                        <a:cubicBezTo>
                          <a:pt x="44" y="6"/>
                          <a:pt x="41" y="21"/>
                          <a:pt x="39" y="26"/>
                        </a:cubicBezTo>
                        <a:cubicBezTo>
                          <a:pt x="31" y="43"/>
                          <a:pt x="30" y="63"/>
                          <a:pt x="13" y="74"/>
                        </a:cubicBezTo>
                        <a:cubicBezTo>
                          <a:pt x="4" y="71"/>
                          <a:pt x="4" y="68"/>
                          <a:pt x="7" y="60"/>
                        </a:cubicBezTo>
                        <a:cubicBezTo>
                          <a:pt x="5" y="50"/>
                          <a:pt x="0" y="46"/>
                          <a:pt x="3" y="36"/>
                        </a:cubicBezTo>
                        <a:cubicBezTo>
                          <a:pt x="4" y="32"/>
                          <a:pt x="8" y="23"/>
                          <a:pt x="1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5" name="Freeform 98"/>
                  <p:cNvSpPr>
                    <a:spLocks/>
                  </p:cNvSpPr>
                  <p:nvPr/>
                </p:nvSpPr>
                <p:spPr bwMode="ltGray">
                  <a:xfrm>
                    <a:off x="4639" y="409"/>
                    <a:ext cx="9" cy="10"/>
                  </a:xfrm>
                  <a:custGeom>
                    <a:avLst/>
                    <a:gdLst>
                      <a:gd name="T0" fmla="*/ 7 w 20"/>
                      <a:gd name="T1" fmla="*/ 16 h 30"/>
                      <a:gd name="T2" fmla="*/ 5 w 20"/>
                      <a:gd name="T3" fmla="*/ 30 h 30"/>
                      <a:gd name="T4" fmla="*/ 7 w 20"/>
                      <a:gd name="T5" fmla="*/ 16 h 30"/>
                      <a:gd name="T6" fmla="*/ 0 60000 65536"/>
                      <a:gd name="T7" fmla="*/ 0 60000 65536"/>
                      <a:gd name="T8" fmla="*/ 0 60000 65536"/>
                    </a:gdLst>
                    <a:ahLst/>
                    <a:cxnLst>
                      <a:cxn ang="T6">
                        <a:pos x="T0" y="T1"/>
                      </a:cxn>
                      <a:cxn ang="T7">
                        <a:pos x="T2" y="T3"/>
                      </a:cxn>
                      <a:cxn ang="T8">
                        <a:pos x="T4" y="T5"/>
                      </a:cxn>
                    </a:cxnLst>
                    <a:rect l="0" t="0" r="r" b="b"/>
                    <a:pathLst>
                      <a:path w="20" h="30">
                        <a:moveTo>
                          <a:pt x="7" y="16"/>
                        </a:moveTo>
                        <a:cubicBezTo>
                          <a:pt x="18" y="0"/>
                          <a:pt x="20" y="20"/>
                          <a:pt x="5" y="30"/>
                        </a:cubicBezTo>
                        <a:cubicBezTo>
                          <a:pt x="0" y="23"/>
                          <a:pt x="1" y="22"/>
                          <a:pt x="7" y="16"/>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6" name="Freeform 99"/>
                  <p:cNvSpPr>
                    <a:spLocks/>
                  </p:cNvSpPr>
                  <p:nvPr/>
                </p:nvSpPr>
                <p:spPr bwMode="ltGray">
                  <a:xfrm>
                    <a:off x="3709" y="315"/>
                    <a:ext cx="433" cy="354"/>
                  </a:xfrm>
                  <a:custGeom>
                    <a:avLst/>
                    <a:gdLst>
                      <a:gd name="T0" fmla="*/ 481 w 682"/>
                      <a:gd name="T1" fmla="*/ 464 h 557"/>
                      <a:gd name="T2" fmla="*/ 486 w 682"/>
                      <a:gd name="T3" fmla="*/ 451 h 557"/>
                      <a:gd name="T4" fmla="*/ 500 w 682"/>
                      <a:gd name="T5" fmla="*/ 413 h 557"/>
                      <a:gd name="T6" fmla="*/ 309 w 682"/>
                      <a:gd name="T7" fmla="*/ 287 h 557"/>
                      <a:gd name="T8" fmla="*/ 282 w 682"/>
                      <a:gd name="T9" fmla="*/ 346 h 557"/>
                      <a:gd name="T10" fmla="*/ 303 w 682"/>
                      <a:gd name="T11" fmla="*/ 556 h 557"/>
                      <a:gd name="T12" fmla="*/ 282 w 682"/>
                      <a:gd name="T13" fmla="*/ 494 h 557"/>
                      <a:gd name="T14" fmla="*/ 242 w 682"/>
                      <a:gd name="T15" fmla="*/ 439 h 557"/>
                      <a:gd name="T16" fmla="*/ 245 w 682"/>
                      <a:gd name="T17" fmla="*/ 413 h 557"/>
                      <a:gd name="T18" fmla="*/ 247 w 682"/>
                      <a:gd name="T19" fmla="*/ 394 h 557"/>
                      <a:gd name="T20" fmla="*/ 220 w 682"/>
                      <a:gd name="T21" fmla="*/ 375 h 557"/>
                      <a:gd name="T22" fmla="*/ 194 w 682"/>
                      <a:gd name="T23" fmla="*/ 346 h 557"/>
                      <a:gd name="T24" fmla="*/ 148 w 682"/>
                      <a:gd name="T25" fmla="*/ 354 h 557"/>
                      <a:gd name="T26" fmla="*/ 126 w 682"/>
                      <a:gd name="T27" fmla="*/ 365 h 557"/>
                      <a:gd name="T28" fmla="*/ 78 w 682"/>
                      <a:gd name="T29" fmla="*/ 365 h 557"/>
                      <a:gd name="T30" fmla="*/ 22 w 682"/>
                      <a:gd name="T31" fmla="*/ 312 h 557"/>
                      <a:gd name="T32" fmla="*/ 11 w 682"/>
                      <a:gd name="T33" fmla="*/ 295 h 557"/>
                      <a:gd name="T34" fmla="*/ 0 w 682"/>
                      <a:gd name="T35" fmla="*/ 264 h 557"/>
                      <a:gd name="T36" fmla="*/ 24 w 682"/>
                      <a:gd name="T37" fmla="*/ 213 h 557"/>
                      <a:gd name="T38" fmla="*/ 32 w 682"/>
                      <a:gd name="T39" fmla="*/ 181 h 557"/>
                      <a:gd name="T40" fmla="*/ 51 w 682"/>
                      <a:gd name="T41" fmla="*/ 143 h 557"/>
                      <a:gd name="T42" fmla="*/ 81 w 682"/>
                      <a:gd name="T43" fmla="*/ 116 h 557"/>
                      <a:gd name="T44" fmla="*/ 167 w 682"/>
                      <a:gd name="T45" fmla="*/ 67 h 557"/>
                      <a:gd name="T46" fmla="*/ 220 w 682"/>
                      <a:gd name="T47" fmla="*/ 30 h 557"/>
                      <a:gd name="T48" fmla="*/ 258 w 682"/>
                      <a:gd name="T49" fmla="*/ 6 h 557"/>
                      <a:gd name="T50" fmla="*/ 363 w 682"/>
                      <a:gd name="T51" fmla="*/ 2 h 557"/>
                      <a:gd name="T52" fmla="*/ 398 w 682"/>
                      <a:gd name="T53" fmla="*/ 0 h 557"/>
                      <a:gd name="T54" fmla="*/ 384 w 682"/>
                      <a:gd name="T55" fmla="*/ 34 h 557"/>
                      <a:gd name="T56" fmla="*/ 443 w 682"/>
                      <a:gd name="T57" fmla="*/ 84 h 557"/>
                      <a:gd name="T58" fmla="*/ 497 w 682"/>
                      <a:gd name="T59" fmla="*/ 74 h 557"/>
                      <a:gd name="T60" fmla="*/ 529 w 682"/>
                      <a:gd name="T61" fmla="*/ 82 h 557"/>
                      <a:gd name="T62" fmla="*/ 559 w 682"/>
                      <a:gd name="T63" fmla="*/ 97 h 557"/>
                      <a:gd name="T64" fmla="*/ 572 w 682"/>
                      <a:gd name="T65" fmla="*/ 188 h 557"/>
                      <a:gd name="T66" fmla="*/ 572 w 682"/>
                      <a:gd name="T67" fmla="*/ 240 h 557"/>
                      <a:gd name="T68" fmla="*/ 599 w 682"/>
                      <a:gd name="T69" fmla="*/ 283 h 557"/>
                      <a:gd name="T70" fmla="*/ 645 w 682"/>
                      <a:gd name="T71" fmla="*/ 300 h 557"/>
                      <a:gd name="T72" fmla="*/ 680 w 682"/>
                      <a:gd name="T73" fmla="*/ 295 h 557"/>
                      <a:gd name="T74" fmla="*/ 664 w 682"/>
                      <a:gd name="T75" fmla="*/ 340 h 557"/>
                      <a:gd name="T76" fmla="*/ 599 w 682"/>
                      <a:gd name="T77" fmla="*/ 407 h 557"/>
                      <a:gd name="T78" fmla="*/ 548 w 682"/>
                      <a:gd name="T79" fmla="*/ 485 h 557"/>
                      <a:gd name="T80" fmla="*/ 556 w 682"/>
                      <a:gd name="T81" fmla="*/ 508 h 557"/>
                      <a:gd name="T82" fmla="*/ 435 w 682"/>
                      <a:gd name="T83" fmla="*/ 556 h 55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82" h="557">
                        <a:moveTo>
                          <a:pt x="435" y="556"/>
                        </a:moveTo>
                        <a:lnTo>
                          <a:pt x="481" y="464"/>
                        </a:lnTo>
                        <a:lnTo>
                          <a:pt x="473" y="449"/>
                        </a:lnTo>
                        <a:lnTo>
                          <a:pt x="486" y="451"/>
                        </a:lnTo>
                        <a:lnTo>
                          <a:pt x="495" y="441"/>
                        </a:lnTo>
                        <a:lnTo>
                          <a:pt x="500" y="413"/>
                        </a:lnTo>
                        <a:lnTo>
                          <a:pt x="500" y="371"/>
                        </a:lnTo>
                        <a:lnTo>
                          <a:pt x="309" y="287"/>
                        </a:lnTo>
                        <a:lnTo>
                          <a:pt x="296" y="308"/>
                        </a:lnTo>
                        <a:lnTo>
                          <a:pt x="282" y="346"/>
                        </a:lnTo>
                        <a:lnTo>
                          <a:pt x="396" y="557"/>
                        </a:lnTo>
                        <a:lnTo>
                          <a:pt x="303" y="556"/>
                        </a:lnTo>
                        <a:lnTo>
                          <a:pt x="304" y="536"/>
                        </a:lnTo>
                        <a:cubicBezTo>
                          <a:pt x="284" y="520"/>
                          <a:pt x="296" y="510"/>
                          <a:pt x="282" y="494"/>
                        </a:cubicBezTo>
                        <a:cubicBezTo>
                          <a:pt x="276" y="475"/>
                          <a:pt x="267" y="468"/>
                          <a:pt x="253" y="451"/>
                        </a:cubicBezTo>
                        <a:cubicBezTo>
                          <a:pt x="249" y="447"/>
                          <a:pt x="245" y="443"/>
                          <a:pt x="242" y="439"/>
                        </a:cubicBezTo>
                        <a:lnTo>
                          <a:pt x="237" y="432"/>
                        </a:lnTo>
                        <a:cubicBezTo>
                          <a:pt x="237" y="432"/>
                          <a:pt x="245" y="413"/>
                          <a:pt x="245" y="413"/>
                        </a:cubicBezTo>
                        <a:cubicBezTo>
                          <a:pt x="247" y="409"/>
                          <a:pt x="250" y="401"/>
                          <a:pt x="250" y="401"/>
                        </a:cubicBezTo>
                        <a:cubicBezTo>
                          <a:pt x="249" y="399"/>
                          <a:pt x="247" y="397"/>
                          <a:pt x="247" y="394"/>
                        </a:cubicBezTo>
                        <a:cubicBezTo>
                          <a:pt x="248" y="390"/>
                          <a:pt x="253" y="382"/>
                          <a:pt x="253" y="382"/>
                        </a:cubicBezTo>
                        <a:cubicBezTo>
                          <a:pt x="243" y="370"/>
                          <a:pt x="237" y="371"/>
                          <a:pt x="220" y="375"/>
                        </a:cubicBezTo>
                        <a:cubicBezTo>
                          <a:pt x="217" y="371"/>
                          <a:pt x="210" y="369"/>
                          <a:pt x="207" y="365"/>
                        </a:cubicBezTo>
                        <a:cubicBezTo>
                          <a:pt x="185" y="337"/>
                          <a:pt x="216" y="363"/>
                          <a:pt x="194" y="346"/>
                        </a:cubicBezTo>
                        <a:cubicBezTo>
                          <a:pt x="167" y="349"/>
                          <a:pt x="179" y="346"/>
                          <a:pt x="156" y="352"/>
                        </a:cubicBezTo>
                        <a:cubicBezTo>
                          <a:pt x="153" y="353"/>
                          <a:pt x="148" y="354"/>
                          <a:pt x="148" y="354"/>
                        </a:cubicBezTo>
                        <a:cubicBezTo>
                          <a:pt x="146" y="356"/>
                          <a:pt x="145" y="359"/>
                          <a:pt x="142" y="361"/>
                        </a:cubicBezTo>
                        <a:cubicBezTo>
                          <a:pt x="138" y="363"/>
                          <a:pt x="126" y="365"/>
                          <a:pt x="126" y="365"/>
                        </a:cubicBezTo>
                        <a:cubicBezTo>
                          <a:pt x="105" y="354"/>
                          <a:pt x="116" y="355"/>
                          <a:pt x="94" y="361"/>
                        </a:cubicBezTo>
                        <a:cubicBezTo>
                          <a:pt x="89" y="362"/>
                          <a:pt x="78" y="365"/>
                          <a:pt x="78" y="365"/>
                        </a:cubicBezTo>
                        <a:cubicBezTo>
                          <a:pt x="62" y="383"/>
                          <a:pt x="46" y="346"/>
                          <a:pt x="35" y="337"/>
                        </a:cubicBezTo>
                        <a:cubicBezTo>
                          <a:pt x="32" y="330"/>
                          <a:pt x="24" y="320"/>
                          <a:pt x="22" y="312"/>
                        </a:cubicBezTo>
                        <a:cubicBezTo>
                          <a:pt x="20" y="308"/>
                          <a:pt x="22" y="303"/>
                          <a:pt x="19" y="300"/>
                        </a:cubicBezTo>
                        <a:cubicBezTo>
                          <a:pt x="17" y="297"/>
                          <a:pt x="13" y="297"/>
                          <a:pt x="11" y="295"/>
                        </a:cubicBezTo>
                        <a:cubicBezTo>
                          <a:pt x="3" y="277"/>
                          <a:pt x="15" y="306"/>
                          <a:pt x="5" y="276"/>
                        </a:cubicBezTo>
                        <a:cubicBezTo>
                          <a:pt x="4" y="272"/>
                          <a:pt x="0" y="264"/>
                          <a:pt x="0" y="264"/>
                        </a:cubicBezTo>
                        <a:cubicBezTo>
                          <a:pt x="3" y="253"/>
                          <a:pt x="2" y="248"/>
                          <a:pt x="13" y="243"/>
                        </a:cubicBezTo>
                        <a:cubicBezTo>
                          <a:pt x="20" y="221"/>
                          <a:pt x="17" y="231"/>
                          <a:pt x="24" y="213"/>
                        </a:cubicBezTo>
                        <a:cubicBezTo>
                          <a:pt x="26" y="209"/>
                          <a:pt x="30" y="200"/>
                          <a:pt x="30" y="200"/>
                        </a:cubicBezTo>
                        <a:cubicBezTo>
                          <a:pt x="26" y="192"/>
                          <a:pt x="24" y="191"/>
                          <a:pt x="32" y="181"/>
                        </a:cubicBezTo>
                        <a:cubicBezTo>
                          <a:pt x="36" y="177"/>
                          <a:pt x="43" y="169"/>
                          <a:pt x="43" y="169"/>
                        </a:cubicBezTo>
                        <a:cubicBezTo>
                          <a:pt x="37" y="155"/>
                          <a:pt x="36" y="153"/>
                          <a:pt x="51" y="143"/>
                        </a:cubicBezTo>
                        <a:cubicBezTo>
                          <a:pt x="56" y="140"/>
                          <a:pt x="67" y="135"/>
                          <a:pt x="67" y="135"/>
                        </a:cubicBezTo>
                        <a:cubicBezTo>
                          <a:pt x="73" y="129"/>
                          <a:pt x="75" y="122"/>
                          <a:pt x="81" y="116"/>
                        </a:cubicBezTo>
                        <a:cubicBezTo>
                          <a:pt x="89" y="107"/>
                          <a:pt x="102" y="105"/>
                          <a:pt x="113" y="99"/>
                        </a:cubicBezTo>
                        <a:cubicBezTo>
                          <a:pt x="125" y="85"/>
                          <a:pt x="149" y="76"/>
                          <a:pt x="167" y="67"/>
                        </a:cubicBezTo>
                        <a:cubicBezTo>
                          <a:pt x="174" y="59"/>
                          <a:pt x="175" y="50"/>
                          <a:pt x="188" y="46"/>
                        </a:cubicBezTo>
                        <a:cubicBezTo>
                          <a:pt x="198" y="39"/>
                          <a:pt x="208" y="36"/>
                          <a:pt x="220" y="30"/>
                        </a:cubicBezTo>
                        <a:cubicBezTo>
                          <a:pt x="223" y="28"/>
                          <a:pt x="228" y="25"/>
                          <a:pt x="228" y="25"/>
                        </a:cubicBezTo>
                        <a:cubicBezTo>
                          <a:pt x="237" y="16"/>
                          <a:pt x="245" y="10"/>
                          <a:pt x="258" y="6"/>
                        </a:cubicBezTo>
                        <a:cubicBezTo>
                          <a:pt x="269" y="31"/>
                          <a:pt x="301" y="6"/>
                          <a:pt x="320" y="4"/>
                        </a:cubicBezTo>
                        <a:cubicBezTo>
                          <a:pt x="334" y="3"/>
                          <a:pt x="349" y="3"/>
                          <a:pt x="363" y="2"/>
                        </a:cubicBezTo>
                        <a:cubicBezTo>
                          <a:pt x="369" y="3"/>
                          <a:pt x="376" y="5"/>
                          <a:pt x="382" y="4"/>
                        </a:cubicBezTo>
                        <a:cubicBezTo>
                          <a:pt x="387" y="4"/>
                          <a:pt x="398" y="0"/>
                          <a:pt x="398" y="0"/>
                        </a:cubicBezTo>
                        <a:cubicBezTo>
                          <a:pt x="415" y="8"/>
                          <a:pt x="406" y="16"/>
                          <a:pt x="400" y="30"/>
                        </a:cubicBezTo>
                        <a:cubicBezTo>
                          <a:pt x="398" y="34"/>
                          <a:pt x="384" y="34"/>
                          <a:pt x="384" y="34"/>
                        </a:cubicBezTo>
                        <a:cubicBezTo>
                          <a:pt x="379" y="47"/>
                          <a:pt x="398" y="51"/>
                          <a:pt x="411" y="55"/>
                        </a:cubicBezTo>
                        <a:cubicBezTo>
                          <a:pt x="419" y="72"/>
                          <a:pt x="421" y="79"/>
                          <a:pt x="443" y="84"/>
                        </a:cubicBezTo>
                        <a:cubicBezTo>
                          <a:pt x="461" y="71"/>
                          <a:pt x="435" y="65"/>
                          <a:pt x="468" y="57"/>
                        </a:cubicBezTo>
                        <a:cubicBezTo>
                          <a:pt x="482" y="61"/>
                          <a:pt x="485" y="70"/>
                          <a:pt x="497" y="74"/>
                        </a:cubicBezTo>
                        <a:cubicBezTo>
                          <a:pt x="505" y="76"/>
                          <a:pt x="513" y="78"/>
                          <a:pt x="521" y="80"/>
                        </a:cubicBezTo>
                        <a:cubicBezTo>
                          <a:pt x="524" y="81"/>
                          <a:pt x="529" y="82"/>
                          <a:pt x="529" y="82"/>
                        </a:cubicBezTo>
                        <a:cubicBezTo>
                          <a:pt x="547" y="78"/>
                          <a:pt x="547" y="76"/>
                          <a:pt x="562" y="84"/>
                        </a:cubicBezTo>
                        <a:cubicBezTo>
                          <a:pt x="566" y="95"/>
                          <a:pt x="565" y="86"/>
                          <a:pt x="559" y="97"/>
                        </a:cubicBezTo>
                        <a:cubicBezTo>
                          <a:pt x="557" y="101"/>
                          <a:pt x="554" y="110"/>
                          <a:pt x="554" y="110"/>
                        </a:cubicBezTo>
                        <a:cubicBezTo>
                          <a:pt x="556" y="132"/>
                          <a:pt x="556" y="168"/>
                          <a:pt x="572" y="188"/>
                        </a:cubicBezTo>
                        <a:cubicBezTo>
                          <a:pt x="568" y="198"/>
                          <a:pt x="564" y="208"/>
                          <a:pt x="562" y="219"/>
                        </a:cubicBezTo>
                        <a:cubicBezTo>
                          <a:pt x="564" y="227"/>
                          <a:pt x="569" y="233"/>
                          <a:pt x="572" y="240"/>
                        </a:cubicBezTo>
                        <a:cubicBezTo>
                          <a:pt x="573" y="247"/>
                          <a:pt x="572" y="254"/>
                          <a:pt x="575" y="259"/>
                        </a:cubicBezTo>
                        <a:cubicBezTo>
                          <a:pt x="577" y="263"/>
                          <a:pt x="595" y="272"/>
                          <a:pt x="599" y="283"/>
                        </a:cubicBezTo>
                        <a:cubicBezTo>
                          <a:pt x="594" y="295"/>
                          <a:pt x="603" y="306"/>
                          <a:pt x="618" y="310"/>
                        </a:cubicBezTo>
                        <a:cubicBezTo>
                          <a:pt x="630" y="307"/>
                          <a:pt x="638" y="308"/>
                          <a:pt x="645" y="300"/>
                        </a:cubicBezTo>
                        <a:cubicBezTo>
                          <a:pt x="660" y="302"/>
                          <a:pt x="663" y="303"/>
                          <a:pt x="672" y="293"/>
                        </a:cubicBezTo>
                        <a:cubicBezTo>
                          <a:pt x="675" y="294"/>
                          <a:pt x="679" y="293"/>
                          <a:pt x="680" y="295"/>
                        </a:cubicBezTo>
                        <a:cubicBezTo>
                          <a:pt x="682" y="301"/>
                          <a:pt x="674" y="321"/>
                          <a:pt x="672" y="327"/>
                        </a:cubicBezTo>
                        <a:cubicBezTo>
                          <a:pt x="668" y="340"/>
                          <a:pt x="671" y="326"/>
                          <a:pt x="664" y="340"/>
                        </a:cubicBezTo>
                        <a:cubicBezTo>
                          <a:pt x="652" y="360"/>
                          <a:pt x="646" y="381"/>
                          <a:pt x="621" y="394"/>
                        </a:cubicBezTo>
                        <a:cubicBezTo>
                          <a:pt x="614" y="402"/>
                          <a:pt x="609" y="402"/>
                          <a:pt x="599" y="407"/>
                        </a:cubicBezTo>
                        <a:cubicBezTo>
                          <a:pt x="590" y="418"/>
                          <a:pt x="579" y="429"/>
                          <a:pt x="567" y="439"/>
                        </a:cubicBezTo>
                        <a:cubicBezTo>
                          <a:pt x="560" y="454"/>
                          <a:pt x="555" y="470"/>
                          <a:pt x="548" y="485"/>
                        </a:cubicBezTo>
                        <a:cubicBezTo>
                          <a:pt x="549" y="489"/>
                          <a:pt x="550" y="492"/>
                          <a:pt x="551" y="496"/>
                        </a:cubicBezTo>
                        <a:cubicBezTo>
                          <a:pt x="552" y="500"/>
                          <a:pt x="556" y="508"/>
                          <a:pt x="556" y="508"/>
                        </a:cubicBezTo>
                        <a:cubicBezTo>
                          <a:pt x="559" y="524"/>
                          <a:pt x="562" y="546"/>
                          <a:pt x="576" y="557"/>
                        </a:cubicBezTo>
                        <a:lnTo>
                          <a:pt x="435" y="556"/>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7" name="Freeform 100"/>
                  <p:cNvSpPr>
                    <a:spLocks/>
                  </p:cNvSpPr>
                  <p:nvPr/>
                </p:nvSpPr>
                <p:spPr bwMode="ltGray">
                  <a:xfrm>
                    <a:off x="3877" y="448"/>
                    <a:ext cx="163" cy="221"/>
                  </a:xfrm>
                  <a:custGeom>
                    <a:avLst/>
                    <a:gdLst>
                      <a:gd name="T0" fmla="*/ 243 w 257"/>
                      <a:gd name="T1" fmla="*/ 347 h 347"/>
                      <a:gd name="T2" fmla="*/ 233 w 257"/>
                      <a:gd name="T3" fmla="*/ 301 h 347"/>
                      <a:gd name="T4" fmla="*/ 217 w 257"/>
                      <a:gd name="T5" fmla="*/ 288 h 347"/>
                      <a:gd name="T6" fmla="*/ 215 w 257"/>
                      <a:gd name="T7" fmla="*/ 269 h 347"/>
                      <a:gd name="T8" fmla="*/ 209 w 257"/>
                      <a:gd name="T9" fmla="*/ 254 h 347"/>
                      <a:gd name="T10" fmla="*/ 209 w 257"/>
                      <a:gd name="T11" fmla="*/ 229 h 347"/>
                      <a:gd name="T12" fmla="*/ 207 w 257"/>
                      <a:gd name="T13" fmla="*/ 214 h 347"/>
                      <a:gd name="T14" fmla="*/ 228 w 257"/>
                      <a:gd name="T15" fmla="*/ 202 h 347"/>
                      <a:gd name="T16" fmla="*/ 257 w 257"/>
                      <a:gd name="T17" fmla="*/ 197 h 347"/>
                      <a:gd name="T18" fmla="*/ 257 w 257"/>
                      <a:gd name="T19" fmla="*/ 136 h 347"/>
                      <a:gd name="T20" fmla="*/ 54 w 257"/>
                      <a:gd name="T21" fmla="*/ 96 h 347"/>
                      <a:gd name="T22" fmla="*/ 32 w 257"/>
                      <a:gd name="T23" fmla="*/ 98 h 347"/>
                      <a:gd name="T24" fmla="*/ 16 w 257"/>
                      <a:gd name="T25" fmla="*/ 102 h 347"/>
                      <a:gd name="T26" fmla="*/ 0 w 257"/>
                      <a:gd name="T27" fmla="*/ 149 h 347"/>
                      <a:gd name="T28" fmla="*/ 93 w 257"/>
                      <a:gd name="T29" fmla="*/ 346 h 347"/>
                      <a:gd name="T30" fmla="*/ 243 w 257"/>
                      <a:gd name="T31" fmla="*/ 347 h 34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257" h="347">
                        <a:moveTo>
                          <a:pt x="243" y="347"/>
                        </a:moveTo>
                        <a:lnTo>
                          <a:pt x="233" y="301"/>
                        </a:lnTo>
                        <a:lnTo>
                          <a:pt x="217" y="288"/>
                        </a:lnTo>
                        <a:lnTo>
                          <a:pt x="215" y="269"/>
                        </a:lnTo>
                        <a:lnTo>
                          <a:pt x="209" y="254"/>
                        </a:lnTo>
                        <a:lnTo>
                          <a:pt x="209" y="229"/>
                        </a:lnTo>
                        <a:lnTo>
                          <a:pt x="207" y="214"/>
                        </a:lnTo>
                        <a:lnTo>
                          <a:pt x="228" y="202"/>
                        </a:lnTo>
                        <a:lnTo>
                          <a:pt x="257" y="197"/>
                        </a:lnTo>
                        <a:lnTo>
                          <a:pt x="257" y="136"/>
                        </a:lnTo>
                        <a:cubicBezTo>
                          <a:pt x="209" y="119"/>
                          <a:pt x="13" y="0"/>
                          <a:pt x="54" y="96"/>
                        </a:cubicBezTo>
                        <a:cubicBezTo>
                          <a:pt x="36" y="106"/>
                          <a:pt x="57" y="97"/>
                          <a:pt x="32" y="98"/>
                        </a:cubicBezTo>
                        <a:cubicBezTo>
                          <a:pt x="27" y="99"/>
                          <a:pt x="16" y="102"/>
                          <a:pt x="16" y="102"/>
                        </a:cubicBezTo>
                        <a:lnTo>
                          <a:pt x="0" y="149"/>
                        </a:lnTo>
                        <a:lnTo>
                          <a:pt x="93" y="346"/>
                        </a:lnTo>
                        <a:lnTo>
                          <a:pt x="243" y="347"/>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8" name="Freeform 101"/>
                  <p:cNvSpPr>
                    <a:spLocks/>
                  </p:cNvSpPr>
                  <p:nvPr/>
                </p:nvSpPr>
                <p:spPr bwMode="ltGray">
                  <a:xfrm>
                    <a:off x="4164" y="611"/>
                    <a:ext cx="7" cy="12"/>
                  </a:xfrm>
                  <a:custGeom>
                    <a:avLst/>
                    <a:gdLst>
                      <a:gd name="T0" fmla="*/ 7 w 19"/>
                      <a:gd name="T1" fmla="*/ 25 h 37"/>
                      <a:gd name="T2" fmla="*/ 19 w 19"/>
                      <a:gd name="T3" fmla="*/ 21 h 37"/>
                      <a:gd name="T4" fmla="*/ 7 w 19"/>
                      <a:gd name="T5" fmla="*/ 25 h 37"/>
                      <a:gd name="T6" fmla="*/ 0 60000 65536"/>
                      <a:gd name="T7" fmla="*/ 0 60000 65536"/>
                      <a:gd name="T8" fmla="*/ 0 60000 65536"/>
                    </a:gdLst>
                    <a:ahLst/>
                    <a:cxnLst>
                      <a:cxn ang="T6">
                        <a:pos x="T0" y="T1"/>
                      </a:cxn>
                      <a:cxn ang="T7">
                        <a:pos x="T2" y="T3"/>
                      </a:cxn>
                      <a:cxn ang="T8">
                        <a:pos x="T4" y="T5"/>
                      </a:cxn>
                    </a:cxnLst>
                    <a:rect l="0" t="0" r="r" b="b"/>
                    <a:pathLst>
                      <a:path w="19" h="37">
                        <a:moveTo>
                          <a:pt x="7" y="25"/>
                        </a:moveTo>
                        <a:cubicBezTo>
                          <a:pt x="0" y="4"/>
                          <a:pt x="12" y="0"/>
                          <a:pt x="19" y="21"/>
                        </a:cubicBezTo>
                        <a:cubicBezTo>
                          <a:pt x="14" y="37"/>
                          <a:pt x="18" y="36"/>
                          <a:pt x="7" y="25"/>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19" name="Freeform 102"/>
                  <p:cNvSpPr>
                    <a:spLocks/>
                  </p:cNvSpPr>
                  <p:nvPr/>
                </p:nvSpPr>
                <p:spPr bwMode="ltGray">
                  <a:xfrm>
                    <a:off x="4155" y="497"/>
                    <a:ext cx="9" cy="7"/>
                  </a:xfrm>
                  <a:custGeom>
                    <a:avLst/>
                    <a:gdLst>
                      <a:gd name="T0" fmla="*/ 12 w 22"/>
                      <a:gd name="T1" fmla="*/ 12 h 20"/>
                      <a:gd name="T2" fmla="*/ 16 w 22"/>
                      <a:gd name="T3" fmla="*/ 0 h 20"/>
                      <a:gd name="T4" fmla="*/ 20 w 22"/>
                      <a:gd name="T5" fmla="*/ 12 h 20"/>
                      <a:gd name="T6" fmla="*/ 8 w 22"/>
                      <a:gd name="T7" fmla="*/ 20 h 20"/>
                      <a:gd name="T8" fmla="*/ 12 w 22"/>
                      <a:gd name="T9" fmla="*/ 12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20">
                        <a:moveTo>
                          <a:pt x="12" y="12"/>
                        </a:moveTo>
                        <a:cubicBezTo>
                          <a:pt x="13" y="8"/>
                          <a:pt x="12" y="0"/>
                          <a:pt x="16" y="0"/>
                        </a:cubicBezTo>
                        <a:cubicBezTo>
                          <a:pt x="20" y="0"/>
                          <a:pt x="22" y="8"/>
                          <a:pt x="20" y="12"/>
                        </a:cubicBezTo>
                        <a:cubicBezTo>
                          <a:pt x="18" y="16"/>
                          <a:pt x="12" y="17"/>
                          <a:pt x="8" y="20"/>
                        </a:cubicBezTo>
                        <a:cubicBezTo>
                          <a:pt x="3" y="5"/>
                          <a:pt x="0" y="6"/>
                          <a:pt x="12" y="1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0" name="Freeform 103"/>
                  <p:cNvSpPr>
                    <a:spLocks/>
                  </p:cNvSpPr>
                  <p:nvPr/>
                </p:nvSpPr>
                <p:spPr bwMode="ltGray">
                  <a:xfrm>
                    <a:off x="3760" y="357"/>
                    <a:ext cx="25" cy="10"/>
                  </a:xfrm>
                  <a:custGeom>
                    <a:avLst/>
                    <a:gdLst>
                      <a:gd name="T0" fmla="*/ 24 w 57"/>
                      <a:gd name="T1" fmla="*/ 18 h 30"/>
                      <a:gd name="T2" fmla="*/ 32 w 57"/>
                      <a:gd name="T3" fmla="*/ 6 h 30"/>
                      <a:gd name="T4" fmla="*/ 36 w 57"/>
                      <a:gd name="T5" fmla="*/ 30 h 30"/>
                      <a:gd name="T6" fmla="*/ 24 w 57"/>
                      <a:gd name="T7" fmla="*/ 18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7" h="30">
                        <a:moveTo>
                          <a:pt x="24" y="18"/>
                        </a:moveTo>
                        <a:cubicBezTo>
                          <a:pt x="0" y="10"/>
                          <a:pt x="9" y="0"/>
                          <a:pt x="32" y="6"/>
                        </a:cubicBezTo>
                        <a:cubicBezTo>
                          <a:pt x="46" y="15"/>
                          <a:pt x="57" y="23"/>
                          <a:pt x="36" y="30"/>
                        </a:cubicBezTo>
                        <a:cubicBezTo>
                          <a:pt x="21" y="25"/>
                          <a:pt x="24" y="30"/>
                          <a:pt x="24"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1" name="Freeform 104"/>
                  <p:cNvSpPr>
                    <a:spLocks/>
                  </p:cNvSpPr>
                  <p:nvPr/>
                </p:nvSpPr>
                <p:spPr bwMode="ltGray">
                  <a:xfrm>
                    <a:off x="4062" y="265"/>
                    <a:ext cx="295" cy="233"/>
                  </a:xfrm>
                  <a:custGeom>
                    <a:avLst/>
                    <a:gdLst>
                      <a:gd name="T0" fmla="*/ 473 w 693"/>
                      <a:gd name="T1" fmla="*/ 464 h 696"/>
                      <a:gd name="T2" fmla="*/ 393 w 693"/>
                      <a:gd name="T3" fmla="*/ 452 h 696"/>
                      <a:gd name="T4" fmla="*/ 325 w 693"/>
                      <a:gd name="T5" fmla="*/ 412 h 696"/>
                      <a:gd name="T6" fmla="*/ 265 w 693"/>
                      <a:gd name="T7" fmla="*/ 400 h 696"/>
                      <a:gd name="T8" fmla="*/ 237 w 693"/>
                      <a:gd name="T9" fmla="*/ 416 h 696"/>
                      <a:gd name="T10" fmla="*/ 261 w 693"/>
                      <a:gd name="T11" fmla="*/ 428 h 696"/>
                      <a:gd name="T12" fmla="*/ 293 w 693"/>
                      <a:gd name="T13" fmla="*/ 468 h 696"/>
                      <a:gd name="T14" fmla="*/ 321 w 693"/>
                      <a:gd name="T15" fmla="*/ 476 h 696"/>
                      <a:gd name="T16" fmla="*/ 333 w 693"/>
                      <a:gd name="T17" fmla="*/ 536 h 696"/>
                      <a:gd name="T18" fmla="*/ 313 w 693"/>
                      <a:gd name="T19" fmla="*/ 552 h 696"/>
                      <a:gd name="T20" fmla="*/ 261 w 693"/>
                      <a:gd name="T21" fmla="*/ 616 h 696"/>
                      <a:gd name="T22" fmla="*/ 225 w 693"/>
                      <a:gd name="T23" fmla="*/ 628 h 696"/>
                      <a:gd name="T24" fmla="*/ 97 w 693"/>
                      <a:gd name="T25" fmla="*/ 696 h 696"/>
                      <a:gd name="T26" fmla="*/ 77 w 693"/>
                      <a:gd name="T27" fmla="*/ 616 h 696"/>
                      <a:gd name="T28" fmla="*/ 45 w 693"/>
                      <a:gd name="T29" fmla="*/ 524 h 696"/>
                      <a:gd name="T30" fmla="*/ 33 w 693"/>
                      <a:gd name="T31" fmla="*/ 448 h 696"/>
                      <a:gd name="T32" fmla="*/ 53 w 693"/>
                      <a:gd name="T33" fmla="*/ 344 h 696"/>
                      <a:gd name="T34" fmla="*/ 17 w 693"/>
                      <a:gd name="T35" fmla="*/ 392 h 696"/>
                      <a:gd name="T36" fmla="*/ 81 w 693"/>
                      <a:gd name="T37" fmla="*/ 280 h 696"/>
                      <a:gd name="T38" fmla="*/ 113 w 693"/>
                      <a:gd name="T39" fmla="*/ 204 h 696"/>
                      <a:gd name="T40" fmla="*/ 37 w 693"/>
                      <a:gd name="T41" fmla="*/ 204 h 696"/>
                      <a:gd name="T42" fmla="*/ 1 w 693"/>
                      <a:gd name="T43" fmla="*/ 196 h 696"/>
                      <a:gd name="T44" fmla="*/ 25 w 693"/>
                      <a:gd name="T45" fmla="*/ 140 h 696"/>
                      <a:gd name="T46" fmla="*/ 97 w 693"/>
                      <a:gd name="T47" fmla="*/ 112 h 696"/>
                      <a:gd name="T48" fmla="*/ 221 w 693"/>
                      <a:gd name="T49" fmla="*/ 124 h 696"/>
                      <a:gd name="T50" fmla="*/ 229 w 693"/>
                      <a:gd name="T51" fmla="*/ 64 h 696"/>
                      <a:gd name="T52" fmla="*/ 261 w 693"/>
                      <a:gd name="T53" fmla="*/ 0 h 696"/>
                      <a:gd name="T54" fmla="*/ 357 w 693"/>
                      <a:gd name="T55" fmla="*/ 44 h 696"/>
                      <a:gd name="T56" fmla="*/ 329 w 693"/>
                      <a:gd name="T57" fmla="*/ 88 h 696"/>
                      <a:gd name="T58" fmla="*/ 301 w 693"/>
                      <a:gd name="T59" fmla="*/ 176 h 696"/>
                      <a:gd name="T60" fmla="*/ 361 w 693"/>
                      <a:gd name="T61" fmla="*/ 192 h 696"/>
                      <a:gd name="T62" fmla="*/ 373 w 693"/>
                      <a:gd name="T63" fmla="*/ 136 h 696"/>
                      <a:gd name="T64" fmla="*/ 417 w 693"/>
                      <a:gd name="T65" fmla="*/ 92 h 696"/>
                      <a:gd name="T66" fmla="*/ 497 w 693"/>
                      <a:gd name="T67" fmla="*/ 88 h 696"/>
                      <a:gd name="T68" fmla="*/ 529 w 693"/>
                      <a:gd name="T69" fmla="*/ 52 h 696"/>
                      <a:gd name="T70" fmla="*/ 541 w 693"/>
                      <a:gd name="T71" fmla="*/ 460 h 69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93" h="696">
                        <a:moveTo>
                          <a:pt x="541" y="460"/>
                        </a:moveTo>
                        <a:lnTo>
                          <a:pt x="473" y="464"/>
                        </a:lnTo>
                        <a:lnTo>
                          <a:pt x="441" y="452"/>
                        </a:lnTo>
                        <a:lnTo>
                          <a:pt x="393" y="452"/>
                        </a:lnTo>
                        <a:cubicBezTo>
                          <a:pt x="365" y="448"/>
                          <a:pt x="360" y="444"/>
                          <a:pt x="337" y="436"/>
                        </a:cubicBezTo>
                        <a:cubicBezTo>
                          <a:pt x="336" y="432"/>
                          <a:pt x="330" y="413"/>
                          <a:pt x="325" y="412"/>
                        </a:cubicBezTo>
                        <a:cubicBezTo>
                          <a:pt x="317" y="411"/>
                          <a:pt x="301" y="420"/>
                          <a:pt x="301" y="420"/>
                        </a:cubicBezTo>
                        <a:cubicBezTo>
                          <a:pt x="289" y="412"/>
                          <a:pt x="277" y="408"/>
                          <a:pt x="265" y="400"/>
                        </a:cubicBezTo>
                        <a:cubicBezTo>
                          <a:pt x="252" y="380"/>
                          <a:pt x="256" y="356"/>
                          <a:pt x="233" y="348"/>
                        </a:cubicBezTo>
                        <a:cubicBezTo>
                          <a:pt x="217" y="372"/>
                          <a:pt x="221" y="392"/>
                          <a:pt x="237" y="416"/>
                        </a:cubicBezTo>
                        <a:cubicBezTo>
                          <a:pt x="234" y="428"/>
                          <a:pt x="228" y="445"/>
                          <a:pt x="237" y="444"/>
                        </a:cubicBezTo>
                        <a:cubicBezTo>
                          <a:pt x="247" y="443"/>
                          <a:pt x="261" y="428"/>
                          <a:pt x="261" y="428"/>
                        </a:cubicBezTo>
                        <a:cubicBezTo>
                          <a:pt x="258" y="450"/>
                          <a:pt x="243" y="475"/>
                          <a:pt x="269" y="484"/>
                        </a:cubicBezTo>
                        <a:cubicBezTo>
                          <a:pt x="277" y="479"/>
                          <a:pt x="288" y="476"/>
                          <a:pt x="293" y="468"/>
                        </a:cubicBezTo>
                        <a:cubicBezTo>
                          <a:pt x="302" y="454"/>
                          <a:pt x="303" y="446"/>
                          <a:pt x="317" y="436"/>
                        </a:cubicBezTo>
                        <a:cubicBezTo>
                          <a:pt x="315" y="448"/>
                          <a:pt x="306" y="467"/>
                          <a:pt x="321" y="476"/>
                        </a:cubicBezTo>
                        <a:cubicBezTo>
                          <a:pt x="328" y="480"/>
                          <a:pt x="345" y="484"/>
                          <a:pt x="345" y="484"/>
                        </a:cubicBezTo>
                        <a:cubicBezTo>
                          <a:pt x="382" y="472"/>
                          <a:pt x="347" y="527"/>
                          <a:pt x="333" y="536"/>
                        </a:cubicBezTo>
                        <a:cubicBezTo>
                          <a:pt x="330" y="540"/>
                          <a:pt x="329" y="545"/>
                          <a:pt x="325" y="548"/>
                        </a:cubicBezTo>
                        <a:cubicBezTo>
                          <a:pt x="322" y="551"/>
                          <a:pt x="316" y="549"/>
                          <a:pt x="313" y="552"/>
                        </a:cubicBezTo>
                        <a:cubicBezTo>
                          <a:pt x="300" y="565"/>
                          <a:pt x="320" y="575"/>
                          <a:pt x="293" y="584"/>
                        </a:cubicBezTo>
                        <a:cubicBezTo>
                          <a:pt x="286" y="595"/>
                          <a:pt x="272" y="610"/>
                          <a:pt x="261" y="616"/>
                        </a:cubicBezTo>
                        <a:cubicBezTo>
                          <a:pt x="254" y="620"/>
                          <a:pt x="245" y="621"/>
                          <a:pt x="237" y="624"/>
                        </a:cubicBezTo>
                        <a:cubicBezTo>
                          <a:pt x="233" y="625"/>
                          <a:pt x="225" y="628"/>
                          <a:pt x="225" y="628"/>
                        </a:cubicBezTo>
                        <a:cubicBezTo>
                          <a:pt x="215" y="659"/>
                          <a:pt x="212" y="652"/>
                          <a:pt x="173" y="656"/>
                        </a:cubicBezTo>
                        <a:cubicBezTo>
                          <a:pt x="140" y="667"/>
                          <a:pt x="132" y="687"/>
                          <a:pt x="97" y="696"/>
                        </a:cubicBezTo>
                        <a:cubicBezTo>
                          <a:pt x="77" y="691"/>
                          <a:pt x="75" y="687"/>
                          <a:pt x="81" y="668"/>
                        </a:cubicBezTo>
                        <a:cubicBezTo>
                          <a:pt x="77" y="646"/>
                          <a:pt x="72" y="639"/>
                          <a:pt x="77" y="616"/>
                        </a:cubicBezTo>
                        <a:cubicBezTo>
                          <a:pt x="73" y="598"/>
                          <a:pt x="71" y="587"/>
                          <a:pt x="61" y="572"/>
                        </a:cubicBezTo>
                        <a:cubicBezTo>
                          <a:pt x="58" y="551"/>
                          <a:pt x="51" y="543"/>
                          <a:pt x="45" y="524"/>
                        </a:cubicBezTo>
                        <a:cubicBezTo>
                          <a:pt x="52" y="502"/>
                          <a:pt x="58" y="496"/>
                          <a:pt x="49" y="472"/>
                        </a:cubicBezTo>
                        <a:cubicBezTo>
                          <a:pt x="46" y="463"/>
                          <a:pt x="33" y="448"/>
                          <a:pt x="33" y="448"/>
                        </a:cubicBezTo>
                        <a:cubicBezTo>
                          <a:pt x="42" y="422"/>
                          <a:pt x="42" y="408"/>
                          <a:pt x="33" y="380"/>
                        </a:cubicBezTo>
                        <a:cubicBezTo>
                          <a:pt x="49" y="369"/>
                          <a:pt x="48" y="362"/>
                          <a:pt x="53" y="344"/>
                        </a:cubicBezTo>
                        <a:cubicBezTo>
                          <a:pt x="47" y="327"/>
                          <a:pt x="49" y="308"/>
                          <a:pt x="33" y="332"/>
                        </a:cubicBezTo>
                        <a:cubicBezTo>
                          <a:pt x="40" y="353"/>
                          <a:pt x="29" y="374"/>
                          <a:pt x="17" y="392"/>
                        </a:cubicBezTo>
                        <a:cubicBezTo>
                          <a:pt x="6" y="360"/>
                          <a:pt x="10" y="340"/>
                          <a:pt x="13" y="304"/>
                        </a:cubicBezTo>
                        <a:cubicBezTo>
                          <a:pt x="44" y="314"/>
                          <a:pt x="54" y="289"/>
                          <a:pt x="81" y="280"/>
                        </a:cubicBezTo>
                        <a:cubicBezTo>
                          <a:pt x="94" y="261"/>
                          <a:pt x="85" y="242"/>
                          <a:pt x="105" y="228"/>
                        </a:cubicBezTo>
                        <a:cubicBezTo>
                          <a:pt x="108" y="220"/>
                          <a:pt x="110" y="212"/>
                          <a:pt x="113" y="204"/>
                        </a:cubicBezTo>
                        <a:cubicBezTo>
                          <a:pt x="116" y="196"/>
                          <a:pt x="89" y="196"/>
                          <a:pt x="89" y="196"/>
                        </a:cubicBezTo>
                        <a:cubicBezTo>
                          <a:pt x="81" y="221"/>
                          <a:pt x="58" y="211"/>
                          <a:pt x="37" y="204"/>
                        </a:cubicBezTo>
                        <a:cubicBezTo>
                          <a:pt x="33" y="207"/>
                          <a:pt x="30" y="213"/>
                          <a:pt x="25" y="212"/>
                        </a:cubicBezTo>
                        <a:cubicBezTo>
                          <a:pt x="16" y="210"/>
                          <a:pt x="1" y="196"/>
                          <a:pt x="1" y="196"/>
                        </a:cubicBezTo>
                        <a:cubicBezTo>
                          <a:pt x="4" y="186"/>
                          <a:pt x="4" y="174"/>
                          <a:pt x="9" y="164"/>
                        </a:cubicBezTo>
                        <a:cubicBezTo>
                          <a:pt x="13" y="155"/>
                          <a:pt x="25" y="140"/>
                          <a:pt x="25" y="140"/>
                        </a:cubicBezTo>
                        <a:cubicBezTo>
                          <a:pt x="0" y="132"/>
                          <a:pt x="25" y="128"/>
                          <a:pt x="37" y="124"/>
                        </a:cubicBezTo>
                        <a:cubicBezTo>
                          <a:pt x="58" y="131"/>
                          <a:pt x="75" y="116"/>
                          <a:pt x="97" y="112"/>
                        </a:cubicBezTo>
                        <a:cubicBezTo>
                          <a:pt x="135" y="87"/>
                          <a:pt x="159" y="122"/>
                          <a:pt x="197" y="132"/>
                        </a:cubicBezTo>
                        <a:cubicBezTo>
                          <a:pt x="205" y="129"/>
                          <a:pt x="213" y="127"/>
                          <a:pt x="221" y="124"/>
                        </a:cubicBezTo>
                        <a:cubicBezTo>
                          <a:pt x="225" y="123"/>
                          <a:pt x="226" y="147"/>
                          <a:pt x="233" y="120"/>
                        </a:cubicBezTo>
                        <a:lnTo>
                          <a:pt x="229" y="64"/>
                        </a:lnTo>
                        <a:lnTo>
                          <a:pt x="209" y="40"/>
                        </a:lnTo>
                        <a:cubicBezTo>
                          <a:pt x="243" y="21"/>
                          <a:pt x="240" y="21"/>
                          <a:pt x="261" y="0"/>
                        </a:cubicBezTo>
                        <a:cubicBezTo>
                          <a:pt x="297" y="16"/>
                          <a:pt x="333" y="32"/>
                          <a:pt x="369" y="48"/>
                        </a:cubicBezTo>
                        <a:cubicBezTo>
                          <a:pt x="373" y="50"/>
                          <a:pt x="361" y="44"/>
                          <a:pt x="357" y="44"/>
                        </a:cubicBezTo>
                        <a:cubicBezTo>
                          <a:pt x="349" y="45"/>
                          <a:pt x="333" y="52"/>
                          <a:pt x="333" y="52"/>
                        </a:cubicBezTo>
                        <a:cubicBezTo>
                          <a:pt x="322" y="68"/>
                          <a:pt x="318" y="71"/>
                          <a:pt x="329" y="88"/>
                        </a:cubicBezTo>
                        <a:cubicBezTo>
                          <a:pt x="308" y="119"/>
                          <a:pt x="323" y="118"/>
                          <a:pt x="333" y="148"/>
                        </a:cubicBezTo>
                        <a:cubicBezTo>
                          <a:pt x="320" y="157"/>
                          <a:pt x="314" y="167"/>
                          <a:pt x="301" y="176"/>
                        </a:cubicBezTo>
                        <a:cubicBezTo>
                          <a:pt x="306" y="213"/>
                          <a:pt x="303" y="213"/>
                          <a:pt x="337" y="220"/>
                        </a:cubicBezTo>
                        <a:cubicBezTo>
                          <a:pt x="358" y="216"/>
                          <a:pt x="368" y="214"/>
                          <a:pt x="361" y="192"/>
                        </a:cubicBezTo>
                        <a:cubicBezTo>
                          <a:pt x="362" y="177"/>
                          <a:pt x="362" y="162"/>
                          <a:pt x="365" y="148"/>
                        </a:cubicBezTo>
                        <a:cubicBezTo>
                          <a:pt x="366" y="143"/>
                          <a:pt x="369" y="133"/>
                          <a:pt x="373" y="136"/>
                        </a:cubicBezTo>
                        <a:cubicBezTo>
                          <a:pt x="379" y="140"/>
                          <a:pt x="376" y="149"/>
                          <a:pt x="377" y="156"/>
                        </a:cubicBezTo>
                        <a:cubicBezTo>
                          <a:pt x="404" y="147"/>
                          <a:pt x="409" y="116"/>
                          <a:pt x="417" y="92"/>
                        </a:cubicBezTo>
                        <a:cubicBezTo>
                          <a:pt x="422" y="76"/>
                          <a:pt x="453" y="74"/>
                          <a:pt x="465" y="72"/>
                        </a:cubicBezTo>
                        <a:cubicBezTo>
                          <a:pt x="472" y="92"/>
                          <a:pt x="477" y="93"/>
                          <a:pt x="497" y="88"/>
                        </a:cubicBezTo>
                        <a:cubicBezTo>
                          <a:pt x="512" y="78"/>
                          <a:pt x="515" y="74"/>
                          <a:pt x="509" y="56"/>
                        </a:cubicBezTo>
                        <a:cubicBezTo>
                          <a:pt x="523" y="46"/>
                          <a:pt x="517" y="46"/>
                          <a:pt x="529" y="52"/>
                        </a:cubicBezTo>
                        <a:lnTo>
                          <a:pt x="693" y="72"/>
                        </a:lnTo>
                        <a:lnTo>
                          <a:pt x="541" y="460"/>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2" name="Freeform 105"/>
                  <p:cNvSpPr>
                    <a:spLocks/>
                  </p:cNvSpPr>
                  <p:nvPr/>
                </p:nvSpPr>
                <p:spPr bwMode="ltGray">
                  <a:xfrm>
                    <a:off x="3861" y="247"/>
                    <a:ext cx="591" cy="95"/>
                  </a:xfrm>
                  <a:custGeom>
                    <a:avLst/>
                    <a:gdLst>
                      <a:gd name="T0" fmla="*/ 825 w 931"/>
                      <a:gd name="T1" fmla="*/ 0 h 149"/>
                      <a:gd name="T2" fmla="*/ 143 w 931"/>
                      <a:gd name="T3" fmla="*/ 29 h 149"/>
                      <a:gd name="T4" fmla="*/ 91 w 931"/>
                      <a:gd name="T5" fmla="*/ 42 h 149"/>
                      <a:gd name="T6" fmla="*/ 62 w 931"/>
                      <a:gd name="T7" fmla="*/ 42 h 149"/>
                      <a:gd name="T8" fmla="*/ 22 w 931"/>
                      <a:gd name="T9" fmla="*/ 77 h 149"/>
                      <a:gd name="T10" fmla="*/ 0 w 931"/>
                      <a:gd name="T11" fmla="*/ 105 h 149"/>
                      <a:gd name="T12" fmla="*/ 59 w 931"/>
                      <a:gd name="T13" fmla="*/ 115 h 149"/>
                      <a:gd name="T14" fmla="*/ 97 w 931"/>
                      <a:gd name="T15" fmla="*/ 96 h 149"/>
                      <a:gd name="T16" fmla="*/ 108 w 931"/>
                      <a:gd name="T17" fmla="*/ 84 h 149"/>
                      <a:gd name="T18" fmla="*/ 167 w 931"/>
                      <a:gd name="T19" fmla="*/ 52 h 149"/>
                      <a:gd name="T20" fmla="*/ 215 w 931"/>
                      <a:gd name="T21" fmla="*/ 46 h 149"/>
                      <a:gd name="T22" fmla="*/ 237 w 931"/>
                      <a:gd name="T23" fmla="*/ 94 h 149"/>
                      <a:gd name="T24" fmla="*/ 188 w 931"/>
                      <a:gd name="T25" fmla="*/ 109 h 149"/>
                      <a:gd name="T26" fmla="*/ 231 w 931"/>
                      <a:gd name="T27" fmla="*/ 113 h 149"/>
                      <a:gd name="T28" fmla="*/ 250 w 931"/>
                      <a:gd name="T29" fmla="*/ 90 h 149"/>
                      <a:gd name="T30" fmla="*/ 266 w 931"/>
                      <a:gd name="T31" fmla="*/ 92 h 149"/>
                      <a:gd name="T32" fmla="*/ 253 w 931"/>
                      <a:gd name="T33" fmla="*/ 54 h 149"/>
                      <a:gd name="T34" fmla="*/ 266 w 931"/>
                      <a:gd name="T35" fmla="*/ 44 h 149"/>
                      <a:gd name="T36" fmla="*/ 277 w 931"/>
                      <a:gd name="T37" fmla="*/ 88 h 149"/>
                      <a:gd name="T38" fmla="*/ 266 w 931"/>
                      <a:gd name="T39" fmla="*/ 113 h 149"/>
                      <a:gd name="T40" fmla="*/ 296 w 931"/>
                      <a:gd name="T41" fmla="*/ 130 h 149"/>
                      <a:gd name="T42" fmla="*/ 299 w 931"/>
                      <a:gd name="T43" fmla="*/ 92 h 149"/>
                      <a:gd name="T44" fmla="*/ 331 w 931"/>
                      <a:gd name="T45" fmla="*/ 103 h 149"/>
                      <a:gd name="T46" fmla="*/ 382 w 931"/>
                      <a:gd name="T47" fmla="*/ 73 h 149"/>
                      <a:gd name="T48" fmla="*/ 409 w 931"/>
                      <a:gd name="T49" fmla="*/ 50 h 149"/>
                      <a:gd name="T50" fmla="*/ 439 w 931"/>
                      <a:gd name="T51" fmla="*/ 56 h 149"/>
                      <a:gd name="T52" fmla="*/ 455 w 931"/>
                      <a:gd name="T53" fmla="*/ 50 h 149"/>
                      <a:gd name="T54" fmla="*/ 431 w 931"/>
                      <a:gd name="T55" fmla="*/ 44 h 149"/>
                      <a:gd name="T56" fmla="*/ 474 w 931"/>
                      <a:gd name="T57" fmla="*/ 35 h 149"/>
                      <a:gd name="T58" fmla="*/ 544 w 931"/>
                      <a:gd name="T59" fmla="*/ 54 h 149"/>
                      <a:gd name="T60" fmla="*/ 581 w 931"/>
                      <a:gd name="T61" fmla="*/ 42 h 149"/>
                      <a:gd name="T62" fmla="*/ 584 w 931"/>
                      <a:gd name="T63" fmla="*/ 63 h 149"/>
                      <a:gd name="T64" fmla="*/ 568 w 931"/>
                      <a:gd name="T65" fmla="*/ 101 h 149"/>
                      <a:gd name="T66" fmla="*/ 611 w 931"/>
                      <a:gd name="T67" fmla="*/ 88 h 149"/>
                      <a:gd name="T68" fmla="*/ 624 w 931"/>
                      <a:gd name="T69" fmla="*/ 80 h 149"/>
                      <a:gd name="T70" fmla="*/ 648 w 931"/>
                      <a:gd name="T71" fmla="*/ 61 h 149"/>
                      <a:gd name="T72" fmla="*/ 794 w 931"/>
                      <a:gd name="T73" fmla="*/ 84 h 14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31" h="149">
                        <a:moveTo>
                          <a:pt x="794" y="84"/>
                        </a:moveTo>
                        <a:cubicBezTo>
                          <a:pt x="813" y="72"/>
                          <a:pt x="931" y="14"/>
                          <a:pt x="825" y="0"/>
                        </a:cubicBezTo>
                        <a:lnTo>
                          <a:pt x="159" y="0"/>
                        </a:lnTo>
                        <a:cubicBezTo>
                          <a:pt x="149" y="12"/>
                          <a:pt x="162" y="18"/>
                          <a:pt x="143" y="29"/>
                        </a:cubicBezTo>
                        <a:cubicBezTo>
                          <a:pt x="130" y="44"/>
                          <a:pt x="133" y="39"/>
                          <a:pt x="116" y="48"/>
                        </a:cubicBezTo>
                        <a:cubicBezTo>
                          <a:pt x="108" y="46"/>
                          <a:pt x="100" y="44"/>
                          <a:pt x="91" y="42"/>
                        </a:cubicBezTo>
                        <a:cubicBezTo>
                          <a:pt x="89" y="41"/>
                          <a:pt x="83" y="40"/>
                          <a:pt x="83" y="40"/>
                        </a:cubicBezTo>
                        <a:cubicBezTo>
                          <a:pt x="76" y="40"/>
                          <a:pt x="68" y="39"/>
                          <a:pt x="62" y="42"/>
                        </a:cubicBezTo>
                        <a:cubicBezTo>
                          <a:pt x="54" y="45"/>
                          <a:pt x="46" y="61"/>
                          <a:pt x="38" y="67"/>
                        </a:cubicBezTo>
                        <a:cubicBezTo>
                          <a:pt x="32" y="71"/>
                          <a:pt x="27" y="74"/>
                          <a:pt x="22" y="77"/>
                        </a:cubicBezTo>
                        <a:cubicBezTo>
                          <a:pt x="16" y="81"/>
                          <a:pt x="5" y="86"/>
                          <a:pt x="5" y="86"/>
                        </a:cubicBezTo>
                        <a:cubicBezTo>
                          <a:pt x="9" y="95"/>
                          <a:pt x="7" y="97"/>
                          <a:pt x="0" y="105"/>
                        </a:cubicBezTo>
                        <a:cubicBezTo>
                          <a:pt x="17" y="107"/>
                          <a:pt x="22" y="107"/>
                          <a:pt x="16" y="120"/>
                        </a:cubicBezTo>
                        <a:cubicBezTo>
                          <a:pt x="27" y="122"/>
                          <a:pt x="48" y="116"/>
                          <a:pt x="59" y="115"/>
                        </a:cubicBezTo>
                        <a:cubicBezTo>
                          <a:pt x="71" y="112"/>
                          <a:pt x="73" y="117"/>
                          <a:pt x="83" y="111"/>
                        </a:cubicBezTo>
                        <a:cubicBezTo>
                          <a:pt x="89" y="96"/>
                          <a:pt x="83" y="100"/>
                          <a:pt x="97" y="96"/>
                        </a:cubicBezTo>
                        <a:cubicBezTo>
                          <a:pt x="100" y="94"/>
                          <a:pt x="103" y="93"/>
                          <a:pt x="105" y="90"/>
                        </a:cubicBezTo>
                        <a:cubicBezTo>
                          <a:pt x="106" y="88"/>
                          <a:pt x="106" y="85"/>
                          <a:pt x="108" y="84"/>
                        </a:cubicBezTo>
                        <a:cubicBezTo>
                          <a:pt x="112" y="80"/>
                          <a:pt x="140" y="69"/>
                          <a:pt x="148" y="67"/>
                        </a:cubicBezTo>
                        <a:cubicBezTo>
                          <a:pt x="160" y="52"/>
                          <a:pt x="153" y="56"/>
                          <a:pt x="167" y="52"/>
                        </a:cubicBezTo>
                        <a:cubicBezTo>
                          <a:pt x="178" y="55"/>
                          <a:pt x="179" y="62"/>
                          <a:pt x="191" y="58"/>
                        </a:cubicBezTo>
                        <a:cubicBezTo>
                          <a:pt x="199" y="52"/>
                          <a:pt x="206" y="51"/>
                          <a:pt x="215" y="46"/>
                        </a:cubicBezTo>
                        <a:cubicBezTo>
                          <a:pt x="226" y="58"/>
                          <a:pt x="217" y="46"/>
                          <a:pt x="223" y="69"/>
                        </a:cubicBezTo>
                        <a:cubicBezTo>
                          <a:pt x="226" y="79"/>
                          <a:pt x="233" y="85"/>
                          <a:pt x="237" y="94"/>
                        </a:cubicBezTo>
                        <a:cubicBezTo>
                          <a:pt x="227" y="100"/>
                          <a:pt x="229" y="104"/>
                          <a:pt x="218" y="107"/>
                        </a:cubicBezTo>
                        <a:cubicBezTo>
                          <a:pt x="207" y="120"/>
                          <a:pt x="203" y="113"/>
                          <a:pt x="188" y="109"/>
                        </a:cubicBezTo>
                        <a:cubicBezTo>
                          <a:pt x="191" y="117"/>
                          <a:pt x="200" y="127"/>
                          <a:pt x="210" y="132"/>
                        </a:cubicBezTo>
                        <a:cubicBezTo>
                          <a:pt x="218" y="114"/>
                          <a:pt x="211" y="122"/>
                          <a:pt x="231" y="113"/>
                        </a:cubicBezTo>
                        <a:cubicBezTo>
                          <a:pt x="237" y="111"/>
                          <a:pt x="248" y="105"/>
                          <a:pt x="248" y="105"/>
                        </a:cubicBezTo>
                        <a:cubicBezTo>
                          <a:pt x="248" y="100"/>
                          <a:pt x="246" y="94"/>
                          <a:pt x="250" y="90"/>
                        </a:cubicBezTo>
                        <a:cubicBezTo>
                          <a:pt x="253" y="88"/>
                          <a:pt x="254" y="96"/>
                          <a:pt x="258" y="96"/>
                        </a:cubicBezTo>
                        <a:cubicBezTo>
                          <a:pt x="262" y="97"/>
                          <a:pt x="264" y="94"/>
                          <a:pt x="266" y="92"/>
                        </a:cubicBezTo>
                        <a:cubicBezTo>
                          <a:pt x="262" y="82"/>
                          <a:pt x="252" y="77"/>
                          <a:pt x="248" y="67"/>
                        </a:cubicBezTo>
                        <a:cubicBezTo>
                          <a:pt x="250" y="63"/>
                          <a:pt x="255" y="58"/>
                          <a:pt x="253" y="54"/>
                        </a:cubicBezTo>
                        <a:cubicBezTo>
                          <a:pt x="251" y="50"/>
                          <a:pt x="248" y="42"/>
                          <a:pt x="248" y="42"/>
                        </a:cubicBezTo>
                        <a:cubicBezTo>
                          <a:pt x="256" y="32"/>
                          <a:pt x="259" y="35"/>
                          <a:pt x="266" y="44"/>
                        </a:cubicBezTo>
                        <a:cubicBezTo>
                          <a:pt x="270" y="56"/>
                          <a:pt x="276" y="61"/>
                          <a:pt x="285" y="71"/>
                        </a:cubicBezTo>
                        <a:cubicBezTo>
                          <a:pt x="281" y="81"/>
                          <a:pt x="289" y="82"/>
                          <a:pt x="277" y="88"/>
                        </a:cubicBezTo>
                        <a:cubicBezTo>
                          <a:pt x="262" y="106"/>
                          <a:pt x="278" y="83"/>
                          <a:pt x="274" y="101"/>
                        </a:cubicBezTo>
                        <a:cubicBezTo>
                          <a:pt x="274" y="105"/>
                          <a:pt x="268" y="109"/>
                          <a:pt x="266" y="113"/>
                        </a:cubicBezTo>
                        <a:cubicBezTo>
                          <a:pt x="270" y="122"/>
                          <a:pt x="268" y="125"/>
                          <a:pt x="261" y="132"/>
                        </a:cubicBezTo>
                        <a:cubicBezTo>
                          <a:pt x="268" y="149"/>
                          <a:pt x="282" y="134"/>
                          <a:pt x="296" y="130"/>
                        </a:cubicBezTo>
                        <a:cubicBezTo>
                          <a:pt x="299" y="122"/>
                          <a:pt x="295" y="119"/>
                          <a:pt x="299" y="111"/>
                        </a:cubicBezTo>
                        <a:cubicBezTo>
                          <a:pt x="296" y="105"/>
                          <a:pt x="288" y="97"/>
                          <a:pt x="299" y="92"/>
                        </a:cubicBezTo>
                        <a:cubicBezTo>
                          <a:pt x="303" y="90"/>
                          <a:pt x="315" y="88"/>
                          <a:pt x="315" y="88"/>
                        </a:cubicBezTo>
                        <a:cubicBezTo>
                          <a:pt x="326" y="91"/>
                          <a:pt x="325" y="95"/>
                          <a:pt x="331" y="103"/>
                        </a:cubicBezTo>
                        <a:cubicBezTo>
                          <a:pt x="339" y="84"/>
                          <a:pt x="331" y="90"/>
                          <a:pt x="361" y="92"/>
                        </a:cubicBezTo>
                        <a:cubicBezTo>
                          <a:pt x="355" y="76"/>
                          <a:pt x="365" y="76"/>
                          <a:pt x="382" y="73"/>
                        </a:cubicBezTo>
                        <a:cubicBezTo>
                          <a:pt x="383" y="71"/>
                          <a:pt x="387" y="57"/>
                          <a:pt x="393" y="54"/>
                        </a:cubicBezTo>
                        <a:cubicBezTo>
                          <a:pt x="398" y="52"/>
                          <a:pt x="409" y="50"/>
                          <a:pt x="409" y="50"/>
                        </a:cubicBezTo>
                        <a:cubicBezTo>
                          <a:pt x="430" y="54"/>
                          <a:pt x="413" y="58"/>
                          <a:pt x="431" y="63"/>
                        </a:cubicBezTo>
                        <a:cubicBezTo>
                          <a:pt x="433" y="61"/>
                          <a:pt x="435" y="57"/>
                          <a:pt x="439" y="56"/>
                        </a:cubicBezTo>
                        <a:cubicBezTo>
                          <a:pt x="445" y="55"/>
                          <a:pt x="452" y="61"/>
                          <a:pt x="457" y="58"/>
                        </a:cubicBezTo>
                        <a:cubicBezTo>
                          <a:pt x="461" y="57"/>
                          <a:pt x="457" y="52"/>
                          <a:pt x="455" y="50"/>
                        </a:cubicBezTo>
                        <a:cubicBezTo>
                          <a:pt x="451" y="47"/>
                          <a:pt x="444" y="47"/>
                          <a:pt x="439" y="46"/>
                        </a:cubicBezTo>
                        <a:cubicBezTo>
                          <a:pt x="436" y="45"/>
                          <a:pt x="431" y="44"/>
                          <a:pt x="431" y="44"/>
                        </a:cubicBezTo>
                        <a:cubicBezTo>
                          <a:pt x="440" y="38"/>
                          <a:pt x="443" y="36"/>
                          <a:pt x="455" y="40"/>
                        </a:cubicBezTo>
                        <a:cubicBezTo>
                          <a:pt x="461" y="38"/>
                          <a:pt x="467" y="35"/>
                          <a:pt x="474" y="35"/>
                        </a:cubicBezTo>
                        <a:cubicBezTo>
                          <a:pt x="483" y="36"/>
                          <a:pt x="511" y="43"/>
                          <a:pt x="519" y="46"/>
                        </a:cubicBezTo>
                        <a:cubicBezTo>
                          <a:pt x="527" y="49"/>
                          <a:pt x="544" y="54"/>
                          <a:pt x="544" y="54"/>
                        </a:cubicBezTo>
                        <a:cubicBezTo>
                          <a:pt x="548" y="54"/>
                          <a:pt x="560" y="52"/>
                          <a:pt x="565" y="50"/>
                        </a:cubicBezTo>
                        <a:cubicBezTo>
                          <a:pt x="570" y="47"/>
                          <a:pt x="581" y="42"/>
                          <a:pt x="581" y="42"/>
                        </a:cubicBezTo>
                        <a:cubicBezTo>
                          <a:pt x="585" y="42"/>
                          <a:pt x="598" y="44"/>
                          <a:pt x="600" y="48"/>
                        </a:cubicBezTo>
                        <a:cubicBezTo>
                          <a:pt x="603" y="55"/>
                          <a:pt x="589" y="61"/>
                          <a:pt x="584" y="63"/>
                        </a:cubicBezTo>
                        <a:cubicBezTo>
                          <a:pt x="576" y="69"/>
                          <a:pt x="568" y="69"/>
                          <a:pt x="565" y="77"/>
                        </a:cubicBezTo>
                        <a:cubicBezTo>
                          <a:pt x="568" y="86"/>
                          <a:pt x="564" y="92"/>
                          <a:pt x="568" y="101"/>
                        </a:cubicBezTo>
                        <a:cubicBezTo>
                          <a:pt x="574" y="93"/>
                          <a:pt x="577" y="91"/>
                          <a:pt x="589" y="94"/>
                        </a:cubicBezTo>
                        <a:cubicBezTo>
                          <a:pt x="595" y="108"/>
                          <a:pt x="602" y="93"/>
                          <a:pt x="611" y="88"/>
                        </a:cubicBezTo>
                        <a:cubicBezTo>
                          <a:pt x="613" y="86"/>
                          <a:pt x="613" y="83"/>
                          <a:pt x="616" y="82"/>
                        </a:cubicBezTo>
                        <a:cubicBezTo>
                          <a:pt x="618" y="80"/>
                          <a:pt x="622" y="81"/>
                          <a:pt x="624" y="80"/>
                        </a:cubicBezTo>
                        <a:cubicBezTo>
                          <a:pt x="626" y="78"/>
                          <a:pt x="626" y="75"/>
                          <a:pt x="627" y="73"/>
                        </a:cubicBezTo>
                        <a:cubicBezTo>
                          <a:pt x="632" y="65"/>
                          <a:pt x="638" y="63"/>
                          <a:pt x="648" y="61"/>
                        </a:cubicBezTo>
                        <a:cubicBezTo>
                          <a:pt x="664" y="62"/>
                          <a:pt x="684" y="69"/>
                          <a:pt x="700" y="69"/>
                        </a:cubicBezTo>
                        <a:lnTo>
                          <a:pt x="794" y="84"/>
                        </a:ln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3" name="Freeform 106"/>
                  <p:cNvSpPr>
                    <a:spLocks/>
                  </p:cNvSpPr>
                  <p:nvPr/>
                </p:nvSpPr>
                <p:spPr bwMode="ltGray">
                  <a:xfrm>
                    <a:off x="3981" y="282"/>
                    <a:ext cx="13" cy="10"/>
                  </a:xfrm>
                  <a:custGeom>
                    <a:avLst/>
                    <a:gdLst>
                      <a:gd name="T0" fmla="*/ 3 w 31"/>
                      <a:gd name="T1" fmla="*/ 28 h 30"/>
                      <a:gd name="T2" fmla="*/ 31 w 31"/>
                      <a:gd name="T3" fmla="*/ 0 h 30"/>
                      <a:gd name="T4" fmla="*/ 19 w 31"/>
                      <a:gd name="T5" fmla="*/ 24 h 30"/>
                      <a:gd name="T6" fmla="*/ 3 w 31"/>
                      <a:gd name="T7" fmla="*/ 28 h 3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1" h="30">
                        <a:moveTo>
                          <a:pt x="3" y="28"/>
                        </a:moveTo>
                        <a:cubicBezTo>
                          <a:pt x="8" y="8"/>
                          <a:pt x="12" y="6"/>
                          <a:pt x="31" y="0"/>
                        </a:cubicBezTo>
                        <a:cubicBezTo>
                          <a:pt x="29" y="5"/>
                          <a:pt x="25" y="22"/>
                          <a:pt x="19" y="24"/>
                        </a:cubicBezTo>
                        <a:cubicBezTo>
                          <a:pt x="0" y="30"/>
                          <a:pt x="3" y="9"/>
                          <a:pt x="3" y="2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4" name="Freeform 107"/>
                  <p:cNvSpPr>
                    <a:spLocks/>
                  </p:cNvSpPr>
                  <p:nvPr/>
                </p:nvSpPr>
                <p:spPr bwMode="ltGray">
                  <a:xfrm>
                    <a:off x="3966" y="296"/>
                    <a:ext cx="19" cy="11"/>
                  </a:xfrm>
                  <a:custGeom>
                    <a:avLst/>
                    <a:gdLst>
                      <a:gd name="T0" fmla="*/ 6 w 44"/>
                      <a:gd name="T1" fmla="*/ 32 h 32"/>
                      <a:gd name="T2" fmla="*/ 22 w 44"/>
                      <a:gd name="T3" fmla="*/ 0 h 32"/>
                      <a:gd name="T4" fmla="*/ 38 w 44"/>
                      <a:gd name="T5" fmla="*/ 4 h 32"/>
                      <a:gd name="T6" fmla="*/ 6 w 44"/>
                      <a:gd name="T7" fmla="*/ 32 h 3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4" h="32">
                        <a:moveTo>
                          <a:pt x="6" y="32"/>
                        </a:moveTo>
                        <a:cubicBezTo>
                          <a:pt x="0" y="14"/>
                          <a:pt x="7" y="10"/>
                          <a:pt x="22" y="0"/>
                        </a:cubicBezTo>
                        <a:cubicBezTo>
                          <a:pt x="27" y="1"/>
                          <a:pt x="35" y="0"/>
                          <a:pt x="38" y="4"/>
                        </a:cubicBezTo>
                        <a:cubicBezTo>
                          <a:pt x="44" y="13"/>
                          <a:pt x="16" y="32"/>
                          <a:pt x="6" y="3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5" name="Freeform 108"/>
                  <p:cNvSpPr>
                    <a:spLocks/>
                  </p:cNvSpPr>
                  <p:nvPr/>
                </p:nvSpPr>
                <p:spPr bwMode="ltGray">
                  <a:xfrm>
                    <a:off x="4028" y="337"/>
                    <a:ext cx="32" cy="6"/>
                  </a:xfrm>
                  <a:custGeom>
                    <a:avLst/>
                    <a:gdLst>
                      <a:gd name="T0" fmla="*/ 37 w 76"/>
                      <a:gd name="T1" fmla="*/ 18 h 18"/>
                      <a:gd name="T2" fmla="*/ 25 w 76"/>
                      <a:gd name="T3" fmla="*/ 2 h 18"/>
                      <a:gd name="T4" fmla="*/ 37 w 76"/>
                      <a:gd name="T5" fmla="*/ 18 h 18"/>
                      <a:gd name="T6" fmla="*/ 0 60000 65536"/>
                      <a:gd name="T7" fmla="*/ 0 60000 65536"/>
                      <a:gd name="T8" fmla="*/ 0 60000 65536"/>
                    </a:gdLst>
                    <a:ahLst/>
                    <a:cxnLst>
                      <a:cxn ang="T6">
                        <a:pos x="T0" y="T1"/>
                      </a:cxn>
                      <a:cxn ang="T7">
                        <a:pos x="T2" y="T3"/>
                      </a:cxn>
                      <a:cxn ang="T8">
                        <a:pos x="T4" y="T5"/>
                      </a:cxn>
                    </a:cxnLst>
                    <a:rect l="0" t="0" r="r" b="b"/>
                    <a:pathLst>
                      <a:path w="76" h="18">
                        <a:moveTo>
                          <a:pt x="37" y="18"/>
                        </a:moveTo>
                        <a:cubicBezTo>
                          <a:pt x="25" y="14"/>
                          <a:pt x="0" y="10"/>
                          <a:pt x="25" y="2"/>
                        </a:cubicBezTo>
                        <a:cubicBezTo>
                          <a:pt x="76" y="9"/>
                          <a:pt x="46" y="0"/>
                          <a:pt x="37" y="18"/>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6" name="Freeform 109"/>
                  <p:cNvSpPr>
                    <a:spLocks/>
                  </p:cNvSpPr>
                  <p:nvPr/>
                </p:nvSpPr>
                <p:spPr bwMode="ltGray">
                  <a:xfrm>
                    <a:off x="4083" y="336"/>
                    <a:ext cx="18" cy="15"/>
                  </a:xfrm>
                  <a:custGeom>
                    <a:avLst/>
                    <a:gdLst>
                      <a:gd name="T0" fmla="*/ 0 w 42"/>
                      <a:gd name="T1" fmla="*/ 21 h 44"/>
                      <a:gd name="T2" fmla="*/ 12 w 42"/>
                      <a:gd name="T3" fmla="*/ 9 h 44"/>
                      <a:gd name="T4" fmla="*/ 0 w 42"/>
                      <a:gd name="T5" fmla="*/ 21 h 44"/>
                      <a:gd name="T6" fmla="*/ 0 60000 65536"/>
                      <a:gd name="T7" fmla="*/ 0 60000 65536"/>
                      <a:gd name="T8" fmla="*/ 0 60000 65536"/>
                    </a:gdLst>
                    <a:ahLst/>
                    <a:cxnLst>
                      <a:cxn ang="T6">
                        <a:pos x="T0" y="T1"/>
                      </a:cxn>
                      <a:cxn ang="T7">
                        <a:pos x="T2" y="T3"/>
                      </a:cxn>
                      <a:cxn ang="T8">
                        <a:pos x="T4" y="T5"/>
                      </a:cxn>
                    </a:cxnLst>
                    <a:rect l="0" t="0" r="r" b="b"/>
                    <a:pathLst>
                      <a:path w="42" h="44">
                        <a:moveTo>
                          <a:pt x="0" y="21"/>
                        </a:moveTo>
                        <a:cubicBezTo>
                          <a:pt x="4" y="17"/>
                          <a:pt x="7" y="11"/>
                          <a:pt x="12" y="9"/>
                        </a:cubicBezTo>
                        <a:cubicBezTo>
                          <a:pt x="42" y="0"/>
                          <a:pt x="23" y="44"/>
                          <a:pt x="0" y="21"/>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sp>
                <p:nvSpPr>
                  <p:cNvPr id="1127" name="Freeform 110"/>
                  <p:cNvSpPr>
                    <a:spLocks/>
                  </p:cNvSpPr>
                  <p:nvPr/>
                </p:nvSpPr>
                <p:spPr bwMode="ltGray">
                  <a:xfrm>
                    <a:off x="3936" y="295"/>
                    <a:ext cx="14" cy="10"/>
                  </a:xfrm>
                  <a:custGeom>
                    <a:avLst/>
                    <a:gdLst>
                      <a:gd name="T0" fmla="*/ 7 w 31"/>
                      <a:gd name="T1" fmla="*/ 22 h 30"/>
                      <a:gd name="T2" fmla="*/ 31 w 31"/>
                      <a:gd name="T3" fmla="*/ 10 h 30"/>
                      <a:gd name="T4" fmla="*/ 7 w 31"/>
                      <a:gd name="T5" fmla="*/ 22 h 30"/>
                      <a:gd name="T6" fmla="*/ 0 60000 65536"/>
                      <a:gd name="T7" fmla="*/ 0 60000 65536"/>
                      <a:gd name="T8" fmla="*/ 0 60000 65536"/>
                    </a:gdLst>
                    <a:ahLst/>
                    <a:cxnLst>
                      <a:cxn ang="T6">
                        <a:pos x="T0" y="T1"/>
                      </a:cxn>
                      <a:cxn ang="T7">
                        <a:pos x="T2" y="T3"/>
                      </a:cxn>
                      <a:cxn ang="T8">
                        <a:pos x="T4" y="T5"/>
                      </a:cxn>
                    </a:cxnLst>
                    <a:rect l="0" t="0" r="r" b="b"/>
                    <a:pathLst>
                      <a:path w="31" h="30">
                        <a:moveTo>
                          <a:pt x="7" y="22"/>
                        </a:moveTo>
                        <a:cubicBezTo>
                          <a:pt x="0" y="0"/>
                          <a:pt x="15" y="6"/>
                          <a:pt x="31" y="10"/>
                        </a:cubicBezTo>
                        <a:cubicBezTo>
                          <a:pt x="14" y="16"/>
                          <a:pt x="15" y="30"/>
                          <a:pt x="7" y="22"/>
                        </a:cubicBezTo>
                        <a:close/>
                      </a:path>
                    </a:pathLst>
                  </a:cu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grpSp>
          <p:grpSp>
            <p:nvGrpSpPr>
              <p:cNvPr id="1036" name="Group 111"/>
              <p:cNvGrpSpPr>
                <a:grpSpLocks/>
              </p:cNvGrpSpPr>
              <p:nvPr/>
            </p:nvGrpSpPr>
            <p:grpSpPr bwMode="auto">
              <a:xfrm>
                <a:off x="798" y="111"/>
                <a:ext cx="4702" cy="418"/>
                <a:chOff x="798" y="255"/>
                <a:chExt cx="4702" cy="418"/>
              </a:xfrm>
            </p:grpSpPr>
            <p:sp>
              <p:nvSpPr>
                <p:cNvPr id="1063" name="Line 112"/>
                <p:cNvSpPr>
                  <a:spLocks noChangeShapeType="1"/>
                </p:cNvSpPr>
                <p:nvPr/>
              </p:nvSpPr>
              <p:spPr bwMode="white">
                <a:xfrm>
                  <a:off x="798" y="476"/>
                  <a:ext cx="4702"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4" name="Line 113"/>
                <p:cNvSpPr>
                  <a:spLocks noChangeShapeType="1"/>
                </p:cNvSpPr>
                <p:nvPr/>
              </p:nvSpPr>
              <p:spPr bwMode="white">
                <a:xfrm>
                  <a:off x="102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5" name="Line 114"/>
                <p:cNvSpPr>
                  <a:spLocks noChangeShapeType="1"/>
                </p:cNvSpPr>
                <p:nvPr/>
              </p:nvSpPr>
              <p:spPr bwMode="white">
                <a:xfrm>
                  <a:off x="125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6" name="Line 115"/>
                <p:cNvSpPr>
                  <a:spLocks noChangeShapeType="1"/>
                </p:cNvSpPr>
                <p:nvPr/>
              </p:nvSpPr>
              <p:spPr bwMode="white">
                <a:xfrm>
                  <a:off x="148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7" name="Line 116"/>
                <p:cNvSpPr>
                  <a:spLocks noChangeShapeType="1"/>
                </p:cNvSpPr>
                <p:nvPr/>
              </p:nvSpPr>
              <p:spPr bwMode="white">
                <a:xfrm>
                  <a:off x="171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8" name="Line 117"/>
                <p:cNvSpPr>
                  <a:spLocks noChangeShapeType="1"/>
                </p:cNvSpPr>
                <p:nvPr/>
              </p:nvSpPr>
              <p:spPr bwMode="white">
                <a:xfrm>
                  <a:off x="193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9" name="Line 118"/>
                <p:cNvSpPr>
                  <a:spLocks noChangeShapeType="1"/>
                </p:cNvSpPr>
                <p:nvPr/>
              </p:nvSpPr>
              <p:spPr bwMode="white">
                <a:xfrm>
                  <a:off x="216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0" name="Line 119"/>
                <p:cNvSpPr>
                  <a:spLocks noChangeShapeType="1"/>
                </p:cNvSpPr>
                <p:nvPr/>
              </p:nvSpPr>
              <p:spPr bwMode="white">
                <a:xfrm>
                  <a:off x="239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1" name="Line 120"/>
                <p:cNvSpPr>
                  <a:spLocks noChangeShapeType="1"/>
                </p:cNvSpPr>
                <p:nvPr/>
              </p:nvSpPr>
              <p:spPr bwMode="white">
                <a:xfrm>
                  <a:off x="262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2" name="Line 121"/>
                <p:cNvSpPr>
                  <a:spLocks noChangeShapeType="1"/>
                </p:cNvSpPr>
                <p:nvPr/>
              </p:nvSpPr>
              <p:spPr bwMode="white">
                <a:xfrm>
                  <a:off x="285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3" name="Line 122"/>
                <p:cNvSpPr>
                  <a:spLocks noChangeShapeType="1"/>
                </p:cNvSpPr>
                <p:nvPr/>
              </p:nvSpPr>
              <p:spPr bwMode="white">
                <a:xfrm>
                  <a:off x="307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4" name="Line 123"/>
                <p:cNvSpPr>
                  <a:spLocks noChangeShapeType="1"/>
                </p:cNvSpPr>
                <p:nvPr/>
              </p:nvSpPr>
              <p:spPr bwMode="white">
                <a:xfrm>
                  <a:off x="330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5" name="Line 124"/>
                <p:cNvSpPr>
                  <a:spLocks noChangeShapeType="1"/>
                </p:cNvSpPr>
                <p:nvPr/>
              </p:nvSpPr>
              <p:spPr bwMode="white">
                <a:xfrm>
                  <a:off x="353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6" name="Line 125"/>
                <p:cNvSpPr>
                  <a:spLocks noChangeShapeType="1"/>
                </p:cNvSpPr>
                <p:nvPr/>
              </p:nvSpPr>
              <p:spPr bwMode="white">
                <a:xfrm>
                  <a:off x="376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7" name="Line 126"/>
                <p:cNvSpPr>
                  <a:spLocks noChangeShapeType="1"/>
                </p:cNvSpPr>
                <p:nvPr/>
              </p:nvSpPr>
              <p:spPr bwMode="white">
                <a:xfrm>
                  <a:off x="399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8" name="Line 127"/>
                <p:cNvSpPr>
                  <a:spLocks noChangeShapeType="1"/>
                </p:cNvSpPr>
                <p:nvPr/>
              </p:nvSpPr>
              <p:spPr bwMode="white">
                <a:xfrm>
                  <a:off x="421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79" name="Line 128"/>
                <p:cNvSpPr>
                  <a:spLocks noChangeShapeType="1"/>
                </p:cNvSpPr>
                <p:nvPr/>
              </p:nvSpPr>
              <p:spPr bwMode="white">
                <a:xfrm>
                  <a:off x="4446"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80" name="Line 129"/>
                <p:cNvSpPr>
                  <a:spLocks noChangeShapeType="1"/>
                </p:cNvSpPr>
                <p:nvPr/>
              </p:nvSpPr>
              <p:spPr bwMode="white">
                <a:xfrm>
                  <a:off x="4674"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81" name="Line 130"/>
                <p:cNvSpPr>
                  <a:spLocks noChangeShapeType="1"/>
                </p:cNvSpPr>
                <p:nvPr/>
              </p:nvSpPr>
              <p:spPr bwMode="white">
                <a:xfrm>
                  <a:off x="4902"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82" name="Line 131"/>
                <p:cNvSpPr>
                  <a:spLocks noChangeShapeType="1"/>
                </p:cNvSpPr>
                <p:nvPr/>
              </p:nvSpPr>
              <p:spPr bwMode="white">
                <a:xfrm>
                  <a:off x="5130"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83" name="Line 132"/>
                <p:cNvSpPr>
                  <a:spLocks noChangeShapeType="1"/>
                </p:cNvSpPr>
                <p:nvPr/>
              </p:nvSpPr>
              <p:spPr bwMode="white">
                <a:xfrm>
                  <a:off x="5358" y="255"/>
                  <a:ext cx="0" cy="41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037" name="Group 133"/>
              <p:cNvGrpSpPr>
                <a:grpSpLocks/>
              </p:cNvGrpSpPr>
              <p:nvPr/>
            </p:nvGrpSpPr>
            <p:grpSpPr bwMode="auto">
              <a:xfrm>
                <a:off x="1208" y="109"/>
                <a:ext cx="3694" cy="423"/>
                <a:chOff x="1034" y="245"/>
                <a:chExt cx="3694" cy="423"/>
              </a:xfrm>
            </p:grpSpPr>
            <p:sp>
              <p:nvSpPr>
                <p:cNvPr id="1038" name="Line 134"/>
                <p:cNvSpPr>
                  <a:spLocks noChangeShapeType="1"/>
                </p:cNvSpPr>
                <p:nvPr/>
              </p:nvSpPr>
              <p:spPr bwMode="ltGray">
                <a:xfrm>
                  <a:off x="2676" y="246"/>
                  <a:ext cx="0" cy="14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39" name="Line 135"/>
                <p:cNvSpPr>
                  <a:spLocks noChangeShapeType="1"/>
                </p:cNvSpPr>
                <p:nvPr/>
              </p:nvSpPr>
              <p:spPr bwMode="ltGray">
                <a:xfrm>
                  <a:off x="2798" y="468"/>
                  <a:ext cx="7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0" name="Line 136"/>
                <p:cNvSpPr>
                  <a:spLocks noChangeShapeType="1"/>
                </p:cNvSpPr>
                <p:nvPr/>
              </p:nvSpPr>
              <p:spPr bwMode="ltGray">
                <a:xfrm>
                  <a:off x="2904" y="486"/>
                  <a:ext cx="0" cy="2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1" name="Line 137"/>
                <p:cNvSpPr>
                  <a:spLocks noChangeShapeType="1"/>
                </p:cNvSpPr>
                <p:nvPr/>
              </p:nvSpPr>
              <p:spPr bwMode="ltGray">
                <a:xfrm>
                  <a:off x="3132" y="586"/>
                  <a:ext cx="0" cy="79"/>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2" name="Line 138"/>
                <p:cNvSpPr>
                  <a:spLocks noChangeShapeType="1"/>
                </p:cNvSpPr>
                <p:nvPr/>
              </p:nvSpPr>
              <p:spPr bwMode="ltGray">
                <a:xfrm>
                  <a:off x="3816" y="358"/>
                  <a:ext cx="0" cy="18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3" name="Line 139"/>
                <p:cNvSpPr>
                  <a:spLocks noChangeShapeType="1"/>
                </p:cNvSpPr>
                <p:nvPr/>
              </p:nvSpPr>
              <p:spPr bwMode="ltGray">
                <a:xfrm>
                  <a:off x="3722" y="468"/>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4" name="Line 140"/>
                <p:cNvSpPr>
                  <a:spLocks noChangeShapeType="1"/>
                </p:cNvSpPr>
                <p:nvPr/>
              </p:nvSpPr>
              <p:spPr bwMode="ltGray">
                <a:xfrm>
                  <a:off x="4044" y="372"/>
                  <a:ext cx="0" cy="294"/>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5" name="Line 141"/>
                <p:cNvSpPr>
                  <a:spLocks noChangeShapeType="1"/>
                </p:cNvSpPr>
                <p:nvPr/>
              </p:nvSpPr>
              <p:spPr bwMode="ltGray">
                <a:xfrm flipV="1">
                  <a:off x="4046" y="248"/>
                  <a:ext cx="0" cy="5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6" name="Line 142"/>
                <p:cNvSpPr>
                  <a:spLocks noChangeShapeType="1"/>
                </p:cNvSpPr>
                <p:nvPr/>
              </p:nvSpPr>
              <p:spPr bwMode="ltGray">
                <a:xfrm flipV="1">
                  <a:off x="4272" y="246"/>
                  <a:ext cx="0" cy="18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7" name="Line 143"/>
                <p:cNvSpPr>
                  <a:spLocks noChangeShapeType="1"/>
                </p:cNvSpPr>
                <p:nvPr/>
              </p:nvSpPr>
              <p:spPr bwMode="ltGray">
                <a:xfrm flipH="1">
                  <a:off x="4422" y="468"/>
                  <a:ext cx="7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8" name="Line 144"/>
                <p:cNvSpPr>
                  <a:spLocks noChangeShapeType="1"/>
                </p:cNvSpPr>
                <p:nvPr/>
              </p:nvSpPr>
              <p:spPr bwMode="ltGray">
                <a:xfrm flipH="1">
                  <a:off x="4290" y="468"/>
                  <a:ext cx="6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49" name="Line 145"/>
                <p:cNvSpPr>
                  <a:spLocks noChangeShapeType="1"/>
                </p:cNvSpPr>
                <p:nvPr/>
              </p:nvSpPr>
              <p:spPr bwMode="ltGray">
                <a:xfrm flipV="1">
                  <a:off x="4500" y="246"/>
                  <a:ext cx="0" cy="27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0" name="Line 146"/>
                <p:cNvSpPr>
                  <a:spLocks noChangeShapeType="1"/>
                </p:cNvSpPr>
                <p:nvPr/>
              </p:nvSpPr>
              <p:spPr bwMode="ltGray">
                <a:xfrm>
                  <a:off x="4728" y="606"/>
                  <a:ext cx="0" cy="34"/>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1" name="Line 147"/>
                <p:cNvSpPr>
                  <a:spLocks noChangeShapeType="1"/>
                </p:cNvSpPr>
                <p:nvPr/>
              </p:nvSpPr>
              <p:spPr bwMode="ltGray">
                <a:xfrm>
                  <a:off x="1992" y="250"/>
                  <a:ext cx="0" cy="6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2" name="Line 148"/>
                <p:cNvSpPr>
                  <a:spLocks noChangeShapeType="1"/>
                </p:cNvSpPr>
                <p:nvPr/>
              </p:nvSpPr>
              <p:spPr bwMode="ltGray">
                <a:xfrm>
                  <a:off x="1764" y="247"/>
                  <a:ext cx="0" cy="33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3" name="Line 149"/>
                <p:cNvSpPr>
                  <a:spLocks noChangeShapeType="1"/>
                </p:cNvSpPr>
                <p:nvPr/>
              </p:nvSpPr>
              <p:spPr bwMode="ltGray">
                <a:xfrm flipH="1">
                  <a:off x="1738" y="468"/>
                  <a:ext cx="6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4" name="Line 150"/>
                <p:cNvSpPr>
                  <a:spLocks noChangeShapeType="1"/>
                </p:cNvSpPr>
                <p:nvPr/>
              </p:nvSpPr>
              <p:spPr bwMode="ltGray">
                <a:xfrm>
                  <a:off x="1604" y="468"/>
                  <a:ext cx="6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5" name="Line 151"/>
                <p:cNvSpPr>
                  <a:spLocks noChangeShapeType="1"/>
                </p:cNvSpPr>
                <p:nvPr/>
              </p:nvSpPr>
              <p:spPr bwMode="ltGray">
                <a:xfrm flipH="1">
                  <a:off x="1404" y="468"/>
                  <a:ext cx="82"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6" name="Line 152"/>
                <p:cNvSpPr>
                  <a:spLocks noChangeShapeType="1"/>
                </p:cNvSpPr>
                <p:nvPr/>
              </p:nvSpPr>
              <p:spPr bwMode="ltGray">
                <a:xfrm>
                  <a:off x="1034" y="468"/>
                  <a:ext cx="348"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7" name="Line 153"/>
                <p:cNvSpPr>
                  <a:spLocks noChangeShapeType="1"/>
                </p:cNvSpPr>
                <p:nvPr/>
              </p:nvSpPr>
              <p:spPr bwMode="ltGray">
                <a:xfrm>
                  <a:off x="1306" y="370"/>
                  <a:ext cx="0" cy="298"/>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8" name="Line 154"/>
                <p:cNvSpPr>
                  <a:spLocks noChangeShapeType="1"/>
                </p:cNvSpPr>
                <p:nvPr/>
              </p:nvSpPr>
              <p:spPr bwMode="ltGray">
                <a:xfrm>
                  <a:off x="1080" y="388"/>
                  <a:ext cx="0" cy="15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59" name="Line 155"/>
                <p:cNvSpPr>
                  <a:spLocks noChangeShapeType="1"/>
                </p:cNvSpPr>
                <p:nvPr/>
              </p:nvSpPr>
              <p:spPr bwMode="ltGray">
                <a:xfrm flipH="1" flipV="1">
                  <a:off x="1308" y="245"/>
                  <a:ext cx="0" cy="27"/>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0" name="Line 156"/>
                <p:cNvSpPr>
                  <a:spLocks noChangeShapeType="1"/>
                </p:cNvSpPr>
                <p:nvPr/>
              </p:nvSpPr>
              <p:spPr bwMode="ltGray">
                <a:xfrm>
                  <a:off x="1536" y="316"/>
                  <a:ext cx="0" cy="96"/>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1" name="Line 157"/>
                <p:cNvSpPr>
                  <a:spLocks noChangeShapeType="1"/>
                </p:cNvSpPr>
                <p:nvPr/>
              </p:nvSpPr>
              <p:spPr bwMode="ltGray">
                <a:xfrm flipV="1">
                  <a:off x="1536" y="247"/>
                  <a:ext cx="0" cy="22"/>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62" name="Line 158"/>
                <p:cNvSpPr>
                  <a:spLocks noChangeShapeType="1"/>
                </p:cNvSpPr>
                <p:nvPr/>
              </p:nvSpPr>
              <p:spPr bwMode="ltGray">
                <a:xfrm>
                  <a:off x="4095" y="467"/>
                  <a:ext cx="80" cy="0"/>
                </a:xfrm>
                <a:prstGeom prst="line">
                  <a:avLst/>
                </a:prstGeom>
                <a:noFill/>
                <a:ln w="952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grpSp>
        <p:pic>
          <p:nvPicPr>
            <p:cNvPr id="1033" name="Picture 159" descr="earth"/>
            <p:cNvPicPr>
              <a:picLocks noChangeAspect="1" noChangeArrowheads="1"/>
            </p:cNvPicPr>
            <p:nvPr userDrawn="1"/>
          </p:nvPicPr>
          <p:blipFill>
            <a:blip r:embed="rId15">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165" y="55"/>
              <a:ext cx="562" cy="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 bg1="lt1" tx1="dk1" bg2="lt2" tx2="dk2" accent1="accent1" accent2="accent2" accent3="accent3" accent4="accent4" accent5="accent5" accent6="accent6" hlink="hlink" folHlink="folHlink"/>
  <p:sldLayoutIdLst>
    <p:sldLayoutId id="2147483853" r:id="rId1"/>
    <p:sldLayoutId id="2147483854" r:id="rId2"/>
    <p:sldLayoutId id="2147483845" r:id="rId3"/>
    <p:sldLayoutId id="2147483846" r:id="rId4"/>
    <p:sldLayoutId id="2147483847" r:id="rId5"/>
    <p:sldLayoutId id="2147483855" r:id="rId6"/>
    <p:sldLayoutId id="2147483848" r:id="rId7"/>
    <p:sldLayoutId id="2147483849" r:id="rId8"/>
    <p:sldLayoutId id="2147483850" r:id="rId9"/>
    <p:sldLayoutId id="2147483851" r:id="rId10"/>
    <p:sldLayoutId id="2147483852" r:id="rId11"/>
    <p:sldLayoutId id="2147483856" r:id="rId12"/>
    <p:sldLayoutId id="2147483857" r:id="rId13"/>
  </p:sldLayoutIdLst>
  <p:hf hdr="0" dt="0"/>
  <p:txStyles>
    <p:titleStyle>
      <a:lvl1pPr algn="l" rtl="0" eaLnBrk="0" fontAlgn="base" hangingPunct="0">
        <a:spcBef>
          <a:spcPct val="0"/>
        </a:spcBef>
        <a:spcAft>
          <a:spcPct val="0"/>
        </a:spcAft>
        <a:defRPr sz="4400" b="1" i="1">
          <a:solidFill>
            <a:schemeClr val="tx2"/>
          </a:solidFill>
          <a:latin typeface="+mj-lt"/>
          <a:ea typeface="+mj-ea"/>
          <a:cs typeface="+mj-cs"/>
        </a:defRPr>
      </a:lvl1pPr>
      <a:lvl2pPr algn="l" rtl="0" eaLnBrk="0" fontAlgn="base" hangingPunct="0">
        <a:spcBef>
          <a:spcPct val="0"/>
        </a:spcBef>
        <a:spcAft>
          <a:spcPct val="0"/>
        </a:spcAft>
        <a:defRPr sz="4400" b="1" i="1">
          <a:solidFill>
            <a:schemeClr val="tx2"/>
          </a:solidFill>
          <a:latin typeface="Times New Roman" pitchFamily="18" charset="0"/>
        </a:defRPr>
      </a:lvl2pPr>
      <a:lvl3pPr algn="l" rtl="0" eaLnBrk="0" fontAlgn="base" hangingPunct="0">
        <a:spcBef>
          <a:spcPct val="0"/>
        </a:spcBef>
        <a:spcAft>
          <a:spcPct val="0"/>
        </a:spcAft>
        <a:defRPr sz="4400" b="1" i="1">
          <a:solidFill>
            <a:schemeClr val="tx2"/>
          </a:solidFill>
          <a:latin typeface="Times New Roman" pitchFamily="18" charset="0"/>
        </a:defRPr>
      </a:lvl3pPr>
      <a:lvl4pPr algn="l" rtl="0" eaLnBrk="0" fontAlgn="base" hangingPunct="0">
        <a:spcBef>
          <a:spcPct val="0"/>
        </a:spcBef>
        <a:spcAft>
          <a:spcPct val="0"/>
        </a:spcAft>
        <a:defRPr sz="4400" b="1" i="1">
          <a:solidFill>
            <a:schemeClr val="tx2"/>
          </a:solidFill>
          <a:latin typeface="Times New Roman" pitchFamily="18" charset="0"/>
        </a:defRPr>
      </a:lvl4pPr>
      <a:lvl5pPr algn="l" rtl="0" eaLnBrk="0" fontAlgn="base" hangingPunct="0">
        <a:spcBef>
          <a:spcPct val="0"/>
        </a:spcBef>
        <a:spcAft>
          <a:spcPct val="0"/>
        </a:spcAft>
        <a:defRPr sz="4400" b="1" i="1">
          <a:solidFill>
            <a:schemeClr val="tx2"/>
          </a:solidFill>
          <a:latin typeface="Times New Roman" pitchFamily="18" charset="0"/>
        </a:defRPr>
      </a:lvl5pPr>
      <a:lvl6pPr marL="457200" algn="l" rtl="0" eaLnBrk="1" fontAlgn="base" hangingPunct="1">
        <a:spcBef>
          <a:spcPct val="0"/>
        </a:spcBef>
        <a:spcAft>
          <a:spcPct val="0"/>
        </a:spcAft>
        <a:defRPr sz="4400" i="1">
          <a:solidFill>
            <a:schemeClr val="tx2"/>
          </a:solidFill>
          <a:latin typeface="Times New Roman" pitchFamily="18" charset="0"/>
        </a:defRPr>
      </a:lvl6pPr>
      <a:lvl7pPr marL="914400" algn="l" rtl="0" eaLnBrk="1" fontAlgn="base" hangingPunct="1">
        <a:spcBef>
          <a:spcPct val="0"/>
        </a:spcBef>
        <a:spcAft>
          <a:spcPct val="0"/>
        </a:spcAft>
        <a:defRPr sz="4400" i="1">
          <a:solidFill>
            <a:schemeClr val="tx2"/>
          </a:solidFill>
          <a:latin typeface="Times New Roman" pitchFamily="18" charset="0"/>
        </a:defRPr>
      </a:lvl7pPr>
      <a:lvl8pPr marL="1371600" algn="l" rtl="0" eaLnBrk="1" fontAlgn="base" hangingPunct="1">
        <a:spcBef>
          <a:spcPct val="0"/>
        </a:spcBef>
        <a:spcAft>
          <a:spcPct val="0"/>
        </a:spcAft>
        <a:defRPr sz="4400" i="1">
          <a:solidFill>
            <a:schemeClr val="tx2"/>
          </a:solidFill>
          <a:latin typeface="Times New Roman" pitchFamily="18" charset="0"/>
        </a:defRPr>
      </a:lvl8pPr>
      <a:lvl9pPr marL="1828800" algn="l" rtl="0" eaLnBrk="1" fontAlgn="base" hangingPunct="1">
        <a:spcBef>
          <a:spcPct val="0"/>
        </a:spcBef>
        <a:spcAft>
          <a:spcPct val="0"/>
        </a:spcAft>
        <a:defRPr sz="4400" i="1">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Blip>
          <a:blip r:embed="rId16"/>
        </a:buBlip>
        <a:defRPr sz="3200">
          <a:solidFill>
            <a:schemeClr val="tx1"/>
          </a:solidFill>
          <a:latin typeface="+mn-lt"/>
          <a:ea typeface="+mn-ea"/>
          <a:cs typeface="+mn-cs"/>
        </a:defRPr>
      </a:lvl1pPr>
      <a:lvl2pPr marL="742950" indent="-285750" algn="l" rtl="0" eaLnBrk="0" fontAlgn="base" hangingPunct="0">
        <a:spcBef>
          <a:spcPct val="20000"/>
        </a:spcBef>
        <a:spcAft>
          <a:spcPct val="0"/>
        </a:spcAft>
        <a:buSzPct val="75000"/>
        <a:buBlip>
          <a:blip r:embed="rId17"/>
        </a:buBlip>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lr>
          <a:schemeClr val="tx2"/>
        </a:buClr>
        <a:buChar char="–"/>
        <a:defRPr sz="2000">
          <a:solidFill>
            <a:schemeClr val="tx1"/>
          </a:solidFill>
          <a:latin typeface="+mn-lt"/>
        </a:defRPr>
      </a:lvl5pPr>
      <a:lvl6pPr marL="2514600" indent="-228600" algn="l" rtl="0" eaLnBrk="1" fontAlgn="base" hangingPunct="1">
        <a:spcBef>
          <a:spcPct val="20000"/>
        </a:spcBef>
        <a:spcAft>
          <a:spcPct val="0"/>
        </a:spcAft>
        <a:buClr>
          <a:schemeClr val="tx2"/>
        </a:buClr>
        <a:buChar char="–"/>
        <a:defRPr sz="2000">
          <a:solidFill>
            <a:schemeClr val="tx1"/>
          </a:solidFill>
          <a:latin typeface="+mn-lt"/>
        </a:defRPr>
      </a:lvl6pPr>
      <a:lvl7pPr marL="2971800" indent="-228600" algn="l" rtl="0" eaLnBrk="1" fontAlgn="base" hangingPunct="1">
        <a:spcBef>
          <a:spcPct val="20000"/>
        </a:spcBef>
        <a:spcAft>
          <a:spcPct val="0"/>
        </a:spcAft>
        <a:buClr>
          <a:schemeClr val="tx2"/>
        </a:buClr>
        <a:buChar char="–"/>
        <a:defRPr sz="2000">
          <a:solidFill>
            <a:schemeClr val="tx1"/>
          </a:solidFill>
          <a:latin typeface="+mn-lt"/>
        </a:defRPr>
      </a:lvl7pPr>
      <a:lvl8pPr marL="3429000" indent="-228600" algn="l" rtl="0" eaLnBrk="1" fontAlgn="base" hangingPunct="1">
        <a:spcBef>
          <a:spcPct val="20000"/>
        </a:spcBef>
        <a:spcAft>
          <a:spcPct val="0"/>
        </a:spcAft>
        <a:buClr>
          <a:schemeClr val="tx2"/>
        </a:buClr>
        <a:buChar char="–"/>
        <a:defRPr sz="2000">
          <a:solidFill>
            <a:schemeClr val="tx1"/>
          </a:solidFill>
          <a:latin typeface="+mn-lt"/>
        </a:defRPr>
      </a:lvl8pPr>
      <a:lvl9pPr marL="3886200" indent="-228600" algn="l" rtl="0" eaLnBrk="1" fontAlgn="base" hangingPunct="1">
        <a:spcBef>
          <a:spcPct val="20000"/>
        </a:spcBef>
        <a:spcAft>
          <a:spcPct val="0"/>
        </a:spcAft>
        <a:buClr>
          <a:schemeClr val="tx2"/>
        </a:buClr>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7" Type="http://schemas.openxmlformats.org/officeDocument/2006/relationships/image" Target="../media/image4.w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1.bin"/><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7" Type="http://schemas.openxmlformats.org/officeDocument/2006/relationships/image" Target="../media/image5.wm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2.bin"/><Relationship Id="rId5"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6.xml"/><Relationship Id="rId5" Type="http://schemas.openxmlformats.org/officeDocument/2006/relationships/image" Target="../media/image6.emf"/><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7" Type="http://schemas.openxmlformats.org/officeDocument/2006/relationships/image" Target="../media/image7.wmf"/><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3.bin"/><Relationship Id="rId5" Type="http://schemas.openxmlformats.org/officeDocument/2006/relationships/image" Target="../media/image3.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7" Type="http://schemas.openxmlformats.org/officeDocument/2006/relationships/image" Target="../media/image8.wmf"/><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oleObject" Target="../embeddings/oleObject4.bin"/><Relationship Id="rId5" Type="http://schemas.openxmlformats.org/officeDocument/2006/relationships/image" Target="../media/image3.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7" Type="http://schemas.openxmlformats.org/officeDocument/2006/relationships/image" Target="../media/image9.wmf"/><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oleObject" Target="../embeddings/oleObject5.bin"/><Relationship Id="rId5" Type="http://schemas.openxmlformats.org/officeDocument/2006/relationships/image" Target="../media/image3.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7" Type="http://schemas.openxmlformats.org/officeDocument/2006/relationships/image" Target="../media/image10.wmf"/><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oleObject" Target="../embeddings/oleObject6.bin"/><Relationship Id="rId5" Type="http://schemas.openxmlformats.org/officeDocument/2006/relationships/image" Target="../media/image3.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7" Type="http://schemas.openxmlformats.org/officeDocument/2006/relationships/image" Target="../media/image11.wmf"/><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oleObject" Target="../embeddings/oleObject7.bin"/><Relationship Id="rId5" Type="http://schemas.openxmlformats.org/officeDocument/2006/relationships/image" Target="../media/image3.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7" Type="http://schemas.openxmlformats.org/officeDocument/2006/relationships/image" Target="../media/image12.wmf"/><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oleObject" Target="../embeddings/oleObject8.bin"/><Relationship Id="rId5" Type="http://schemas.openxmlformats.org/officeDocument/2006/relationships/image" Target="../media/image3.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13.wmf"/><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10.bin"/><Relationship Id="rId3" Type="http://schemas.openxmlformats.org/officeDocument/2006/relationships/notesSlide" Target="../notesSlides/notesSlide23.xml"/><Relationship Id="rId7" Type="http://schemas.openxmlformats.org/officeDocument/2006/relationships/image" Target="../media/image14.wmf"/><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oleObject" Target="../embeddings/oleObject9.bin"/><Relationship Id="rId11" Type="http://schemas.openxmlformats.org/officeDocument/2006/relationships/image" Target="../media/image16.wmf"/><Relationship Id="rId5" Type="http://schemas.openxmlformats.org/officeDocument/2006/relationships/image" Target="../media/image3.png"/><Relationship Id="rId10" Type="http://schemas.openxmlformats.org/officeDocument/2006/relationships/oleObject" Target="../embeddings/oleObject11.bin"/><Relationship Id="rId4" Type="http://schemas.openxmlformats.org/officeDocument/2006/relationships/image" Target="../media/image2.png"/><Relationship Id="rId9" Type="http://schemas.openxmlformats.org/officeDocument/2006/relationships/image" Target="../media/image15.wmf"/></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7" Type="http://schemas.openxmlformats.org/officeDocument/2006/relationships/image" Target="../media/image17.wmf"/><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oleObject" Target="../embeddings/oleObject12.bin"/><Relationship Id="rId5" Type="http://schemas.openxmlformats.org/officeDocument/2006/relationships/image" Target="../media/image3.pn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7" Type="http://schemas.openxmlformats.org/officeDocument/2006/relationships/image" Target="../media/image3.png"/><Relationship Id="rId2" Type="http://schemas.openxmlformats.org/officeDocument/2006/relationships/slideLayout" Target="../slideLayouts/slideLayout12.xml"/><Relationship Id="rId1" Type="http://schemas.openxmlformats.org/officeDocument/2006/relationships/vmlDrawing" Target="../drawings/vmlDrawing11.vml"/><Relationship Id="rId6" Type="http://schemas.openxmlformats.org/officeDocument/2006/relationships/image" Target="../media/image2.png"/><Relationship Id="rId5" Type="http://schemas.openxmlformats.org/officeDocument/2006/relationships/image" Target="../media/image18.wmf"/><Relationship Id="rId4" Type="http://schemas.openxmlformats.org/officeDocument/2006/relationships/oleObject" Target="../embeddings/oleObject13.bin"/></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7" Type="http://schemas.openxmlformats.org/officeDocument/2006/relationships/image" Target="../media/image20.wmf"/><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oleObject" Target="../embeddings/oleObject14.bin"/><Relationship Id="rId5" Type="http://schemas.openxmlformats.org/officeDocument/2006/relationships/image" Target="../media/image3.png"/><Relationship Id="rId4" Type="http://schemas.openxmlformats.org/officeDocument/2006/relationships/image" Target="../media/image2.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7" Type="http://schemas.openxmlformats.org/officeDocument/2006/relationships/image" Target="../media/image21.wmf"/><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oleObject" Target="../embeddings/oleObject15.bin"/><Relationship Id="rId5" Type="http://schemas.openxmlformats.org/officeDocument/2006/relationships/image" Target="../media/image3.png"/><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7" Type="http://schemas.openxmlformats.org/officeDocument/2006/relationships/image" Target="../media/image22.wmf"/><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oleObject" Target="../embeddings/oleObject16.bin"/><Relationship Id="rId5" Type="http://schemas.openxmlformats.org/officeDocument/2006/relationships/image" Target="../media/image3.png"/><Relationship Id="rId4" Type="http://schemas.openxmlformats.org/officeDocument/2006/relationships/image" Target="../media/image2.pn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eaLnBrk="1" fontAlgn="auto" hangingPunct="1">
              <a:spcAft>
                <a:spcPts val="0"/>
              </a:spcAft>
              <a:defRPr/>
            </a:pPr>
            <a:r>
              <a:rPr lang="en-US" dirty="0" smtClean="0">
                <a:solidFill>
                  <a:schemeClr val="tx2">
                    <a:satMod val="130000"/>
                  </a:schemeClr>
                </a:solidFill>
              </a:rPr>
              <a:t>Chapter 21</a:t>
            </a:r>
            <a:br>
              <a:rPr lang="en-US" dirty="0" smtClean="0">
                <a:solidFill>
                  <a:schemeClr val="tx2">
                    <a:satMod val="130000"/>
                  </a:schemeClr>
                </a:solidFill>
              </a:rPr>
            </a:br>
            <a:r>
              <a:rPr lang="en-US" dirty="0" smtClean="0">
                <a:solidFill>
                  <a:schemeClr val="tx2">
                    <a:satMod val="130000"/>
                  </a:schemeClr>
                </a:solidFill>
              </a:rPr>
              <a:t>Basic Numerical Procedures</a:t>
            </a:r>
            <a:endParaRPr lang="en-US" dirty="0">
              <a:solidFill>
                <a:schemeClr val="tx2">
                  <a:satMod val="130000"/>
                </a:schemeClr>
              </a:solidFill>
            </a:endParaRPr>
          </a:p>
        </p:txBody>
      </p:sp>
      <p:sp>
        <p:nvSpPr>
          <p:cNvPr id="7171" name="Footer Placeholder 4"/>
          <p:cNvSpPr>
            <a:spLocks noGrp="1"/>
          </p:cNvSpPr>
          <p:nvPr>
            <p:ph type="ftr" sz="quarter" idx="11"/>
          </p:nvPr>
        </p:nvSpPr>
        <p:spPr>
          <a:xfrm>
            <a:off x="2133600" y="6324600"/>
            <a:ext cx="44958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endParaRPr>
          </a:p>
        </p:txBody>
      </p:sp>
      <p:sp>
        <p:nvSpPr>
          <p:cNvPr id="7172"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B16B7314-D5AF-4CB2-BDA7-6DD0696E9D28}" type="slidenum">
              <a:rPr lang="en-US" altLang="en-US" sz="1400" smtClean="0">
                <a:latin typeface="Arial" charset="0"/>
              </a:rPr>
              <a:pPr eaLnBrk="1" hangingPunct="1">
                <a:spcBef>
                  <a:spcPct val="0"/>
                </a:spcBef>
                <a:buFontTx/>
                <a:buNone/>
              </a:pPr>
              <a:t>1</a:t>
            </a:fld>
            <a:endParaRPr lang="en-US" altLang="en-US" sz="1400" smtClean="0">
              <a:latin typeface="Arial"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p:cNvSpPr>
            <a:spLocks noGrp="1" noChangeArrowheads="1"/>
          </p:cNvSpPr>
          <p:nvPr>
            <p:ph type="title"/>
          </p:nvPr>
        </p:nvSpPr>
        <p:spPr>
          <a:xfrm>
            <a:off x="1435100" y="914400"/>
            <a:ext cx="7499350" cy="1676400"/>
          </a:xfrm>
        </p:spPr>
        <p:txBody>
          <a:bodyPr>
            <a:normAutofit fontScale="90000"/>
          </a:bodyPr>
          <a:lstStyle/>
          <a:p>
            <a:pPr eaLnBrk="1" fontAlgn="auto" hangingPunct="1">
              <a:spcAft>
                <a:spcPts val="0"/>
              </a:spcAft>
              <a:defRPr/>
            </a:pPr>
            <a:r>
              <a:rPr lang="en-US" dirty="0" smtClean="0">
                <a:solidFill>
                  <a:schemeClr val="tx2">
                    <a:satMod val="130000"/>
                  </a:schemeClr>
                </a:solidFill>
              </a:rPr>
              <a:t>Approaches </a:t>
            </a:r>
            <a:r>
              <a:rPr lang="en-US" dirty="0">
                <a:solidFill>
                  <a:schemeClr val="tx2">
                    <a:satMod val="130000"/>
                  </a:schemeClr>
                </a:solidFill>
              </a:rPr>
              <a:t>to Derivatives </a:t>
            </a:r>
            <a:r>
              <a:rPr lang="en-US" dirty="0" smtClean="0">
                <a:solidFill>
                  <a:schemeClr val="tx2">
                    <a:satMod val="130000"/>
                  </a:schemeClr>
                </a:solidFill>
              </a:rPr>
              <a:t>Valuation</a:t>
            </a:r>
            <a:br>
              <a:rPr lang="en-US" dirty="0" smtClean="0">
                <a:solidFill>
                  <a:schemeClr val="tx2">
                    <a:satMod val="130000"/>
                  </a:schemeClr>
                </a:solidFill>
              </a:rPr>
            </a:br>
            <a:endParaRPr lang="en-US" dirty="0">
              <a:solidFill>
                <a:schemeClr val="tx2">
                  <a:satMod val="130000"/>
                </a:schemeClr>
              </a:solidFill>
            </a:endParaRPr>
          </a:p>
        </p:txBody>
      </p:sp>
      <p:sp>
        <p:nvSpPr>
          <p:cNvPr id="8195" name="Rectangle 3"/>
          <p:cNvSpPr>
            <a:spLocks noGrp="1" noChangeArrowheads="1"/>
          </p:cNvSpPr>
          <p:nvPr>
            <p:ph idx="1"/>
          </p:nvPr>
        </p:nvSpPr>
        <p:spPr>
          <a:xfrm>
            <a:off x="685800" y="2133600"/>
            <a:ext cx="7772400" cy="3900488"/>
          </a:xfrm>
        </p:spPr>
        <p:txBody>
          <a:bodyPr/>
          <a:lstStyle/>
          <a:p>
            <a:pPr eaLnBrk="1" hangingPunct="1"/>
            <a:endParaRPr lang="en-US" altLang="en-US" smtClean="0">
              <a:latin typeface="Arial" charset="0"/>
              <a:cs typeface="Arial" charset="0"/>
            </a:endParaRPr>
          </a:p>
          <a:p>
            <a:pPr eaLnBrk="1" hangingPunct="1"/>
            <a:r>
              <a:rPr lang="en-US" altLang="en-US" smtClean="0">
                <a:latin typeface="Arial" charset="0"/>
                <a:cs typeface="Arial" charset="0"/>
              </a:rPr>
              <a:t>Trees</a:t>
            </a:r>
          </a:p>
          <a:p>
            <a:pPr eaLnBrk="1" hangingPunct="1"/>
            <a:r>
              <a:rPr lang="en-US" altLang="en-US" smtClean="0">
                <a:latin typeface="Arial" charset="0"/>
                <a:cs typeface="Arial" charset="0"/>
              </a:rPr>
              <a:t>Monte Carlo simulation</a:t>
            </a:r>
          </a:p>
          <a:p>
            <a:pPr eaLnBrk="1" hangingPunct="1"/>
            <a:r>
              <a:rPr lang="en-US" altLang="en-US" smtClean="0">
                <a:latin typeface="Arial" charset="0"/>
                <a:cs typeface="Arial" charset="0"/>
              </a:rPr>
              <a:t>Finite difference methods</a:t>
            </a:r>
          </a:p>
        </p:txBody>
      </p:sp>
      <p:sp>
        <p:nvSpPr>
          <p:cNvPr id="819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endParaRPr>
          </a:p>
        </p:txBody>
      </p:sp>
      <p:sp>
        <p:nvSpPr>
          <p:cNvPr id="819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AF41C34B-5E0F-4EA7-B2DC-0B7B3F657DF2}" type="slidenum">
              <a:rPr lang="en-US" altLang="en-US" sz="1400" smtClean="0">
                <a:latin typeface="Arial" charset="0"/>
              </a:rPr>
              <a:pPr eaLnBrk="1" hangingPunct="1">
                <a:spcBef>
                  <a:spcPct val="0"/>
                </a:spcBef>
                <a:buFontTx/>
                <a:buNone/>
              </a:pPr>
              <a:t>2</a:t>
            </a:fld>
            <a:endParaRPr lang="en-US" altLang="en-US" sz="1400" smtClean="0">
              <a:latin typeface="Arial"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p:cNvSpPr>
            <a:spLocks noGrp="1" noChangeArrowheads="1"/>
          </p:cNvSpPr>
          <p:nvPr>
            <p:ph type="title"/>
          </p:nvPr>
        </p:nvSpPr>
        <p:spPr/>
        <p:txBody>
          <a:bodyPr lIns="92075" tIns="46038" rIns="92075" bIns="46038"/>
          <a:lstStyle/>
          <a:p>
            <a:pPr eaLnBrk="1" fontAlgn="auto" hangingPunct="1">
              <a:spcAft>
                <a:spcPts val="0"/>
              </a:spcAft>
              <a:defRPr/>
            </a:pPr>
            <a:r>
              <a:rPr lang="en-US">
                <a:solidFill>
                  <a:schemeClr val="tx2">
                    <a:satMod val="130000"/>
                  </a:schemeClr>
                </a:solidFill>
              </a:rPr>
              <a:t>Binomial Trees</a:t>
            </a:r>
          </a:p>
        </p:txBody>
      </p:sp>
      <p:sp>
        <p:nvSpPr>
          <p:cNvPr id="9219" name="Rectangle 3"/>
          <p:cNvSpPr>
            <a:spLocks noGrp="1" noChangeArrowheads="1"/>
          </p:cNvSpPr>
          <p:nvPr>
            <p:ph idx="1"/>
          </p:nvPr>
        </p:nvSpPr>
        <p:spPr>
          <a:xfrm>
            <a:off x="935038" y="2057400"/>
            <a:ext cx="7273925" cy="4073525"/>
          </a:xfrm>
        </p:spPr>
        <p:txBody>
          <a:bodyPr lIns="92075" tIns="46038" rIns="92075" bIns="46038"/>
          <a:lstStyle/>
          <a:p>
            <a:pPr eaLnBrk="1" hangingPunct="1"/>
            <a:r>
              <a:rPr lang="en-US" altLang="en-US" smtClean="0">
                <a:latin typeface="Arial" charset="0"/>
                <a:cs typeface="Arial" charset="0"/>
              </a:rPr>
              <a:t>Binomial trees are frequently used to approximate the movements in the price of a stock or other asset</a:t>
            </a:r>
          </a:p>
          <a:p>
            <a:pPr eaLnBrk="1" hangingPunct="1"/>
            <a:r>
              <a:rPr lang="en-US" altLang="en-US" smtClean="0">
                <a:latin typeface="Arial" charset="0"/>
                <a:cs typeface="Arial" charset="0"/>
              </a:rPr>
              <a:t>In each small interval of time the stock price is assumed to move up by a proportional amount </a:t>
            </a:r>
            <a:r>
              <a:rPr lang="en-US" altLang="en-US" i="1" smtClean="0">
                <a:latin typeface="Times New Roman" pitchFamily="18" charset="0"/>
                <a:cs typeface="Arial" charset="0"/>
              </a:rPr>
              <a:t>u </a:t>
            </a:r>
            <a:r>
              <a:rPr lang="en-US" altLang="en-US" smtClean="0">
                <a:latin typeface="Arial" charset="0"/>
                <a:cs typeface="Arial" charset="0"/>
              </a:rPr>
              <a:t>or to move down by a proportional amount </a:t>
            </a:r>
            <a:r>
              <a:rPr lang="en-US" altLang="en-US" i="1" smtClean="0">
                <a:latin typeface="Times New Roman" pitchFamily="18" charset="0"/>
                <a:cs typeface="Arial" charset="0"/>
              </a:rPr>
              <a:t>d</a:t>
            </a:r>
          </a:p>
        </p:txBody>
      </p:sp>
      <p:sp>
        <p:nvSpPr>
          <p:cNvPr id="922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endParaRPr>
          </a:p>
        </p:txBody>
      </p:sp>
      <p:sp>
        <p:nvSpPr>
          <p:cNvPr id="922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4D93C8A9-6F16-44F8-8FCF-72C67814B9FF}" type="slidenum">
              <a:rPr lang="en-US" altLang="en-US" sz="1400" smtClean="0">
                <a:latin typeface="Arial" charset="0"/>
              </a:rPr>
              <a:pPr eaLnBrk="1" hangingPunct="1">
                <a:spcBef>
                  <a:spcPct val="0"/>
                </a:spcBef>
                <a:buFontTx/>
                <a:buNone/>
              </a:pPr>
              <a:t>3</a:t>
            </a:fld>
            <a:endParaRPr lang="en-US" altLang="en-US" sz="1400" smtClean="0">
              <a:latin typeface="Arial" charset="0"/>
            </a:endParaRPr>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title"/>
          </p:nvPr>
        </p:nvSpPr>
        <p:spPr/>
        <p:txBody>
          <a:bodyPr lIns="92075" tIns="46038" rIns="92075" bIns="46038"/>
          <a:lstStyle/>
          <a:p>
            <a:pPr eaLnBrk="1" fontAlgn="auto" hangingPunct="1">
              <a:spcAft>
                <a:spcPts val="0"/>
              </a:spcAft>
              <a:defRPr/>
            </a:pPr>
            <a:r>
              <a:rPr lang="en-US" dirty="0">
                <a:solidFill>
                  <a:schemeClr val="tx2">
                    <a:satMod val="130000"/>
                  </a:schemeClr>
                </a:solidFill>
              </a:rPr>
              <a:t>Movements in Time </a:t>
            </a:r>
            <a:r>
              <a:rPr lang="en-US" dirty="0">
                <a:solidFill>
                  <a:schemeClr val="tx2">
                    <a:satMod val="130000"/>
                  </a:schemeClr>
                </a:solidFill>
                <a:latin typeface="Symbol" pitchFamily="18" charset="2"/>
              </a:rPr>
              <a:t>D</a:t>
            </a:r>
            <a:r>
              <a:rPr lang="en-US" dirty="0">
                <a:solidFill>
                  <a:schemeClr val="tx2">
                    <a:satMod val="130000"/>
                  </a:schemeClr>
                </a:solidFill>
              </a:rPr>
              <a:t>t</a:t>
            </a:r>
            <a:br>
              <a:rPr lang="en-US" dirty="0">
                <a:solidFill>
                  <a:schemeClr val="tx2">
                    <a:satMod val="130000"/>
                  </a:schemeClr>
                </a:solidFill>
              </a:rPr>
            </a:br>
            <a:r>
              <a:rPr lang="en-US" sz="2200" dirty="0">
                <a:solidFill>
                  <a:schemeClr val="tx2">
                    <a:satMod val="130000"/>
                  </a:schemeClr>
                </a:solidFill>
              </a:rPr>
              <a:t>(Figure </a:t>
            </a:r>
            <a:r>
              <a:rPr lang="en-US" sz="2200" dirty="0" smtClean="0">
                <a:solidFill>
                  <a:schemeClr val="tx2">
                    <a:satMod val="130000"/>
                  </a:schemeClr>
                </a:solidFill>
              </a:rPr>
              <a:t>21.1)</a:t>
            </a:r>
            <a:endParaRPr lang="en-US" dirty="0">
              <a:solidFill>
                <a:schemeClr val="tx2">
                  <a:satMod val="130000"/>
                </a:schemeClr>
              </a:solidFill>
            </a:endParaRPr>
          </a:p>
        </p:txBody>
      </p:sp>
      <p:sp>
        <p:nvSpPr>
          <p:cNvPr id="10243" name="Rectangle 3"/>
          <p:cNvSpPr>
            <a:spLocks noGrp="1" noChangeArrowheads="1"/>
          </p:cNvSpPr>
          <p:nvPr>
            <p:ph idx="1"/>
          </p:nvPr>
        </p:nvSpPr>
        <p:spPr/>
        <p:txBody>
          <a:bodyPr lIns="92075" tIns="46038" rIns="92075" bIns="46038"/>
          <a:lstStyle/>
          <a:p>
            <a:pPr algn="ctr" eaLnBrk="1" hangingPunct="1">
              <a:buFont typeface="Wingdings" pitchFamily="2" charset="2"/>
              <a:buNone/>
            </a:pPr>
            <a:r>
              <a:rPr lang="en-US" altLang="en-US" smtClean="0">
                <a:latin typeface="Arial" charset="0"/>
                <a:cs typeface="Arial" charset="0"/>
              </a:rPr>
              <a:t> </a:t>
            </a:r>
          </a:p>
        </p:txBody>
      </p:sp>
      <p:sp>
        <p:nvSpPr>
          <p:cNvPr id="1024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endParaRPr>
          </a:p>
        </p:txBody>
      </p:sp>
      <p:sp>
        <p:nvSpPr>
          <p:cNvPr id="10245"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48D36737-0B28-450F-AAE3-CF3EB99CC450}" type="slidenum">
              <a:rPr lang="en-US" altLang="en-US" sz="1400" smtClean="0">
                <a:latin typeface="Arial" charset="0"/>
              </a:rPr>
              <a:pPr eaLnBrk="1" hangingPunct="1">
                <a:spcBef>
                  <a:spcPct val="0"/>
                </a:spcBef>
                <a:buFontTx/>
                <a:buNone/>
              </a:pPr>
              <a:t>4</a:t>
            </a:fld>
            <a:endParaRPr lang="en-US" altLang="en-US" sz="1400" smtClean="0">
              <a:latin typeface="Arial" charset="0"/>
            </a:endParaRPr>
          </a:p>
        </p:txBody>
      </p:sp>
      <p:grpSp>
        <p:nvGrpSpPr>
          <p:cNvPr id="10246" name="Group 4"/>
          <p:cNvGrpSpPr>
            <a:grpSpLocks/>
          </p:cNvGrpSpPr>
          <p:nvPr/>
        </p:nvGrpSpPr>
        <p:grpSpPr bwMode="auto">
          <a:xfrm>
            <a:off x="2843213" y="2420938"/>
            <a:ext cx="3414712" cy="2041525"/>
            <a:chOff x="1824" y="2016"/>
            <a:chExt cx="2118" cy="1303"/>
          </a:xfrm>
        </p:grpSpPr>
        <p:sp>
          <p:nvSpPr>
            <p:cNvPr id="10247" name="Line 5"/>
            <p:cNvSpPr>
              <a:spLocks noChangeShapeType="1"/>
            </p:cNvSpPr>
            <p:nvPr/>
          </p:nvSpPr>
          <p:spPr bwMode="auto">
            <a:xfrm flipV="1">
              <a:off x="2147" y="2229"/>
              <a:ext cx="1268" cy="427"/>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10248" name="Line 6"/>
            <p:cNvSpPr>
              <a:spLocks noChangeShapeType="1"/>
            </p:cNvSpPr>
            <p:nvPr/>
          </p:nvSpPr>
          <p:spPr bwMode="auto">
            <a:xfrm>
              <a:off x="2160" y="2640"/>
              <a:ext cx="1351" cy="428"/>
            </a:xfrm>
            <a:prstGeom prst="line">
              <a:avLst/>
            </a:prstGeom>
            <a:noFill/>
            <a:ln w="254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10249" name="Rectangle 7"/>
            <p:cNvSpPr>
              <a:spLocks noChangeArrowheads="1"/>
            </p:cNvSpPr>
            <p:nvPr/>
          </p:nvSpPr>
          <p:spPr bwMode="auto">
            <a:xfrm>
              <a:off x="3446" y="2016"/>
              <a:ext cx="430" cy="6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a:spcBef>
                  <a:spcPct val="0"/>
                </a:spcBef>
                <a:buFontTx/>
                <a:buNone/>
              </a:pPr>
              <a:r>
                <a:rPr lang="en-US" altLang="en-US" i="1">
                  <a:latin typeface="Times New Roman" pitchFamily="18" charset="0"/>
                </a:rPr>
                <a:t>Su</a:t>
              </a:r>
              <a:endParaRPr lang="en-US" altLang="en-US">
                <a:latin typeface="Arial" charset="0"/>
              </a:endParaRPr>
            </a:p>
            <a:p>
              <a:pPr>
                <a:spcBef>
                  <a:spcPct val="0"/>
                </a:spcBef>
                <a:buFontTx/>
                <a:buNone/>
              </a:pPr>
              <a:r>
                <a:rPr lang="en-US" altLang="en-US">
                  <a:latin typeface="Arial" charset="0"/>
                </a:rPr>
                <a:t> </a:t>
              </a:r>
            </a:p>
          </p:txBody>
        </p:sp>
        <p:sp>
          <p:nvSpPr>
            <p:cNvPr id="10250" name="Rectangle 8"/>
            <p:cNvSpPr>
              <a:spLocks noChangeArrowheads="1"/>
            </p:cNvSpPr>
            <p:nvPr/>
          </p:nvSpPr>
          <p:spPr bwMode="auto">
            <a:xfrm>
              <a:off x="3440" y="2949"/>
              <a:ext cx="502" cy="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a:spcBef>
                  <a:spcPct val="0"/>
                </a:spcBef>
                <a:buFontTx/>
                <a:buNone/>
              </a:pPr>
              <a:r>
                <a:rPr lang="en-US" altLang="en-US">
                  <a:latin typeface="Arial" charset="0"/>
                </a:rPr>
                <a:t> </a:t>
              </a:r>
              <a:r>
                <a:rPr lang="en-US" altLang="en-US" i="1">
                  <a:latin typeface="Times New Roman" pitchFamily="18" charset="0"/>
                </a:rPr>
                <a:t>Sd</a:t>
              </a:r>
            </a:p>
          </p:txBody>
        </p:sp>
        <p:sp>
          <p:nvSpPr>
            <p:cNvPr id="10251" name="Rectangle 9"/>
            <p:cNvSpPr>
              <a:spLocks noChangeArrowheads="1"/>
            </p:cNvSpPr>
            <p:nvPr/>
          </p:nvSpPr>
          <p:spPr bwMode="auto">
            <a:xfrm>
              <a:off x="1824" y="2544"/>
              <a:ext cx="432" cy="6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a:spcBef>
                  <a:spcPct val="0"/>
                </a:spcBef>
                <a:buFontTx/>
                <a:buNone/>
              </a:pPr>
              <a:r>
                <a:rPr lang="en-US" altLang="en-US" i="1">
                  <a:latin typeface="Times New Roman" pitchFamily="18" charset="0"/>
                </a:rPr>
                <a:t>S</a:t>
              </a:r>
              <a:endParaRPr lang="en-US" altLang="en-US">
                <a:latin typeface="Times New Roman" pitchFamily="18" charset="0"/>
              </a:endParaRPr>
            </a:p>
            <a:p>
              <a:pPr>
                <a:spcBef>
                  <a:spcPct val="0"/>
                </a:spcBef>
                <a:buFontTx/>
                <a:buNone/>
              </a:pPr>
              <a:r>
                <a:rPr lang="en-US" altLang="en-US">
                  <a:latin typeface="Arial" charset="0"/>
                </a:rPr>
                <a:t> </a:t>
              </a:r>
            </a:p>
          </p:txBody>
        </p:sp>
        <p:sp>
          <p:nvSpPr>
            <p:cNvPr id="10252" name="Rectangle 10"/>
            <p:cNvSpPr>
              <a:spLocks noChangeArrowheads="1"/>
            </p:cNvSpPr>
            <p:nvPr/>
          </p:nvSpPr>
          <p:spPr bwMode="auto">
            <a:xfrm rot="-1200000">
              <a:off x="2806" y="2029"/>
              <a:ext cx="240" cy="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a:buFontTx/>
                <a:buNone/>
              </a:pPr>
              <a:r>
                <a:rPr lang="en-US" altLang="en-US" i="1">
                  <a:latin typeface="Times New Roman" pitchFamily="18" charset="0"/>
                </a:rPr>
                <a:t>p</a:t>
              </a:r>
            </a:p>
          </p:txBody>
        </p:sp>
        <p:sp>
          <p:nvSpPr>
            <p:cNvPr id="10253" name="Rectangle 11"/>
            <p:cNvSpPr>
              <a:spLocks noChangeArrowheads="1"/>
            </p:cNvSpPr>
            <p:nvPr/>
          </p:nvSpPr>
          <p:spPr bwMode="auto">
            <a:xfrm rot="1140000">
              <a:off x="2447" y="2872"/>
              <a:ext cx="874" cy="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a:buFontTx/>
                <a:buNone/>
              </a:pPr>
              <a:r>
                <a:rPr lang="en-US" altLang="en-US">
                  <a:latin typeface="Times New Roman" pitchFamily="18" charset="0"/>
                </a:rPr>
                <a:t>1 – </a:t>
              </a:r>
              <a:r>
                <a:rPr lang="en-US" altLang="en-US" i="1">
                  <a:latin typeface="Times New Roman" pitchFamily="18" charset="0"/>
                </a:rPr>
                <a:t>p</a:t>
              </a:r>
            </a:p>
          </p:txBody>
        </p:sp>
      </p:gr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7938" name="Rectangle 2"/>
          <p:cNvSpPr>
            <a:spLocks noGrp="1" noChangeArrowheads="1"/>
          </p:cNvSpPr>
          <p:nvPr>
            <p:ph type="title"/>
          </p:nvPr>
        </p:nvSpPr>
        <p:spPr>
          <a:xfrm>
            <a:off x="1219200" y="1066800"/>
            <a:ext cx="6761163" cy="838200"/>
          </a:xfrm>
        </p:spPr>
        <p:txBody>
          <a:bodyPr lIns="92075" tIns="46038" rIns="92075" bIns="46038">
            <a:normAutofit fontScale="90000"/>
          </a:bodyPr>
          <a:lstStyle/>
          <a:p>
            <a:pPr eaLnBrk="1" fontAlgn="auto" hangingPunct="1">
              <a:spcAft>
                <a:spcPts val="0"/>
              </a:spcAft>
              <a:defRPr/>
            </a:pPr>
            <a:r>
              <a:rPr lang="en-US" dirty="0" smtClean="0">
                <a:solidFill>
                  <a:schemeClr val="tx2">
                    <a:satMod val="130000"/>
                  </a:schemeClr>
                </a:solidFill>
              </a:rPr>
              <a:t>Tree </a:t>
            </a:r>
            <a:r>
              <a:rPr lang="en-US" dirty="0">
                <a:solidFill>
                  <a:schemeClr val="tx2">
                    <a:satMod val="130000"/>
                  </a:schemeClr>
                </a:solidFill>
              </a:rPr>
              <a:t>Parameters for </a:t>
            </a:r>
            <a:r>
              <a:rPr lang="en-US" dirty="0" smtClean="0">
                <a:solidFill>
                  <a:schemeClr val="tx2">
                    <a:satMod val="130000"/>
                  </a:schemeClr>
                </a:solidFill>
              </a:rPr>
              <a:t>asset paying </a:t>
            </a:r>
            <a:r>
              <a:rPr lang="en-US" dirty="0">
                <a:solidFill>
                  <a:schemeClr val="tx2">
                    <a:satMod val="130000"/>
                  </a:schemeClr>
                </a:solidFill>
              </a:rPr>
              <a:t>a dividend yield of q</a:t>
            </a:r>
          </a:p>
        </p:txBody>
      </p:sp>
      <p:sp>
        <p:nvSpPr>
          <p:cNvPr id="11267" name="Rectangle 3"/>
          <p:cNvSpPr>
            <a:spLocks noGrp="1" noChangeArrowheads="1"/>
          </p:cNvSpPr>
          <p:nvPr>
            <p:ph idx="1"/>
          </p:nvPr>
        </p:nvSpPr>
        <p:spPr>
          <a:xfrm>
            <a:off x="1371600" y="2514600"/>
            <a:ext cx="7502525" cy="3309938"/>
          </a:xfrm>
        </p:spPr>
        <p:txBody>
          <a:bodyPr lIns="92075" tIns="46038" rIns="92075" bIns="46038"/>
          <a:lstStyle/>
          <a:p>
            <a:pPr marL="0" indent="0" eaLnBrk="1" hangingPunct="1">
              <a:buFont typeface="Wingdings" pitchFamily="2" charset="2"/>
              <a:buNone/>
            </a:pPr>
            <a:r>
              <a:rPr lang="en-US" altLang="en-US" sz="2400" smtClean="0">
                <a:latin typeface="Arial" charset="0"/>
                <a:cs typeface="Arial" charset="0"/>
              </a:rPr>
              <a:t>Parameters </a:t>
            </a:r>
            <a:r>
              <a:rPr lang="en-US" altLang="en-US" sz="2400" i="1" smtClean="0">
                <a:latin typeface="Times New Roman" pitchFamily="18" charset="0"/>
                <a:cs typeface="Arial" charset="0"/>
              </a:rPr>
              <a:t>p</a:t>
            </a:r>
            <a:r>
              <a:rPr lang="en-US" altLang="en-US" sz="2400" smtClean="0">
                <a:latin typeface="Arial" charset="0"/>
                <a:cs typeface="Arial" charset="0"/>
              </a:rPr>
              <a:t>, </a:t>
            </a:r>
            <a:r>
              <a:rPr lang="en-US" altLang="en-US" sz="2400" i="1" smtClean="0">
                <a:latin typeface="Times New Roman" pitchFamily="18" charset="0"/>
                <a:cs typeface="Arial" charset="0"/>
              </a:rPr>
              <a:t>u</a:t>
            </a:r>
            <a:r>
              <a:rPr lang="en-US" altLang="en-US" sz="2400" smtClean="0">
                <a:latin typeface="Arial" charset="0"/>
                <a:cs typeface="Arial" charset="0"/>
              </a:rPr>
              <a:t>, and </a:t>
            </a:r>
            <a:r>
              <a:rPr lang="en-US" altLang="en-US" sz="2400" i="1" smtClean="0">
                <a:latin typeface="Times New Roman" pitchFamily="18" charset="0"/>
                <a:cs typeface="Arial" charset="0"/>
              </a:rPr>
              <a:t>d</a:t>
            </a:r>
            <a:r>
              <a:rPr lang="en-US" altLang="en-US" sz="2400" smtClean="0">
                <a:latin typeface="Arial" charset="0"/>
                <a:cs typeface="Arial" charset="0"/>
              </a:rPr>
              <a:t> are chosen so that the tree gives correct values for the mean &amp; variance of the stock price changes in a risk-neutral world</a:t>
            </a:r>
          </a:p>
          <a:p>
            <a:pPr marL="0" indent="0" eaLnBrk="1" hangingPunct="1">
              <a:buFont typeface="Wingdings" pitchFamily="2" charset="2"/>
              <a:buNone/>
            </a:pPr>
            <a:endParaRPr lang="en-US" altLang="en-US" sz="2400" smtClean="0">
              <a:latin typeface="Arial" charset="0"/>
              <a:cs typeface="Arial" charset="0"/>
            </a:endParaRPr>
          </a:p>
          <a:p>
            <a:pPr marL="0" indent="0" eaLnBrk="1" hangingPunct="1">
              <a:buFont typeface="Wingdings" pitchFamily="2" charset="2"/>
              <a:buNone/>
            </a:pPr>
            <a:r>
              <a:rPr lang="en-US" altLang="en-US" sz="2400" smtClean="0">
                <a:latin typeface="Arial" charset="0"/>
                <a:cs typeface="Arial" charset="0"/>
              </a:rPr>
              <a:t>Mean: 	</a:t>
            </a:r>
            <a:r>
              <a:rPr lang="en-US" altLang="en-US" sz="2400" i="1" smtClean="0">
                <a:latin typeface="Times New Roman" pitchFamily="18" charset="0"/>
                <a:cs typeface="Arial" charset="0"/>
              </a:rPr>
              <a:t>e</a:t>
            </a:r>
            <a:r>
              <a:rPr lang="en-US" altLang="en-US" sz="2400" baseline="30000" smtClean="0">
                <a:latin typeface="Times New Roman" pitchFamily="18" charset="0"/>
                <a:cs typeface="Arial" charset="0"/>
              </a:rPr>
              <a:t>(</a:t>
            </a:r>
            <a:r>
              <a:rPr lang="en-US" altLang="en-US" sz="2400" i="1" baseline="30000" smtClean="0">
                <a:latin typeface="Times New Roman" pitchFamily="18" charset="0"/>
                <a:cs typeface="Arial" charset="0"/>
              </a:rPr>
              <a:t>r−q</a:t>
            </a:r>
            <a:r>
              <a:rPr lang="en-US" altLang="en-US" sz="2400" baseline="30000" smtClean="0">
                <a:latin typeface="Times New Roman" pitchFamily="18" charset="0"/>
                <a:cs typeface="Arial" charset="0"/>
              </a:rPr>
              <a:t>)</a:t>
            </a:r>
            <a:r>
              <a:rPr lang="en-US" altLang="en-US" sz="2400" baseline="30000" smtClean="0">
                <a:latin typeface="Symbol" pitchFamily="18" charset="2"/>
                <a:cs typeface="Arial" charset="0"/>
              </a:rPr>
              <a:t>D</a:t>
            </a:r>
            <a:r>
              <a:rPr lang="en-US" altLang="en-US" sz="2400" i="1" baseline="30000" smtClean="0">
                <a:latin typeface="Times New Roman" pitchFamily="18" charset="0"/>
                <a:cs typeface="Arial" charset="0"/>
              </a:rPr>
              <a:t>t</a:t>
            </a:r>
            <a:r>
              <a:rPr lang="en-US" altLang="en-US" sz="2400" baseline="30000" smtClean="0">
                <a:latin typeface="Arial" charset="0"/>
                <a:cs typeface="Arial" charset="0"/>
              </a:rPr>
              <a:t>    </a:t>
            </a:r>
            <a:r>
              <a:rPr lang="en-US" altLang="en-US" sz="2400" smtClean="0">
                <a:latin typeface="Arial" charset="0"/>
                <a:cs typeface="Arial" charset="0"/>
              </a:rPr>
              <a:t>= </a:t>
            </a:r>
            <a:r>
              <a:rPr lang="en-US" altLang="en-US" sz="2400" i="1" smtClean="0">
                <a:latin typeface="Times New Roman" pitchFamily="18" charset="0"/>
                <a:cs typeface="Arial" charset="0"/>
              </a:rPr>
              <a:t>pu</a:t>
            </a:r>
            <a:r>
              <a:rPr lang="en-US" altLang="en-US" sz="2400" smtClean="0">
                <a:latin typeface="Times New Roman" pitchFamily="18" charset="0"/>
                <a:cs typeface="Arial" charset="0"/>
              </a:rPr>
              <a:t>  + (1– </a:t>
            </a:r>
            <a:r>
              <a:rPr lang="en-US" altLang="en-US" sz="2400" i="1" smtClean="0">
                <a:latin typeface="Times New Roman" pitchFamily="18" charset="0"/>
                <a:cs typeface="Arial" charset="0"/>
              </a:rPr>
              <a:t>p</a:t>
            </a:r>
            <a:r>
              <a:rPr lang="en-US" altLang="en-US" sz="2400" smtClean="0">
                <a:latin typeface="Times New Roman" pitchFamily="18" charset="0"/>
                <a:cs typeface="Arial" charset="0"/>
              </a:rPr>
              <a:t> )</a:t>
            </a:r>
            <a:r>
              <a:rPr lang="en-US" altLang="en-US" sz="2400" i="1" smtClean="0">
                <a:latin typeface="Times New Roman" pitchFamily="18" charset="0"/>
                <a:cs typeface="Arial" charset="0"/>
              </a:rPr>
              <a:t>d</a:t>
            </a:r>
            <a:r>
              <a:rPr lang="en-US" altLang="en-US" sz="2400" i="1" smtClean="0">
                <a:latin typeface="Arial" charset="0"/>
                <a:cs typeface="Arial" charset="0"/>
              </a:rPr>
              <a:t> </a:t>
            </a:r>
            <a:r>
              <a:rPr lang="en-US" altLang="en-US" sz="2400" smtClean="0">
                <a:latin typeface="Arial" charset="0"/>
                <a:cs typeface="Arial" charset="0"/>
              </a:rPr>
              <a:t>  </a:t>
            </a:r>
          </a:p>
          <a:p>
            <a:pPr marL="0" indent="0" eaLnBrk="1" hangingPunct="1">
              <a:buFont typeface="Wingdings" pitchFamily="2" charset="2"/>
              <a:buNone/>
            </a:pPr>
            <a:r>
              <a:rPr lang="en-US" altLang="en-US" sz="2400" smtClean="0">
                <a:latin typeface="Arial" charset="0"/>
                <a:cs typeface="Arial" charset="0"/>
              </a:rPr>
              <a:t>Variance:</a:t>
            </a:r>
            <a:r>
              <a:rPr lang="en-US" altLang="en-US" sz="2400" smtClean="0">
                <a:latin typeface="Symbol" pitchFamily="18" charset="2"/>
                <a:cs typeface="Arial" charset="0"/>
              </a:rPr>
              <a:t>	s</a:t>
            </a:r>
            <a:r>
              <a:rPr lang="en-US" altLang="en-US" sz="2400" baseline="30000" smtClean="0">
                <a:latin typeface="Times New Roman" pitchFamily="18" charset="0"/>
                <a:cs typeface="Arial" charset="0"/>
              </a:rPr>
              <a:t>2</a:t>
            </a:r>
            <a:r>
              <a:rPr lang="en-US" altLang="en-US" sz="2400" smtClean="0">
                <a:latin typeface="Symbol" pitchFamily="18" charset="2"/>
                <a:cs typeface="Arial" charset="0"/>
              </a:rPr>
              <a:t>D</a:t>
            </a:r>
            <a:r>
              <a:rPr lang="en-US" altLang="en-US" sz="2400" i="1" smtClean="0">
                <a:latin typeface="Times New Roman" pitchFamily="18" charset="0"/>
                <a:cs typeface="Arial" charset="0"/>
              </a:rPr>
              <a:t>t</a:t>
            </a:r>
            <a:r>
              <a:rPr lang="en-US" altLang="en-US" sz="2400" i="1" smtClean="0">
                <a:latin typeface="Arial" charset="0"/>
                <a:cs typeface="Arial" charset="0"/>
              </a:rPr>
              <a:t> </a:t>
            </a:r>
            <a:r>
              <a:rPr lang="en-US" altLang="en-US" sz="2400" smtClean="0">
                <a:latin typeface="Arial" charset="0"/>
                <a:cs typeface="Arial" charset="0"/>
              </a:rPr>
              <a:t> = </a:t>
            </a:r>
            <a:r>
              <a:rPr lang="en-US" altLang="en-US" sz="2400" i="1" smtClean="0">
                <a:latin typeface="Times New Roman" pitchFamily="18" charset="0"/>
                <a:cs typeface="Arial" charset="0"/>
              </a:rPr>
              <a:t>pu</a:t>
            </a:r>
            <a:r>
              <a:rPr lang="en-US" altLang="en-US" sz="2400" baseline="30000" smtClean="0">
                <a:latin typeface="Times New Roman" pitchFamily="18" charset="0"/>
                <a:cs typeface="Arial" charset="0"/>
              </a:rPr>
              <a:t>2</a:t>
            </a:r>
            <a:r>
              <a:rPr lang="en-US" altLang="en-US" sz="2400" smtClean="0">
                <a:latin typeface="Times New Roman" pitchFamily="18" charset="0"/>
                <a:cs typeface="Arial" charset="0"/>
              </a:rPr>
              <a:t> + (1– </a:t>
            </a:r>
            <a:r>
              <a:rPr lang="en-US" altLang="en-US" sz="2400" i="1" smtClean="0">
                <a:latin typeface="Times New Roman" pitchFamily="18" charset="0"/>
                <a:cs typeface="Arial" charset="0"/>
              </a:rPr>
              <a:t>p</a:t>
            </a:r>
            <a:r>
              <a:rPr lang="en-US" altLang="en-US" sz="2400" smtClean="0">
                <a:latin typeface="Times New Roman" pitchFamily="18" charset="0"/>
                <a:cs typeface="Arial" charset="0"/>
              </a:rPr>
              <a:t> )</a:t>
            </a:r>
            <a:r>
              <a:rPr lang="en-US" altLang="en-US" sz="2400" i="1" smtClean="0">
                <a:latin typeface="Times New Roman" pitchFamily="18" charset="0"/>
                <a:cs typeface="Arial" charset="0"/>
              </a:rPr>
              <a:t>d</a:t>
            </a:r>
            <a:r>
              <a:rPr lang="en-US" altLang="en-US" sz="2400" i="1" baseline="30000" smtClean="0">
                <a:latin typeface="Times New Roman" pitchFamily="18" charset="0"/>
                <a:cs typeface="Arial" charset="0"/>
              </a:rPr>
              <a:t> </a:t>
            </a:r>
            <a:r>
              <a:rPr lang="en-US" altLang="en-US" sz="2400" baseline="30000" smtClean="0">
                <a:latin typeface="Times New Roman" pitchFamily="18" charset="0"/>
                <a:cs typeface="Arial" charset="0"/>
              </a:rPr>
              <a:t>2</a:t>
            </a:r>
            <a:r>
              <a:rPr lang="en-US" altLang="en-US" sz="2400" smtClean="0">
                <a:latin typeface="Times New Roman" pitchFamily="18" charset="0"/>
                <a:cs typeface="Arial" charset="0"/>
              </a:rPr>
              <a:t> – e</a:t>
            </a:r>
            <a:r>
              <a:rPr lang="en-US" altLang="en-US" sz="2400" baseline="30000" smtClean="0">
                <a:latin typeface="Times New Roman" pitchFamily="18" charset="0"/>
                <a:cs typeface="Arial" charset="0"/>
              </a:rPr>
              <a:t>2(</a:t>
            </a:r>
            <a:r>
              <a:rPr lang="en-US" altLang="en-US" sz="2400" i="1" baseline="30000" smtClean="0">
                <a:latin typeface="Times New Roman" pitchFamily="18" charset="0"/>
                <a:cs typeface="Arial" charset="0"/>
              </a:rPr>
              <a:t>r−q</a:t>
            </a:r>
            <a:r>
              <a:rPr lang="en-US" altLang="en-US" sz="2400" baseline="30000" smtClean="0">
                <a:latin typeface="Times New Roman" pitchFamily="18" charset="0"/>
                <a:cs typeface="Arial" charset="0"/>
              </a:rPr>
              <a:t>)</a:t>
            </a:r>
            <a:r>
              <a:rPr lang="en-US" altLang="en-US" sz="2400" baseline="30000" smtClean="0">
                <a:latin typeface="Symbol" pitchFamily="18" charset="2"/>
                <a:cs typeface="Arial" charset="0"/>
              </a:rPr>
              <a:t>D</a:t>
            </a:r>
            <a:r>
              <a:rPr lang="en-US" altLang="en-US" sz="2400" i="1" baseline="30000" smtClean="0">
                <a:latin typeface="Times New Roman" pitchFamily="18" charset="0"/>
                <a:cs typeface="Arial" charset="0"/>
              </a:rPr>
              <a:t>t</a:t>
            </a:r>
          </a:p>
          <a:p>
            <a:pPr marL="0" indent="0" eaLnBrk="1" hangingPunct="1">
              <a:buFont typeface="Wingdings" pitchFamily="2" charset="2"/>
              <a:buNone/>
            </a:pPr>
            <a:endParaRPr lang="en-US" altLang="en-US" sz="2400" baseline="30000" smtClean="0">
              <a:latin typeface="Times New Roman" pitchFamily="18" charset="0"/>
              <a:cs typeface="Arial" charset="0"/>
            </a:endParaRPr>
          </a:p>
          <a:p>
            <a:pPr marL="0" indent="0" eaLnBrk="1" hangingPunct="1">
              <a:buFont typeface="Wingdings" pitchFamily="2" charset="2"/>
              <a:buNone/>
            </a:pPr>
            <a:r>
              <a:rPr lang="en-US" altLang="en-US" sz="2400" smtClean="0">
                <a:latin typeface="Arial" charset="0"/>
                <a:cs typeface="Arial" charset="0"/>
              </a:rPr>
              <a:t>A further condition often imposed is </a:t>
            </a:r>
            <a:r>
              <a:rPr lang="en-US" altLang="en-US" sz="2400" i="1" smtClean="0">
                <a:latin typeface="Times New Roman" pitchFamily="18" charset="0"/>
                <a:cs typeface="Arial" charset="0"/>
              </a:rPr>
              <a:t>u </a:t>
            </a:r>
            <a:r>
              <a:rPr lang="en-US" altLang="en-US" sz="2400" smtClean="0">
                <a:latin typeface="Times New Roman" pitchFamily="18" charset="0"/>
                <a:cs typeface="Arial" charset="0"/>
              </a:rPr>
              <a:t> = 1/ </a:t>
            </a:r>
            <a:r>
              <a:rPr lang="en-US" altLang="en-US" sz="2400" i="1" smtClean="0">
                <a:latin typeface="Times New Roman" pitchFamily="18" charset="0"/>
                <a:cs typeface="Arial" charset="0"/>
              </a:rPr>
              <a:t>d</a:t>
            </a:r>
            <a:r>
              <a:rPr lang="en-US" altLang="en-US" sz="2400" smtClean="0">
                <a:latin typeface="Arial" charset="0"/>
                <a:cs typeface="Arial" charset="0"/>
              </a:rPr>
              <a:t> </a:t>
            </a:r>
          </a:p>
        </p:txBody>
      </p:sp>
      <p:sp>
        <p:nvSpPr>
          <p:cNvPr id="1126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endParaRPr>
          </a:p>
        </p:txBody>
      </p:sp>
      <p:sp>
        <p:nvSpPr>
          <p:cNvPr id="11269"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5FEB20E1-9C03-4639-824B-368F8B671A32}" type="slidenum">
              <a:rPr lang="en-US" altLang="en-US" sz="1400" smtClean="0">
                <a:latin typeface="Arial" charset="0"/>
              </a:rPr>
              <a:pPr eaLnBrk="1" hangingPunct="1">
                <a:spcBef>
                  <a:spcPct val="0"/>
                </a:spcBef>
                <a:buFontTx/>
                <a:buNone/>
              </a:pPr>
              <a:t>5</a:t>
            </a:fld>
            <a:endParaRPr lang="en-US" altLang="en-US" sz="1400" smtClean="0">
              <a:latin typeface="Arial" charset="0"/>
            </a:endParaRPr>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ChangeArrowheads="1"/>
          </p:cNvSpPr>
          <p:nvPr>
            <p:ph type="title"/>
          </p:nvPr>
        </p:nvSpPr>
        <p:spPr>
          <a:xfrm>
            <a:off x="1447800" y="1066800"/>
            <a:ext cx="6553200" cy="350838"/>
          </a:xfrm>
        </p:spPr>
        <p:txBody>
          <a:bodyPr lIns="92075" tIns="46038" rIns="92075" bIns="46038">
            <a:normAutofit fontScale="90000"/>
          </a:bodyPr>
          <a:lstStyle/>
          <a:p>
            <a:pPr eaLnBrk="1" fontAlgn="auto" hangingPunct="1">
              <a:spcAft>
                <a:spcPts val="0"/>
              </a:spcAft>
              <a:defRPr/>
            </a:pPr>
            <a:r>
              <a:rPr lang="en-US" dirty="0">
                <a:solidFill>
                  <a:schemeClr val="tx2">
                    <a:satMod val="130000"/>
                  </a:schemeClr>
                </a:solidFill>
              </a:rPr>
              <a:t/>
            </a:r>
            <a:br>
              <a:rPr lang="en-US" dirty="0">
                <a:solidFill>
                  <a:schemeClr val="tx2">
                    <a:satMod val="130000"/>
                  </a:schemeClr>
                </a:solidFill>
              </a:rPr>
            </a:br>
            <a:r>
              <a:rPr lang="en-US" dirty="0" smtClean="0">
                <a:solidFill>
                  <a:schemeClr val="tx2">
                    <a:satMod val="130000"/>
                  </a:schemeClr>
                </a:solidFill>
              </a:rPr>
              <a:t>Tree </a:t>
            </a:r>
            <a:r>
              <a:rPr lang="en-US" dirty="0">
                <a:solidFill>
                  <a:schemeClr val="tx2">
                    <a:satMod val="130000"/>
                  </a:schemeClr>
                </a:solidFill>
              </a:rPr>
              <a:t>Parameters for asset paying a dividend yield of q</a:t>
            </a:r>
            <a:br>
              <a:rPr lang="en-US" dirty="0">
                <a:solidFill>
                  <a:schemeClr val="tx2">
                    <a:satMod val="130000"/>
                  </a:schemeClr>
                </a:solidFill>
              </a:rPr>
            </a:br>
            <a:r>
              <a:rPr lang="en-US" sz="2700" dirty="0" smtClean="0">
                <a:solidFill>
                  <a:schemeClr val="tx2">
                    <a:satMod val="130000"/>
                  </a:schemeClr>
                </a:solidFill>
              </a:rPr>
              <a:t>(</a:t>
            </a:r>
            <a:r>
              <a:rPr lang="en-US" sz="2700" dirty="0" smtClean="0">
                <a:solidFill>
                  <a:schemeClr val="tx2">
                    <a:satMod val="130000"/>
                  </a:schemeClr>
                </a:solidFill>
              </a:rPr>
              <a:t>continued, equations 21.4 to 21.7)</a:t>
            </a:r>
            <a:endParaRPr lang="en-US" sz="2700" dirty="0">
              <a:solidFill>
                <a:schemeClr val="tx2">
                  <a:satMod val="130000"/>
                </a:schemeClr>
              </a:solidFill>
            </a:endParaRPr>
          </a:p>
        </p:txBody>
      </p:sp>
      <p:sp>
        <p:nvSpPr>
          <p:cNvPr id="140291" name="Rectangle 3"/>
          <p:cNvSpPr>
            <a:spLocks noGrp="1" noChangeArrowheads="1"/>
          </p:cNvSpPr>
          <p:nvPr>
            <p:ph idx="1"/>
          </p:nvPr>
        </p:nvSpPr>
        <p:spPr>
          <a:xfrm>
            <a:off x="838200" y="2549525"/>
            <a:ext cx="6781800" cy="762000"/>
          </a:xfrm>
        </p:spPr>
        <p:txBody>
          <a:bodyPr lIns="92075" tIns="46038" rIns="92075" bIns="46038">
            <a:normAutofit fontScale="92500"/>
          </a:bodyPr>
          <a:lstStyle/>
          <a:p>
            <a:pPr marL="365760" indent="-283464" eaLnBrk="1" fontAlgn="auto" hangingPunct="1">
              <a:spcAft>
                <a:spcPts val="0"/>
              </a:spcAft>
              <a:buFont typeface="Wingdings" pitchFamily="2" charset="2"/>
              <a:buNone/>
              <a:defRPr/>
            </a:pPr>
            <a:r>
              <a:rPr lang="en-US" dirty="0" smtClean="0"/>
              <a:t>	</a:t>
            </a:r>
            <a:r>
              <a:rPr lang="en-US" sz="2600" dirty="0" smtClean="0"/>
              <a:t>When </a:t>
            </a:r>
            <a:r>
              <a:rPr lang="en-US" sz="2600" dirty="0" err="1">
                <a:latin typeface="Symbol" pitchFamily="18" charset="2"/>
              </a:rPr>
              <a:t>D</a:t>
            </a:r>
            <a:r>
              <a:rPr lang="en-US" sz="2600" i="1" dirty="0" err="1"/>
              <a:t>t</a:t>
            </a:r>
            <a:r>
              <a:rPr lang="en-US" sz="2600" dirty="0"/>
              <a:t> is small a solution to the </a:t>
            </a:r>
            <a:r>
              <a:rPr lang="en-US" sz="2600" dirty="0" smtClean="0"/>
              <a:t>equations is</a:t>
            </a:r>
            <a:endParaRPr lang="en-US" sz="2600" dirty="0"/>
          </a:p>
        </p:txBody>
      </p:sp>
      <p:sp>
        <p:nvSpPr>
          <p:cNvPr id="1229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charset="0"/>
              </a:defRPr>
            </a:lvl1pPr>
            <a:lvl2pPr marL="742950" indent="-285750" eaLnBrk="0" hangingPunct="0">
              <a:spcBef>
                <a:spcPct val="20000"/>
              </a:spcBef>
              <a:buSzPct val="75000"/>
              <a:buBlip>
                <a:blip r:embed="rId5"/>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endParaRPr>
          </a:p>
        </p:txBody>
      </p:sp>
      <p:sp>
        <p:nvSpPr>
          <p:cNvPr id="1229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charset="0"/>
              </a:defRPr>
            </a:lvl1pPr>
            <a:lvl2pPr marL="742950" indent="-285750" eaLnBrk="0" hangingPunct="0">
              <a:spcBef>
                <a:spcPct val="20000"/>
              </a:spcBef>
              <a:buSzPct val="75000"/>
              <a:buBlip>
                <a:blip r:embed="rId5"/>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9521599D-4390-4B21-89A5-ED307A327FD0}" type="slidenum">
              <a:rPr lang="en-US" altLang="en-US" sz="1400" smtClean="0">
                <a:latin typeface="Arial" charset="0"/>
              </a:rPr>
              <a:pPr eaLnBrk="1" hangingPunct="1">
                <a:spcBef>
                  <a:spcPct val="0"/>
                </a:spcBef>
                <a:buFontTx/>
                <a:buNone/>
              </a:pPr>
              <a:t>6</a:t>
            </a:fld>
            <a:endParaRPr lang="en-US" altLang="en-US" sz="1400" smtClean="0">
              <a:latin typeface="Arial" charset="0"/>
            </a:endParaRPr>
          </a:p>
        </p:txBody>
      </p:sp>
      <p:graphicFrame>
        <p:nvGraphicFramePr>
          <p:cNvPr id="12294" name="Object 4"/>
          <p:cNvGraphicFramePr>
            <a:graphicFrameLocks/>
          </p:cNvGraphicFramePr>
          <p:nvPr/>
        </p:nvGraphicFramePr>
        <p:xfrm>
          <a:off x="2362200" y="3124200"/>
          <a:ext cx="2662238" cy="2736850"/>
        </p:xfrm>
        <a:graphic>
          <a:graphicData uri="http://schemas.openxmlformats.org/presentationml/2006/ole">
            <mc:AlternateContent xmlns:mc="http://schemas.openxmlformats.org/markup-compatibility/2006">
              <mc:Choice xmlns:v="urn:schemas-microsoft-com:vml" Requires="v">
                <p:oleObj spid="_x0000_s12302" name="Equation" r:id="rId6" imgW="952500" imgH="1143000" progId="Equation.3">
                  <p:embed/>
                </p:oleObj>
              </mc:Choice>
              <mc:Fallback>
                <p:oleObj name="Equation" r:id="rId6" imgW="952500" imgH="1143000" progId="Equation.3">
                  <p:embed/>
                  <p:pic>
                    <p:nvPicPr>
                      <p:cNvPr id="0" name="Object 4"/>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62200" y="3124200"/>
                        <a:ext cx="2662238" cy="2736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a:xfrm>
            <a:off x="838200" y="533400"/>
            <a:ext cx="7467600" cy="1752600"/>
          </a:xfrm>
        </p:spPr>
        <p:txBody>
          <a:bodyPr lIns="92075" tIns="46038" rIns="92075" bIns="46038"/>
          <a:lstStyle/>
          <a:p>
            <a:pPr eaLnBrk="1" fontAlgn="auto" hangingPunct="1">
              <a:spcAft>
                <a:spcPts val="0"/>
              </a:spcAft>
              <a:defRPr/>
            </a:pPr>
            <a:r>
              <a:rPr lang="en-US" dirty="0">
                <a:solidFill>
                  <a:schemeClr val="tx2">
                    <a:satMod val="130000"/>
                  </a:schemeClr>
                </a:solidFill>
              </a:rPr>
              <a:t>The Complete Tree</a:t>
            </a:r>
            <a:br>
              <a:rPr lang="en-US" dirty="0">
                <a:solidFill>
                  <a:schemeClr val="tx2">
                    <a:satMod val="130000"/>
                  </a:schemeClr>
                </a:solidFill>
              </a:rPr>
            </a:br>
            <a:r>
              <a:rPr lang="en-US" sz="2200" dirty="0">
                <a:solidFill>
                  <a:schemeClr val="tx2">
                    <a:satMod val="130000"/>
                  </a:schemeClr>
                </a:solidFill>
              </a:rPr>
              <a:t>(Figure </a:t>
            </a:r>
            <a:r>
              <a:rPr lang="en-US" sz="2200" dirty="0" smtClean="0">
                <a:solidFill>
                  <a:schemeClr val="tx2">
                    <a:satMod val="130000"/>
                  </a:schemeClr>
                </a:solidFill>
              </a:rPr>
              <a:t>21.2)</a:t>
            </a:r>
            <a:endParaRPr lang="en-US" dirty="0">
              <a:solidFill>
                <a:schemeClr val="tx2">
                  <a:satMod val="130000"/>
                </a:schemeClr>
              </a:solidFill>
            </a:endParaRPr>
          </a:p>
        </p:txBody>
      </p:sp>
      <p:sp>
        <p:nvSpPr>
          <p:cNvPr id="1331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endParaRPr>
          </a:p>
        </p:txBody>
      </p:sp>
      <p:sp>
        <p:nvSpPr>
          <p:cNvPr id="1331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11692815-B3B4-4F48-8983-369230B18D6E}" type="slidenum">
              <a:rPr lang="en-US" altLang="en-US" sz="1400" smtClean="0">
                <a:latin typeface="Arial" charset="0"/>
              </a:rPr>
              <a:pPr eaLnBrk="1" hangingPunct="1">
                <a:spcBef>
                  <a:spcPct val="0"/>
                </a:spcBef>
                <a:buFontTx/>
                <a:buNone/>
              </a:pPr>
              <a:t>7</a:t>
            </a:fld>
            <a:endParaRPr lang="en-US" altLang="en-US" sz="1400" smtClean="0">
              <a:latin typeface="Arial" charset="0"/>
            </a:endParaRPr>
          </a:p>
        </p:txBody>
      </p:sp>
      <p:grpSp>
        <p:nvGrpSpPr>
          <p:cNvPr id="13317" name="Group 54"/>
          <p:cNvGrpSpPr>
            <a:grpSpLocks/>
          </p:cNvGrpSpPr>
          <p:nvPr/>
        </p:nvGrpSpPr>
        <p:grpSpPr bwMode="auto">
          <a:xfrm>
            <a:off x="1143000" y="1828800"/>
            <a:ext cx="6765925" cy="4286250"/>
            <a:chOff x="1219200" y="1828800"/>
            <a:chExt cx="6765925" cy="4286250"/>
          </a:xfrm>
        </p:grpSpPr>
        <p:sp>
          <p:nvSpPr>
            <p:cNvPr id="13319" name="Rectangle 5"/>
            <p:cNvSpPr>
              <a:spLocks noChangeArrowheads="1"/>
            </p:cNvSpPr>
            <p:nvPr/>
          </p:nvSpPr>
          <p:spPr bwMode="auto">
            <a:xfrm>
              <a:off x="6400800" y="1828800"/>
              <a:ext cx="1584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a:spcBef>
                  <a:spcPct val="0"/>
                </a:spcBef>
                <a:buFontTx/>
                <a:buNone/>
              </a:pPr>
              <a:r>
                <a:rPr lang="en-US" altLang="en-US" sz="2000" i="1">
                  <a:latin typeface="Times New Roman" pitchFamily="18" charset="0"/>
                </a:rPr>
                <a:t>S</a:t>
              </a:r>
              <a:r>
                <a:rPr lang="en-US" altLang="en-US" sz="2000" baseline="-25000">
                  <a:latin typeface="Times New Roman" pitchFamily="18" charset="0"/>
                </a:rPr>
                <a:t>0</a:t>
              </a:r>
              <a:r>
                <a:rPr lang="en-US" altLang="en-US" sz="2000" i="1">
                  <a:latin typeface="Times New Roman" pitchFamily="18" charset="0"/>
                </a:rPr>
                <a:t>u</a:t>
              </a:r>
              <a:r>
                <a:rPr lang="en-US" altLang="en-US" sz="2000" i="1" baseline="30000">
                  <a:latin typeface="Arial" charset="0"/>
                </a:rPr>
                <a:t>4</a:t>
              </a:r>
              <a:r>
                <a:rPr lang="en-US" altLang="en-US" sz="2000" i="1">
                  <a:latin typeface="Arial" charset="0"/>
                </a:rPr>
                <a:t> </a:t>
              </a:r>
            </a:p>
          </p:txBody>
        </p:sp>
        <p:grpSp>
          <p:nvGrpSpPr>
            <p:cNvPr id="13320" name="Group 53"/>
            <p:cNvGrpSpPr>
              <a:grpSpLocks/>
            </p:cNvGrpSpPr>
            <p:nvPr/>
          </p:nvGrpSpPr>
          <p:grpSpPr bwMode="auto">
            <a:xfrm>
              <a:off x="1219200" y="2133600"/>
              <a:ext cx="6626225" cy="3981450"/>
              <a:chOff x="1219200" y="2133600"/>
              <a:chExt cx="6626225" cy="3981450"/>
            </a:xfrm>
          </p:grpSpPr>
          <p:sp>
            <p:nvSpPr>
              <p:cNvPr id="13321" name="Rectangle 4"/>
              <p:cNvSpPr>
                <a:spLocks noChangeArrowheads="1"/>
              </p:cNvSpPr>
              <p:nvPr/>
            </p:nvSpPr>
            <p:spPr bwMode="auto">
              <a:xfrm>
                <a:off x="6400800" y="2819400"/>
                <a:ext cx="12239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a:spcBef>
                    <a:spcPct val="0"/>
                  </a:spcBef>
                  <a:buFontTx/>
                  <a:buNone/>
                </a:pPr>
                <a:r>
                  <a:rPr lang="en-US" altLang="en-US" sz="2000" i="1">
                    <a:latin typeface="Times New Roman" pitchFamily="18" charset="0"/>
                  </a:rPr>
                  <a:t>S</a:t>
                </a:r>
                <a:r>
                  <a:rPr lang="en-US" altLang="en-US" sz="2000" baseline="-25000">
                    <a:latin typeface="Times New Roman" pitchFamily="18" charset="0"/>
                  </a:rPr>
                  <a:t>0</a:t>
                </a:r>
                <a:r>
                  <a:rPr lang="en-US" altLang="en-US" sz="2000" i="1">
                    <a:latin typeface="Times New Roman" pitchFamily="18" charset="0"/>
                  </a:rPr>
                  <a:t>u</a:t>
                </a:r>
                <a:r>
                  <a:rPr lang="en-US" altLang="en-US" sz="2000" i="1" baseline="30000">
                    <a:latin typeface="Arial" charset="0"/>
                  </a:rPr>
                  <a:t>2</a:t>
                </a:r>
                <a:r>
                  <a:rPr lang="en-US" altLang="en-US" sz="2000" i="1">
                    <a:latin typeface="Arial" charset="0"/>
                  </a:rPr>
                  <a:t> </a:t>
                </a:r>
              </a:p>
            </p:txBody>
          </p:sp>
          <p:sp>
            <p:nvSpPr>
              <p:cNvPr id="13322" name="Rectangle 6"/>
              <p:cNvSpPr>
                <a:spLocks noChangeArrowheads="1"/>
              </p:cNvSpPr>
              <p:nvPr/>
            </p:nvSpPr>
            <p:spPr bwMode="auto">
              <a:xfrm>
                <a:off x="6400800" y="4724400"/>
                <a:ext cx="7572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a:spcBef>
                    <a:spcPct val="0"/>
                  </a:spcBef>
                  <a:buFontTx/>
                  <a:buNone/>
                </a:pPr>
                <a:r>
                  <a:rPr lang="en-US" altLang="en-US" sz="2000" i="1">
                    <a:latin typeface="Times New Roman" pitchFamily="18" charset="0"/>
                  </a:rPr>
                  <a:t>S</a:t>
                </a:r>
                <a:r>
                  <a:rPr lang="en-US" altLang="en-US" sz="2000" baseline="-25000">
                    <a:latin typeface="Times New Roman" pitchFamily="18" charset="0"/>
                  </a:rPr>
                  <a:t>0</a:t>
                </a:r>
                <a:r>
                  <a:rPr lang="en-US" altLang="en-US" sz="2000" i="1">
                    <a:latin typeface="Times New Roman" pitchFamily="18" charset="0"/>
                  </a:rPr>
                  <a:t>d</a:t>
                </a:r>
                <a:r>
                  <a:rPr lang="en-US" altLang="en-US" sz="2000" i="1" baseline="30000">
                    <a:latin typeface="Arial" charset="0"/>
                  </a:rPr>
                  <a:t>2</a:t>
                </a:r>
                <a:r>
                  <a:rPr lang="en-US" altLang="en-US" sz="2000" i="1">
                    <a:latin typeface="Arial" charset="0"/>
                  </a:rPr>
                  <a:t> </a:t>
                </a:r>
              </a:p>
            </p:txBody>
          </p:sp>
          <p:sp>
            <p:nvSpPr>
              <p:cNvPr id="13323" name="Rectangle 7"/>
              <p:cNvSpPr>
                <a:spLocks noChangeArrowheads="1"/>
              </p:cNvSpPr>
              <p:nvPr/>
            </p:nvSpPr>
            <p:spPr bwMode="auto">
              <a:xfrm>
                <a:off x="6477000" y="5715000"/>
                <a:ext cx="13684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a:spcBef>
                    <a:spcPct val="0"/>
                  </a:spcBef>
                  <a:buFontTx/>
                  <a:buNone/>
                </a:pPr>
                <a:r>
                  <a:rPr lang="en-US" altLang="en-US" sz="2000" i="1">
                    <a:latin typeface="Times New Roman" pitchFamily="18" charset="0"/>
                  </a:rPr>
                  <a:t>S</a:t>
                </a:r>
                <a:r>
                  <a:rPr lang="en-US" altLang="en-US" sz="2000" baseline="-25000">
                    <a:latin typeface="Times New Roman" pitchFamily="18" charset="0"/>
                  </a:rPr>
                  <a:t>0</a:t>
                </a:r>
                <a:r>
                  <a:rPr lang="en-US" altLang="en-US" sz="2000" i="1">
                    <a:latin typeface="Times New Roman" pitchFamily="18" charset="0"/>
                  </a:rPr>
                  <a:t>d</a:t>
                </a:r>
                <a:r>
                  <a:rPr lang="en-US" altLang="en-US" sz="2000" i="1" baseline="30000">
                    <a:latin typeface="Arial" charset="0"/>
                  </a:rPr>
                  <a:t>4</a:t>
                </a:r>
                <a:r>
                  <a:rPr lang="en-US" altLang="en-US" sz="2000" i="1">
                    <a:latin typeface="Arial" charset="0"/>
                  </a:rPr>
                  <a:t> </a:t>
                </a:r>
              </a:p>
            </p:txBody>
          </p:sp>
          <p:grpSp>
            <p:nvGrpSpPr>
              <p:cNvPr id="13324" name="Group 8"/>
              <p:cNvGrpSpPr>
                <a:grpSpLocks/>
              </p:cNvGrpSpPr>
              <p:nvPr/>
            </p:nvGrpSpPr>
            <p:grpSpPr bwMode="auto">
              <a:xfrm>
                <a:off x="1219200" y="2133600"/>
                <a:ext cx="5686425" cy="3827462"/>
                <a:chOff x="399" y="1143"/>
                <a:chExt cx="4918" cy="2617"/>
              </a:xfrm>
            </p:grpSpPr>
            <p:grpSp>
              <p:nvGrpSpPr>
                <p:cNvPr id="13325" name="Group 9"/>
                <p:cNvGrpSpPr>
                  <a:grpSpLocks/>
                </p:cNvGrpSpPr>
                <p:nvPr/>
              </p:nvGrpSpPr>
              <p:grpSpPr bwMode="auto">
                <a:xfrm>
                  <a:off x="697" y="1143"/>
                  <a:ext cx="4176" cy="2617"/>
                  <a:chOff x="697" y="1143"/>
                  <a:chExt cx="4176" cy="2617"/>
                </a:xfrm>
              </p:grpSpPr>
              <p:grpSp>
                <p:nvGrpSpPr>
                  <p:cNvPr id="13337" name="Group 10"/>
                  <p:cNvGrpSpPr>
                    <a:grpSpLocks/>
                  </p:cNvGrpSpPr>
                  <p:nvPr/>
                </p:nvGrpSpPr>
                <p:grpSpPr bwMode="auto">
                  <a:xfrm>
                    <a:off x="697" y="2124"/>
                    <a:ext cx="1044" cy="655"/>
                    <a:chOff x="697" y="2124"/>
                    <a:chExt cx="1044" cy="655"/>
                  </a:xfrm>
                </p:grpSpPr>
                <p:sp>
                  <p:nvSpPr>
                    <p:cNvPr id="13365" name="Line 11"/>
                    <p:cNvSpPr>
                      <a:spLocks noChangeShapeType="1"/>
                    </p:cNvSpPr>
                    <p:nvPr/>
                  </p:nvSpPr>
                  <p:spPr bwMode="auto">
                    <a:xfrm flipV="1">
                      <a:off x="697" y="2124"/>
                      <a:ext cx="1044" cy="327"/>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3366" name="Line 12"/>
                    <p:cNvSpPr>
                      <a:spLocks noChangeShapeType="1"/>
                    </p:cNvSpPr>
                    <p:nvPr/>
                  </p:nvSpPr>
                  <p:spPr bwMode="auto">
                    <a:xfrm>
                      <a:off x="697" y="2451"/>
                      <a:ext cx="1044" cy="32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3338" name="Group 13"/>
                  <p:cNvGrpSpPr>
                    <a:grpSpLocks/>
                  </p:cNvGrpSpPr>
                  <p:nvPr/>
                </p:nvGrpSpPr>
                <p:grpSpPr bwMode="auto">
                  <a:xfrm>
                    <a:off x="1741" y="1797"/>
                    <a:ext cx="1044" cy="654"/>
                    <a:chOff x="1741" y="1797"/>
                    <a:chExt cx="1044" cy="654"/>
                  </a:xfrm>
                </p:grpSpPr>
                <p:sp>
                  <p:nvSpPr>
                    <p:cNvPr id="13363" name="Line 14"/>
                    <p:cNvSpPr>
                      <a:spLocks noChangeShapeType="1"/>
                    </p:cNvSpPr>
                    <p:nvPr/>
                  </p:nvSpPr>
                  <p:spPr bwMode="auto">
                    <a:xfrm flipV="1">
                      <a:off x="1741" y="1797"/>
                      <a:ext cx="1044" cy="327"/>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3364" name="Line 15"/>
                    <p:cNvSpPr>
                      <a:spLocks noChangeShapeType="1"/>
                    </p:cNvSpPr>
                    <p:nvPr/>
                  </p:nvSpPr>
                  <p:spPr bwMode="auto">
                    <a:xfrm>
                      <a:off x="1741" y="2124"/>
                      <a:ext cx="1044" cy="327"/>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3339" name="Group 16"/>
                  <p:cNvGrpSpPr>
                    <a:grpSpLocks/>
                  </p:cNvGrpSpPr>
                  <p:nvPr/>
                </p:nvGrpSpPr>
                <p:grpSpPr bwMode="auto">
                  <a:xfrm>
                    <a:off x="1741" y="2451"/>
                    <a:ext cx="1044" cy="655"/>
                    <a:chOff x="1741" y="2451"/>
                    <a:chExt cx="1044" cy="655"/>
                  </a:xfrm>
                </p:grpSpPr>
                <p:sp>
                  <p:nvSpPr>
                    <p:cNvPr id="13361" name="Line 17"/>
                    <p:cNvSpPr>
                      <a:spLocks noChangeShapeType="1"/>
                    </p:cNvSpPr>
                    <p:nvPr/>
                  </p:nvSpPr>
                  <p:spPr bwMode="auto">
                    <a:xfrm flipV="1">
                      <a:off x="1741" y="2451"/>
                      <a:ext cx="1044" cy="32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3362" name="Line 18"/>
                    <p:cNvSpPr>
                      <a:spLocks noChangeShapeType="1"/>
                    </p:cNvSpPr>
                    <p:nvPr/>
                  </p:nvSpPr>
                  <p:spPr bwMode="auto">
                    <a:xfrm>
                      <a:off x="1741" y="2779"/>
                      <a:ext cx="1044" cy="327"/>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3340" name="Group 19"/>
                  <p:cNvGrpSpPr>
                    <a:grpSpLocks/>
                  </p:cNvGrpSpPr>
                  <p:nvPr/>
                </p:nvGrpSpPr>
                <p:grpSpPr bwMode="auto">
                  <a:xfrm>
                    <a:off x="2785" y="1470"/>
                    <a:ext cx="1044" cy="654"/>
                    <a:chOff x="2785" y="1470"/>
                    <a:chExt cx="1044" cy="654"/>
                  </a:xfrm>
                </p:grpSpPr>
                <p:sp>
                  <p:nvSpPr>
                    <p:cNvPr id="13359" name="Line 20"/>
                    <p:cNvSpPr>
                      <a:spLocks noChangeShapeType="1"/>
                    </p:cNvSpPr>
                    <p:nvPr/>
                  </p:nvSpPr>
                  <p:spPr bwMode="auto">
                    <a:xfrm flipV="1">
                      <a:off x="2785" y="1470"/>
                      <a:ext cx="1044" cy="327"/>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3360" name="Line 21"/>
                    <p:cNvSpPr>
                      <a:spLocks noChangeShapeType="1"/>
                    </p:cNvSpPr>
                    <p:nvPr/>
                  </p:nvSpPr>
                  <p:spPr bwMode="auto">
                    <a:xfrm>
                      <a:off x="2785" y="1797"/>
                      <a:ext cx="1044" cy="327"/>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3341" name="Group 22"/>
                  <p:cNvGrpSpPr>
                    <a:grpSpLocks/>
                  </p:cNvGrpSpPr>
                  <p:nvPr/>
                </p:nvGrpSpPr>
                <p:grpSpPr bwMode="auto">
                  <a:xfrm>
                    <a:off x="2785" y="2124"/>
                    <a:ext cx="1044" cy="655"/>
                    <a:chOff x="2785" y="2124"/>
                    <a:chExt cx="1044" cy="655"/>
                  </a:xfrm>
                </p:grpSpPr>
                <p:sp>
                  <p:nvSpPr>
                    <p:cNvPr id="13357" name="Line 23"/>
                    <p:cNvSpPr>
                      <a:spLocks noChangeShapeType="1"/>
                    </p:cNvSpPr>
                    <p:nvPr/>
                  </p:nvSpPr>
                  <p:spPr bwMode="auto">
                    <a:xfrm flipV="1">
                      <a:off x="2785" y="2124"/>
                      <a:ext cx="1044" cy="327"/>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3358" name="Line 24"/>
                    <p:cNvSpPr>
                      <a:spLocks noChangeShapeType="1"/>
                    </p:cNvSpPr>
                    <p:nvPr/>
                  </p:nvSpPr>
                  <p:spPr bwMode="auto">
                    <a:xfrm>
                      <a:off x="2785" y="2451"/>
                      <a:ext cx="1044" cy="32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3342" name="Group 25"/>
                  <p:cNvGrpSpPr>
                    <a:grpSpLocks/>
                  </p:cNvGrpSpPr>
                  <p:nvPr/>
                </p:nvGrpSpPr>
                <p:grpSpPr bwMode="auto">
                  <a:xfrm>
                    <a:off x="2785" y="2779"/>
                    <a:ext cx="1044" cy="654"/>
                    <a:chOff x="2785" y="2779"/>
                    <a:chExt cx="1044" cy="654"/>
                  </a:xfrm>
                </p:grpSpPr>
                <p:sp>
                  <p:nvSpPr>
                    <p:cNvPr id="13355" name="Line 26"/>
                    <p:cNvSpPr>
                      <a:spLocks noChangeShapeType="1"/>
                    </p:cNvSpPr>
                    <p:nvPr/>
                  </p:nvSpPr>
                  <p:spPr bwMode="auto">
                    <a:xfrm flipV="1">
                      <a:off x="2785" y="2779"/>
                      <a:ext cx="1044" cy="327"/>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3356" name="Line 27"/>
                    <p:cNvSpPr>
                      <a:spLocks noChangeShapeType="1"/>
                    </p:cNvSpPr>
                    <p:nvPr/>
                  </p:nvSpPr>
                  <p:spPr bwMode="auto">
                    <a:xfrm>
                      <a:off x="2785" y="3106"/>
                      <a:ext cx="1044" cy="327"/>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3343" name="Group 28"/>
                  <p:cNvGrpSpPr>
                    <a:grpSpLocks/>
                  </p:cNvGrpSpPr>
                  <p:nvPr/>
                </p:nvGrpSpPr>
                <p:grpSpPr bwMode="auto">
                  <a:xfrm>
                    <a:off x="3829" y="3106"/>
                    <a:ext cx="1044" cy="654"/>
                    <a:chOff x="3829" y="3106"/>
                    <a:chExt cx="1044" cy="654"/>
                  </a:xfrm>
                </p:grpSpPr>
                <p:sp>
                  <p:nvSpPr>
                    <p:cNvPr id="13353" name="Line 29"/>
                    <p:cNvSpPr>
                      <a:spLocks noChangeShapeType="1"/>
                    </p:cNvSpPr>
                    <p:nvPr/>
                  </p:nvSpPr>
                  <p:spPr bwMode="auto">
                    <a:xfrm flipV="1">
                      <a:off x="3829" y="3106"/>
                      <a:ext cx="1044" cy="327"/>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3354" name="Line 30"/>
                    <p:cNvSpPr>
                      <a:spLocks noChangeShapeType="1"/>
                    </p:cNvSpPr>
                    <p:nvPr/>
                  </p:nvSpPr>
                  <p:spPr bwMode="auto">
                    <a:xfrm>
                      <a:off x="3829" y="3433"/>
                      <a:ext cx="1044" cy="327"/>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3344" name="Group 31"/>
                  <p:cNvGrpSpPr>
                    <a:grpSpLocks/>
                  </p:cNvGrpSpPr>
                  <p:nvPr/>
                </p:nvGrpSpPr>
                <p:grpSpPr bwMode="auto">
                  <a:xfrm>
                    <a:off x="3829" y="2451"/>
                    <a:ext cx="1044" cy="655"/>
                    <a:chOff x="3829" y="2451"/>
                    <a:chExt cx="1044" cy="655"/>
                  </a:xfrm>
                </p:grpSpPr>
                <p:sp>
                  <p:nvSpPr>
                    <p:cNvPr id="13351" name="Line 32"/>
                    <p:cNvSpPr>
                      <a:spLocks noChangeShapeType="1"/>
                    </p:cNvSpPr>
                    <p:nvPr/>
                  </p:nvSpPr>
                  <p:spPr bwMode="auto">
                    <a:xfrm flipV="1">
                      <a:off x="3829" y="2451"/>
                      <a:ext cx="1044" cy="32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3352" name="Line 33"/>
                    <p:cNvSpPr>
                      <a:spLocks noChangeShapeType="1"/>
                    </p:cNvSpPr>
                    <p:nvPr/>
                  </p:nvSpPr>
                  <p:spPr bwMode="auto">
                    <a:xfrm>
                      <a:off x="3829" y="2779"/>
                      <a:ext cx="1044" cy="327"/>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3345" name="Group 34"/>
                  <p:cNvGrpSpPr>
                    <a:grpSpLocks/>
                  </p:cNvGrpSpPr>
                  <p:nvPr/>
                </p:nvGrpSpPr>
                <p:grpSpPr bwMode="auto">
                  <a:xfrm>
                    <a:off x="3829" y="1797"/>
                    <a:ext cx="1044" cy="654"/>
                    <a:chOff x="3829" y="1797"/>
                    <a:chExt cx="1044" cy="654"/>
                  </a:xfrm>
                </p:grpSpPr>
                <p:sp>
                  <p:nvSpPr>
                    <p:cNvPr id="13349" name="Line 35"/>
                    <p:cNvSpPr>
                      <a:spLocks noChangeShapeType="1"/>
                    </p:cNvSpPr>
                    <p:nvPr/>
                  </p:nvSpPr>
                  <p:spPr bwMode="auto">
                    <a:xfrm flipV="1">
                      <a:off x="3829" y="1797"/>
                      <a:ext cx="1044" cy="327"/>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3350" name="Line 36"/>
                    <p:cNvSpPr>
                      <a:spLocks noChangeShapeType="1"/>
                    </p:cNvSpPr>
                    <p:nvPr/>
                  </p:nvSpPr>
                  <p:spPr bwMode="auto">
                    <a:xfrm>
                      <a:off x="3829" y="2124"/>
                      <a:ext cx="1044" cy="327"/>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nvGrpSpPr>
                  <p:cNvPr id="13346" name="Group 37"/>
                  <p:cNvGrpSpPr>
                    <a:grpSpLocks/>
                  </p:cNvGrpSpPr>
                  <p:nvPr/>
                </p:nvGrpSpPr>
                <p:grpSpPr bwMode="auto">
                  <a:xfrm>
                    <a:off x="3829" y="1143"/>
                    <a:ext cx="1044" cy="654"/>
                    <a:chOff x="3829" y="1143"/>
                    <a:chExt cx="1044" cy="654"/>
                  </a:xfrm>
                </p:grpSpPr>
                <p:sp>
                  <p:nvSpPr>
                    <p:cNvPr id="13347" name="Line 38"/>
                    <p:cNvSpPr>
                      <a:spLocks noChangeShapeType="1"/>
                    </p:cNvSpPr>
                    <p:nvPr/>
                  </p:nvSpPr>
                  <p:spPr bwMode="auto">
                    <a:xfrm flipV="1">
                      <a:off x="3829" y="1143"/>
                      <a:ext cx="1044" cy="327"/>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13348" name="Line 39"/>
                    <p:cNvSpPr>
                      <a:spLocks noChangeShapeType="1"/>
                    </p:cNvSpPr>
                    <p:nvPr/>
                  </p:nvSpPr>
                  <p:spPr bwMode="auto">
                    <a:xfrm>
                      <a:off x="3829" y="1470"/>
                      <a:ext cx="1044" cy="327"/>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grpSp>
            </p:grpSp>
            <p:sp>
              <p:nvSpPr>
                <p:cNvPr id="13326" name="Rectangle 40"/>
                <p:cNvSpPr>
                  <a:spLocks noChangeArrowheads="1"/>
                </p:cNvSpPr>
                <p:nvPr/>
              </p:nvSpPr>
              <p:spPr bwMode="auto">
                <a:xfrm>
                  <a:off x="399" y="2277"/>
                  <a:ext cx="406"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a:spcBef>
                      <a:spcPct val="0"/>
                    </a:spcBef>
                    <a:buFontTx/>
                    <a:buNone/>
                  </a:pPr>
                  <a:r>
                    <a:rPr lang="en-US" altLang="en-US" sz="2000" i="1">
                      <a:latin typeface="Times New Roman" pitchFamily="18" charset="0"/>
                    </a:rPr>
                    <a:t>S</a:t>
                  </a:r>
                  <a:r>
                    <a:rPr lang="en-US" altLang="en-US" sz="2000" baseline="-25000">
                      <a:latin typeface="Times New Roman" pitchFamily="18" charset="0"/>
                    </a:rPr>
                    <a:t>0</a:t>
                  </a:r>
                  <a:r>
                    <a:rPr lang="en-US" altLang="en-US" sz="2000" i="1">
                      <a:latin typeface="Arial" charset="0"/>
                    </a:rPr>
                    <a:t> </a:t>
                  </a:r>
                </a:p>
              </p:txBody>
            </p:sp>
            <p:sp>
              <p:nvSpPr>
                <p:cNvPr id="13327" name="Rectangle 41"/>
                <p:cNvSpPr>
                  <a:spLocks noChangeArrowheads="1"/>
                </p:cNvSpPr>
                <p:nvPr/>
              </p:nvSpPr>
              <p:spPr bwMode="auto">
                <a:xfrm>
                  <a:off x="1599" y="1832"/>
                  <a:ext cx="517"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a:spcBef>
                      <a:spcPct val="0"/>
                    </a:spcBef>
                    <a:buFontTx/>
                    <a:buNone/>
                  </a:pPr>
                  <a:r>
                    <a:rPr lang="en-US" altLang="en-US" sz="2000" i="1">
                      <a:latin typeface="Times New Roman" pitchFamily="18" charset="0"/>
                    </a:rPr>
                    <a:t>S</a:t>
                  </a:r>
                  <a:r>
                    <a:rPr lang="en-US" altLang="en-US" sz="2000" baseline="-25000">
                      <a:latin typeface="Times New Roman" pitchFamily="18" charset="0"/>
                    </a:rPr>
                    <a:t>0</a:t>
                  </a:r>
                  <a:r>
                    <a:rPr lang="en-US" altLang="en-US" sz="2000" i="1">
                      <a:latin typeface="Times New Roman" pitchFamily="18" charset="0"/>
                    </a:rPr>
                    <a:t>u</a:t>
                  </a:r>
                  <a:r>
                    <a:rPr lang="en-US" altLang="en-US" sz="2000" i="1">
                      <a:latin typeface="Arial" charset="0"/>
                    </a:rPr>
                    <a:t> </a:t>
                  </a:r>
                </a:p>
              </p:txBody>
            </p:sp>
            <p:sp>
              <p:nvSpPr>
                <p:cNvPr id="13328" name="Rectangle 42"/>
                <p:cNvSpPr>
                  <a:spLocks noChangeArrowheads="1"/>
                </p:cNvSpPr>
                <p:nvPr/>
              </p:nvSpPr>
              <p:spPr bwMode="auto">
                <a:xfrm>
                  <a:off x="1551" y="2457"/>
                  <a:ext cx="512"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a:spcBef>
                      <a:spcPct val="0"/>
                    </a:spcBef>
                    <a:buFontTx/>
                    <a:buNone/>
                  </a:pPr>
                  <a:r>
                    <a:rPr lang="en-US" altLang="en-US" sz="2000" i="1">
                      <a:latin typeface="Times New Roman" pitchFamily="18" charset="0"/>
                    </a:rPr>
                    <a:t>S</a:t>
                  </a:r>
                  <a:r>
                    <a:rPr lang="en-US" altLang="en-US" sz="2000" baseline="-25000">
                      <a:latin typeface="Times New Roman" pitchFamily="18" charset="0"/>
                    </a:rPr>
                    <a:t>0</a:t>
                  </a:r>
                  <a:r>
                    <a:rPr lang="en-US" altLang="en-US" sz="2000" i="1">
                      <a:latin typeface="Times New Roman" pitchFamily="18" charset="0"/>
                    </a:rPr>
                    <a:t>d </a:t>
                  </a:r>
                </a:p>
              </p:txBody>
            </p:sp>
            <p:sp>
              <p:nvSpPr>
                <p:cNvPr id="13329" name="Rectangle 43"/>
                <p:cNvSpPr>
                  <a:spLocks noChangeArrowheads="1"/>
                </p:cNvSpPr>
                <p:nvPr/>
              </p:nvSpPr>
              <p:spPr bwMode="auto">
                <a:xfrm>
                  <a:off x="2634" y="2110"/>
                  <a:ext cx="406"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a:spcBef>
                      <a:spcPct val="0"/>
                    </a:spcBef>
                    <a:buFontTx/>
                    <a:buNone/>
                  </a:pPr>
                  <a:r>
                    <a:rPr lang="en-US" altLang="en-US" sz="2000" i="1">
                      <a:latin typeface="Times New Roman" pitchFamily="18" charset="0"/>
                    </a:rPr>
                    <a:t>S</a:t>
                  </a:r>
                  <a:r>
                    <a:rPr lang="en-US" altLang="en-US" sz="2000" baseline="-25000">
                      <a:latin typeface="Times New Roman" pitchFamily="18" charset="0"/>
                    </a:rPr>
                    <a:t>0</a:t>
                  </a:r>
                  <a:r>
                    <a:rPr lang="en-US" altLang="en-US" sz="2000" i="1">
                      <a:latin typeface="Arial" charset="0"/>
                    </a:rPr>
                    <a:t> </a:t>
                  </a:r>
                </a:p>
              </p:txBody>
            </p:sp>
            <p:sp>
              <p:nvSpPr>
                <p:cNvPr id="13330" name="Rectangle 44"/>
                <p:cNvSpPr>
                  <a:spLocks noChangeArrowheads="1"/>
                </p:cNvSpPr>
                <p:nvPr/>
              </p:nvSpPr>
              <p:spPr bwMode="auto">
                <a:xfrm>
                  <a:off x="4911" y="2277"/>
                  <a:ext cx="406"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a:spcBef>
                      <a:spcPct val="0"/>
                    </a:spcBef>
                    <a:buFontTx/>
                    <a:buNone/>
                  </a:pPr>
                  <a:r>
                    <a:rPr lang="en-US" altLang="en-US" sz="2000" i="1">
                      <a:latin typeface="Times New Roman" pitchFamily="18" charset="0"/>
                    </a:rPr>
                    <a:t>S</a:t>
                  </a:r>
                  <a:r>
                    <a:rPr lang="en-US" altLang="en-US" sz="2000" baseline="-25000">
                      <a:latin typeface="Times New Roman" pitchFamily="18" charset="0"/>
                    </a:rPr>
                    <a:t>0</a:t>
                  </a:r>
                  <a:r>
                    <a:rPr lang="en-US" altLang="en-US" sz="2000" i="1">
                      <a:latin typeface="Arial" charset="0"/>
                    </a:rPr>
                    <a:t> </a:t>
                  </a:r>
                </a:p>
              </p:txBody>
            </p:sp>
            <p:sp>
              <p:nvSpPr>
                <p:cNvPr id="13331" name="Rectangle 45"/>
                <p:cNvSpPr>
                  <a:spLocks noChangeArrowheads="1"/>
                </p:cNvSpPr>
                <p:nvPr/>
              </p:nvSpPr>
              <p:spPr bwMode="auto">
                <a:xfrm>
                  <a:off x="2536" y="1467"/>
                  <a:ext cx="660"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a:spcBef>
                      <a:spcPct val="0"/>
                    </a:spcBef>
                    <a:buFontTx/>
                    <a:buNone/>
                  </a:pPr>
                  <a:r>
                    <a:rPr lang="en-US" altLang="en-US" sz="2000" i="1">
                      <a:latin typeface="Times New Roman" pitchFamily="18" charset="0"/>
                    </a:rPr>
                    <a:t>S</a:t>
                  </a:r>
                  <a:r>
                    <a:rPr lang="en-US" altLang="en-US" sz="2000" baseline="-25000">
                      <a:latin typeface="Times New Roman" pitchFamily="18" charset="0"/>
                    </a:rPr>
                    <a:t>0</a:t>
                  </a:r>
                  <a:r>
                    <a:rPr lang="en-US" altLang="en-US" sz="2000" i="1">
                      <a:latin typeface="Times New Roman" pitchFamily="18" charset="0"/>
                    </a:rPr>
                    <a:t>u</a:t>
                  </a:r>
                  <a:r>
                    <a:rPr lang="en-US" altLang="en-US" sz="2000" i="1" baseline="30000">
                      <a:latin typeface="Arial" charset="0"/>
                    </a:rPr>
                    <a:t>2</a:t>
                  </a:r>
                  <a:r>
                    <a:rPr lang="en-US" altLang="en-US" sz="2000" i="1">
                      <a:latin typeface="Arial" charset="0"/>
                    </a:rPr>
                    <a:t> </a:t>
                  </a:r>
                </a:p>
              </p:txBody>
            </p:sp>
            <p:sp>
              <p:nvSpPr>
                <p:cNvPr id="13332" name="Rectangle 46"/>
                <p:cNvSpPr>
                  <a:spLocks noChangeArrowheads="1"/>
                </p:cNvSpPr>
                <p:nvPr/>
              </p:nvSpPr>
              <p:spPr bwMode="auto">
                <a:xfrm>
                  <a:off x="2582" y="2822"/>
                  <a:ext cx="660"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a:spcBef>
                      <a:spcPct val="0"/>
                    </a:spcBef>
                    <a:buFontTx/>
                    <a:buNone/>
                  </a:pPr>
                  <a:r>
                    <a:rPr lang="en-US" altLang="en-US" sz="2000" i="1">
                      <a:latin typeface="Times New Roman" pitchFamily="18" charset="0"/>
                    </a:rPr>
                    <a:t>S</a:t>
                  </a:r>
                  <a:r>
                    <a:rPr lang="en-US" altLang="en-US" sz="2000" baseline="-25000">
                      <a:latin typeface="Times New Roman" pitchFamily="18" charset="0"/>
                    </a:rPr>
                    <a:t>0</a:t>
                  </a:r>
                  <a:r>
                    <a:rPr lang="en-US" altLang="en-US" sz="2000" i="1">
                      <a:latin typeface="Times New Roman" pitchFamily="18" charset="0"/>
                    </a:rPr>
                    <a:t>d</a:t>
                  </a:r>
                  <a:r>
                    <a:rPr lang="en-US" altLang="en-US" sz="2000" i="1" baseline="30000">
                      <a:latin typeface="Arial" charset="0"/>
                    </a:rPr>
                    <a:t>2</a:t>
                  </a:r>
                  <a:r>
                    <a:rPr lang="en-US" altLang="en-US" sz="2000" i="1">
                      <a:latin typeface="Arial" charset="0"/>
                    </a:rPr>
                    <a:t> </a:t>
                  </a:r>
                </a:p>
              </p:txBody>
            </p:sp>
            <p:sp>
              <p:nvSpPr>
                <p:cNvPr id="13333" name="Rectangle 47"/>
                <p:cNvSpPr>
                  <a:spLocks noChangeArrowheads="1"/>
                </p:cNvSpPr>
                <p:nvPr/>
              </p:nvSpPr>
              <p:spPr bwMode="auto">
                <a:xfrm>
                  <a:off x="3592" y="1207"/>
                  <a:ext cx="660"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a:spcBef>
                      <a:spcPct val="0"/>
                    </a:spcBef>
                    <a:buFontTx/>
                    <a:buNone/>
                  </a:pPr>
                  <a:r>
                    <a:rPr lang="en-US" altLang="en-US" sz="2000" i="1">
                      <a:latin typeface="Times New Roman" pitchFamily="18" charset="0"/>
                    </a:rPr>
                    <a:t>S</a:t>
                  </a:r>
                  <a:r>
                    <a:rPr lang="en-US" altLang="en-US" sz="2000" baseline="-25000">
                      <a:latin typeface="Times New Roman" pitchFamily="18" charset="0"/>
                    </a:rPr>
                    <a:t>0</a:t>
                  </a:r>
                  <a:r>
                    <a:rPr lang="en-US" altLang="en-US" sz="2000" i="1">
                      <a:latin typeface="Times New Roman" pitchFamily="18" charset="0"/>
                    </a:rPr>
                    <a:t>u</a:t>
                  </a:r>
                  <a:r>
                    <a:rPr lang="en-US" altLang="en-US" sz="2000" i="1" baseline="30000">
                      <a:latin typeface="Arial" charset="0"/>
                    </a:rPr>
                    <a:t>3</a:t>
                  </a:r>
                  <a:r>
                    <a:rPr lang="en-US" altLang="en-US" sz="2000" i="1">
                      <a:latin typeface="Arial" charset="0"/>
                    </a:rPr>
                    <a:t> </a:t>
                  </a:r>
                </a:p>
              </p:txBody>
            </p:sp>
            <p:sp>
              <p:nvSpPr>
                <p:cNvPr id="13334" name="Rectangle 48"/>
                <p:cNvSpPr>
                  <a:spLocks noChangeArrowheads="1"/>
                </p:cNvSpPr>
                <p:nvPr/>
              </p:nvSpPr>
              <p:spPr bwMode="auto">
                <a:xfrm>
                  <a:off x="3628" y="1832"/>
                  <a:ext cx="461"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a:spcBef>
                      <a:spcPct val="0"/>
                    </a:spcBef>
                    <a:buFontTx/>
                    <a:buNone/>
                  </a:pPr>
                  <a:r>
                    <a:rPr lang="en-US" altLang="en-US" sz="2000" i="1">
                      <a:latin typeface="Times New Roman" pitchFamily="18" charset="0"/>
                    </a:rPr>
                    <a:t>S</a:t>
                  </a:r>
                  <a:r>
                    <a:rPr lang="en-US" altLang="en-US" sz="2000" baseline="-25000">
                      <a:latin typeface="Times New Roman" pitchFamily="18" charset="0"/>
                    </a:rPr>
                    <a:t>0</a:t>
                  </a:r>
                  <a:r>
                    <a:rPr lang="en-US" altLang="en-US" sz="2000" i="1">
                      <a:latin typeface="Times New Roman" pitchFamily="18" charset="0"/>
                    </a:rPr>
                    <a:t>u</a:t>
                  </a:r>
                  <a:r>
                    <a:rPr lang="en-US" altLang="en-US" sz="2000" i="1">
                      <a:latin typeface="Arial" charset="0"/>
                    </a:rPr>
                    <a:t> </a:t>
                  </a:r>
                </a:p>
              </p:txBody>
            </p:sp>
            <p:sp>
              <p:nvSpPr>
                <p:cNvPr id="13335" name="Rectangle 49"/>
                <p:cNvSpPr>
                  <a:spLocks noChangeArrowheads="1"/>
                </p:cNvSpPr>
                <p:nvPr/>
              </p:nvSpPr>
              <p:spPr bwMode="auto">
                <a:xfrm>
                  <a:off x="3646" y="2510"/>
                  <a:ext cx="517"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a:spcBef>
                      <a:spcPct val="0"/>
                    </a:spcBef>
                    <a:buFontTx/>
                    <a:buNone/>
                  </a:pPr>
                  <a:r>
                    <a:rPr lang="en-US" altLang="en-US" sz="2000" i="1">
                      <a:latin typeface="Times New Roman" pitchFamily="18" charset="0"/>
                    </a:rPr>
                    <a:t>S</a:t>
                  </a:r>
                  <a:r>
                    <a:rPr lang="en-US" altLang="en-US" sz="2000" baseline="-25000">
                      <a:latin typeface="Times New Roman" pitchFamily="18" charset="0"/>
                    </a:rPr>
                    <a:t>0</a:t>
                  </a:r>
                  <a:r>
                    <a:rPr lang="en-US" altLang="en-US" sz="2000" i="1">
                      <a:latin typeface="Times New Roman" pitchFamily="18" charset="0"/>
                    </a:rPr>
                    <a:t>d</a:t>
                  </a:r>
                  <a:r>
                    <a:rPr lang="en-US" altLang="en-US" sz="2000" i="1">
                      <a:latin typeface="Arial" charset="0"/>
                    </a:rPr>
                    <a:t> </a:t>
                  </a:r>
                </a:p>
              </p:txBody>
            </p:sp>
            <p:sp>
              <p:nvSpPr>
                <p:cNvPr id="13336" name="Rectangle 50"/>
                <p:cNvSpPr>
                  <a:spLocks noChangeArrowheads="1"/>
                </p:cNvSpPr>
                <p:nvPr/>
              </p:nvSpPr>
              <p:spPr bwMode="auto">
                <a:xfrm>
                  <a:off x="3562" y="3083"/>
                  <a:ext cx="737"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a:spcBef>
                      <a:spcPct val="0"/>
                    </a:spcBef>
                    <a:buFontTx/>
                    <a:buNone/>
                  </a:pPr>
                  <a:r>
                    <a:rPr lang="en-US" altLang="en-US" sz="2000" i="1">
                      <a:latin typeface="Times New Roman" pitchFamily="18" charset="0"/>
                    </a:rPr>
                    <a:t>S</a:t>
                  </a:r>
                  <a:r>
                    <a:rPr lang="en-US" altLang="en-US" sz="2000" baseline="-25000">
                      <a:latin typeface="Times New Roman" pitchFamily="18" charset="0"/>
                    </a:rPr>
                    <a:t>0</a:t>
                  </a:r>
                  <a:r>
                    <a:rPr lang="en-US" altLang="en-US" sz="2000" i="1">
                      <a:latin typeface="Times New Roman" pitchFamily="18" charset="0"/>
                    </a:rPr>
                    <a:t>d</a:t>
                  </a:r>
                  <a:r>
                    <a:rPr lang="en-US" altLang="en-US" sz="2000" i="1" baseline="30000">
                      <a:latin typeface="Arial" charset="0"/>
                    </a:rPr>
                    <a:t>3</a:t>
                  </a:r>
                  <a:r>
                    <a:rPr lang="en-US" altLang="en-US" sz="2000" i="1">
                      <a:latin typeface="Arial" charset="0"/>
                    </a:rPr>
                    <a:t> </a:t>
                  </a:r>
                </a:p>
              </p:txBody>
            </p:sp>
          </p:grpSp>
        </p:grpSp>
      </p:grpSp>
      <p:sp>
        <p:nvSpPr>
          <p:cNvPr id="13318" name="Content Placeholder 52"/>
          <p:cNvSpPr>
            <a:spLocks noGrp="1"/>
          </p:cNvSpPr>
          <p:nvPr>
            <p:ph idx="1"/>
          </p:nvPr>
        </p:nvSpPr>
        <p:spPr>
          <a:xfrm>
            <a:off x="762000" y="2133600"/>
            <a:ext cx="7772400" cy="4114800"/>
          </a:xfrm>
        </p:spPr>
        <p:txBody>
          <a:bodyPr/>
          <a:lstStyle/>
          <a:p>
            <a:pPr eaLnBrk="1" hangingPunct="1">
              <a:buFontTx/>
              <a:buNone/>
            </a:pPr>
            <a:r>
              <a:rPr lang="en-CA" altLang="en-US" smtClean="0">
                <a:latin typeface="Arial" charset="0"/>
                <a:cs typeface="Arial" charset="0"/>
              </a:rPr>
              <a:t> </a:t>
            </a:r>
            <a:endParaRPr lang="en-US" altLang="en-US" smtClean="0">
              <a:latin typeface="Arial" charset="0"/>
              <a:cs typeface="Arial" charset="0"/>
            </a:endParaRPr>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ChangeArrowheads="1"/>
          </p:cNvSpPr>
          <p:nvPr>
            <p:ph type="title"/>
          </p:nvPr>
        </p:nvSpPr>
        <p:spPr>
          <a:xfrm>
            <a:off x="246063" y="930275"/>
            <a:ext cx="7772400" cy="898525"/>
          </a:xfrm>
        </p:spPr>
        <p:txBody>
          <a:bodyPr lIns="92075" tIns="46038" rIns="92075" bIns="46038"/>
          <a:lstStyle/>
          <a:p>
            <a:pPr eaLnBrk="1" fontAlgn="auto" hangingPunct="1">
              <a:spcAft>
                <a:spcPts val="0"/>
              </a:spcAft>
              <a:defRPr/>
            </a:pPr>
            <a:r>
              <a:rPr lang="en-US" dirty="0">
                <a:solidFill>
                  <a:schemeClr val="tx2">
                    <a:satMod val="130000"/>
                  </a:schemeClr>
                </a:solidFill>
              </a:rPr>
              <a:t>Backwards Induction</a:t>
            </a:r>
          </a:p>
        </p:txBody>
      </p:sp>
      <p:sp>
        <p:nvSpPr>
          <p:cNvPr id="14339" name="Rectangle 3"/>
          <p:cNvSpPr>
            <a:spLocks noGrp="1" noChangeArrowheads="1"/>
          </p:cNvSpPr>
          <p:nvPr>
            <p:ph idx="1"/>
          </p:nvPr>
        </p:nvSpPr>
        <p:spPr>
          <a:xfrm>
            <a:off x="1114425" y="1981200"/>
            <a:ext cx="6916738" cy="4149725"/>
          </a:xfrm>
        </p:spPr>
        <p:txBody>
          <a:bodyPr lIns="92075" tIns="46038" rIns="92075" bIns="46038"/>
          <a:lstStyle/>
          <a:p>
            <a:pPr eaLnBrk="1" hangingPunct="1"/>
            <a:r>
              <a:rPr lang="en-US" altLang="en-US" smtClean="0">
                <a:latin typeface="Arial" charset="0"/>
                <a:cs typeface="Arial" charset="0"/>
              </a:rPr>
              <a:t>We know the value of the option at the final nodes</a:t>
            </a:r>
          </a:p>
          <a:p>
            <a:pPr eaLnBrk="1" hangingPunct="1"/>
            <a:r>
              <a:rPr lang="en-US" altLang="en-US" smtClean="0">
                <a:latin typeface="Arial" charset="0"/>
                <a:cs typeface="Arial" charset="0"/>
              </a:rPr>
              <a:t>We work back through the tree using risk-neutral valuation to calculate the value of the option at each node, testing for early exercise when appropriate</a:t>
            </a:r>
          </a:p>
        </p:txBody>
      </p:sp>
      <p:sp>
        <p:nvSpPr>
          <p:cNvPr id="1434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endParaRPr>
          </a:p>
        </p:txBody>
      </p:sp>
      <p:sp>
        <p:nvSpPr>
          <p:cNvPr id="1434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576016BD-D44C-49CD-A2A9-AAB5B6A24EFA}" type="slidenum">
              <a:rPr lang="en-US" altLang="en-US" sz="1400" smtClean="0">
                <a:latin typeface="Arial" charset="0"/>
              </a:rPr>
              <a:pPr eaLnBrk="1" hangingPunct="1">
                <a:spcBef>
                  <a:spcPct val="0"/>
                </a:spcBef>
                <a:buFontTx/>
                <a:buNone/>
              </a:pPr>
              <a:t>8</a:t>
            </a:fld>
            <a:endParaRPr lang="en-US" altLang="en-US" sz="1400" smtClean="0">
              <a:latin typeface="Arial" charset="0"/>
            </a:endParaRPr>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ChangeArrowheads="1"/>
          </p:cNvSpPr>
          <p:nvPr>
            <p:ph type="title"/>
          </p:nvPr>
        </p:nvSpPr>
        <p:spPr/>
        <p:txBody>
          <a:bodyPr lIns="92075" tIns="46038" rIns="92075" bIns="46038"/>
          <a:lstStyle/>
          <a:p>
            <a:pPr eaLnBrk="1" fontAlgn="auto" hangingPunct="1">
              <a:spcAft>
                <a:spcPts val="0"/>
              </a:spcAft>
              <a:defRPr/>
            </a:pPr>
            <a:r>
              <a:rPr lang="en-US" dirty="0">
                <a:solidFill>
                  <a:schemeClr val="tx2">
                    <a:satMod val="130000"/>
                  </a:schemeClr>
                </a:solidFill>
              </a:rPr>
              <a:t>Example: Put Option</a:t>
            </a:r>
            <a:br>
              <a:rPr lang="en-US" dirty="0">
                <a:solidFill>
                  <a:schemeClr val="tx2">
                    <a:satMod val="130000"/>
                  </a:schemeClr>
                </a:solidFill>
              </a:rPr>
            </a:br>
            <a:r>
              <a:rPr lang="en-US" sz="2200" dirty="0">
                <a:solidFill>
                  <a:schemeClr val="tx2">
                    <a:satMod val="130000"/>
                  </a:schemeClr>
                </a:solidFill>
              </a:rPr>
              <a:t>(Example </a:t>
            </a:r>
            <a:r>
              <a:rPr lang="en-US" sz="2200" dirty="0" smtClean="0">
                <a:solidFill>
                  <a:schemeClr val="tx2">
                    <a:satMod val="130000"/>
                  </a:schemeClr>
                </a:solidFill>
              </a:rPr>
              <a:t>21.1)</a:t>
            </a:r>
            <a:endParaRPr lang="en-US" sz="2200" dirty="0">
              <a:solidFill>
                <a:schemeClr val="tx2">
                  <a:satMod val="130000"/>
                </a:schemeClr>
              </a:solidFill>
            </a:endParaRPr>
          </a:p>
        </p:txBody>
      </p:sp>
      <p:sp>
        <p:nvSpPr>
          <p:cNvPr id="15363" name="Rectangle 3"/>
          <p:cNvSpPr>
            <a:spLocks noGrp="1" noChangeArrowheads="1"/>
          </p:cNvSpPr>
          <p:nvPr>
            <p:ph idx="1"/>
          </p:nvPr>
        </p:nvSpPr>
        <p:spPr>
          <a:xfrm>
            <a:off x="1447800" y="2286000"/>
            <a:ext cx="7239000" cy="4038600"/>
          </a:xfrm>
        </p:spPr>
        <p:txBody>
          <a:bodyPr lIns="92075" tIns="46038" rIns="92075" bIns="46038"/>
          <a:lstStyle/>
          <a:p>
            <a:pPr lvl="1" eaLnBrk="1" hangingPunct="1">
              <a:buFont typeface="Wingdings" pitchFamily="2" charset="2"/>
              <a:buNone/>
            </a:pPr>
            <a:r>
              <a:rPr lang="en-US" altLang="en-US" sz="2200" i="1" smtClean="0">
                <a:latin typeface="Times New Roman" pitchFamily="18" charset="0"/>
                <a:cs typeface="Arial" charset="0"/>
              </a:rPr>
              <a:t>S</a:t>
            </a:r>
            <a:r>
              <a:rPr lang="en-US" altLang="en-US" sz="2200" baseline="-25000" smtClean="0">
                <a:latin typeface="Times New Roman" pitchFamily="18" charset="0"/>
                <a:cs typeface="Arial" charset="0"/>
              </a:rPr>
              <a:t>0</a:t>
            </a:r>
            <a:r>
              <a:rPr lang="en-US" altLang="en-US" sz="2200" smtClean="0">
                <a:latin typeface="Times New Roman" pitchFamily="18" charset="0"/>
                <a:cs typeface="Arial" charset="0"/>
              </a:rPr>
              <a:t> </a:t>
            </a:r>
            <a:r>
              <a:rPr lang="en-US" altLang="en-US" sz="2200" smtClean="0">
                <a:latin typeface="Arial" charset="0"/>
                <a:cs typeface="Arial" charset="0"/>
              </a:rPr>
              <a:t>= 50;  </a:t>
            </a:r>
            <a:r>
              <a:rPr lang="en-US" altLang="en-US" sz="2200" i="1" smtClean="0">
                <a:latin typeface="Times New Roman" pitchFamily="18" charset="0"/>
                <a:cs typeface="Arial" charset="0"/>
              </a:rPr>
              <a:t>K</a:t>
            </a:r>
            <a:r>
              <a:rPr lang="en-US" altLang="en-US" sz="2200" smtClean="0">
                <a:latin typeface="Arial" charset="0"/>
                <a:cs typeface="Arial" charset="0"/>
              </a:rPr>
              <a:t> = 50;  </a:t>
            </a:r>
            <a:r>
              <a:rPr lang="en-US" altLang="en-US" sz="2200" i="1" smtClean="0">
                <a:latin typeface="Times New Roman" pitchFamily="18" charset="0"/>
                <a:cs typeface="Arial" charset="0"/>
              </a:rPr>
              <a:t>r</a:t>
            </a:r>
            <a:r>
              <a:rPr lang="en-US" altLang="en-US" sz="2200" smtClean="0">
                <a:latin typeface="Arial" charset="0"/>
                <a:cs typeface="Arial" charset="0"/>
              </a:rPr>
              <a:t> =10%;  </a:t>
            </a:r>
            <a:r>
              <a:rPr lang="en-US" altLang="en-US" sz="2200" smtClean="0">
                <a:latin typeface="Symbol" pitchFamily="18" charset="2"/>
                <a:cs typeface="Arial" charset="0"/>
              </a:rPr>
              <a:t>s</a:t>
            </a:r>
            <a:r>
              <a:rPr lang="en-US" altLang="en-US" sz="2200" smtClean="0">
                <a:latin typeface="Arial" charset="0"/>
                <a:cs typeface="Arial" charset="0"/>
              </a:rPr>
              <a:t> = 40%;  </a:t>
            </a:r>
          </a:p>
          <a:p>
            <a:pPr eaLnBrk="1" hangingPunct="1">
              <a:buFont typeface="Wingdings" pitchFamily="2" charset="2"/>
              <a:buNone/>
            </a:pPr>
            <a:r>
              <a:rPr lang="en-US" altLang="en-US" sz="2200" i="1" smtClean="0">
                <a:latin typeface="Arial" charset="0"/>
                <a:cs typeface="Arial" charset="0"/>
              </a:rPr>
              <a:t>	  </a:t>
            </a:r>
            <a:r>
              <a:rPr lang="en-US" altLang="en-US" sz="2200" i="1" smtClean="0">
                <a:latin typeface="Times New Roman" pitchFamily="18" charset="0"/>
                <a:cs typeface="Arial" charset="0"/>
              </a:rPr>
              <a:t>T</a:t>
            </a:r>
            <a:r>
              <a:rPr lang="en-US" altLang="en-US" sz="2200" smtClean="0">
                <a:latin typeface="Arial" charset="0"/>
                <a:cs typeface="Arial" charset="0"/>
              </a:rPr>
              <a:t> = 5 months = 0.4167;  </a:t>
            </a:r>
            <a:r>
              <a:rPr lang="en-US" altLang="en-US" sz="2200" smtClean="0">
                <a:latin typeface="Symbol" pitchFamily="18" charset="2"/>
                <a:cs typeface="Arial" charset="0"/>
              </a:rPr>
              <a:t>D</a:t>
            </a:r>
            <a:r>
              <a:rPr lang="en-US" altLang="en-US" sz="2200" i="1" smtClean="0">
                <a:latin typeface="Times New Roman" pitchFamily="18" charset="0"/>
                <a:cs typeface="Arial" charset="0"/>
              </a:rPr>
              <a:t>t</a:t>
            </a:r>
            <a:r>
              <a:rPr lang="en-US" altLang="en-US" sz="2200" smtClean="0">
                <a:latin typeface="Arial" charset="0"/>
                <a:cs typeface="Arial" charset="0"/>
              </a:rPr>
              <a:t> = 1 month = 0.0833</a:t>
            </a:r>
          </a:p>
          <a:p>
            <a:pPr eaLnBrk="1" hangingPunct="1">
              <a:buFont typeface="Wingdings" pitchFamily="2" charset="2"/>
              <a:buNone/>
            </a:pPr>
            <a:r>
              <a:rPr lang="en-US" altLang="en-US" sz="2200" smtClean="0">
                <a:latin typeface="Arial" charset="0"/>
                <a:cs typeface="Arial" charset="0"/>
              </a:rPr>
              <a:t>In this case</a:t>
            </a:r>
            <a:r>
              <a:rPr lang="en-US" altLang="en-US" sz="2200" i="1" smtClean="0">
                <a:latin typeface="Arial" charset="0"/>
                <a:cs typeface="Arial" charset="0"/>
              </a:rPr>
              <a:t>		</a:t>
            </a:r>
          </a:p>
          <a:p>
            <a:pPr eaLnBrk="1" hangingPunct="1">
              <a:buFont typeface="Wingdings" pitchFamily="2" charset="2"/>
              <a:buNone/>
            </a:pPr>
            <a:endParaRPr lang="en-US" altLang="en-US" i="1" smtClean="0">
              <a:latin typeface="Arial" charset="0"/>
              <a:cs typeface="Arial" charset="0"/>
            </a:endParaRPr>
          </a:p>
          <a:p>
            <a:pPr eaLnBrk="1" hangingPunct="1">
              <a:buFont typeface="Wingdings" pitchFamily="2" charset="2"/>
              <a:buNone/>
            </a:pPr>
            <a:endParaRPr lang="en-US" altLang="en-US" i="1" smtClean="0">
              <a:latin typeface="Arial" charset="0"/>
              <a:cs typeface="Arial" charset="0"/>
            </a:endParaRPr>
          </a:p>
        </p:txBody>
      </p:sp>
      <p:sp>
        <p:nvSpPr>
          <p:cNvPr id="1536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charset="0"/>
              </a:defRPr>
            </a:lvl1pPr>
            <a:lvl2pPr marL="742950" indent="-285750" eaLnBrk="0" hangingPunct="0">
              <a:spcBef>
                <a:spcPct val="20000"/>
              </a:spcBef>
              <a:buSzPct val="75000"/>
              <a:buBlip>
                <a:blip r:embed="rId5"/>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endParaRPr>
          </a:p>
        </p:txBody>
      </p:sp>
      <p:sp>
        <p:nvSpPr>
          <p:cNvPr id="15365"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charset="0"/>
              </a:defRPr>
            </a:lvl1pPr>
            <a:lvl2pPr marL="742950" indent="-285750" eaLnBrk="0" hangingPunct="0">
              <a:spcBef>
                <a:spcPct val="20000"/>
              </a:spcBef>
              <a:buSzPct val="75000"/>
              <a:buBlip>
                <a:blip r:embed="rId5"/>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4A44CFC6-CA0B-4206-A0CC-44E9A1296771}" type="slidenum">
              <a:rPr lang="en-US" altLang="en-US" sz="1400" smtClean="0">
                <a:latin typeface="Arial" charset="0"/>
              </a:rPr>
              <a:pPr eaLnBrk="1" hangingPunct="1">
                <a:spcBef>
                  <a:spcPct val="0"/>
                </a:spcBef>
                <a:buFontTx/>
                <a:buNone/>
              </a:pPr>
              <a:t>9</a:t>
            </a:fld>
            <a:endParaRPr lang="en-US" altLang="en-US" sz="1400" smtClean="0">
              <a:latin typeface="Arial" charset="0"/>
            </a:endParaRPr>
          </a:p>
        </p:txBody>
      </p:sp>
      <p:graphicFrame>
        <p:nvGraphicFramePr>
          <p:cNvPr id="15366" name="Object 6"/>
          <p:cNvGraphicFramePr>
            <a:graphicFrameLocks noChangeAspect="1"/>
          </p:cNvGraphicFramePr>
          <p:nvPr/>
        </p:nvGraphicFramePr>
        <p:xfrm>
          <a:off x="2057400" y="3657600"/>
          <a:ext cx="3492500" cy="2095500"/>
        </p:xfrm>
        <a:graphic>
          <a:graphicData uri="http://schemas.openxmlformats.org/presentationml/2006/ole">
            <mc:AlternateContent xmlns:mc="http://schemas.openxmlformats.org/markup-compatibility/2006">
              <mc:Choice xmlns:v="urn:schemas-microsoft-com:vml" Requires="v">
                <p:oleObj spid="_x0000_s15374" name="Equation" r:id="rId6" imgW="1841500" imgH="1104900" progId="Equation.3">
                  <p:embed/>
                </p:oleObj>
              </mc:Choice>
              <mc:Fallback>
                <p:oleObj name="Equation" r:id="rId6" imgW="1841500" imgH="1104900"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57400" y="3657600"/>
                        <a:ext cx="3492500" cy="2095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381000" y="990600"/>
            <a:ext cx="7772400" cy="1143000"/>
          </a:xfrm>
        </p:spPr>
        <p:txBody>
          <a:bodyPr/>
          <a:lstStyle/>
          <a:p>
            <a:pPr eaLnBrk="1" hangingPunct="1">
              <a:defRPr/>
            </a:pPr>
            <a:r>
              <a:rPr lang="en-US" sz="4000" dirty="0" smtClean="0">
                <a:solidFill>
                  <a:schemeClr val="tx2">
                    <a:satMod val="130000"/>
                  </a:schemeClr>
                </a:solidFill>
              </a:rPr>
              <a:t>Example </a:t>
            </a:r>
            <a:r>
              <a:rPr lang="en-US" sz="2000" dirty="0" smtClean="0">
                <a:solidFill>
                  <a:schemeClr val="tx2">
                    <a:satMod val="130000"/>
                  </a:schemeClr>
                </a:solidFill>
              </a:rPr>
              <a:t>(continued; Figure </a:t>
            </a:r>
            <a:r>
              <a:rPr lang="en-US" sz="2000" dirty="0" smtClean="0">
                <a:solidFill>
                  <a:schemeClr val="tx2">
                    <a:satMod val="130000"/>
                  </a:schemeClr>
                </a:solidFill>
              </a:rPr>
              <a:t>21.3)</a:t>
            </a:r>
            <a:r>
              <a:rPr lang="en-US" sz="4000" dirty="0" smtClean="0">
                <a:solidFill>
                  <a:schemeClr val="tx2">
                    <a:satMod val="130000"/>
                  </a:schemeClr>
                </a:solidFill>
              </a:rPr>
              <a:t/>
            </a:r>
            <a:br>
              <a:rPr lang="en-US" sz="4000" dirty="0" smtClean="0">
                <a:solidFill>
                  <a:schemeClr val="tx2">
                    <a:satMod val="130000"/>
                  </a:schemeClr>
                </a:solidFill>
              </a:rPr>
            </a:br>
            <a:endParaRPr lang="en-US" sz="4000" dirty="0"/>
          </a:p>
        </p:txBody>
      </p:sp>
      <p:sp>
        <p:nvSpPr>
          <p:cNvPr id="16387"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endParaRPr>
          </a:p>
        </p:txBody>
      </p:sp>
      <p:sp>
        <p:nvSpPr>
          <p:cNvPr id="16388"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31CCAA64-CB5F-405C-892C-1FBAF41CE4BC}" type="slidenum">
              <a:rPr lang="en-US" altLang="en-US" sz="1400" smtClean="0">
                <a:latin typeface="Arial" charset="0"/>
              </a:rPr>
              <a:pPr eaLnBrk="1" hangingPunct="1">
                <a:spcBef>
                  <a:spcPct val="0"/>
                </a:spcBef>
                <a:buFontTx/>
                <a:buNone/>
              </a:pPr>
              <a:t>10</a:t>
            </a:fld>
            <a:endParaRPr lang="en-US" altLang="en-US" sz="1400" smtClean="0">
              <a:latin typeface="Arial" charset="0"/>
            </a:endParaRPr>
          </a:p>
        </p:txBody>
      </p:sp>
      <p:pic>
        <p:nvPicPr>
          <p:cNvPr id="16389" name="Picture 3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47800" y="1676400"/>
            <a:ext cx="5334000" cy="445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noChangeArrowheads="1"/>
          </p:cNvSpPr>
          <p:nvPr>
            <p:ph type="title"/>
          </p:nvPr>
        </p:nvSpPr>
        <p:spPr/>
        <p:txBody>
          <a:bodyPr lIns="92075" tIns="46038" rIns="92075" bIns="46038"/>
          <a:lstStyle/>
          <a:p>
            <a:pPr eaLnBrk="1" fontAlgn="auto" hangingPunct="1">
              <a:spcAft>
                <a:spcPts val="0"/>
              </a:spcAft>
              <a:defRPr/>
            </a:pPr>
            <a:r>
              <a:rPr lang="en-US">
                <a:solidFill>
                  <a:schemeClr val="tx2">
                    <a:satMod val="130000"/>
                  </a:schemeClr>
                </a:solidFill>
              </a:rPr>
              <a:t>Calculation of Delta</a:t>
            </a:r>
          </a:p>
        </p:txBody>
      </p:sp>
      <p:sp>
        <p:nvSpPr>
          <p:cNvPr id="17411" name="Rectangle 3"/>
          <p:cNvSpPr>
            <a:spLocks noGrp="1" noChangeArrowheads="1"/>
          </p:cNvSpPr>
          <p:nvPr>
            <p:ph idx="1"/>
          </p:nvPr>
        </p:nvSpPr>
        <p:spPr/>
        <p:txBody>
          <a:bodyPr lIns="92075" tIns="46038" rIns="92075" bIns="46038"/>
          <a:lstStyle/>
          <a:p>
            <a:pPr eaLnBrk="1" hangingPunct="1">
              <a:buFont typeface="Wingdings" pitchFamily="2" charset="2"/>
              <a:buNone/>
            </a:pPr>
            <a:r>
              <a:rPr lang="en-US" altLang="en-US" smtClean="0">
                <a:latin typeface="Arial" charset="0"/>
                <a:cs typeface="Arial" charset="0"/>
              </a:rPr>
              <a:t>Delta is calculated from the nodes at time </a:t>
            </a:r>
            <a:r>
              <a:rPr lang="en-US" altLang="en-US" smtClean="0">
                <a:latin typeface="Symbol" pitchFamily="18" charset="2"/>
                <a:cs typeface="Arial" charset="0"/>
              </a:rPr>
              <a:t>D</a:t>
            </a:r>
            <a:r>
              <a:rPr lang="en-US" altLang="en-US" i="1" smtClean="0">
                <a:latin typeface="Times New Roman" pitchFamily="18" charset="0"/>
                <a:cs typeface="Arial" charset="0"/>
              </a:rPr>
              <a:t>t </a:t>
            </a:r>
          </a:p>
          <a:p>
            <a:pPr eaLnBrk="1" hangingPunct="1">
              <a:buFont typeface="Wingdings" pitchFamily="2" charset="2"/>
              <a:buNone/>
            </a:pPr>
            <a:endParaRPr lang="en-US" altLang="en-US" i="1" smtClean="0">
              <a:latin typeface="Times New Roman" pitchFamily="18" charset="0"/>
              <a:cs typeface="Arial" charset="0"/>
            </a:endParaRPr>
          </a:p>
        </p:txBody>
      </p:sp>
      <p:sp>
        <p:nvSpPr>
          <p:cNvPr id="1741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charset="0"/>
              </a:defRPr>
            </a:lvl1pPr>
            <a:lvl2pPr marL="742950" indent="-285750" eaLnBrk="0" hangingPunct="0">
              <a:spcBef>
                <a:spcPct val="20000"/>
              </a:spcBef>
              <a:buSzPct val="75000"/>
              <a:buBlip>
                <a:blip r:embed="rId5"/>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endParaRPr>
          </a:p>
        </p:txBody>
      </p:sp>
      <p:sp>
        <p:nvSpPr>
          <p:cNvPr id="1741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charset="0"/>
              </a:defRPr>
            </a:lvl1pPr>
            <a:lvl2pPr marL="742950" indent="-285750" eaLnBrk="0" hangingPunct="0">
              <a:spcBef>
                <a:spcPct val="20000"/>
              </a:spcBef>
              <a:buSzPct val="75000"/>
              <a:buBlip>
                <a:blip r:embed="rId5"/>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83F695EF-5DEE-474E-B4BB-E119571F136B}" type="slidenum">
              <a:rPr lang="en-US" altLang="en-US" sz="1400" smtClean="0">
                <a:latin typeface="Arial" charset="0"/>
              </a:rPr>
              <a:pPr eaLnBrk="1" hangingPunct="1">
                <a:spcBef>
                  <a:spcPct val="0"/>
                </a:spcBef>
                <a:buFontTx/>
                <a:buNone/>
              </a:pPr>
              <a:t>11</a:t>
            </a:fld>
            <a:endParaRPr lang="en-US" altLang="en-US" sz="1400" smtClean="0">
              <a:latin typeface="Arial" charset="0"/>
            </a:endParaRPr>
          </a:p>
        </p:txBody>
      </p:sp>
      <p:graphicFrame>
        <p:nvGraphicFramePr>
          <p:cNvPr id="17414" name="Object 4"/>
          <p:cNvGraphicFramePr>
            <a:graphicFrameLocks/>
          </p:cNvGraphicFramePr>
          <p:nvPr/>
        </p:nvGraphicFramePr>
        <p:xfrm>
          <a:off x="2286000" y="2819400"/>
          <a:ext cx="4876800" cy="990600"/>
        </p:xfrm>
        <a:graphic>
          <a:graphicData uri="http://schemas.openxmlformats.org/presentationml/2006/ole">
            <mc:AlternateContent xmlns:mc="http://schemas.openxmlformats.org/markup-compatibility/2006">
              <mc:Choice xmlns:v="urn:schemas-microsoft-com:vml" Requires="v">
                <p:oleObj spid="_x0000_s17422" name="Equation" r:id="rId6" imgW="1828800" imgH="393700" progId="Equation.2">
                  <p:embed/>
                </p:oleObj>
              </mc:Choice>
              <mc:Fallback>
                <p:oleObj name="Equation" r:id="rId6" imgW="1828800" imgH="393700" progId="Equation.2">
                  <p:embed/>
                  <p:pic>
                    <p:nvPicPr>
                      <p:cNvPr id="0" name="Object 4"/>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86000" y="2819400"/>
                        <a:ext cx="4876800"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ChangeArrowheads="1"/>
          </p:cNvSpPr>
          <p:nvPr>
            <p:ph type="title"/>
          </p:nvPr>
        </p:nvSpPr>
        <p:spPr/>
        <p:txBody>
          <a:bodyPr lIns="92075" tIns="46038" rIns="92075" bIns="46038"/>
          <a:lstStyle/>
          <a:p>
            <a:pPr eaLnBrk="1" fontAlgn="auto" hangingPunct="1">
              <a:spcAft>
                <a:spcPts val="0"/>
              </a:spcAft>
              <a:defRPr/>
            </a:pPr>
            <a:r>
              <a:rPr lang="en-US">
                <a:solidFill>
                  <a:schemeClr val="tx2">
                    <a:satMod val="130000"/>
                  </a:schemeClr>
                </a:solidFill>
              </a:rPr>
              <a:t>Calculation of Gamma</a:t>
            </a:r>
          </a:p>
        </p:txBody>
      </p:sp>
      <p:sp>
        <p:nvSpPr>
          <p:cNvPr id="18435" name="Rectangle 3"/>
          <p:cNvSpPr>
            <a:spLocks noGrp="1" noChangeArrowheads="1"/>
          </p:cNvSpPr>
          <p:nvPr>
            <p:ph idx="1"/>
          </p:nvPr>
        </p:nvSpPr>
        <p:spPr/>
        <p:txBody>
          <a:bodyPr lIns="92075" tIns="46038" rIns="92075" bIns="46038"/>
          <a:lstStyle/>
          <a:p>
            <a:pPr eaLnBrk="1" hangingPunct="1">
              <a:buFont typeface="Wingdings" pitchFamily="2" charset="2"/>
              <a:buNone/>
            </a:pPr>
            <a:r>
              <a:rPr lang="en-US" altLang="en-US" smtClean="0">
                <a:latin typeface="Arial" charset="0"/>
                <a:cs typeface="Arial" charset="0"/>
              </a:rPr>
              <a:t>	Gamma is calculated from the nodes at time 2</a:t>
            </a:r>
            <a:r>
              <a:rPr lang="en-US" altLang="en-US" smtClean="0">
                <a:latin typeface="Symbol" pitchFamily="18" charset="2"/>
                <a:cs typeface="Arial" charset="0"/>
              </a:rPr>
              <a:t>D</a:t>
            </a:r>
            <a:r>
              <a:rPr lang="en-US" altLang="en-US" i="1" smtClean="0">
                <a:latin typeface="Times New Roman" pitchFamily="18" charset="0"/>
                <a:cs typeface="Arial" charset="0"/>
              </a:rPr>
              <a:t>t</a:t>
            </a:r>
          </a:p>
          <a:p>
            <a:pPr eaLnBrk="1" hangingPunct="1">
              <a:buFont typeface="Wingdings" pitchFamily="2" charset="2"/>
              <a:buNone/>
            </a:pPr>
            <a:endParaRPr lang="en-US" altLang="en-US" i="1" smtClean="0">
              <a:latin typeface="Times New Roman" pitchFamily="18" charset="0"/>
              <a:cs typeface="Arial" charset="0"/>
            </a:endParaRPr>
          </a:p>
        </p:txBody>
      </p:sp>
      <p:sp>
        <p:nvSpPr>
          <p:cNvPr id="1843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charset="0"/>
              </a:defRPr>
            </a:lvl1pPr>
            <a:lvl2pPr marL="742950" indent="-285750" eaLnBrk="0" hangingPunct="0">
              <a:spcBef>
                <a:spcPct val="20000"/>
              </a:spcBef>
              <a:buSzPct val="75000"/>
              <a:buBlip>
                <a:blip r:embed="rId5"/>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endParaRPr>
          </a:p>
        </p:txBody>
      </p:sp>
      <p:sp>
        <p:nvSpPr>
          <p:cNvPr id="1843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charset="0"/>
              </a:defRPr>
            </a:lvl1pPr>
            <a:lvl2pPr marL="742950" indent="-285750" eaLnBrk="0" hangingPunct="0">
              <a:spcBef>
                <a:spcPct val="20000"/>
              </a:spcBef>
              <a:buSzPct val="75000"/>
              <a:buBlip>
                <a:blip r:embed="rId5"/>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8E91D687-0A2C-4376-A912-BD9CEFB1F1B6}" type="slidenum">
              <a:rPr lang="en-US" altLang="en-US" sz="1400" smtClean="0">
                <a:latin typeface="Arial" charset="0"/>
              </a:rPr>
              <a:pPr eaLnBrk="1" hangingPunct="1">
                <a:spcBef>
                  <a:spcPct val="0"/>
                </a:spcBef>
                <a:buFontTx/>
                <a:buNone/>
              </a:pPr>
              <a:t>12</a:t>
            </a:fld>
            <a:endParaRPr lang="en-US" altLang="en-US" sz="1400" smtClean="0">
              <a:latin typeface="Arial" charset="0"/>
            </a:endParaRPr>
          </a:p>
        </p:txBody>
      </p:sp>
      <p:graphicFrame>
        <p:nvGraphicFramePr>
          <p:cNvPr id="18438" name="Object 4"/>
          <p:cNvGraphicFramePr>
            <a:graphicFrameLocks/>
          </p:cNvGraphicFramePr>
          <p:nvPr/>
        </p:nvGraphicFramePr>
        <p:xfrm>
          <a:off x="1524000" y="2819400"/>
          <a:ext cx="7010400" cy="1776413"/>
        </p:xfrm>
        <a:graphic>
          <a:graphicData uri="http://schemas.openxmlformats.org/presentationml/2006/ole">
            <mc:AlternateContent xmlns:mc="http://schemas.openxmlformats.org/markup-compatibility/2006">
              <mc:Choice xmlns:v="urn:schemas-microsoft-com:vml" Requires="v">
                <p:oleObj spid="_x0000_s18448" name="Equation" r:id="rId6" imgW="3175000" imgH="800100" progId="Equation.2">
                  <p:embed/>
                </p:oleObj>
              </mc:Choice>
              <mc:Fallback>
                <p:oleObj name="Equation" r:id="rId6" imgW="3175000" imgH="800100" progId="Equation.2">
                  <p:embed/>
                  <p:pic>
                    <p:nvPicPr>
                      <p:cNvPr id="0" name="Object 4"/>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24000" y="2819400"/>
                        <a:ext cx="7010400" cy="1776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439" name="TextBox 6"/>
          <p:cNvSpPr txBox="1">
            <a:spLocks noChangeArrowheads="1"/>
          </p:cNvSpPr>
          <p:nvPr/>
        </p:nvSpPr>
        <p:spPr bwMode="auto">
          <a:xfrm>
            <a:off x="3962400" y="5257800"/>
            <a:ext cx="3429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Blip>
                <a:blip r:embed="rId4"/>
              </a:buBlip>
              <a:defRPr sz="3200">
                <a:solidFill>
                  <a:schemeClr val="tx1"/>
                </a:solidFill>
                <a:latin typeface="Tahoma" charset="0"/>
              </a:defRPr>
            </a:lvl1pPr>
            <a:lvl2pPr marL="742950" indent="-285750" eaLnBrk="0" hangingPunct="0">
              <a:spcBef>
                <a:spcPct val="20000"/>
              </a:spcBef>
              <a:buSzPct val="75000"/>
              <a:buBlip>
                <a:blip r:embed="rId5"/>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CA" altLang="en-US" sz="1800" dirty="0">
                <a:latin typeface="Arial" charset="0"/>
              </a:rPr>
              <a:t>=</a:t>
            </a:r>
            <a:r>
              <a:rPr lang="en-CA" altLang="en-US" sz="1800" dirty="0" smtClean="0">
                <a:latin typeface="Arial" charset="0"/>
              </a:rPr>
              <a:t>0.5(62.99+50)−0.5(50+39.69</a:t>
            </a:r>
            <a:r>
              <a:rPr lang="en-CA" altLang="en-US" sz="1800" dirty="0">
                <a:latin typeface="Arial" charset="0"/>
              </a:rPr>
              <a:t>)</a:t>
            </a:r>
            <a:endParaRPr lang="en-US" altLang="en-US" sz="1800" dirty="0">
              <a:latin typeface="Arial" charset="0"/>
            </a:endParaRPr>
          </a:p>
        </p:txBody>
      </p:sp>
      <p:cxnSp>
        <p:nvCxnSpPr>
          <p:cNvPr id="18440" name="Straight Arrow Connector 9"/>
          <p:cNvCxnSpPr>
            <a:cxnSpLocks noChangeShapeType="1"/>
          </p:cNvCxnSpPr>
          <p:nvPr/>
        </p:nvCxnSpPr>
        <p:spPr bwMode="auto">
          <a:xfrm rot="10800000">
            <a:off x="3733800" y="4572000"/>
            <a:ext cx="685800" cy="6096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p:cNvSpPr>
            <a:spLocks noGrp="1" noChangeArrowheads="1"/>
          </p:cNvSpPr>
          <p:nvPr>
            <p:ph type="title"/>
          </p:nvPr>
        </p:nvSpPr>
        <p:spPr/>
        <p:txBody>
          <a:bodyPr lIns="92075" tIns="46038" rIns="92075" bIns="46038"/>
          <a:lstStyle/>
          <a:p>
            <a:pPr eaLnBrk="1" fontAlgn="auto" hangingPunct="1">
              <a:spcAft>
                <a:spcPts val="0"/>
              </a:spcAft>
              <a:defRPr/>
            </a:pPr>
            <a:r>
              <a:rPr lang="en-US">
                <a:solidFill>
                  <a:schemeClr val="tx2">
                    <a:satMod val="130000"/>
                  </a:schemeClr>
                </a:solidFill>
              </a:rPr>
              <a:t>Calculation of Theta</a:t>
            </a:r>
          </a:p>
        </p:txBody>
      </p:sp>
      <p:sp>
        <p:nvSpPr>
          <p:cNvPr id="19459" name="Rectangle 3"/>
          <p:cNvSpPr>
            <a:spLocks noGrp="1" noChangeArrowheads="1"/>
          </p:cNvSpPr>
          <p:nvPr>
            <p:ph idx="1"/>
          </p:nvPr>
        </p:nvSpPr>
        <p:spPr/>
        <p:txBody>
          <a:bodyPr lIns="92075" tIns="46038" rIns="92075" bIns="46038"/>
          <a:lstStyle/>
          <a:p>
            <a:pPr eaLnBrk="1" hangingPunct="1">
              <a:buFont typeface="Wingdings" pitchFamily="2" charset="2"/>
              <a:buNone/>
            </a:pPr>
            <a:r>
              <a:rPr lang="en-US" altLang="en-US" smtClean="0">
                <a:latin typeface="Arial" charset="0"/>
                <a:cs typeface="Arial" charset="0"/>
              </a:rPr>
              <a:t>	Theta is calculated from the central nodes at times </a:t>
            </a:r>
            <a:r>
              <a:rPr lang="en-US" altLang="en-US" smtClean="0">
                <a:latin typeface="Times New Roman" pitchFamily="18" charset="0"/>
                <a:cs typeface="Arial" charset="0"/>
              </a:rPr>
              <a:t>0</a:t>
            </a:r>
            <a:r>
              <a:rPr lang="en-US" altLang="en-US" smtClean="0">
                <a:latin typeface="Arial" charset="0"/>
                <a:cs typeface="Arial" charset="0"/>
              </a:rPr>
              <a:t> and 2</a:t>
            </a:r>
            <a:r>
              <a:rPr lang="en-US" altLang="en-US" smtClean="0">
                <a:latin typeface="Symbol" pitchFamily="18" charset="2"/>
                <a:cs typeface="Arial" charset="0"/>
              </a:rPr>
              <a:t>D</a:t>
            </a:r>
            <a:r>
              <a:rPr lang="en-US" altLang="en-US" i="1" smtClean="0">
                <a:latin typeface="Times New Roman" pitchFamily="18" charset="0"/>
                <a:cs typeface="Arial" charset="0"/>
              </a:rPr>
              <a:t>t</a:t>
            </a:r>
          </a:p>
          <a:p>
            <a:pPr eaLnBrk="1" hangingPunct="1">
              <a:buFont typeface="Wingdings" pitchFamily="2" charset="2"/>
              <a:buNone/>
            </a:pPr>
            <a:endParaRPr lang="en-US" altLang="en-US" i="1" smtClean="0">
              <a:latin typeface="Times New Roman" pitchFamily="18" charset="0"/>
              <a:cs typeface="Arial" charset="0"/>
            </a:endParaRPr>
          </a:p>
          <a:p>
            <a:pPr eaLnBrk="1" hangingPunct="1">
              <a:buFont typeface="Wingdings" pitchFamily="2" charset="2"/>
              <a:buNone/>
            </a:pPr>
            <a:endParaRPr lang="en-US" altLang="en-US" i="1" smtClean="0">
              <a:latin typeface="Times New Roman" pitchFamily="18" charset="0"/>
              <a:cs typeface="Arial" charset="0"/>
            </a:endParaRPr>
          </a:p>
        </p:txBody>
      </p:sp>
      <p:sp>
        <p:nvSpPr>
          <p:cNvPr id="1946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charset="0"/>
              </a:defRPr>
            </a:lvl1pPr>
            <a:lvl2pPr marL="742950" indent="-285750" eaLnBrk="0" hangingPunct="0">
              <a:spcBef>
                <a:spcPct val="20000"/>
              </a:spcBef>
              <a:buSzPct val="75000"/>
              <a:buBlip>
                <a:blip r:embed="rId5"/>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endParaRPr>
          </a:p>
        </p:txBody>
      </p:sp>
      <p:sp>
        <p:nvSpPr>
          <p:cNvPr id="1946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charset="0"/>
              </a:defRPr>
            </a:lvl1pPr>
            <a:lvl2pPr marL="742950" indent="-285750" eaLnBrk="0" hangingPunct="0">
              <a:spcBef>
                <a:spcPct val="20000"/>
              </a:spcBef>
              <a:buSzPct val="75000"/>
              <a:buBlip>
                <a:blip r:embed="rId5"/>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7193D93E-50C3-4F9A-999B-DE1DD1280CAA}" type="slidenum">
              <a:rPr lang="en-US" altLang="en-US" sz="1400" smtClean="0">
                <a:latin typeface="Arial" charset="0"/>
              </a:rPr>
              <a:pPr eaLnBrk="1" hangingPunct="1">
                <a:spcBef>
                  <a:spcPct val="0"/>
                </a:spcBef>
                <a:buFontTx/>
                <a:buNone/>
              </a:pPr>
              <a:t>13</a:t>
            </a:fld>
            <a:endParaRPr lang="en-US" altLang="en-US" sz="1400" smtClean="0">
              <a:latin typeface="Arial" charset="0"/>
            </a:endParaRPr>
          </a:p>
        </p:txBody>
      </p:sp>
      <p:graphicFrame>
        <p:nvGraphicFramePr>
          <p:cNvPr id="19462" name="Object 4"/>
          <p:cNvGraphicFramePr>
            <a:graphicFrameLocks/>
          </p:cNvGraphicFramePr>
          <p:nvPr/>
        </p:nvGraphicFramePr>
        <p:xfrm>
          <a:off x="1905000" y="3276600"/>
          <a:ext cx="4987925" cy="1376363"/>
        </p:xfrm>
        <a:graphic>
          <a:graphicData uri="http://schemas.openxmlformats.org/presentationml/2006/ole">
            <mc:AlternateContent xmlns:mc="http://schemas.openxmlformats.org/markup-compatibility/2006">
              <mc:Choice xmlns:v="urn:schemas-microsoft-com:vml" Requires="v">
                <p:oleObj spid="_x0000_s19470" name="Equation" r:id="rId6" imgW="2311400" imgH="609600" progId="Equation.2">
                  <p:embed/>
                </p:oleObj>
              </mc:Choice>
              <mc:Fallback>
                <p:oleObj name="Equation" r:id="rId6" imgW="2311400" imgH="609600" progId="Equation.2">
                  <p:embed/>
                  <p:pic>
                    <p:nvPicPr>
                      <p:cNvPr id="0" name="Object 4"/>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05000" y="3276600"/>
                        <a:ext cx="4987925" cy="1376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p:cNvSpPr>
            <a:spLocks noGrp="1" noChangeArrowheads="1"/>
          </p:cNvSpPr>
          <p:nvPr>
            <p:ph type="title"/>
          </p:nvPr>
        </p:nvSpPr>
        <p:spPr/>
        <p:txBody>
          <a:bodyPr lIns="92075" tIns="46038" rIns="92075" bIns="46038"/>
          <a:lstStyle/>
          <a:p>
            <a:pPr eaLnBrk="1" fontAlgn="auto" hangingPunct="1">
              <a:spcAft>
                <a:spcPts val="0"/>
              </a:spcAft>
              <a:defRPr/>
            </a:pPr>
            <a:r>
              <a:rPr lang="en-US">
                <a:solidFill>
                  <a:schemeClr val="tx2">
                    <a:satMod val="130000"/>
                  </a:schemeClr>
                </a:solidFill>
              </a:rPr>
              <a:t>Calculation of Vega</a:t>
            </a:r>
          </a:p>
        </p:txBody>
      </p:sp>
      <p:sp>
        <p:nvSpPr>
          <p:cNvPr id="20483" name="Rectangle 3"/>
          <p:cNvSpPr>
            <a:spLocks noGrp="1" noChangeArrowheads="1"/>
          </p:cNvSpPr>
          <p:nvPr>
            <p:ph idx="1"/>
          </p:nvPr>
        </p:nvSpPr>
        <p:spPr/>
        <p:txBody>
          <a:bodyPr lIns="92075" tIns="46038" rIns="92075" bIns="46038"/>
          <a:lstStyle/>
          <a:p>
            <a:pPr eaLnBrk="1" hangingPunct="1"/>
            <a:r>
              <a:rPr lang="en-US" altLang="en-US" smtClean="0">
                <a:latin typeface="Arial" charset="0"/>
                <a:cs typeface="Arial" charset="0"/>
              </a:rPr>
              <a:t>We can proceed as follows</a:t>
            </a:r>
          </a:p>
          <a:p>
            <a:pPr eaLnBrk="1" hangingPunct="1"/>
            <a:r>
              <a:rPr lang="en-US" altLang="en-US" smtClean="0">
                <a:latin typeface="Arial" charset="0"/>
                <a:cs typeface="Arial" charset="0"/>
              </a:rPr>
              <a:t>Construct a new tree with a volatility of 41% instead of 40%. </a:t>
            </a:r>
          </a:p>
          <a:p>
            <a:pPr eaLnBrk="1" hangingPunct="1"/>
            <a:r>
              <a:rPr lang="en-US" altLang="en-US" smtClean="0">
                <a:latin typeface="Arial" charset="0"/>
                <a:cs typeface="Arial" charset="0"/>
              </a:rPr>
              <a:t>Value of option is 4.62</a:t>
            </a:r>
          </a:p>
          <a:p>
            <a:pPr eaLnBrk="1" hangingPunct="1"/>
            <a:r>
              <a:rPr lang="en-US" altLang="en-US" smtClean="0">
                <a:latin typeface="Arial" charset="0"/>
                <a:cs typeface="Arial" charset="0"/>
              </a:rPr>
              <a:t>Vega is</a:t>
            </a:r>
          </a:p>
          <a:p>
            <a:pPr eaLnBrk="1" hangingPunct="1">
              <a:buFont typeface="Wingdings" pitchFamily="2" charset="2"/>
              <a:buNone/>
            </a:pPr>
            <a:endParaRPr lang="en-US" altLang="en-US" smtClean="0">
              <a:latin typeface="Arial" charset="0"/>
              <a:cs typeface="Arial" charset="0"/>
            </a:endParaRPr>
          </a:p>
        </p:txBody>
      </p:sp>
      <p:sp>
        <p:nvSpPr>
          <p:cNvPr id="2048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charset="0"/>
              </a:defRPr>
            </a:lvl1pPr>
            <a:lvl2pPr marL="742950" indent="-285750" eaLnBrk="0" hangingPunct="0">
              <a:spcBef>
                <a:spcPct val="20000"/>
              </a:spcBef>
              <a:buSzPct val="75000"/>
              <a:buBlip>
                <a:blip r:embed="rId5"/>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endParaRPr>
          </a:p>
        </p:txBody>
      </p:sp>
      <p:sp>
        <p:nvSpPr>
          <p:cNvPr id="20485"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charset="0"/>
              </a:defRPr>
            </a:lvl1pPr>
            <a:lvl2pPr marL="742950" indent="-285750" eaLnBrk="0" hangingPunct="0">
              <a:spcBef>
                <a:spcPct val="20000"/>
              </a:spcBef>
              <a:buSzPct val="75000"/>
              <a:buBlip>
                <a:blip r:embed="rId5"/>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5F16B039-C9FD-490F-9595-FCDA7D606819}" type="slidenum">
              <a:rPr lang="en-US" altLang="en-US" sz="1400" smtClean="0">
                <a:latin typeface="Arial" charset="0"/>
              </a:rPr>
              <a:pPr eaLnBrk="1" hangingPunct="1">
                <a:spcBef>
                  <a:spcPct val="0"/>
                </a:spcBef>
                <a:buFontTx/>
                <a:buNone/>
              </a:pPr>
              <a:t>14</a:t>
            </a:fld>
            <a:endParaRPr lang="en-US" altLang="en-US" sz="1400" smtClean="0">
              <a:latin typeface="Arial" charset="0"/>
            </a:endParaRPr>
          </a:p>
        </p:txBody>
      </p:sp>
      <p:graphicFrame>
        <p:nvGraphicFramePr>
          <p:cNvPr id="20486" name="Object 4"/>
          <p:cNvGraphicFramePr>
            <a:graphicFrameLocks/>
          </p:cNvGraphicFramePr>
          <p:nvPr/>
        </p:nvGraphicFramePr>
        <p:xfrm>
          <a:off x="2438400" y="4191000"/>
          <a:ext cx="4114800" cy="990600"/>
        </p:xfrm>
        <a:graphic>
          <a:graphicData uri="http://schemas.openxmlformats.org/presentationml/2006/ole">
            <mc:AlternateContent xmlns:mc="http://schemas.openxmlformats.org/markup-compatibility/2006">
              <mc:Choice xmlns:v="urn:schemas-microsoft-com:vml" Requires="v">
                <p:oleObj spid="_x0000_s20494" name="Equation" r:id="rId6" imgW="1816100" imgH="419100" progId="Equation.2">
                  <p:embed/>
                </p:oleObj>
              </mc:Choice>
              <mc:Fallback>
                <p:oleObj name="Equation" r:id="rId6" imgW="1816100" imgH="419100" progId="Equation.2">
                  <p:embed/>
                  <p:pic>
                    <p:nvPicPr>
                      <p:cNvPr id="0" name="Object 4"/>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38400" y="4191000"/>
                        <a:ext cx="4114800"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p:cNvSpPr>
            <a:spLocks noGrp="1" noChangeArrowheads="1"/>
          </p:cNvSpPr>
          <p:nvPr>
            <p:ph type="title"/>
          </p:nvPr>
        </p:nvSpPr>
        <p:spPr/>
        <p:txBody>
          <a:bodyPr lIns="92075" tIns="46038" rIns="92075" bIns="46038">
            <a:normAutofit fontScale="90000"/>
          </a:bodyPr>
          <a:lstStyle/>
          <a:p>
            <a:pPr eaLnBrk="1" fontAlgn="auto" hangingPunct="1">
              <a:spcAft>
                <a:spcPts val="0"/>
              </a:spcAft>
              <a:defRPr/>
            </a:pPr>
            <a:r>
              <a:rPr lang="en-US" dirty="0">
                <a:solidFill>
                  <a:schemeClr val="tx2">
                    <a:satMod val="130000"/>
                  </a:schemeClr>
                </a:solidFill>
              </a:rPr>
              <a:t>Trees for Options on Indices, Currencies and Futures Contracts</a:t>
            </a:r>
          </a:p>
        </p:txBody>
      </p:sp>
      <p:sp>
        <p:nvSpPr>
          <p:cNvPr id="21507" name="Rectangle 3"/>
          <p:cNvSpPr>
            <a:spLocks noGrp="1" noChangeArrowheads="1"/>
          </p:cNvSpPr>
          <p:nvPr>
            <p:ph idx="1"/>
          </p:nvPr>
        </p:nvSpPr>
        <p:spPr/>
        <p:txBody>
          <a:bodyPr lIns="92075" tIns="46038" rIns="92075" bIns="46038"/>
          <a:lstStyle/>
          <a:p>
            <a:pPr eaLnBrk="1" hangingPunct="1">
              <a:buFont typeface="Wingdings" pitchFamily="2" charset="2"/>
              <a:buNone/>
            </a:pPr>
            <a:endParaRPr lang="en-US" altLang="en-US" smtClean="0">
              <a:latin typeface="Arial" charset="0"/>
              <a:cs typeface="Arial" charset="0"/>
            </a:endParaRPr>
          </a:p>
          <a:p>
            <a:pPr eaLnBrk="1" hangingPunct="1">
              <a:buFont typeface="Wingdings" pitchFamily="2" charset="2"/>
              <a:buNone/>
            </a:pPr>
            <a:r>
              <a:rPr lang="en-US" altLang="en-US" smtClean="0">
                <a:latin typeface="Arial" charset="0"/>
                <a:cs typeface="Arial" charset="0"/>
              </a:rPr>
              <a:t>As with Black-Scholes-Merton:</a:t>
            </a:r>
          </a:p>
          <a:p>
            <a:pPr lvl="1" eaLnBrk="1" hangingPunct="1"/>
            <a:r>
              <a:rPr lang="en-US" altLang="en-US" smtClean="0">
                <a:latin typeface="Arial" charset="0"/>
                <a:cs typeface="Arial" charset="0"/>
              </a:rPr>
              <a:t>For options on stock indices,</a:t>
            </a:r>
            <a:r>
              <a:rPr lang="en-US" altLang="en-US" i="1" smtClean="0">
                <a:latin typeface="Arial" charset="0"/>
                <a:cs typeface="Arial" charset="0"/>
              </a:rPr>
              <a:t> </a:t>
            </a:r>
            <a:r>
              <a:rPr lang="en-US" altLang="en-US" i="1" smtClean="0">
                <a:latin typeface="Times New Roman" pitchFamily="18" charset="0"/>
                <a:cs typeface="Arial" charset="0"/>
              </a:rPr>
              <a:t>q</a:t>
            </a:r>
            <a:r>
              <a:rPr lang="en-US" altLang="en-US" i="1" smtClean="0">
                <a:latin typeface="Arial" charset="0"/>
                <a:cs typeface="Arial" charset="0"/>
              </a:rPr>
              <a:t> </a:t>
            </a:r>
            <a:r>
              <a:rPr lang="en-US" altLang="en-US" smtClean="0">
                <a:latin typeface="Arial" charset="0"/>
                <a:cs typeface="Arial" charset="0"/>
              </a:rPr>
              <a:t>equals the dividend yield on the index</a:t>
            </a:r>
          </a:p>
          <a:p>
            <a:pPr lvl="1" eaLnBrk="1" hangingPunct="1"/>
            <a:r>
              <a:rPr lang="en-US" altLang="en-US" smtClean="0">
                <a:latin typeface="Arial" charset="0"/>
                <a:cs typeface="Arial" charset="0"/>
              </a:rPr>
              <a:t>For options on a foreign currency, </a:t>
            </a:r>
            <a:r>
              <a:rPr lang="en-US" altLang="en-US" i="1" smtClean="0">
                <a:latin typeface="Times New Roman" pitchFamily="18" charset="0"/>
                <a:cs typeface="Arial" charset="0"/>
              </a:rPr>
              <a:t>q</a:t>
            </a:r>
            <a:r>
              <a:rPr lang="en-US" altLang="en-US" i="1" smtClean="0">
                <a:latin typeface="Arial" charset="0"/>
                <a:cs typeface="Arial" charset="0"/>
              </a:rPr>
              <a:t> </a:t>
            </a:r>
            <a:r>
              <a:rPr lang="en-US" altLang="en-US" smtClean="0">
                <a:latin typeface="Arial" charset="0"/>
                <a:cs typeface="Arial" charset="0"/>
              </a:rPr>
              <a:t>equals the foreign risk-free rate</a:t>
            </a:r>
          </a:p>
          <a:p>
            <a:pPr lvl="1" eaLnBrk="1" hangingPunct="1"/>
            <a:r>
              <a:rPr lang="en-US" altLang="en-US" smtClean="0">
                <a:latin typeface="Arial" charset="0"/>
                <a:cs typeface="Arial" charset="0"/>
              </a:rPr>
              <a:t>For options on futures contracts </a:t>
            </a:r>
            <a:r>
              <a:rPr lang="en-US" altLang="en-US" i="1" smtClean="0">
                <a:latin typeface="Times New Roman" pitchFamily="18" charset="0"/>
                <a:cs typeface="Arial" charset="0"/>
              </a:rPr>
              <a:t>q</a:t>
            </a:r>
            <a:r>
              <a:rPr lang="en-US" altLang="en-US" smtClean="0">
                <a:latin typeface="Times New Roman" pitchFamily="18" charset="0"/>
                <a:cs typeface="Arial" charset="0"/>
              </a:rPr>
              <a:t> =</a:t>
            </a:r>
            <a:r>
              <a:rPr lang="en-US" altLang="en-US" i="1" smtClean="0">
                <a:latin typeface="Times New Roman" pitchFamily="18" charset="0"/>
                <a:cs typeface="Arial" charset="0"/>
              </a:rPr>
              <a:t> r</a:t>
            </a:r>
          </a:p>
        </p:txBody>
      </p:sp>
      <p:sp>
        <p:nvSpPr>
          <p:cNvPr id="2150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endParaRPr>
          </a:p>
        </p:txBody>
      </p:sp>
      <p:sp>
        <p:nvSpPr>
          <p:cNvPr id="21509"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019E7FC7-7767-41AF-9974-B73EAFF7A248}" type="slidenum">
              <a:rPr lang="en-US" altLang="en-US" sz="1400" smtClean="0">
                <a:latin typeface="Arial" charset="0"/>
              </a:rPr>
              <a:pPr eaLnBrk="1" hangingPunct="1">
                <a:spcBef>
                  <a:spcPct val="0"/>
                </a:spcBef>
                <a:buFontTx/>
                <a:buNone/>
              </a:pPr>
              <a:t>15</a:t>
            </a:fld>
            <a:endParaRPr lang="en-US" altLang="en-US" sz="1400" smtClean="0">
              <a:latin typeface="Arial" charset="0"/>
            </a:endParaRPr>
          </a:p>
        </p:txBody>
      </p:sp>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p:cNvSpPr>
            <a:spLocks noGrp="1" noChangeArrowheads="1"/>
          </p:cNvSpPr>
          <p:nvPr>
            <p:ph type="title"/>
          </p:nvPr>
        </p:nvSpPr>
        <p:spPr/>
        <p:txBody>
          <a:bodyPr lIns="92075" tIns="46038" rIns="92075" bIns="46038">
            <a:normAutofit fontScale="90000"/>
          </a:bodyPr>
          <a:lstStyle/>
          <a:p>
            <a:pPr eaLnBrk="1" fontAlgn="auto" hangingPunct="1">
              <a:spcAft>
                <a:spcPts val="0"/>
              </a:spcAft>
              <a:defRPr/>
            </a:pPr>
            <a:r>
              <a:rPr lang="en-US" dirty="0">
                <a:solidFill>
                  <a:schemeClr val="tx2">
                    <a:satMod val="130000"/>
                  </a:schemeClr>
                </a:solidFill>
              </a:rPr>
              <a:t>Binomial Tree for </a:t>
            </a:r>
            <a:r>
              <a:rPr lang="en-US" dirty="0" smtClean="0">
                <a:solidFill>
                  <a:schemeClr val="tx2">
                    <a:satMod val="130000"/>
                  </a:schemeClr>
                </a:solidFill>
              </a:rPr>
              <a:t>Stock Paying Known Dividends</a:t>
            </a:r>
            <a:endParaRPr lang="en-US" dirty="0">
              <a:solidFill>
                <a:schemeClr val="tx2">
                  <a:satMod val="130000"/>
                </a:schemeClr>
              </a:solidFill>
            </a:endParaRPr>
          </a:p>
        </p:txBody>
      </p:sp>
      <p:sp>
        <p:nvSpPr>
          <p:cNvPr id="22531" name="Rectangle 3"/>
          <p:cNvSpPr>
            <a:spLocks noGrp="1" noChangeArrowheads="1"/>
          </p:cNvSpPr>
          <p:nvPr>
            <p:ph idx="1"/>
          </p:nvPr>
        </p:nvSpPr>
        <p:spPr>
          <a:xfrm>
            <a:off x="990600" y="2209800"/>
            <a:ext cx="7232650" cy="3352800"/>
          </a:xfrm>
        </p:spPr>
        <p:txBody>
          <a:bodyPr lIns="92075" tIns="46038" rIns="92075" bIns="46038"/>
          <a:lstStyle/>
          <a:p>
            <a:pPr eaLnBrk="1" hangingPunct="1"/>
            <a:r>
              <a:rPr lang="en-US" altLang="en-US" smtClean="0">
                <a:latin typeface="Arial" charset="0"/>
                <a:cs typeface="Arial" charset="0"/>
              </a:rPr>
              <a:t>Procedure:</a:t>
            </a:r>
          </a:p>
          <a:p>
            <a:pPr lvl="1" eaLnBrk="1" hangingPunct="1"/>
            <a:r>
              <a:rPr lang="en-US" altLang="en-US" smtClean="0">
                <a:latin typeface="Arial" charset="0"/>
                <a:cs typeface="Arial" charset="0"/>
              </a:rPr>
              <a:t>Construct a tree for the stock price less the present value of the dividends</a:t>
            </a:r>
          </a:p>
          <a:p>
            <a:pPr lvl="1" eaLnBrk="1" hangingPunct="1"/>
            <a:r>
              <a:rPr lang="en-US" altLang="en-US" smtClean="0">
                <a:latin typeface="Arial" charset="0"/>
                <a:cs typeface="Arial" charset="0"/>
              </a:rPr>
              <a:t>Create a new tree by adding the present value of the dividends at each node</a:t>
            </a:r>
          </a:p>
          <a:p>
            <a:pPr eaLnBrk="1" hangingPunct="1"/>
            <a:r>
              <a:rPr lang="en-US" altLang="en-US" smtClean="0">
                <a:latin typeface="Arial" charset="0"/>
                <a:cs typeface="Arial" charset="0"/>
              </a:rPr>
              <a:t>This ensures that the tree recombines and makes assumptions similar to those when the Black-Scholes-Merton model is used for European options</a:t>
            </a:r>
          </a:p>
        </p:txBody>
      </p:sp>
      <p:sp>
        <p:nvSpPr>
          <p:cNvPr id="2253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endParaRPr>
          </a:p>
        </p:txBody>
      </p:sp>
      <p:sp>
        <p:nvSpPr>
          <p:cNvPr id="2253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ECFE50EB-59F9-4992-91FF-8A65D7A6FC0D}" type="slidenum">
              <a:rPr lang="en-US" altLang="en-US" sz="1400" smtClean="0">
                <a:latin typeface="Arial" charset="0"/>
              </a:rPr>
              <a:pPr eaLnBrk="1" hangingPunct="1">
                <a:spcBef>
                  <a:spcPct val="0"/>
                </a:spcBef>
                <a:buFontTx/>
                <a:buNone/>
              </a:pPr>
              <a:t>16</a:t>
            </a:fld>
            <a:endParaRPr lang="en-US" altLang="en-US" sz="1400" smtClean="0">
              <a:latin typeface="Arial" charset="0"/>
            </a:endParaRPr>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p:cNvSpPr>
            <a:spLocks noGrp="1" noChangeArrowheads="1"/>
          </p:cNvSpPr>
          <p:nvPr>
            <p:ph type="title"/>
          </p:nvPr>
        </p:nvSpPr>
        <p:spPr/>
        <p:txBody>
          <a:bodyPr lIns="92075" tIns="46038" rIns="92075" bIns="46038"/>
          <a:lstStyle/>
          <a:p>
            <a:pPr eaLnBrk="1" fontAlgn="auto" hangingPunct="1">
              <a:spcAft>
                <a:spcPts val="0"/>
              </a:spcAft>
              <a:defRPr/>
            </a:pPr>
            <a:r>
              <a:rPr lang="en-CA" dirty="0" smtClean="0">
                <a:solidFill>
                  <a:schemeClr val="tx2">
                    <a:satMod val="130000"/>
                  </a:schemeClr>
                </a:solidFill>
              </a:rPr>
              <a:t>Control </a:t>
            </a:r>
            <a:r>
              <a:rPr lang="en-CA" dirty="0" err="1" smtClean="0">
                <a:solidFill>
                  <a:schemeClr val="tx2">
                    <a:satMod val="130000"/>
                  </a:schemeClr>
                </a:solidFill>
              </a:rPr>
              <a:t>Variate</a:t>
            </a:r>
            <a:r>
              <a:rPr lang="en-CA" dirty="0" smtClean="0">
                <a:solidFill>
                  <a:schemeClr val="tx2">
                    <a:satMod val="130000"/>
                  </a:schemeClr>
                </a:solidFill>
              </a:rPr>
              <a:t> Technique</a:t>
            </a:r>
            <a:endParaRPr lang="en-US" dirty="0">
              <a:solidFill>
                <a:schemeClr val="tx2">
                  <a:satMod val="130000"/>
                </a:schemeClr>
              </a:solidFill>
            </a:endParaRPr>
          </a:p>
        </p:txBody>
      </p:sp>
      <p:sp>
        <p:nvSpPr>
          <p:cNvPr id="31747" name="Rectangle 3"/>
          <p:cNvSpPr>
            <a:spLocks noGrp="1" noChangeArrowheads="1"/>
          </p:cNvSpPr>
          <p:nvPr>
            <p:ph idx="1"/>
          </p:nvPr>
        </p:nvSpPr>
        <p:spPr/>
        <p:txBody>
          <a:bodyPr lIns="92075" tIns="46038" rIns="92075" bIns="46038"/>
          <a:lstStyle/>
          <a:p>
            <a:pPr eaLnBrk="1" hangingPunct="1">
              <a:defRPr/>
            </a:pPr>
            <a:r>
              <a:rPr lang="en-US" dirty="0" smtClean="0">
                <a:latin typeface="Arial" charset="0"/>
                <a:cs typeface="Arial" charset="0"/>
              </a:rPr>
              <a:t>Value American option, </a:t>
            </a:r>
            <a:r>
              <a:rPr lang="en-US" i="1" dirty="0" err="1" smtClean="0">
                <a:latin typeface="+mj-lt"/>
                <a:cs typeface="Arial" charset="0"/>
              </a:rPr>
              <a:t>f</a:t>
            </a:r>
            <a:r>
              <a:rPr lang="en-US" i="1" baseline="-25000" dirty="0" err="1" smtClean="0">
                <a:latin typeface="+mj-lt"/>
                <a:cs typeface="Arial" charset="0"/>
              </a:rPr>
              <a:t>A</a:t>
            </a:r>
            <a:endParaRPr lang="en-US" i="1" dirty="0" smtClean="0">
              <a:latin typeface="+mj-lt"/>
              <a:cs typeface="Arial" charset="0"/>
            </a:endParaRPr>
          </a:p>
          <a:p>
            <a:pPr eaLnBrk="1" hangingPunct="1">
              <a:defRPr/>
            </a:pPr>
            <a:r>
              <a:rPr lang="en-CA" dirty="0" smtClean="0">
                <a:latin typeface="Arial" charset="0"/>
                <a:cs typeface="Arial" charset="0"/>
              </a:rPr>
              <a:t>Value European option using same tree, </a:t>
            </a:r>
            <a:r>
              <a:rPr lang="en-CA" i="1" dirty="0" err="1" smtClean="0">
                <a:latin typeface="+mj-lt"/>
                <a:cs typeface="Arial" charset="0"/>
              </a:rPr>
              <a:t>f</a:t>
            </a:r>
            <a:r>
              <a:rPr lang="en-CA" i="1" baseline="-25000" dirty="0" err="1" smtClean="0">
                <a:latin typeface="+mj-lt"/>
                <a:cs typeface="Arial" charset="0"/>
              </a:rPr>
              <a:t>E</a:t>
            </a:r>
            <a:endParaRPr lang="en-US" i="1" dirty="0" smtClean="0">
              <a:latin typeface="+mj-lt"/>
              <a:cs typeface="Arial" charset="0"/>
            </a:endParaRPr>
          </a:p>
          <a:p>
            <a:pPr eaLnBrk="1" hangingPunct="1">
              <a:defRPr/>
            </a:pPr>
            <a:r>
              <a:rPr lang="en-CA" dirty="0" smtClean="0">
                <a:latin typeface="Arial" charset="0"/>
                <a:cs typeface="Arial" charset="0"/>
              </a:rPr>
              <a:t>Value European option using Black-</a:t>
            </a:r>
            <a:r>
              <a:rPr lang="en-CA" dirty="0" err="1" smtClean="0">
                <a:latin typeface="Arial" charset="0"/>
                <a:cs typeface="Arial" charset="0"/>
              </a:rPr>
              <a:t>Scholes</a:t>
            </a:r>
            <a:r>
              <a:rPr lang="en-CA" dirty="0" smtClean="0">
                <a:latin typeface="Arial" charset="0"/>
                <a:cs typeface="Arial" charset="0"/>
              </a:rPr>
              <a:t> –Merton, </a:t>
            </a:r>
            <a:r>
              <a:rPr lang="en-CA" i="1" dirty="0" err="1" smtClean="0">
                <a:latin typeface="+mj-lt"/>
                <a:cs typeface="Arial" charset="0"/>
              </a:rPr>
              <a:t>f</a:t>
            </a:r>
            <a:r>
              <a:rPr lang="en-CA" i="1" baseline="-25000" dirty="0" err="1" smtClean="0">
                <a:latin typeface="+mj-lt"/>
                <a:cs typeface="Arial" charset="0"/>
              </a:rPr>
              <a:t>BS</a:t>
            </a:r>
            <a:endParaRPr lang="en-CA" i="1" dirty="0" smtClean="0">
              <a:latin typeface="+mj-lt"/>
              <a:cs typeface="Arial" charset="0"/>
            </a:endParaRPr>
          </a:p>
          <a:p>
            <a:pPr eaLnBrk="1" hangingPunct="1">
              <a:defRPr/>
            </a:pPr>
            <a:r>
              <a:rPr lang="en-CA" dirty="0" smtClean="0">
                <a:latin typeface="Arial" charset="0"/>
                <a:cs typeface="Arial" charset="0"/>
              </a:rPr>
              <a:t>Option price =</a:t>
            </a:r>
            <a:r>
              <a:rPr lang="en-CA" i="1" dirty="0" err="1" smtClean="0">
                <a:latin typeface="+mj-lt"/>
                <a:cs typeface="Arial" charset="0"/>
              </a:rPr>
              <a:t>f</a:t>
            </a:r>
            <a:r>
              <a:rPr lang="en-CA" i="1" baseline="-25000" dirty="0" err="1" smtClean="0">
                <a:latin typeface="+mj-lt"/>
                <a:cs typeface="Arial" charset="0"/>
              </a:rPr>
              <a:t>A</a:t>
            </a:r>
            <a:r>
              <a:rPr lang="en-CA" dirty="0" smtClean="0">
                <a:latin typeface="+mj-lt"/>
                <a:cs typeface="Arial" charset="0"/>
              </a:rPr>
              <a:t>+(</a:t>
            </a:r>
            <a:r>
              <a:rPr lang="en-CA" i="1" dirty="0" err="1" smtClean="0">
                <a:latin typeface="+mj-lt"/>
                <a:cs typeface="Arial" charset="0"/>
              </a:rPr>
              <a:t>f</a:t>
            </a:r>
            <a:r>
              <a:rPr lang="en-CA" i="1" baseline="-25000" dirty="0" err="1" smtClean="0">
                <a:latin typeface="+mj-lt"/>
                <a:cs typeface="Arial" charset="0"/>
              </a:rPr>
              <a:t>BS</a:t>
            </a:r>
            <a:r>
              <a:rPr lang="en-CA" dirty="0" smtClean="0">
                <a:latin typeface="+mj-lt"/>
                <a:cs typeface="Arial" charset="0"/>
              </a:rPr>
              <a:t> – </a:t>
            </a:r>
            <a:r>
              <a:rPr lang="en-CA" i="1" dirty="0" err="1" smtClean="0">
                <a:latin typeface="+mj-lt"/>
                <a:cs typeface="Arial" charset="0"/>
              </a:rPr>
              <a:t>f</a:t>
            </a:r>
            <a:r>
              <a:rPr lang="en-CA" i="1" baseline="-25000" dirty="0" err="1" smtClean="0">
                <a:latin typeface="+mj-lt"/>
                <a:cs typeface="Arial" charset="0"/>
              </a:rPr>
              <a:t>E</a:t>
            </a:r>
            <a:r>
              <a:rPr lang="en-CA" dirty="0" smtClean="0">
                <a:latin typeface="+mj-lt"/>
                <a:cs typeface="Arial" charset="0"/>
              </a:rPr>
              <a:t>)</a:t>
            </a:r>
          </a:p>
          <a:p>
            <a:pPr eaLnBrk="1" hangingPunct="1">
              <a:buFontTx/>
              <a:buNone/>
              <a:defRPr/>
            </a:pPr>
            <a:r>
              <a:rPr lang="en-CA" dirty="0" smtClean="0">
                <a:latin typeface="Arial" charset="0"/>
                <a:cs typeface="Arial" charset="0"/>
              </a:rPr>
              <a:t> </a:t>
            </a:r>
            <a:endParaRPr lang="en-US" dirty="0" smtClean="0">
              <a:latin typeface="Arial" charset="0"/>
              <a:cs typeface="Arial" charset="0"/>
            </a:endParaRPr>
          </a:p>
        </p:txBody>
      </p:sp>
      <p:sp>
        <p:nvSpPr>
          <p:cNvPr id="2355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endParaRPr>
          </a:p>
        </p:txBody>
      </p:sp>
      <p:sp>
        <p:nvSpPr>
          <p:cNvPr id="2355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2902DAD8-70DD-4BF0-93E0-1FF1176536F1}" type="slidenum">
              <a:rPr lang="en-US" altLang="en-US" sz="1400" smtClean="0">
                <a:latin typeface="Arial" charset="0"/>
              </a:rPr>
              <a:pPr eaLnBrk="1" hangingPunct="1">
                <a:spcBef>
                  <a:spcPct val="0"/>
                </a:spcBef>
                <a:buFontTx/>
                <a:buNone/>
              </a:pPr>
              <a:t>17</a:t>
            </a:fld>
            <a:endParaRPr lang="en-US" altLang="en-US" sz="1400" smtClean="0">
              <a:latin typeface="Arial"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p:cNvSpPr>
            <a:spLocks noGrp="1" noChangeArrowheads="1"/>
          </p:cNvSpPr>
          <p:nvPr>
            <p:ph type="title"/>
          </p:nvPr>
        </p:nvSpPr>
        <p:spPr/>
        <p:txBody>
          <a:bodyPr lIns="92075" tIns="46038" rIns="92075" bIns="46038"/>
          <a:lstStyle/>
          <a:p>
            <a:pPr eaLnBrk="1" fontAlgn="auto" hangingPunct="1">
              <a:spcAft>
                <a:spcPts val="0"/>
              </a:spcAft>
              <a:defRPr/>
            </a:pPr>
            <a:r>
              <a:rPr lang="en-US" dirty="0">
                <a:solidFill>
                  <a:schemeClr val="tx2">
                    <a:satMod val="130000"/>
                  </a:schemeClr>
                </a:solidFill>
              </a:rPr>
              <a:t>Alternative Binomial Tree</a:t>
            </a:r>
            <a:br>
              <a:rPr lang="en-US" dirty="0">
                <a:solidFill>
                  <a:schemeClr val="tx2">
                    <a:satMod val="130000"/>
                  </a:schemeClr>
                </a:solidFill>
              </a:rPr>
            </a:br>
            <a:endParaRPr lang="en-US" sz="2200" dirty="0">
              <a:solidFill>
                <a:schemeClr val="tx2">
                  <a:satMod val="130000"/>
                </a:schemeClr>
              </a:solidFill>
            </a:endParaRPr>
          </a:p>
        </p:txBody>
      </p:sp>
      <p:sp>
        <p:nvSpPr>
          <p:cNvPr id="24579" name="Rectangle 3"/>
          <p:cNvSpPr>
            <a:spLocks noGrp="1" noChangeArrowheads="1"/>
          </p:cNvSpPr>
          <p:nvPr>
            <p:ph idx="1"/>
          </p:nvPr>
        </p:nvSpPr>
        <p:spPr>
          <a:xfrm>
            <a:off x="914400" y="2209800"/>
            <a:ext cx="7212013" cy="1066800"/>
          </a:xfrm>
        </p:spPr>
        <p:txBody>
          <a:bodyPr lIns="92075" tIns="46038" rIns="92075" bIns="46038"/>
          <a:lstStyle/>
          <a:p>
            <a:pPr eaLnBrk="1" hangingPunct="1">
              <a:buFont typeface="Wingdings" pitchFamily="2" charset="2"/>
              <a:buNone/>
            </a:pPr>
            <a:r>
              <a:rPr lang="en-US" altLang="en-US" smtClean="0">
                <a:latin typeface="Arial" charset="0"/>
                <a:cs typeface="Arial" charset="0"/>
              </a:rPr>
              <a:t>	Instead of setting </a:t>
            </a:r>
            <a:r>
              <a:rPr lang="en-US" altLang="en-US" i="1" smtClean="0">
                <a:latin typeface="Times New Roman" pitchFamily="18" charset="0"/>
                <a:cs typeface="Arial" charset="0"/>
              </a:rPr>
              <a:t>u</a:t>
            </a:r>
            <a:r>
              <a:rPr lang="en-US" altLang="en-US" smtClean="0">
                <a:latin typeface="Times New Roman" pitchFamily="18" charset="0"/>
                <a:cs typeface="Arial" charset="0"/>
              </a:rPr>
              <a:t> = 1/</a:t>
            </a:r>
            <a:r>
              <a:rPr lang="en-US" altLang="en-US" i="1" smtClean="0">
                <a:latin typeface="Times New Roman" pitchFamily="18" charset="0"/>
                <a:cs typeface="Arial" charset="0"/>
              </a:rPr>
              <a:t>d</a:t>
            </a:r>
            <a:r>
              <a:rPr lang="en-US" altLang="en-US" smtClean="0">
                <a:latin typeface="Arial" charset="0"/>
                <a:cs typeface="Arial" charset="0"/>
              </a:rPr>
              <a:t> we can set each of the 2 probabilities to 0.5 and</a:t>
            </a:r>
          </a:p>
        </p:txBody>
      </p:sp>
      <p:sp>
        <p:nvSpPr>
          <p:cNvPr id="2458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charset="0"/>
              </a:defRPr>
            </a:lvl1pPr>
            <a:lvl2pPr marL="742950" indent="-285750" eaLnBrk="0" hangingPunct="0">
              <a:spcBef>
                <a:spcPct val="20000"/>
              </a:spcBef>
              <a:buSzPct val="75000"/>
              <a:buBlip>
                <a:blip r:embed="rId5"/>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endParaRPr>
          </a:p>
        </p:txBody>
      </p:sp>
      <p:sp>
        <p:nvSpPr>
          <p:cNvPr id="2458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charset="0"/>
              </a:defRPr>
            </a:lvl1pPr>
            <a:lvl2pPr marL="742950" indent="-285750" eaLnBrk="0" hangingPunct="0">
              <a:spcBef>
                <a:spcPct val="20000"/>
              </a:spcBef>
              <a:buSzPct val="75000"/>
              <a:buBlip>
                <a:blip r:embed="rId5"/>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143DD566-4A38-4DDD-82E8-33F6F48D993A}" type="slidenum">
              <a:rPr lang="en-US" altLang="en-US" sz="1400" smtClean="0">
                <a:latin typeface="Arial" charset="0"/>
              </a:rPr>
              <a:pPr eaLnBrk="1" hangingPunct="1">
                <a:spcBef>
                  <a:spcPct val="0"/>
                </a:spcBef>
                <a:buFontTx/>
                <a:buNone/>
              </a:pPr>
              <a:t>18</a:t>
            </a:fld>
            <a:endParaRPr lang="en-US" altLang="en-US" sz="1400" smtClean="0">
              <a:latin typeface="Arial" charset="0"/>
            </a:endParaRPr>
          </a:p>
        </p:txBody>
      </p:sp>
      <p:graphicFrame>
        <p:nvGraphicFramePr>
          <p:cNvPr id="24582" name="Object 4"/>
          <p:cNvGraphicFramePr>
            <a:graphicFrameLocks/>
          </p:cNvGraphicFramePr>
          <p:nvPr/>
        </p:nvGraphicFramePr>
        <p:xfrm>
          <a:off x="2895600" y="3429000"/>
          <a:ext cx="4038600" cy="1600200"/>
        </p:xfrm>
        <a:graphic>
          <a:graphicData uri="http://schemas.openxmlformats.org/presentationml/2006/ole">
            <mc:AlternateContent xmlns:mc="http://schemas.openxmlformats.org/markup-compatibility/2006">
              <mc:Choice xmlns:v="urn:schemas-microsoft-com:vml" Requires="v">
                <p:oleObj spid="_x0000_s24590" name="Equation" r:id="rId6" imgW="1193800" imgH="482600" progId="Equation.3">
                  <p:embed/>
                </p:oleObj>
              </mc:Choice>
              <mc:Fallback>
                <p:oleObj name="Equation" r:id="rId6" imgW="1193800" imgH="482600" progId="Equation.3">
                  <p:embed/>
                  <p:pic>
                    <p:nvPicPr>
                      <p:cNvPr id="0" name="Object 4"/>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95600" y="3429000"/>
                        <a:ext cx="4038600"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1447800" y="457200"/>
            <a:ext cx="7010400" cy="1447800"/>
          </a:xfrm>
        </p:spPr>
        <p:txBody>
          <a:bodyPr lIns="92075" tIns="46038" rIns="92075" bIns="46038"/>
          <a:lstStyle/>
          <a:p>
            <a:pPr eaLnBrk="1" fontAlgn="auto" hangingPunct="1">
              <a:spcAft>
                <a:spcPts val="0"/>
              </a:spcAft>
              <a:defRPr/>
            </a:pPr>
            <a:r>
              <a:rPr lang="en-US" dirty="0">
                <a:solidFill>
                  <a:schemeClr val="tx2">
                    <a:satMod val="130000"/>
                  </a:schemeClr>
                </a:solidFill>
              </a:rPr>
              <a:t>Trinomial </a:t>
            </a:r>
            <a:r>
              <a:rPr lang="en-US" dirty="0" smtClean="0">
                <a:solidFill>
                  <a:schemeClr val="tx2">
                    <a:satMod val="130000"/>
                  </a:schemeClr>
                </a:solidFill>
              </a:rPr>
              <a:t>Tree</a:t>
            </a:r>
            <a:endParaRPr lang="en-US" dirty="0">
              <a:solidFill>
                <a:schemeClr val="tx2">
                  <a:satMod val="130000"/>
                </a:schemeClr>
              </a:solidFill>
            </a:endParaRPr>
          </a:p>
        </p:txBody>
      </p:sp>
      <p:sp>
        <p:nvSpPr>
          <p:cNvPr id="25603"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charset="0"/>
              </a:defRPr>
            </a:lvl1pPr>
            <a:lvl2pPr marL="742950" indent="-285750" eaLnBrk="0" hangingPunct="0">
              <a:spcBef>
                <a:spcPct val="20000"/>
              </a:spcBef>
              <a:buSzPct val="75000"/>
              <a:buBlip>
                <a:blip r:embed="rId5"/>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endParaRPr>
          </a:p>
        </p:txBody>
      </p:sp>
      <p:sp>
        <p:nvSpPr>
          <p:cNvPr id="2560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charset="0"/>
              </a:defRPr>
            </a:lvl1pPr>
            <a:lvl2pPr marL="742950" indent="-285750" eaLnBrk="0" hangingPunct="0">
              <a:spcBef>
                <a:spcPct val="20000"/>
              </a:spcBef>
              <a:buSzPct val="75000"/>
              <a:buBlip>
                <a:blip r:embed="rId5"/>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72FCB790-5784-4C17-9365-5B0C091DE9A3}" type="slidenum">
              <a:rPr lang="en-US" altLang="en-US" sz="1400" smtClean="0">
                <a:latin typeface="Arial" charset="0"/>
              </a:rPr>
              <a:pPr eaLnBrk="1" hangingPunct="1">
                <a:spcBef>
                  <a:spcPct val="0"/>
                </a:spcBef>
                <a:buFontTx/>
                <a:buNone/>
              </a:pPr>
              <a:t>19</a:t>
            </a:fld>
            <a:endParaRPr lang="en-US" altLang="en-US" sz="1400" smtClean="0">
              <a:latin typeface="Arial" charset="0"/>
            </a:endParaRPr>
          </a:p>
        </p:txBody>
      </p:sp>
      <p:graphicFrame>
        <p:nvGraphicFramePr>
          <p:cNvPr id="25605" name="Object 3"/>
          <p:cNvGraphicFramePr>
            <a:graphicFrameLocks/>
          </p:cNvGraphicFramePr>
          <p:nvPr/>
        </p:nvGraphicFramePr>
        <p:xfrm>
          <a:off x="1295400" y="2133600"/>
          <a:ext cx="3336925" cy="3505200"/>
        </p:xfrm>
        <a:graphic>
          <a:graphicData uri="http://schemas.openxmlformats.org/presentationml/2006/ole">
            <mc:AlternateContent xmlns:mc="http://schemas.openxmlformats.org/markup-compatibility/2006">
              <mc:Choice xmlns:v="urn:schemas-microsoft-com:vml" Requires="v">
                <p:oleObj spid="_x0000_s25624" name="Equation" r:id="rId6" imgW="1663700" imgH="1651000" progId="Equation.3">
                  <p:embed/>
                </p:oleObj>
              </mc:Choice>
              <mc:Fallback>
                <p:oleObj name="Equation" r:id="rId6" imgW="1663700" imgH="1651000" progId="Equation.3">
                  <p:embed/>
                  <p:pic>
                    <p:nvPicPr>
                      <p:cNvPr id="0" name="Object 3"/>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95400" y="2133600"/>
                        <a:ext cx="3336925"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5606" name="Group 14"/>
          <p:cNvGrpSpPr>
            <a:grpSpLocks/>
          </p:cNvGrpSpPr>
          <p:nvPr/>
        </p:nvGrpSpPr>
        <p:grpSpPr bwMode="auto">
          <a:xfrm>
            <a:off x="5165725" y="1235075"/>
            <a:ext cx="2798763" cy="4465638"/>
            <a:chOff x="3254" y="778"/>
            <a:chExt cx="1763" cy="2813"/>
          </a:xfrm>
        </p:grpSpPr>
        <p:sp>
          <p:nvSpPr>
            <p:cNvPr id="25607" name="Line 4"/>
            <p:cNvSpPr>
              <a:spLocks noChangeShapeType="1"/>
            </p:cNvSpPr>
            <p:nvPr/>
          </p:nvSpPr>
          <p:spPr bwMode="auto">
            <a:xfrm>
              <a:off x="3456" y="2160"/>
              <a:ext cx="1248" cy="0"/>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25608" name="Line 5"/>
            <p:cNvSpPr>
              <a:spLocks noChangeShapeType="1"/>
            </p:cNvSpPr>
            <p:nvPr/>
          </p:nvSpPr>
          <p:spPr bwMode="auto">
            <a:xfrm flipV="1">
              <a:off x="3456" y="912"/>
              <a:ext cx="1248" cy="1248"/>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25609" name="Line 6"/>
            <p:cNvSpPr>
              <a:spLocks noChangeShapeType="1"/>
            </p:cNvSpPr>
            <p:nvPr/>
          </p:nvSpPr>
          <p:spPr bwMode="auto">
            <a:xfrm>
              <a:off x="3456" y="2160"/>
              <a:ext cx="1248" cy="1248"/>
            </a:xfrm>
            <a:prstGeom prst="line">
              <a:avLst/>
            </a:prstGeom>
            <a:noFill/>
            <a:ln w="12700">
              <a:solidFill>
                <a:schemeClr val="tx1"/>
              </a:solidFill>
              <a:round/>
              <a:headEnd type="none" w="sm" len="sm"/>
              <a:tailEnd type="stealth" w="med" len="lg"/>
            </a:ln>
            <a:extLst>
              <a:ext uri="{909E8E84-426E-40DD-AFC4-6F175D3DCCD1}">
                <a14:hiddenFill xmlns:a14="http://schemas.microsoft.com/office/drawing/2010/main">
                  <a:noFill/>
                </a14:hiddenFill>
              </a:ext>
            </a:extLst>
          </p:spPr>
          <p:txBody>
            <a:bodyPr wrap="none" anchor="ctr"/>
            <a:lstStyle/>
            <a:p>
              <a:endParaRPr lang="en-US"/>
            </a:p>
          </p:txBody>
        </p:sp>
        <p:sp>
          <p:nvSpPr>
            <p:cNvPr id="25610" name="Rectangle 7"/>
            <p:cNvSpPr>
              <a:spLocks noChangeArrowheads="1"/>
            </p:cNvSpPr>
            <p:nvPr/>
          </p:nvSpPr>
          <p:spPr bwMode="auto">
            <a:xfrm>
              <a:off x="3254" y="1978"/>
              <a:ext cx="24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Blip>
                  <a:blip r:embed="rId4"/>
                </a:buBlip>
                <a:defRPr sz="3200">
                  <a:solidFill>
                    <a:schemeClr val="tx1"/>
                  </a:solidFill>
                  <a:latin typeface="Tahoma" charset="0"/>
                </a:defRPr>
              </a:lvl1pPr>
              <a:lvl2pPr marL="742950" indent="-285750" eaLnBrk="0" hangingPunct="0">
                <a:spcBef>
                  <a:spcPct val="20000"/>
                </a:spcBef>
                <a:buSzPct val="75000"/>
                <a:buBlip>
                  <a:blip r:embed="rId5"/>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a:spcBef>
                  <a:spcPct val="0"/>
                </a:spcBef>
                <a:buFontTx/>
                <a:buNone/>
              </a:pPr>
              <a:r>
                <a:rPr lang="en-US" altLang="en-US" i="1">
                  <a:latin typeface="Times New Roman" pitchFamily="18" charset="0"/>
                </a:rPr>
                <a:t>S</a:t>
              </a:r>
            </a:p>
          </p:txBody>
        </p:sp>
        <p:sp>
          <p:nvSpPr>
            <p:cNvPr id="25611" name="Rectangle 8"/>
            <p:cNvSpPr>
              <a:spLocks noChangeArrowheads="1"/>
            </p:cNvSpPr>
            <p:nvPr/>
          </p:nvSpPr>
          <p:spPr bwMode="auto">
            <a:xfrm>
              <a:off x="4646" y="1978"/>
              <a:ext cx="24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Blip>
                  <a:blip r:embed="rId4"/>
                </a:buBlip>
                <a:defRPr sz="3200">
                  <a:solidFill>
                    <a:schemeClr val="tx1"/>
                  </a:solidFill>
                  <a:latin typeface="Tahoma" charset="0"/>
                </a:defRPr>
              </a:lvl1pPr>
              <a:lvl2pPr marL="742950" indent="-285750" eaLnBrk="0" hangingPunct="0">
                <a:spcBef>
                  <a:spcPct val="20000"/>
                </a:spcBef>
                <a:buSzPct val="75000"/>
                <a:buBlip>
                  <a:blip r:embed="rId5"/>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a:spcBef>
                  <a:spcPct val="0"/>
                </a:spcBef>
                <a:buFontTx/>
                <a:buNone/>
              </a:pPr>
              <a:r>
                <a:rPr lang="en-US" altLang="en-US" i="1">
                  <a:latin typeface="Times New Roman" pitchFamily="18" charset="0"/>
                </a:rPr>
                <a:t>S</a:t>
              </a:r>
            </a:p>
          </p:txBody>
        </p:sp>
        <p:sp>
          <p:nvSpPr>
            <p:cNvPr id="25612" name="Rectangle 9"/>
            <p:cNvSpPr>
              <a:spLocks noChangeArrowheads="1"/>
            </p:cNvSpPr>
            <p:nvPr/>
          </p:nvSpPr>
          <p:spPr bwMode="auto">
            <a:xfrm>
              <a:off x="4645" y="3226"/>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Blip>
                  <a:blip r:embed="rId4"/>
                </a:buBlip>
                <a:defRPr sz="3200">
                  <a:solidFill>
                    <a:schemeClr val="tx1"/>
                  </a:solidFill>
                  <a:latin typeface="Tahoma" charset="0"/>
                </a:defRPr>
              </a:lvl1pPr>
              <a:lvl2pPr marL="742950" indent="-285750" eaLnBrk="0" hangingPunct="0">
                <a:spcBef>
                  <a:spcPct val="20000"/>
                </a:spcBef>
                <a:buSzPct val="75000"/>
                <a:buBlip>
                  <a:blip r:embed="rId5"/>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a:spcBef>
                  <a:spcPct val="0"/>
                </a:spcBef>
                <a:buFontTx/>
                <a:buNone/>
              </a:pPr>
              <a:r>
                <a:rPr lang="en-US" altLang="en-US" i="1">
                  <a:latin typeface="Times New Roman" pitchFamily="18" charset="0"/>
                </a:rPr>
                <a:t>Sd</a:t>
              </a:r>
            </a:p>
          </p:txBody>
        </p:sp>
        <p:sp>
          <p:nvSpPr>
            <p:cNvPr id="25613" name="Rectangle 10"/>
            <p:cNvSpPr>
              <a:spLocks noChangeArrowheads="1"/>
            </p:cNvSpPr>
            <p:nvPr/>
          </p:nvSpPr>
          <p:spPr bwMode="auto">
            <a:xfrm>
              <a:off x="4645" y="778"/>
              <a:ext cx="372"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Blip>
                  <a:blip r:embed="rId4"/>
                </a:buBlip>
                <a:defRPr sz="3200">
                  <a:solidFill>
                    <a:schemeClr val="tx1"/>
                  </a:solidFill>
                  <a:latin typeface="Tahoma" charset="0"/>
                </a:defRPr>
              </a:lvl1pPr>
              <a:lvl2pPr marL="742950" indent="-285750" eaLnBrk="0" hangingPunct="0">
                <a:spcBef>
                  <a:spcPct val="20000"/>
                </a:spcBef>
                <a:buSzPct val="75000"/>
                <a:buBlip>
                  <a:blip r:embed="rId5"/>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a:spcBef>
                  <a:spcPct val="0"/>
                </a:spcBef>
                <a:buFontTx/>
                <a:buNone/>
              </a:pPr>
              <a:r>
                <a:rPr lang="en-US" altLang="en-US" i="1">
                  <a:latin typeface="Times New Roman" pitchFamily="18" charset="0"/>
                </a:rPr>
                <a:t>Su</a:t>
              </a:r>
            </a:p>
          </p:txBody>
        </p:sp>
        <p:sp>
          <p:nvSpPr>
            <p:cNvPr id="25614" name="Rectangle 11"/>
            <p:cNvSpPr>
              <a:spLocks noChangeArrowheads="1"/>
            </p:cNvSpPr>
            <p:nvPr/>
          </p:nvSpPr>
          <p:spPr bwMode="auto">
            <a:xfrm>
              <a:off x="4166" y="1277"/>
              <a:ext cx="32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Blip>
                  <a:blip r:embed="rId4"/>
                </a:buBlip>
                <a:defRPr sz="3200">
                  <a:solidFill>
                    <a:schemeClr val="tx1"/>
                  </a:solidFill>
                  <a:latin typeface="Tahoma" charset="0"/>
                </a:defRPr>
              </a:lvl1pPr>
              <a:lvl2pPr marL="742950" indent="-285750" eaLnBrk="0" hangingPunct="0">
                <a:spcBef>
                  <a:spcPct val="20000"/>
                </a:spcBef>
                <a:buSzPct val="75000"/>
                <a:buBlip>
                  <a:blip r:embed="rId5"/>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a:spcBef>
                  <a:spcPct val="0"/>
                </a:spcBef>
                <a:buFontTx/>
                <a:buNone/>
              </a:pPr>
              <a:r>
                <a:rPr lang="en-US" altLang="en-US" i="1">
                  <a:latin typeface="Times New Roman" pitchFamily="18" charset="0"/>
                </a:rPr>
                <a:t>p</a:t>
              </a:r>
              <a:r>
                <a:rPr lang="en-US" altLang="en-US" i="1" baseline="-25000">
                  <a:latin typeface="Times New Roman" pitchFamily="18" charset="0"/>
                </a:rPr>
                <a:t>u</a:t>
              </a:r>
            </a:p>
          </p:txBody>
        </p:sp>
        <p:sp>
          <p:nvSpPr>
            <p:cNvPr id="25615" name="Rectangle 12"/>
            <p:cNvSpPr>
              <a:spLocks noChangeArrowheads="1"/>
            </p:cNvSpPr>
            <p:nvPr/>
          </p:nvSpPr>
          <p:spPr bwMode="auto">
            <a:xfrm>
              <a:off x="4166" y="1795"/>
              <a:ext cx="365"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Blip>
                  <a:blip r:embed="rId4"/>
                </a:buBlip>
                <a:defRPr sz="3200">
                  <a:solidFill>
                    <a:schemeClr val="tx1"/>
                  </a:solidFill>
                  <a:latin typeface="Tahoma" charset="0"/>
                </a:defRPr>
              </a:lvl1pPr>
              <a:lvl2pPr marL="742950" indent="-285750" eaLnBrk="0" hangingPunct="0">
                <a:spcBef>
                  <a:spcPct val="20000"/>
                </a:spcBef>
                <a:buSzPct val="75000"/>
                <a:buBlip>
                  <a:blip r:embed="rId5"/>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a:spcBef>
                  <a:spcPct val="0"/>
                </a:spcBef>
                <a:buFontTx/>
                <a:buNone/>
              </a:pPr>
              <a:r>
                <a:rPr lang="en-US" altLang="en-US" i="1">
                  <a:latin typeface="Times New Roman" pitchFamily="18" charset="0"/>
                </a:rPr>
                <a:t>p</a:t>
              </a:r>
              <a:r>
                <a:rPr lang="en-US" altLang="en-US" i="1" baseline="-25000">
                  <a:latin typeface="Times New Roman" pitchFamily="18" charset="0"/>
                </a:rPr>
                <a:t>m</a:t>
              </a:r>
            </a:p>
          </p:txBody>
        </p:sp>
        <p:sp>
          <p:nvSpPr>
            <p:cNvPr id="25616" name="Rectangle 13"/>
            <p:cNvSpPr>
              <a:spLocks noChangeArrowheads="1"/>
            </p:cNvSpPr>
            <p:nvPr/>
          </p:nvSpPr>
          <p:spPr bwMode="auto">
            <a:xfrm>
              <a:off x="4214" y="2669"/>
              <a:ext cx="328"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Blip>
                  <a:blip r:embed="rId4"/>
                </a:buBlip>
                <a:defRPr sz="3200">
                  <a:solidFill>
                    <a:schemeClr val="tx1"/>
                  </a:solidFill>
                  <a:latin typeface="Tahoma" charset="0"/>
                </a:defRPr>
              </a:lvl1pPr>
              <a:lvl2pPr marL="742950" indent="-285750" eaLnBrk="0" hangingPunct="0">
                <a:spcBef>
                  <a:spcPct val="20000"/>
                </a:spcBef>
                <a:buSzPct val="75000"/>
                <a:buBlip>
                  <a:blip r:embed="rId5"/>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a:spcBef>
                  <a:spcPct val="0"/>
                </a:spcBef>
                <a:buFontTx/>
                <a:buNone/>
              </a:pPr>
              <a:r>
                <a:rPr lang="en-US" altLang="en-US" i="1">
                  <a:latin typeface="Times New Roman" pitchFamily="18" charset="0"/>
                </a:rPr>
                <a:t>p</a:t>
              </a:r>
              <a:r>
                <a:rPr lang="en-US" altLang="en-US" i="1" baseline="-25000">
                  <a:latin typeface="Times New Roman" pitchFamily="18" charset="0"/>
                </a:rPr>
                <a:t>d</a:t>
              </a:r>
            </a:p>
          </p:txBody>
        </p:sp>
      </p:gr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Rectangle 2"/>
          <p:cNvSpPr>
            <a:spLocks noGrp="1" noChangeArrowheads="1"/>
          </p:cNvSpPr>
          <p:nvPr>
            <p:ph type="title"/>
          </p:nvPr>
        </p:nvSpPr>
        <p:spPr/>
        <p:txBody>
          <a:bodyPr>
            <a:normAutofit fontScale="90000"/>
          </a:bodyPr>
          <a:lstStyle/>
          <a:p>
            <a:pPr eaLnBrk="1" fontAlgn="auto" hangingPunct="1">
              <a:spcAft>
                <a:spcPts val="0"/>
              </a:spcAft>
              <a:defRPr/>
            </a:pPr>
            <a:r>
              <a:rPr lang="en-US" dirty="0">
                <a:solidFill>
                  <a:schemeClr val="tx2">
                    <a:satMod val="130000"/>
                  </a:schemeClr>
                </a:solidFill>
              </a:rPr>
              <a:t>Time Dependent Parameters in a Binomial </a:t>
            </a:r>
            <a:r>
              <a:rPr lang="en-US" dirty="0" smtClean="0">
                <a:solidFill>
                  <a:schemeClr val="tx2">
                    <a:satMod val="130000"/>
                  </a:schemeClr>
                </a:solidFill>
              </a:rPr>
              <a:t>Tree</a:t>
            </a:r>
            <a:endParaRPr lang="en-US" sz="2200" dirty="0">
              <a:solidFill>
                <a:schemeClr val="tx2">
                  <a:satMod val="130000"/>
                </a:schemeClr>
              </a:solidFill>
            </a:endParaRPr>
          </a:p>
        </p:txBody>
      </p:sp>
      <p:sp>
        <p:nvSpPr>
          <p:cNvPr id="26627" name="Rectangle 3"/>
          <p:cNvSpPr>
            <a:spLocks noGrp="1" noChangeArrowheads="1"/>
          </p:cNvSpPr>
          <p:nvPr>
            <p:ph idx="1"/>
          </p:nvPr>
        </p:nvSpPr>
        <p:spPr/>
        <p:txBody>
          <a:bodyPr/>
          <a:lstStyle/>
          <a:p>
            <a:pPr eaLnBrk="1" hangingPunct="1"/>
            <a:endParaRPr lang="en-US" altLang="en-US" dirty="0" smtClean="0">
              <a:latin typeface="Arial" charset="0"/>
              <a:cs typeface="Arial" charset="0"/>
            </a:endParaRPr>
          </a:p>
          <a:p>
            <a:pPr eaLnBrk="1" hangingPunct="1"/>
            <a:r>
              <a:rPr lang="en-US" altLang="en-US" dirty="0" smtClean="0">
                <a:latin typeface="Arial" charset="0"/>
                <a:cs typeface="Arial" charset="0"/>
              </a:rPr>
              <a:t>Making </a:t>
            </a:r>
            <a:r>
              <a:rPr lang="en-US" altLang="en-US" i="1" dirty="0" smtClean="0">
                <a:latin typeface="Times New Roman" pitchFamily="18" charset="0"/>
                <a:cs typeface="Arial" charset="0"/>
              </a:rPr>
              <a:t>r </a:t>
            </a:r>
            <a:r>
              <a:rPr lang="en-US" altLang="en-US" dirty="0" smtClean="0">
                <a:latin typeface="Arial" charset="0"/>
                <a:cs typeface="Arial" charset="0"/>
              </a:rPr>
              <a:t>or </a:t>
            </a:r>
            <a:r>
              <a:rPr lang="en-US" altLang="en-US" i="1" dirty="0" smtClean="0">
                <a:latin typeface="Times New Roman" pitchFamily="18" charset="0"/>
                <a:cs typeface="Arial" charset="0"/>
              </a:rPr>
              <a:t>q</a:t>
            </a:r>
            <a:r>
              <a:rPr lang="en-US" altLang="en-US" dirty="0" smtClean="0">
                <a:latin typeface="Arial" charset="0"/>
                <a:cs typeface="Arial" charset="0"/>
              </a:rPr>
              <a:t> a function of time does not affect the geometry of the tree. The probabilities on the tree become functions of time. </a:t>
            </a:r>
          </a:p>
          <a:p>
            <a:pPr eaLnBrk="1" hangingPunct="1"/>
            <a:r>
              <a:rPr lang="en-US" altLang="en-US" dirty="0" smtClean="0">
                <a:latin typeface="Arial" charset="0"/>
                <a:cs typeface="Arial" charset="0"/>
              </a:rPr>
              <a:t>We can make </a:t>
            </a:r>
            <a:r>
              <a:rPr lang="en-US" altLang="en-US" dirty="0" smtClean="0">
                <a:latin typeface="Symbol" pitchFamily="18" charset="2"/>
                <a:cs typeface="Arial" charset="0"/>
              </a:rPr>
              <a:t>s</a:t>
            </a:r>
            <a:r>
              <a:rPr lang="en-US" altLang="en-US" dirty="0" smtClean="0">
                <a:latin typeface="Arial" charset="0"/>
                <a:cs typeface="Arial" charset="0"/>
              </a:rPr>
              <a:t> a function of time by making the lengths of the time steps inversely proportional to the variance rate.</a:t>
            </a:r>
          </a:p>
        </p:txBody>
      </p:sp>
      <p:sp>
        <p:nvSpPr>
          <p:cNvPr id="2662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endParaRPr>
          </a:p>
        </p:txBody>
      </p:sp>
      <p:sp>
        <p:nvSpPr>
          <p:cNvPr id="26629"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6874DC24-A1B1-4A9B-BAA3-17EA8F792355}" type="slidenum">
              <a:rPr lang="en-US" altLang="en-US" sz="1400" smtClean="0">
                <a:latin typeface="Arial" charset="0"/>
              </a:rPr>
              <a:pPr eaLnBrk="1" hangingPunct="1">
                <a:spcBef>
                  <a:spcPct val="0"/>
                </a:spcBef>
                <a:buFontTx/>
                <a:buNone/>
              </a:pPr>
              <a:t>20</a:t>
            </a:fld>
            <a:endParaRPr lang="en-US" altLang="en-US" sz="1400" smtClean="0">
              <a:latin typeface="Arial"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p:cNvSpPr>
            <a:spLocks noGrp="1" noChangeArrowheads="1"/>
          </p:cNvSpPr>
          <p:nvPr>
            <p:ph type="title"/>
          </p:nvPr>
        </p:nvSpPr>
        <p:spPr/>
        <p:txBody>
          <a:bodyPr/>
          <a:lstStyle/>
          <a:p>
            <a:pPr eaLnBrk="1" fontAlgn="auto" hangingPunct="1">
              <a:spcAft>
                <a:spcPts val="0"/>
              </a:spcAft>
              <a:defRPr/>
            </a:pPr>
            <a:r>
              <a:rPr lang="en-US" dirty="0">
                <a:solidFill>
                  <a:schemeClr val="tx2">
                    <a:satMod val="130000"/>
                  </a:schemeClr>
                </a:solidFill>
              </a:rPr>
              <a:t>Monte Carlo Simulation and </a:t>
            </a:r>
            <a:r>
              <a:rPr lang="en-US" dirty="0" smtClean="0">
                <a:solidFill>
                  <a:schemeClr val="tx2">
                    <a:satMod val="130000"/>
                  </a:schemeClr>
                </a:solidFill>
                <a:latin typeface="Symbol" pitchFamily="18" charset="2"/>
              </a:rPr>
              <a:t>p </a:t>
            </a:r>
            <a:r>
              <a:rPr lang="en-US" sz="2400" dirty="0" smtClean="0">
                <a:solidFill>
                  <a:schemeClr val="tx2">
                    <a:satMod val="130000"/>
                  </a:schemeClr>
                </a:solidFill>
              </a:rPr>
              <a:t>(</a:t>
            </a:r>
            <a:r>
              <a:rPr lang="en-US" sz="2400" dirty="0" smtClean="0">
                <a:solidFill>
                  <a:schemeClr val="tx2">
                    <a:satMod val="130000"/>
                  </a:schemeClr>
                </a:solidFill>
                <a:cs typeface="Arial" panose="020B0604020202020204" pitchFamily="34" charset="0"/>
              </a:rPr>
              <a:t>Figure 21.13)</a:t>
            </a:r>
            <a:endParaRPr lang="en-US" sz="2400" dirty="0">
              <a:solidFill>
                <a:schemeClr val="tx2">
                  <a:satMod val="130000"/>
                </a:schemeClr>
              </a:solidFill>
              <a:cs typeface="Arial" panose="020B0604020202020204" pitchFamily="34" charset="0"/>
            </a:endParaRPr>
          </a:p>
        </p:txBody>
      </p:sp>
      <p:sp>
        <p:nvSpPr>
          <p:cNvPr id="27651" name="Rectangle 6"/>
          <p:cNvSpPr>
            <a:spLocks noGrp="1" noChangeArrowheads="1"/>
          </p:cNvSpPr>
          <p:nvPr>
            <p:ph idx="1"/>
          </p:nvPr>
        </p:nvSpPr>
        <p:spPr>
          <a:xfrm>
            <a:off x="685800" y="1981200"/>
            <a:ext cx="7772400" cy="4114800"/>
          </a:xfrm>
        </p:spPr>
        <p:txBody>
          <a:bodyPr/>
          <a:lstStyle/>
          <a:p>
            <a:pPr eaLnBrk="1" hangingPunct="1"/>
            <a:r>
              <a:rPr lang="en-US" altLang="en-US" dirty="0" smtClean="0">
                <a:latin typeface="Arial" charset="0"/>
                <a:cs typeface="Arial" charset="0"/>
              </a:rPr>
              <a:t>How could you calculate </a:t>
            </a:r>
            <a:r>
              <a:rPr lang="en-US" altLang="en-US" dirty="0" smtClean="0">
                <a:latin typeface="Symbol" pitchFamily="18" charset="2"/>
                <a:cs typeface="Arial" charset="0"/>
              </a:rPr>
              <a:t>p </a:t>
            </a:r>
            <a:r>
              <a:rPr lang="en-US" altLang="en-US" dirty="0" smtClean="0">
                <a:latin typeface="Arial" charset="0"/>
                <a:cs typeface="Arial" charset="0"/>
              </a:rPr>
              <a:t>by randomly sampling points in the square?</a:t>
            </a:r>
          </a:p>
        </p:txBody>
      </p:sp>
      <p:sp>
        <p:nvSpPr>
          <p:cNvPr id="2765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endParaRPr>
          </a:p>
        </p:txBody>
      </p:sp>
      <p:sp>
        <p:nvSpPr>
          <p:cNvPr id="2765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D45A5F69-91A3-4248-B31A-D5C8B5072033}" type="slidenum">
              <a:rPr lang="en-US" altLang="en-US" sz="1400" smtClean="0">
                <a:latin typeface="Arial" charset="0"/>
              </a:rPr>
              <a:pPr eaLnBrk="1" hangingPunct="1">
                <a:spcBef>
                  <a:spcPct val="0"/>
                </a:spcBef>
                <a:buFontTx/>
                <a:buNone/>
              </a:pPr>
              <a:t>21</a:t>
            </a:fld>
            <a:endParaRPr lang="en-US" altLang="en-US" sz="1400" smtClean="0">
              <a:latin typeface="Arial" charset="0"/>
            </a:endParaRPr>
          </a:p>
        </p:txBody>
      </p:sp>
      <p:pic>
        <p:nvPicPr>
          <p:cNvPr id="27654" name="Picture 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132138" y="3068638"/>
            <a:ext cx="2536825" cy="2536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685800" y="609600"/>
            <a:ext cx="7126288" cy="1143000"/>
          </a:xfrm>
        </p:spPr>
        <p:txBody>
          <a:bodyPr lIns="92075" tIns="46038" rIns="92075" bIns="46038">
            <a:normAutofit/>
          </a:bodyPr>
          <a:lstStyle/>
          <a:p>
            <a:pPr eaLnBrk="1" fontAlgn="auto" hangingPunct="1">
              <a:spcAft>
                <a:spcPts val="0"/>
              </a:spcAft>
              <a:defRPr/>
            </a:pPr>
            <a:r>
              <a:rPr lang="en-US" sz="3500" dirty="0">
                <a:solidFill>
                  <a:schemeClr val="tx2">
                    <a:satMod val="130000"/>
                  </a:schemeClr>
                </a:solidFill>
              </a:rPr>
              <a:t>Monte Carlo Simulation and Options</a:t>
            </a:r>
          </a:p>
        </p:txBody>
      </p:sp>
      <p:sp>
        <p:nvSpPr>
          <p:cNvPr id="35843" name="Rectangle 3"/>
          <p:cNvSpPr>
            <a:spLocks noGrp="1" noChangeArrowheads="1"/>
          </p:cNvSpPr>
          <p:nvPr>
            <p:ph idx="1"/>
          </p:nvPr>
        </p:nvSpPr>
        <p:spPr>
          <a:xfrm>
            <a:off x="571500" y="1676400"/>
            <a:ext cx="7086600" cy="4495800"/>
          </a:xfrm>
        </p:spPr>
        <p:txBody>
          <a:bodyPr lIns="92075" tIns="46038" rIns="92075" bIns="46038">
            <a:normAutofit lnSpcReduction="10000"/>
          </a:bodyPr>
          <a:lstStyle/>
          <a:p>
            <a:pPr marL="365760" indent="-283464" eaLnBrk="1" fontAlgn="auto" hangingPunct="1">
              <a:spcAft>
                <a:spcPts val="0"/>
              </a:spcAft>
              <a:buFont typeface="Wingdings" pitchFamily="2" charset="2"/>
              <a:buNone/>
              <a:defRPr/>
            </a:pPr>
            <a:r>
              <a:rPr lang="en-US" sz="2400" dirty="0"/>
              <a:t>    </a:t>
            </a:r>
            <a:endParaRPr lang="en-US" sz="2400" dirty="0" smtClean="0"/>
          </a:p>
          <a:p>
            <a:pPr marL="365760" indent="-283464" eaLnBrk="1" fontAlgn="auto" hangingPunct="1">
              <a:spcAft>
                <a:spcPts val="0"/>
              </a:spcAft>
              <a:buFont typeface="Wingdings" pitchFamily="2" charset="2"/>
              <a:buNone/>
              <a:defRPr/>
            </a:pPr>
            <a:r>
              <a:rPr lang="en-US" sz="2400" dirty="0" smtClean="0"/>
              <a:t>When </a:t>
            </a:r>
            <a:r>
              <a:rPr lang="en-US" sz="2400" dirty="0"/>
              <a:t>used to value European stock options, Monte Carlo simulation involves the following steps:</a:t>
            </a:r>
          </a:p>
          <a:p>
            <a:pPr marL="365760" indent="-283464" eaLnBrk="1" fontAlgn="auto" hangingPunct="1">
              <a:spcAft>
                <a:spcPts val="0"/>
              </a:spcAft>
              <a:buFont typeface="Wingdings" pitchFamily="2" charset="2"/>
              <a:buNone/>
              <a:defRPr/>
            </a:pPr>
            <a:r>
              <a:rPr lang="en-US" sz="2400" dirty="0"/>
              <a:t>1.	Simulate 1 path for the stock price in a risk neutral world</a:t>
            </a:r>
          </a:p>
          <a:p>
            <a:pPr marL="365760" indent="-283464" eaLnBrk="1" fontAlgn="auto" hangingPunct="1">
              <a:spcAft>
                <a:spcPts val="0"/>
              </a:spcAft>
              <a:buFont typeface="Wingdings" pitchFamily="2" charset="2"/>
              <a:buNone/>
              <a:defRPr/>
            </a:pPr>
            <a:r>
              <a:rPr lang="en-US" sz="2400" dirty="0"/>
              <a:t>2.	Calculate the payoff from the stock option</a:t>
            </a:r>
          </a:p>
          <a:p>
            <a:pPr marL="365760" indent="-283464" eaLnBrk="1" fontAlgn="auto" hangingPunct="1">
              <a:spcAft>
                <a:spcPts val="0"/>
              </a:spcAft>
              <a:buFont typeface="Wingdings" pitchFamily="2" charset="2"/>
              <a:buNone/>
              <a:defRPr/>
            </a:pPr>
            <a:r>
              <a:rPr lang="en-US" sz="2400" dirty="0"/>
              <a:t>3.	Repeat steps 1 and 2 many times to get many sample </a:t>
            </a:r>
            <a:r>
              <a:rPr lang="en-US" sz="2400" dirty="0" smtClean="0"/>
              <a:t>payoffs</a:t>
            </a:r>
            <a:endParaRPr lang="en-US" sz="2400" dirty="0"/>
          </a:p>
          <a:p>
            <a:pPr marL="365760" indent="-283464" eaLnBrk="1" fontAlgn="auto" hangingPunct="1">
              <a:spcAft>
                <a:spcPts val="0"/>
              </a:spcAft>
              <a:buFont typeface="Wingdings" pitchFamily="2" charset="2"/>
              <a:buNone/>
              <a:defRPr/>
            </a:pPr>
            <a:r>
              <a:rPr lang="en-US" sz="2400" dirty="0"/>
              <a:t>4.	Calculate mean payoff</a:t>
            </a:r>
          </a:p>
          <a:p>
            <a:pPr marL="365760" indent="-283464" eaLnBrk="1" fontAlgn="auto" hangingPunct="1">
              <a:spcAft>
                <a:spcPts val="0"/>
              </a:spcAft>
              <a:buFont typeface="Wingdings" pitchFamily="2" charset="2"/>
              <a:buNone/>
              <a:defRPr/>
            </a:pPr>
            <a:r>
              <a:rPr lang="en-US" sz="2400" dirty="0"/>
              <a:t>5.	Discount mean payoff at risk free rate to get an estimate of the value of the option</a:t>
            </a:r>
          </a:p>
        </p:txBody>
      </p:sp>
      <p:sp>
        <p:nvSpPr>
          <p:cNvPr id="28676"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endParaRPr>
          </a:p>
        </p:txBody>
      </p:sp>
      <p:sp>
        <p:nvSpPr>
          <p:cNvPr id="28677"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F73C0DB1-6A62-4E5A-8BEF-DA181B8E547F}" type="slidenum">
              <a:rPr lang="en-US" altLang="en-US" sz="1400" smtClean="0">
                <a:latin typeface="Arial" charset="0"/>
              </a:rPr>
              <a:pPr eaLnBrk="1" hangingPunct="1">
                <a:spcBef>
                  <a:spcPct val="0"/>
                </a:spcBef>
                <a:buFontTx/>
                <a:buNone/>
              </a:pPr>
              <a:t>22</a:t>
            </a:fld>
            <a:endParaRPr lang="en-US" altLang="en-US" sz="1400" smtClean="0">
              <a:latin typeface="Arial" charset="0"/>
            </a:endParaRPr>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304800" y="1066800"/>
            <a:ext cx="7772400" cy="838200"/>
          </a:xfrm>
        </p:spPr>
        <p:txBody>
          <a:bodyPr lIns="92075" tIns="46038" rIns="92075" bIns="46038">
            <a:normAutofit fontScale="90000"/>
          </a:bodyPr>
          <a:lstStyle/>
          <a:p>
            <a:pPr eaLnBrk="1" fontAlgn="auto" hangingPunct="1">
              <a:spcAft>
                <a:spcPts val="0"/>
              </a:spcAft>
              <a:defRPr/>
            </a:pPr>
            <a:r>
              <a:rPr lang="en-US" dirty="0">
                <a:solidFill>
                  <a:schemeClr val="tx2">
                    <a:satMod val="130000"/>
                  </a:schemeClr>
                </a:solidFill>
              </a:rPr>
              <a:t>Sampling  Stock Price Movements </a:t>
            </a:r>
            <a:br>
              <a:rPr lang="en-US" dirty="0">
                <a:solidFill>
                  <a:schemeClr val="tx2">
                    <a:satMod val="130000"/>
                  </a:schemeClr>
                </a:solidFill>
              </a:rPr>
            </a:br>
            <a:endParaRPr lang="en-US" dirty="0">
              <a:solidFill>
                <a:schemeClr val="tx2">
                  <a:satMod val="130000"/>
                </a:schemeClr>
              </a:solidFill>
            </a:endParaRPr>
          </a:p>
        </p:txBody>
      </p:sp>
      <p:sp>
        <p:nvSpPr>
          <p:cNvPr id="9221" name="Rectangle 3"/>
          <p:cNvSpPr>
            <a:spLocks noGrp="1" noChangeArrowheads="1"/>
          </p:cNvSpPr>
          <p:nvPr>
            <p:ph idx="1"/>
          </p:nvPr>
        </p:nvSpPr>
        <p:spPr>
          <a:xfrm>
            <a:off x="628650" y="1829594"/>
            <a:ext cx="7467600" cy="4114800"/>
          </a:xfrm>
        </p:spPr>
        <p:txBody>
          <a:bodyPr lIns="92075" tIns="46038" rIns="92075" bIns="46038"/>
          <a:lstStyle/>
          <a:p>
            <a:pPr eaLnBrk="1" hangingPunct="1">
              <a:lnSpc>
                <a:spcPct val="90000"/>
              </a:lnSpc>
              <a:defRPr/>
            </a:pPr>
            <a:r>
              <a:rPr lang="en-US" altLang="en-US" dirty="0" smtClean="0">
                <a:latin typeface="Arial" charset="0"/>
                <a:cs typeface="Arial" charset="0"/>
              </a:rPr>
              <a:t>In a risk neutral world the process for a stock price is</a:t>
            </a:r>
          </a:p>
          <a:p>
            <a:pPr marL="0" indent="0" eaLnBrk="1" hangingPunct="1">
              <a:lnSpc>
                <a:spcPct val="90000"/>
              </a:lnSpc>
              <a:buFontTx/>
              <a:buNone/>
              <a:defRPr/>
            </a:pPr>
            <a:endParaRPr lang="en-US" altLang="en-US" dirty="0" smtClean="0">
              <a:latin typeface="Arial" charset="0"/>
              <a:cs typeface="Arial" charset="0"/>
            </a:endParaRPr>
          </a:p>
          <a:p>
            <a:pPr eaLnBrk="1" hangingPunct="1">
              <a:lnSpc>
                <a:spcPct val="90000"/>
              </a:lnSpc>
              <a:buFont typeface="Wingdings" pitchFamily="2" charset="2"/>
              <a:buNone/>
              <a:defRPr/>
            </a:pPr>
            <a:r>
              <a:rPr lang="en-US" altLang="en-US" dirty="0" smtClean="0">
                <a:latin typeface="Arial" charset="0"/>
                <a:cs typeface="Arial" charset="0"/>
              </a:rPr>
              <a:t>	where     is the risk-neutral return</a:t>
            </a:r>
          </a:p>
          <a:p>
            <a:pPr eaLnBrk="1" hangingPunct="1">
              <a:lnSpc>
                <a:spcPct val="90000"/>
              </a:lnSpc>
              <a:defRPr/>
            </a:pPr>
            <a:r>
              <a:rPr lang="en-US" altLang="en-US" dirty="0" smtClean="0">
                <a:latin typeface="Arial" charset="0"/>
                <a:cs typeface="Arial" charset="0"/>
              </a:rPr>
              <a:t>We can simulate a path by choosing time steps of length </a:t>
            </a:r>
            <a:r>
              <a:rPr lang="en-US" altLang="en-US" dirty="0" smtClean="0">
                <a:latin typeface="Symbol" pitchFamily="18" charset="2"/>
                <a:cs typeface="Arial" charset="0"/>
              </a:rPr>
              <a:t>D</a:t>
            </a:r>
            <a:r>
              <a:rPr lang="en-US" altLang="en-US" i="1" dirty="0" smtClean="0">
                <a:latin typeface="Arial" charset="0"/>
                <a:cs typeface="Arial" charset="0"/>
              </a:rPr>
              <a:t>t</a:t>
            </a:r>
            <a:r>
              <a:rPr lang="en-US" altLang="en-US" dirty="0" smtClean="0">
                <a:latin typeface="Arial" charset="0"/>
                <a:cs typeface="Arial" charset="0"/>
              </a:rPr>
              <a:t>  and using the discrete version of this</a:t>
            </a:r>
          </a:p>
          <a:p>
            <a:pPr eaLnBrk="1" hangingPunct="1">
              <a:lnSpc>
                <a:spcPct val="90000"/>
              </a:lnSpc>
              <a:buFont typeface="Wingdings" pitchFamily="2" charset="2"/>
              <a:buNone/>
              <a:defRPr/>
            </a:pPr>
            <a:endParaRPr lang="en-US" altLang="en-US" dirty="0" smtClean="0">
              <a:latin typeface="Arial" charset="0"/>
              <a:cs typeface="Arial" charset="0"/>
            </a:endParaRPr>
          </a:p>
          <a:p>
            <a:pPr eaLnBrk="1" hangingPunct="1">
              <a:lnSpc>
                <a:spcPct val="90000"/>
              </a:lnSpc>
              <a:buFont typeface="Wingdings" pitchFamily="2" charset="2"/>
              <a:buNone/>
              <a:defRPr/>
            </a:pPr>
            <a:r>
              <a:rPr lang="en-US" altLang="en-US" dirty="0" smtClean="0">
                <a:latin typeface="Arial" charset="0"/>
                <a:cs typeface="Arial" charset="0"/>
              </a:rPr>
              <a:t>	where </a:t>
            </a:r>
            <a:r>
              <a:rPr lang="en-US" altLang="en-US" dirty="0" smtClean="0">
                <a:latin typeface="Symbol" pitchFamily="18" charset="2"/>
                <a:cs typeface="Arial" charset="0"/>
              </a:rPr>
              <a:t>e</a:t>
            </a:r>
            <a:r>
              <a:rPr lang="en-US" altLang="en-US" dirty="0" smtClean="0">
                <a:latin typeface="Arial" charset="0"/>
                <a:cs typeface="Arial" charset="0"/>
              </a:rPr>
              <a:t> is a random sample from </a:t>
            </a:r>
            <a:r>
              <a:rPr lang="en-US" altLang="en-US" dirty="0" smtClean="0">
                <a:latin typeface="Symbol" pitchFamily="18" charset="2"/>
                <a:cs typeface="Arial" charset="0"/>
              </a:rPr>
              <a:t>f</a:t>
            </a:r>
            <a:r>
              <a:rPr lang="en-US" altLang="en-US" dirty="0" smtClean="0">
                <a:latin typeface="Arial" charset="0"/>
                <a:cs typeface="Arial" charset="0"/>
              </a:rPr>
              <a:t>(0,1)</a:t>
            </a:r>
          </a:p>
        </p:txBody>
      </p:sp>
      <p:sp>
        <p:nvSpPr>
          <p:cNvPr id="2970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charset="0"/>
              </a:defRPr>
            </a:lvl1pPr>
            <a:lvl2pPr marL="742950" indent="-285750" eaLnBrk="0" hangingPunct="0">
              <a:spcBef>
                <a:spcPct val="20000"/>
              </a:spcBef>
              <a:buSzPct val="75000"/>
              <a:buBlip>
                <a:blip r:embed="rId5"/>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endParaRPr>
          </a:p>
        </p:txBody>
      </p:sp>
      <p:sp>
        <p:nvSpPr>
          <p:cNvPr id="2970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charset="0"/>
              </a:defRPr>
            </a:lvl1pPr>
            <a:lvl2pPr marL="742950" indent="-285750" eaLnBrk="0" hangingPunct="0">
              <a:spcBef>
                <a:spcPct val="20000"/>
              </a:spcBef>
              <a:buSzPct val="75000"/>
              <a:buBlip>
                <a:blip r:embed="rId5"/>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C3BD8BF4-62BF-4D13-8B23-A186C3354789}" type="slidenum">
              <a:rPr lang="en-US" altLang="en-US" sz="1400" smtClean="0">
                <a:latin typeface="Arial" charset="0"/>
              </a:rPr>
              <a:pPr eaLnBrk="1" hangingPunct="1">
                <a:spcBef>
                  <a:spcPct val="0"/>
                </a:spcBef>
                <a:buFontTx/>
                <a:buNone/>
              </a:pPr>
              <a:t>23</a:t>
            </a:fld>
            <a:endParaRPr lang="en-US" altLang="en-US" sz="1400" smtClean="0">
              <a:latin typeface="Arial" charset="0"/>
            </a:endParaRPr>
          </a:p>
        </p:txBody>
      </p:sp>
      <p:graphicFrame>
        <p:nvGraphicFramePr>
          <p:cNvPr id="29702" name="Object 4"/>
          <p:cNvGraphicFramePr>
            <a:graphicFrameLocks/>
          </p:cNvGraphicFramePr>
          <p:nvPr>
            <p:extLst>
              <p:ext uri="{D42A27DB-BD31-4B8C-83A1-F6EECF244321}">
                <p14:modId xmlns:p14="http://schemas.microsoft.com/office/powerpoint/2010/main" val="3289350765"/>
              </p:ext>
            </p:extLst>
          </p:nvPr>
        </p:nvGraphicFramePr>
        <p:xfrm>
          <a:off x="2457450" y="4800600"/>
          <a:ext cx="3810000" cy="534988"/>
        </p:xfrm>
        <a:graphic>
          <a:graphicData uri="http://schemas.openxmlformats.org/presentationml/2006/ole">
            <mc:AlternateContent xmlns:mc="http://schemas.openxmlformats.org/markup-compatibility/2006">
              <mc:Choice xmlns:v="urn:schemas-microsoft-com:vml" Requires="v">
                <p:oleObj spid="_x0000_s29726" name="Equation" r:id="rId6" imgW="1397000" imgH="241300" progId="Equation.3">
                  <p:embed/>
                </p:oleObj>
              </mc:Choice>
              <mc:Fallback>
                <p:oleObj name="Equation" r:id="rId6" imgW="1397000" imgH="241300" progId="Equation.3">
                  <p:embed/>
                  <p:pic>
                    <p:nvPicPr>
                      <p:cNvPr id="0" name="Object 4"/>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57450" y="4800600"/>
                        <a:ext cx="3810000" cy="534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703" name="Object 5"/>
          <p:cNvGraphicFramePr>
            <a:graphicFrameLocks/>
          </p:cNvGraphicFramePr>
          <p:nvPr>
            <p:extLst>
              <p:ext uri="{D42A27DB-BD31-4B8C-83A1-F6EECF244321}">
                <p14:modId xmlns:p14="http://schemas.microsoft.com/office/powerpoint/2010/main" val="4155897914"/>
              </p:ext>
            </p:extLst>
          </p:nvPr>
        </p:nvGraphicFramePr>
        <p:xfrm>
          <a:off x="2590800" y="2667794"/>
          <a:ext cx="3543300" cy="544513"/>
        </p:xfrm>
        <a:graphic>
          <a:graphicData uri="http://schemas.openxmlformats.org/presentationml/2006/ole">
            <mc:AlternateContent xmlns:mc="http://schemas.openxmlformats.org/markup-compatibility/2006">
              <mc:Choice xmlns:v="urn:schemas-microsoft-com:vml" Requires="v">
                <p:oleObj spid="_x0000_s29727" name="Equation" r:id="rId8" imgW="1180588" imgH="215806" progId="Equation.2">
                  <p:embed/>
                </p:oleObj>
              </mc:Choice>
              <mc:Fallback>
                <p:oleObj name="Equation" r:id="rId8" imgW="1180588" imgH="215806" progId="Equation.2">
                  <p:embed/>
                  <p:pic>
                    <p:nvPicPr>
                      <p:cNvPr id="0" name="Object 5"/>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90800" y="2667794"/>
                        <a:ext cx="3543300" cy="544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704" name="Object 2"/>
          <p:cNvGraphicFramePr>
            <a:graphicFrameLocks noChangeAspect="1"/>
          </p:cNvGraphicFramePr>
          <p:nvPr>
            <p:extLst>
              <p:ext uri="{D42A27DB-BD31-4B8C-83A1-F6EECF244321}">
                <p14:modId xmlns:p14="http://schemas.microsoft.com/office/powerpoint/2010/main" val="846554856"/>
              </p:ext>
            </p:extLst>
          </p:nvPr>
        </p:nvGraphicFramePr>
        <p:xfrm>
          <a:off x="2046287" y="3162697"/>
          <a:ext cx="544513" cy="508000"/>
        </p:xfrm>
        <a:graphic>
          <a:graphicData uri="http://schemas.openxmlformats.org/presentationml/2006/ole">
            <mc:AlternateContent xmlns:mc="http://schemas.openxmlformats.org/markup-compatibility/2006">
              <mc:Choice xmlns:v="urn:schemas-microsoft-com:vml" Requires="v">
                <p:oleObj spid="_x0000_s29728" name="Equation" r:id="rId10" imgW="126720" imgH="203040" progId="Equation.3">
                  <p:embed/>
                </p:oleObj>
              </mc:Choice>
              <mc:Fallback>
                <p:oleObj name="Equation" r:id="rId10" imgW="126720" imgH="203040" progId="Equation.3">
                  <p:embed/>
                  <p:pic>
                    <p:nvPicPr>
                      <p:cNvPr id="0" name="Object 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046287" y="3162697"/>
                        <a:ext cx="544513"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lIns="92075" tIns="46038" rIns="92075" bIns="46038"/>
          <a:lstStyle/>
          <a:p>
            <a:pPr eaLnBrk="1" fontAlgn="auto" hangingPunct="1">
              <a:spcAft>
                <a:spcPts val="0"/>
              </a:spcAft>
              <a:defRPr/>
            </a:pPr>
            <a:r>
              <a:rPr lang="en-US" dirty="0">
                <a:solidFill>
                  <a:schemeClr val="tx2">
                    <a:satMod val="130000"/>
                  </a:schemeClr>
                </a:solidFill>
              </a:rPr>
              <a:t>A More Accurate Approach</a:t>
            </a:r>
            <a:br>
              <a:rPr lang="en-US" dirty="0">
                <a:solidFill>
                  <a:schemeClr val="tx2">
                    <a:satMod val="130000"/>
                  </a:schemeClr>
                </a:solidFill>
              </a:rPr>
            </a:br>
            <a:r>
              <a:rPr lang="en-US" sz="2200" dirty="0">
                <a:solidFill>
                  <a:schemeClr val="tx2">
                    <a:satMod val="130000"/>
                  </a:schemeClr>
                </a:solidFill>
              </a:rPr>
              <a:t>(Equation </a:t>
            </a:r>
            <a:r>
              <a:rPr lang="en-US" sz="2200" dirty="0" smtClean="0">
                <a:solidFill>
                  <a:schemeClr val="tx2">
                    <a:satMod val="130000"/>
                  </a:schemeClr>
                </a:solidFill>
              </a:rPr>
              <a:t>21.17)</a:t>
            </a:r>
            <a:endParaRPr lang="en-US" dirty="0">
              <a:solidFill>
                <a:schemeClr val="tx2">
                  <a:satMod val="130000"/>
                </a:schemeClr>
              </a:solidFill>
            </a:endParaRPr>
          </a:p>
        </p:txBody>
      </p:sp>
      <p:sp>
        <p:nvSpPr>
          <p:cNvPr id="30723"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charset="0"/>
              </a:defRPr>
            </a:lvl1pPr>
            <a:lvl2pPr marL="742950" indent="-285750" eaLnBrk="0" hangingPunct="0">
              <a:spcBef>
                <a:spcPct val="20000"/>
              </a:spcBef>
              <a:buSzPct val="75000"/>
              <a:buBlip>
                <a:blip r:embed="rId5"/>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endParaRPr>
          </a:p>
        </p:txBody>
      </p:sp>
      <p:sp>
        <p:nvSpPr>
          <p:cNvPr id="3072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charset="0"/>
              </a:defRPr>
            </a:lvl1pPr>
            <a:lvl2pPr marL="742950" indent="-285750" eaLnBrk="0" hangingPunct="0">
              <a:spcBef>
                <a:spcPct val="20000"/>
              </a:spcBef>
              <a:buSzPct val="75000"/>
              <a:buBlip>
                <a:blip r:embed="rId5"/>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EE484B20-CBD6-4EAE-8B52-1FE95DD62B77}" type="slidenum">
              <a:rPr lang="en-US" altLang="en-US" sz="1400" smtClean="0">
                <a:latin typeface="Arial" charset="0"/>
              </a:rPr>
              <a:pPr eaLnBrk="1" hangingPunct="1">
                <a:spcBef>
                  <a:spcPct val="0"/>
                </a:spcBef>
                <a:buFontTx/>
                <a:buNone/>
              </a:pPr>
              <a:t>24</a:t>
            </a:fld>
            <a:endParaRPr lang="en-US" altLang="en-US" sz="1400" smtClean="0">
              <a:latin typeface="Arial" charset="0"/>
            </a:endParaRPr>
          </a:p>
        </p:txBody>
      </p:sp>
      <p:graphicFrame>
        <p:nvGraphicFramePr>
          <p:cNvPr id="30725" name="Object 3"/>
          <p:cNvGraphicFramePr>
            <a:graphicFrameLocks/>
          </p:cNvGraphicFramePr>
          <p:nvPr>
            <p:extLst>
              <p:ext uri="{D42A27DB-BD31-4B8C-83A1-F6EECF244321}">
                <p14:modId xmlns:p14="http://schemas.microsoft.com/office/powerpoint/2010/main" val="644064095"/>
              </p:ext>
            </p:extLst>
          </p:nvPr>
        </p:nvGraphicFramePr>
        <p:xfrm>
          <a:off x="762000" y="2248982"/>
          <a:ext cx="7920038" cy="2973388"/>
        </p:xfrm>
        <a:graphic>
          <a:graphicData uri="http://schemas.openxmlformats.org/presentationml/2006/ole">
            <mc:AlternateContent xmlns:mc="http://schemas.openxmlformats.org/markup-compatibility/2006">
              <mc:Choice xmlns:v="urn:schemas-microsoft-com:vml" Requires="v">
                <p:oleObj spid="_x0000_s30733" name="Equation" r:id="rId6" imgW="3619440" imgH="1358640" progId="Equation.DSMT4">
                  <p:embed/>
                </p:oleObj>
              </mc:Choice>
              <mc:Fallback>
                <p:oleObj name="Equation" r:id="rId6" imgW="3619440" imgH="1358640" progId="Equation.DSMT4">
                  <p:embed/>
                  <p:pic>
                    <p:nvPicPr>
                      <p:cNvPr id="0" name="Object 3"/>
                      <p:cNvPicPr>
                        <a:picLocks noChangeArrowheads="1"/>
                      </p:cNvPicPr>
                      <p:nvPr/>
                    </p:nvPicPr>
                    <p:blipFill>
                      <a:blip r:embed="rId7"/>
                      <a:srcRect/>
                      <a:stretch>
                        <a:fillRect/>
                      </a:stretch>
                    </p:blipFill>
                    <p:spPr bwMode="auto">
                      <a:xfrm>
                        <a:off x="762000" y="2248982"/>
                        <a:ext cx="7920038" cy="2973388"/>
                      </a:xfrm>
                      <a:prstGeom prst="rect">
                        <a:avLst/>
                      </a:prstGeom>
                      <a:noFill/>
                      <a:ln>
                        <a:noFill/>
                      </a:ln>
                      <a:effectLs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lIns="92075" tIns="46038" rIns="92075" bIns="46038"/>
          <a:lstStyle/>
          <a:p>
            <a:pPr eaLnBrk="1" fontAlgn="auto" hangingPunct="1">
              <a:spcAft>
                <a:spcPts val="0"/>
              </a:spcAft>
              <a:defRPr/>
            </a:pPr>
            <a:r>
              <a:rPr lang="en-US">
                <a:solidFill>
                  <a:schemeClr val="tx2">
                    <a:satMod val="130000"/>
                  </a:schemeClr>
                </a:solidFill>
              </a:rPr>
              <a:t>Extensions</a:t>
            </a:r>
          </a:p>
        </p:txBody>
      </p:sp>
      <p:sp>
        <p:nvSpPr>
          <p:cNvPr id="31747" name="Rectangle 3"/>
          <p:cNvSpPr>
            <a:spLocks noGrp="1" noChangeArrowheads="1"/>
          </p:cNvSpPr>
          <p:nvPr>
            <p:ph idx="1"/>
          </p:nvPr>
        </p:nvSpPr>
        <p:spPr>
          <a:xfrm>
            <a:off x="1219200" y="1981200"/>
            <a:ext cx="7315200" cy="3886200"/>
          </a:xfrm>
        </p:spPr>
        <p:txBody>
          <a:bodyPr lIns="92075" tIns="46038" rIns="92075" bIns="46038"/>
          <a:lstStyle/>
          <a:p>
            <a:pPr eaLnBrk="1" hangingPunct="1">
              <a:buFont typeface="Wingdings" pitchFamily="2" charset="2"/>
              <a:buNone/>
            </a:pPr>
            <a:r>
              <a:rPr lang="en-US" altLang="en-US" smtClean="0">
                <a:latin typeface="Arial" charset="0"/>
                <a:cs typeface="Arial" charset="0"/>
              </a:rPr>
              <a:t>	When a derivative depends on several underlying variables we can simulate paths for each of them in a risk-neutral world to calculate the values for the derivative </a:t>
            </a:r>
          </a:p>
        </p:txBody>
      </p:sp>
      <p:sp>
        <p:nvSpPr>
          <p:cNvPr id="3174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endParaRPr>
          </a:p>
        </p:txBody>
      </p:sp>
      <p:sp>
        <p:nvSpPr>
          <p:cNvPr id="31749"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28D12792-4683-4938-A0B6-729BB6AFEBD1}" type="slidenum">
              <a:rPr lang="en-US" altLang="en-US" sz="1400" smtClean="0">
                <a:latin typeface="Arial" charset="0"/>
              </a:rPr>
              <a:pPr eaLnBrk="1" hangingPunct="1">
                <a:spcBef>
                  <a:spcPct val="0"/>
                </a:spcBef>
                <a:buFontTx/>
                <a:buNone/>
              </a:pPr>
              <a:t>25</a:t>
            </a:fld>
            <a:endParaRPr lang="en-US" altLang="en-US" sz="1400" smtClean="0">
              <a:latin typeface="Arial" charset="0"/>
            </a:endParaRPr>
          </a:p>
        </p:txBody>
      </p:sp>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lIns="92075" tIns="46038" rIns="92075" bIns="46038">
            <a:normAutofit fontScale="90000"/>
          </a:bodyPr>
          <a:lstStyle/>
          <a:p>
            <a:pPr eaLnBrk="1" fontAlgn="auto" hangingPunct="1">
              <a:spcAft>
                <a:spcPts val="0"/>
              </a:spcAft>
              <a:defRPr/>
            </a:pPr>
            <a:r>
              <a:rPr lang="en-US" dirty="0">
                <a:solidFill>
                  <a:schemeClr val="tx2">
                    <a:satMod val="130000"/>
                  </a:schemeClr>
                </a:solidFill>
              </a:rPr>
              <a:t>Sampling  from Normal </a:t>
            </a:r>
            <a:r>
              <a:rPr lang="en-US" dirty="0" smtClean="0">
                <a:solidFill>
                  <a:schemeClr val="tx2">
                    <a:satMod val="130000"/>
                  </a:schemeClr>
                </a:solidFill>
              </a:rPr>
              <a:t>Distribution</a:t>
            </a:r>
            <a:endParaRPr lang="en-US" dirty="0">
              <a:solidFill>
                <a:schemeClr val="tx2">
                  <a:satMod val="130000"/>
                </a:schemeClr>
              </a:solidFill>
            </a:endParaRPr>
          </a:p>
        </p:txBody>
      </p:sp>
      <p:sp>
        <p:nvSpPr>
          <p:cNvPr id="32771" name="Rectangle 3"/>
          <p:cNvSpPr>
            <a:spLocks noGrp="1" noChangeArrowheads="1"/>
          </p:cNvSpPr>
          <p:nvPr>
            <p:ph idx="1"/>
          </p:nvPr>
        </p:nvSpPr>
        <p:spPr>
          <a:xfrm>
            <a:off x="838200" y="2590800"/>
            <a:ext cx="7239000" cy="3505200"/>
          </a:xfrm>
        </p:spPr>
        <p:txBody>
          <a:bodyPr lIns="92075" tIns="46038" rIns="92075" bIns="46038"/>
          <a:lstStyle/>
          <a:p>
            <a:pPr eaLnBrk="1" hangingPunct="1"/>
            <a:r>
              <a:rPr lang="en-US" altLang="en-US" dirty="0" smtClean="0">
                <a:latin typeface="Arial" charset="0"/>
                <a:cs typeface="Arial" charset="0"/>
              </a:rPr>
              <a:t>In Excel  =NORMSINV(RAND()) gives a random sample from </a:t>
            </a:r>
            <a:r>
              <a:rPr lang="en-US" altLang="en-US" dirty="0" smtClean="0">
                <a:latin typeface="Symbol" pitchFamily="18" charset="2"/>
                <a:cs typeface="Arial" charset="0"/>
              </a:rPr>
              <a:t>f</a:t>
            </a:r>
            <a:r>
              <a:rPr lang="en-US" altLang="en-US" dirty="0" smtClean="0">
                <a:latin typeface="Arial" charset="0"/>
                <a:cs typeface="Arial" charset="0"/>
              </a:rPr>
              <a:t>(0,1) </a:t>
            </a:r>
          </a:p>
        </p:txBody>
      </p:sp>
      <p:sp>
        <p:nvSpPr>
          <p:cNvPr id="3277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endParaRPr>
          </a:p>
        </p:txBody>
      </p:sp>
      <p:sp>
        <p:nvSpPr>
          <p:cNvPr id="3277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2D6EC690-E152-46C2-8FCD-2DEDC97DF119}" type="slidenum">
              <a:rPr lang="en-US" altLang="en-US" sz="1400" smtClean="0">
                <a:latin typeface="Arial" charset="0"/>
              </a:rPr>
              <a:pPr eaLnBrk="1" hangingPunct="1">
                <a:spcBef>
                  <a:spcPct val="0"/>
                </a:spcBef>
                <a:buFontTx/>
                <a:buNone/>
              </a:pPr>
              <a:t>26</a:t>
            </a:fld>
            <a:endParaRPr lang="en-US" altLang="en-US" sz="1400" smtClean="0">
              <a:latin typeface="Arial" charset="0"/>
            </a:endParaRPr>
          </a:p>
        </p:txBody>
      </p:sp>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3" name="Rectangle 5"/>
          <p:cNvSpPr>
            <a:spLocks noGrp="1" noChangeArrowheads="1"/>
          </p:cNvSpPr>
          <p:nvPr>
            <p:ph type="title"/>
          </p:nvPr>
        </p:nvSpPr>
        <p:spPr>
          <a:xfrm>
            <a:off x="609600" y="990600"/>
            <a:ext cx="7391400" cy="914400"/>
          </a:xfrm>
        </p:spPr>
        <p:txBody>
          <a:bodyPr>
            <a:normAutofit fontScale="90000"/>
          </a:bodyPr>
          <a:lstStyle/>
          <a:p>
            <a:pPr eaLnBrk="1" fontAlgn="auto" hangingPunct="1">
              <a:spcAft>
                <a:spcPts val="0"/>
              </a:spcAft>
              <a:defRPr/>
            </a:pPr>
            <a:r>
              <a:rPr lang="en-US" dirty="0">
                <a:solidFill>
                  <a:schemeClr val="tx2">
                    <a:satMod val="130000"/>
                  </a:schemeClr>
                </a:solidFill>
              </a:rPr>
              <a:t>To Obtain 2 Correlated Normal Samples</a:t>
            </a:r>
          </a:p>
        </p:txBody>
      </p:sp>
      <p:sp>
        <p:nvSpPr>
          <p:cNvPr id="33795" name="Rectangle 3"/>
          <p:cNvSpPr>
            <a:spLocks noGrp="1" noChangeArrowheads="1"/>
          </p:cNvSpPr>
          <p:nvPr>
            <p:ph type="body" sz="half" idx="1"/>
          </p:nvPr>
        </p:nvSpPr>
        <p:spPr>
          <a:xfrm>
            <a:off x="685800" y="2133600"/>
            <a:ext cx="8077200" cy="3997325"/>
          </a:xfrm>
        </p:spPr>
        <p:txBody>
          <a:bodyPr/>
          <a:lstStyle/>
          <a:p>
            <a:pPr eaLnBrk="1" hangingPunct="1"/>
            <a:r>
              <a:rPr lang="en-US" altLang="en-US" sz="2800" dirty="0" smtClean="0">
                <a:latin typeface="Arial" charset="0"/>
                <a:cs typeface="Arial" charset="0"/>
              </a:rPr>
              <a:t>Obtain independent normal samples </a:t>
            </a:r>
            <a:r>
              <a:rPr lang="en-US" altLang="en-US" sz="2800" i="1" dirty="0" smtClean="0">
                <a:latin typeface="Times New Roman" pitchFamily="18" charset="0"/>
                <a:cs typeface="Arial" charset="0"/>
              </a:rPr>
              <a:t>x</a:t>
            </a:r>
            <a:r>
              <a:rPr lang="en-US" altLang="en-US" sz="2800" baseline="-25000" dirty="0" smtClean="0">
                <a:latin typeface="Arial" charset="0"/>
                <a:cs typeface="Arial" charset="0"/>
              </a:rPr>
              <a:t>1</a:t>
            </a:r>
            <a:r>
              <a:rPr lang="en-US" altLang="en-US" sz="2800" dirty="0" smtClean="0">
                <a:latin typeface="Arial" charset="0"/>
                <a:cs typeface="Arial" charset="0"/>
              </a:rPr>
              <a:t> and </a:t>
            </a:r>
            <a:r>
              <a:rPr lang="en-US" altLang="en-US" sz="2800" i="1" dirty="0" smtClean="0">
                <a:latin typeface="Times New Roman" pitchFamily="18" charset="0"/>
                <a:cs typeface="Arial" charset="0"/>
              </a:rPr>
              <a:t>x</a:t>
            </a:r>
            <a:r>
              <a:rPr lang="en-US" altLang="en-US" sz="2800" baseline="-25000" dirty="0" smtClean="0">
                <a:latin typeface="Arial" charset="0"/>
                <a:cs typeface="Arial" charset="0"/>
              </a:rPr>
              <a:t>2</a:t>
            </a:r>
            <a:r>
              <a:rPr lang="en-US" altLang="en-US" sz="2800" dirty="0" smtClean="0">
                <a:latin typeface="Arial" charset="0"/>
                <a:cs typeface="Arial" charset="0"/>
              </a:rPr>
              <a:t> and set</a:t>
            </a:r>
          </a:p>
          <a:p>
            <a:pPr eaLnBrk="1" hangingPunct="1"/>
            <a:endParaRPr lang="en-US" altLang="en-US" dirty="0" smtClean="0">
              <a:latin typeface="Arial" charset="0"/>
              <a:cs typeface="Arial" charset="0"/>
            </a:endParaRPr>
          </a:p>
          <a:p>
            <a:pPr eaLnBrk="1" hangingPunct="1"/>
            <a:endParaRPr lang="en-US" altLang="en-US" dirty="0" smtClean="0">
              <a:latin typeface="Arial" charset="0"/>
              <a:cs typeface="Arial" charset="0"/>
            </a:endParaRPr>
          </a:p>
          <a:p>
            <a:pPr eaLnBrk="1" hangingPunct="1"/>
            <a:r>
              <a:rPr lang="en-US" altLang="en-US" sz="2800" dirty="0" smtClean="0">
                <a:latin typeface="Arial" charset="0"/>
                <a:cs typeface="Arial" charset="0"/>
              </a:rPr>
              <a:t>Use a procedure known as </a:t>
            </a:r>
            <a:r>
              <a:rPr lang="en-US" altLang="en-US" sz="2800" dirty="0" err="1" smtClean="0">
                <a:latin typeface="Arial" charset="0"/>
                <a:cs typeface="Arial" charset="0"/>
              </a:rPr>
              <a:t>Cholesky’s</a:t>
            </a:r>
            <a:r>
              <a:rPr lang="en-US" altLang="en-US" sz="2800" dirty="0" smtClean="0">
                <a:latin typeface="Arial" charset="0"/>
                <a:cs typeface="Arial" charset="0"/>
              </a:rPr>
              <a:t> decomposition when samples are required from more than two normal </a:t>
            </a:r>
            <a:r>
              <a:rPr lang="en-US" altLang="en-US" sz="2800" dirty="0" smtClean="0">
                <a:latin typeface="Arial" charset="0"/>
                <a:cs typeface="Arial" charset="0"/>
              </a:rPr>
              <a:t>variables</a:t>
            </a:r>
            <a:endParaRPr lang="en-US" altLang="en-US" sz="2800" dirty="0" smtClean="0">
              <a:latin typeface="Arial" charset="0"/>
              <a:cs typeface="Arial" charset="0"/>
            </a:endParaRPr>
          </a:p>
        </p:txBody>
      </p:sp>
      <p:graphicFrame>
        <p:nvGraphicFramePr>
          <p:cNvPr id="33796" name="Object 4"/>
          <p:cNvGraphicFramePr>
            <a:graphicFrameLocks noGrp="1"/>
          </p:cNvGraphicFramePr>
          <p:nvPr>
            <p:ph sz="half" idx="2"/>
          </p:nvPr>
        </p:nvGraphicFramePr>
        <p:xfrm>
          <a:off x="2743200" y="3124200"/>
          <a:ext cx="2540000" cy="881063"/>
        </p:xfrm>
        <a:graphic>
          <a:graphicData uri="http://schemas.openxmlformats.org/presentationml/2006/ole">
            <mc:AlternateContent xmlns:mc="http://schemas.openxmlformats.org/markup-compatibility/2006">
              <mc:Choice xmlns:v="urn:schemas-microsoft-com:vml" Requires="v">
                <p:oleObj spid="_x0000_s33806" name="Equation" r:id="rId4" imgW="1244600" imgH="431800" progId="Equation.3">
                  <p:embed/>
                </p:oleObj>
              </mc:Choice>
              <mc:Fallback>
                <p:oleObj name="Equation" r:id="rId4" imgW="1244600" imgH="431800" progId="Equation.3">
                  <p:embed/>
                  <p:pic>
                    <p:nvPicPr>
                      <p:cNvPr id="0" name="Object 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43200" y="3124200"/>
                        <a:ext cx="2540000" cy="881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3797" name="Footer Placeholder 5"/>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6"/>
              </a:buBlip>
              <a:defRPr sz="3200">
                <a:solidFill>
                  <a:schemeClr val="tx1"/>
                </a:solidFill>
                <a:latin typeface="Tahoma" charset="0"/>
              </a:defRPr>
            </a:lvl1pPr>
            <a:lvl2pPr marL="742950" indent="-285750" eaLnBrk="0" hangingPunct="0">
              <a:spcBef>
                <a:spcPct val="20000"/>
              </a:spcBef>
              <a:buSzPct val="75000"/>
              <a:buBlip>
                <a:blip r:embed="rId7"/>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endParaRPr>
          </a:p>
        </p:txBody>
      </p:sp>
      <p:sp>
        <p:nvSpPr>
          <p:cNvPr id="33798"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6"/>
              </a:buBlip>
              <a:defRPr sz="3200">
                <a:solidFill>
                  <a:schemeClr val="tx1"/>
                </a:solidFill>
                <a:latin typeface="Tahoma" charset="0"/>
              </a:defRPr>
            </a:lvl1pPr>
            <a:lvl2pPr marL="742950" indent="-285750" eaLnBrk="0" hangingPunct="0">
              <a:spcBef>
                <a:spcPct val="20000"/>
              </a:spcBef>
              <a:buSzPct val="75000"/>
              <a:buBlip>
                <a:blip r:embed="rId7"/>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DD013A4B-D5AC-4474-9E3F-B015518DF7D3}" type="slidenum">
              <a:rPr lang="en-US" altLang="en-US" sz="1400" smtClean="0">
                <a:latin typeface="Arial" charset="0"/>
              </a:rPr>
              <a:pPr eaLnBrk="1" hangingPunct="1">
                <a:spcBef>
                  <a:spcPct val="0"/>
                </a:spcBef>
                <a:buFontTx/>
                <a:buNone/>
              </a:pPr>
              <a:t>27</a:t>
            </a:fld>
            <a:endParaRPr lang="en-US" altLang="en-US" sz="1400" smtClean="0">
              <a:latin typeface="Arial" charset="0"/>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lIns="92075" tIns="46038" rIns="92075" bIns="46038">
            <a:normAutofit fontScale="90000"/>
          </a:bodyPr>
          <a:lstStyle/>
          <a:p>
            <a:pPr eaLnBrk="1" fontAlgn="auto" hangingPunct="1">
              <a:spcAft>
                <a:spcPts val="0"/>
              </a:spcAft>
              <a:defRPr/>
            </a:pPr>
            <a:r>
              <a:rPr lang="en-US">
                <a:solidFill>
                  <a:schemeClr val="tx2">
                    <a:satMod val="130000"/>
                  </a:schemeClr>
                </a:solidFill>
              </a:rPr>
              <a:t>Standard Errors in Monte Carlo Simulation</a:t>
            </a:r>
          </a:p>
        </p:txBody>
      </p:sp>
      <p:sp>
        <p:nvSpPr>
          <p:cNvPr id="34819" name="Rectangle 3"/>
          <p:cNvSpPr>
            <a:spLocks noGrp="1" noChangeArrowheads="1"/>
          </p:cNvSpPr>
          <p:nvPr>
            <p:ph idx="1"/>
          </p:nvPr>
        </p:nvSpPr>
        <p:spPr/>
        <p:txBody>
          <a:bodyPr lIns="92075" tIns="46038" rIns="92075" bIns="46038"/>
          <a:lstStyle/>
          <a:p>
            <a:pPr eaLnBrk="1" hangingPunct="1">
              <a:buFont typeface="Wingdings" pitchFamily="2" charset="2"/>
              <a:buNone/>
            </a:pPr>
            <a:r>
              <a:rPr lang="en-US" altLang="en-US" smtClean="0">
                <a:latin typeface="Arial" charset="0"/>
                <a:cs typeface="Arial" charset="0"/>
              </a:rPr>
              <a:t>	</a:t>
            </a:r>
          </a:p>
          <a:p>
            <a:pPr eaLnBrk="1" hangingPunct="1">
              <a:buFont typeface="Wingdings" pitchFamily="2" charset="2"/>
              <a:buNone/>
            </a:pPr>
            <a:r>
              <a:rPr lang="en-US" altLang="en-US" smtClean="0">
                <a:latin typeface="Arial" charset="0"/>
                <a:cs typeface="Arial" charset="0"/>
              </a:rPr>
              <a:t>	The standard error of the estimate of the option price is the standard deviation of the discounted payoffs given by the simulation trials divided by the square root of the number of observations.</a:t>
            </a:r>
          </a:p>
        </p:txBody>
      </p:sp>
      <p:sp>
        <p:nvSpPr>
          <p:cNvPr id="3482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endParaRPr>
          </a:p>
        </p:txBody>
      </p:sp>
      <p:sp>
        <p:nvSpPr>
          <p:cNvPr id="3482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64CAE68D-4638-4040-A20C-E61C2FAAA5A5}" type="slidenum">
              <a:rPr lang="en-US" altLang="en-US" sz="1400" smtClean="0">
                <a:latin typeface="Arial" charset="0"/>
              </a:rPr>
              <a:pPr eaLnBrk="1" hangingPunct="1">
                <a:spcBef>
                  <a:spcPct val="0"/>
                </a:spcBef>
                <a:buFontTx/>
                <a:buNone/>
              </a:pPr>
              <a:t>28</a:t>
            </a:fld>
            <a:endParaRPr lang="en-US" altLang="en-US" sz="1400" smtClean="0">
              <a:latin typeface="Arial" charset="0"/>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lIns="92075" tIns="46038" rIns="92075" bIns="46038">
            <a:normAutofit fontScale="90000"/>
          </a:bodyPr>
          <a:lstStyle/>
          <a:p>
            <a:pPr eaLnBrk="1" fontAlgn="auto" hangingPunct="1">
              <a:spcAft>
                <a:spcPts val="0"/>
              </a:spcAft>
              <a:defRPr/>
            </a:pPr>
            <a:r>
              <a:rPr lang="en-US" dirty="0">
                <a:solidFill>
                  <a:schemeClr val="tx2">
                    <a:satMod val="130000"/>
                  </a:schemeClr>
                </a:solidFill>
              </a:rPr>
              <a:t>Application  of Monte Carlo Simulation</a:t>
            </a:r>
          </a:p>
        </p:txBody>
      </p:sp>
      <p:sp>
        <p:nvSpPr>
          <p:cNvPr id="35843" name="Rectangle 3"/>
          <p:cNvSpPr>
            <a:spLocks noGrp="1" noChangeArrowheads="1"/>
          </p:cNvSpPr>
          <p:nvPr>
            <p:ph idx="1"/>
          </p:nvPr>
        </p:nvSpPr>
        <p:spPr>
          <a:xfrm>
            <a:off x="990600" y="2209800"/>
            <a:ext cx="7467600" cy="4114800"/>
          </a:xfrm>
        </p:spPr>
        <p:txBody>
          <a:bodyPr lIns="92075" tIns="46038" rIns="92075" bIns="46038"/>
          <a:lstStyle/>
          <a:p>
            <a:pPr eaLnBrk="1" hangingPunct="1"/>
            <a:r>
              <a:rPr lang="en-US" altLang="en-US" smtClean="0">
                <a:latin typeface="Arial" charset="0"/>
                <a:cs typeface="Arial" charset="0"/>
              </a:rPr>
              <a:t>Monte Carlo simulation can deal with path dependent  options, options dependent on several underlying  state variables, and options with complex payoffs</a:t>
            </a:r>
          </a:p>
          <a:p>
            <a:pPr eaLnBrk="1" hangingPunct="1"/>
            <a:r>
              <a:rPr lang="en-US" altLang="en-US" smtClean="0">
                <a:latin typeface="Arial" charset="0"/>
                <a:cs typeface="Arial" charset="0"/>
              </a:rPr>
              <a:t>It cannot easily deal with American-style options</a:t>
            </a:r>
          </a:p>
        </p:txBody>
      </p:sp>
      <p:sp>
        <p:nvSpPr>
          <p:cNvPr id="3584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endParaRPr>
          </a:p>
        </p:txBody>
      </p:sp>
      <p:sp>
        <p:nvSpPr>
          <p:cNvPr id="35845"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3D3C4988-5826-47B6-B99A-D57BD18536D1}" type="slidenum">
              <a:rPr lang="en-US" altLang="en-US" sz="1400" smtClean="0">
                <a:latin typeface="Arial" charset="0"/>
              </a:rPr>
              <a:pPr eaLnBrk="1" hangingPunct="1">
                <a:spcBef>
                  <a:spcPct val="0"/>
                </a:spcBef>
                <a:buFontTx/>
                <a:buNone/>
              </a:pPr>
              <a:t>29</a:t>
            </a:fld>
            <a:endParaRPr lang="en-US" altLang="en-US" sz="1400" smtClean="0">
              <a:latin typeface="Arial" charset="0"/>
            </a:endParaRPr>
          </a:p>
        </p:txBody>
      </p:sp>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246063" y="930275"/>
            <a:ext cx="7772400" cy="822325"/>
          </a:xfrm>
        </p:spPr>
        <p:txBody>
          <a:bodyPr lIns="92075" tIns="46038" rIns="92075" bIns="46038"/>
          <a:lstStyle/>
          <a:p>
            <a:pPr eaLnBrk="1" fontAlgn="auto" hangingPunct="1">
              <a:spcAft>
                <a:spcPts val="0"/>
              </a:spcAft>
              <a:defRPr/>
            </a:pPr>
            <a:r>
              <a:rPr lang="en-US" dirty="0">
                <a:solidFill>
                  <a:schemeClr val="tx2">
                    <a:satMod val="130000"/>
                  </a:schemeClr>
                </a:solidFill>
              </a:rPr>
              <a:t>Determining Greek Letters</a:t>
            </a:r>
          </a:p>
        </p:txBody>
      </p:sp>
      <p:sp>
        <p:nvSpPr>
          <p:cNvPr id="51203" name="Rectangle 3"/>
          <p:cNvSpPr>
            <a:spLocks noGrp="1" noChangeArrowheads="1"/>
          </p:cNvSpPr>
          <p:nvPr>
            <p:ph idx="1"/>
          </p:nvPr>
        </p:nvSpPr>
        <p:spPr>
          <a:xfrm>
            <a:off x="762000" y="1628775"/>
            <a:ext cx="8001000" cy="4467225"/>
          </a:xfrm>
        </p:spPr>
        <p:txBody>
          <a:bodyPr lIns="92075" tIns="46038" rIns="92075" bIns="46038">
            <a:normAutofit/>
          </a:bodyPr>
          <a:lstStyle/>
          <a:p>
            <a:pPr marL="365760" indent="-283464" eaLnBrk="1" fontAlgn="auto" hangingPunct="1">
              <a:spcAft>
                <a:spcPts val="0"/>
              </a:spcAft>
              <a:buFont typeface="Wingdings" pitchFamily="2" charset="2"/>
              <a:buNone/>
              <a:defRPr/>
            </a:pPr>
            <a:r>
              <a:rPr lang="en-US" dirty="0"/>
              <a:t>	For </a:t>
            </a:r>
            <a:r>
              <a:rPr lang="en-US" dirty="0">
                <a:latin typeface="Symbol" pitchFamily="18" charset="2"/>
              </a:rPr>
              <a:t>D:</a:t>
            </a:r>
            <a:endParaRPr lang="en-US" dirty="0"/>
          </a:p>
          <a:p>
            <a:pPr marL="365760" indent="-283464" eaLnBrk="1" fontAlgn="auto" hangingPunct="1">
              <a:spcAft>
                <a:spcPts val="0"/>
              </a:spcAft>
              <a:buFont typeface="Wingdings" pitchFamily="2" charset="2"/>
              <a:buNone/>
              <a:defRPr/>
            </a:pPr>
            <a:r>
              <a:rPr lang="en-US" dirty="0" smtClean="0"/>
              <a:t>1. Make </a:t>
            </a:r>
            <a:r>
              <a:rPr lang="en-US" dirty="0"/>
              <a:t>a small  change to asset price</a:t>
            </a:r>
          </a:p>
          <a:p>
            <a:pPr marL="457200" indent="-374650" eaLnBrk="1" fontAlgn="auto" hangingPunct="1">
              <a:spcAft>
                <a:spcPts val="0"/>
              </a:spcAft>
              <a:buFont typeface="Wingdings" pitchFamily="2" charset="2"/>
              <a:buNone/>
              <a:tabLst>
                <a:tab pos="457200" algn="l"/>
                <a:tab pos="517525" algn="l"/>
              </a:tabLst>
              <a:defRPr/>
            </a:pPr>
            <a:r>
              <a:rPr lang="en-US" dirty="0" smtClean="0"/>
              <a:t>2. Carry </a:t>
            </a:r>
            <a:r>
              <a:rPr lang="en-US" dirty="0"/>
              <a:t>out the simulation again using the same random number streams</a:t>
            </a:r>
          </a:p>
          <a:p>
            <a:pPr marL="517525" indent="-434975" eaLnBrk="1" fontAlgn="auto" hangingPunct="1">
              <a:spcAft>
                <a:spcPts val="0"/>
              </a:spcAft>
              <a:buFont typeface="Wingdings" pitchFamily="2" charset="2"/>
              <a:buNone/>
              <a:defRPr/>
            </a:pPr>
            <a:r>
              <a:rPr lang="en-US" dirty="0" smtClean="0"/>
              <a:t>3. Estimate </a:t>
            </a:r>
            <a:r>
              <a:rPr lang="en-US" dirty="0">
                <a:latin typeface="Symbol" pitchFamily="18" charset="2"/>
              </a:rPr>
              <a:t>D</a:t>
            </a:r>
            <a:r>
              <a:rPr lang="en-US" dirty="0"/>
              <a:t> as the change in the option price divided by the change in the asset price</a:t>
            </a:r>
          </a:p>
          <a:p>
            <a:pPr marL="365760" indent="-283464" eaLnBrk="1" fontAlgn="auto" hangingPunct="1">
              <a:spcAft>
                <a:spcPts val="0"/>
              </a:spcAft>
              <a:buFont typeface="Wingdings" pitchFamily="2" charset="2"/>
              <a:buNone/>
              <a:defRPr/>
            </a:pPr>
            <a:endParaRPr lang="en-US" dirty="0"/>
          </a:p>
          <a:p>
            <a:pPr marL="365760" indent="-283464" eaLnBrk="1" fontAlgn="auto" hangingPunct="1">
              <a:spcAft>
                <a:spcPts val="0"/>
              </a:spcAft>
              <a:buFont typeface="Wingdings" pitchFamily="2" charset="2"/>
              <a:buNone/>
              <a:defRPr/>
            </a:pPr>
            <a:r>
              <a:rPr lang="en-US" dirty="0"/>
              <a:t>	Proceed in a similar manner for other Greek letters</a:t>
            </a:r>
          </a:p>
        </p:txBody>
      </p:sp>
      <p:sp>
        <p:nvSpPr>
          <p:cNvPr id="3686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endParaRPr>
          </a:p>
        </p:txBody>
      </p:sp>
      <p:sp>
        <p:nvSpPr>
          <p:cNvPr id="36869"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C1C7BDC3-38AC-4D93-911D-31FBA0D64C02}" type="slidenum">
              <a:rPr lang="en-US" altLang="en-US" sz="1400" smtClean="0">
                <a:latin typeface="Arial" charset="0"/>
              </a:rPr>
              <a:pPr eaLnBrk="1" hangingPunct="1">
                <a:spcBef>
                  <a:spcPct val="0"/>
                </a:spcBef>
                <a:buFontTx/>
                <a:buNone/>
              </a:pPr>
              <a:t>30</a:t>
            </a:fld>
            <a:endParaRPr lang="en-US" altLang="en-US" sz="1400" smtClean="0">
              <a:latin typeface="Arial" charset="0"/>
            </a:endParaRPr>
          </a:p>
        </p:txBody>
      </p:sp>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lIns="92075" tIns="46038" rIns="92075" bIns="46038">
            <a:normAutofit/>
          </a:bodyPr>
          <a:lstStyle/>
          <a:p>
            <a:pPr eaLnBrk="1" fontAlgn="auto" hangingPunct="1">
              <a:spcAft>
                <a:spcPts val="0"/>
              </a:spcAft>
              <a:defRPr/>
            </a:pPr>
            <a:r>
              <a:rPr lang="en-US">
                <a:solidFill>
                  <a:schemeClr val="tx2">
                    <a:satMod val="130000"/>
                  </a:schemeClr>
                </a:solidFill>
              </a:rPr>
              <a:t>Variance Reduction Techniques</a:t>
            </a:r>
          </a:p>
        </p:txBody>
      </p:sp>
      <p:sp>
        <p:nvSpPr>
          <p:cNvPr id="37891" name="Rectangle 3"/>
          <p:cNvSpPr>
            <a:spLocks noGrp="1" noChangeArrowheads="1"/>
          </p:cNvSpPr>
          <p:nvPr>
            <p:ph idx="1"/>
          </p:nvPr>
        </p:nvSpPr>
        <p:spPr>
          <a:xfrm>
            <a:off x="1600200" y="2057400"/>
            <a:ext cx="6845300" cy="4073525"/>
          </a:xfrm>
        </p:spPr>
        <p:txBody>
          <a:bodyPr lIns="92075" tIns="46038" rIns="92075" bIns="46038"/>
          <a:lstStyle/>
          <a:p>
            <a:pPr eaLnBrk="1" hangingPunct="1"/>
            <a:r>
              <a:rPr lang="en-US" altLang="en-US" smtClean="0">
                <a:latin typeface="Arial" charset="0"/>
                <a:cs typeface="Arial" charset="0"/>
              </a:rPr>
              <a:t>Antithetic variable technique</a:t>
            </a:r>
          </a:p>
          <a:p>
            <a:pPr eaLnBrk="1" hangingPunct="1"/>
            <a:r>
              <a:rPr lang="en-US" altLang="en-US" smtClean="0">
                <a:latin typeface="Arial" charset="0"/>
                <a:cs typeface="Arial" charset="0"/>
              </a:rPr>
              <a:t>Control variate technique</a:t>
            </a:r>
          </a:p>
          <a:p>
            <a:pPr eaLnBrk="1" hangingPunct="1"/>
            <a:r>
              <a:rPr lang="en-US" altLang="en-US" smtClean="0">
                <a:latin typeface="Arial" charset="0"/>
                <a:cs typeface="Arial" charset="0"/>
              </a:rPr>
              <a:t>Importance sampling</a:t>
            </a:r>
          </a:p>
          <a:p>
            <a:pPr eaLnBrk="1" hangingPunct="1"/>
            <a:r>
              <a:rPr lang="en-US" altLang="en-US" smtClean="0">
                <a:latin typeface="Arial" charset="0"/>
                <a:cs typeface="Arial" charset="0"/>
              </a:rPr>
              <a:t>Stratified sampling</a:t>
            </a:r>
          </a:p>
          <a:p>
            <a:pPr eaLnBrk="1" hangingPunct="1"/>
            <a:r>
              <a:rPr lang="en-US" altLang="en-US" smtClean="0">
                <a:latin typeface="Arial" charset="0"/>
                <a:cs typeface="Arial" charset="0"/>
              </a:rPr>
              <a:t>Moment matching</a:t>
            </a:r>
          </a:p>
          <a:p>
            <a:pPr eaLnBrk="1" hangingPunct="1"/>
            <a:r>
              <a:rPr lang="en-US" altLang="en-US" smtClean="0">
                <a:latin typeface="Arial" charset="0"/>
                <a:cs typeface="Arial" charset="0"/>
              </a:rPr>
              <a:t>Using quasi-random sequences</a:t>
            </a:r>
          </a:p>
        </p:txBody>
      </p:sp>
      <p:sp>
        <p:nvSpPr>
          <p:cNvPr id="37892"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endParaRPr>
          </a:p>
        </p:txBody>
      </p:sp>
      <p:sp>
        <p:nvSpPr>
          <p:cNvPr id="3789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56AC89B7-2120-424B-B42A-8A5E17A73EAB}" type="slidenum">
              <a:rPr lang="en-US" altLang="en-US" sz="1400" smtClean="0">
                <a:latin typeface="Arial" charset="0"/>
              </a:rPr>
              <a:pPr eaLnBrk="1" hangingPunct="1">
                <a:spcBef>
                  <a:spcPct val="0"/>
                </a:spcBef>
                <a:buFontTx/>
                <a:buNone/>
              </a:pPr>
              <a:t>31</a:t>
            </a:fld>
            <a:endParaRPr lang="en-US" altLang="en-US" sz="1400" smtClean="0">
              <a:latin typeface="Arial" charset="0"/>
            </a:endParaRPr>
          </a:p>
        </p:txBody>
      </p:sp>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lIns="92075" tIns="46038" rIns="92075" bIns="46038"/>
          <a:lstStyle/>
          <a:p>
            <a:pPr eaLnBrk="1" fontAlgn="auto" hangingPunct="1">
              <a:spcAft>
                <a:spcPts val="0"/>
              </a:spcAft>
              <a:defRPr/>
            </a:pPr>
            <a:r>
              <a:rPr lang="en-US">
                <a:solidFill>
                  <a:schemeClr val="tx2">
                    <a:satMod val="130000"/>
                  </a:schemeClr>
                </a:solidFill>
              </a:rPr>
              <a:t>Sampling Through the Tree</a:t>
            </a:r>
          </a:p>
        </p:txBody>
      </p:sp>
      <p:sp>
        <p:nvSpPr>
          <p:cNvPr id="3891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endParaRPr>
          </a:p>
        </p:txBody>
      </p:sp>
      <p:sp>
        <p:nvSpPr>
          <p:cNvPr id="3891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A5677AEE-B0D5-41B7-82B4-36BC3D33F026}" type="slidenum">
              <a:rPr lang="en-US" altLang="en-US" sz="1400" smtClean="0">
                <a:latin typeface="Arial" charset="0"/>
              </a:rPr>
              <a:pPr eaLnBrk="1" hangingPunct="1">
                <a:spcBef>
                  <a:spcPct val="0"/>
                </a:spcBef>
                <a:buFontTx/>
                <a:buNone/>
              </a:pPr>
              <a:t>32</a:t>
            </a:fld>
            <a:endParaRPr lang="en-US" altLang="en-US" sz="1400" smtClean="0">
              <a:latin typeface="Arial" charset="0"/>
            </a:endParaRPr>
          </a:p>
        </p:txBody>
      </p:sp>
      <p:sp>
        <p:nvSpPr>
          <p:cNvPr id="6" name="Content Placeholder 5"/>
          <p:cNvSpPr>
            <a:spLocks noGrp="1"/>
          </p:cNvSpPr>
          <p:nvPr>
            <p:ph idx="1"/>
          </p:nvPr>
        </p:nvSpPr>
        <p:spPr/>
        <p:txBody>
          <a:bodyPr/>
          <a:lstStyle/>
          <a:p>
            <a:pPr eaLnBrk="1" hangingPunct="1">
              <a:defRPr/>
            </a:pPr>
            <a:r>
              <a:rPr lang="en-US" dirty="0" smtClean="0">
                <a:latin typeface="Arial" charset="0"/>
                <a:cs typeface="Arial" charset="0"/>
              </a:rPr>
              <a:t>Instead of sampling from the stochastic process we can sample paths randomly through a binomial or trinomial tree to value a derivative</a:t>
            </a:r>
          </a:p>
          <a:p>
            <a:pPr eaLnBrk="1" hangingPunct="1">
              <a:defRPr/>
            </a:pPr>
            <a:r>
              <a:rPr lang="en-CA" dirty="0" smtClean="0"/>
              <a:t>At each node that is reached we sample a random number between 0 and 1. If it </a:t>
            </a:r>
            <a:r>
              <a:rPr lang="en-CA" smtClean="0"/>
              <a:t>is between </a:t>
            </a:r>
            <a:r>
              <a:rPr lang="en-CA" dirty="0" smtClean="0"/>
              <a:t>0 and </a:t>
            </a:r>
            <a:r>
              <a:rPr lang="en-CA" i="1" dirty="0" smtClean="0">
                <a:latin typeface="+mj-lt"/>
              </a:rPr>
              <a:t>p</a:t>
            </a:r>
            <a:r>
              <a:rPr lang="en-CA" dirty="0" smtClean="0"/>
              <a:t>, we take the up branch; if it is between </a:t>
            </a:r>
            <a:r>
              <a:rPr lang="en-CA" i="1" dirty="0" smtClean="0">
                <a:latin typeface="+mj-lt"/>
              </a:rPr>
              <a:t>p</a:t>
            </a:r>
            <a:r>
              <a:rPr lang="en-CA" dirty="0" smtClean="0"/>
              <a:t> and 1, we take the down branch</a:t>
            </a:r>
            <a:endParaRPr lang="en-US"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lIns="92075" tIns="46038" rIns="92075" bIns="46038"/>
          <a:lstStyle/>
          <a:p>
            <a:pPr eaLnBrk="1" fontAlgn="auto" hangingPunct="1">
              <a:spcAft>
                <a:spcPts val="0"/>
              </a:spcAft>
              <a:defRPr/>
            </a:pPr>
            <a:r>
              <a:rPr lang="en-US">
                <a:solidFill>
                  <a:schemeClr val="tx2">
                    <a:satMod val="130000"/>
                  </a:schemeClr>
                </a:solidFill>
              </a:rPr>
              <a:t>Finite Difference Methods</a:t>
            </a:r>
          </a:p>
        </p:txBody>
      </p:sp>
      <p:sp>
        <p:nvSpPr>
          <p:cNvPr id="39939" name="Rectangle 3"/>
          <p:cNvSpPr>
            <a:spLocks noGrp="1" noChangeArrowheads="1"/>
          </p:cNvSpPr>
          <p:nvPr>
            <p:ph idx="1"/>
          </p:nvPr>
        </p:nvSpPr>
        <p:spPr>
          <a:xfrm>
            <a:off x="1219200" y="1981200"/>
            <a:ext cx="6459538" cy="4149725"/>
          </a:xfrm>
        </p:spPr>
        <p:txBody>
          <a:bodyPr lIns="92075" tIns="46038" rIns="92075" bIns="46038"/>
          <a:lstStyle/>
          <a:p>
            <a:pPr eaLnBrk="1" hangingPunct="1"/>
            <a:r>
              <a:rPr lang="en-US" altLang="en-US" smtClean="0">
                <a:latin typeface="Arial" charset="0"/>
                <a:cs typeface="Arial" charset="0"/>
              </a:rPr>
              <a:t>Finite difference methods aim to represent the differential equation in the form of a difference equation</a:t>
            </a:r>
          </a:p>
          <a:p>
            <a:pPr eaLnBrk="1" hangingPunct="1"/>
            <a:r>
              <a:rPr lang="en-US" altLang="en-US" smtClean="0">
                <a:latin typeface="Arial" charset="0"/>
                <a:cs typeface="Arial" charset="0"/>
              </a:rPr>
              <a:t>We form a grid by considering equally spaced time values and stock price values</a:t>
            </a:r>
          </a:p>
          <a:p>
            <a:pPr eaLnBrk="1" hangingPunct="1"/>
            <a:r>
              <a:rPr lang="en-US" altLang="en-US" smtClean="0">
                <a:latin typeface="Arial" charset="0"/>
                <a:cs typeface="Arial" charset="0"/>
              </a:rPr>
              <a:t>Define  </a:t>
            </a:r>
            <a:r>
              <a:rPr lang="en-US" altLang="en-US" smtClean="0">
                <a:latin typeface="Times New Roman" pitchFamily="18" charset="0"/>
                <a:cs typeface="Arial" charset="0"/>
              </a:rPr>
              <a:t>ƒ</a:t>
            </a:r>
            <a:r>
              <a:rPr lang="en-US" altLang="en-US" i="1" baseline="-25000" smtClean="0">
                <a:latin typeface="Times New Roman" pitchFamily="18" charset="0"/>
                <a:cs typeface="Arial" charset="0"/>
              </a:rPr>
              <a:t>i,j</a:t>
            </a:r>
            <a:r>
              <a:rPr lang="en-US" altLang="en-US" baseline="-25000" smtClean="0">
                <a:latin typeface="Arial" charset="0"/>
                <a:cs typeface="Arial" charset="0"/>
              </a:rPr>
              <a:t> </a:t>
            </a:r>
            <a:r>
              <a:rPr lang="en-US" altLang="en-US" smtClean="0">
                <a:latin typeface="Arial" charset="0"/>
                <a:cs typeface="Arial" charset="0"/>
              </a:rPr>
              <a:t>as the value of </a:t>
            </a:r>
            <a:r>
              <a:rPr lang="en-US" altLang="en-US" smtClean="0">
                <a:latin typeface="Times New Roman" pitchFamily="18" charset="0"/>
                <a:cs typeface="Arial" charset="0"/>
              </a:rPr>
              <a:t>ƒ</a:t>
            </a:r>
            <a:r>
              <a:rPr lang="en-US" altLang="en-US" smtClean="0">
                <a:latin typeface="Arial" charset="0"/>
                <a:cs typeface="Arial" charset="0"/>
              </a:rPr>
              <a:t> at time </a:t>
            </a:r>
            <a:r>
              <a:rPr lang="en-US" altLang="en-US" i="1" smtClean="0">
                <a:latin typeface="Times New Roman" pitchFamily="18" charset="0"/>
                <a:cs typeface="Arial" charset="0"/>
              </a:rPr>
              <a:t>i</a:t>
            </a:r>
            <a:r>
              <a:rPr lang="en-US" altLang="en-US" smtClean="0">
                <a:latin typeface="Symbol" pitchFamily="18" charset="2"/>
                <a:cs typeface="Arial" charset="0"/>
              </a:rPr>
              <a:t>D</a:t>
            </a:r>
            <a:r>
              <a:rPr lang="en-US" altLang="en-US" i="1" smtClean="0">
                <a:latin typeface="Times New Roman" pitchFamily="18" charset="0"/>
                <a:cs typeface="Arial" charset="0"/>
              </a:rPr>
              <a:t>t</a:t>
            </a:r>
            <a:r>
              <a:rPr lang="en-US" altLang="en-US" smtClean="0">
                <a:latin typeface="Arial" charset="0"/>
                <a:cs typeface="Arial" charset="0"/>
              </a:rPr>
              <a:t> when the stock price is </a:t>
            </a:r>
            <a:r>
              <a:rPr lang="en-US" altLang="en-US" i="1" smtClean="0">
                <a:latin typeface="Times New Roman" pitchFamily="18" charset="0"/>
                <a:cs typeface="Arial" charset="0"/>
              </a:rPr>
              <a:t>j</a:t>
            </a:r>
            <a:r>
              <a:rPr lang="en-US" altLang="en-US" smtClean="0">
                <a:latin typeface="Symbol" pitchFamily="18" charset="2"/>
                <a:cs typeface="Arial" charset="0"/>
              </a:rPr>
              <a:t>D</a:t>
            </a:r>
            <a:r>
              <a:rPr lang="en-US" altLang="en-US" i="1" smtClean="0">
                <a:latin typeface="Times New Roman" pitchFamily="18" charset="0"/>
                <a:cs typeface="Arial" charset="0"/>
              </a:rPr>
              <a:t>S</a:t>
            </a:r>
          </a:p>
        </p:txBody>
      </p:sp>
      <p:sp>
        <p:nvSpPr>
          <p:cNvPr id="3994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endParaRPr>
          </a:p>
        </p:txBody>
      </p:sp>
      <p:sp>
        <p:nvSpPr>
          <p:cNvPr id="3994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19743DF2-7ED1-46AB-AA88-6E23509151F9}" type="slidenum">
              <a:rPr lang="en-US" altLang="en-US" sz="1400" smtClean="0">
                <a:latin typeface="Arial" charset="0"/>
              </a:rPr>
              <a:pPr eaLnBrk="1" hangingPunct="1">
                <a:spcBef>
                  <a:spcPct val="0"/>
                </a:spcBef>
                <a:buFontTx/>
                <a:buNone/>
              </a:pPr>
              <a:t>33</a:t>
            </a:fld>
            <a:endParaRPr lang="en-US" altLang="en-US" sz="1400" smtClean="0">
              <a:latin typeface="Arial" charset="0"/>
            </a:endParaRPr>
          </a:p>
        </p:txBody>
      </p:sp>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p:txBody>
          <a:bodyPr/>
          <a:lstStyle/>
          <a:p>
            <a:pPr eaLnBrk="1" hangingPunct="1"/>
            <a:r>
              <a:rPr lang="en-CA" altLang="en-US" dirty="0" smtClean="0"/>
              <a:t>The </a:t>
            </a:r>
            <a:r>
              <a:rPr lang="en-CA" altLang="en-US" dirty="0" smtClean="0"/>
              <a:t>Grid </a:t>
            </a:r>
            <a:r>
              <a:rPr lang="en-CA" altLang="en-US" sz="2400" dirty="0" smtClean="0"/>
              <a:t>(Figure 21.5)</a:t>
            </a:r>
            <a:endParaRPr lang="en-US" altLang="en-US" sz="2400" dirty="0" smtClean="0"/>
          </a:p>
        </p:txBody>
      </p:sp>
      <p:pic>
        <p:nvPicPr>
          <p:cNvPr id="40963" name="Content Placeholder 5" descr="OFOD7_19-15.eps"/>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a:xfrm>
            <a:off x="1371600" y="2209800"/>
            <a:ext cx="5262563" cy="3838575"/>
          </a:xfrm>
        </p:spPr>
      </p:pic>
      <p:sp>
        <p:nvSpPr>
          <p:cNvPr id="40964" name="Footer Placeholder 3"/>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charset="0"/>
              </a:defRPr>
            </a:lvl1pPr>
            <a:lvl2pPr marL="742950" indent="-285750" eaLnBrk="0" hangingPunct="0">
              <a:spcBef>
                <a:spcPct val="20000"/>
              </a:spcBef>
              <a:buSzPct val="75000"/>
              <a:buBlip>
                <a:blip r:embed="rId5"/>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endParaRPr>
          </a:p>
        </p:txBody>
      </p:sp>
      <p:sp>
        <p:nvSpPr>
          <p:cNvPr id="40965"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charset="0"/>
              </a:defRPr>
            </a:lvl1pPr>
            <a:lvl2pPr marL="742950" indent="-285750" eaLnBrk="0" hangingPunct="0">
              <a:spcBef>
                <a:spcPct val="20000"/>
              </a:spcBef>
              <a:buSzPct val="75000"/>
              <a:buBlip>
                <a:blip r:embed="rId5"/>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6DC4DE06-D8CB-4CB4-81AE-1E5D3611102C}" type="slidenum">
              <a:rPr lang="en-US" altLang="en-US" sz="1400" smtClean="0">
                <a:latin typeface="Arial" charset="0"/>
              </a:rPr>
              <a:pPr eaLnBrk="1" hangingPunct="1">
                <a:spcBef>
                  <a:spcPct val="0"/>
                </a:spcBef>
                <a:buFontTx/>
                <a:buNone/>
              </a:pPr>
              <a:t>34</a:t>
            </a:fld>
            <a:endParaRPr lang="en-US" altLang="en-US" sz="1400" smtClean="0">
              <a:latin typeface="Arial" charset="0"/>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1219200" y="1066800"/>
            <a:ext cx="7239000" cy="381000"/>
          </a:xfrm>
        </p:spPr>
        <p:txBody>
          <a:bodyPr lIns="92075" tIns="46038" rIns="92075" bIns="46038">
            <a:normAutofit fontScale="90000"/>
          </a:bodyPr>
          <a:lstStyle/>
          <a:p>
            <a:pPr eaLnBrk="1" fontAlgn="auto" hangingPunct="1">
              <a:spcAft>
                <a:spcPts val="0"/>
              </a:spcAft>
              <a:defRPr/>
            </a:pPr>
            <a:r>
              <a:rPr lang="en-US" dirty="0">
                <a:solidFill>
                  <a:schemeClr val="tx2">
                    <a:satMod val="130000"/>
                  </a:schemeClr>
                </a:solidFill>
              </a:rPr>
              <a:t>Finite Difference Methods</a:t>
            </a:r>
            <a:br>
              <a:rPr lang="en-US" dirty="0">
                <a:solidFill>
                  <a:schemeClr val="tx2">
                    <a:satMod val="130000"/>
                  </a:schemeClr>
                </a:solidFill>
              </a:rPr>
            </a:br>
            <a:r>
              <a:rPr lang="en-US" sz="2600" dirty="0">
                <a:solidFill>
                  <a:schemeClr val="tx2">
                    <a:satMod val="130000"/>
                  </a:schemeClr>
                </a:solidFill>
              </a:rPr>
              <a:t>(</a:t>
            </a:r>
            <a:r>
              <a:rPr lang="en-US" sz="2600" dirty="0" smtClean="0">
                <a:solidFill>
                  <a:schemeClr val="tx2">
                    <a:satMod val="130000"/>
                  </a:schemeClr>
                </a:solidFill>
              </a:rPr>
              <a:t>continued, equations 21.24 and 21.26)</a:t>
            </a:r>
            <a:endParaRPr lang="en-US" sz="2600" dirty="0">
              <a:solidFill>
                <a:schemeClr val="tx2">
                  <a:satMod val="130000"/>
                </a:schemeClr>
              </a:solidFill>
            </a:endParaRPr>
          </a:p>
        </p:txBody>
      </p:sp>
      <p:sp>
        <p:nvSpPr>
          <p:cNvPr id="41987"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charset="0"/>
              </a:defRPr>
            </a:lvl1pPr>
            <a:lvl2pPr marL="742950" indent="-285750" eaLnBrk="0" hangingPunct="0">
              <a:spcBef>
                <a:spcPct val="20000"/>
              </a:spcBef>
              <a:buSzPct val="75000"/>
              <a:buBlip>
                <a:blip r:embed="rId5"/>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endParaRPr>
          </a:p>
        </p:txBody>
      </p:sp>
      <p:sp>
        <p:nvSpPr>
          <p:cNvPr id="4198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charset="0"/>
              </a:defRPr>
            </a:lvl1pPr>
            <a:lvl2pPr marL="742950" indent="-285750" eaLnBrk="0" hangingPunct="0">
              <a:spcBef>
                <a:spcPct val="20000"/>
              </a:spcBef>
              <a:buSzPct val="75000"/>
              <a:buBlip>
                <a:blip r:embed="rId5"/>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5DDD6FE0-074B-4534-A8E3-4D65107C0465}" type="slidenum">
              <a:rPr lang="en-US" altLang="en-US" sz="1400" smtClean="0">
                <a:latin typeface="Arial" charset="0"/>
              </a:rPr>
              <a:pPr eaLnBrk="1" hangingPunct="1">
                <a:spcBef>
                  <a:spcPct val="0"/>
                </a:spcBef>
                <a:buFontTx/>
                <a:buNone/>
              </a:pPr>
              <a:t>35</a:t>
            </a:fld>
            <a:endParaRPr lang="en-US" altLang="en-US" sz="1400" smtClean="0">
              <a:latin typeface="Arial" charset="0"/>
            </a:endParaRPr>
          </a:p>
        </p:txBody>
      </p:sp>
      <p:graphicFrame>
        <p:nvGraphicFramePr>
          <p:cNvPr id="41989" name="Object 0"/>
          <p:cNvGraphicFramePr>
            <a:graphicFrameLocks/>
          </p:cNvGraphicFramePr>
          <p:nvPr/>
        </p:nvGraphicFramePr>
        <p:xfrm>
          <a:off x="1241425" y="2060575"/>
          <a:ext cx="6659563" cy="3859213"/>
        </p:xfrm>
        <a:graphic>
          <a:graphicData uri="http://schemas.openxmlformats.org/presentationml/2006/ole">
            <mc:AlternateContent xmlns:mc="http://schemas.openxmlformats.org/markup-compatibility/2006">
              <mc:Choice xmlns:v="urn:schemas-microsoft-com:vml" Requires="v">
                <p:oleObj spid="_x0000_s41997" name="Equation" r:id="rId6" imgW="2654300" imgH="1651000" progId="Equation.3">
                  <p:embed/>
                </p:oleObj>
              </mc:Choice>
              <mc:Fallback>
                <p:oleObj name="Equation" r:id="rId6" imgW="2654300" imgH="1651000" progId="Equation.3">
                  <p:embed/>
                  <p:pic>
                    <p:nvPicPr>
                      <p:cNvPr id="0" name="Object 0"/>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41425" y="2060575"/>
                        <a:ext cx="6659563" cy="3859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609600" y="1066800"/>
            <a:ext cx="8004175" cy="762000"/>
          </a:xfrm>
        </p:spPr>
        <p:txBody>
          <a:bodyPr lIns="92075" tIns="46038" rIns="92075" bIns="46038">
            <a:normAutofit fontScale="90000"/>
          </a:bodyPr>
          <a:lstStyle/>
          <a:p>
            <a:pPr eaLnBrk="1" fontAlgn="auto" hangingPunct="1">
              <a:spcAft>
                <a:spcPts val="0"/>
              </a:spcAft>
              <a:defRPr/>
            </a:pPr>
            <a:r>
              <a:rPr lang="en-US" dirty="0">
                <a:solidFill>
                  <a:schemeClr val="tx2">
                    <a:satMod val="130000"/>
                  </a:schemeClr>
                </a:solidFill>
              </a:rPr>
              <a:t>Implicit Finite Difference </a:t>
            </a:r>
            <a:r>
              <a:rPr lang="en-US" dirty="0" smtClean="0">
                <a:solidFill>
                  <a:schemeClr val="tx2">
                    <a:satMod val="130000"/>
                  </a:schemeClr>
                </a:solidFill>
              </a:rPr>
              <a:t>Method</a:t>
            </a:r>
            <a:br>
              <a:rPr lang="en-US" dirty="0" smtClean="0">
                <a:solidFill>
                  <a:schemeClr val="tx2">
                    <a:satMod val="130000"/>
                  </a:schemeClr>
                </a:solidFill>
              </a:rPr>
            </a:br>
            <a:endParaRPr lang="en-US" sz="2700" dirty="0">
              <a:solidFill>
                <a:schemeClr val="tx2">
                  <a:satMod val="130000"/>
                </a:schemeClr>
              </a:solidFill>
            </a:endParaRPr>
          </a:p>
        </p:txBody>
      </p:sp>
      <p:sp>
        <p:nvSpPr>
          <p:cNvPr id="43011"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charset="0"/>
              </a:defRPr>
            </a:lvl1pPr>
            <a:lvl2pPr marL="742950" indent="-285750" eaLnBrk="0" hangingPunct="0">
              <a:spcBef>
                <a:spcPct val="20000"/>
              </a:spcBef>
              <a:buSzPct val="75000"/>
              <a:buBlip>
                <a:blip r:embed="rId5"/>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endParaRPr>
          </a:p>
        </p:txBody>
      </p:sp>
      <p:sp>
        <p:nvSpPr>
          <p:cNvPr id="4301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charset="0"/>
              </a:defRPr>
            </a:lvl1pPr>
            <a:lvl2pPr marL="742950" indent="-285750" eaLnBrk="0" hangingPunct="0">
              <a:spcBef>
                <a:spcPct val="20000"/>
              </a:spcBef>
              <a:buSzPct val="75000"/>
              <a:buBlip>
                <a:blip r:embed="rId5"/>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D6069C90-A2EE-45D2-8E0F-32C432B339C9}" type="slidenum">
              <a:rPr lang="en-US" altLang="en-US" sz="1400" smtClean="0">
                <a:latin typeface="Arial" charset="0"/>
              </a:rPr>
              <a:pPr eaLnBrk="1" hangingPunct="1">
                <a:spcBef>
                  <a:spcPct val="0"/>
                </a:spcBef>
                <a:buFontTx/>
                <a:buNone/>
              </a:pPr>
              <a:t>36</a:t>
            </a:fld>
            <a:endParaRPr lang="en-US" altLang="en-US" sz="1400" smtClean="0">
              <a:latin typeface="Arial" charset="0"/>
            </a:endParaRPr>
          </a:p>
        </p:txBody>
      </p:sp>
      <p:graphicFrame>
        <p:nvGraphicFramePr>
          <p:cNvPr id="43013" name="Object 3"/>
          <p:cNvGraphicFramePr>
            <a:graphicFrameLocks/>
          </p:cNvGraphicFramePr>
          <p:nvPr/>
        </p:nvGraphicFramePr>
        <p:xfrm>
          <a:off x="838200" y="2438400"/>
          <a:ext cx="6470650" cy="2097088"/>
        </p:xfrm>
        <a:graphic>
          <a:graphicData uri="http://schemas.openxmlformats.org/presentationml/2006/ole">
            <mc:AlternateContent xmlns:mc="http://schemas.openxmlformats.org/markup-compatibility/2006">
              <mc:Choice xmlns:v="urn:schemas-microsoft-com:vml" Requires="v">
                <p:oleObj spid="_x0000_s43021" name="Equation" r:id="rId6" imgW="2895600" imgH="952500" progId="Equation.3">
                  <p:embed/>
                </p:oleObj>
              </mc:Choice>
              <mc:Fallback>
                <p:oleObj name="Equation" r:id="rId6" imgW="2895600" imgH="952500" progId="Equation.3">
                  <p:embed/>
                  <p:pic>
                    <p:nvPicPr>
                      <p:cNvPr id="0" name="Object 3"/>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8200" y="2438400"/>
                        <a:ext cx="6470650" cy="2097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xfrm>
            <a:off x="685800" y="1066800"/>
            <a:ext cx="7772400" cy="762000"/>
          </a:xfrm>
        </p:spPr>
        <p:txBody>
          <a:bodyPr lIns="92075" tIns="46038" rIns="92075" bIns="46038">
            <a:normAutofit fontScale="90000"/>
          </a:bodyPr>
          <a:lstStyle/>
          <a:p>
            <a:pPr eaLnBrk="1" fontAlgn="auto" hangingPunct="1">
              <a:spcAft>
                <a:spcPts val="0"/>
              </a:spcAft>
              <a:defRPr/>
            </a:pPr>
            <a:r>
              <a:rPr lang="en-US" dirty="0">
                <a:solidFill>
                  <a:schemeClr val="tx2">
                    <a:satMod val="130000"/>
                  </a:schemeClr>
                </a:solidFill>
              </a:rPr>
              <a:t>Explicit Finite Difference </a:t>
            </a:r>
            <a:r>
              <a:rPr lang="en-US" dirty="0" smtClean="0">
                <a:solidFill>
                  <a:schemeClr val="tx2">
                    <a:satMod val="130000"/>
                  </a:schemeClr>
                </a:solidFill>
              </a:rPr>
              <a:t>Method</a:t>
            </a:r>
            <a:endParaRPr lang="en-US" dirty="0">
              <a:solidFill>
                <a:schemeClr val="tx2">
                  <a:satMod val="130000"/>
                </a:schemeClr>
              </a:solidFill>
            </a:endParaRPr>
          </a:p>
        </p:txBody>
      </p:sp>
      <p:sp>
        <p:nvSpPr>
          <p:cNvPr id="44035"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charset="0"/>
              </a:defRPr>
            </a:lvl1pPr>
            <a:lvl2pPr marL="742950" indent="-285750" eaLnBrk="0" hangingPunct="0">
              <a:spcBef>
                <a:spcPct val="20000"/>
              </a:spcBef>
              <a:buSzPct val="75000"/>
              <a:buBlip>
                <a:blip r:embed="rId5"/>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endParaRPr>
          </a:p>
        </p:txBody>
      </p:sp>
      <p:sp>
        <p:nvSpPr>
          <p:cNvPr id="4403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4"/>
              </a:buBlip>
              <a:defRPr sz="3200">
                <a:solidFill>
                  <a:schemeClr val="tx1"/>
                </a:solidFill>
                <a:latin typeface="Tahoma" charset="0"/>
              </a:defRPr>
            </a:lvl1pPr>
            <a:lvl2pPr marL="742950" indent="-285750" eaLnBrk="0" hangingPunct="0">
              <a:spcBef>
                <a:spcPct val="20000"/>
              </a:spcBef>
              <a:buSzPct val="75000"/>
              <a:buBlip>
                <a:blip r:embed="rId5"/>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172C960F-7FC7-46C9-A569-756CE17FBF60}" type="slidenum">
              <a:rPr lang="en-US" altLang="en-US" sz="1400" smtClean="0">
                <a:latin typeface="Arial" charset="0"/>
              </a:rPr>
              <a:pPr eaLnBrk="1" hangingPunct="1">
                <a:spcBef>
                  <a:spcPct val="0"/>
                </a:spcBef>
                <a:buFontTx/>
                <a:buNone/>
              </a:pPr>
              <a:t>37</a:t>
            </a:fld>
            <a:endParaRPr lang="en-US" altLang="en-US" sz="1400" smtClean="0">
              <a:latin typeface="Arial" charset="0"/>
            </a:endParaRPr>
          </a:p>
        </p:txBody>
      </p:sp>
      <p:graphicFrame>
        <p:nvGraphicFramePr>
          <p:cNvPr id="44037" name="Object 0"/>
          <p:cNvGraphicFramePr>
            <a:graphicFrameLocks/>
          </p:cNvGraphicFramePr>
          <p:nvPr/>
        </p:nvGraphicFramePr>
        <p:xfrm>
          <a:off x="1143000" y="2438400"/>
          <a:ext cx="7162800" cy="2971800"/>
        </p:xfrm>
        <a:graphic>
          <a:graphicData uri="http://schemas.openxmlformats.org/presentationml/2006/ole">
            <mc:AlternateContent xmlns:mc="http://schemas.openxmlformats.org/markup-compatibility/2006">
              <mc:Choice xmlns:v="urn:schemas-microsoft-com:vml" Requires="v">
                <p:oleObj spid="_x0000_s44045" name="Equation" r:id="rId6" imgW="3378200" imgH="1422400" progId="Equation.3">
                  <p:embed/>
                </p:oleObj>
              </mc:Choice>
              <mc:Fallback>
                <p:oleObj name="Equation" r:id="rId6" imgW="3378200" imgH="1422400" progId="Equation.3">
                  <p:embed/>
                  <p:pic>
                    <p:nvPicPr>
                      <p:cNvPr id="0" name="Object 0"/>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43000" y="2438400"/>
                        <a:ext cx="7162800" cy="297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1026"/>
          <p:cNvSpPr>
            <a:spLocks noGrp="1" noChangeArrowheads="1"/>
          </p:cNvSpPr>
          <p:nvPr>
            <p:ph type="title"/>
          </p:nvPr>
        </p:nvSpPr>
        <p:spPr/>
        <p:txBody>
          <a:bodyPr>
            <a:normAutofit fontScale="90000"/>
          </a:bodyPr>
          <a:lstStyle/>
          <a:p>
            <a:pPr eaLnBrk="1" fontAlgn="auto" hangingPunct="1">
              <a:spcAft>
                <a:spcPts val="0"/>
              </a:spcAft>
              <a:defRPr/>
            </a:pPr>
            <a:r>
              <a:rPr lang="en-US" dirty="0">
                <a:solidFill>
                  <a:schemeClr val="tx2">
                    <a:satMod val="130000"/>
                  </a:schemeClr>
                </a:solidFill>
              </a:rPr>
              <a:t>Implicit </a:t>
            </a:r>
            <a:r>
              <a:rPr lang="en-US" dirty="0" err="1">
                <a:solidFill>
                  <a:schemeClr val="tx2">
                    <a:satMod val="130000"/>
                  </a:schemeClr>
                </a:solidFill>
              </a:rPr>
              <a:t>vs</a:t>
            </a:r>
            <a:r>
              <a:rPr lang="en-US" dirty="0">
                <a:solidFill>
                  <a:schemeClr val="tx2">
                    <a:satMod val="130000"/>
                  </a:schemeClr>
                </a:solidFill>
              </a:rPr>
              <a:t> Explicit Finite Difference Method</a:t>
            </a:r>
          </a:p>
        </p:txBody>
      </p:sp>
      <p:sp>
        <p:nvSpPr>
          <p:cNvPr id="45059" name="Rectangle 1027"/>
          <p:cNvSpPr>
            <a:spLocks noGrp="1" noChangeArrowheads="1"/>
          </p:cNvSpPr>
          <p:nvPr>
            <p:ph idx="1"/>
          </p:nvPr>
        </p:nvSpPr>
        <p:spPr>
          <a:xfrm>
            <a:off x="1219200" y="2438400"/>
            <a:ext cx="7467600" cy="3692525"/>
          </a:xfrm>
        </p:spPr>
        <p:txBody>
          <a:bodyPr/>
          <a:lstStyle/>
          <a:p>
            <a:pPr eaLnBrk="1" hangingPunct="1"/>
            <a:r>
              <a:rPr lang="en-US" altLang="en-US" smtClean="0">
                <a:latin typeface="Arial" charset="0"/>
                <a:cs typeface="Arial" charset="0"/>
              </a:rPr>
              <a:t>The explicit finite difference method is equivalent to the trinomial tree approach</a:t>
            </a:r>
          </a:p>
          <a:p>
            <a:pPr eaLnBrk="1" hangingPunct="1"/>
            <a:r>
              <a:rPr lang="en-US" altLang="en-US" smtClean="0">
                <a:latin typeface="Arial" charset="0"/>
                <a:cs typeface="Arial" charset="0"/>
              </a:rPr>
              <a:t>The implicit finite difference method is equivalent to a multinomial tree approach</a:t>
            </a:r>
          </a:p>
        </p:txBody>
      </p:sp>
      <p:sp>
        <p:nvSpPr>
          <p:cNvPr id="45060"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endParaRPr>
          </a:p>
        </p:txBody>
      </p:sp>
      <p:sp>
        <p:nvSpPr>
          <p:cNvPr id="4506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9CCD01F1-091E-4FFF-BAB4-41F5B7A8D00A}" type="slidenum">
              <a:rPr lang="en-US" altLang="en-US" sz="1400" smtClean="0">
                <a:latin typeface="Arial" charset="0"/>
              </a:rPr>
              <a:pPr eaLnBrk="1" hangingPunct="1">
                <a:spcBef>
                  <a:spcPct val="0"/>
                </a:spcBef>
                <a:buFontTx/>
                <a:buNone/>
              </a:pPr>
              <a:t>38</a:t>
            </a:fld>
            <a:endParaRPr lang="en-US" altLang="en-US" sz="1400" smtClean="0">
              <a:latin typeface="Arial" charset="0"/>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a:xfrm>
            <a:off x="914400" y="685800"/>
            <a:ext cx="7543800" cy="1447800"/>
          </a:xfrm>
        </p:spPr>
        <p:txBody>
          <a:bodyPr lIns="92075" tIns="46038" rIns="92075" bIns="46038">
            <a:normAutofit/>
          </a:bodyPr>
          <a:lstStyle/>
          <a:p>
            <a:pPr eaLnBrk="1" fontAlgn="auto" hangingPunct="1">
              <a:spcAft>
                <a:spcPts val="0"/>
              </a:spcAft>
              <a:defRPr/>
            </a:pPr>
            <a:r>
              <a:rPr lang="en-US" dirty="0">
                <a:solidFill>
                  <a:schemeClr val="tx2">
                    <a:satMod val="130000"/>
                  </a:schemeClr>
                </a:solidFill>
              </a:rPr>
              <a:t> </a:t>
            </a:r>
            <a:r>
              <a:rPr lang="en-US" sz="3500" dirty="0">
                <a:solidFill>
                  <a:schemeClr val="tx2">
                    <a:satMod val="130000"/>
                  </a:schemeClr>
                </a:solidFill>
              </a:rPr>
              <a:t>Implicit vs Explicit</a:t>
            </a:r>
            <a:br>
              <a:rPr lang="en-US" sz="3500" dirty="0">
                <a:solidFill>
                  <a:schemeClr val="tx2">
                    <a:satMod val="130000"/>
                  </a:schemeClr>
                </a:solidFill>
              </a:rPr>
            </a:br>
            <a:r>
              <a:rPr lang="en-US" sz="3500" dirty="0">
                <a:solidFill>
                  <a:schemeClr val="tx2">
                    <a:satMod val="130000"/>
                  </a:schemeClr>
                </a:solidFill>
              </a:rPr>
              <a:t> </a:t>
            </a:r>
            <a:r>
              <a:rPr lang="en-US" sz="3500" dirty="0" smtClean="0">
                <a:solidFill>
                  <a:schemeClr val="tx2">
                    <a:satMod val="130000"/>
                  </a:schemeClr>
                </a:solidFill>
              </a:rPr>
              <a:t>Finite </a:t>
            </a:r>
            <a:r>
              <a:rPr lang="en-US" sz="3500" dirty="0">
                <a:solidFill>
                  <a:schemeClr val="tx2">
                    <a:satMod val="130000"/>
                  </a:schemeClr>
                </a:solidFill>
              </a:rPr>
              <a:t>Difference </a:t>
            </a:r>
            <a:r>
              <a:rPr lang="en-US" sz="3500" dirty="0" smtClean="0">
                <a:solidFill>
                  <a:schemeClr val="tx2">
                    <a:satMod val="130000"/>
                  </a:schemeClr>
                </a:solidFill>
              </a:rPr>
              <a:t>Methods </a:t>
            </a:r>
            <a:r>
              <a:rPr lang="en-US" sz="2200" dirty="0" smtClean="0">
                <a:solidFill>
                  <a:schemeClr val="tx2">
                    <a:satMod val="130000"/>
                  </a:schemeClr>
                </a:solidFill>
              </a:rPr>
              <a:t>(</a:t>
            </a:r>
            <a:r>
              <a:rPr lang="en-US" sz="2200" dirty="0">
                <a:solidFill>
                  <a:schemeClr val="tx2">
                    <a:satMod val="130000"/>
                  </a:schemeClr>
                </a:solidFill>
              </a:rPr>
              <a:t>Figure </a:t>
            </a:r>
            <a:r>
              <a:rPr lang="en-US" sz="2200" dirty="0" smtClean="0">
                <a:solidFill>
                  <a:schemeClr val="tx2">
                    <a:satMod val="130000"/>
                  </a:schemeClr>
                </a:solidFill>
              </a:rPr>
              <a:t>21.16)</a:t>
            </a:r>
            <a:endParaRPr lang="en-US" sz="3500" dirty="0">
              <a:solidFill>
                <a:schemeClr val="tx2">
                  <a:satMod val="130000"/>
                </a:schemeClr>
              </a:solidFill>
            </a:endParaRPr>
          </a:p>
        </p:txBody>
      </p:sp>
      <p:sp>
        <p:nvSpPr>
          <p:cNvPr id="46083" name="Rectangle 3"/>
          <p:cNvSpPr>
            <a:spLocks noGrp="1" noChangeArrowheads="1"/>
          </p:cNvSpPr>
          <p:nvPr>
            <p:ph idx="1"/>
          </p:nvPr>
        </p:nvSpPr>
        <p:spPr>
          <a:xfrm>
            <a:off x="2133600" y="2057400"/>
            <a:ext cx="6800850" cy="4191000"/>
          </a:xfrm>
        </p:spPr>
        <p:txBody>
          <a:bodyPr lIns="92075" tIns="46038" rIns="92075" bIns="46038"/>
          <a:lstStyle/>
          <a:p>
            <a:pPr eaLnBrk="1" hangingPunct="1">
              <a:buFont typeface="Wingdings" pitchFamily="2" charset="2"/>
              <a:buNone/>
            </a:pPr>
            <a:r>
              <a:rPr lang="en-US" altLang="en-US" smtClean="0">
                <a:latin typeface="Arial" charset="0"/>
                <a:cs typeface="Arial" charset="0"/>
              </a:rPr>
              <a:t> </a:t>
            </a:r>
          </a:p>
        </p:txBody>
      </p:sp>
      <p:sp>
        <p:nvSpPr>
          <p:cNvPr id="46084"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endParaRPr>
          </a:p>
        </p:txBody>
      </p:sp>
      <p:sp>
        <p:nvSpPr>
          <p:cNvPr id="46085"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BAFC9011-9946-43EB-8D51-B383ACD000D7}" type="slidenum">
              <a:rPr lang="en-US" altLang="en-US" sz="1400" smtClean="0">
                <a:latin typeface="Arial" charset="0"/>
              </a:rPr>
              <a:pPr eaLnBrk="1" hangingPunct="1">
                <a:spcBef>
                  <a:spcPct val="0"/>
                </a:spcBef>
                <a:buFontTx/>
                <a:buNone/>
              </a:pPr>
              <a:t>39</a:t>
            </a:fld>
            <a:endParaRPr lang="en-US" altLang="en-US" sz="1400" smtClean="0">
              <a:latin typeface="Arial" charset="0"/>
            </a:endParaRPr>
          </a:p>
        </p:txBody>
      </p:sp>
      <p:grpSp>
        <p:nvGrpSpPr>
          <p:cNvPr id="46086" name="Group 23"/>
          <p:cNvGrpSpPr>
            <a:grpSpLocks/>
          </p:cNvGrpSpPr>
          <p:nvPr/>
        </p:nvGrpSpPr>
        <p:grpSpPr bwMode="auto">
          <a:xfrm>
            <a:off x="1676400" y="2149475"/>
            <a:ext cx="7010400" cy="3413125"/>
            <a:chOff x="685800" y="2149475"/>
            <a:chExt cx="8208963" cy="3946525"/>
          </a:xfrm>
        </p:grpSpPr>
        <p:grpSp>
          <p:nvGrpSpPr>
            <p:cNvPr id="46087" name="Group 10"/>
            <p:cNvGrpSpPr>
              <a:grpSpLocks/>
            </p:cNvGrpSpPr>
            <p:nvPr/>
          </p:nvGrpSpPr>
          <p:grpSpPr bwMode="auto">
            <a:xfrm>
              <a:off x="5257800" y="2514600"/>
              <a:ext cx="3636963" cy="2738438"/>
              <a:chOff x="3312" y="1584"/>
              <a:chExt cx="2291" cy="1725"/>
            </a:xfrm>
          </p:grpSpPr>
          <p:sp>
            <p:nvSpPr>
              <p:cNvPr id="46098" name="Line 4"/>
              <p:cNvSpPr>
                <a:spLocks noChangeShapeType="1"/>
              </p:cNvSpPr>
              <p:nvPr/>
            </p:nvSpPr>
            <p:spPr bwMode="auto">
              <a:xfrm>
                <a:off x="3617" y="2302"/>
                <a:ext cx="11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6099" name="Line 5"/>
              <p:cNvSpPr>
                <a:spLocks noChangeShapeType="1"/>
              </p:cNvSpPr>
              <p:nvPr/>
            </p:nvSpPr>
            <p:spPr bwMode="auto">
              <a:xfrm flipV="1">
                <a:off x="3617" y="1584"/>
                <a:ext cx="1100" cy="71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6100" name="Line 6"/>
              <p:cNvSpPr>
                <a:spLocks noChangeShapeType="1"/>
              </p:cNvSpPr>
              <p:nvPr/>
            </p:nvSpPr>
            <p:spPr bwMode="auto">
              <a:xfrm>
                <a:off x="3617" y="2302"/>
                <a:ext cx="1100" cy="718"/>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6101" name="Rectangle 7"/>
              <p:cNvSpPr>
                <a:spLocks noChangeArrowheads="1"/>
              </p:cNvSpPr>
              <p:nvPr/>
            </p:nvSpPr>
            <p:spPr bwMode="auto">
              <a:xfrm>
                <a:off x="3312" y="2225"/>
                <a:ext cx="464"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a:buFontTx/>
                  <a:buNone/>
                </a:pPr>
                <a:r>
                  <a:rPr lang="en-US" altLang="en-US">
                    <a:latin typeface="Times New Roman" pitchFamily="18" charset="0"/>
                  </a:rPr>
                  <a:t>ƒ</a:t>
                </a:r>
                <a:r>
                  <a:rPr lang="en-US" altLang="en-US" i="1" baseline="-25000">
                    <a:latin typeface="Times New Roman" pitchFamily="18" charset="0"/>
                  </a:rPr>
                  <a:t>i , j</a:t>
                </a:r>
              </a:p>
            </p:txBody>
          </p:sp>
          <p:sp>
            <p:nvSpPr>
              <p:cNvPr id="46102" name="Rectangle 8"/>
              <p:cNvSpPr>
                <a:spLocks noChangeArrowheads="1"/>
              </p:cNvSpPr>
              <p:nvPr/>
            </p:nvSpPr>
            <p:spPr bwMode="auto">
              <a:xfrm>
                <a:off x="4750" y="2225"/>
                <a:ext cx="690"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a:buFontTx/>
                  <a:buNone/>
                </a:pPr>
                <a:r>
                  <a:rPr lang="en-US" altLang="en-US">
                    <a:latin typeface="Times New Roman" pitchFamily="18" charset="0"/>
                  </a:rPr>
                  <a:t>ƒ</a:t>
                </a:r>
                <a:r>
                  <a:rPr lang="en-US" altLang="en-US" i="1" baseline="-25000">
                    <a:latin typeface="Times New Roman" pitchFamily="18" charset="0"/>
                  </a:rPr>
                  <a:t>i </a:t>
                </a:r>
                <a:r>
                  <a:rPr lang="en-US" altLang="en-US" baseline="-25000">
                    <a:latin typeface="Times New Roman" pitchFamily="18" charset="0"/>
                  </a:rPr>
                  <a:t>+1</a:t>
                </a:r>
                <a:r>
                  <a:rPr lang="en-US" altLang="en-US" i="1" baseline="-25000">
                    <a:latin typeface="Times New Roman" pitchFamily="18" charset="0"/>
                  </a:rPr>
                  <a:t>, j</a:t>
                </a:r>
                <a:r>
                  <a:rPr lang="en-US" altLang="en-US" i="1" baseline="-25000">
                    <a:latin typeface="Arial" charset="0"/>
                  </a:rPr>
                  <a:t> </a:t>
                </a:r>
              </a:p>
            </p:txBody>
          </p:sp>
          <p:sp>
            <p:nvSpPr>
              <p:cNvPr id="46103" name="Rectangle 9"/>
              <p:cNvSpPr>
                <a:spLocks noChangeArrowheads="1"/>
              </p:cNvSpPr>
              <p:nvPr/>
            </p:nvSpPr>
            <p:spPr bwMode="auto">
              <a:xfrm>
                <a:off x="4750" y="2944"/>
                <a:ext cx="853"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a:buFontTx/>
                  <a:buNone/>
                </a:pPr>
                <a:r>
                  <a:rPr lang="en-US" altLang="en-US">
                    <a:latin typeface="Times New Roman" pitchFamily="18" charset="0"/>
                  </a:rPr>
                  <a:t>ƒ</a:t>
                </a:r>
                <a:r>
                  <a:rPr lang="en-US" altLang="en-US" i="1" baseline="-25000">
                    <a:latin typeface="Times New Roman" pitchFamily="18" charset="0"/>
                  </a:rPr>
                  <a:t>i </a:t>
                </a:r>
                <a:r>
                  <a:rPr lang="en-US" altLang="en-US" baseline="-25000">
                    <a:latin typeface="Times New Roman" pitchFamily="18" charset="0"/>
                  </a:rPr>
                  <a:t>+1</a:t>
                </a:r>
                <a:r>
                  <a:rPr lang="en-US" altLang="en-US" i="1" baseline="-25000">
                    <a:latin typeface="Times New Roman" pitchFamily="18" charset="0"/>
                  </a:rPr>
                  <a:t>, j </a:t>
                </a:r>
                <a:r>
                  <a:rPr lang="en-US" altLang="en-US" baseline="-25000">
                    <a:latin typeface="Times New Roman" pitchFamily="18" charset="0"/>
                  </a:rPr>
                  <a:t>–1</a:t>
                </a:r>
              </a:p>
            </p:txBody>
          </p:sp>
        </p:grpSp>
        <p:sp>
          <p:nvSpPr>
            <p:cNvPr id="46088" name="Rectangle 11"/>
            <p:cNvSpPr>
              <a:spLocks noChangeArrowheads="1"/>
            </p:cNvSpPr>
            <p:nvPr/>
          </p:nvSpPr>
          <p:spPr bwMode="auto">
            <a:xfrm>
              <a:off x="7446963" y="2149475"/>
              <a:ext cx="1371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a:buFontTx/>
                <a:buNone/>
              </a:pPr>
              <a:r>
                <a:rPr lang="en-US" altLang="en-US">
                  <a:latin typeface="Times New Roman" pitchFamily="18" charset="0"/>
                </a:rPr>
                <a:t>ƒ</a:t>
              </a:r>
              <a:r>
                <a:rPr lang="en-US" altLang="en-US" i="1" baseline="-25000">
                  <a:latin typeface="Times New Roman" pitchFamily="18" charset="0"/>
                </a:rPr>
                <a:t>i </a:t>
              </a:r>
              <a:r>
                <a:rPr lang="en-US" altLang="en-US" baseline="-25000">
                  <a:latin typeface="Times New Roman" pitchFamily="18" charset="0"/>
                </a:rPr>
                <a:t>+1</a:t>
              </a:r>
              <a:r>
                <a:rPr lang="en-US" altLang="en-US" i="1" baseline="-25000">
                  <a:latin typeface="Times New Roman" pitchFamily="18" charset="0"/>
                </a:rPr>
                <a:t>, j </a:t>
              </a:r>
              <a:r>
                <a:rPr lang="en-US" altLang="en-US" baseline="-25000">
                  <a:latin typeface="Times New Roman" pitchFamily="18" charset="0"/>
                </a:rPr>
                <a:t>+1</a:t>
              </a:r>
            </a:p>
          </p:txBody>
        </p:sp>
        <p:sp>
          <p:nvSpPr>
            <p:cNvPr id="46089" name="Line 12"/>
            <p:cNvSpPr>
              <a:spLocks noChangeShapeType="1"/>
            </p:cNvSpPr>
            <p:nvPr/>
          </p:nvSpPr>
          <p:spPr bwMode="auto">
            <a:xfrm flipH="1">
              <a:off x="1690688" y="3597275"/>
              <a:ext cx="1585912"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6090" name="Line 13"/>
            <p:cNvSpPr>
              <a:spLocks noChangeShapeType="1"/>
            </p:cNvSpPr>
            <p:nvPr/>
          </p:nvSpPr>
          <p:spPr bwMode="auto">
            <a:xfrm flipH="1" flipV="1">
              <a:off x="1690688" y="2413000"/>
              <a:ext cx="1585912" cy="118427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6091" name="Line 14"/>
            <p:cNvSpPr>
              <a:spLocks noChangeShapeType="1"/>
            </p:cNvSpPr>
            <p:nvPr/>
          </p:nvSpPr>
          <p:spPr bwMode="auto">
            <a:xfrm flipH="1">
              <a:off x="1690688" y="3597275"/>
              <a:ext cx="1585912" cy="1184275"/>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p>
          </p:txBody>
        </p:sp>
        <p:sp>
          <p:nvSpPr>
            <p:cNvPr id="46092" name="Rectangle 15"/>
            <p:cNvSpPr>
              <a:spLocks noChangeArrowheads="1"/>
            </p:cNvSpPr>
            <p:nvPr/>
          </p:nvSpPr>
          <p:spPr bwMode="auto">
            <a:xfrm flipH="1">
              <a:off x="3271838" y="3470275"/>
              <a:ext cx="102076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a:buFontTx/>
                <a:buNone/>
              </a:pPr>
              <a:r>
                <a:rPr lang="en-US" altLang="en-US">
                  <a:latin typeface="Times New Roman" pitchFamily="18" charset="0"/>
                </a:rPr>
                <a:t>ƒ</a:t>
              </a:r>
              <a:r>
                <a:rPr lang="en-US" altLang="en-US" i="1" baseline="-25000">
                  <a:latin typeface="Times New Roman" pitchFamily="18" charset="0"/>
                </a:rPr>
                <a:t>i </a:t>
              </a:r>
              <a:r>
                <a:rPr lang="en-US" altLang="en-US" baseline="-25000">
                  <a:latin typeface="Times New Roman" pitchFamily="18" charset="0"/>
                </a:rPr>
                <a:t>+1</a:t>
              </a:r>
              <a:r>
                <a:rPr lang="en-US" altLang="en-US" i="1" baseline="-25000">
                  <a:latin typeface="Times New Roman" pitchFamily="18" charset="0"/>
                </a:rPr>
                <a:t>, j</a:t>
              </a:r>
            </a:p>
          </p:txBody>
        </p:sp>
        <p:sp>
          <p:nvSpPr>
            <p:cNvPr id="46093" name="Rectangle 16"/>
            <p:cNvSpPr>
              <a:spLocks noChangeArrowheads="1"/>
            </p:cNvSpPr>
            <p:nvPr/>
          </p:nvSpPr>
          <p:spPr bwMode="auto">
            <a:xfrm flipH="1">
              <a:off x="762000" y="3394075"/>
              <a:ext cx="92868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a:buFontTx/>
                <a:buNone/>
              </a:pPr>
              <a:r>
                <a:rPr lang="en-US" altLang="en-US">
                  <a:latin typeface="Times New Roman" pitchFamily="18" charset="0"/>
                </a:rPr>
                <a:t>ƒ</a:t>
              </a:r>
              <a:r>
                <a:rPr lang="en-US" altLang="en-US" i="1" baseline="-25000">
                  <a:latin typeface="Times New Roman" pitchFamily="18" charset="0"/>
                </a:rPr>
                <a:t>i , j</a:t>
              </a:r>
            </a:p>
          </p:txBody>
        </p:sp>
        <p:sp>
          <p:nvSpPr>
            <p:cNvPr id="46094" name="Rectangle 17"/>
            <p:cNvSpPr>
              <a:spLocks noChangeArrowheads="1"/>
            </p:cNvSpPr>
            <p:nvPr/>
          </p:nvSpPr>
          <p:spPr bwMode="auto">
            <a:xfrm flipH="1">
              <a:off x="685800" y="4419600"/>
              <a:ext cx="1371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a:buFontTx/>
                <a:buNone/>
              </a:pPr>
              <a:r>
                <a:rPr lang="en-US" altLang="en-US">
                  <a:latin typeface="Times New Roman" pitchFamily="18" charset="0"/>
                </a:rPr>
                <a:t>ƒ</a:t>
              </a:r>
              <a:r>
                <a:rPr lang="en-US" altLang="en-US" i="1" baseline="-25000">
                  <a:latin typeface="Times New Roman" pitchFamily="18" charset="0"/>
                </a:rPr>
                <a:t>i , j</a:t>
              </a:r>
              <a:r>
                <a:rPr lang="en-US" altLang="en-US" baseline="-25000">
                  <a:latin typeface="Times New Roman" pitchFamily="18" charset="0"/>
                </a:rPr>
                <a:t> –1</a:t>
              </a:r>
            </a:p>
          </p:txBody>
        </p:sp>
        <p:sp>
          <p:nvSpPr>
            <p:cNvPr id="46095" name="Rectangle 18"/>
            <p:cNvSpPr>
              <a:spLocks noChangeArrowheads="1"/>
            </p:cNvSpPr>
            <p:nvPr/>
          </p:nvSpPr>
          <p:spPr bwMode="auto">
            <a:xfrm flipH="1">
              <a:off x="822325" y="2286000"/>
              <a:ext cx="10874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a:buFontTx/>
                <a:buNone/>
              </a:pPr>
              <a:r>
                <a:rPr lang="en-US" altLang="en-US">
                  <a:latin typeface="Times New Roman" pitchFamily="18" charset="0"/>
                </a:rPr>
                <a:t>ƒ</a:t>
              </a:r>
              <a:r>
                <a:rPr lang="en-US" altLang="en-US" i="1" baseline="-25000">
                  <a:latin typeface="Times New Roman" pitchFamily="18" charset="0"/>
                </a:rPr>
                <a:t>i , j </a:t>
              </a:r>
              <a:r>
                <a:rPr lang="en-US" altLang="en-US" baseline="-25000">
                  <a:latin typeface="Times New Roman" pitchFamily="18" charset="0"/>
                </a:rPr>
                <a:t>+1</a:t>
              </a:r>
            </a:p>
          </p:txBody>
        </p:sp>
        <p:sp>
          <p:nvSpPr>
            <p:cNvPr id="46096" name="Rectangle 19"/>
            <p:cNvSpPr>
              <a:spLocks noChangeArrowheads="1"/>
            </p:cNvSpPr>
            <p:nvPr/>
          </p:nvSpPr>
          <p:spPr bwMode="auto">
            <a:xfrm>
              <a:off x="1600200" y="5638800"/>
              <a:ext cx="2590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a:spcBef>
                  <a:spcPct val="50000"/>
                </a:spcBef>
                <a:buFontTx/>
                <a:buNone/>
              </a:pPr>
              <a:r>
                <a:rPr lang="en-US" altLang="en-US" sz="2400">
                  <a:latin typeface="Arial" charset="0"/>
                </a:rPr>
                <a:t>Implicit Method</a:t>
              </a:r>
            </a:p>
          </p:txBody>
        </p:sp>
        <p:sp>
          <p:nvSpPr>
            <p:cNvPr id="46097" name="Rectangle 20"/>
            <p:cNvSpPr>
              <a:spLocks noChangeArrowheads="1"/>
            </p:cNvSpPr>
            <p:nvPr/>
          </p:nvSpPr>
          <p:spPr bwMode="auto">
            <a:xfrm>
              <a:off x="5486400" y="5638800"/>
              <a:ext cx="2438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a:spcBef>
                  <a:spcPct val="50000"/>
                </a:spcBef>
                <a:buFontTx/>
                <a:buNone/>
              </a:pPr>
              <a:r>
                <a:rPr lang="en-US" altLang="en-US" sz="2400">
                  <a:latin typeface="Arial" charset="0"/>
                </a:rPr>
                <a:t>Explicit Method</a:t>
              </a:r>
            </a:p>
          </p:txBody>
        </p:sp>
      </p:grpSp>
    </p:spTree>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lIns="92075" tIns="46038" rIns="92075" bIns="46038">
            <a:normAutofit fontScale="90000"/>
          </a:bodyPr>
          <a:lstStyle/>
          <a:p>
            <a:pPr eaLnBrk="1" fontAlgn="auto" hangingPunct="1">
              <a:spcAft>
                <a:spcPts val="0"/>
              </a:spcAft>
              <a:defRPr/>
            </a:pPr>
            <a:r>
              <a:rPr lang="en-US" dirty="0">
                <a:solidFill>
                  <a:schemeClr val="tx2">
                    <a:satMod val="130000"/>
                  </a:schemeClr>
                </a:solidFill>
              </a:rPr>
              <a:t>Other Points on Finite Difference </a:t>
            </a:r>
            <a:r>
              <a:rPr lang="en-US" dirty="0" smtClean="0">
                <a:solidFill>
                  <a:schemeClr val="tx2">
                    <a:satMod val="130000"/>
                  </a:schemeClr>
                </a:solidFill>
              </a:rPr>
              <a:t>Methods</a:t>
            </a:r>
            <a:endParaRPr lang="en-US" dirty="0">
              <a:solidFill>
                <a:schemeClr val="tx2">
                  <a:satMod val="130000"/>
                </a:schemeClr>
              </a:solidFill>
            </a:endParaRPr>
          </a:p>
        </p:txBody>
      </p:sp>
      <p:sp>
        <p:nvSpPr>
          <p:cNvPr id="47107" name="Rectangle 3"/>
          <p:cNvSpPr>
            <a:spLocks noGrp="1" noChangeArrowheads="1"/>
          </p:cNvSpPr>
          <p:nvPr>
            <p:ph idx="1"/>
          </p:nvPr>
        </p:nvSpPr>
        <p:spPr/>
        <p:txBody>
          <a:bodyPr lIns="92075" tIns="46038" rIns="92075" bIns="46038"/>
          <a:lstStyle/>
          <a:p>
            <a:pPr eaLnBrk="1" hangingPunct="1"/>
            <a:endParaRPr lang="en-US" altLang="en-US" dirty="0" smtClean="0">
              <a:latin typeface="Arial" charset="0"/>
              <a:cs typeface="Arial" charset="0"/>
            </a:endParaRPr>
          </a:p>
          <a:p>
            <a:pPr eaLnBrk="1" hangingPunct="1"/>
            <a:r>
              <a:rPr lang="en-US" altLang="en-US" dirty="0" smtClean="0">
                <a:latin typeface="Arial" charset="0"/>
                <a:cs typeface="Arial" charset="0"/>
              </a:rPr>
              <a:t>It is better to have ln </a:t>
            </a:r>
            <a:r>
              <a:rPr lang="en-US" altLang="en-US" i="1" dirty="0" smtClean="0">
                <a:latin typeface="Times New Roman" pitchFamily="18" charset="0"/>
                <a:cs typeface="Arial" charset="0"/>
              </a:rPr>
              <a:t>S</a:t>
            </a:r>
            <a:r>
              <a:rPr lang="en-US" altLang="en-US" dirty="0" smtClean="0">
                <a:latin typeface="Times New Roman" pitchFamily="18" charset="0"/>
                <a:cs typeface="Arial" charset="0"/>
              </a:rPr>
              <a:t> </a:t>
            </a:r>
            <a:r>
              <a:rPr lang="en-US" altLang="en-US" dirty="0" smtClean="0">
                <a:latin typeface="Arial" charset="0"/>
                <a:cs typeface="Arial" charset="0"/>
              </a:rPr>
              <a:t>rather than</a:t>
            </a:r>
            <a:r>
              <a:rPr lang="en-US" altLang="en-US" dirty="0" smtClean="0">
                <a:latin typeface="Times New Roman" pitchFamily="18" charset="0"/>
                <a:cs typeface="Arial" charset="0"/>
              </a:rPr>
              <a:t> </a:t>
            </a:r>
            <a:r>
              <a:rPr lang="en-US" altLang="en-US" i="1" dirty="0" smtClean="0">
                <a:latin typeface="Times New Roman" pitchFamily="18" charset="0"/>
                <a:cs typeface="Arial" charset="0"/>
              </a:rPr>
              <a:t>S</a:t>
            </a:r>
            <a:r>
              <a:rPr lang="en-US" altLang="en-US" dirty="0" smtClean="0">
                <a:latin typeface="Times New Roman" pitchFamily="18" charset="0"/>
                <a:cs typeface="Arial" charset="0"/>
              </a:rPr>
              <a:t> </a:t>
            </a:r>
            <a:r>
              <a:rPr lang="en-US" altLang="en-US" dirty="0" smtClean="0">
                <a:latin typeface="Arial" charset="0"/>
                <a:cs typeface="Arial" charset="0"/>
              </a:rPr>
              <a:t>as the underlying variable</a:t>
            </a:r>
          </a:p>
          <a:p>
            <a:pPr eaLnBrk="1" hangingPunct="1"/>
            <a:r>
              <a:rPr lang="en-US" altLang="en-US" dirty="0" smtClean="0">
                <a:latin typeface="Arial" charset="0"/>
                <a:cs typeface="Arial" charset="0"/>
              </a:rPr>
              <a:t>Improvements over the basic implicit and explicit methods:</a:t>
            </a:r>
          </a:p>
          <a:p>
            <a:pPr lvl="1" eaLnBrk="1" hangingPunct="1"/>
            <a:r>
              <a:rPr lang="en-US" altLang="en-US" dirty="0" smtClean="0">
                <a:latin typeface="Arial" charset="0"/>
                <a:cs typeface="Arial" charset="0"/>
              </a:rPr>
              <a:t>Hopscotch method</a:t>
            </a:r>
          </a:p>
          <a:p>
            <a:pPr lvl="1" eaLnBrk="1" hangingPunct="1"/>
            <a:r>
              <a:rPr lang="en-US" altLang="en-US" dirty="0" smtClean="0">
                <a:latin typeface="Arial" charset="0"/>
                <a:cs typeface="Arial" charset="0"/>
              </a:rPr>
              <a:t>Crank-Nicolson method	</a:t>
            </a:r>
          </a:p>
        </p:txBody>
      </p:sp>
      <p:sp>
        <p:nvSpPr>
          <p:cNvPr id="47108" name="Footer Placeholder 4"/>
          <p:cNvSpPr>
            <a:spLocks noGrp="1"/>
          </p:cNvSpPr>
          <p:nvPr>
            <p:ph type="ftr"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r>
              <a:rPr lang="en-US" altLang="en-US" sz="1400" smtClean="0">
                <a:latin typeface="Arial" charset="0"/>
              </a:rPr>
              <a:t>Options, Futures, and Other Derivatives, 11th  Edition, Copyright © John  C. Hull 2021</a:t>
            </a:r>
            <a:endParaRPr lang="en-US" altLang="en-US" sz="1400">
              <a:latin typeface="Arial" charset="0"/>
            </a:endParaRPr>
          </a:p>
        </p:txBody>
      </p:sp>
      <p:sp>
        <p:nvSpPr>
          <p:cNvPr id="47109"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Blip>
                <a:blip r:embed="rId3"/>
              </a:buBlip>
              <a:defRPr sz="3200">
                <a:solidFill>
                  <a:schemeClr val="tx1"/>
                </a:solidFill>
                <a:latin typeface="Tahoma" charset="0"/>
              </a:defRPr>
            </a:lvl1pPr>
            <a:lvl2pPr marL="742950" indent="-285750" eaLnBrk="0" hangingPunct="0">
              <a:spcBef>
                <a:spcPct val="20000"/>
              </a:spcBef>
              <a:buSzPct val="75000"/>
              <a:buBlip>
                <a:blip r:embed="rId4"/>
              </a:buBlip>
              <a:defRPr sz="2800">
                <a:solidFill>
                  <a:schemeClr val="tx1"/>
                </a:solidFill>
                <a:latin typeface="Tahoma" charset="0"/>
              </a:defRPr>
            </a:lvl2pPr>
            <a:lvl3pPr marL="1143000" indent="-228600" eaLnBrk="0" hangingPunct="0">
              <a:spcBef>
                <a:spcPct val="20000"/>
              </a:spcBef>
              <a:buChar char="•"/>
              <a:defRPr sz="2400">
                <a:solidFill>
                  <a:schemeClr val="tx1"/>
                </a:solidFill>
                <a:latin typeface="Tahoma" charset="0"/>
              </a:defRPr>
            </a:lvl3pPr>
            <a:lvl4pPr marL="1600200" indent="-228600" eaLnBrk="0" hangingPunct="0">
              <a:spcBef>
                <a:spcPct val="20000"/>
              </a:spcBef>
              <a:buChar char="–"/>
              <a:defRPr sz="2000">
                <a:solidFill>
                  <a:schemeClr val="tx1"/>
                </a:solidFill>
                <a:latin typeface="Tahoma" charset="0"/>
              </a:defRPr>
            </a:lvl4pPr>
            <a:lvl5pPr marL="2057400" indent="-228600" eaLnBrk="0" hangingPunct="0">
              <a:spcBef>
                <a:spcPct val="20000"/>
              </a:spcBef>
              <a:buClr>
                <a:schemeClr val="tx2"/>
              </a:buClr>
              <a:buChar char="–"/>
              <a:defRPr sz="2000">
                <a:solidFill>
                  <a:schemeClr val="tx1"/>
                </a:solidFill>
                <a:latin typeface="Tahoma" charset="0"/>
              </a:defRPr>
            </a:lvl5pPr>
            <a:lvl6pPr marL="2514600" indent="-228600" eaLnBrk="0" fontAlgn="base" hangingPunct="0">
              <a:spcBef>
                <a:spcPct val="20000"/>
              </a:spcBef>
              <a:spcAft>
                <a:spcPct val="0"/>
              </a:spcAft>
              <a:buClr>
                <a:schemeClr val="tx2"/>
              </a:buClr>
              <a:buChar char="–"/>
              <a:defRPr sz="2000">
                <a:solidFill>
                  <a:schemeClr val="tx1"/>
                </a:solidFill>
                <a:latin typeface="Tahoma" charset="0"/>
              </a:defRPr>
            </a:lvl6pPr>
            <a:lvl7pPr marL="2971800" indent="-228600" eaLnBrk="0" fontAlgn="base" hangingPunct="0">
              <a:spcBef>
                <a:spcPct val="20000"/>
              </a:spcBef>
              <a:spcAft>
                <a:spcPct val="0"/>
              </a:spcAft>
              <a:buClr>
                <a:schemeClr val="tx2"/>
              </a:buClr>
              <a:buChar char="–"/>
              <a:defRPr sz="2000">
                <a:solidFill>
                  <a:schemeClr val="tx1"/>
                </a:solidFill>
                <a:latin typeface="Tahoma" charset="0"/>
              </a:defRPr>
            </a:lvl7pPr>
            <a:lvl8pPr marL="3429000" indent="-228600" eaLnBrk="0" fontAlgn="base" hangingPunct="0">
              <a:spcBef>
                <a:spcPct val="20000"/>
              </a:spcBef>
              <a:spcAft>
                <a:spcPct val="0"/>
              </a:spcAft>
              <a:buClr>
                <a:schemeClr val="tx2"/>
              </a:buClr>
              <a:buChar char="–"/>
              <a:defRPr sz="2000">
                <a:solidFill>
                  <a:schemeClr val="tx1"/>
                </a:solidFill>
                <a:latin typeface="Tahoma" charset="0"/>
              </a:defRPr>
            </a:lvl8pPr>
            <a:lvl9pPr marL="3886200" indent="-228600" eaLnBrk="0" fontAlgn="base" hangingPunct="0">
              <a:spcBef>
                <a:spcPct val="20000"/>
              </a:spcBef>
              <a:spcAft>
                <a:spcPct val="0"/>
              </a:spcAft>
              <a:buClr>
                <a:schemeClr val="tx2"/>
              </a:buClr>
              <a:buChar char="–"/>
              <a:defRPr sz="2000">
                <a:solidFill>
                  <a:schemeClr val="tx1"/>
                </a:solidFill>
                <a:latin typeface="Tahoma" charset="0"/>
              </a:defRPr>
            </a:lvl9pPr>
          </a:lstStyle>
          <a:p>
            <a:pPr eaLnBrk="1" hangingPunct="1">
              <a:spcBef>
                <a:spcPct val="0"/>
              </a:spcBef>
              <a:buFontTx/>
              <a:buNone/>
            </a:pPr>
            <a:fld id="{E78FB830-59B4-4041-A0AA-C4B108F62411}" type="slidenum">
              <a:rPr lang="en-US" altLang="en-US" sz="1400" smtClean="0">
                <a:latin typeface="Arial" charset="0"/>
              </a:rPr>
              <a:pPr eaLnBrk="1" hangingPunct="1">
                <a:spcBef>
                  <a:spcPct val="0"/>
                </a:spcBef>
                <a:buFontTx/>
                <a:buNone/>
              </a:pPr>
              <a:t>40</a:t>
            </a:fld>
            <a:endParaRPr lang="en-US" altLang="en-US" sz="1400" smtClean="0">
              <a:latin typeface="Arial"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Global">
  <a:themeElements>
    <a:clrScheme name="Custom 5">
      <a:dk1>
        <a:srgbClr val="000000"/>
      </a:dk1>
      <a:lt1>
        <a:srgbClr val="FFFFFF"/>
      </a:lt1>
      <a:dk2>
        <a:srgbClr val="3A3015"/>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fontScheme name="Global">
      <a:majorFont>
        <a:latin typeface="Times New Roman"/>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Global 1">
        <a:dk1>
          <a:srgbClr val="000000"/>
        </a:dk1>
        <a:lt1>
          <a:srgbClr val="FFFFCC"/>
        </a:lt1>
        <a:dk2>
          <a:srgbClr val="4D4D4D"/>
        </a:dk2>
        <a:lt2>
          <a:srgbClr val="FFCC00"/>
        </a:lt2>
        <a:accent1>
          <a:srgbClr val="FF9900"/>
        </a:accent1>
        <a:accent2>
          <a:srgbClr val="CC9900"/>
        </a:accent2>
        <a:accent3>
          <a:srgbClr val="B2B2B2"/>
        </a:accent3>
        <a:accent4>
          <a:srgbClr val="DADAAE"/>
        </a:accent4>
        <a:accent5>
          <a:srgbClr val="FFCAAA"/>
        </a:accent5>
        <a:accent6>
          <a:srgbClr val="B98A00"/>
        </a:accent6>
        <a:hlink>
          <a:srgbClr val="898743"/>
        </a:hlink>
        <a:folHlink>
          <a:srgbClr val="666633"/>
        </a:folHlink>
      </a:clrScheme>
      <a:clrMap bg1="dk2" tx1="lt1" bg2="dk1" tx2="lt2" accent1="accent1" accent2="accent2" accent3="accent3" accent4="accent4" accent5="accent5" accent6="accent6" hlink="hlink" folHlink="folHlink"/>
    </a:extraClrScheme>
    <a:extraClrScheme>
      <a:clrScheme name="Global 2">
        <a:dk1>
          <a:srgbClr val="000000"/>
        </a:dk1>
        <a:lt1>
          <a:srgbClr val="FFFFFF"/>
        </a:lt1>
        <a:dk2>
          <a:srgbClr val="CC6600"/>
        </a:dk2>
        <a:lt2>
          <a:srgbClr val="FFFFFF"/>
        </a:lt2>
        <a:accent1>
          <a:srgbClr val="FFFFCC"/>
        </a:accent1>
        <a:accent2>
          <a:srgbClr val="B5E0E3"/>
        </a:accent2>
        <a:accent3>
          <a:srgbClr val="FFFFFF"/>
        </a:accent3>
        <a:accent4>
          <a:srgbClr val="000000"/>
        </a:accent4>
        <a:accent5>
          <a:srgbClr val="FFFFE2"/>
        </a:accent5>
        <a:accent6>
          <a:srgbClr val="A4CBCE"/>
        </a:accent6>
        <a:hlink>
          <a:srgbClr val="E5D093"/>
        </a:hlink>
        <a:folHlink>
          <a:srgbClr val="CCB374"/>
        </a:folHlink>
      </a:clrScheme>
      <a:clrMap bg1="lt1" tx1="dk1" bg2="lt2" tx2="dk2" accent1="accent1" accent2="accent2" accent3="accent3" accent4="accent4" accent5="accent5" accent6="accent6" hlink="hlink" folHlink="folHlink"/>
    </a:extraClrScheme>
    <a:extraClrScheme>
      <a:clrScheme name="Global 3">
        <a:dk1>
          <a:srgbClr val="000000"/>
        </a:dk1>
        <a:lt1>
          <a:srgbClr val="FFFFFF"/>
        </a:lt1>
        <a:dk2>
          <a:srgbClr val="000000"/>
        </a:dk2>
        <a:lt2>
          <a:srgbClr val="FFFFFF"/>
        </a:lt2>
        <a:accent1>
          <a:srgbClr val="F8F8F8"/>
        </a:accent1>
        <a:accent2>
          <a:srgbClr val="969696"/>
        </a:accent2>
        <a:accent3>
          <a:srgbClr val="FFFFFF"/>
        </a:accent3>
        <a:accent4>
          <a:srgbClr val="000000"/>
        </a:accent4>
        <a:accent5>
          <a:srgbClr val="FBFBFB"/>
        </a:accent5>
        <a:accent6>
          <a:srgbClr val="878787"/>
        </a:accent6>
        <a:hlink>
          <a:srgbClr val="DDDDDD"/>
        </a:hlink>
        <a:folHlink>
          <a:srgbClr val="B2B2B2"/>
        </a:folHlink>
      </a:clrScheme>
      <a:clrMap bg1="lt1" tx1="dk1" bg2="lt2" tx2="dk2" accent1="accent1" accent2="accent2" accent3="accent3" accent4="accent4" accent5="accent5" accent6="accent6" hlink="hlink" folHlink="folHlink"/>
    </a:extraClrScheme>
    <a:extraClrScheme>
      <a:clrScheme name="Global 4">
        <a:dk1>
          <a:srgbClr val="000000"/>
        </a:dk1>
        <a:lt1>
          <a:srgbClr val="FFFFFF"/>
        </a:lt1>
        <a:dk2>
          <a:srgbClr val="000066"/>
        </a:dk2>
        <a:lt2>
          <a:srgbClr val="FFFFFF"/>
        </a:lt2>
        <a:accent1>
          <a:srgbClr val="FFFFCC"/>
        </a:accent1>
        <a:accent2>
          <a:srgbClr val="B5E0E3"/>
        </a:accent2>
        <a:accent3>
          <a:srgbClr val="FFFFFF"/>
        </a:accent3>
        <a:accent4>
          <a:srgbClr val="000000"/>
        </a:accent4>
        <a:accent5>
          <a:srgbClr val="FFFFE2"/>
        </a:accent5>
        <a:accent6>
          <a:srgbClr val="A4CBCE"/>
        </a:accent6>
        <a:hlink>
          <a:srgbClr val="BFDFFF"/>
        </a:hlink>
        <a:folHlink>
          <a:srgbClr val="99CCFF"/>
        </a:folHlink>
      </a:clrScheme>
      <a:clrMap bg1="lt1" tx1="dk1" bg2="lt2" tx2="dk2" accent1="accent1" accent2="accent2" accent3="accent3" accent4="accent4" accent5="accent5" accent6="accent6" hlink="hlink" folHlink="folHlink"/>
    </a:extraClrScheme>
    <a:extraClrScheme>
      <a:clrScheme name="Global 5">
        <a:dk1>
          <a:srgbClr val="000000"/>
        </a:dk1>
        <a:lt1>
          <a:srgbClr val="E9E6D9"/>
        </a:lt1>
        <a:dk2>
          <a:srgbClr val="666633"/>
        </a:dk2>
        <a:lt2>
          <a:srgbClr val="CEC7AA"/>
        </a:lt2>
        <a:accent1>
          <a:srgbClr val="FFFFCC"/>
        </a:accent1>
        <a:accent2>
          <a:srgbClr val="B5E0E3"/>
        </a:accent2>
        <a:accent3>
          <a:srgbClr val="F2F0E9"/>
        </a:accent3>
        <a:accent4>
          <a:srgbClr val="000000"/>
        </a:accent4>
        <a:accent5>
          <a:srgbClr val="FFFFE2"/>
        </a:accent5>
        <a:accent6>
          <a:srgbClr val="A4CBCE"/>
        </a:accent6>
        <a:hlink>
          <a:srgbClr val="B6AB82"/>
        </a:hlink>
        <a:folHlink>
          <a:srgbClr val="A0925E"/>
        </a:folHlink>
      </a:clrScheme>
      <a:clrMap bg1="lt1" tx1="dk1" bg2="lt2" tx2="dk2" accent1="accent1" accent2="accent2" accent3="accent3" accent4="accent4" accent5="accent5" accent6="accent6" hlink="hlink" folHlink="folHlink"/>
    </a:extraClrScheme>
    <a:extraClrScheme>
      <a:clrScheme name="Global 6">
        <a:dk1>
          <a:srgbClr val="1B3753"/>
        </a:dk1>
        <a:lt1>
          <a:srgbClr val="EAEAEA"/>
        </a:lt1>
        <a:dk2>
          <a:srgbClr val="336699"/>
        </a:dk2>
        <a:lt2>
          <a:srgbClr val="FFFFCC"/>
        </a:lt2>
        <a:accent1>
          <a:srgbClr val="BA8E46"/>
        </a:accent1>
        <a:accent2>
          <a:srgbClr val="46C0AF"/>
        </a:accent2>
        <a:accent3>
          <a:srgbClr val="ADB8CA"/>
        </a:accent3>
        <a:accent4>
          <a:srgbClr val="C8C8C8"/>
        </a:accent4>
        <a:accent5>
          <a:srgbClr val="D9C6B0"/>
        </a:accent5>
        <a:accent6>
          <a:srgbClr val="3FAE9E"/>
        </a:accent6>
        <a:hlink>
          <a:srgbClr val="93ACC3"/>
        </a:hlink>
        <a:folHlink>
          <a:srgbClr val="7897B4"/>
        </a:folHlink>
      </a:clrScheme>
      <a:clrMap bg1="dk2" tx1="lt1" bg2="dk1" tx2="lt2" accent1="accent1" accent2="accent2" accent3="accent3" accent4="accent4" accent5="accent5" accent6="accent6" hlink="hlink" folHlink="folHlink"/>
    </a:extraClrScheme>
    <a:extraClrScheme>
      <a:clrScheme name="Global 7">
        <a:dk1>
          <a:srgbClr val="000000"/>
        </a:dk1>
        <a:lt1>
          <a:srgbClr val="FFFFFF"/>
        </a:lt1>
        <a:dk2>
          <a:srgbClr val="000000"/>
        </a:dk2>
        <a:lt2>
          <a:srgbClr val="FFFFFF"/>
        </a:lt2>
        <a:accent1>
          <a:srgbClr val="FFFFCC"/>
        </a:accent1>
        <a:accent2>
          <a:srgbClr val="FFCC99"/>
        </a:accent2>
        <a:accent3>
          <a:srgbClr val="FFFFFF"/>
        </a:accent3>
        <a:accent4>
          <a:srgbClr val="000000"/>
        </a:accent4>
        <a:accent5>
          <a:srgbClr val="FFFFE2"/>
        </a:accent5>
        <a:accent6>
          <a:srgbClr val="E7B98A"/>
        </a:accent6>
        <a:hlink>
          <a:srgbClr val="FF9999"/>
        </a:hlink>
        <a:folHlink>
          <a:srgbClr val="E06360"/>
        </a:folHlink>
      </a:clrScheme>
      <a:clrMap bg1="lt1" tx1="dk1" bg2="lt2" tx2="dk2" accent1="accent1" accent2="accent2" accent3="accent3" accent4="accent4" accent5="accent5" accent6="accent6" hlink="hlink" folHlink="folHlink"/>
    </a:extraClrScheme>
    <a:extraClrScheme>
      <a:clrScheme name="Global 8">
        <a:dk1>
          <a:srgbClr val="000000"/>
        </a:dk1>
        <a:lt1>
          <a:srgbClr val="EAEAEA"/>
        </a:lt1>
        <a:dk2>
          <a:srgbClr val="17118B"/>
        </a:dk2>
        <a:lt2>
          <a:srgbClr val="FFFFCC"/>
        </a:lt2>
        <a:accent1>
          <a:srgbClr val="B2B2B2"/>
        </a:accent1>
        <a:accent2>
          <a:srgbClr val="54ABB2"/>
        </a:accent2>
        <a:accent3>
          <a:srgbClr val="ABAAC4"/>
        </a:accent3>
        <a:accent4>
          <a:srgbClr val="C8C8C8"/>
        </a:accent4>
        <a:accent5>
          <a:srgbClr val="D5D5D5"/>
        </a:accent5>
        <a:accent6>
          <a:srgbClr val="4B9BA1"/>
        </a:accent6>
        <a:hlink>
          <a:srgbClr val="4F49A3"/>
        </a:hlink>
        <a:folHlink>
          <a:srgbClr val="2E2573"/>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4DB470C54600C46B1B0C1FE5EDD1D1B" ma:contentTypeVersion="0" ma:contentTypeDescription="Create a new document." ma:contentTypeScope="" ma:versionID="9ec98e71a396c75c5e8fb3166c3ab2c4">
  <xsd:schema xmlns:xsd="http://www.w3.org/2001/XMLSchema" xmlns:xs="http://www.w3.org/2001/XMLSchema" xmlns:p="http://schemas.microsoft.com/office/2006/metadata/properties" targetNamespace="http://schemas.microsoft.com/office/2006/metadata/properties" ma:root="true" ma:fieldsID="500c6692915ba10984c0aabd49f31b2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BBB58CE-3A81-47FC-8EF4-7C187D765546}"/>
</file>

<file path=customXml/itemProps2.xml><?xml version="1.0" encoding="utf-8"?>
<ds:datastoreItem xmlns:ds="http://schemas.openxmlformats.org/officeDocument/2006/customXml" ds:itemID="{6864AE4E-377C-4757-8960-B5E069E0B021}"/>
</file>

<file path=customXml/itemProps3.xml><?xml version="1.0" encoding="utf-8"?>
<ds:datastoreItem xmlns:ds="http://schemas.openxmlformats.org/officeDocument/2006/customXml" ds:itemID="{B6F2A4C6-7FDD-444E-BF56-589544927577}"/>
</file>

<file path=docProps/app.xml><?xml version="1.0" encoding="utf-8"?>
<Properties xmlns="http://schemas.openxmlformats.org/officeDocument/2006/extended-properties" xmlns:vt="http://schemas.openxmlformats.org/officeDocument/2006/docPropsVTypes">
  <Template>Ch19HullOFOD8thEdition</Template>
  <TotalTime>403</TotalTime>
  <Words>1692</Words>
  <Application>Microsoft Office PowerPoint</Application>
  <PresentationFormat>On-screen Show (4:3)</PresentationFormat>
  <Paragraphs>294</Paragraphs>
  <Slides>40</Slides>
  <Notes>40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2</vt:i4>
      </vt:variant>
      <vt:variant>
        <vt:lpstr>Slide Titles</vt:lpstr>
      </vt:variant>
      <vt:variant>
        <vt:i4>40</vt:i4>
      </vt:variant>
    </vt:vector>
  </HeadingPairs>
  <TitlesOfParts>
    <vt:vector size="49" baseType="lpstr">
      <vt:lpstr>Arial</vt:lpstr>
      <vt:lpstr>Calibri</vt:lpstr>
      <vt:lpstr>Symbol</vt:lpstr>
      <vt:lpstr>Tahoma</vt:lpstr>
      <vt:lpstr>Times New Roman</vt:lpstr>
      <vt:lpstr>Wingdings</vt:lpstr>
      <vt:lpstr>Global</vt:lpstr>
      <vt:lpstr>Equation</vt:lpstr>
      <vt:lpstr>MathType 7.0 Equation</vt:lpstr>
      <vt:lpstr>Chapter 21 Basic Numerical Procedures</vt:lpstr>
      <vt:lpstr>Approaches to Derivatives Valuation </vt:lpstr>
      <vt:lpstr>Binomial Trees</vt:lpstr>
      <vt:lpstr>Movements in Time Dt (Figure 21.1)</vt:lpstr>
      <vt:lpstr>Tree Parameters for asset paying a dividend yield of q</vt:lpstr>
      <vt:lpstr> Tree Parameters for asset paying a dividend yield of q (continued, equations 21.4 to 21.7)</vt:lpstr>
      <vt:lpstr>The Complete Tree (Figure 21.2)</vt:lpstr>
      <vt:lpstr>Backwards Induction</vt:lpstr>
      <vt:lpstr>Example: Put Option (Example 21.1)</vt:lpstr>
      <vt:lpstr>Example (continued; Figure 21.3) </vt:lpstr>
      <vt:lpstr>Calculation of Delta</vt:lpstr>
      <vt:lpstr>Calculation of Gamma</vt:lpstr>
      <vt:lpstr>Calculation of Theta</vt:lpstr>
      <vt:lpstr>Calculation of Vega</vt:lpstr>
      <vt:lpstr>Trees for Options on Indices, Currencies and Futures Contracts</vt:lpstr>
      <vt:lpstr>Binomial Tree for Stock Paying Known Dividends</vt:lpstr>
      <vt:lpstr>Control Variate Technique</vt:lpstr>
      <vt:lpstr>Alternative Binomial Tree </vt:lpstr>
      <vt:lpstr>Trinomial Tree</vt:lpstr>
      <vt:lpstr>Time Dependent Parameters in a Binomial Tree</vt:lpstr>
      <vt:lpstr>Monte Carlo Simulation and p (Figure 21.13)</vt:lpstr>
      <vt:lpstr>Monte Carlo Simulation and Options</vt:lpstr>
      <vt:lpstr>Sampling  Stock Price Movements  </vt:lpstr>
      <vt:lpstr>A More Accurate Approach (Equation 21.17)</vt:lpstr>
      <vt:lpstr>Extensions</vt:lpstr>
      <vt:lpstr>Sampling  from Normal Distribution</vt:lpstr>
      <vt:lpstr>To Obtain 2 Correlated Normal Samples</vt:lpstr>
      <vt:lpstr>Standard Errors in Monte Carlo Simulation</vt:lpstr>
      <vt:lpstr>Application  of Monte Carlo Simulation</vt:lpstr>
      <vt:lpstr>Determining Greek Letters</vt:lpstr>
      <vt:lpstr>Variance Reduction Techniques</vt:lpstr>
      <vt:lpstr>Sampling Through the Tree</vt:lpstr>
      <vt:lpstr>Finite Difference Methods</vt:lpstr>
      <vt:lpstr>The Grid (Figure 21.5)</vt:lpstr>
      <vt:lpstr>Finite Difference Methods (continued, equations 21.24 and 21.26)</vt:lpstr>
      <vt:lpstr>Implicit Finite Difference Method </vt:lpstr>
      <vt:lpstr>Explicit Finite Difference Method</vt:lpstr>
      <vt:lpstr>Implicit vs Explicit Finite Difference Method</vt:lpstr>
      <vt:lpstr> Implicit vs Explicit  Finite Difference Methods (Figure 21.16)</vt:lpstr>
      <vt:lpstr>Other Points on Finite Difference Methods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Numerical Procedures</dc:title>
  <dc:subject>Options, Futures, and Other Derivatives, 11e</dc:subject>
  <dc:creator>John C. Hull</dc:creator>
  <cp:keywords>Chapter 21</cp:keywords>
  <dc:description>Copyright 2021 by John C. Hull. All Rights Reserved. Published 2021</dc:description>
  <cp:lastModifiedBy>John Hull</cp:lastModifiedBy>
  <cp:revision>42</cp:revision>
  <dcterms:created xsi:type="dcterms:W3CDTF">2008-05-30T08:49:59Z</dcterms:created>
  <dcterms:modified xsi:type="dcterms:W3CDTF">2020-09-30T15:58:48Z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0x01010034DB470C54600C46B1B0C1FE5EDD1D1B</vt:lpwstr>
  </property>
</Properties>
</file>