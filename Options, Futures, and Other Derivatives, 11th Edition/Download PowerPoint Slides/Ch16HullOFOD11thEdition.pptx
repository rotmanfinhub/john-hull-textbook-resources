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1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5" r:id="rId11"/>
    <p:sldId id="274" r:id="rId12"/>
    <p:sldId id="271" r:id="rId13"/>
    <p:sldId id="272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D025DF2-9056-4199-B4A1-CCDF636E7853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2A217D8-40FD-441E-A27C-679B7E9F33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0600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2792674-7A19-4DED-A482-84AD5FADD26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37907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9CF301-3C4D-4B58-84EC-E4A971118C82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4439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ABF83F-5B59-4E42-80D7-AA5F5322FFD8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49609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4C0EF5-E580-4950-9FFE-FF37593C85AE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2474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E09DEF-6915-4087-826B-21117E3C1DDB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45499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22C06C3-FE3E-4084-9EF0-2866FFCC05F2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05581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428643-9DFB-42DD-B6BD-1A2288F9CDD3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72335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D4AE09-D826-4848-BC02-2102D1EE8EC2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69618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0EFC1B-82E0-4818-A9C1-C51D17935ACA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75482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97FD5B-D33E-488E-A6C6-14CF106ED53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162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2FAE1A-7DE0-46BB-85D9-4228478D465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82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10ACC0D-9F36-43BF-B711-21CBA5A16736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14027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AAAFB5-0C13-4113-994C-5861CEF5A075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2392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18CBC1-459F-40FA-A430-36641D4DBC3F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2DEDA-A445-410E-AB17-B264CDEE7E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1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E39E360-6658-4730-A6F0-D7F350C3CBA1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558263-147E-4FD9-A9EF-E0EA5E4EFB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6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46760-1259-49E3-A8CE-C84023BF8250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47EA6-7ADD-4B34-BFDD-2774718195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9D1AE-CD6E-4A06-8B1F-E9A3CA46D5F3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09EAD-3E41-4D0B-BCA6-FC76797583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5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9B6F9-8A58-437E-8277-F167B3178FC6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B193F-8C10-4C52-AC93-B71AF72567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4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89B2D7-8F5F-45E8-8F8C-322283E4B688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D7E3B-539D-4514-925D-07A0AD0D86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80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7CB08F-D199-439B-91CB-597B34F758C9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964AE-FE52-451D-8CA2-0E20900C26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7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131EE4-00C6-43F1-9A38-8DB9AAB012AD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62B86-D622-44C7-8007-B6368F802B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5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65DFA-242B-4481-84BC-86D43CFFBC2A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F7251-621D-4258-8244-BA63751FA6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0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CFFA3-8389-40B7-8F11-37A35EB8215D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DF4F8-F4F0-47FB-9EB5-D6DF793F58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15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F928E-E8B7-4C47-BAB6-22767899687E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EC352-923E-4601-8375-A8C22A70CC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973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E3A720-0065-4232-9BEA-4D6A2A30D2ED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7DB7E-2B2B-452F-BABA-2129F6E3F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39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FE580D4-E347-420F-98B5-7BEF9610526F}" type="datetime1">
              <a:rPr lang="en-US" smtClean="0"/>
              <a:t>9/30/2020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89237-2152-49D2-BDC7-96B62A2AF3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4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31E19796-80B2-482E-AEF0-4A967A59F943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49C857-DEF2-447B-A461-B628CCBB1B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29" r:id="rId3"/>
    <p:sldLayoutId id="2147483830" r:id="rId4"/>
    <p:sldLayoutId id="2147483831" r:id="rId5"/>
    <p:sldLayoutId id="2147483839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40" r:id="rId12"/>
    <p:sldLayoutId id="2147483841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16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Employee Stock Options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A0AB93-40D0-4F4E-8C34-002A6DCBECE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Nature of Employee Stock Options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133600"/>
            <a:ext cx="7499350" cy="44196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Employee stock options are call options issued by a company on its own stock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They are often at-the-money at the time of issue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They often last as long as 10 years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32C9222-2FCA-4A8C-BA8E-EEA61FD9342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838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Typical Features of Employee Stock </a:t>
            </a:r>
            <a:r>
              <a:rPr lang="en-US" dirty="0" smtClean="0"/>
              <a:t>Options</a:t>
            </a:r>
            <a:endParaRPr lang="en-US" sz="2400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057400"/>
            <a:ext cx="8153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latin typeface="Arial" charset="0"/>
                <a:cs typeface="Arial" charset="0"/>
              </a:rPr>
              <a:t>There is a vesting period during which options cannot be exercised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latin typeface="Arial" charset="0"/>
                <a:cs typeface="Arial" charset="0"/>
              </a:rPr>
              <a:t>When employees leave during the vesting period options are forfeited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latin typeface="Arial" charset="0"/>
                <a:cs typeface="Arial" charset="0"/>
              </a:rPr>
              <a:t>When employees leave after the vesting period in-the-money options are exercised immediately and out of the money options are forfeited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latin typeface="Arial" charset="0"/>
                <a:cs typeface="Arial" charset="0"/>
              </a:rPr>
              <a:t>Employees are not permitted to sell options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 smtClean="0">
                <a:latin typeface="Arial" charset="0"/>
                <a:cs typeface="Arial" charset="0"/>
              </a:rPr>
              <a:t>When options are exercised the company issues new shares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A206C3-E0E0-4A7C-B027-08B92B1B342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Exercise Decision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To realize cash from an employee stock option the employee must exercise the options and sell the underlying shares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Even when the underlying stock pays no dividend an employee stock option (unlike a regular call option) is often exercised early</a:t>
            </a: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65A1E6B-9B80-460C-8BA6-3876D68F364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Drawbacks </a:t>
            </a:r>
            <a:r>
              <a:rPr lang="en-US" dirty="0"/>
              <a:t>of Employee Stock Options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209800"/>
            <a:ext cx="8172450" cy="46482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Gain to executives from good performance is much greater than the penalty for bad performance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Executives do very well when the stock market as a whole goes up, even if their firm does relatively poorly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Executives are encouraged to focus on short-term performance at the expense of long-term performance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Executives are tempted to time announcements or take other decisions that maximize the value of the options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3A98AF5-1C5F-4006-A93C-93D2D508D9D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Accounting for Employee Stock Options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86000"/>
            <a:ext cx="8153400" cy="46482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Prior to 1995 the cost of an employee stock option on the income statement was its intrinsic value on the issue date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After 1995 a “fair value” had to be reported in the notes (but expensing fair value on the income statement was optional)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Since 2005 both FASB and IASB have required the fair value of options to be charged against income at the time of issue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ABAF3F8-1855-42F9-9D74-C2822BF3F09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Traditional At-the-Money Call Options</a:t>
            </a:r>
            <a:endParaRPr lang="en-US" altLang="en-US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286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attraction of at-the-money call options used to be that they led to no expense on the income statement because they had zero intrinsic value on the exercise date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Other plans were liable to lead an expense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Now that the accounting rules have changed some companies are considering other types of plans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A10FA4E-F0EE-4797-B25D-59176D4BEB9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80010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Nontraditional Plans</a:t>
            </a:r>
            <a:endParaRPr lang="en-US" altLang="en-US" sz="2800" dirty="0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Strike price is linked to stock index so that the company’s stock price has to outperform the index for options to move in the money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Strike price increases in a predetermined way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Options vest only if specified profit targets are met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8C63BBB-5C9B-4FFC-9C5B-7460DC49555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Valuation of Employee Stock Options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86000"/>
            <a:ext cx="8077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Arial" charset="0"/>
                <a:cs typeface="Arial" charset="0"/>
              </a:rPr>
              <a:t>Most common approach is to use Black-Scholes-Merton with time to maturity equal to an estimate of expected life </a:t>
            </a:r>
          </a:p>
          <a:p>
            <a:pPr eaLnBrk="1" hangingPunct="1">
              <a:lnSpc>
                <a:spcPct val="90000"/>
              </a:lnSpc>
            </a:pPr>
            <a:r>
              <a:rPr lang="en-CA" altLang="en-US" sz="2400" smtClean="0">
                <a:latin typeface="Arial" charset="0"/>
                <a:cs typeface="Arial" charset="0"/>
              </a:rPr>
              <a:t>There is no theoretical justification for this but it seems to give reasonable results in most circumstances</a:t>
            </a:r>
            <a:endParaRPr lang="en-US" altLang="en-US" sz="240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000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3677816-3369-46C0-9284-63366C848A3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Example </a:t>
            </a:r>
            <a:r>
              <a:rPr lang="en-CA" altLang="en-US" sz="2000" dirty="0" smtClean="0"/>
              <a:t>(Example 16.1)</a:t>
            </a:r>
            <a:endParaRPr lang="en-US" altLang="en-US" sz="20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47888"/>
            <a:ext cx="7696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CA" sz="2400" dirty="0" smtClean="0"/>
              <a:t>A company issues one million10-year ATM options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sz="2000" dirty="0" smtClean="0"/>
              <a:t>stock price is $30.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sz="2000" dirty="0" smtClean="0"/>
              <a:t>It estimates the long term volatility using historical data to be 25% and the average time to exercise to be 4.5 years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CA" sz="2000" dirty="0" smtClean="0"/>
              <a:t>The 4.5 year interest rate is 5% and dividends during the next 4.5 years are estimated to have a PV of $4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sz="2400" dirty="0" smtClean="0"/>
              <a:t>Using BSM with </a:t>
            </a:r>
            <a:r>
              <a:rPr lang="en-CA" sz="2400" i="1" dirty="0" smtClean="0">
                <a:latin typeface="+mj-lt"/>
              </a:rPr>
              <a:t>S</a:t>
            </a:r>
            <a:r>
              <a:rPr lang="en-CA" sz="2400" baseline="-25000" dirty="0" smtClean="0"/>
              <a:t>0</a:t>
            </a:r>
            <a:r>
              <a:rPr lang="en-CA" sz="2400" dirty="0" smtClean="0"/>
              <a:t> =30, </a:t>
            </a:r>
            <a:r>
              <a:rPr lang="en-CA" sz="2400" i="1" dirty="0" smtClean="0">
                <a:latin typeface="+mj-lt"/>
              </a:rPr>
              <a:t>K</a:t>
            </a:r>
            <a:r>
              <a:rPr lang="en-CA" sz="2400" dirty="0" smtClean="0"/>
              <a:t>=30, </a:t>
            </a:r>
            <a:r>
              <a:rPr lang="en-CA" sz="2400" i="1" dirty="0" smtClean="0">
                <a:latin typeface="+mj-lt"/>
              </a:rPr>
              <a:t>r</a:t>
            </a:r>
            <a:r>
              <a:rPr lang="en-CA" sz="2400" dirty="0" smtClean="0"/>
              <a:t>=5%, </a:t>
            </a:r>
            <a:r>
              <a:rPr lang="en-CA" sz="2400" dirty="0" smtClean="0">
                <a:latin typeface="Symbol" pitchFamily="18" charset="2"/>
              </a:rPr>
              <a:t>s</a:t>
            </a:r>
            <a:r>
              <a:rPr lang="en-CA" sz="2400" dirty="0" smtClean="0"/>
              <a:t>=25%, and </a:t>
            </a:r>
            <a:r>
              <a:rPr lang="en-CA" sz="2400" i="1" dirty="0" smtClean="0">
                <a:latin typeface="+mj-lt"/>
              </a:rPr>
              <a:t>T</a:t>
            </a:r>
            <a:r>
              <a:rPr lang="en-CA" sz="2400" dirty="0" smtClean="0"/>
              <a:t>=4.5 years gives value of each option equal to $6.31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CA" sz="2400" dirty="0" smtClean="0"/>
              <a:t>The income statement expense would be $6.31 million</a:t>
            </a:r>
            <a:endParaRPr lang="en-US" sz="2400" dirty="0" smtClean="0"/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426209D-25C1-42EE-B870-31A1682B26B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Other Approaches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Estimate the probability of exercise as a function of the stock price and remaining life. Use a binomial tree with roll back rules reflecting the probabilities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 smtClean="0">
                <a:latin typeface="Arial" charset="0"/>
                <a:cs typeface="Arial" charset="0"/>
              </a:rPr>
              <a:t>A simple version of this is to assume that the option is exercised when the ratio of the stock price to the strike price reaches some multiple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Use an auction to determine the market prices of securities whose payoffs mirror the payoffs from the options</a:t>
            </a:r>
          </a:p>
          <a:p>
            <a:pPr lvl="1" eaLnBrk="1" hangingPunct="1">
              <a:lnSpc>
                <a:spcPct val="90000"/>
              </a:lnSpc>
            </a:pPr>
            <a:r>
              <a:rPr lang="en-CA" altLang="en-US" dirty="0" smtClean="0">
                <a:latin typeface="Arial" charset="0"/>
                <a:cs typeface="Arial" charset="0"/>
              </a:rPr>
              <a:t>This is an approach used by Zions Bancorp in 2007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F593DF-93E7-4839-833D-352E680F6A4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Dilution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Employee stock options are liable to dilute the interests of shareholders because new shares are bought at below market price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However this dilution takes place at the time the market hears that the options have been granted (Business Snapshot 15.3)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does not take place at the time the options are exercised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AF01615-CE3F-4C77-8CC2-A735B02B6FA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Backdating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Backdating appears to have been a widespread (illegal) practice in the United States. It was uncovered by academic researchers (</a:t>
            </a:r>
            <a:r>
              <a:rPr lang="en-US" altLang="en-US" sz="2400" dirty="0" err="1" smtClean="0">
                <a:latin typeface="Arial" charset="0"/>
                <a:cs typeface="Arial" charset="0"/>
              </a:rPr>
              <a:t>Yermack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, Lie, Heron)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 company might issue at-the-money options on April 30 when the stock price is $50 and then backdate the grant date to April 3 when the stock price is $42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Why would they do this?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14AB1E5-8CD6-46BA-995B-E4FF04BD8B2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CD20EAA-5A86-4ED8-AC6A-CBAC21BDD806}"/>
</file>

<file path=customXml/itemProps2.xml><?xml version="1.0" encoding="utf-8"?>
<ds:datastoreItem xmlns:ds="http://schemas.openxmlformats.org/officeDocument/2006/customXml" ds:itemID="{A97236D3-51BE-4E98-B398-45FC714BE9E1}"/>
</file>

<file path=customXml/itemProps3.xml><?xml version="1.0" encoding="utf-8"?>
<ds:datastoreItem xmlns:ds="http://schemas.openxmlformats.org/officeDocument/2006/customXml" ds:itemID="{FE3C67CF-74C8-4DE9-BAF2-EFD17F559048}"/>
</file>

<file path=docProps/app.xml><?xml version="1.0" encoding="utf-8"?>
<Properties xmlns="http://schemas.openxmlformats.org/officeDocument/2006/extended-properties" xmlns:vt="http://schemas.openxmlformats.org/officeDocument/2006/docPropsVTypes">
  <Template>Ch14HullOFOD8thEdition</Template>
  <TotalTime>103</TotalTime>
  <Words>998</Words>
  <Application>Microsoft Office PowerPoint</Application>
  <PresentationFormat>On-screen Show (4:3)</PresentationFormat>
  <Paragraphs>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Symbol</vt:lpstr>
      <vt:lpstr>Tahoma</vt:lpstr>
      <vt:lpstr>Times New Roman</vt:lpstr>
      <vt:lpstr>Global</vt:lpstr>
      <vt:lpstr>Chapter 16 Employee Stock Options</vt:lpstr>
      <vt:lpstr>Nature of Employee Stock Options</vt:lpstr>
      <vt:lpstr>Typical Features of Employee Stock Options</vt:lpstr>
      <vt:lpstr>Exercise Decision</vt:lpstr>
      <vt:lpstr>Drawbacks of Employee Stock Options</vt:lpstr>
      <vt:lpstr>Accounting for Employee Stock Options</vt:lpstr>
      <vt:lpstr>Traditional At-the-Money Call Options</vt:lpstr>
      <vt:lpstr>Nontraditional Plans</vt:lpstr>
      <vt:lpstr>Valuation of Employee Stock Options</vt:lpstr>
      <vt:lpstr>Example (Example 16.1)</vt:lpstr>
      <vt:lpstr>Other Approaches</vt:lpstr>
      <vt:lpstr>Dilution</vt:lpstr>
      <vt:lpstr>Backdating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Stock Options</dc:title>
  <dc:subject>Options, Futures, and Other Derivatives, 11e</dc:subject>
  <dc:creator>John C. Hull</dc:creator>
  <cp:keywords>Chapter 16</cp:keywords>
  <dc:description>Copyright 2021 by John C. Hull. All Rights Reserved. Published 2021</dc:description>
  <cp:lastModifiedBy>John Hull</cp:lastModifiedBy>
  <cp:revision>20</cp:revision>
  <dcterms:created xsi:type="dcterms:W3CDTF">2008-05-29T16:38:10Z</dcterms:created>
  <dcterms:modified xsi:type="dcterms:W3CDTF">2020-09-30T15:25:11Z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