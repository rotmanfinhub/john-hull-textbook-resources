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notesMasterIdLst>
    <p:notesMasterId r:id="rId33"/>
  </p:notesMasterIdLst>
  <p:sldIdLst>
    <p:sldId id="256" r:id="rId2"/>
    <p:sldId id="259" r:id="rId3"/>
    <p:sldId id="260" r:id="rId4"/>
    <p:sldId id="261" r:id="rId5"/>
    <p:sldId id="262" r:id="rId6"/>
    <p:sldId id="263" r:id="rId7"/>
    <p:sldId id="286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4" r:id="rId20"/>
    <p:sldId id="285" r:id="rId21"/>
    <p:sldId id="275" r:id="rId22"/>
    <p:sldId id="276" r:id="rId23"/>
    <p:sldId id="277" r:id="rId24"/>
    <p:sldId id="278" r:id="rId25"/>
    <p:sldId id="287" r:id="rId26"/>
    <p:sldId id="279" r:id="rId27"/>
    <p:sldId id="288" r:id="rId28"/>
    <p:sldId id="280" r:id="rId29"/>
    <p:sldId id="281" r:id="rId30"/>
    <p:sldId id="282" r:id="rId31"/>
    <p:sldId id="283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2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7EC1B7E-E8DC-4F6B-BA46-FB2B3910D4A5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A431B80-84D2-4C98-9A68-084586E57E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13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EBBD6EF-FC54-4A4E-BC39-9F616ECC360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548890-53E2-4560-B190-04A95BAD370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14DC493-3A30-49C9-8E16-9AEF241AADA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154013-004F-4990-B8B5-C89F5B4C564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8B06C2-10DA-4ABF-B4F1-3C6D0F21AA0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C57213-5109-4AD1-832D-343CF31727F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12868B-6B11-4CE6-94A6-F0FC9021693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7968E-2F91-4504-A8CD-503A6C3299F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B16D12-7041-443A-A290-D49863D8B67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8F343C-4CD5-4A20-A15A-8627795F8A0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37B8C0-D5FB-470A-A928-87AC885A1D6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EDECB5-6108-41A2-940A-6616239797D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965A79-D1F8-4117-953E-2B8F8CCE20D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C05622-6EA6-4E5D-B665-654D8D11DE5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065793-E4BF-486F-AAF9-7A3E1427708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B78E92-88E1-4E54-B820-8A3326F92ED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3E4DE4-1960-43A1-A9C6-5576FC6E8D5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624609-63BA-49E9-B86A-DC2E0035522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E1B501-19A1-4166-9C9E-E4BC978E9B2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7B97FB-F5E4-4FF7-9388-69F3DFCC8D6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9AA981-7E89-444B-8AE6-66BE8E87FFA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43295E-0869-4561-8C7F-1DEF50635C9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B120BF-104B-4BD7-9D6F-33033A5242D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044C14-B9B1-4CE6-B3D0-71289328F51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F31292-2A24-47D3-A6D8-E818AD65FE6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3DF6E4-E077-42E6-A91F-1648A32BA14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7A3CEC-FCC1-4F6E-9356-4ADC89E31FF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1E487F-2DF9-4A5E-9EBB-3BB8673562E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5C9C07-4B81-4CD8-9210-8F97D3C9A9B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21B6975-9AA1-4702-AD6C-0595101F51F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3E8B58-5561-4FB4-B169-B61770C95C7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681038"/>
            <a:ext cx="4540250" cy="34051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13238"/>
            <a:ext cx="185738" cy="27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66" tIns="46034" rIns="92066" bIns="46034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C6F43A-0FF0-4A03-9122-D59A9DE87D32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01D67-4465-48BE-AC3B-6194743CB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0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F6DEC7-39CB-4719-B125-881E56953F25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45B6F-B2BF-4F79-809E-44BF492A53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4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28C6D-09BA-4FD1-AE6E-7F61D066A25D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E538C-184F-4D54-A441-F7D8A6930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9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390A8-4CA0-49DF-9135-2001DDD7F273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BA978-4AFD-4991-A87D-C6DC1D680A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6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0587F-35DD-4268-8710-1F6B0BC1EE7B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B0628-24EB-4D36-A99E-B4BCE67899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254537-7115-47C2-9BDF-EA2982C93399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D82F1-5338-48F3-9C8A-70C13FB09B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52CF1-4430-4B3E-9B98-D1E9C54A75A2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E9336-C071-40C2-9F43-EAEB58F77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BBFA3-61CD-44EA-9ADB-782DE514BBC2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D9FD5-D002-401C-90EF-874EE9BC2E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3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C676E-732D-430C-A3F0-ACE1E3E2285F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3A4E8-5253-48F6-BDC9-F1C5444D47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0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48850-6FA4-4FD7-B193-6DC4B7B21E57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A37F9-96FE-4DDC-B832-E91EEB4B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1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9FBC0-D319-43CE-BCAB-253EDC896E08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29B77-6AD1-460F-B2E9-81CB76A1A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2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C8689FA-FBB8-43CD-A076-3D9E420122FF}" type="datetime1">
              <a:rPr lang="en-US" altLang="en-US" smtClean="0"/>
              <a:t>9/30/2020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11th Edition, Copyright © John  C. Hull 2021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6FA0F-A325-4C7C-810A-1F56245C9F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931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DED5AF-5447-4179-9986-AF0750766C1D}" type="datetime1">
              <a:rPr lang="en-US" smtClean="0"/>
              <a:t>9/30/2020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1A5FE-D34E-4016-8EA4-36080024D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1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ED633DA3-5E44-466C-A8BE-D6DC1DB3E44E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C825EBA-767A-4AB9-A8D2-5802B51514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27" r:id="rId3"/>
    <p:sldLayoutId id="2147483828" r:id="rId4"/>
    <p:sldLayoutId id="2147483829" r:id="rId5"/>
    <p:sldLayoutId id="2147483837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8" r:id="rId12"/>
    <p:sldLayoutId id="2147483839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.png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emf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.pn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1336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23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Estimating Volatilities and Correlations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C5BA846-7C43-4856-BD01-FA8DD60567A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229600" cy="762000"/>
          </a:xfrm>
        </p:spPr>
        <p:txBody>
          <a:bodyPr lIns="92075" tIns="46038" rIns="92075" bIns="46038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130000"/>
                  </a:schemeClr>
                </a:solidFill>
              </a:rPr>
              <a:t>Standard Approach to Estimating Volatility</a:t>
            </a:r>
            <a:r>
              <a:rPr lang="en-CA" sz="32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CA" sz="2000" dirty="0" smtClean="0">
                <a:solidFill>
                  <a:schemeClr val="tx2">
                    <a:satMod val="130000"/>
                  </a:schemeClr>
                </a:solidFill>
              </a:rPr>
              <a:t>(equation 23.1)</a:t>
            </a: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077200" cy="4419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Define 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 smtClean="0">
                <a:latin typeface="Arial" charset="0"/>
                <a:cs typeface="Arial" charset="0"/>
              </a:rPr>
              <a:t> as the volatility per day between day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i="1" dirty="0" smtClean="0">
                <a:latin typeface="Arial" charset="0"/>
                <a:cs typeface="Arial" charset="0"/>
              </a:rPr>
              <a:t>-</a:t>
            </a:r>
            <a:r>
              <a:rPr lang="en-US" altLang="en-US" dirty="0" smtClean="0">
                <a:latin typeface="Arial" charset="0"/>
                <a:cs typeface="Arial" charset="0"/>
              </a:rPr>
              <a:t>1 and day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i="1" dirty="0" smtClean="0">
                <a:latin typeface="Arial" charset="0"/>
                <a:cs typeface="Arial" charset="0"/>
              </a:rPr>
              <a:t>, </a:t>
            </a:r>
            <a:r>
              <a:rPr lang="en-US" altLang="en-US" dirty="0" smtClean="0">
                <a:latin typeface="Arial" charset="0"/>
                <a:cs typeface="Arial" charset="0"/>
              </a:rPr>
              <a:t>as estimated at end of day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i="1" dirty="0" smtClean="0">
                <a:latin typeface="Arial" charset="0"/>
                <a:cs typeface="Arial" charset="0"/>
              </a:rPr>
              <a:t>-</a:t>
            </a:r>
            <a:r>
              <a:rPr lang="en-US" altLang="en-US" dirty="0" smtClean="0">
                <a:latin typeface="Arial" charset="0"/>
                <a:cs typeface="Arial" charset="0"/>
              </a:rPr>
              <a:t>1</a:t>
            </a:r>
            <a:endParaRPr lang="en-US" altLang="en-US" i="1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Define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dirty="0" smtClean="0">
                <a:latin typeface="Arial" charset="0"/>
                <a:cs typeface="Arial" charset="0"/>
              </a:rPr>
              <a:t> as the value of market variable at end of day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i</a:t>
            </a:r>
            <a:endParaRPr lang="en-US" altLang="en-US" i="1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Define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dirty="0" smtClean="0">
                <a:latin typeface="Arial" charset="0"/>
                <a:cs typeface="Arial" charset="0"/>
              </a:rPr>
              <a:t>=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altLang="en-US" dirty="0" smtClean="0">
                <a:latin typeface="Arial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/S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 smtClean="0">
                <a:latin typeface="Arial" charset="0"/>
                <a:cs typeface="Arial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9781503-24D2-468A-8160-4D227F165F7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8198" name="Object 4"/>
          <p:cNvGraphicFramePr>
            <a:graphicFrameLocks/>
          </p:cNvGraphicFramePr>
          <p:nvPr/>
        </p:nvGraphicFramePr>
        <p:xfrm>
          <a:off x="2819400" y="4343400"/>
          <a:ext cx="30670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6" imgW="1562148" imgH="876204" progId="Equation.2">
                  <p:embed/>
                </p:oleObj>
              </mc:Choice>
              <mc:Fallback>
                <p:oleObj name="Equation" r:id="rId6" imgW="1562148" imgH="876204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43400"/>
                        <a:ext cx="30670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7467600" cy="9906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Simplifications Usually Made</a:t>
            </a: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in Risk Management </a:t>
            </a:r>
            <a:r>
              <a:rPr lang="en-CA" sz="2200" dirty="0" smtClean="0">
                <a:solidFill>
                  <a:schemeClr val="tx2">
                    <a:satMod val="130000"/>
                  </a:schemeClr>
                </a:solidFill>
              </a:rPr>
              <a:t>(equations 23.2 and 23.3)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772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Set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Arial" charset="0"/>
                <a:cs typeface="Arial" charset="0"/>
              </a:rPr>
              <a:t> =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−S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/S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Assume that the mean value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Arial" charset="0"/>
                <a:cs typeface="Arial" charset="0"/>
              </a:rPr>
              <a:t> is zero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Replace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m−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Arial" charset="0"/>
                <a:cs typeface="Arial" charset="0"/>
              </a:rPr>
              <a:t> by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m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This gives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A958B7-2AA9-450B-98D0-26A1B7F45A7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9222" name="Object 4"/>
          <p:cNvGraphicFramePr>
            <a:graphicFrameLocks/>
          </p:cNvGraphicFramePr>
          <p:nvPr/>
        </p:nvGraphicFramePr>
        <p:xfrm>
          <a:off x="2971800" y="4114800"/>
          <a:ext cx="27209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6" imgW="1028745" imgH="380876" progId="Equation.2">
                  <p:embed/>
                </p:oleObj>
              </mc:Choice>
              <mc:Fallback>
                <p:oleObj name="Equation" r:id="rId6" imgW="1028745" imgH="380876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14800"/>
                        <a:ext cx="27209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Weighting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Scheme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(equation 23.4)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147888"/>
            <a:ext cx="7315200" cy="3795712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Instead of assigning equal weights to the observations we can set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496385-0115-4203-911F-2C5CDF3BBC0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0246" name="Object 4"/>
          <p:cNvGraphicFramePr>
            <a:graphicFrameLocks/>
          </p:cNvGraphicFramePr>
          <p:nvPr/>
        </p:nvGraphicFramePr>
        <p:xfrm>
          <a:off x="4510088" y="3322638"/>
          <a:ext cx="104775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6" imgW="114201" imgH="203024" progId="Equation.2">
                  <p:embed/>
                </p:oleObj>
              </mc:Choice>
              <mc:Fallback>
                <p:oleObj name="Equation" r:id="rId6" imgW="114201" imgH="203024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3322638"/>
                        <a:ext cx="104775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5"/>
          <p:cNvGraphicFramePr>
            <a:graphicFrameLocks/>
          </p:cNvGraphicFramePr>
          <p:nvPr/>
        </p:nvGraphicFramePr>
        <p:xfrm>
          <a:off x="1371600" y="3429000"/>
          <a:ext cx="2743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quation" r:id="rId8" imgW="1019297" imgH="971491" progId="Equation.2">
                  <p:embed/>
                </p:oleObj>
              </mc:Choice>
              <mc:Fallback>
                <p:oleObj name="Equation" r:id="rId8" imgW="1019297" imgH="971491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429000"/>
                        <a:ext cx="2743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ARCH(m) Model</a:t>
            </a: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CA" sz="2200" dirty="0" smtClean="0">
                <a:solidFill>
                  <a:schemeClr val="tx2">
                    <a:satMod val="130000"/>
                  </a:schemeClr>
                </a:solidFill>
              </a:rPr>
              <a:t>(equation 23.5)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>
            <a:normAutofit/>
          </a:bodyPr>
          <a:lstStyle/>
          <a:p>
            <a:pPr marL="57150" indent="2540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smtClean="0"/>
              <a:t>In </a:t>
            </a:r>
            <a:r>
              <a:rPr lang="en-US" dirty="0"/>
              <a:t>an ARCH(m) model we also assign </a:t>
            </a:r>
            <a:r>
              <a:rPr lang="en-US" dirty="0" smtClean="0"/>
              <a:t>some weight </a:t>
            </a:r>
            <a:r>
              <a:rPr lang="en-US" dirty="0"/>
              <a:t>to the long-run variance rate, </a:t>
            </a:r>
            <a:r>
              <a:rPr lang="en-US" i="1" dirty="0">
                <a:latin typeface="Times New Roman" pitchFamily="18" charset="0"/>
              </a:rPr>
              <a:t>V</a:t>
            </a:r>
            <a:r>
              <a:rPr lang="en-US" i="1" baseline="-25000" dirty="0">
                <a:latin typeface="Times New Roman" pitchFamily="18" charset="0"/>
              </a:rPr>
              <a:t>L</a:t>
            </a:r>
            <a:r>
              <a:rPr lang="en-US" dirty="0"/>
              <a:t>: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BFEAC4F-F610-47A6-88A6-D19E488DCCD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1270" name="Object 4"/>
          <p:cNvGraphicFramePr>
            <a:graphicFrameLocks/>
          </p:cNvGraphicFramePr>
          <p:nvPr/>
        </p:nvGraphicFramePr>
        <p:xfrm>
          <a:off x="990600" y="3124200"/>
          <a:ext cx="3962400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6" imgW="1362122" imgH="952596" progId="Equation.3">
                  <p:embed/>
                </p:oleObj>
              </mc:Choice>
              <mc:Fallback>
                <p:oleObj name="Equation" r:id="rId6" imgW="1362122" imgH="95259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124200"/>
                        <a:ext cx="3962400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EWMA Model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(equation 23.7)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an exponentially weighted moving average model, the weights assigned to the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baseline="30000" smtClean="0">
                <a:latin typeface="Arial" charset="0"/>
                <a:cs typeface="Arial" charset="0"/>
              </a:rPr>
              <a:t>2</a:t>
            </a:r>
            <a:r>
              <a:rPr lang="en-US" altLang="en-US" smtClean="0">
                <a:latin typeface="Arial" charset="0"/>
                <a:cs typeface="Arial" charset="0"/>
              </a:rPr>
              <a:t> decline exponentially as we move back through time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leads to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1C444F-9AC2-4471-8C7C-ADC41FFD415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2294" name="Object 4"/>
          <p:cNvGraphicFramePr>
            <a:graphicFrameLocks/>
          </p:cNvGraphicFramePr>
          <p:nvPr/>
        </p:nvGraphicFramePr>
        <p:xfrm>
          <a:off x="2286000" y="4038600"/>
          <a:ext cx="48323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6" imgW="1400183" imgH="228634" progId="Equation.3">
                  <p:embed/>
                </p:oleObj>
              </mc:Choice>
              <mc:Fallback>
                <p:oleObj name="Equation" r:id="rId6" imgW="1400183" imgH="22863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38600"/>
                        <a:ext cx="48323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To Show that Weights Decline Exponentially</a:t>
            </a:r>
            <a:endParaRPr lang="en-US" altLang="en-US" smtClean="0"/>
          </a:p>
        </p:txBody>
      </p:sp>
      <p:sp>
        <p:nvSpPr>
          <p:cNvPr id="1331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08398B-05D1-40B7-BA7B-2B2E560B48D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3317" name="Object 2"/>
          <p:cNvGraphicFramePr>
            <a:graphicFrameLocks noChangeAspect="1"/>
          </p:cNvGraphicFramePr>
          <p:nvPr/>
        </p:nvGraphicFramePr>
        <p:xfrm>
          <a:off x="762000" y="2327275"/>
          <a:ext cx="7424738" cy="349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6" imgW="3683000" imgH="1701800" progId="Equation.3">
                  <p:embed/>
                </p:oleObj>
              </mc:Choice>
              <mc:Fallback>
                <p:oleObj name="Equation" r:id="rId6" imgW="3683000" imgH="170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27275"/>
                        <a:ext cx="7424738" cy="349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Attractions of EWMA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Relatively little data needs to be stored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We need only remember the current estimate of the variance rate and the most recent observation on the market variable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Tracks volatility changes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0.94 is a popular choice for </a:t>
            </a:r>
            <a:r>
              <a:rPr lang="en-US" altLang="en-US" smtClean="0">
                <a:latin typeface="Symbol" pitchFamily="18" charset="2"/>
                <a:cs typeface="Arial" charset="0"/>
              </a:rPr>
              <a:t>l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8AAF1FE-A0E7-40A4-BD8F-908FA72F8D5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GARCH (1,1)</a:t>
            </a: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CA" sz="2200" dirty="0" smtClean="0">
                <a:solidFill>
                  <a:schemeClr val="tx2">
                    <a:satMod val="130000"/>
                  </a:schemeClr>
                </a:solidFill>
              </a:rPr>
              <a:t>equation 23.8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 GARCH (1,1) we assign some weight to the long-run average variance rate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Since weights must sum to 1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Symbol" pitchFamily="18" charset="2"/>
                <a:cs typeface="Arial" charset="0"/>
              </a:rPr>
              <a:t>g + a + b =1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en-US" dirty="0" smtClean="0">
              <a:latin typeface="Symbol" pitchFamily="18" charset="2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1AF5A87-C3DC-4756-8CC3-35D0B911C37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5366" name="Object 4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5"/>
          <p:cNvGraphicFramePr>
            <a:graphicFrameLocks noChangeAspect="1"/>
          </p:cNvGraphicFramePr>
          <p:nvPr/>
        </p:nvGraphicFramePr>
        <p:xfrm>
          <a:off x="1828800" y="3200400"/>
          <a:ext cx="5181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Equation" r:id="rId8" imgW="1486024" imgH="228634" progId="Equation.3">
                  <p:embed/>
                </p:oleObj>
              </mc:Choice>
              <mc:Fallback>
                <p:oleObj name="Equation" r:id="rId8" imgW="1486024" imgH="22863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00400"/>
                        <a:ext cx="5181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GARCH (1,1)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continued; equation 23.9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Setting </a:t>
            </a:r>
            <a:r>
              <a:rPr lang="en-US" altLang="en-US" smtClean="0">
                <a:latin typeface="Symbol" pitchFamily="18" charset="2"/>
                <a:cs typeface="Arial" charset="0"/>
              </a:rPr>
              <a:t>w = g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smtClean="0">
                <a:latin typeface="Arial" charset="0"/>
                <a:cs typeface="Arial" charset="0"/>
              </a:rPr>
              <a:t> the GARCH (1,1) model is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and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6D7DA78-E2FB-4043-8A45-17218992161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90" name="Object 4"/>
          <p:cNvGraphicFramePr>
            <a:graphicFrameLocks/>
          </p:cNvGraphicFramePr>
          <p:nvPr/>
        </p:nvGraphicFramePr>
        <p:xfrm>
          <a:off x="2438400" y="4038600"/>
          <a:ext cx="20716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6" imgW="857332" imgH="409489" progId="Equation.3">
                  <p:embed/>
                </p:oleObj>
              </mc:Choice>
              <mc:Fallback>
                <p:oleObj name="Equation" r:id="rId6" imgW="857332" imgH="40948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038600"/>
                        <a:ext cx="20716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5"/>
          <p:cNvGraphicFramePr>
            <a:graphicFrameLocks noChangeAspect="1"/>
          </p:cNvGraphicFramePr>
          <p:nvPr/>
        </p:nvGraphicFramePr>
        <p:xfrm>
          <a:off x="1676400" y="2819400"/>
          <a:ext cx="49180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8" imgW="1409631" imgH="228634" progId="Equation.3">
                  <p:embed/>
                </p:oleObj>
              </mc:Choice>
              <mc:Fallback>
                <p:oleObj name="Equation" r:id="rId8" imgW="1409631" imgH="22863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19400"/>
                        <a:ext cx="49180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</a:t>
            </a: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CA" sz="2200" dirty="0">
                <a:solidFill>
                  <a:schemeClr val="tx2">
                    <a:satMod val="130000"/>
                  </a:schemeClr>
                </a:solidFill>
              </a:rPr>
              <a:t>(Example </a:t>
            </a:r>
            <a:r>
              <a:rPr lang="en-CA" sz="2200" dirty="0" smtClean="0">
                <a:solidFill>
                  <a:schemeClr val="tx2">
                    <a:satMod val="130000"/>
                  </a:schemeClr>
                </a:solidFill>
              </a:rPr>
              <a:t>23.2)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Suppose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long-run variance rate is 0.0002 so that the long-run volatility per day is 1.4%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E1508F2-CA15-4A77-90C2-40E6DB47CF8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7414" name="Object 4"/>
          <p:cNvGraphicFramePr>
            <a:graphicFrameLocks/>
          </p:cNvGraphicFramePr>
          <p:nvPr/>
        </p:nvGraphicFramePr>
        <p:xfrm>
          <a:off x="1219200" y="2819400"/>
          <a:ext cx="6019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6" imgW="2190840" imgH="219186" progId="Equation.2">
                  <p:embed/>
                </p:oleObj>
              </mc:Choice>
              <mc:Fallback>
                <p:oleObj name="Equation" r:id="rId6" imgW="2190840" imgH="219186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19400"/>
                        <a:ext cx="6019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 </a:t>
            </a:r>
            <a:r>
              <a:rPr lang="en-US" sz="220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Suppose that the current estimate of the volatility is 1.6% per day and the most recent percentage change in the market variable is 1%.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new variance rate is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new volatility is 1.53% per day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BEF9BF5-BC13-469F-B133-7F4113D09A3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8" name="Object 4"/>
          <p:cNvGraphicFramePr>
            <a:graphicFrameLocks/>
          </p:cNvGraphicFramePr>
          <p:nvPr/>
        </p:nvGraphicFramePr>
        <p:xfrm>
          <a:off x="1371600" y="4495800"/>
          <a:ext cx="69357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6" imgW="3467121" imgH="142795" progId="Equation.2">
                  <p:embed/>
                </p:oleObj>
              </mc:Choice>
              <mc:Fallback>
                <p:oleObj name="Equation" r:id="rId6" imgW="3467121" imgH="142795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69357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GARCH (p,q)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19C2818-9359-4884-924E-F19AA9BF694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9462" name="Object 4"/>
          <p:cNvGraphicFramePr>
            <a:graphicFrameLocks/>
          </p:cNvGraphicFramePr>
          <p:nvPr/>
        </p:nvGraphicFramePr>
        <p:xfrm>
          <a:off x="2187575" y="2530475"/>
          <a:ext cx="537686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6" imgW="1819401" imgH="447550" progId="Equation.3">
                  <p:embed/>
                </p:oleObj>
              </mc:Choice>
              <mc:Fallback>
                <p:oleObj name="Equation" r:id="rId6" imgW="1819401" imgH="44755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2530475"/>
                        <a:ext cx="5376863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Maximum Likelihood Methods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057400"/>
            <a:ext cx="7391400" cy="4191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maximum likelihood methods we choose parameters that maximize the likelihood of the observations occurring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8ACEF22-44D8-4435-A203-9E0F517DD17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 1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We observe that a certain event happens one time in ten trials. What is our estimate of the proportion of the time, 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mtClean="0">
                <a:latin typeface="Arial" charset="0"/>
                <a:cs typeface="Arial" charset="0"/>
              </a:rPr>
              <a:t>, that it happens?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probability of the event happening on one particular trial and not on the others is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We maximize this to obtain a maximum likelihood estimate. Result: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 </a:t>
            </a:r>
            <a:r>
              <a:rPr lang="en-US" altLang="en-US" i="1" smtClean="0">
                <a:latin typeface="Arial" charset="0"/>
                <a:cs typeface="Arial" charset="0"/>
              </a:rPr>
              <a:t>= </a:t>
            </a:r>
            <a:r>
              <a:rPr lang="en-US" altLang="en-US" smtClean="0">
                <a:latin typeface="Arial" charset="0"/>
                <a:cs typeface="Arial" charset="0"/>
              </a:rPr>
              <a:t>0.1 (as expected)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0160BD-5769-4C15-B222-AC87CDB4625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1510" name="Object 4"/>
          <p:cNvGraphicFramePr>
            <a:graphicFrameLocks/>
          </p:cNvGraphicFramePr>
          <p:nvPr/>
        </p:nvGraphicFramePr>
        <p:xfrm>
          <a:off x="3581400" y="4038600"/>
          <a:ext cx="1584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6" imgW="571465" imgH="219186" progId="Equation.3">
                  <p:embed/>
                </p:oleObj>
              </mc:Choice>
              <mc:Fallback>
                <p:oleObj name="Equation" r:id="rId6" imgW="571465" imgH="21918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038600"/>
                        <a:ext cx="15843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 2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147888"/>
            <a:ext cx="79248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  <a:r>
              <a:rPr lang="en-US" altLang="en-US" sz="2200" smtClean="0">
                <a:latin typeface="Arial" charset="0"/>
                <a:cs typeface="Arial" charset="0"/>
              </a:rPr>
              <a:t>Estimate the variance of observations from a normal distribution with mean zero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BBCEE7-5A7A-4281-97BF-ABD59DDC8AE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2534" name="Object 4"/>
          <p:cNvGraphicFramePr>
            <a:graphicFrameLocks noChangeAspect="1"/>
          </p:cNvGraphicFramePr>
          <p:nvPr/>
        </p:nvGraphicFramePr>
        <p:xfrm>
          <a:off x="990600" y="3048000"/>
          <a:ext cx="6781800" cy="311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6" imgW="3429059" imgH="1581271" progId="Equation.3">
                  <p:embed/>
                </p:oleObj>
              </mc:Choice>
              <mc:Fallback>
                <p:oleObj name="Equation" r:id="rId6" imgW="3429059" imgH="158127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048000"/>
                        <a:ext cx="6781800" cy="311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Application to GARCH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We choose parameters that maximize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E1E4A8-C7DB-4A4B-A1CF-DB908A29B33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3558" name="Object 4"/>
          <p:cNvGraphicFramePr>
            <a:graphicFrameLocks/>
          </p:cNvGraphicFramePr>
          <p:nvPr/>
        </p:nvGraphicFramePr>
        <p:xfrm>
          <a:off x="1143000" y="2667000"/>
          <a:ext cx="334645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6" imgW="1362122" imgH="1352637" progId="Equation.3">
                  <p:embed/>
                </p:oleObj>
              </mc:Choice>
              <mc:Fallback>
                <p:oleObj name="Equation" r:id="rId6" imgW="1362122" imgH="135263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67000"/>
                        <a:ext cx="3346450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14400"/>
            <a:ext cx="7467600" cy="1066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S&amp;P 500 Excel Application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9200" y="2057400"/>
            <a:ext cx="6934200" cy="4073525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Start with trial values of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w</a:t>
            </a:r>
            <a:r>
              <a:rPr lang="en-US" altLang="en-US" sz="2400" smtClean="0">
                <a:latin typeface="Arial" charset="0"/>
                <a:cs typeface="Arial" charset="0"/>
              </a:rPr>
              <a:t>,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a</a:t>
            </a:r>
            <a:r>
              <a:rPr lang="en-US" altLang="en-US" sz="2400" smtClean="0">
                <a:latin typeface="Arial" charset="0"/>
                <a:cs typeface="Arial" charset="0"/>
              </a:rPr>
              <a:t>, and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b</a:t>
            </a:r>
            <a:r>
              <a:rPr lang="en-US" altLang="en-US" sz="2400" smtClean="0">
                <a:latin typeface="Arial" charset="0"/>
                <a:cs typeface="Arial" charset="0"/>
              </a:rPr>
              <a:t> 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Update variances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Calculate</a:t>
            </a:r>
          </a:p>
          <a:p>
            <a:pPr eaLnBrk="1" hangingPunct="1"/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Use solver to search for values of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w</a:t>
            </a:r>
            <a:r>
              <a:rPr lang="en-US" altLang="en-US" sz="2400" smtClean="0">
                <a:latin typeface="Arial" charset="0"/>
                <a:cs typeface="Arial" charset="0"/>
              </a:rPr>
              <a:t>,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a</a:t>
            </a:r>
            <a:r>
              <a:rPr lang="en-US" altLang="en-US" sz="2400" smtClean="0">
                <a:latin typeface="Arial" charset="0"/>
                <a:cs typeface="Arial" charset="0"/>
              </a:rPr>
              <a:t>, and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b</a:t>
            </a:r>
            <a:r>
              <a:rPr lang="en-US" altLang="en-US" sz="2400" smtClean="0">
                <a:latin typeface="Arial" charset="0"/>
                <a:cs typeface="Arial" charset="0"/>
              </a:rPr>
              <a:t> that maximize this objective function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For efficient operation of Solver: set up spreadsheet so that three numbers that are the same order of magnitude are being searched for</a:t>
            </a:r>
          </a:p>
        </p:txBody>
      </p:sp>
      <p:graphicFrame>
        <p:nvGraphicFramePr>
          <p:cNvPr id="24580" name="Object 4"/>
          <p:cNvGraphicFramePr>
            <a:graphicFrameLocks noGrp="1"/>
          </p:cNvGraphicFramePr>
          <p:nvPr>
            <p:ph sz="half" idx="2"/>
          </p:nvPr>
        </p:nvGraphicFramePr>
        <p:xfrm>
          <a:off x="3124200" y="3200400"/>
          <a:ext cx="16494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4" imgW="1095420" imgH="476163" progId="Equation.3">
                  <p:embed/>
                </p:oleObj>
              </mc:Choice>
              <mc:Fallback>
                <p:oleObj name="Equation" r:id="rId4" imgW="1095420" imgH="47616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00400"/>
                        <a:ext cx="16494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4594D5-C0D8-4CAC-B776-F6A64F2E2A1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S&amp;P 500 Excel Application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(Table 23.1)</a:t>
            </a:r>
            <a:endParaRPr lang="en-US" dirty="0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7D7E4E-9E0E-41EB-AD4B-61BB4032D7C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520413"/>
              </p:ext>
            </p:extLst>
          </p:nvPr>
        </p:nvGraphicFramePr>
        <p:xfrm>
          <a:off x="838200" y="2667000"/>
          <a:ext cx="7620000" cy="296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 smtClean="0">
                          <a:latin typeface="+mj-lt"/>
                        </a:rPr>
                        <a:t>Date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 smtClean="0">
                          <a:latin typeface="+mj-lt"/>
                        </a:rPr>
                        <a:t>Day 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 smtClean="0">
                          <a:latin typeface="+mj-lt"/>
                        </a:rPr>
                        <a:t>S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i="1" dirty="0" err="1" smtClean="0">
                          <a:latin typeface="+mj-lt"/>
                        </a:rPr>
                        <a:t>u</a:t>
                      </a:r>
                      <a:r>
                        <a:rPr lang="en-CA" sz="1600" i="1" baseline="-25000" dirty="0" err="1" smtClean="0">
                          <a:latin typeface="+mj-lt"/>
                        </a:rPr>
                        <a:t>i</a:t>
                      </a:r>
                      <a:r>
                        <a:rPr lang="en-CA" sz="1600" i="1" baseline="0" dirty="0" smtClean="0">
                          <a:latin typeface="+mj-lt"/>
                        </a:rPr>
                        <a:t>=(S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</a:t>
                      </a:r>
                      <a:r>
                        <a:rPr lang="en-US" sz="1600" dirty="0" smtClean="0">
                          <a:latin typeface="+mj-lt"/>
                        </a:rPr>
                        <a:t>−</a:t>
                      </a:r>
                      <a:r>
                        <a:rPr lang="en-US" sz="1600" i="1" dirty="0" smtClean="0">
                          <a:latin typeface="+mj-lt"/>
                        </a:rPr>
                        <a:t>S</a:t>
                      </a:r>
                      <a:r>
                        <a:rPr lang="en-US" sz="1600" i="1" baseline="-25000" dirty="0" smtClean="0">
                          <a:latin typeface="+mj-lt"/>
                        </a:rPr>
                        <a:t>i</a:t>
                      </a:r>
                      <a:r>
                        <a:rPr lang="en-US" sz="1600" baseline="-25000" dirty="0" smtClean="0">
                          <a:latin typeface="+mj-lt"/>
                        </a:rPr>
                        <a:t>-1</a:t>
                      </a:r>
                      <a:r>
                        <a:rPr lang="en-US" sz="1600" dirty="0" smtClean="0">
                          <a:latin typeface="+mj-lt"/>
                        </a:rPr>
                        <a:t>)/</a:t>
                      </a:r>
                      <a:r>
                        <a:rPr lang="en-US" sz="1600" i="1" dirty="0" smtClean="0">
                          <a:latin typeface="+mj-lt"/>
                        </a:rPr>
                        <a:t>S</a:t>
                      </a:r>
                      <a:r>
                        <a:rPr lang="en-US" sz="1600" i="1" baseline="-25000" dirty="0" smtClean="0">
                          <a:latin typeface="+mj-lt"/>
                        </a:rPr>
                        <a:t>i</a:t>
                      </a:r>
                      <a:r>
                        <a:rPr lang="en-US" sz="1600" baseline="-25000" dirty="0" smtClean="0">
                          <a:latin typeface="+mj-lt"/>
                        </a:rPr>
                        <a:t>-1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i="1" dirty="0" smtClean="0">
                          <a:latin typeface="+mj-lt"/>
                        </a:rPr>
                        <a:t>v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</a:t>
                      </a:r>
                      <a:r>
                        <a:rPr lang="en-CA" sz="1600" dirty="0" smtClean="0"/>
                        <a:t> =</a:t>
                      </a:r>
                      <a:r>
                        <a:rPr lang="en-CA" sz="1600" dirty="0" smtClean="0">
                          <a:latin typeface="Symbol" pitchFamily="18" charset="2"/>
                        </a:rPr>
                        <a:t>s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</a:t>
                      </a:r>
                      <a:r>
                        <a:rPr lang="en-CA" sz="1600" baseline="30000" dirty="0" smtClean="0"/>
                        <a:t>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−</a:t>
                      </a:r>
                      <a:r>
                        <a:rPr lang="en-CA" sz="1600" dirty="0" err="1" smtClean="0"/>
                        <a:t>ln</a:t>
                      </a:r>
                      <a:r>
                        <a:rPr lang="en-CA" sz="1600" dirty="0" smtClean="0"/>
                        <a:t>(</a:t>
                      </a:r>
                      <a:r>
                        <a:rPr lang="en-CA" sz="1600" i="1" dirty="0" smtClean="0">
                          <a:latin typeface="+mj-lt"/>
                        </a:rPr>
                        <a:t>v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 </a:t>
                      </a:r>
                      <a:r>
                        <a:rPr lang="en-CA" sz="1600" baseline="0" dirty="0" smtClean="0"/>
                        <a:t>)</a:t>
                      </a:r>
                      <a:r>
                        <a:rPr lang="en-CA" sz="1600" baseline="-25000" dirty="0" smtClean="0"/>
                        <a:t> </a:t>
                      </a:r>
                      <a:r>
                        <a:rPr lang="en-CA" sz="1600" dirty="0" smtClean="0"/>
                        <a:t>−</a:t>
                      </a:r>
                      <a:r>
                        <a:rPr lang="en-CA" sz="1600" i="1" dirty="0" smtClean="0">
                          <a:latin typeface="+mj-lt"/>
                        </a:rPr>
                        <a:t>u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</a:t>
                      </a:r>
                      <a:r>
                        <a:rPr lang="en-CA" sz="1600" baseline="30000" dirty="0" smtClean="0"/>
                        <a:t>2</a:t>
                      </a:r>
                      <a:r>
                        <a:rPr lang="en-CA" sz="1600" dirty="0" smtClean="0"/>
                        <a:t> /</a:t>
                      </a:r>
                      <a:r>
                        <a:rPr lang="en-CA" sz="1600" i="1" dirty="0" smtClean="0">
                          <a:latin typeface="+mj-lt"/>
                        </a:rPr>
                        <a:t>v</a:t>
                      </a:r>
                      <a:r>
                        <a:rPr lang="en-CA" sz="1600" i="1" baseline="-25000" dirty="0" smtClean="0">
                          <a:latin typeface="+mj-lt"/>
                        </a:rPr>
                        <a:t>i</a:t>
                      </a:r>
                      <a:endParaRPr lang="en-US" sz="1600" i="1" dirty="0">
                        <a:latin typeface="+mj-lt"/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10-Jul-2015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2076.62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13-Jul-2015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2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2099.60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  </a:t>
                      </a:r>
                      <a:r>
                        <a:rPr lang="en-CA" sz="1600" dirty="0" smtClean="0"/>
                        <a:t>0.011066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14-Jul-2015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3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2108.95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  </a:t>
                      </a:r>
                      <a:r>
                        <a:rPr lang="en-CA" sz="1600" dirty="0" smtClean="0"/>
                        <a:t>0.004453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0.00012246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</a:t>
                      </a:r>
                      <a:r>
                        <a:rPr lang="en-CA" sz="1600" dirty="0" smtClean="0"/>
                        <a:t>8.8458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15-Jul-2015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4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2107.40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−</a:t>
                      </a:r>
                      <a:r>
                        <a:rPr lang="en-US" sz="1600" dirty="0" smtClean="0"/>
                        <a:t>0.000735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0.00009997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</a:t>
                      </a:r>
                      <a:r>
                        <a:rPr lang="en-CA" sz="1600" dirty="0" smtClean="0"/>
                        <a:t>9.2053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…..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………..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………….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…………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9-Jul-2020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1259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3152.05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−</a:t>
                      </a:r>
                      <a:r>
                        <a:rPr lang="en-US" sz="1600" dirty="0" smtClean="0"/>
                        <a:t>0.005644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0.00014276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 </a:t>
                      </a:r>
                      <a:r>
                        <a:rPr lang="en-CA" sz="1600" dirty="0" smtClean="0"/>
                        <a:t>8.6313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 smtClean="0"/>
                        <a:t>Total</a:t>
                      </a:r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CA" sz="1600" dirty="0" smtClean="0"/>
                        <a:t>10,837.4227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Estimated Volatility per day </a:t>
            </a:r>
            <a:r>
              <a:rPr lang="en-CA" altLang="en-US" sz="2000" dirty="0" smtClean="0"/>
              <a:t>(Figure 23.2) </a:t>
            </a:r>
            <a:endParaRPr lang="en-US" altLang="en-US" sz="2000" dirty="0" smtClean="0"/>
          </a:p>
        </p:txBody>
      </p:sp>
      <p:sp>
        <p:nvSpPr>
          <p:cNvPr id="2662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059C59-6C17-43D1-8209-1AB83C45D16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590800"/>
            <a:ext cx="6057923" cy="3637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Variance Targeting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One way of implementing GARCH(1,1) that increases stability is by using variance targeting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set the long-run average volatility equal to the sample variance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Only two other parameters then have to be estimated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EAD5841-777F-495E-ACAD-E4138A533D0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How Good is the Model?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127250"/>
            <a:ext cx="7467600" cy="40036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Ljung-Box statistic tests for autocorrelation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compare the autocorrelation of the</a:t>
            </a:r>
            <a:endParaRPr lang="en-US" altLang="en-US" baseline="-2500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u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baseline="30000" smtClean="0">
                <a:latin typeface="Arial" charset="0"/>
                <a:cs typeface="Arial" charset="0"/>
              </a:rPr>
              <a:t>2</a:t>
            </a:r>
            <a:r>
              <a:rPr lang="en-US" altLang="en-US" smtClean="0">
                <a:latin typeface="Arial" charset="0"/>
                <a:cs typeface="Arial" charset="0"/>
              </a:rPr>
              <a:t> with the autocorrelation of the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 baseline="-25000" smtClean="0">
                <a:latin typeface="Arial" charset="0"/>
                <a:cs typeface="Arial" charset="0"/>
              </a:rPr>
              <a:t>i</a:t>
            </a:r>
            <a:r>
              <a:rPr lang="en-US" altLang="en-US" baseline="30000" smtClean="0">
                <a:latin typeface="Arial" charset="0"/>
                <a:cs typeface="Arial" charset="0"/>
              </a:rPr>
              <a:t>2</a:t>
            </a:r>
            <a:r>
              <a:rPr lang="en-US" altLang="en-US" smtClean="0">
                <a:latin typeface="Arial" charset="0"/>
                <a:cs typeface="Arial" charset="0"/>
              </a:rPr>
              <a:t>/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2</a:t>
            </a:r>
            <a:endParaRPr lang="en-US" altLang="en-US" i="1" baseline="-2500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6B84176-F328-407A-8FBA-9100300188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66800"/>
            <a:ext cx="79248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Forecasting Future Volatility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 dirty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23.13)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A few lines of algebra shows that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 variance rate for an option expiring on day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m</a:t>
            </a:r>
            <a:r>
              <a:rPr lang="en-US" altLang="en-US" dirty="0" smtClean="0">
                <a:latin typeface="Arial" charset="0"/>
                <a:cs typeface="Arial" charset="0"/>
              </a:rPr>
              <a:t> is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0F3739-B9F8-44CB-81AB-312CB0660CF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9702" name="Object 4"/>
          <p:cNvGraphicFramePr>
            <a:graphicFrameLocks/>
          </p:cNvGraphicFramePr>
          <p:nvPr/>
        </p:nvGraphicFramePr>
        <p:xfrm>
          <a:off x="2133600" y="3200400"/>
          <a:ext cx="523398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Equation" r:id="rId6" imgW="1971648" imgH="228634" progId="Equation.3">
                  <p:embed/>
                </p:oleObj>
              </mc:Choice>
              <mc:Fallback>
                <p:oleObj name="Equation" r:id="rId6" imgW="1971648" imgH="22863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00400"/>
                        <a:ext cx="523398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5"/>
          <p:cNvGraphicFramePr>
            <a:graphicFrameLocks/>
          </p:cNvGraphicFramePr>
          <p:nvPr/>
        </p:nvGraphicFramePr>
        <p:xfrm>
          <a:off x="3352800" y="4800600"/>
          <a:ext cx="20399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Equation" r:id="rId8" imgW="819271" imgH="419207" progId="Equation.3">
                  <p:embed/>
                </p:oleObj>
              </mc:Choice>
              <mc:Fallback>
                <p:oleObj name="Equation" r:id="rId8" imgW="819271" imgH="41920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800600"/>
                        <a:ext cx="20399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Forecasting Future Volatility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continued 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23.14)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30723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143000" y="2362200"/>
          <a:ext cx="6526213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4" imgW="3302000" imgH="1524000" progId="Equation.3">
                  <p:embed/>
                </p:oleObj>
              </mc:Choice>
              <mc:Fallback>
                <p:oleObj name="Equation" r:id="rId4" imgW="3302000" imgH="152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62200"/>
                        <a:ext cx="6526213" cy="301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91A4AA1-B9BE-446D-B8C2-B59CA2F1791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S&amp;P Example</a:t>
            </a:r>
            <a:endParaRPr lang="en-US" altLang="en-US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2147888"/>
                <a:ext cx="8153400" cy="4114800"/>
              </a:xfrm>
            </p:spPr>
            <p:txBody>
              <a:bodyPr/>
              <a:lstStyle/>
              <a:p>
                <a:pPr eaLnBrk="1" hangingPunct="1"/>
                <a:r>
                  <a:rPr lang="en-CA" altLang="en-US" sz="2400" dirty="0" smtClean="0">
                    <a:latin typeface="Symbol" pitchFamily="18" charset="2"/>
                    <a:cs typeface="Arial" charset="0"/>
                  </a:rPr>
                  <a:t>w 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= 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0.0000039818, </a:t>
                </a:r>
                <a:r>
                  <a:rPr lang="en-CA" altLang="en-US" sz="2400" dirty="0" smtClean="0">
                    <a:latin typeface="Symbol" pitchFamily="18" charset="2"/>
                    <a:cs typeface="Arial" charset="0"/>
                  </a:rPr>
                  <a:t>a 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= 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0.223793, </a:t>
                </a:r>
                <a:r>
                  <a:rPr lang="en-CA" altLang="en-US" sz="2400" dirty="0" smtClean="0">
                    <a:latin typeface="Symbol" pitchFamily="18" charset="2"/>
                    <a:cs typeface="Arial" charset="0"/>
                  </a:rPr>
                  <a:t>b 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= 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0.747577</a:t>
                </a:r>
                <a:endParaRPr lang="en-CA" altLang="en-US" sz="2400" dirty="0" smtClean="0">
                  <a:latin typeface="Arial" charset="0"/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Arial" charset="0"/>
                        </a:rPr>
                        <m:t>𝑎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en-US" sz="2400" b="0" i="0" smtClean="0">
                          <a:latin typeface="Cambria Math" panose="02040503050406030204" pitchFamily="18" charset="0"/>
                          <a:cs typeface="Arial" charset="0"/>
                        </a:rPr>
                        <m:t>ln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Arial" charset="0"/>
                        </a:rPr>
                        <m:t>⁡</m:t>
                      </m:r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Arial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Arial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Arial" charset="0"/>
                                </a:rPr>
                                <m:t>0.223793+0.747577</m:t>
                              </m:r>
                            </m:den>
                          </m:f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Arial" charset="0"/>
                        </a:rPr>
                        <m:t>=0.02905</m:t>
                      </m:r>
                    </m:oMath>
                  </m:oMathPara>
                </a14:m>
                <a:endParaRPr lang="en-US" altLang="en-US" sz="2400" dirty="0" smtClean="0"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317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147888"/>
                <a:ext cx="8153400" cy="4114800"/>
              </a:xfrm>
              <a:blipFill>
                <a:blip r:embed="rId3"/>
                <a:stretch>
                  <a:fillRect t="-11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A812E21-C995-4126-A523-1C32C051ED1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03317"/>
              </p:ext>
            </p:extLst>
          </p:nvPr>
        </p:nvGraphicFramePr>
        <p:xfrm>
          <a:off x="1447800" y="4114800"/>
          <a:ext cx="6324601" cy="1279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Option Life (days)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30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50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500</a:t>
                      </a:r>
                      <a:endParaRPr lang="en-US" sz="1800" dirty="0"/>
                    </a:p>
                  </a:txBody>
                  <a:tcPr marT="45678" marB="4567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Volatility (% per annum)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26.5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24.9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23.8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22.0</a:t>
                      </a:r>
                      <a:endParaRPr lang="en-US" sz="1800" dirty="0"/>
                    </a:p>
                  </a:txBody>
                  <a:tcPr marT="45678" marB="456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19.5</a:t>
                      </a:r>
                      <a:endParaRPr lang="en-US" sz="1800" dirty="0"/>
                    </a:p>
                  </a:txBody>
                  <a:tcPr marT="45678" marB="456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85800"/>
            <a:ext cx="7239000" cy="12954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Volatility Term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Structures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286000"/>
            <a:ext cx="7923213" cy="42259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GARCH (1,1) suggests that, when calculating </a:t>
            </a:r>
            <a:r>
              <a:rPr lang="en-US" sz="2400" dirty="0" err="1" smtClean="0">
                <a:latin typeface="Arial" charset="0"/>
                <a:cs typeface="Arial" charset="0"/>
              </a:rPr>
              <a:t>vega</a:t>
            </a:r>
            <a:r>
              <a:rPr lang="en-US" sz="2400" dirty="0" smtClean="0">
                <a:latin typeface="Arial" charset="0"/>
                <a:cs typeface="Arial" charset="0"/>
              </a:rPr>
              <a:t>, we should shift the long maturity volatilities less than the short maturity volatilities</a:t>
            </a:r>
          </a:p>
          <a:p>
            <a:pPr eaLnBrk="1" hangingPunct="1">
              <a:defRPr/>
            </a:pPr>
            <a:r>
              <a:rPr lang="en-CA" sz="2400" dirty="0" smtClean="0">
                <a:latin typeface="Arial" charset="0"/>
                <a:cs typeface="Arial" charset="0"/>
              </a:rPr>
              <a:t>When instantaneous volatility changes by </a:t>
            </a:r>
            <a:r>
              <a:rPr lang="en-CA" sz="2400" dirty="0" smtClean="0">
                <a:latin typeface="Symbol" pitchFamily="18" charset="2"/>
                <a:cs typeface="Arial" charset="0"/>
              </a:rPr>
              <a:t>Ds</a:t>
            </a:r>
            <a:r>
              <a:rPr lang="en-CA" sz="2400" dirty="0" smtClean="0">
                <a:latin typeface="Arial" charset="0"/>
                <a:cs typeface="Arial" charset="0"/>
              </a:rPr>
              <a:t>(0), volatility for </a:t>
            </a:r>
            <a:r>
              <a:rPr lang="en-CA" sz="2400" i="1" dirty="0" smtClean="0">
                <a:latin typeface="+mj-lt"/>
                <a:cs typeface="Arial" charset="0"/>
              </a:rPr>
              <a:t>T</a:t>
            </a:r>
            <a:r>
              <a:rPr lang="en-CA" sz="2400" dirty="0" smtClean="0">
                <a:latin typeface="Arial" charset="0"/>
                <a:cs typeface="Arial" charset="0"/>
              </a:rPr>
              <a:t>-day option changes by </a:t>
            </a:r>
            <a:endParaRPr 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3277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BC84D2-26F9-4C98-95ED-57E512E609A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2774" name="Object 29"/>
          <p:cNvGraphicFramePr>
            <a:graphicFrameLocks noChangeAspect="1"/>
          </p:cNvGraphicFramePr>
          <p:nvPr/>
        </p:nvGraphicFramePr>
        <p:xfrm>
          <a:off x="2819400" y="4343400"/>
          <a:ext cx="256381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6" imgW="1193800" imgH="431800" progId="Equation.3">
                  <p:embed/>
                </p:oleObj>
              </mc:Choice>
              <mc:Fallback>
                <p:oleObj name="Equation" r:id="rId6" imgW="1193800" imgH="4318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43400"/>
                        <a:ext cx="2563813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altLang="en-US" dirty="0" smtClean="0"/>
              <a:t>Results for S&amp;P 500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(Table 23.4)</a:t>
            </a:r>
            <a:endParaRPr lang="en-US" altLang="en-US" sz="2400" dirty="0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When instantaneous volatility changes by 1%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C9FD851-CFF4-4B57-8C3C-9BDF2CFA4C5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Group 7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8991670"/>
              </p:ext>
            </p:extLst>
          </p:nvPr>
        </p:nvGraphicFramePr>
        <p:xfrm>
          <a:off x="1295400" y="3200400"/>
          <a:ext cx="7010401" cy="1662209"/>
        </p:xfrm>
        <a:graphic>
          <a:graphicData uri="http://schemas.openxmlformats.org/drawingml/2006/table">
            <a:tbl>
              <a:tblPr/>
              <a:tblGrid>
                <a:gridCol w="212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3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Option Life (days)</a:t>
                      </a:r>
                    </a:p>
                  </a:txBody>
                  <a:tcPr marL="92075" marR="92075" marT="46018" marB="460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6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Volatility increase (%) </a:t>
                      </a:r>
                    </a:p>
                  </a:txBody>
                  <a:tcPr marL="92075" marR="92075" marT="46018" marB="460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18" marB="460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Correlations and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Covariances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286000"/>
            <a:ext cx="7620000" cy="38100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Define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=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−X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/X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Arial" charset="0"/>
                <a:cs typeface="Arial" charset="0"/>
              </a:rPr>
              <a:t> 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=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−Y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/Y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i-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endParaRPr lang="en-US" altLang="en-US" i="1" baseline="-2500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Also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x,n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:</a:t>
            </a:r>
            <a:r>
              <a:rPr lang="en-US" altLang="en-US" smtClean="0">
                <a:latin typeface="Arial" charset="0"/>
                <a:cs typeface="Arial" charset="0"/>
              </a:rPr>
              <a:t> daily vol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mtClean="0">
                <a:latin typeface="Arial" charset="0"/>
                <a:cs typeface="Arial" charset="0"/>
              </a:rPr>
              <a:t> calculated on day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n−</a:t>
            </a:r>
            <a:r>
              <a:rPr lang="en-US" altLang="en-US" smtClean="0">
                <a:latin typeface="Arial" charset="0"/>
                <a:cs typeface="Arial" charset="0"/>
              </a:rPr>
              <a:t>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y,n</a:t>
            </a:r>
            <a:r>
              <a:rPr lang="en-US" altLang="en-US" smtClean="0">
                <a:latin typeface="Arial" charset="0"/>
                <a:cs typeface="Arial" charset="0"/>
              </a:rPr>
              <a:t>: daily vol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smtClean="0">
                <a:latin typeface="Arial" charset="0"/>
                <a:cs typeface="Arial" charset="0"/>
              </a:rPr>
              <a:t> calculated on day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n−</a:t>
            </a:r>
            <a:r>
              <a:rPr lang="en-US" altLang="en-US" smtClean="0">
                <a:latin typeface="Arial" charset="0"/>
                <a:cs typeface="Arial" charset="0"/>
              </a:rPr>
              <a:t>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cov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: covariance calculated on day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n−</a:t>
            </a:r>
            <a:r>
              <a:rPr lang="en-US" altLang="en-US" smtClean="0">
                <a:latin typeface="Arial" charset="0"/>
                <a:cs typeface="Arial" charset="0"/>
              </a:rPr>
              <a:t>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The correlation is cov</a:t>
            </a:r>
            <a:r>
              <a:rPr lang="en-US" altLang="en-US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/(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x,n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y,n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endParaRPr lang="en-US" altLang="en-US" i="1" baseline="-2500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ADF27A7-0CBF-48FC-97FC-0B3DC7FF51B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Updating Correlations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can use similar models to those for volatilities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Under EWMA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	cov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baseline="-25000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= </a:t>
            </a:r>
            <a:r>
              <a:rPr lang="en-US" altLang="en-US" smtClean="0">
                <a:latin typeface="Symbol" pitchFamily="18" charset="2"/>
                <a:cs typeface="Arial" charset="0"/>
              </a:rPr>
              <a:t>l </a:t>
            </a:r>
            <a:r>
              <a:rPr lang="en-US" altLang="en-US" smtClean="0">
                <a:latin typeface="Arial" charset="0"/>
                <a:cs typeface="Arial" charset="0"/>
              </a:rPr>
              <a:t>cov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baseline="-25000" smtClean="0">
                <a:latin typeface="Arial" charset="0"/>
                <a:cs typeface="Arial" charset="0"/>
              </a:rPr>
              <a:t>-1</a:t>
            </a:r>
            <a:r>
              <a:rPr lang="en-US" altLang="en-US" smtClean="0">
                <a:latin typeface="Arial" charset="0"/>
                <a:cs typeface="Arial" charset="0"/>
              </a:rPr>
              <a:t>+(1-</a:t>
            </a:r>
            <a:r>
              <a:rPr lang="en-US" altLang="en-US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smtClean="0">
                <a:latin typeface="Arial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n-</a:t>
            </a:r>
            <a:r>
              <a:rPr lang="en-US" altLang="en-US" baseline="-25000" smtClean="0">
                <a:latin typeface="Arial" charset="0"/>
                <a:cs typeface="Arial" charset="0"/>
              </a:rPr>
              <a:t>1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baseline="-25000" smtClean="0">
                <a:latin typeface="Arial" charset="0"/>
                <a:cs typeface="Arial" charset="0"/>
              </a:rPr>
              <a:t>-1</a:t>
            </a:r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02422C-AB9A-44F5-80B8-C9A38A60E0E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Positive Finite Definite Condition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 variance-covariance matrix, </a:t>
            </a:r>
            <a:r>
              <a:rPr lang="en-US" altLang="en-US" b="1" smtClean="0">
                <a:latin typeface="Symbol" pitchFamily="18" charset="2"/>
                <a:cs typeface="Arial" charset="0"/>
              </a:rPr>
              <a:t>W</a:t>
            </a:r>
            <a:r>
              <a:rPr lang="en-US" altLang="en-US" smtClean="0">
                <a:latin typeface="Symbol" pitchFamily="18" charset="2"/>
                <a:cs typeface="Arial" charset="0"/>
              </a:rPr>
              <a:t>, </a:t>
            </a:r>
            <a:r>
              <a:rPr lang="en-US" altLang="en-US" smtClean="0">
                <a:latin typeface="Arial" charset="0"/>
                <a:cs typeface="Arial" charset="0"/>
              </a:rPr>
              <a:t>is internally consistent if the positive semi-definite condition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for all vectors </a:t>
            </a:r>
            <a:r>
              <a:rPr lang="en-US" altLang="en-US" b="1" smtClean="0">
                <a:latin typeface="Arial" charset="0"/>
                <a:cs typeface="Arial" charset="0"/>
              </a:rPr>
              <a:t>w</a:t>
            </a: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11227B2-99F3-4BC1-BDC4-4A1E090B34C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6870" name="Object 4"/>
          <p:cNvGraphicFramePr>
            <a:graphicFrameLocks/>
          </p:cNvGraphicFramePr>
          <p:nvPr/>
        </p:nvGraphicFramePr>
        <p:xfrm>
          <a:off x="2819400" y="3505200"/>
          <a:ext cx="2981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6" imgW="685920" imgH="180855" progId="Equation.2">
                  <p:embed/>
                </p:oleObj>
              </mc:Choice>
              <mc:Fallback>
                <p:oleObj name="Equation" r:id="rId6" imgW="685920" imgH="180855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05200"/>
                        <a:ext cx="2981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variance-covariance matrix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is not internally consistent</a:t>
            </a: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3468EF-4841-43E6-B2C3-CB0AFDF7129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7894" name="Object 4"/>
          <p:cNvGraphicFramePr>
            <a:graphicFrameLocks/>
          </p:cNvGraphicFramePr>
          <p:nvPr/>
        </p:nvGraphicFramePr>
        <p:xfrm>
          <a:off x="3200400" y="2743200"/>
          <a:ext cx="2133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6" imgW="990683" imgH="714244" progId="Equation.2">
                  <p:embed/>
                </p:oleObj>
              </mc:Choice>
              <mc:Fallback>
                <p:oleObj name="Equation" r:id="rId6" imgW="990683" imgH="714244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743200"/>
                        <a:ext cx="21336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7D2FEA-2F31-40E0-8DB5-AC4FD4A24604}"/>
</file>

<file path=customXml/itemProps2.xml><?xml version="1.0" encoding="utf-8"?>
<ds:datastoreItem xmlns:ds="http://schemas.openxmlformats.org/officeDocument/2006/customXml" ds:itemID="{F660FE7B-815E-4FF4-865B-7DA9EC88FB9A}"/>
</file>

<file path=customXml/itemProps3.xml><?xml version="1.0" encoding="utf-8"?>
<ds:datastoreItem xmlns:ds="http://schemas.openxmlformats.org/officeDocument/2006/customXml" ds:itemID="{151DD0AB-B115-4A31-8FF8-30520693AF57}"/>
</file>

<file path=docProps/app.xml><?xml version="1.0" encoding="utf-8"?>
<Properties xmlns="http://schemas.openxmlformats.org/officeDocument/2006/extended-properties" xmlns:vt="http://schemas.openxmlformats.org/officeDocument/2006/docPropsVTypes">
  <Template>Ch20HullOFOD8thEdition</Template>
  <TotalTime>320</TotalTime>
  <Words>1370</Words>
  <Application>Microsoft Office PowerPoint</Application>
  <PresentationFormat>On-screen Show (4:3)</PresentationFormat>
  <Paragraphs>274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Global</vt:lpstr>
      <vt:lpstr>Equation</vt:lpstr>
      <vt:lpstr>Chapter 23 Estimating Volatilities and Correlations</vt:lpstr>
      <vt:lpstr>Standard Approach to Estimating Volatility (equation 23.1)</vt:lpstr>
      <vt:lpstr>Simplifications Usually Made in Risk Management (equations 23.2 and 23.3)</vt:lpstr>
      <vt:lpstr>Weighting Scheme (equation 23.4)</vt:lpstr>
      <vt:lpstr>ARCH(m) Model (equation 23.5)</vt:lpstr>
      <vt:lpstr>EWMA Model (equation 23.7)</vt:lpstr>
      <vt:lpstr>To Show that Weights Decline Exponentially</vt:lpstr>
      <vt:lpstr>Attractions of EWMA</vt:lpstr>
      <vt:lpstr>GARCH (1,1) equation 23.8</vt:lpstr>
      <vt:lpstr>GARCH (1,1) continued; equation 23.9</vt:lpstr>
      <vt:lpstr>Example (Example 23.2)</vt:lpstr>
      <vt:lpstr>Example continued</vt:lpstr>
      <vt:lpstr>GARCH (p,q)</vt:lpstr>
      <vt:lpstr>Maximum Likelihood Methods</vt:lpstr>
      <vt:lpstr>Example 1</vt:lpstr>
      <vt:lpstr>Example 2</vt:lpstr>
      <vt:lpstr>Application to GARCH</vt:lpstr>
      <vt:lpstr>S&amp;P 500 Excel Application</vt:lpstr>
      <vt:lpstr>S&amp;P 500 Excel Application (Table 23.1)</vt:lpstr>
      <vt:lpstr>Estimated Volatility per day (Figure 23.2) </vt:lpstr>
      <vt:lpstr>Variance Targeting</vt:lpstr>
      <vt:lpstr>How Good is the Model?</vt:lpstr>
      <vt:lpstr>Forecasting Future Volatility  (equation 23.13)</vt:lpstr>
      <vt:lpstr>Forecasting Future Volatility continued (equation 23.14)</vt:lpstr>
      <vt:lpstr>S&amp;P Example</vt:lpstr>
      <vt:lpstr>Volatility Term Structures</vt:lpstr>
      <vt:lpstr>Results for S&amp;P 500 (Table 23.4)</vt:lpstr>
      <vt:lpstr>Correlations and Covariances</vt:lpstr>
      <vt:lpstr>Updating Correlations</vt:lpstr>
      <vt:lpstr>Positive Finite Definite Condition 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Estimating Volatilities and Correlations</dc:title>
  <dc:subject>Options, Futures, and Other Derivatives, 11e</dc:subject>
  <dc:creator>John C. Hull</dc:creator>
  <cp:keywords>Chapter 23</cp:keywords>
  <dc:description>Copyright 2021 by John C. Hull. All Rights Reserved. Published 2021</dc:description>
  <cp:lastModifiedBy>John Hull</cp:lastModifiedBy>
  <cp:revision>32</cp:revision>
  <dcterms:created xsi:type="dcterms:W3CDTF">2008-05-30T08:49:59Z</dcterms:created>
  <dcterms:modified xsi:type="dcterms:W3CDTF">2020-09-30T19:58:12Z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