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3" r:id="rId9"/>
    <p:sldId id="264" r:id="rId10"/>
    <p:sldId id="266" r:id="rId11"/>
    <p:sldId id="267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1BBFD36-F59A-4C81-977C-B92E9506C5BB}" type="datetimeFigureOut">
              <a:rPr lang="en-US"/>
              <a:pPr>
                <a:defRPr/>
              </a:pPr>
              <a:t>10/3/2020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1BA51FE-5582-444B-8119-0E24B3FAA1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655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ADC0CB-628B-404D-98B0-C1E76B4BD8A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28074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89975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32364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44307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88926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02478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50829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D846C7-9C20-4A82-88B1-7A8E9500281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71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40725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10680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75424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04920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02893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76279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3766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821458F-C2B7-4764-9508-6FFF0C5A15BF}" type="datetime1">
              <a:rPr lang="en-US" smtClean="0"/>
              <a:t>10/3/2020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C312AC-6A87-4330-9D02-641F428FD7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00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67BB40B-B27A-452D-AB69-6F095CC02A6C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BACEA-1389-4094-BC9F-CFF405A0CC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2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7D7CA-692D-424C-82E4-574345CFA87A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61DFB4-E042-4A5E-BB62-5DA71EA70A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95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6D03E-2648-44FC-9E80-8DFF0FD8E20D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03EAF-66FC-441F-931D-48D37C5F52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1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264E2-5BEC-44E1-A5C7-3535A1EA8935}" type="datetime1">
              <a:rPr lang="en-US" smtClean="0"/>
              <a:t>10/3/2020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2A38B0-0DA9-43B4-8B84-87F0114F2F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78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AD7E6F-14DB-4D83-9640-024A6B38E83F}" type="datetime1">
              <a:rPr lang="en-US" smtClean="0"/>
              <a:t>10/3/2020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C10BB-DF46-4A7C-92A5-E0A457FE53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24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AE5C9-8BF5-4D9A-9E77-F398D9D79F9F}" type="datetime1">
              <a:rPr lang="en-US" smtClean="0"/>
              <a:t>10/3/2020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6CCA93-E3B8-43AC-96BA-047BD16F0D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90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54AED-DB8E-486B-BBE4-F069D8EE20D5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B05FC-3B2A-4A38-AF27-EBD753FE47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4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893E9-04C9-4D35-A12B-0416EA257E40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13156-75A1-4947-A643-E5A1C95B81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8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C11C-7630-414C-AFB1-A616626813D5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24D5D-633D-4750-8161-BE3E95FB80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0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2CA6CF-EA60-4FEB-B5CB-7A3B88A4E3EA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0C86F-58CB-4626-A03C-F8BAAA69D6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82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04A0C974-D626-4D45-B65D-F7926FD5F9AC}" type="datetime1">
              <a:rPr lang="en-US" smtClean="0"/>
              <a:t>10/3/2020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28B96B-BF62-41F8-9DE3-C75D55A3BD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17" r:id="rId3"/>
    <p:sldLayoutId id="2147483818" r:id="rId4"/>
    <p:sldLayoutId id="2147483819" r:id="rId5"/>
    <p:sldLayoutId id="2147483827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36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Real Options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648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2D6EBD3-82E1-428F-9138-3853BEC8D88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An Alternative to the NPV Rule for Capital Investments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2362200"/>
            <a:ext cx="7162800" cy="3768725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Define stochastic processes for the key underlying variables and use risk-neutral valuation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approach (known as the real options approach) is likely to do a better job at valuing growth options, abandonment options, etc than NPV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5C66B45-C5FC-4E07-9899-0F230DEA156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Problem with using NPV to Value Options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209800"/>
            <a:ext cx="8020050" cy="4038600"/>
          </a:xfrm>
        </p:spPr>
        <p:txBody>
          <a:bodyPr>
            <a:normAutofit fontScale="92500" lnSpcReduction="1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/>
              <a:t>Consider the example from Chapter </a:t>
            </a:r>
            <a:r>
              <a:rPr lang="en-US" sz="2400" dirty="0" smtClean="0"/>
              <a:t>13: </a:t>
            </a:r>
            <a:r>
              <a:rPr lang="en-US" sz="2400" dirty="0"/>
              <a:t>risk-free rate </a:t>
            </a:r>
            <a:r>
              <a:rPr lang="en-US" sz="2400" dirty="0" smtClean="0"/>
              <a:t>=</a:t>
            </a:r>
            <a:r>
              <a:rPr lang="en-US" sz="2400" dirty="0"/>
              <a:t>4</a:t>
            </a:r>
            <a:r>
              <a:rPr lang="en-US" sz="2400" dirty="0" smtClean="0"/>
              <a:t>%; </a:t>
            </a:r>
            <a:r>
              <a:rPr lang="en-US" sz="2400" dirty="0"/>
              <a:t>strike price = $21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 smtClean="0"/>
              <a:t>Suppose </a:t>
            </a:r>
            <a:r>
              <a:rPr lang="en-US" sz="2400" dirty="0"/>
              <a:t>that the expected return required by investors in the real world on the stock is </a:t>
            </a:r>
            <a:r>
              <a:rPr lang="en-US" sz="2400" dirty="0" smtClean="0"/>
              <a:t>10%. </a:t>
            </a:r>
            <a:r>
              <a:rPr lang="en-US" sz="2400" dirty="0"/>
              <a:t>What discount rate should we use to value an option with strike price $21?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8CF4F23-201F-4080-8004-C8D918F5D0B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7174" name="Group 12"/>
          <p:cNvGrpSpPr>
            <a:grpSpLocks/>
          </p:cNvGrpSpPr>
          <p:nvPr/>
        </p:nvGrpSpPr>
        <p:grpSpPr bwMode="auto">
          <a:xfrm>
            <a:off x="1600200" y="2743200"/>
            <a:ext cx="6943725" cy="1581150"/>
            <a:chOff x="571500" y="2750343"/>
            <a:chExt cx="7972425" cy="1725441"/>
          </a:xfrm>
        </p:grpSpPr>
        <p:grpSp>
          <p:nvGrpSpPr>
            <p:cNvPr id="7175" name="Group 4"/>
            <p:cNvGrpSpPr>
              <a:grpSpLocks/>
            </p:cNvGrpSpPr>
            <p:nvPr/>
          </p:nvGrpSpPr>
          <p:grpSpPr bwMode="auto">
            <a:xfrm>
              <a:off x="571500" y="2750343"/>
              <a:ext cx="7972425" cy="1516856"/>
              <a:chOff x="360" y="2393"/>
              <a:chExt cx="5022" cy="910"/>
            </a:xfrm>
          </p:grpSpPr>
          <p:sp>
            <p:nvSpPr>
              <p:cNvPr id="7177" name="Line 5"/>
              <p:cNvSpPr>
                <a:spLocks noChangeShapeType="1"/>
              </p:cNvSpPr>
              <p:nvPr/>
            </p:nvSpPr>
            <p:spPr bwMode="auto">
              <a:xfrm flipV="1">
                <a:off x="2103" y="2542"/>
                <a:ext cx="1330" cy="3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8" name="Line 6"/>
              <p:cNvSpPr>
                <a:spLocks noChangeShapeType="1"/>
              </p:cNvSpPr>
              <p:nvPr/>
            </p:nvSpPr>
            <p:spPr bwMode="auto">
              <a:xfrm>
                <a:off x="2103" y="2914"/>
                <a:ext cx="1330" cy="3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9" name="Rectangle 7"/>
              <p:cNvSpPr>
                <a:spLocks noChangeArrowheads="1"/>
              </p:cNvSpPr>
              <p:nvPr/>
            </p:nvSpPr>
            <p:spPr bwMode="auto">
              <a:xfrm>
                <a:off x="3564" y="2393"/>
                <a:ext cx="1818" cy="5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Stock Price = $22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Arial" charset="0"/>
                </a:endParaRPr>
              </a:p>
            </p:txBody>
          </p:sp>
          <p:sp>
            <p:nvSpPr>
              <p:cNvPr id="7180" name="Rectangle 8"/>
              <p:cNvSpPr>
                <a:spLocks noChangeArrowheads="1"/>
              </p:cNvSpPr>
              <p:nvPr/>
            </p:nvSpPr>
            <p:spPr bwMode="auto">
              <a:xfrm>
                <a:off x="360" y="2792"/>
                <a:ext cx="1795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Stock price = $20</a:t>
                </a:r>
              </a:p>
            </p:txBody>
          </p:sp>
        </p:grpSp>
        <p:sp>
          <p:nvSpPr>
            <p:cNvPr id="7176" name="Text Box 9"/>
            <p:cNvSpPr txBox="1">
              <a:spLocks noChangeArrowheads="1"/>
            </p:cNvSpPr>
            <p:nvPr/>
          </p:nvSpPr>
          <p:spPr bwMode="auto">
            <a:xfrm>
              <a:off x="5715000" y="4038600"/>
              <a:ext cx="2590800" cy="437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Stock Price=$18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Correct Discount Rates are Counter-Intuitive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2438400"/>
            <a:ext cx="7239000" cy="4084638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Correct discount rate for a call option is 55.96%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Correct discount rate for a put option is    –70.4%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6422414-85F8-49F4-9CB7-A6DB1C24255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General Approach to Valuation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can value any asset dependent on a variable </a:t>
            </a:r>
            <a:r>
              <a:rPr lang="en-US" altLang="en-US" smtClean="0">
                <a:latin typeface="Symbol" pitchFamily="18" charset="2"/>
                <a:cs typeface="Arial" charset="0"/>
              </a:rPr>
              <a:t>q </a:t>
            </a:r>
            <a:r>
              <a:rPr lang="en-US" altLang="en-US" smtClean="0">
                <a:latin typeface="Arial" charset="0"/>
                <a:cs typeface="Arial" charset="0"/>
              </a:rPr>
              <a:t>by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Reducing the expected growth rate of </a:t>
            </a:r>
            <a:r>
              <a:rPr lang="en-US" altLang="en-US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smtClean="0">
                <a:latin typeface="Arial" charset="0"/>
                <a:cs typeface="Arial" charset="0"/>
              </a:rPr>
              <a:t> by </a:t>
            </a:r>
            <a:r>
              <a:rPr lang="en-US" altLang="en-US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where </a:t>
            </a:r>
            <a:r>
              <a:rPr lang="en-US" altLang="en-US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smtClean="0">
                <a:latin typeface="Arial" charset="0"/>
                <a:cs typeface="Arial" charset="0"/>
              </a:rPr>
              <a:t> is the market price of </a:t>
            </a:r>
            <a:r>
              <a:rPr lang="en-US" altLang="en-US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smtClean="0">
                <a:latin typeface="Arial" charset="0"/>
                <a:cs typeface="Arial" charset="0"/>
              </a:rPr>
              <a:t>-risk and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is the volatility of </a:t>
            </a:r>
            <a:r>
              <a:rPr lang="en-US" altLang="en-US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Assuming that all investors are risk-neutral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2D5B0BA-393C-439D-9336-BC976CA08A7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Extension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to Many Underlying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Variables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286000"/>
            <a:ext cx="8172450" cy="3962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When there are several underlying variables </a:t>
            </a:r>
            <a:r>
              <a:rPr lang="en-US" altLang="en-US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mtClean="0">
                <a:latin typeface="Arial" charset="0"/>
                <a:cs typeface="Arial" charset="0"/>
              </a:rPr>
              <a:t> we reduce the growth rate of each one by its market price of risk times its volatility and then behave as though the world is risk-neutral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Note that the variables do not have to be prices of traded securities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AA264A8-1B0B-4A20-8AE9-8DB70DCDA5C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Estimating the Market Price of Risk Using CAPM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(equation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36.2)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CA" altLang="en-US" smtClean="0">
                <a:latin typeface="Arial" charset="0"/>
                <a:cs typeface="Arial" charset="0"/>
              </a:rPr>
              <a:t> 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F880239-7718-465E-BF92-6AFF39CE313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1270" name="Object 4"/>
          <p:cNvGraphicFramePr>
            <a:graphicFrameLocks noChangeAspect="1"/>
          </p:cNvGraphicFramePr>
          <p:nvPr/>
        </p:nvGraphicFramePr>
        <p:xfrm>
          <a:off x="1143000" y="2325688"/>
          <a:ext cx="6096000" cy="375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6" imgW="3200400" imgH="2006280" progId="Equation.3">
                  <p:embed/>
                </p:oleObj>
              </mc:Choice>
              <mc:Fallback>
                <p:oleObj name="Equation" r:id="rId6" imgW="3200400" imgH="2006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25688"/>
                        <a:ext cx="6096000" cy="375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Types of Options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Abandonment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Expansion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Contraction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Option to defer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Option to extend life</a:t>
            </a:r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3629F21-2ECC-486B-9B82-A1FFE75F75F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772400" cy="1295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>Example </a:t>
            </a:r>
            <a:r>
              <a:rPr lang="en-US" sz="3200" dirty="0">
                <a:solidFill>
                  <a:schemeClr val="tx2">
                    <a:satMod val="130000"/>
                  </a:schemeClr>
                </a:solidFill>
              </a:rPr>
              <a:t>of Application of Real Options Approach to Valuing Amazon.com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>at end of 1999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(Business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Snapshot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36.1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; Schwartz and Moon)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514600"/>
            <a:ext cx="8248650" cy="4343400"/>
          </a:xfrm>
        </p:spPr>
        <p:txBody>
          <a:bodyPr/>
          <a:lstStyle/>
          <a:p>
            <a:pPr eaLnBrk="1" hangingPunct="1"/>
            <a:r>
              <a:rPr lang="en-US" altLang="en-US" sz="2200" dirty="0" smtClean="0">
                <a:latin typeface="Arial" charset="0"/>
                <a:cs typeface="Arial" charset="0"/>
              </a:rPr>
              <a:t>Estimate stochastic processes for the company’s sales revenue and its average growth rate.</a:t>
            </a:r>
          </a:p>
          <a:p>
            <a:pPr eaLnBrk="1" hangingPunct="1"/>
            <a:r>
              <a:rPr lang="en-US" altLang="en-US" sz="2200" dirty="0" smtClean="0">
                <a:latin typeface="Arial" charset="0"/>
                <a:cs typeface="Arial" charset="0"/>
              </a:rPr>
              <a:t>Estimated the market price of risk and other key parameters (cost of goods sold as a percent of sales, variable expenses as a percent of sales, fixed expenses, etc.)</a:t>
            </a:r>
          </a:p>
          <a:p>
            <a:pPr eaLnBrk="1" hangingPunct="1"/>
            <a:r>
              <a:rPr lang="en-US" altLang="en-US" sz="2200" dirty="0" smtClean="0">
                <a:latin typeface="Arial" charset="0"/>
                <a:cs typeface="Arial" charset="0"/>
              </a:rPr>
              <a:t>Use Monte Carlo simulation to generate different scenarios in a risk-neutral world.</a:t>
            </a:r>
          </a:p>
          <a:p>
            <a:pPr eaLnBrk="1" hangingPunct="1"/>
            <a:r>
              <a:rPr lang="en-US" altLang="en-US" sz="2200" dirty="0" smtClean="0">
                <a:latin typeface="Arial" charset="0"/>
                <a:cs typeface="Arial" charset="0"/>
              </a:rPr>
              <a:t>The stock price is the average of the present values of the net cash flows discounted at the risk-free rate.</a:t>
            </a:r>
          </a:p>
          <a:p>
            <a:pPr eaLnBrk="1" hangingPunct="1"/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DFDEDDA-1705-4B23-9673-A494E14337C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Example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77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A </a:t>
            </a:r>
            <a:r>
              <a:rPr lang="en-US" dirty="0"/>
              <a:t>company has to decide whether to invest $15 million to obtain 6 </a:t>
            </a:r>
            <a:r>
              <a:rPr lang="en-US" dirty="0" smtClean="0"/>
              <a:t>million units of a commodity </a:t>
            </a:r>
            <a:r>
              <a:rPr lang="en-US" dirty="0"/>
              <a:t>at the rate of 2 million </a:t>
            </a:r>
            <a:r>
              <a:rPr lang="en-US" dirty="0" smtClean="0"/>
              <a:t>units </a:t>
            </a:r>
            <a:r>
              <a:rPr lang="en-US" dirty="0"/>
              <a:t>per year for three years.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The </a:t>
            </a:r>
            <a:r>
              <a:rPr lang="en-US" dirty="0"/>
              <a:t>fixed operating costs are $6 million per year and the variable costs are $17 per </a:t>
            </a:r>
            <a:r>
              <a:rPr lang="en-US" dirty="0" smtClean="0"/>
              <a:t>unit.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The </a:t>
            </a:r>
            <a:r>
              <a:rPr lang="en-US" dirty="0"/>
              <a:t>spot price of </a:t>
            </a:r>
            <a:r>
              <a:rPr lang="en-US" dirty="0" smtClean="0"/>
              <a:t>the commodity is </a:t>
            </a:r>
            <a:r>
              <a:rPr lang="en-US" dirty="0"/>
              <a:t>$20 per </a:t>
            </a:r>
            <a:r>
              <a:rPr lang="en-US" dirty="0" smtClean="0"/>
              <a:t>unit </a:t>
            </a:r>
            <a:r>
              <a:rPr lang="en-US" dirty="0"/>
              <a:t>and 1, 2, and 3-year futures prices are $22, $23, and $24, respectively. </a:t>
            </a:r>
            <a:endParaRPr lang="en-US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The </a:t>
            </a:r>
            <a:r>
              <a:rPr lang="en-US" dirty="0"/>
              <a:t>risk-free rate is 10% per annum for all maturities. 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4293853-735A-4EF1-BF4B-D9A08B63D70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Process for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Commodity Price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5363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Tx/>
              <a:buChar char="•"/>
            </a:pPr>
            <a:r>
              <a:rPr lang="en-US" altLang="en-US" smtClean="0">
                <a:latin typeface="Arial" charset="0"/>
                <a:cs typeface="Arial" charset="0"/>
              </a:rPr>
              <a:t>We assume that this is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		d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en-US" altLang="en-US" smtClean="0">
                <a:latin typeface="Arial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) = [</a:t>
            </a:r>
            <a:r>
              <a:rPr lang="en-US" altLang="en-US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smtClean="0">
                <a:latin typeface="Arial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) −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a</a:t>
            </a:r>
            <a:r>
              <a:rPr lang="en-US" altLang="en-US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en-US" altLang="en-US" smtClean="0">
                <a:latin typeface="Arial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)]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dt </a:t>
            </a:r>
            <a:r>
              <a:rPr lang="en-US" altLang="en-US" smtClean="0">
                <a:latin typeface="Arial" charset="0"/>
                <a:cs typeface="Arial" charset="0"/>
              </a:rPr>
              <a:t>+ 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dz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where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a </a:t>
            </a:r>
            <a:r>
              <a:rPr lang="en-US" altLang="en-US" smtClean="0">
                <a:latin typeface="Arial" charset="0"/>
                <a:cs typeface="Arial" charset="0"/>
              </a:rPr>
              <a:t>= 0.1 and </a:t>
            </a:r>
            <a:r>
              <a:rPr lang="en-US" altLang="en-US" smtClean="0">
                <a:latin typeface="Symbol" pitchFamily="18" charset="2"/>
                <a:cs typeface="Arial" charset="0"/>
              </a:rPr>
              <a:t>s </a:t>
            </a:r>
            <a:r>
              <a:rPr lang="en-US" altLang="en-US" smtClean="0">
                <a:latin typeface="Arial" charset="0"/>
                <a:cs typeface="Arial" charset="0"/>
              </a:rPr>
              <a:t>= 0.2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Tx/>
              <a:buChar char="•"/>
            </a:pPr>
            <a:r>
              <a:rPr lang="en-US" altLang="en-US" smtClean="0">
                <a:latin typeface="Arial" charset="0"/>
                <a:cs typeface="Arial" charset="0"/>
              </a:rPr>
              <a:t>We build a tree as in Chapter 33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E5EC272-7312-4059-A7AB-EB7C0E51649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3058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>
                <a:solidFill>
                  <a:schemeClr val="tx2">
                    <a:satMod val="130000"/>
                  </a:schemeClr>
                </a:solidFill>
              </a:rPr>
              <a:t>The Tree of Commodity Prices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(Figure 36.1)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009C1EF-34A3-4A7C-9D8C-9624D58BE1C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6390" name="Object 5"/>
          <p:cNvGraphicFramePr>
            <a:graphicFrameLocks noChangeAspect="1"/>
          </p:cNvGraphicFramePr>
          <p:nvPr/>
        </p:nvGraphicFramePr>
        <p:xfrm>
          <a:off x="685800" y="1752600"/>
          <a:ext cx="6562725" cy="300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1" name="Worksheet" r:id="rId6" imgW="5496154" imgH="2514905" progId="Excel.Sheet.8">
                  <p:embed/>
                </p:oleObj>
              </mc:Choice>
              <mc:Fallback>
                <p:oleObj name="Worksheet" r:id="rId6" imgW="5496154" imgH="2514905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752600"/>
                        <a:ext cx="6562725" cy="300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6" name="Group 6"/>
          <p:cNvGraphicFramePr>
            <a:graphicFrameLocks noGrp="1"/>
          </p:cNvGraphicFramePr>
          <p:nvPr/>
        </p:nvGraphicFramePr>
        <p:xfrm>
          <a:off x="1371600" y="4876800"/>
          <a:ext cx="7315200" cy="1136658"/>
        </p:xfrm>
        <a:graphic>
          <a:graphicData uri="http://schemas.openxmlformats.org/drawingml/2006/table">
            <a:tbl>
              <a:tblPr/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21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Node</a:t>
                      </a: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en-US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7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Valuation of Base </a:t>
            </a:r>
            <a:r>
              <a:rPr lang="en-US" sz="3500" dirty="0" smtClean="0">
                <a:solidFill>
                  <a:schemeClr val="tx2">
                    <a:satMod val="130000"/>
                  </a:schemeClr>
                </a:solidFill>
              </a:rPr>
              <a:t>Project (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Figure 36.2)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8C019C9-AD70-492A-A594-E4A0AA84828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7414" name="Object 4"/>
          <p:cNvGraphicFramePr>
            <a:graphicFrameLocks noChangeAspect="1"/>
          </p:cNvGraphicFramePr>
          <p:nvPr/>
        </p:nvGraphicFramePr>
        <p:xfrm>
          <a:off x="1371600" y="1825625"/>
          <a:ext cx="6705600" cy="306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name="Worksheet" r:id="rId6" imgW="5496154" imgH="2514905" progId="Excel.Sheet.8">
                  <p:embed/>
                </p:oleObj>
              </mc:Choice>
              <mc:Fallback>
                <p:oleObj name="Worksheet" r:id="rId6" imgW="5496154" imgH="251490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825625"/>
                        <a:ext cx="6705600" cy="306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3" name="Group 5"/>
          <p:cNvGraphicFramePr>
            <a:graphicFrameLocks noGrp="1"/>
          </p:cNvGraphicFramePr>
          <p:nvPr/>
        </p:nvGraphicFramePr>
        <p:xfrm>
          <a:off x="1524000" y="4876800"/>
          <a:ext cx="7162801" cy="1136658"/>
        </p:xfrm>
        <a:graphic>
          <a:graphicData uri="http://schemas.openxmlformats.org/drawingml/2006/table">
            <a:tbl>
              <a:tblPr/>
              <a:tblGrid>
                <a:gridCol w="95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5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7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6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51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65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65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Node</a:t>
                      </a: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7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600" dirty="0">
                <a:solidFill>
                  <a:schemeClr val="tx2">
                    <a:satMod val="130000"/>
                  </a:schemeClr>
                </a:solidFill>
              </a:rPr>
              <a:t>Valuation of Option to </a:t>
            </a:r>
            <a:r>
              <a:rPr lang="en-US" sz="2600" dirty="0" smtClean="0">
                <a:solidFill>
                  <a:schemeClr val="tx2">
                    <a:satMod val="130000"/>
                  </a:schemeClr>
                </a:solidFill>
              </a:rPr>
              <a:t>Abandon (Figure 36.3)</a:t>
            </a:r>
            <a:r>
              <a:rPr lang="en-US" sz="26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6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 dirty="0" smtClean="0">
                <a:solidFill>
                  <a:schemeClr val="tx2">
                    <a:satMod val="130000"/>
                  </a:schemeClr>
                </a:solidFill>
              </a:rPr>
              <a:t>No </a:t>
            </a:r>
            <a:r>
              <a:rPr lang="en-US" sz="2600" dirty="0">
                <a:solidFill>
                  <a:schemeClr val="tx2">
                    <a:satMod val="130000"/>
                  </a:schemeClr>
                </a:solidFill>
              </a:rPr>
              <a:t>Salvage Value; No Further </a:t>
            </a:r>
            <a:r>
              <a:rPr lang="en-US" sz="2600" dirty="0" smtClean="0">
                <a:solidFill>
                  <a:schemeClr val="tx2">
                    <a:satMod val="130000"/>
                  </a:schemeClr>
                </a:solidFill>
              </a:rPr>
              <a:t>Payments</a:t>
            </a:r>
            <a:endParaRPr lang="en-US" sz="26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807AD62-4823-42AE-BDD5-95F5C3EC616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8438" name="Object 4"/>
          <p:cNvGraphicFramePr>
            <a:graphicFrameLocks noChangeAspect="1"/>
          </p:cNvGraphicFramePr>
          <p:nvPr/>
        </p:nvGraphicFramePr>
        <p:xfrm>
          <a:off x="1676400" y="1965325"/>
          <a:ext cx="6096000" cy="278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9" name="Worksheet" r:id="rId6" imgW="5496154" imgH="2514905" progId="Excel.Sheet.8">
                  <p:embed/>
                </p:oleObj>
              </mc:Choice>
              <mc:Fallback>
                <p:oleObj name="Worksheet" r:id="rId6" imgW="5496154" imgH="251490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65325"/>
                        <a:ext cx="6096000" cy="278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7" name="Group 5"/>
          <p:cNvGraphicFramePr>
            <a:graphicFrameLocks noGrp="1"/>
          </p:cNvGraphicFramePr>
          <p:nvPr/>
        </p:nvGraphicFramePr>
        <p:xfrm>
          <a:off x="1447800" y="4876800"/>
          <a:ext cx="7238998" cy="1136658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5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6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21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36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36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Node</a:t>
                      </a: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en-US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7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Value of Expansion Option; </a:t>
            </a:r>
            <a:r>
              <a:rPr lang="en-US" sz="2800" dirty="0" smtClean="0">
                <a:solidFill>
                  <a:schemeClr val="tx2">
                    <a:satMod val="130000"/>
                  </a:schemeClr>
                </a:solidFill>
              </a:rPr>
              <a:t>Figure 36.4 (Company 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Can Increase Scale of Project by 20% for $2 million)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9C80F00-0C1F-4971-9F2C-C8F0D02C809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9462" name="Object 4"/>
          <p:cNvGraphicFramePr>
            <a:graphicFrameLocks noChangeAspect="1"/>
          </p:cNvGraphicFramePr>
          <p:nvPr/>
        </p:nvGraphicFramePr>
        <p:xfrm>
          <a:off x="1824038" y="2000250"/>
          <a:ext cx="5872162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3" name="Worksheet" r:id="rId6" imgW="5496154" imgH="2514905" progId="Excel.Sheet.8">
                  <p:embed/>
                </p:oleObj>
              </mc:Choice>
              <mc:Fallback>
                <p:oleObj name="Worksheet" r:id="rId6" imgW="5496154" imgH="251490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2000250"/>
                        <a:ext cx="5872162" cy="268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1" name="Group 5"/>
          <p:cNvGraphicFramePr>
            <a:graphicFrameLocks noGrp="1"/>
          </p:cNvGraphicFramePr>
          <p:nvPr/>
        </p:nvGraphicFramePr>
        <p:xfrm>
          <a:off x="1143000" y="4876800"/>
          <a:ext cx="7543799" cy="113665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3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1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19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9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Node</a:t>
                      </a: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en-US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7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07381C-8942-49F2-9FE5-00186688316F}"/>
</file>

<file path=customXml/itemProps2.xml><?xml version="1.0" encoding="utf-8"?>
<ds:datastoreItem xmlns:ds="http://schemas.openxmlformats.org/officeDocument/2006/customXml" ds:itemID="{155974DE-7BD6-4B01-A750-F7B820A0F5EA}"/>
</file>

<file path=customXml/itemProps3.xml><?xml version="1.0" encoding="utf-8"?>
<ds:datastoreItem xmlns:ds="http://schemas.openxmlformats.org/officeDocument/2006/customXml" ds:itemID="{1A8552CE-2650-46DC-9CD2-2B4A7CE62D57}"/>
</file>

<file path=docProps/app.xml><?xml version="1.0" encoding="utf-8"?>
<Properties xmlns="http://schemas.openxmlformats.org/officeDocument/2006/extended-properties" xmlns:vt="http://schemas.openxmlformats.org/officeDocument/2006/docPropsVTypes">
  <Template>Ch01HullOFOD8thEdition</Template>
  <TotalTime>139</TotalTime>
  <Words>957</Words>
  <Application>Microsoft Office PowerPoint</Application>
  <PresentationFormat>On-screen Show (4:3)</PresentationFormat>
  <Paragraphs>253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Worksheet</vt:lpstr>
      <vt:lpstr>Chapter 36 Real Options</vt:lpstr>
      <vt:lpstr>An Alternative to the NPV Rule for Capital Investments</vt:lpstr>
      <vt:lpstr>The Problem with using NPV to Value Options</vt:lpstr>
      <vt:lpstr>Correct Discount Rates are Counter-Intuitive</vt:lpstr>
      <vt:lpstr>General Approach to Valuation</vt:lpstr>
      <vt:lpstr> Extension to Many Underlying Variables </vt:lpstr>
      <vt:lpstr>Estimating the Market Price of Risk Using CAPM (equation 36.2)</vt:lpstr>
      <vt:lpstr>Types of Options</vt:lpstr>
      <vt:lpstr>    Example of Application of Real Options Approach to Valuing Amazon.com at end of 1999 (Business Snapshot 36.1; Schwartz and Moon)</vt:lpstr>
      <vt:lpstr>Example</vt:lpstr>
      <vt:lpstr>The Process for the Commodity Price</vt:lpstr>
      <vt:lpstr>The Tree of Commodity Prices (Figure 36.1)</vt:lpstr>
      <vt:lpstr>Valuation of Base Project (Figure 36.2)</vt:lpstr>
      <vt:lpstr>Valuation of Option to Abandon (Figure 36.3) No Salvage Value; No Further Payments</vt:lpstr>
      <vt:lpstr>Value of Expansion Option; Figure 36.4 (Company Can Increase Scale of Project by 20% for $2 million)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Options</dc:title>
  <dc:subject>Options, Futures, and Other Derivatives, 11e</dc:subject>
  <dc:creator>John C. Hull</dc:creator>
  <cp:keywords>Chapter 36</cp:keywords>
  <dc:description>Copyright 2021 by John C. Hull. All Rights Reserved. Published 2021</dc:description>
  <cp:lastModifiedBy>John Hull</cp:lastModifiedBy>
  <cp:revision>24</cp:revision>
  <dcterms:created xsi:type="dcterms:W3CDTF">2008-05-30T08:49:59Z</dcterms:created>
  <dcterms:modified xsi:type="dcterms:W3CDTF">2020-10-03T19:11:09Z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