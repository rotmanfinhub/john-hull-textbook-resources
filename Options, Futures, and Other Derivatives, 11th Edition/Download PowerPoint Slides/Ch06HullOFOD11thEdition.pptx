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8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7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32"/>
  </p:notesMasterIdLst>
  <p:sldIdLst>
    <p:sldId id="256" r:id="rId2"/>
    <p:sldId id="284" r:id="rId3"/>
    <p:sldId id="282" r:id="rId4"/>
    <p:sldId id="285" r:id="rId5"/>
    <p:sldId id="286" r:id="rId6"/>
    <p:sldId id="287" r:id="rId7"/>
    <p:sldId id="28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90" r:id="rId16"/>
    <p:sldId id="266" r:id="rId17"/>
    <p:sldId id="291" r:id="rId18"/>
    <p:sldId id="292" r:id="rId19"/>
    <p:sldId id="293" r:id="rId20"/>
    <p:sldId id="270" r:id="rId21"/>
    <p:sldId id="271" r:id="rId22"/>
    <p:sldId id="283" r:id="rId23"/>
    <p:sldId id="274" r:id="rId24"/>
    <p:sldId id="275" r:id="rId25"/>
    <p:sldId id="276" r:id="rId26"/>
    <p:sldId id="278" r:id="rId27"/>
    <p:sldId id="279" r:id="rId28"/>
    <p:sldId id="280" r:id="rId29"/>
    <p:sldId id="281" r:id="rId30"/>
    <p:sldId id="289" r:id="rId3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2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3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D2E0925-ECC4-4D63-9DA0-B62188D79375}" type="datetimeFigureOut">
              <a:rPr lang="en-US"/>
              <a:pPr>
                <a:defRPr/>
              </a:pPr>
              <a:t>9/30/2020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1E1DAC7-F67B-4FF4-B20D-E8F5B76B34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935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102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7419859-1E24-41E0-AEBF-FA38D80C5BB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19729383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CB941D3-65C8-41AD-81C7-851579BA9531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92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5C6CA5-F180-4C16-9ED3-5ACB278FDF4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63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B702108-10C9-4D4B-8AC4-6500541FFDD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74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17AC8D-0196-487B-A7D5-C3D15BBE977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14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4343C89-26DF-4E5A-BAB0-3DEBFB67AF4D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92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E6F438-AB66-4179-8DC6-D6CF6E93956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0630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9631A9C-C8BC-4EAB-BCB3-774D3CC3DF7F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4251814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E8D958A9-C7A0-4ADA-9432-A893CDF53D3B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7182096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380A4D0-1F3A-472D-A691-5E9D1ABB2B8D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40453505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B0774DA-53F7-4FC5-8278-3148905ED493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7694218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7272ABE7-58EC-479C-BAA6-D160F4BB2B2F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49155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6" name="Rectangle 1027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825538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03085D9-EA3B-4DA2-8909-924F8B44C1B7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9627183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7BA8EF4-2920-49F7-A0A9-3F38305A8CE7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2657714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68E10F5-7507-4053-82C7-A68EAF6E677B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1850916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404FFA0-5A7D-47CE-9237-0FADCD9C3D3D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310670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E424C10-4C63-4D57-9431-6296C09E9F97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4317164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542BA93-6A1C-46E0-BF0E-29B71A2C56BA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15329608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506BE3D-C69C-4F8C-BF8E-5A3607A208E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018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CEB9BEF-C0B8-4847-BAF4-DBF66601189D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5745523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758271-604C-4F6D-A9C2-6852A18B3D20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40916281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95C9908-0A3E-40DF-AF45-B61B9D390832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02484172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69FC3FB-E0F6-4260-8D93-C7FA1AD69AA5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27598500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2B1B889-48A4-42F4-99EC-7DA232C3C0C7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1931793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490511-4949-4330-8B59-EC0CE1F9F411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8426104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167C5BF-279F-4A9C-9264-ECD20ACB4D88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7388"/>
            <a:ext cx="4568825" cy="34258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CA" altLang="en-US" smtClean="0"/>
          </a:p>
        </p:txBody>
      </p:sp>
    </p:spTree>
    <p:extLst>
      <p:ext uri="{BB962C8B-B14F-4D97-AF65-F5344CB8AC3E}">
        <p14:creationId xmlns:p14="http://schemas.microsoft.com/office/powerpoint/2010/main" val="33195682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9427C5B-97A9-4AE7-92F6-F64F6B26C020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7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 userDrawn="1"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grpSp>
          <p:nvGrpSpPr>
            <p:cNvPr id="6" name="Group 4"/>
            <p:cNvGrpSpPr>
              <a:grpSpLocks/>
            </p:cNvGrpSpPr>
            <p:nvPr userDrawn="1"/>
          </p:nvGrpSpPr>
          <p:grpSpPr bwMode="auto">
            <a:xfrm>
              <a:off x="-1261" y="-157"/>
              <a:ext cx="7021" cy="1190"/>
              <a:chOff x="-1261" y="-154"/>
              <a:chExt cx="7021" cy="1190"/>
            </a:xfrm>
          </p:grpSpPr>
          <p:sp>
            <p:nvSpPr>
              <p:cNvPr id="8" name="Freeform 5"/>
              <p:cNvSpPr>
                <a:spLocks/>
              </p:cNvSpPr>
              <p:nvPr userDrawn="1"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4848 w 4848"/>
                  <a:gd name="T1" fmla="*/ 432 h 432"/>
                  <a:gd name="T2" fmla="*/ 0 w 4848"/>
                  <a:gd name="T3" fmla="*/ 432 h 432"/>
                  <a:gd name="T4" fmla="*/ 0 w 4848"/>
                  <a:gd name="T5" fmla="*/ 0 h 432"/>
                  <a:gd name="T6" fmla="*/ 4848 w 4848"/>
                  <a:gd name="T7" fmla="*/ 0 h 432"/>
                  <a:gd name="T8" fmla="*/ 4848 w 4848"/>
                  <a:gd name="T9" fmla="*/ 432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 userDrawn="1"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 userDrawn="1"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5 w 15"/>
                    <a:gd name="T1" fmla="*/ 11 h 23"/>
                    <a:gd name="T2" fmla="*/ 15 w 15"/>
                    <a:gd name="T3" fmla="*/ 5 h 23"/>
                    <a:gd name="T4" fmla="*/ 13 w 15"/>
                    <a:gd name="T5" fmla="*/ 17 h 23"/>
                    <a:gd name="T6" fmla="*/ 5 w 15"/>
                    <a:gd name="T7" fmla="*/ 11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 userDrawn="1"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13 h 23"/>
                    <a:gd name="T2" fmla="*/ 11 w 20"/>
                    <a:gd name="T3" fmla="*/ 3 h 23"/>
                    <a:gd name="T4" fmla="*/ 7 w 20"/>
                    <a:gd name="T5" fmla="*/ 19 h 23"/>
                    <a:gd name="T6" fmla="*/ 3 w 20"/>
                    <a:gd name="T7" fmla="*/ 13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 userDrawn="1"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16 w 30"/>
                    <a:gd name="T1" fmla="*/ 33 h 42"/>
                    <a:gd name="T2" fmla="*/ 8 w 30"/>
                    <a:gd name="T3" fmla="*/ 21 h 42"/>
                    <a:gd name="T4" fmla="*/ 0 w 30"/>
                    <a:gd name="T5" fmla="*/ 9 h 42"/>
                    <a:gd name="T6" fmla="*/ 16 w 30"/>
                    <a:gd name="T7" fmla="*/ 3 h 42"/>
                    <a:gd name="T8" fmla="*/ 30 w 30"/>
                    <a:gd name="T9" fmla="*/ 23 h 42"/>
                    <a:gd name="T10" fmla="*/ 28 w 30"/>
                    <a:gd name="T11" fmla="*/ 31 h 42"/>
                    <a:gd name="T12" fmla="*/ 16 w 30"/>
                    <a:gd name="T13" fmla="*/ 33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 userDrawn="1"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16 h 16"/>
                    <a:gd name="T2" fmla="*/ 3 w 25"/>
                    <a:gd name="T3" fmla="*/ 8 h 16"/>
                    <a:gd name="T4" fmla="*/ 15 w 25"/>
                    <a:gd name="T5" fmla="*/ 0 h 16"/>
                    <a:gd name="T6" fmla="*/ 15 w 25"/>
                    <a:gd name="T7" fmla="*/ 16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 userDrawn="1"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24 h 46"/>
                    <a:gd name="T2" fmla="*/ 30 w 65"/>
                    <a:gd name="T3" fmla="*/ 4 h 46"/>
                    <a:gd name="T4" fmla="*/ 42 w 65"/>
                    <a:gd name="T5" fmla="*/ 0 h 46"/>
                    <a:gd name="T6" fmla="*/ 58 w 65"/>
                    <a:gd name="T7" fmla="*/ 12 h 46"/>
                    <a:gd name="T8" fmla="*/ 32 w 65"/>
                    <a:gd name="T9" fmla="*/ 26 h 46"/>
                    <a:gd name="T10" fmla="*/ 12 w 65"/>
                    <a:gd name="T11" fmla="*/ 46 h 46"/>
                    <a:gd name="T12" fmla="*/ 8 w 65"/>
                    <a:gd name="T13" fmla="*/ 20 h 46"/>
                    <a:gd name="T14" fmla="*/ 12 w 65"/>
                    <a:gd name="T15" fmla="*/ 14 h 46"/>
                    <a:gd name="T16" fmla="*/ 14 w 65"/>
                    <a:gd name="T17" fmla="*/ 24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 userDrawn="1"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31 h 47"/>
                    <a:gd name="T2" fmla="*/ 18 w 69"/>
                    <a:gd name="T3" fmla="*/ 25 h 47"/>
                    <a:gd name="T4" fmla="*/ 52 w 69"/>
                    <a:gd name="T5" fmla="*/ 1 h 47"/>
                    <a:gd name="T6" fmla="*/ 64 w 69"/>
                    <a:gd name="T7" fmla="*/ 3 h 47"/>
                    <a:gd name="T8" fmla="*/ 50 w 69"/>
                    <a:gd name="T9" fmla="*/ 19 h 47"/>
                    <a:gd name="T10" fmla="*/ 28 w 69"/>
                    <a:gd name="T11" fmla="*/ 33 h 47"/>
                    <a:gd name="T12" fmla="*/ 22 w 69"/>
                    <a:gd name="T13" fmla="*/ 47 h 47"/>
                    <a:gd name="T14" fmla="*/ 16 w 69"/>
                    <a:gd name="T15" fmla="*/ 45 h 47"/>
                    <a:gd name="T16" fmla="*/ 12 w 69"/>
                    <a:gd name="T17" fmla="*/ 39 h 47"/>
                    <a:gd name="T18" fmla="*/ 0 w 69"/>
                    <a:gd name="T19" fmla="*/ 35 h 47"/>
                    <a:gd name="T20" fmla="*/ 0 w 69"/>
                    <a:gd name="T21" fmla="*/ 31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 userDrawn="1"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4 h 277"/>
                    <a:gd name="T2" fmla="*/ 36 w 355"/>
                    <a:gd name="T3" fmla="*/ 18 h 277"/>
                    <a:gd name="T4" fmla="*/ 46 w 355"/>
                    <a:gd name="T5" fmla="*/ 30 h 277"/>
                    <a:gd name="T6" fmla="*/ 76 w 355"/>
                    <a:gd name="T7" fmla="*/ 52 h 277"/>
                    <a:gd name="T8" fmla="*/ 92 w 355"/>
                    <a:gd name="T9" fmla="*/ 66 h 277"/>
                    <a:gd name="T10" fmla="*/ 122 w 355"/>
                    <a:gd name="T11" fmla="*/ 98 h 277"/>
                    <a:gd name="T12" fmla="*/ 136 w 355"/>
                    <a:gd name="T13" fmla="*/ 128 h 277"/>
                    <a:gd name="T14" fmla="*/ 148 w 355"/>
                    <a:gd name="T15" fmla="*/ 132 h 277"/>
                    <a:gd name="T16" fmla="*/ 154 w 355"/>
                    <a:gd name="T17" fmla="*/ 150 h 277"/>
                    <a:gd name="T18" fmla="*/ 176 w 355"/>
                    <a:gd name="T19" fmla="*/ 152 h 277"/>
                    <a:gd name="T20" fmla="*/ 170 w 355"/>
                    <a:gd name="T21" fmla="*/ 196 h 277"/>
                    <a:gd name="T22" fmla="*/ 180 w 355"/>
                    <a:gd name="T23" fmla="*/ 224 h 277"/>
                    <a:gd name="T24" fmla="*/ 198 w 355"/>
                    <a:gd name="T25" fmla="*/ 232 h 277"/>
                    <a:gd name="T26" fmla="*/ 216 w 355"/>
                    <a:gd name="T27" fmla="*/ 234 h 277"/>
                    <a:gd name="T28" fmla="*/ 236 w 355"/>
                    <a:gd name="T29" fmla="*/ 242 h 277"/>
                    <a:gd name="T30" fmla="*/ 254 w 355"/>
                    <a:gd name="T31" fmla="*/ 236 h 277"/>
                    <a:gd name="T32" fmla="*/ 272 w 355"/>
                    <a:gd name="T33" fmla="*/ 248 h 277"/>
                    <a:gd name="T34" fmla="*/ 296 w 355"/>
                    <a:gd name="T35" fmla="*/ 256 h 277"/>
                    <a:gd name="T36" fmla="*/ 314 w 355"/>
                    <a:gd name="T37" fmla="*/ 264 h 277"/>
                    <a:gd name="T38" fmla="*/ 352 w 355"/>
                    <a:gd name="T39" fmla="*/ 266 h 277"/>
                    <a:gd name="T40" fmla="*/ 342 w 355"/>
                    <a:gd name="T41" fmla="*/ 274 h 277"/>
                    <a:gd name="T42" fmla="*/ 322 w 355"/>
                    <a:gd name="T43" fmla="*/ 272 h 277"/>
                    <a:gd name="T44" fmla="*/ 300 w 355"/>
                    <a:gd name="T45" fmla="*/ 270 h 277"/>
                    <a:gd name="T46" fmla="*/ 288 w 355"/>
                    <a:gd name="T47" fmla="*/ 266 h 277"/>
                    <a:gd name="T48" fmla="*/ 252 w 355"/>
                    <a:gd name="T49" fmla="*/ 264 h 277"/>
                    <a:gd name="T50" fmla="*/ 234 w 355"/>
                    <a:gd name="T51" fmla="*/ 260 h 277"/>
                    <a:gd name="T52" fmla="*/ 172 w 355"/>
                    <a:gd name="T53" fmla="*/ 242 h 277"/>
                    <a:gd name="T54" fmla="*/ 160 w 355"/>
                    <a:gd name="T55" fmla="*/ 216 h 277"/>
                    <a:gd name="T56" fmla="*/ 126 w 355"/>
                    <a:gd name="T57" fmla="*/ 200 h 277"/>
                    <a:gd name="T58" fmla="*/ 108 w 355"/>
                    <a:gd name="T59" fmla="*/ 186 h 277"/>
                    <a:gd name="T60" fmla="*/ 94 w 355"/>
                    <a:gd name="T61" fmla="*/ 158 h 277"/>
                    <a:gd name="T62" fmla="*/ 68 w 355"/>
                    <a:gd name="T63" fmla="*/ 108 h 277"/>
                    <a:gd name="T64" fmla="*/ 64 w 355"/>
                    <a:gd name="T65" fmla="*/ 102 h 277"/>
                    <a:gd name="T66" fmla="*/ 58 w 355"/>
                    <a:gd name="T67" fmla="*/ 100 h 277"/>
                    <a:gd name="T68" fmla="*/ 54 w 355"/>
                    <a:gd name="T69" fmla="*/ 88 h 277"/>
                    <a:gd name="T70" fmla="*/ 38 w 355"/>
                    <a:gd name="T71" fmla="*/ 58 h 277"/>
                    <a:gd name="T72" fmla="*/ 20 w 355"/>
                    <a:gd name="T73" fmla="*/ 40 h 277"/>
                    <a:gd name="T74" fmla="*/ 4 w 355"/>
                    <a:gd name="T75" fmla="*/ 22 h 277"/>
                    <a:gd name="T76" fmla="*/ 10 w 355"/>
                    <a:gd name="T77" fmla="*/ 2 h 277"/>
                    <a:gd name="T78" fmla="*/ 10 w 355"/>
                    <a:gd name="T79" fmla="*/ 4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 userDrawn="1"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66 h 206"/>
                    <a:gd name="T2" fmla="*/ 66 w 156"/>
                    <a:gd name="T3" fmla="*/ 58 h 206"/>
                    <a:gd name="T4" fmla="*/ 68 w 156"/>
                    <a:gd name="T5" fmla="*/ 52 h 206"/>
                    <a:gd name="T6" fmla="*/ 80 w 156"/>
                    <a:gd name="T7" fmla="*/ 44 h 206"/>
                    <a:gd name="T8" fmla="*/ 106 w 156"/>
                    <a:gd name="T9" fmla="*/ 22 h 206"/>
                    <a:gd name="T10" fmla="*/ 112 w 156"/>
                    <a:gd name="T11" fmla="*/ 4 h 206"/>
                    <a:gd name="T12" fmla="*/ 124 w 156"/>
                    <a:gd name="T13" fmla="*/ 0 h 206"/>
                    <a:gd name="T14" fmla="*/ 150 w 156"/>
                    <a:gd name="T15" fmla="*/ 28 h 206"/>
                    <a:gd name="T16" fmla="*/ 146 w 156"/>
                    <a:gd name="T17" fmla="*/ 44 h 206"/>
                    <a:gd name="T18" fmla="*/ 126 w 156"/>
                    <a:gd name="T19" fmla="*/ 64 h 206"/>
                    <a:gd name="T20" fmla="*/ 132 w 156"/>
                    <a:gd name="T21" fmla="*/ 94 h 206"/>
                    <a:gd name="T22" fmla="*/ 142 w 156"/>
                    <a:gd name="T23" fmla="*/ 110 h 206"/>
                    <a:gd name="T24" fmla="*/ 146 w 156"/>
                    <a:gd name="T25" fmla="*/ 128 h 206"/>
                    <a:gd name="T26" fmla="*/ 128 w 156"/>
                    <a:gd name="T27" fmla="*/ 128 h 206"/>
                    <a:gd name="T28" fmla="*/ 116 w 156"/>
                    <a:gd name="T29" fmla="*/ 146 h 206"/>
                    <a:gd name="T30" fmla="*/ 104 w 156"/>
                    <a:gd name="T31" fmla="*/ 156 h 206"/>
                    <a:gd name="T32" fmla="*/ 100 w 156"/>
                    <a:gd name="T33" fmla="*/ 198 h 206"/>
                    <a:gd name="T34" fmla="*/ 88 w 156"/>
                    <a:gd name="T35" fmla="*/ 202 h 206"/>
                    <a:gd name="T36" fmla="*/ 82 w 156"/>
                    <a:gd name="T37" fmla="*/ 206 h 206"/>
                    <a:gd name="T38" fmla="*/ 76 w 156"/>
                    <a:gd name="T39" fmla="*/ 202 h 206"/>
                    <a:gd name="T40" fmla="*/ 72 w 156"/>
                    <a:gd name="T41" fmla="*/ 190 h 206"/>
                    <a:gd name="T42" fmla="*/ 60 w 156"/>
                    <a:gd name="T43" fmla="*/ 186 h 206"/>
                    <a:gd name="T44" fmla="*/ 42 w 156"/>
                    <a:gd name="T45" fmla="*/ 194 h 206"/>
                    <a:gd name="T46" fmla="*/ 28 w 156"/>
                    <a:gd name="T47" fmla="*/ 186 h 206"/>
                    <a:gd name="T48" fmla="*/ 10 w 156"/>
                    <a:gd name="T49" fmla="*/ 148 h 206"/>
                    <a:gd name="T50" fmla="*/ 4 w 156"/>
                    <a:gd name="T51" fmla="*/ 130 h 206"/>
                    <a:gd name="T52" fmla="*/ 0 w 156"/>
                    <a:gd name="T53" fmla="*/ 118 h 206"/>
                    <a:gd name="T54" fmla="*/ 20 w 156"/>
                    <a:gd name="T55" fmla="*/ 96 h 206"/>
                    <a:gd name="T56" fmla="*/ 32 w 156"/>
                    <a:gd name="T57" fmla="*/ 104 h 206"/>
                    <a:gd name="T58" fmla="*/ 34 w 156"/>
                    <a:gd name="T59" fmla="*/ 80 h 206"/>
                    <a:gd name="T60" fmla="*/ 52 w 156"/>
                    <a:gd name="T61" fmla="*/ 70 h 206"/>
                    <a:gd name="T62" fmla="*/ 54 w 156"/>
                    <a:gd name="T63" fmla="*/ 66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 userDrawn="1"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32 h 38"/>
                    <a:gd name="T2" fmla="*/ 18 w 109"/>
                    <a:gd name="T3" fmla="*/ 10 h 38"/>
                    <a:gd name="T4" fmla="*/ 46 w 109"/>
                    <a:gd name="T5" fmla="*/ 20 h 38"/>
                    <a:gd name="T6" fmla="*/ 72 w 109"/>
                    <a:gd name="T7" fmla="*/ 14 h 38"/>
                    <a:gd name="T8" fmla="*/ 90 w 109"/>
                    <a:gd name="T9" fmla="*/ 0 h 38"/>
                    <a:gd name="T10" fmla="*/ 76 w 109"/>
                    <a:gd name="T11" fmla="*/ 26 h 38"/>
                    <a:gd name="T12" fmla="*/ 60 w 109"/>
                    <a:gd name="T13" fmla="*/ 38 h 38"/>
                    <a:gd name="T14" fmla="*/ 42 w 109"/>
                    <a:gd name="T15" fmla="*/ 32 h 38"/>
                    <a:gd name="T16" fmla="*/ 14 w 109"/>
                    <a:gd name="T17" fmla="*/ 30 h 38"/>
                    <a:gd name="T18" fmla="*/ 4 w 109"/>
                    <a:gd name="T19" fmla="*/ 32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 userDrawn="1"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18 h 104"/>
                    <a:gd name="T2" fmla="*/ 18 w 76"/>
                    <a:gd name="T3" fmla="*/ 0 h 104"/>
                    <a:gd name="T4" fmla="*/ 34 w 76"/>
                    <a:gd name="T5" fmla="*/ 18 h 104"/>
                    <a:gd name="T6" fmla="*/ 62 w 76"/>
                    <a:gd name="T7" fmla="*/ 4 h 104"/>
                    <a:gd name="T8" fmla="*/ 46 w 76"/>
                    <a:gd name="T9" fmla="*/ 34 h 104"/>
                    <a:gd name="T10" fmla="*/ 54 w 76"/>
                    <a:gd name="T11" fmla="*/ 48 h 104"/>
                    <a:gd name="T12" fmla="*/ 58 w 76"/>
                    <a:gd name="T13" fmla="*/ 60 h 104"/>
                    <a:gd name="T14" fmla="*/ 46 w 76"/>
                    <a:gd name="T15" fmla="*/ 74 h 104"/>
                    <a:gd name="T16" fmla="*/ 34 w 76"/>
                    <a:gd name="T17" fmla="*/ 60 h 104"/>
                    <a:gd name="T18" fmla="*/ 22 w 76"/>
                    <a:gd name="T19" fmla="*/ 48 h 104"/>
                    <a:gd name="T20" fmla="*/ 28 w 76"/>
                    <a:gd name="T21" fmla="*/ 68 h 104"/>
                    <a:gd name="T22" fmla="*/ 30 w 76"/>
                    <a:gd name="T23" fmla="*/ 74 h 104"/>
                    <a:gd name="T24" fmla="*/ 20 w 76"/>
                    <a:gd name="T25" fmla="*/ 104 h 104"/>
                    <a:gd name="T26" fmla="*/ 12 w 76"/>
                    <a:gd name="T27" fmla="*/ 102 h 104"/>
                    <a:gd name="T28" fmla="*/ 8 w 76"/>
                    <a:gd name="T29" fmla="*/ 90 h 104"/>
                    <a:gd name="T30" fmla="*/ 0 w 76"/>
                    <a:gd name="T31" fmla="*/ 54 h 104"/>
                    <a:gd name="T32" fmla="*/ 2 w 76"/>
                    <a:gd name="T33" fmla="*/ 30 h 104"/>
                    <a:gd name="T34" fmla="*/ 8 w 76"/>
                    <a:gd name="T35" fmla="*/ 1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 userDrawn="1"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28 h 61"/>
                    <a:gd name="T2" fmla="*/ 13 w 37"/>
                    <a:gd name="T3" fmla="*/ 0 h 61"/>
                    <a:gd name="T4" fmla="*/ 15 w 37"/>
                    <a:gd name="T5" fmla="*/ 28 h 61"/>
                    <a:gd name="T6" fmla="*/ 37 w 37"/>
                    <a:gd name="T7" fmla="*/ 38 h 61"/>
                    <a:gd name="T8" fmla="*/ 19 w 37"/>
                    <a:gd name="T9" fmla="*/ 44 h 61"/>
                    <a:gd name="T10" fmla="*/ 5 w 37"/>
                    <a:gd name="T11" fmla="*/ 58 h 61"/>
                    <a:gd name="T12" fmla="*/ 1 w 37"/>
                    <a:gd name="T13" fmla="*/ 34 h 61"/>
                    <a:gd name="T14" fmla="*/ 3 w 37"/>
                    <a:gd name="T15" fmla="*/ 28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 userDrawn="1"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9 w 49"/>
                    <a:gd name="T3" fmla="*/ 0 h 29"/>
                    <a:gd name="T4" fmla="*/ 49 w 49"/>
                    <a:gd name="T5" fmla="*/ 16 h 29"/>
                    <a:gd name="T6" fmla="*/ 35 w 49"/>
                    <a:gd name="T7" fmla="*/ 14 h 29"/>
                    <a:gd name="T8" fmla="*/ 3 w 49"/>
                    <a:gd name="T9" fmla="*/ 16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 userDrawn="1"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38 h 48"/>
                    <a:gd name="T2" fmla="*/ 15 w 61"/>
                    <a:gd name="T3" fmla="*/ 26 h 48"/>
                    <a:gd name="T4" fmla="*/ 3 w 61"/>
                    <a:gd name="T5" fmla="*/ 22 h 48"/>
                    <a:gd name="T6" fmla="*/ 13 w 61"/>
                    <a:gd name="T7" fmla="*/ 8 h 48"/>
                    <a:gd name="T8" fmla="*/ 25 w 61"/>
                    <a:gd name="T9" fmla="*/ 0 h 48"/>
                    <a:gd name="T10" fmla="*/ 49 w 61"/>
                    <a:gd name="T11" fmla="*/ 10 h 48"/>
                    <a:gd name="T12" fmla="*/ 53 w 61"/>
                    <a:gd name="T13" fmla="*/ 20 h 48"/>
                    <a:gd name="T14" fmla="*/ 61 w 61"/>
                    <a:gd name="T15" fmla="*/ 32 h 48"/>
                    <a:gd name="T16" fmla="*/ 41 w 61"/>
                    <a:gd name="T17" fmla="*/ 38 h 48"/>
                    <a:gd name="T18" fmla="*/ 23 w 61"/>
                    <a:gd name="T19" fmla="*/ 44 h 48"/>
                    <a:gd name="T20" fmla="*/ 21 w 61"/>
                    <a:gd name="T21" fmla="*/ 38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 userDrawn="1"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28 h 182"/>
                    <a:gd name="T2" fmla="*/ 36 w 286"/>
                    <a:gd name="T3" fmla="*/ 14 h 182"/>
                    <a:gd name="T4" fmla="*/ 26 w 286"/>
                    <a:gd name="T5" fmla="*/ 30 h 182"/>
                    <a:gd name="T6" fmla="*/ 0 w 286"/>
                    <a:gd name="T7" fmla="*/ 24 h 182"/>
                    <a:gd name="T8" fmla="*/ 10 w 286"/>
                    <a:gd name="T9" fmla="*/ 42 h 182"/>
                    <a:gd name="T10" fmla="*/ 16 w 286"/>
                    <a:gd name="T11" fmla="*/ 62 h 182"/>
                    <a:gd name="T12" fmla="*/ 24 w 286"/>
                    <a:gd name="T13" fmla="*/ 48 h 182"/>
                    <a:gd name="T14" fmla="*/ 30 w 286"/>
                    <a:gd name="T15" fmla="*/ 44 h 182"/>
                    <a:gd name="T16" fmla="*/ 48 w 286"/>
                    <a:gd name="T17" fmla="*/ 56 h 182"/>
                    <a:gd name="T18" fmla="*/ 70 w 286"/>
                    <a:gd name="T19" fmla="*/ 62 h 182"/>
                    <a:gd name="T20" fmla="*/ 88 w 286"/>
                    <a:gd name="T21" fmla="*/ 72 h 182"/>
                    <a:gd name="T22" fmla="*/ 106 w 286"/>
                    <a:gd name="T23" fmla="*/ 102 h 182"/>
                    <a:gd name="T24" fmla="*/ 104 w 286"/>
                    <a:gd name="T25" fmla="*/ 122 h 182"/>
                    <a:gd name="T26" fmla="*/ 98 w 286"/>
                    <a:gd name="T27" fmla="*/ 134 h 182"/>
                    <a:gd name="T28" fmla="*/ 122 w 286"/>
                    <a:gd name="T29" fmla="*/ 128 h 182"/>
                    <a:gd name="T30" fmla="*/ 140 w 286"/>
                    <a:gd name="T31" fmla="*/ 140 h 182"/>
                    <a:gd name="T32" fmla="*/ 168 w 286"/>
                    <a:gd name="T33" fmla="*/ 148 h 182"/>
                    <a:gd name="T34" fmla="*/ 174 w 286"/>
                    <a:gd name="T35" fmla="*/ 146 h 182"/>
                    <a:gd name="T36" fmla="*/ 168 w 286"/>
                    <a:gd name="T37" fmla="*/ 134 h 182"/>
                    <a:gd name="T38" fmla="*/ 178 w 286"/>
                    <a:gd name="T39" fmla="*/ 136 h 182"/>
                    <a:gd name="T40" fmla="*/ 186 w 286"/>
                    <a:gd name="T41" fmla="*/ 118 h 182"/>
                    <a:gd name="T42" fmla="*/ 202 w 286"/>
                    <a:gd name="T43" fmla="*/ 122 h 182"/>
                    <a:gd name="T44" fmla="*/ 214 w 286"/>
                    <a:gd name="T45" fmla="*/ 130 h 182"/>
                    <a:gd name="T46" fmla="*/ 244 w 286"/>
                    <a:gd name="T47" fmla="*/ 168 h 182"/>
                    <a:gd name="T48" fmla="*/ 262 w 286"/>
                    <a:gd name="T49" fmla="*/ 178 h 182"/>
                    <a:gd name="T50" fmla="*/ 284 w 286"/>
                    <a:gd name="T51" fmla="*/ 170 h 182"/>
                    <a:gd name="T52" fmla="*/ 268 w 286"/>
                    <a:gd name="T53" fmla="*/ 160 h 182"/>
                    <a:gd name="T54" fmla="*/ 256 w 286"/>
                    <a:gd name="T55" fmla="*/ 138 h 182"/>
                    <a:gd name="T56" fmla="*/ 250 w 286"/>
                    <a:gd name="T57" fmla="*/ 132 h 182"/>
                    <a:gd name="T58" fmla="*/ 248 w 286"/>
                    <a:gd name="T59" fmla="*/ 122 h 182"/>
                    <a:gd name="T60" fmla="*/ 236 w 286"/>
                    <a:gd name="T61" fmla="*/ 116 h 182"/>
                    <a:gd name="T62" fmla="*/ 240 w 286"/>
                    <a:gd name="T63" fmla="*/ 96 h 182"/>
                    <a:gd name="T64" fmla="*/ 220 w 286"/>
                    <a:gd name="T65" fmla="*/ 86 h 182"/>
                    <a:gd name="T66" fmla="*/ 210 w 286"/>
                    <a:gd name="T67" fmla="*/ 70 h 182"/>
                    <a:gd name="T68" fmla="*/ 190 w 286"/>
                    <a:gd name="T69" fmla="*/ 54 h 182"/>
                    <a:gd name="T70" fmla="*/ 168 w 286"/>
                    <a:gd name="T71" fmla="*/ 38 h 182"/>
                    <a:gd name="T72" fmla="*/ 156 w 286"/>
                    <a:gd name="T73" fmla="*/ 34 h 182"/>
                    <a:gd name="T74" fmla="*/ 120 w 286"/>
                    <a:gd name="T75" fmla="*/ 16 h 182"/>
                    <a:gd name="T76" fmla="*/ 102 w 286"/>
                    <a:gd name="T77" fmla="*/ 4 h 182"/>
                    <a:gd name="T78" fmla="*/ 96 w 286"/>
                    <a:gd name="T79" fmla="*/ 0 h 182"/>
                    <a:gd name="T80" fmla="*/ 70 w 286"/>
                    <a:gd name="T81" fmla="*/ 10 h 182"/>
                    <a:gd name="T82" fmla="*/ 56 w 286"/>
                    <a:gd name="T83" fmla="*/ 32 h 182"/>
                    <a:gd name="T84" fmla="*/ 46 w 286"/>
                    <a:gd name="T85" fmla="*/ 28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 userDrawn="1"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58 h 78"/>
                    <a:gd name="T2" fmla="*/ 27 w 78"/>
                    <a:gd name="T3" fmla="*/ 60 h 78"/>
                    <a:gd name="T4" fmla="*/ 45 w 78"/>
                    <a:gd name="T5" fmla="*/ 48 h 78"/>
                    <a:gd name="T6" fmla="*/ 57 w 78"/>
                    <a:gd name="T7" fmla="*/ 30 h 78"/>
                    <a:gd name="T8" fmla="*/ 43 w 78"/>
                    <a:gd name="T9" fmla="*/ 14 h 78"/>
                    <a:gd name="T10" fmla="*/ 43 w 78"/>
                    <a:gd name="T11" fmla="*/ 4 h 78"/>
                    <a:gd name="T12" fmla="*/ 71 w 78"/>
                    <a:gd name="T13" fmla="*/ 26 h 78"/>
                    <a:gd name="T14" fmla="*/ 67 w 78"/>
                    <a:gd name="T15" fmla="*/ 54 h 78"/>
                    <a:gd name="T16" fmla="*/ 33 w 78"/>
                    <a:gd name="T17" fmla="*/ 78 h 78"/>
                    <a:gd name="T18" fmla="*/ 9 w 78"/>
                    <a:gd name="T19" fmla="*/ 66 h 78"/>
                    <a:gd name="T20" fmla="*/ 3 w 78"/>
                    <a:gd name="T21" fmla="*/ 62 h 78"/>
                    <a:gd name="T22" fmla="*/ 1 w 78"/>
                    <a:gd name="T23" fmla="*/ 58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 userDrawn="1"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4 h 18"/>
                    <a:gd name="T2" fmla="*/ 3 w 17"/>
                    <a:gd name="T3" fmla="*/ 14 h 18"/>
                    <a:gd name="T4" fmla="*/ 3 w 17"/>
                    <a:gd name="T5" fmla="*/ 4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 userDrawn="1"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14 h 22"/>
                    <a:gd name="T2" fmla="*/ 14 w 26"/>
                    <a:gd name="T3" fmla="*/ 0 h 22"/>
                    <a:gd name="T4" fmla="*/ 14 w 26"/>
                    <a:gd name="T5" fmla="*/ 22 h 22"/>
                    <a:gd name="T6" fmla="*/ 8 w 26"/>
                    <a:gd name="T7" fmla="*/ 14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 userDrawn="1"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7 w 20"/>
                    <a:gd name="T3" fmla="*/ 2 h 15"/>
                    <a:gd name="T4" fmla="*/ 9 w 20"/>
                    <a:gd name="T5" fmla="*/ 12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 userDrawn="1"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12 h 15"/>
                    <a:gd name="T2" fmla="*/ 15 w 20"/>
                    <a:gd name="T3" fmla="*/ 2 h 15"/>
                    <a:gd name="T4" fmla="*/ 15 w 20"/>
                    <a:gd name="T5" fmla="*/ 14 h 15"/>
                    <a:gd name="T6" fmla="*/ 7 w 20"/>
                    <a:gd name="T7" fmla="*/ 12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 userDrawn="1"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50 h 80"/>
                    <a:gd name="T2" fmla="*/ 14 w 80"/>
                    <a:gd name="T3" fmla="*/ 24 h 80"/>
                    <a:gd name="T4" fmla="*/ 26 w 80"/>
                    <a:gd name="T5" fmla="*/ 20 h 80"/>
                    <a:gd name="T6" fmla="*/ 48 w 80"/>
                    <a:gd name="T7" fmla="*/ 18 h 80"/>
                    <a:gd name="T8" fmla="*/ 58 w 80"/>
                    <a:gd name="T9" fmla="*/ 0 h 80"/>
                    <a:gd name="T10" fmla="*/ 80 w 80"/>
                    <a:gd name="T11" fmla="*/ 40 h 80"/>
                    <a:gd name="T12" fmla="*/ 70 w 80"/>
                    <a:gd name="T13" fmla="*/ 56 h 80"/>
                    <a:gd name="T14" fmla="*/ 54 w 80"/>
                    <a:gd name="T15" fmla="*/ 62 h 80"/>
                    <a:gd name="T16" fmla="*/ 48 w 80"/>
                    <a:gd name="T17" fmla="*/ 80 h 80"/>
                    <a:gd name="T18" fmla="*/ 32 w 80"/>
                    <a:gd name="T19" fmla="*/ 68 h 80"/>
                    <a:gd name="T20" fmla="*/ 38 w 80"/>
                    <a:gd name="T21" fmla="*/ 52 h 80"/>
                    <a:gd name="T22" fmla="*/ 30 w 80"/>
                    <a:gd name="T23" fmla="*/ 28 h 80"/>
                    <a:gd name="T24" fmla="*/ 20 w 80"/>
                    <a:gd name="T25" fmla="*/ 48 h 80"/>
                    <a:gd name="T26" fmla="*/ 8 w 80"/>
                    <a:gd name="T27" fmla="*/ 56 h 80"/>
                    <a:gd name="T28" fmla="*/ 0 w 80"/>
                    <a:gd name="T29" fmla="*/ 50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 userDrawn="1"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96 h 174"/>
                    <a:gd name="T2" fmla="*/ 26 w 94"/>
                    <a:gd name="T3" fmla="*/ 128 h 174"/>
                    <a:gd name="T4" fmla="*/ 32 w 94"/>
                    <a:gd name="T5" fmla="*/ 108 h 174"/>
                    <a:gd name="T6" fmla="*/ 52 w 94"/>
                    <a:gd name="T7" fmla="*/ 100 h 174"/>
                    <a:gd name="T8" fmla="*/ 46 w 94"/>
                    <a:gd name="T9" fmla="*/ 124 h 174"/>
                    <a:gd name="T10" fmla="*/ 66 w 94"/>
                    <a:gd name="T11" fmla="*/ 126 h 174"/>
                    <a:gd name="T12" fmla="*/ 76 w 94"/>
                    <a:gd name="T13" fmla="*/ 142 h 174"/>
                    <a:gd name="T14" fmla="*/ 58 w 94"/>
                    <a:gd name="T15" fmla="*/ 148 h 174"/>
                    <a:gd name="T16" fmla="*/ 74 w 94"/>
                    <a:gd name="T17" fmla="*/ 174 h 174"/>
                    <a:gd name="T18" fmla="*/ 84 w 94"/>
                    <a:gd name="T19" fmla="*/ 154 h 174"/>
                    <a:gd name="T20" fmla="*/ 82 w 94"/>
                    <a:gd name="T21" fmla="*/ 112 h 174"/>
                    <a:gd name="T22" fmla="*/ 60 w 94"/>
                    <a:gd name="T23" fmla="*/ 106 h 174"/>
                    <a:gd name="T24" fmla="*/ 50 w 94"/>
                    <a:gd name="T25" fmla="*/ 82 h 174"/>
                    <a:gd name="T26" fmla="*/ 34 w 94"/>
                    <a:gd name="T27" fmla="*/ 82 h 174"/>
                    <a:gd name="T28" fmla="*/ 30 w 94"/>
                    <a:gd name="T29" fmla="*/ 70 h 174"/>
                    <a:gd name="T30" fmla="*/ 42 w 94"/>
                    <a:gd name="T31" fmla="*/ 42 h 174"/>
                    <a:gd name="T32" fmla="*/ 30 w 94"/>
                    <a:gd name="T33" fmla="*/ 0 h 174"/>
                    <a:gd name="T34" fmla="*/ 18 w 94"/>
                    <a:gd name="T35" fmla="*/ 22 h 174"/>
                    <a:gd name="T36" fmla="*/ 4 w 94"/>
                    <a:gd name="T37" fmla="*/ 46 h 174"/>
                    <a:gd name="T38" fmla="*/ 14 w 94"/>
                    <a:gd name="T39" fmla="*/ 76 h 174"/>
                    <a:gd name="T40" fmla="*/ 14 w 94"/>
                    <a:gd name="T41" fmla="*/ 96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 userDrawn="1"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24 h 50"/>
                    <a:gd name="T2" fmla="*/ 12 w 32"/>
                    <a:gd name="T3" fmla="*/ 0 h 50"/>
                    <a:gd name="T4" fmla="*/ 20 w 32"/>
                    <a:gd name="T5" fmla="*/ 16 h 50"/>
                    <a:gd name="T6" fmla="*/ 22 w 32"/>
                    <a:gd name="T7" fmla="*/ 24 h 50"/>
                    <a:gd name="T8" fmla="*/ 28 w 32"/>
                    <a:gd name="T9" fmla="*/ 26 h 50"/>
                    <a:gd name="T10" fmla="*/ 32 w 32"/>
                    <a:gd name="T11" fmla="*/ 38 h 50"/>
                    <a:gd name="T12" fmla="*/ 18 w 32"/>
                    <a:gd name="T13" fmla="*/ 50 h 50"/>
                    <a:gd name="T14" fmla="*/ 6 w 32"/>
                    <a:gd name="T15" fmla="*/ 24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 userDrawn="1"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44 h 50"/>
                    <a:gd name="T2" fmla="*/ 22 w 43"/>
                    <a:gd name="T3" fmla="*/ 20 h 50"/>
                    <a:gd name="T4" fmla="*/ 36 w 43"/>
                    <a:gd name="T5" fmla="*/ 0 h 50"/>
                    <a:gd name="T6" fmla="*/ 24 w 43"/>
                    <a:gd name="T7" fmla="*/ 28 h 50"/>
                    <a:gd name="T8" fmla="*/ 2 w 43"/>
                    <a:gd name="T9" fmla="*/ 50 h 50"/>
                    <a:gd name="T10" fmla="*/ 0 w 43"/>
                    <a:gd name="T11" fmla="*/ 44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 userDrawn="1"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21 w 471"/>
                    <a:gd name="T1" fmla="*/ 280 h 281"/>
                    <a:gd name="T2" fmla="*/ 24 w 471"/>
                    <a:gd name="T3" fmla="*/ 250 h 281"/>
                    <a:gd name="T4" fmla="*/ 22 w 471"/>
                    <a:gd name="T5" fmla="*/ 245 h 281"/>
                    <a:gd name="T6" fmla="*/ 16 w 471"/>
                    <a:gd name="T7" fmla="*/ 218 h 281"/>
                    <a:gd name="T8" fmla="*/ 4 w 471"/>
                    <a:gd name="T9" fmla="*/ 215 h 281"/>
                    <a:gd name="T10" fmla="*/ 0 w 471"/>
                    <a:gd name="T11" fmla="*/ 191 h 281"/>
                    <a:gd name="T12" fmla="*/ 12 w 471"/>
                    <a:gd name="T13" fmla="*/ 180 h 281"/>
                    <a:gd name="T14" fmla="*/ 6 w 471"/>
                    <a:gd name="T15" fmla="*/ 165 h 281"/>
                    <a:gd name="T16" fmla="*/ 2 w 471"/>
                    <a:gd name="T17" fmla="*/ 160 h 281"/>
                    <a:gd name="T18" fmla="*/ 28 w 471"/>
                    <a:gd name="T19" fmla="*/ 120 h 281"/>
                    <a:gd name="T20" fmla="*/ 44 w 471"/>
                    <a:gd name="T21" fmla="*/ 96 h 281"/>
                    <a:gd name="T22" fmla="*/ 42 w 471"/>
                    <a:gd name="T23" fmla="*/ 70 h 281"/>
                    <a:gd name="T24" fmla="*/ 24 w 471"/>
                    <a:gd name="T25" fmla="*/ 43 h 281"/>
                    <a:gd name="T26" fmla="*/ 20 w 471"/>
                    <a:gd name="T27" fmla="*/ 32 h 281"/>
                    <a:gd name="T28" fmla="*/ 26 w 471"/>
                    <a:gd name="T29" fmla="*/ 36 h 281"/>
                    <a:gd name="T30" fmla="*/ 48 w 471"/>
                    <a:gd name="T31" fmla="*/ 35 h 281"/>
                    <a:gd name="T32" fmla="*/ 64 w 471"/>
                    <a:gd name="T33" fmla="*/ 11 h 281"/>
                    <a:gd name="T34" fmla="*/ 82 w 471"/>
                    <a:gd name="T35" fmla="*/ 0 h 281"/>
                    <a:gd name="T36" fmla="*/ 88 w 471"/>
                    <a:gd name="T37" fmla="*/ 2 h 281"/>
                    <a:gd name="T38" fmla="*/ 92 w 471"/>
                    <a:gd name="T39" fmla="*/ 9 h 281"/>
                    <a:gd name="T40" fmla="*/ 98 w 471"/>
                    <a:gd name="T41" fmla="*/ 5 h 281"/>
                    <a:gd name="T42" fmla="*/ 110 w 471"/>
                    <a:gd name="T43" fmla="*/ 8 h 281"/>
                    <a:gd name="T44" fmla="*/ 116 w 471"/>
                    <a:gd name="T45" fmla="*/ 9 h 281"/>
                    <a:gd name="T46" fmla="*/ 141 w 471"/>
                    <a:gd name="T47" fmla="*/ 14 h 281"/>
                    <a:gd name="T48" fmla="*/ 155 w 471"/>
                    <a:gd name="T49" fmla="*/ 24 h 281"/>
                    <a:gd name="T50" fmla="*/ 167 w 471"/>
                    <a:gd name="T51" fmla="*/ 17 h 281"/>
                    <a:gd name="T52" fmla="*/ 173 w 471"/>
                    <a:gd name="T53" fmla="*/ 14 h 281"/>
                    <a:gd name="T54" fmla="*/ 195 w 471"/>
                    <a:gd name="T55" fmla="*/ 14 h 281"/>
                    <a:gd name="T56" fmla="*/ 211 w 471"/>
                    <a:gd name="T57" fmla="*/ 32 h 281"/>
                    <a:gd name="T58" fmla="*/ 231 w 471"/>
                    <a:gd name="T59" fmla="*/ 59 h 281"/>
                    <a:gd name="T60" fmla="*/ 245 w 471"/>
                    <a:gd name="T61" fmla="*/ 70 h 281"/>
                    <a:gd name="T62" fmla="*/ 257 w 471"/>
                    <a:gd name="T63" fmla="*/ 68 h 281"/>
                    <a:gd name="T64" fmla="*/ 270 w 471"/>
                    <a:gd name="T65" fmla="*/ 65 h 281"/>
                    <a:gd name="T66" fmla="*/ 290 w 471"/>
                    <a:gd name="T67" fmla="*/ 71 h 281"/>
                    <a:gd name="T68" fmla="*/ 300 w 471"/>
                    <a:gd name="T69" fmla="*/ 81 h 281"/>
                    <a:gd name="T70" fmla="*/ 308 w 471"/>
                    <a:gd name="T71" fmla="*/ 90 h 281"/>
                    <a:gd name="T72" fmla="*/ 318 w 471"/>
                    <a:gd name="T73" fmla="*/ 111 h 281"/>
                    <a:gd name="T74" fmla="*/ 322 w 471"/>
                    <a:gd name="T75" fmla="*/ 120 h 281"/>
                    <a:gd name="T76" fmla="*/ 324 w 471"/>
                    <a:gd name="T77" fmla="*/ 125 h 281"/>
                    <a:gd name="T78" fmla="*/ 310 w 471"/>
                    <a:gd name="T79" fmla="*/ 142 h 281"/>
                    <a:gd name="T80" fmla="*/ 322 w 471"/>
                    <a:gd name="T81" fmla="*/ 141 h 281"/>
                    <a:gd name="T82" fmla="*/ 342 w 471"/>
                    <a:gd name="T83" fmla="*/ 155 h 281"/>
                    <a:gd name="T84" fmla="*/ 364 w 471"/>
                    <a:gd name="T85" fmla="*/ 157 h 281"/>
                    <a:gd name="T86" fmla="*/ 380 w 471"/>
                    <a:gd name="T87" fmla="*/ 168 h 281"/>
                    <a:gd name="T88" fmla="*/ 382 w 471"/>
                    <a:gd name="T89" fmla="*/ 172 h 281"/>
                    <a:gd name="T90" fmla="*/ 382 w 471"/>
                    <a:gd name="T91" fmla="*/ 176 h 281"/>
                    <a:gd name="T92" fmla="*/ 394 w 471"/>
                    <a:gd name="T93" fmla="*/ 172 h 281"/>
                    <a:gd name="T94" fmla="*/ 400 w 471"/>
                    <a:gd name="T95" fmla="*/ 171 h 281"/>
                    <a:gd name="T96" fmla="*/ 439 w 471"/>
                    <a:gd name="T97" fmla="*/ 185 h 281"/>
                    <a:gd name="T98" fmla="*/ 447 w 471"/>
                    <a:gd name="T99" fmla="*/ 199 h 281"/>
                    <a:gd name="T100" fmla="*/ 465 w 471"/>
                    <a:gd name="T101" fmla="*/ 201 h 281"/>
                    <a:gd name="T102" fmla="*/ 471 w 471"/>
                    <a:gd name="T103" fmla="*/ 215 h 281"/>
                    <a:gd name="T104" fmla="*/ 451 w 471"/>
                    <a:gd name="T105" fmla="*/ 258 h 281"/>
                    <a:gd name="T106" fmla="*/ 435 w 471"/>
                    <a:gd name="T107" fmla="*/ 281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 userDrawn="1"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6 h 844"/>
                    <a:gd name="T2" fmla="*/ 502 w 984"/>
                    <a:gd name="T3" fmla="*/ 34 h 844"/>
                    <a:gd name="T4" fmla="*/ 550 w 984"/>
                    <a:gd name="T5" fmla="*/ 38 h 844"/>
                    <a:gd name="T6" fmla="*/ 578 w 984"/>
                    <a:gd name="T7" fmla="*/ 130 h 844"/>
                    <a:gd name="T8" fmla="*/ 586 w 984"/>
                    <a:gd name="T9" fmla="*/ 90 h 844"/>
                    <a:gd name="T10" fmla="*/ 606 w 984"/>
                    <a:gd name="T11" fmla="*/ 70 h 844"/>
                    <a:gd name="T12" fmla="*/ 642 w 984"/>
                    <a:gd name="T13" fmla="*/ 126 h 844"/>
                    <a:gd name="T14" fmla="*/ 682 w 984"/>
                    <a:gd name="T15" fmla="*/ 98 h 844"/>
                    <a:gd name="T16" fmla="*/ 706 w 984"/>
                    <a:gd name="T17" fmla="*/ 86 h 844"/>
                    <a:gd name="T18" fmla="*/ 762 w 984"/>
                    <a:gd name="T19" fmla="*/ 2 h 844"/>
                    <a:gd name="T20" fmla="*/ 798 w 984"/>
                    <a:gd name="T21" fmla="*/ 70 h 844"/>
                    <a:gd name="T22" fmla="*/ 798 w 984"/>
                    <a:gd name="T23" fmla="*/ 130 h 844"/>
                    <a:gd name="T24" fmla="*/ 790 w 984"/>
                    <a:gd name="T25" fmla="*/ 158 h 844"/>
                    <a:gd name="T26" fmla="*/ 766 w 984"/>
                    <a:gd name="T27" fmla="*/ 162 h 844"/>
                    <a:gd name="T28" fmla="*/ 762 w 984"/>
                    <a:gd name="T29" fmla="*/ 186 h 844"/>
                    <a:gd name="T30" fmla="*/ 802 w 984"/>
                    <a:gd name="T31" fmla="*/ 226 h 844"/>
                    <a:gd name="T32" fmla="*/ 786 w 984"/>
                    <a:gd name="T33" fmla="*/ 322 h 844"/>
                    <a:gd name="T34" fmla="*/ 830 w 984"/>
                    <a:gd name="T35" fmla="*/ 414 h 844"/>
                    <a:gd name="T36" fmla="*/ 854 w 984"/>
                    <a:gd name="T37" fmla="*/ 450 h 844"/>
                    <a:gd name="T38" fmla="*/ 830 w 984"/>
                    <a:gd name="T39" fmla="*/ 450 h 844"/>
                    <a:gd name="T40" fmla="*/ 746 w 984"/>
                    <a:gd name="T41" fmla="*/ 378 h 844"/>
                    <a:gd name="T42" fmla="*/ 678 w 984"/>
                    <a:gd name="T43" fmla="*/ 402 h 844"/>
                    <a:gd name="T44" fmla="*/ 590 w 984"/>
                    <a:gd name="T45" fmla="*/ 442 h 844"/>
                    <a:gd name="T46" fmla="*/ 642 w 984"/>
                    <a:gd name="T47" fmla="*/ 578 h 844"/>
                    <a:gd name="T48" fmla="*/ 710 w 984"/>
                    <a:gd name="T49" fmla="*/ 610 h 844"/>
                    <a:gd name="T50" fmla="*/ 738 w 984"/>
                    <a:gd name="T51" fmla="*/ 550 h 844"/>
                    <a:gd name="T52" fmla="*/ 774 w 984"/>
                    <a:gd name="T53" fmla="*/ 570 h 844"/>
                    <a:gd name="T54" fmla="*/ 766 w 984"/>
                    <a:gd name="T55" fmla="*/ 630 h 844"/>
                    <a:gd name="T56" fmla="*/ 802 w 984"/>
                    <a:gd name="T57" fmla="*/ 670 h 844"/>
                    <a:gd name="T58" fmla="*/ 838 w 984"/>
                    <a:gd name="T59" fmla="*/ 658 h 844"/>
                    <a:gd name="T60" fmla="*/ 922 w 984"/>
                    <a:gd name="T61" fmla="*/ 806 h 844"/>
                    <a:gd name="T62" fmla="*/ 942 w 984"/>
                    <a:gd name="T63" fmla="*/ 826 h 844"/>
                    <a:gd name="T64" fmla="*/ 874 w 984"/>
                    <a:gd name="T65" fmla="*/ 810 h 844"/>
                    <a:gd name="T66" fmla="*/ 830 w 984"/>
                    <a:gd name="T67" fmla="*/ 758 h 844"/>
                    <a:gd name="T68" fmla="*/ 778 w 984"/>
                    <a:gd name="T69" fmla="*/ 710 h 844"/>
                    <a:gd name="T70" fmla="*/ 702 w 984"/>
                    <a:gd name="T71" fmla="*/ 662 h 844"/>
                    <a:gd name="T72" fmla="*/ 614 w 984"/>
                    <a:gd name="T73" fmla="*/ 646 h 844"/>
                    <a:gd name="T74" fmla="*/ 506 w 984"/>
                    <a:gd name="T75" fmla="*/ 594 h 844"/>
                    <a:gd name="T76" fmla="*/ 462 w 984"/>
                    <a:gd name="T77" fmla="*/ 506 h 844"/>
                    <a:gd name="T78" fmla="*/ 430 w 984"/>
                    <a:gd name="T79" fmla="*/ 462 h 844"/>
                    <a:gd name="T80" fmla="*/ 382 w 984"/>
                    <a:gd name="T81" fmla="*/ 430 h 844"/>
                    <a:gd name="T82" fmla="*/ 342 w 984"/>
                    <a:gd name="T83" fmla="*/ 370 h 844"/>
                    <a:gd name="T84" fmla="*/ 354 w 984"/>
                    <a:gd name="T85" fmla="*/ 414 h 844"/>
                    <a:gd name="T86" fmla="*/ 418 w 984"/>
                    <a:gd name="T87" fmla="*/ 494 h 844"/>
                    <a:gd name="T88" fmla="*/ 422 w 984"/>
                    <a:gd name="T89" fmla="*/ 526 h 844"/>
                    <a:gd name="T90" fmla="*/ 394 w 984"/>
                    <a:gd name="T91" fmla="*/ 498 h 844"/>
                    <a:gd name="T92" fmla="*/ 354 w 984"/>
                    <a:gd name="T93" fmla="*/ 466 h 844"/>
                    <a:gd name="T94" fmla="*/ 314 w 984"/>
                    <a:gd name="T95" fmla="*/ 402 h 844"/>
                    <a:gd name="T96" fmla="*/ 266 w 984"/>
                    <a:gd name="T97" fmla="*/ 346 h 844"/>
                    <a:gd name="T98" fmla="*/ 210 w 984"/>
                    <a:gd name="T99" fmla="*/ 314 h 844"/>
                    <a:gd name="T100" fmla="*/ 154 w 984"/>
                    <a:gd name="T101" fmla="*/ 238 h 844"/>
                    <a:gd name="T102" fmla="*/ 66 w 984"/>
                    <a:gd name="T103" fmla="*/ 66 h 844"/>
                    <a:gd name="T104" fmla="*/ 34 w 984"/>
                    <a:gd name="T105" fmla="*/ 38 h 844"/>
                    <a:gd name="T106" fmla="*/ 46 w 984"/>
                    <a:gd name="T107" fmla="*/ 22 h 844"/>
                    <a:gd name="T108" fmla="*/ 102 w 984"/>
                    <a:gd name="T109" fmla="*/ 70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 userDrawn="1"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28 h 48"/>
                    <a:gd name="T2" fmla="*/ 10 w 36"/>
                    <a:gd name="T3" fmla="*/ 48 h 48"/>
                    <a:gd name="T4" fmla="*/ 6 w 36"/>
                    <a:gd name="T5" fmla="*/ 28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 userDrawn="1"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5 h 37"/>
                    <a:gd name="T2" fmla="*/ 12 w 36"/>
                    <a:gd name="T3" fmla="*/ 1 h 37"/>
                    <a:gd name="T4" fmla="*/ 36 w 36"/>
                    <a:gd name="T5" fmla="*/ 17 h 37"/>
                    <a:gd name="T6" fmla="*/ 8 w 36"/>
                    <a:gd name="T7" fmla="*/ 17 h 37"/>
                    <a:gd name="T8" fmla="*/ 0 w 36"/>
                    <a:gd name="T9" fmla="*/ 5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 userDrawn="1"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49 h 96"/>
                    <a:gd name="T2" fmla="*/ 28 w 170"/>
                    <a:gd name="T3" fmla="*/ 25 h 96"/>
                    <a:gd name="T4" fmla="*/ 56 w 170"/>
                    <a:gd name="T5" fmla="*/ 21 h 96"/>
                    <a:gd name="T6" fmla="*/ 80 w 170"/>
                    <a:gd name="T7" fmla="*/ 9 h 96"/>
                    <a:gd name="T8" fmla="*/ 64 w 170"/>
                    <a:gd name="T9" fmla="*/ 25 h 96"/>
                    <a:gd name="T10" fmla="*/ 124 w 170"/>
                    <a:gd name="T11" fmla="*/ 49 h 96"/>
                    <a:gd name="T12" fmla="*/ 160 w 170"/>
                    <a:gd name="T13" fmla="*/ 65 h 96"/>
                    <a:gd name="T14" fmla="*/ 116 w 170"/>
                    <a:gd name="T15" fmla="*/ 77 h 96"/>
                    <a:gd name="T16" fmla="*/ 88 w 170"/>
                    <a:gd name="T17" fmla="*/ 57 h 96"/>
                    <a:gd name="T18" fmla="*/ 76 w 170"/>
                    <a:gd name="T19" fmla="*/ 53 h 96"/>
                    <a:gd name="T20" fmla="*/ 24 w 170"/>
                    <a:gd name="T21" fmla="*/ 41 h 96"/>
                    <a:gd name="T22" fmla="*/ 0 w 170"/>
                    <a:gd name="T23" fmla="*/ 49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 userDrawn="1"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4 h 44"/>
                    <a:gd name="T4" fmla="*/ 88 w 138"/>
                    <a:gd name="T5" fmla="*/ 24 h 44"/>
                    <a:gd name="T6" fmla="*/ 112 w 138"/>
                    <a:gd name="T7" fmla="*/ 20 h 44"/>
                    <a:gd name="T8" fmla="*/ 108 w 138"/>
                    <a:gd name="T9" fmla="*/ 44 h 44"/>
                    <a:gd name="T10" fmla="*/ 64 w 138"/>
                    <a:gd name="T11" fmla="*/ 40 h 44"/>
                    <a:gd name="T12" fmla="*/ 0 w 138"/>
                    <a:gd name="T13" fmla="*/ 36 h 44"/>
                    <a:gd name="T14" fmla="*/ 28 w 138"/>
                    <a:gd name="T15" fmla="*/ 2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 userDrawn="1"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25 h 42"/>
                    <a:gd name="T2" fmla="*/ 37 w 57"/>
                    <a:gd name="T3" fmla="*/ 13 h 42"/>
                    <a:gd name="T4" fmla="*/ 17 w 57"/>
                    <a:gd name="T5" fmla="*/ 25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 userDrawn="1"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9 w 39"/>
                    <a:gd name="T1" fmla="*/ 32 h 52"/>
                    <a:gd name="T2" fmla="*/ 19 w 39"/>
                    <a:gd name="T3" fmla="*/ 0 h 52"/>
                    <a:gd name="T4" fmla="*/ 19 w 39"/>
                    <a:gd name="T5" fmla="*/ 32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 userDrawn="1"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9 h 80"/>
                    <a:gd name="T2" fmla="*/ 20 w 44"/>
                    <a:gd name="T3" fmla="*/ 33 h 80"/>
                    <a:gd name="T4" fmla="*/ 24 w 44"/>
                    <a:gd name="T5" fmla="*/ 49 h 80"/>
                    <a:gd name="T6" fmla="*/ 36 w 44"/>
                    <a:gd name="T7" fmla="*/ 53 h 80"/>
                    <a:gd name="T8" fmla="*/ 24 w 44"/>
                    <a:gd name="T9" fmla="*/ 73 h 80"/>
                    <a:gd name="T10" fmla="*/ 0 w 44"/>
                    <a:gd name="T11" fmla="*/ 21 h 80"/>
                    <a:gd name="T12" fmla="*/ 4 w 44"/>
                    <a:gd name="T13" fmla="*/ 9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 userDrawn="1"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220 w 323"/>
                    <a:gd name="T1" fmla="*/ 1 h 64"/>
                    <a:gd name="T2" fmla="*/ 231 w 323"/>
                    <a:gd name="T3" fmla="*/ 8 h 64"/>
                    <a:gd name="T4" fmla="*/ 235 w 323"/>
                    <a:gd name="T5" fmla="*/ 0 h 64"/>
                    <a:gd name="T6" fmla="*/ 265 w 323"/>
                    <a:gd name="T7" fmla="*/ 0 h 64"/>
                    <a:gd name="T8" fmla="*/ 287 w 323"/>
                    <a:gd name="T9" fmla="*/ 17 h 64"/>
                    <a:gd name="T10" fmla="*/ 319 w 323"/>
                    <a:gd name="T11" fmla="*/ 10 h 64"/>
                    <a:gd name="T12" fmla="*/ 314 w 323"/>
                    <a:gd name="T13" fmla="*/ 29 h 64"/>
                    <a:gd name="T14" fmla="*/ 298 w 323"/>
                    <a:gd name="T15" fmla="*/ 46 h 64"/>
                    <a:gd name="T16" fmla="*/ 295 w 323"/>
                    <a:gd name="T17" fmla="*/ 29 h 64"/>
                    <a:gd name="T18" fmla="*/ 287 w 323"/>
                    <a:gd name="T19" fmla="*/ 31 h 64"/>
                    <a:gd name="T20" fmla="*/ 279 w 323"/>
                    <a:gd name="T21" fmla="*/ 29 h 64"/>
                    <a:gd name="T22" fmla="*/ 263 w 323"/>
                    <a:gd name="T23" fmla="*/ 21 h 64"/>
                    <a:gd name="T24" fmla="*/ 228 w 323"/>
                    <a:gd name="T25" fmla="*/ 38 h 64"/>
                    <a:gd name="T26" fmla="*/ 201 w 323"/>
                    <a:gd name="T27" fmla="*/ 44 h 64"/>
                    <a:gd name="T28" fmla="*/ 212 w 323"/>
                    <a:gd name="T29" fmla="*/ 57 h 64"/>
                    <a:gd name="T30" fmla="*/ 188 w 323"/>
                    <a:gd name="T31" fmla="*/ 63 h 64"/>
                    <a:gd name="T32" fmla="*/ 169 w 323"/>
                    <a:gd name="T33" fmla="*/ 61 h 64"/>
                    <a:gd name="T34" fmla="*/ 177 w 323"/>
                    <a:gd name="T35" fmla="*/ 57 h 64"/>
                    <a:gd name="T36" fmla="*/ 171 w 323"/>
                    <a:gd name="T37" fmla="*/ 40 h 64"/>
                    <a:gd name="T38" fmla="*/ 169 w 323"/>
                    <a:gd name="T39" fmla="*/ 31 h 64"/>
                    <a:gd name="T40" fmla="*/ 158 w 323"/>
                    <a:gd name="T41" fmla="*/ 23 h 64"/>
                    <a:gd name="T42" fmla="*/ 142 w 323"/>
                    <a:gd name="T43" fmla="*/ 27 h 64"/>
                    <a:gd name="T44" fmla="*/ 134 w 323"/>
                    <a:gd name="T45" fmla="*/ 27 h 64"/>
                    <a:gd name="T46" fmla="*/ 123 w 323"/>
                    <a:gd name="T47" fmla="*/ 25 h 64"/>
                    <a:gd name="T48" fmla="*/ 83 w 323"/>
                    <a:gd name="T49" fmla="*/ 2 h 64"/>
                    <a:gd name="T50" fmla="*/ 59 w 323"/>
                    <a:gd name="T51" fmla="*/ 14 h 64"/>
                    <a:gd name="T52" fmla="*/ 1 w 323"/>
                    <a:gd name="T53" fmla="*/ 0 h 64"/>
                    <a:gd name="T54" fmla="*/ 220 w 323"/>
                    <a:gd name="T55" fmla="*/ 1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 userDrawn="1"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105 w 300"/>
                    <a:gd name="T1" fmla="*/ 31 h 31"/>
                    <a:gd name="T2" fmla="*/ 30 w 300"/>
                    <a:gd name="T3" fmla="*/ 1 h 31"/>
                    <a:gd name="T4" fmla="*/ 285 w 300"/>
                    <a:gd name="T5" fmla="*/ 0 h 31"/>
                    <a:gd name="T6" fmla="*/ 296 w 300"/>
                    <a:gd name="T7" fmla="*/ 14 h 31"/>
                    <a:gd name="T8" fmla="*/ 264 w 300"/>
                    <a:gd name="T9" fmla="*/ 16 h 31"/>
                    <a:gd name="T10" fmla="*/ 105 w 300"/>
                    <a:gd name="T11" fmla="*/ 31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 userDrawn="1"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25 h 29"/>
                    <a:gd name="T2" fmla="*/ 12 w 41"/>
                    <a:gd name="T3" fmla="*/ 29 h 29"/>
                    <a:gd name="T4" fmla="*/ 0 w 41"/>
                    <a:gd name="T5" fmla="*/ 25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 userDrawn="1"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73 w 436"/>
                    <a:gd name="T1" fmla="*/ 1 h 152"/>
                    <a:gd name="T2" fmla="*/ 436 w 436"/>
                    <a:gd name="T3" fmla="*/ 0 h 152"/>
                    <a:gd name="T4" fmla="*/ 416 w 436"/>
                    <a:gd name="T5" fmla="*/ 54 h 152"/>
                    <a:gd name="T6" fmla="*/ 397 w 436"/>
                    <a:gd name="T7" fmla="*/ 68 h 152"/>
                    <a:gd name="T8" fmla="*/ 392 w 436"/>
                    <a:gd name="T9" fmla="*/ 70 h 152"/>
                    <a:gd name="T10" fmla="*/ 375 w 436"/>
                    <a:gd name="T11" fmla="*/ 73 h 152"/>
                    <a:gd name="T12" fmla="*/ 361 w 436"/>
                    <a:gd name="T13" fmla="*/ 88 h 152"/>
                    <a:gd name="T14" fmla="*/ 362 w 436"/>
                    <a:gd name="T15" fmla="*/ 99 h 152"/>
                    <a:gd name="T16" fmla="*/ 364 w 436"/>
                    <a:gd name="T17" fmla="*/ 107 h 152"/>
                    <a:gd name="T18" fmla="*/ 366 w 436"/>
                    <a:gd name="T19" fmla="*/ 113 h 152"/>
                    <a:gd name="T20" fmla="*/ 362 w 436"/>
                    <a:gd name="T21" fmla="*/ 122 h 152"/>
                    <a:gd name="T22" fmla="*/ 351 w 436"/>
                    <a:gd name="T23" fmla="*/ 120 h 152"/>
                    <a:gd name="T24" fmla="*/ 342 w 436"/>
                    <a:gd name="T25" fmla="*/ 129 h 152"/>
                    <a:gd name="T26" fmla="*/ 347 w 436"/>
                    <a:gd name="T27" fmla="*/ 105 h 152"/>
                    <a:gd name="T28" fmla="*/ 338 w 436"/>
                    <a:gd name="T29" fmla="*/ 100 h 152"/>
                    <a:gd name="T30" fmla="*/ 344 w 436"/>
                    <a:gd name="T31" fmla="*/ 93 h 152"/>
                    <a:gd name="T32" fmla="*/ 342 w 436"/>
                    <a:gd name="T33" fmla="*/ 89 h 152"/>
                    <a:gd name="T34" fmla="*/ 320 w 436"/>
                    <a:gd name="T35" fmla="*/ 94 h 152"/>
                    <a:gd name="T36" fmla="*/ 317 w 436"/>
                    <a:gd name="T37" fmla="*/ 85 h 152"/>
                    <a:gd name="T38" fmla="*/ 297 w 436"/>
                    <a:gd name="T39" fmla="*/ 94 h 152"/>
                    <a:gd name="T40" fmla="*/ 320 w 436"/>
                    <a:gd name="T41" fmla="*/ 103 h 152"/>
                    <a:gd name="T42" fmla="*/ 305 w 436"/>
                    <a:gd name="T43" fmla="*/ 117 h 152"/>
                    <a:gd name="T44" fmla="*/ 311 w 436"/>
                    <a:gd name="T45" fmla="*/ 126 h 152"/>
                    <a:gd name="T46" fmla="*/ 315 w 436"/>
                    <a:gd name="T47" fmla="*/ 138 h 152"/>
                    <a:gd name="T48" fmla="*/ 309 w 436"/>
                    <a:gd name="T49" fmla="*/ 139 h 152"/>
                    <a:gd name="T50" fmla="*/ 314 w 436"/>
                    <a:gd name="T51" fmla="*/ 144 h 152"/>
                    <a:gd name="T52" fmla="*/ 307 w 436"/>
                    <a:gd name="T53" fmla="*/ 152 h 152"/>
                    <a:gd name="T54" fmla="*/ 0 w 436"/>
                    <a:gd name="T55" fmla="*/ 149 h 152"/>
                    <a:gd name="T56" fmla="*/ 73 w 436"/>
                    <a:gd name="T57" fmla="*/ 1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 userDrawn="1"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156 h 165"/>
                    <a:gd name="T2" fmla="*/ 15 w 47"/>
                    <a:gd name="T3" fmla="*/ 108 h 165"/>
                    <a:gd name="T4" fmla="*/ 17 w 47"/>
                    <a:gd name="T5" fmla="*/ 68 h 165"/>
                    <a:gd name="T6" fmla="*/ 11 w 47"/>
                    <a:gd name="T7" fmla="*/ 40 h 165"/>
                    <a:gd name="T8" fmla="*/ 17 w 47"/>
                    <a:gd name="T9" fmla="*/ 12 h 165"/>
                    <a:gd name="T10" fmla="*/ 21 w 47"/>
                    <a:gd name="T11" fmla="*/ 0 h 165"/>
                    <a:gd name="T12" fmla="*/ 31 w 47"/>
                    <a:gd name="T13" fmla="*/ 30 h 165"/>
                    <a:gd name="T14" fmla="*/ 47 w 47"/>
                    <a:gd name="T15" fmla="*/ 98 h 165"/>
                    <a:gd name="T16" fmla="*/ 31 w 47"/>
                    <a:gd name="T17" fmla="*/ 108 h 165"/>
                    <a:gd name="T18" fmla="*/ 23 w 47"/>
                    <a:gd name="T19" fmla="*/ 126 h 165"/>
                    <a:gd name="T20" fmla="*/ 21 w 47"/>
                    <a:gd name="T21" fmla="*/ 132 h 165"/>
                    <a:gd name="T22" fmla="*/ 27 w 47"/>
                    <a:gd name="T23" fmla="*/ 134 h 165"/>
                    <a:gd name="T24" fmla="*/ 31 w 47"/>
                    <a:gd name="T25" fmla="*/ 146 h 165"/>
                    <a:gd name="T26" fmla="*/ 13 w 47"/>
                    <a:gd name="T27" fmla="*/ 148 h 165"/>
                    <a:gd name="T28" fmla="*/ 7 w 47"/>
                    <a:gd name="T29" fmla="*/ 160 h 165"/>
                    <a:gd name="T30" fmla="*/ 3 w 47"/>
                    <a:gd name="T31" fmla="*/ 154 h 165"/>
                    <a:gd name="T32" fmla="*/ 5 w 47"/>
                    <a:gd name="T33" fmla="*/ 156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 userDrawn="1"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61 h 103"/>
                    <a:gd name="T2" fmla="*/ 30 w 138"/>
                    <a:gd name="T3" fmla="*/ 43 h 103"/>
                    <a:gd name="T4" fmla="*/ 50 w 138"/>
                    <a:gd name="T5" fmla="*/ 33 h 103"/>
                    <a:gd name="T6" fmla="*/ 54 w 138"/>
                    <a:gd name="T7" fmla="*/ 45 h 103"/>
                    <a:gd name="T8" fmla="*/ 66 w 138"/>
                    <a:gd name="T9" fmla="*/ 49 h 103"/>
                    <a:gd name="T10" fmla="*/ 80 w 138"/>
                    <a:gd name="T11" fmla="*/ 55 h 103"/>
                    <a:gd name="T12" fmla="*/ 116 w 138"/>
                    <a:gd name="T13" fmla="*/ 33 h 103"/>
                    <a:gd name="T14" fmla="*/ 130 w 138"/>
                    <a:gd name="T15" fmla="*/ 17 h 103"/>
                    <a:gd name="T16" fmla="*/ 138 w 138"/>
                    <a:gd name="T17" fmla="*/ 11 h 103"/>
                    <a:gd name="T18" fmla="*/ 106 w 138"/>
                    <a:gd name="T19" fmla="*/ 49 h 103"/>
                    <a:gd name="T20" fmla="*/ 84 w 138"/>
                    <a:gd name="T21" fmla="*/ 67 h 103"/>
                    <a:gd name="T22" fmla="*/ 66 w 138"/>
                    <a:gd name="T23" fmla="*/ 81 h 103"/>
                    <a:gd name="T24" fmla="*/ 48 w 138"/>
                    <a:gd name="T25" fmla="*/ 103 h 103"/>
                    <a:gd name="T26" fmla="*/ 26 w 138"/>
                    <a:gd name="T27" fmla="*/ 89 h 103"/>
                    <a:gd name="T28" fmla="*/ 20 w 138"/>
                    <a:gd name="T29" fmla="*/ 87 h 103"/>
                    <a:gd name="T30" fmla="*/ 22 w 138"/>
                    <a:gd name="T31" fmla="*/ 97 h 103"/>
                    <a:gd name="T32" fmla="*/ 0 w 138"/>
                    <a:gd name="T33" fmla="*/ 97 h 103"/>
                    <a:gd name="T34" fmla="*/ 10 w 138"/>
                    <a:gd name="T35" fmla="*/ 79 h 103"/>
                    <a:gd name="T36" fmla="*/ 26 w 138"/>
                    <a:gd name="T37" fmla="*/ 61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 userDrawn="1"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8 w 188"/>
                    <a:gd name="T1" fmla="*/ 24 h 214"/>
                    <a:gd name="T2" fmla="*/ 160 w 188"/>
                    <a:gd name="T3" fmla="*/ 6 h 214"/>
                    <a:gd name="T4" fmla="*/ 170 w 188"/>
                    <a:gd name="T5" fmla="*/ 0 h 214"/>
                    <a:gd name="T6" fmla="*/ 182 w 188"/>
                    <a:gd name="T7" fmla="*/ 24 h 214"/>
                    <a:gd name="T8" fmla="*/ 188 w 188"/>
                    <a:gd name="T9" fmla="*/ 42 h 214"/>
                    <a:gd name="T10" fmla="*/ 178 w 188"/>
                    <a:gd name="T11" fmla="*/ 58 h 214"/>
                    <a:gd name="T12" fmla="*/ 170 w 188"/>
                    <a:gd name="T13" fmla="*/ 76 h 214"/>
                    <a:gd name="T14" fmla="*/ 162 w 188"/>
                    <a:gd name="T15" fmla="*/ 126 h 214"/>
                    <a:gd name="T16" fmla="*/ 144 w 188"/>
                    <a:gd name="T17" fmla="*/ 136 h 214"/>
                    <a:gd name="T18" fmla="*/ 120 w 188"/>
                    <a:gd name="T19" fmla="*/ 138 h 214"/>
                    <a:gd name="T20" fmla="*/ 112 w 188"/>
                    <a:gd name="T21" fmla="*/ 124 h 214"/>
                    <a:gd name="T22" fmla="*/ 102 w 188"/>
                    <a:gd name="T23" fmla="*/ 146 h 214"/>
                    <a:gd name="T24" fmla="*/ 90 w 188"/>
                    <a:gd name="T25" fmla="*/ 150 h 214"/>
                    <a:gd name="T26" fmla="*/ 80 w 188"/>
                    <a:gd name="T27" fmla="*/ 132 h 214"/>
                    <a:gd name="T28" fmla="*/ 58 w 188"/>
                    <a:gd name="T29" fmla="*/ 144 h 214"/>
                    <a:gd name="T30" fmla="*/ 76 w 188"/>
                    <a:gd name="T31" fmla="*/ 142 h 214"/>
                    <a:gd name="T32" fmla="*/ 78 w 188"/>
                    <a:gd name="T33" fmla="*/ 160 h 214"/>
                    <a:gd name="T34" fmla="*/ 58 w 188"/>
                    <a:gd name="T35" fmla="*/ 166 h 214"/>
                    <a:gd name="T36" fmla="*/ 34 w 188"/>
                    <a:gd name="T37" fmla="*/ 166 h 214"/>
                    <a:gd name="T38" fmla="*/ 36 w 188"/>
                    <a:gd name="T39" fmla="*/ 154 h 214"/>
                    <a:gd name="T40" fmla="*/ 46 w 188"/>
                    <a:gd name="T41" fmla="*/ 144 h 214"/>
                    <a:gd name="T42" fmla="*/ 34 w 188"/>
                    <a:gd name="T43" fmla="*/ 148 h 214"/>
                    <a:gd name="T44" fmla="*/ 26 w 188"/>
                    <a:gd name="T45" fmla="*/ 166 h 214"/>
                    <a:gd name="T46" fmla="*/ 30 w 188"/>
                    <a:gd name="T47" fmla="*/ 190 h 214"/>
                    <a:gd name="T48" fmla="*/ 14 w 188"/>
                    <a:gd name="T49" fmla="*/ 200 h 214"/>
                    <a:gd name="T50" fmla="*/ 0 w 188"/>
                    <a:gd name="T51" fmla="*/ 214 h 214"/>
                    <a:gd name="T52" fmla="*/ 8 w 188"/>
                    <a:gd name="T53" fmla="*/ 188 h 214"/>
                    <a:gd name="T54" fmla="*/ 0 w 188"/>
                    <a:gd name="T55" fmla="*/ 164 h 214"/>
                    <a:gd name="T56" fmla="*/ 14 w 188"/>
                    <a:gd name="T57" fmla="*/ 152 h 214"/>
                    <a:gd name="T58" fmla="*/ 32 w 188"/>
                    <a:gd name="T59" fmla="*/ 134 h 214"/>
                    <a:gd name="T60" fmla="*/ 44 w 188"/>
                    <a:gd name="T61" fmla="*/ 118 h 214"/>
                    <a:gd name="T62" fmla="*/ 72 w 188"/>
                    <a:gd name="T63" fmla="*/ 116 h 214"/>
                    <a:gd name="T64" fmla="*/ 84 w 188"/>
                    <a:gd name="T65" fmla="*/ 112 h 214"/>
                    <a:gd name="T66" fmla="*/ 114 w 188"/>
                    <a:gd name="T67" fmla="*/ 78 h 214"/>
                    <a:gd name="T68" fmla="*/ 120 w 188"/>
                    <a:gd name="T69" fmla="*/ 92 h 214"/>
                    <a:gd name="T70" fmla="*/ 132 w 188"/>
                    <a:gd name="T71" fmla="*/ 76 h 214"/>
                    <a:gd name="T72" fmla="*/ 150 w 188"/>
                    <a:gd name="T73" fmla="*/ 54 h 214"/>
                    <a:gd name="T74" fmla="*/ 154 w 188"/>
                    <a:gd name="T75" fmla="*/ 42 h 214"/>
                    <a:gd name="T76" fmla="*/ 148 w 188"/>
                    <a:gd name="T77" fmla="*/ 38 h 214"/>
                    <a:gd name="T78" fmla="*/ 152 w 188"/>
                    <a:gd name="T79" fmla="*/ 32 h 214"/>
                    <a:gd name="T80" fmla="*/ 158 w 188"/>
                    <a:gd name="T81" fmla="*/ 24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 userDrawn="1"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9 h 13"/>
                    <a:gd name="T2" fmla="*/ 4 w 13"/>
                    <a:gd name="T3" fmla="*/ 13 h 13"/>
                    <a:gd name="T4" fmla="*/ 0 w 13"/>
                    <a:gd name="T5" fmla="*/ 9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 userDrawn="1"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2 w 812"/>
                    <a:gd name="T1" fmla="*/ 26 h 564"/>
                    <a:gd name="T2" fmla="*/ 778 w 812"/>
                    <a:gd name="T3" fmla="*/ 78 h 564"/>
                    <a:gd name="T4" fmla="*/ 748 w 812"/>
                    <a:gd name="T5" fmla="*/ 122 h 564"/>
                    <a:gd name="T6" fmla="*/ 722 w 812"/>
                    <a:gd name="T7" fmla="*/ 142 h 564"/>
                    <a:gd name="T8" fmla="*/ 634 w 812"/>
                    <a:gd name="T9" fmla="*/ 180 h 564"/>
                    <a:gd name="T10" fmla="*/ 632 w 812"/>
                    <a:gd name="T11" fmla="*/ 210 h 564"/>
                    <a:gd name="T12" fmla="*/ 604 w 812"/>
                    <a:gd name="T13" fmla="*/ 230 h 564"/>
                    <a:gd name="T14" fmla="*/ 620 w 812"/>
                    <a:gd name="T15" fmla="*/ 178 h 564"/>
                    <a:gd name="T16" fmla="*/ 576 w 812"/>
                    <a:gd name="T17" fmla="*/ 188 h 564"/>
                    <a:gd name="T18" fmla="*/ 556 w 812"/>
                    <a:gd name="T19" fmla="*/ 218 h 564"/>
                    <a:gd name="T20" fmla="*/ 596 w 812"/>
                    <a:gd name="T21" fmla="*/ 280 h 564"/>
                    <a:gd name="T22" fmla="*/ 594 w 812"/>
                    <a:gd name="T23" fmla="*/ 368 h 564"/>
                    <a:gd name="T24" fmla="*/ 542 w 812"/>
                    <a:gd name="T25" fmla="*/ 406 h 564"/>
                    <a:gd name="T26" fmla="*/ 522 w 812"/>
                    <a:gd name="T27" fmla="*/ 386 h 564"/>
                    <a:gd name="T28" fmla="*/ 482 w 812"/>
                    <a:gd name="T29" fmla="*/ 348 h 564"/>
                    <a:gd name="T30" fmla="*/ 462 w 812"/>
                    <a:gd name="T31" fmla="*/ 348 h 564"/>
                    <a:gd name="T32" fmla="*/ 450 w 812"/>
                    <a:gd name="T33" fmla="*/ 394 h 564"/>
                    <a:gd name="T34" fmla="*/ 500 w 812"/>
                    <a:gd name="T35" fmla="*/ 464 h 564"/>
                    <a:gd name="T36" fmla="*/ 510 w 812"/>
                    <a:gd name="T37" fmla="*/ 524 h 564"/>
                    <a:gd name="T38" fmla="*/ 526 w 812"/>
                    <a:gd name="T39" fmla="*/ 560 h 564"/>
                    <a:gd name="T40" fmla="*/ 492 w 812"/>
                    <a:gd name="T41" fmla="*/ 544 h 564"/>
                    <a:gd name="T42" fmla="*/ 470 w 812"/>
                    <a:gd name="T43" fmla="*/ 518 h 564"/>
                    <a:gd name="T44" fmla="*/ 422 w 812"/>
                    <a:gd name="T45" fmla="*/ 424 h 564"/>
                    <a:gd name="T46" fmla="*/ 426 w 812"/>
                    <a:gd name="T47" fmla="*/ 310 h 564"/>
                    <a:gd name="T48" fmla="*/ 422 w 812"/>
                    <a:gd name="T49" fmla="*/ 268 h 564"/>
                    <a:gd name="T50" fmla="*/ 412 w 812"/>
                    <a:gd name="T51" fmla="*/ 276 h 564"/>
                    <a:gd name="T52" fmla="*/ 386 w 812"/>
                    <a:gd name="T53" fmla="*/ 266 h 564"/>
                    <a:gd name="T54" fmla="*/ 360 w 812"/>
                    <a:gd name="T55" fmla="*/ 170 h 564"/>
                    <a:gd name="T56" fmla="*/ 330 w 812"/>
                    <a:gd name="T57" fmla="*/ 166 h 564"/>
                    <a:gd name="T58" fmla="*/ 288 w 812"/>
                    <a:gd name="T59" fmla="*/ 172 h 564"/>
                    <a:gd name="T60" fmla="*/ 242 w 812"/>
                    <a:gd name="T61" fmla="*/ 232 h 564"/>
                    <a:gd name="T62" fmla="*/ 196 w 812"/>
                    <a:gd name="T63" fmla="*/ 268 h 564"/>
                    <a:gd name="T64" fmla="*/ 184 w 812"/>
                    <a:gd name="T65" fmla="*/ 274 h 564"/>
                    <a:gd name="T66" fmla="*/ 160 w 812"/>
                    <a:gd name="T67" fmla="*/ 328 h 564"/>
                    <a:gd name="T68" fmla="*/ 152 w 812"/>
                    <a:gd name="T69" fmla="*/ 354 h 564"/>
                    <a:gd name="T70" fmla="*/ 128 w 812"/>
                    <a:gd name="T71" fmla="*/ 404 h 564"/>
                    <a:gd name="T72" fmla="*/ 94 w 812"/>
                    <a:gd name="T73" fmla="*/ 392 h 564"/>
                    <a:gd name="T74" fmla="*/ 66 w 812"/>
                    <a:gd name="T75" fmla="*/ 258 h 564"/>
                    <a:gd name="T76" fmla="*/ 72 w 812"/>
                    <a:gd name="T77" fmla="*/ 156 h 564"/>
                    <a:gd name="T78" fmla="*/ 44 w 812"/>
                    <a:gd name="T79" fmla="*/ 180 h 564"/>
                    <a:gd name="T80" fmla="*/ 20 w 812"/>
                    <a:gd name="T81" fmla="*/ 150 h 564"/>
                    <a:gd name="T82" fmla="*/ 24 w 812"/>
                    <a:gd name="T83" fmla="*/ 138 h 564"/>
                    <a:gd name="T84" fmla="*/ 0 w 812"/>
                    <a:gd name="T85" fmla="*/ 92 h 564"/>
                    <a:gd name="T86" fmla="*/ 798 w 812"/>
                    <a:gd name="T87" fmla="*/ 6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 userDrawn="1"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11 h 85"/>
                    <a:gd name="T2" fmla="*/ 17 w 43"/>
                    <a:gd name="T3" fmla="*/ 3 h 85"/>
                    <a:gd name="T4" fmla="*/ 37 w 43"/>
                    <a:gd name="T5" fmla="*/ 33 h 85"/>
                    <a:gd name="T6" fmla="*/ 19 w 43"/>
                    <a:gd name="T7" fmla="*/ 85 h 85"/>
                    <a:gd name="T8" fmla="*/ 1 w 43"/>
                    <a:gd name="T9" fmla="*/ 69 h 85"/>
                    <a:gd name="T10" fmla="*/ 7 w 43"/>
                    <a:gd name="T11" fmla="*/ 11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 userDrawn="1"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3 w 44"/>
                    <a:gd name="T1" fmla="*/ 28 h 74"/>
                    <a:gd name="T2" fmla="*/ 29 w 44"/>
                    <a:gd name="T3" fmla="*/ 2 h 74"/>
                    <a:gd name="T4" fmla="*/ 43 w 44"/>
                    <a:gd name="T5" fmla="*/ 4 h 74"/>
                    <a:gd name="T6" fmla="*/ 39 w 44"/>
                    <a:gd name="T7" fmla="*/ 26 h 74"/>
                    <a:gd name="T8" fmla="*/ 13 w 44"/>
                    <a:gd name="T9" fmla="*/ 74 h 74"/>
                    <a:gd name="T10" fmla="*/ 7 w 44"/>
                    <a:gd name="T11" fmla="*/ 60 h 74"/>
                    <a:gd name="T12" fmla="*/ 3 w 44"/>
                    <a:gd name="T13" fmla="*/ 36 h 74"/>
                    <a:gd name="T14" fmla="*/ 13 w 44"/>
                    <a:gd name="T15" fmla="*/ 28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 userDrawn="1"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16 h 30"/>
                    <a:gd name="T2" fmla="*/ 5 w 20"/>
                    <a:gd name="T3" fmla="*/ 30 h 30"/>
                    <a:gd name="T4" fmla="*/ 7 w 20"/>
                    <a:gd name="T5" fmla="*/ 1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 userDrawn="1"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481 w 682"/>
                    <a:gd name="T1" fmla="*/ 464 h 557"/>
                    <a:gd name="T2" fmla="*/ 486 w 682"/>
                    <a:gd name="T3" fmla="*/ 451 h 557"/>
                    <a:gd name="T4" fmla="*/ 500 w 682"/>
                    <a:gd name="T5" fmla="*/ 413 h 557"/>
                    <a:gd name="T6" fmla="*/ 309 w 682"/>
                    <a:gd name="T7" fmla="*/ 287 h 557"/>
                    <a:gd name="T8" fmla="*/ 282 w 682"/>
                    <a:gd name="T9" fmla="*/ 346 h 557"/>
                    <a:gd name="T10" fmla="*/ 303 w 682"/>
                    <a:gd name="T11" fmla="*/ 556 h 557"/>
                    <a:gd name="T12" fmla="*/ 282 w 682"/>
                    <a:gd name="T13" fmla="*/ 494 h 557"/>
                    <a:gd name="T14" fmla="*/ 242 w 682"/>
                    <a:gd name="T15" fmla="*/ 439 h 557"/>
                    <a:gd name="T16" fmla="*/ 245 w 682"/>
                    <a:gd name="T17" fmla="*/ 413 h 557"/>
                    <a:gd name="T18" fmla="*/ 247 w 682"/>
                    <a:gd name="T19" fmla="*/ 394 h 557"/>
                    <a:gd name="T20" fmla="*/ 220 w 682"/>
                    <a:gd name="T21" fmla="*/ 375 h 557"/>
                    <a:gd name="T22" fmla="*/ 194 w 682"/>
                    <a:gd name="T23" fmla="*/ 346 h 557"/>
                    <a:gd name="T24" fmla="*/ 148 w 682"/>
                    <a:gd name="T25" fmla="*/ 354 h 557"/>
                    <a:gd name="T26" fmla="*/ 126 w 682"/>
                    <a:gd name="T27" fmla="*/ 365 h 557"/>
                    <a:gd name="T28" fmla="*/ 78 w 682"/>
                    <a:gd name="T29" fmla="*/ 365 h 557"/>
                    <a:gd name="T30" fmla="*/ 22 w 682"/>
                    <a:gd name="T31" fmla="*/ 312 h 557"/>
                    <a:gd name="T32" fmla="*/ 11 w 682"/>
                    <a:gd name="T33" fmla="*/ 295 h 557"/>
                    <a:gd name="T34" fmla="*/ 0 w 682"/>
                    <a:gd name="T35" fmla="*/ 264 h 557"/>
                    <a:gd name="T36" fmla="*/ 24 w 682"/>
                    <a:gd name="T37" fmla="*/ 213 h 557"/>
                    <a:gd name="T38" fmla="*/ 32 w 682"/>
                    <a:gd name="T39" fmla="*/ 181 h 557"/>
                    <a:gd name="T40" fmla="*/ 51 w 682"/>
                    <a:gd name="T41" fmla="*/ 143 h 557"/>
                    <a:gd name="T42" fmla="*/ 81 w 682"/>
                    <a:gd name="T43" fmla="*/ 116 h 557"/>
                    <a:gd name="T44" fmla="*/ 167 w 682"/>
                    <a:gd name="T45" fmla="*/ 67 h 557"/>
                    <a:gd name="T46" fmla="*/ 220 w 682"/>
                    <a:gd name="T47" fmla="*/ 30 h 557"/>
                    <a:gd name="T48" fmla="*/ 258 w 682"/>
                    <a:gd name="T49" fmla="*/ 6 h 557"/>
                    <a:gd name="T50" fmla="*/ 363 w 682"/>
                    <a:gd name="T51" fmla="*/ 2 h 557"/>
                    <a:gd name="T52" fmla="*/ 398 w 682"/>
                    <a:gd name="T53" fmla="*/ 0 h 557"/>
                    <a:gd name="T54" fmla="*/ 384 w 682"/>
                    <a:gd name="T55" fmla="*/ 34 h 557"/>
                    <a:gd name="T56" fmla="*/ 443 w 682"/>
                    <a:gd name="T57" fmla="*/ 84 h 557"/>
                    <a:gd name="T58" fmla="*/ 497 w 682"/>
                    <a:gd name="T59" fmla="*/ 74 h 557"/>
                    <a:gd name="T60" fmla="*/ 529 w 682"/>
                    <a:gd name="T61" fmla="*/ 82 h 557"/>
                    <a:gd name="T62" fmla="*/ 559 w 682"/>
                    <a:gd name="T63" fmla="*/ 97 h 557"/>
                    <a:gd name="T64" fmla="*/ 572 w 682"/>
                    <a:gd name="T65" fmla="*/ 188 h 557"/>
                    <a:gd name="T66" fmla="*/ 572 w 682"/>
                    <a:gd name="T67" fmla="*/ 240 h 557"/>
                    <a:gd name="T68" fmla="*/ 599 w 682"/>
                    <a:gd name="T69" fmla="*/ 283 h 557"/>
                    <a:gd name="T70" fmla="*/ 645 w 682"/>
                    <a:gd name="T71" fmla="*/ 300 h 557"/>
                    <a:gd name="T72" fmla="*/ 680 w 682"/>
                    <a:gd name="T73" fmla="*/ 295 h 557"/>
                    <a:gd name="T74" fmla="*/ 664 w 682"/>
                    <a:gd name="T75" fmla="*/ 340 h 557"/>
                    <a:gd name="T76" fmla="*/ 599 w 682"/>
                    <a:gd name="T77" fmla="*/ 407 h 557"/>
                    <a:gd name="T78" fmla="*/ 548 w 682"/>
                    <a:gd name="T79" fmla="*/ 485 h 557"/>
                    <a:gd name="T80" fmla="*/ 556 w 682"/>
                    <a:gd name="T81" fmla="*/ 508 h 557"/>
                    <a:gd name="T82" fmla="*/ 435 w 682"/>
                    <a:gd name="T83" fmla="*/ 55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 userDrawn="1"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243 w 257"/>
                    <a:gd name="T1" fmla="*/ 347 h 347"/>
                    <a:gd name="T2" fmla="*/ 233 w 257"/>
                    <a:gd name="T3" fmla="*/ 301 h 347"/>
                    <a:gd name="T4" fmla="*/ 217 w 257"/>
                    <a:gd name="T5" fmla="*/ 288 h 347"/>
                    <a:gd name="T6" fmla="*/ 215 w 257"/>
                    <a:gd name="T7" fmla="*/ 269 h 347"/>
                    <a:gd name="T8" fmla="*/ 209 w 257"/>
                    <a:gd name="T9" fmla="*/ 254 h 347"/>
                    <a:gd name="T10" fmla="*/ 209 w 257"/>
                    <a:gd name="T11" fmla="*/ 229 h 347"/>
                    <a:gd name="T12" fmla="*/ 207 w 257"/>
                    <a:gd name="T13" fmla="*/ 214 h 347"/>
                    <a:gd name="T14" fmla="*/ 228 w 257"/>
                    <a:gd name="T15" fmla="*/ 202 h 347"/>
                    <a:gd name="T16" fmla="*/ 257 w 257"/>
                    <a:gd name="T17" fmla="*/ 197 h 347"/>
                    <a:gd name="T18" fmla="*/ 257 w 257"/>
                    <a:gd name="T19" fmla="*/ 136 h 347"/>
                    <a:gd name="T20" fmla="*/ 54 w 257"/>
                    <a:gd name="T21" fmla="*/ 96 h 347"/>
                    <a:gd name="T22" fmla="*/ 32 w 257"/>
                    <a:gd name="T23" fmla="*/ 98 h 347"/>
                    <a:gd name="T24" fmla="*/ 16 w 257"/>
                    <a:gd name="T25" fmla="*/ 102 h 347"/>
                    <a:gd name="T26" fmla="*/ 0 w 257"/>
                    <a:gd name="T27" fmla="*/ 149 h 347"/>
                    <a:gd name="T28" fmla="*/ 93 w 257"/>
                    <a:gd name="T29" fmla="*/ 346 h 347"/>
                    <a:gd name="T30" fmla="*/ 243 w 257"/>
                    <a:gd name="T31" fmla="*/ 347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 userDrawn="1"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7 w 19"/>
                    <a:gd name="T1" fmla="*/ 25 h 37"/>
                    <a:gd name="T2" fmla="*/ 19 w 19"/>
                    <a:gd name="T3" fmla="*/ 21 h 37"/>
                    <a:gd name="T4" fmla="*/ 7 w 19"/>
                    <a:gd name="T5" fmla="*/ 25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 userDrawn="1"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2 w 22"/>
                    <a:gd name="T1" fmla="*/ 12 h 20"/>
                    <a:gd name="T2" fmla="*/ 16 w 22"/>
                    <a:gd name="T3" fmla="*/ 0 h 20"/>
                    <a:gd name="T4" fmla="*/ 20 w 22"/>
                    <a:gd name="T5" fmla="*/ 12 h 20"/>
                    <a:gd name="T6" fmla="*/ 8 w 22"/>
                    <a:gd name="T7" fmla="*/ 20 h 20"/>
                    <a:gd name="T8" fmla="*/ 12 w 22"/>
                    <a:gd name="T9" fmla="*/ 12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 userDrawn="1"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18 h 30"/>
                    <a:gd name="T2" fmla="*/ 32 w 57"/>
                    <a:gd name="T3" fmla="*/ 6 h 30"/>
                    <a:gd name="T4" fmla="*/ 36 w 57"/>
                    <a:gd name="T5" fmla="*/ 30 h 30"/>
                    <a:gd name="T6" fmla="*/ 24 w 57"/>
                    <a:gd name="T7" fmla="*/ 1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 userDrawn="1"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73 w 693"/>
                    <a:gd name="T1" fmla="*/ 464 h 696"/>
                    <a:gd name="T2" fmla="*/ 393 w 693"/>
                    <a:gd name="T3" fmla="*/ 452 h 696"/>
                    <a:gd name="T4" fmla="*/ 325 w 693"/>
                    <a:gd name="T5" fmla="*/ 412 h 696"/>
                    <a:gd name="T6" fmla="*/ 265 w 693"/>
                    <a:gd name="T7" fmla="*/ 400 h 696"/>
                    <a:gd name="T8" fmla="*/ 237 w 693"/>
                    <a:gd name="T9" fmla="*/ 416 h 696"/>
                    <a:gd name="T10" fmla="*/ 261 w 693"/>
                    <a:gd name="T11" fmla="*/ 428 h 696"/>
                    <a:gd name="T12" fmla="*/ 293 w 693"/>
                    <a:gd name="T13" fmla="*/ 468 h 696"/>
                    <a:gd name="T14" fmla="*/ 321 w 693"/>
                    <a:gd name="T15" fmla="*/ 476 h 696"/>
                    <a:gd name="T16" fmla="*/ 333 w 693"/>
                    <a:gd name="T17" fmla="*/ 536 h 696"/>
                    <a:gd name="T18" fmla="*/ 313 w 693"/>
                    <a:gd name="T19" fmla="*/ 552 h 696"/>
                    <a:gd name="T20" fmla="*/ 261 w 693"/>
                    <a:gd name="T21" fmla="*/ 616 h 696"/>
                    <a:gd name="T22" fmla="*/ 225 w 693"/>
                    <a:gd name="T23" fmla="*/ 628 h 696"/>
                    <a:gd name="T24" fmla="*/ 97 w 693"/>
                    <a:gd name="T25" fmla="*/ 696 h 696"/>
                    <a:gd name="T26" fmla="*/ 77 w 693"/>
                    <a:gd name="T27" fmla="*/ 616 h 696"/>
                    <a:gd name="T28" fmla="*/ 45 w 693"/>
                    <a:gd name="T29" fmla="*/ 524 h 696"/>
                    <a:gd name="T30" fmla="*/ 33 w 693"/>
                    <a:gd name="T31" fmla="*/ 448 h 696"/>
                    <a:gd name="T32" fmla="*/ 53 w 693"/>
                    <a:gd name="T33" fmla="*/ 344 h 696"/>
                    <a:gd name="T34" fmla="*/ 17 w 693"/>
                    <a:gd name="T35" fmla="*/ 392 h 696"/>
                    <a:gd name="T36" fmla="*/ 81 w 693"/>
                    <a:gd name="T37" fmla="*/ 280 h 696"/>
                    <a:gd name="T38" fmla="*/ 113 w 693"/>
                    <a:gd name="T39" fmla="*/ 204 h 696"/>
                    <a:gd name="T40" fmla="*/ 37 w 693"/>
                    <a:gd name="T41" fmla="*/ 204 h 696"/>
                    <a:gd name="T42" fmla="*/ 1 w 693"/>
                    <a:gd name="T43" fmla="*/ 196 h 696"/>
                    <a:gd name="T44" fmla="*/ 25 w 693"/>
                    <a:gd name="T45" fmla="*/ 140 h 696"/>
                    <a:gd name="T46" fmla="*/ 97 w 693"/>
                    <a:gd name="T47" fmla="*/ 112 h 696"/>
                    <a:gd name="T48" fmla="*/ 221 w 693"/>
                    <a:gd name="T49" fmla="*/ 124 h 696"/>
                    <a:gd name="T50" fmla="*/ 229 w 693"/>
                    <a:gd name="T51" fmla="*/ 64 h 696"/>
                    <a:gd name="T52" fmla="*/ 261 w 693"/>
                    <a:gd name="T53" fmla="*/ 0 h 696"/>
                    <a:gd name="T54" fmla="*/ 357 w 693"/>
                    <a:gd name="T55" fmla="*/ 44 h 696"/>
                    <a:gd name="T56" fmla="*/ 329 w 693"/>
                    <a:gd name="T57" fmla="*/ 88 h 696"/>
                    <a:gd name="T58" fmla="*/ 301 w 693"/>
                    <a:gd name="T59" fmla="*/ 176 h 696"/>
                    <a:gd name="T60" fmla="*/ 361 w 693"/>
                    <a:gd name="T61" fmla="*/ 192 h 696"/>
                    <a:gd name="T62" fmla="*/ 373 w 693"/>
                    <a:gd name="T63" fmla="*/ 136 h 696"/>
                    <a:gd name="T64" fmla="*/ 417 w 693"/>
                    <a:gd name="T65" fmla="*/ 92 h 696"/>
                    <a:gd name="T66" fmla="*/ 497 w 693"/>
                    <a:gd name="T67" fmla="*/ 88 h 696"/>
                    <a:gd name="T68" fmla="*/ 529 w 693"/>
                    <a:gd name="T69" fmla="*/ 52 h 696"/>
                    <a:gd name="T70" fmla="*/ 541 w 693"/>
                    <a:gd name="T71" fmla="*/ 460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 userDrawn="1"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825 w 931"/>
                    <a:gd name="T1" fmla="*/ 0 h 149"/>
                    <a:gd name="T2" fmla="*/ 143 w 931"/>
                    <a:gd name="T3" fmla="*/ 29 h 149"/>
                    <a:gd name="T4" fmla="*/ 91 w 931"/>
                    <a:gd name="T5" fmla="*/ 42 h 149"/>
                    <a:gd name="T6" fmla="*/ 62 w 931"/>
                    <a:gd name="T7" fmla="*/ 42 h 149"/>
                    <a:gd name="T8" fmla="*/ 22 w 931"/>
                    <a:gd name="T9" fmla="*/ 77 h 149"/>
                    <a:gd name="T10" fmla="*/ 0 w 931"/>
                    <a:gd name="T11" fmla="*/ 105 h 149"/>
                    <a:gd name="T12" fmla="*/ 59 w 931"/>
                    <a:gd name="T13" fmla="*/ 115 h 149"/>
                    <a:gd name="T14" fmla="*/ 97 w 931"/>
                    <a:gd name="T15" fmla="*/ 96 h 149"/>
                    <a:gd name="T16" fmla="*/ 108 w 931"/>
                    <a:gd name="T17" fmla="*/ 84 h 149"/>
                    <a:gd name="T18" fmla="*/ 167 w 931"/>
                    <a:gd name="T19" fmla="*/ 52 h 149"/>
                    <a:gd name="T20" fmla="*/ 215 w 931"/>
                    <a:gd name="T21" fmla="*/ 46 h 149"/>
                    <a:gd name="T22" fmla="*/ 237 w 931"/>
                    <a:gd name="T23" fmla="*/ 94 h 149"/>
                    <a:gd name="T24" fmla="*/ 188 w 931"/>
                    <a:gd name="T25" fmla="*/ 109 h 149"/>
                    <a:gd name="T26" fmla="*/ 231 w 931"/>
                    <a:gd name="T27" fmla="*/ 113 h 149"/>
                    <a:gd name="T28" fmla="*/ 250 w 931"/>
                    <a:gd name="T29" fmla="*/ 90 h 149"/>
                    <a:gd name="T30" fmla="*/ 266 w 931"/>
                    <a:gd name="T31" fmla="*/ 92 h 149"/>
                    <a:gd name="T32" fmla="*/ 253 w 931"/>
                    <a:gd name="T33" fmla="*/ 54 h 149"/>
                    <a:gd name="T34" fmla="*/ 266 w 931"/>
                    <a:gd name="T35" fmla="*/ 44 h 149"/>
                    <a:gd name="T36" fmla="*/ 277 w 931"/>
                    <a:gd name="T37" fmla="*/ 88 h 149"/>
                    <a:gd name="T38" fmla="*/ 266 w 931"/>
                    <a:gd name="T39" fmla="*/ 113 h 149"/>
                    <a:gd name="T40" fmla="*/ 296 w 931"/>
                    <a:gd name="T41" fmla="*/ 130 h 149"/>
                    <a:gd name="T42" fmla="*/ 299 w 931"/>
                    <a:gd name="T43" fmla="*/ 92 h 149"/>
                    <a:gd name="T44" fmla="*/ 331 w 931"/>
                    <a:gd name="T45" fmla="*/ 103 h 149"/>
                    <a:gd name="T46" fmla="*/ 382 w 931"/>
                    <a:gd name="T47" fmla="*/ 73 h 149"/>
                    <a:gd name="T48" fmla="*/ 409 w 931"/>
                    <a:gd name="T49" fmla="*/ 50 h 149"/>
                    <a:gd name="T50" fmla="*/ 439 w 931"/>
                    <a:gd name="T51" fmla="*/ 56 h 149"/>
                    <a:gd name="T52" fmla="*/ 455 w 931"/>
                    <a:gd name="T53" fmla="*/ 50 h 149"/>
                    <a:gd name="T54" fmla="*/ 431 w 931"/>
                    <a:gd name="T55" fmla="*/ 44 h 149"/>
                    <a:gd name="T56" fmla="*/ 474 w 931"/>
                    <a:gd name="T57" fmla="*/ 35 h 149"/>
                    <a:gd name="T58" fmla="*/ 544 w 931"/>
                    <a:gd name="T59" fmla="*/ 54 h 149"/>
                    <a:gd name="T60" fmla="*/ 581 w 931"/>
                    <a:gd name="T61" fmla="*/ 42 h 149"/>
                    <a:gd name="T62" fmla="*/ 584 w 931"/>
                    <a:gd name="T63" fmla="*/ 63 h 149"/>
                    <a:gd name="T64" fmla="*/ 568 w 931"/>
                    <a:gd name="T65" fmla="*/ 101 h 149"/>
                    <a:gd name="T66" fmla="*/ 611 w 931"/>
                    <a:gd name="T67" fmla="*/ 88 h 149"/>
                    <a:gd name="T68" fmla="*/ 624 w 931"/>
                    <a:gd name="T69" fmla="*/ 80 h 149"/>
                    <a:gd name="T70" fmla="*/ 648 w 931"/>
                    <a:gd name="T71" fmla="*/ 61 h 149"/>
                    <a:gd name="T72" fmla="*/ 794 w 931"/>
                    <a:gd name="T73" fmla="*/ 84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 userDrawn="1"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28 h 30"/>
                    <a:gd name="T2" fmla="*/ 31 w 31"/>
                    <a:gd name="T3" fmla="*/ 0 h 30"/>
                    <a:gd name="T4" fmla="*/ 19 w 31"/>
                    <a:gd name="T5" fmla="*/ 24 h 30"/>
                    <a:gd name="T6" fmla="*/ 3 w 31"/>
                    <a:gd name="T7" fmla="*/ 28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 userDrawn="1"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32 h 32"/>
                    <a:gd name="T2" fmla="*/ 22 w 44"/>
                    <a:gd name="T3" fmla="*/ 0 h 32"/>
                    <a:gd name="T4" fmla="*/ 38 w 44"/>
                    <a:gd name="T5" fmla="*/ 4 h 32"/>
                    <a:gd name="T6" fmla="*/ 6 w 44"/>
                    <a:gd name="T7" fmla="*/ 32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 userDrawn="1"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18 h 18"/>
                    <a:gd name="T2" fmla="*/ 25 w 76"/>
                    <a:gd name="T3" fmla="*/ 2 h 18"/>
                    <a:gd name="T4" fmla="*/ 37 w 76"/>
                    <a:gd name="T5" fmla="*/ 18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 userDrawn="1"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21 h 44"/>
                    <a:gd name="T2" fmla="*/ 12 w 42"/>
                    <a:gd name="T3" fmla="*/ 9 h 44"/>
                    <a:gd name="T4" fmla="*/ 0 w 42"/>
                    <a:gd name="T5" fmla="*/ 2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 userDrawn="1"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22 h 30"/>
                    <a:gd name="T2" fmla="*/ 31 w 31"/>
                    <a:gd name="T3" fmla="*/ 10 h 30"/>
                    <a:gd name="T4" fmla="*/ 7 w 31"/>
                    <a:gd name="T5" fmla="*/ 22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 userDrawn="1"/>
            </p:nvGrpSpPr>
            <p:grpSpPr bwMode="auto">
              <a:xfrm>
                <a:off x="7" y="-154"/>
                <a:ext cx="5739" cy="418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 userDrawn="1"/>
            </p:nvGrpSpPr>
            <p:grpSpPr bwMode="auto">
              <a:xfrm>
                <a:off x="-1261" y="-1"/>
                <a:ext cx="2098" cy="1030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12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213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1A8DF4E-C890-40DE-BD26-482B9235D695}" type="datetime1">
              <a:rPr lang="en-US" smtClean="0"/>
              <a:t>9/30/2020</a:t>
            </a:fld>
            <a:endParaRPr lang="en-US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1905000" y="6324600"/>
            <a:ext cx="5791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26D0CD-0872-4A0C-9CF8-02F84C0F5E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693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 pitchFamily="34" charset="0"/>
                <a:cs typeface="Arial" pitchFamily="34" charset="0"/>
              </a:defRPr>
            </a:lvl1pPr>
            <a:lvl2pPr>
              <a:defRPr sz="24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48881F7-57CC-4C2C-8621-94D62246B5F8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48400"/>
            <a:ext cx="50292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D5D0FD-A820-4C34-A07F-BD209526BA2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83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6C98B-35F3-4397-BD29-E0DD5B378BE4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5182E-9AEE-4075-B4C4-92FE92C7E7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592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6D028E-2DCE-45C8-BA0D-F34C9B1DB44C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CCF63F-7557-40A6-9226-4B36B7B2C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350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65A55D-7461-4AFC-B214-1C8DF6200F77}" type="datetime1">
              <a:rPr lang="en-US" smtClean="0"/>
              <a:t>9/30/2020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55B794-5C81-4FD3-BD45-899F74D9FE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651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202BC2A-196D-4CE6-AF97-6688575C090E}" type="datetime1">
              <a:rPr lang="en-US" smtClean="0"/>
              <a:t>9/30/2020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133600" y="6324600"/>
            <a:ext cx="4800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3CF9AA-9E62-4DBF-8C09-FC08F3E01D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211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88AE7-B746-48CD-8A58-5CD1CB2CBB5C}" type="datetime1">
              <a:rPr lang="en-US" smtClean="0"/>
              <a:t>9/30/2020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DBF0CF-12F8-479D-9C3B-3C8A2CAD92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467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9AB427-7B89-44A1-B3D3-4CA8C59573CA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66CD89-092D-4110-A62C-BA4EF9479C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55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E847D-5087-4F64-9F63-596E0190DF8C}" type="datetime1">
              <a:rPr lang="en-US" smtClean="0"/>
              <a:t>9/30/2020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490F1-E813-4356-B23B-29ED06BC18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35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A95D5-4006-4141-9E14-5BE0DDC3687D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0EA53-636E-4F7F-A8BA-47B46670F3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6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A64AB-61D5-4430-AB06-2D194EF9D797}" type="datetime1">
              <a:rPr lang="en-US" smtClean="0"/>
              <a:t>9/30/2020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FFBAB-01AD-4EB7-A075-7D5EA64504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79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fld id="{1662AA97-60F1-4C94-8755-E98518609622}" type="datetime1">
              <a:rPr lang="en-US" smtClean="0"/>
              <a:t>9/30/2020</a:t>
            </a:fld>
            <a:endParaRPr lang="en-US"/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828800" y="6324600"/>
            <a:ext cx="548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E04EB5F-782B-4BAB-ADD1-405770E34C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grpSp>
        <p:nvGrpSpPr>
          <p:cNvPr id="1031" name="Group 7"/>
          <p:cNvGrpSpPr>
            <a:grpSpLocks/>
          </p:cNvGrpSpPr>
          <p:nvPr/>
        </p:nvGrpSpPr>
        <p:grpSpPr bwMode="auto">
          <a:xfrm>
            <a:off x="261938" y="87313"/>
            <a:ext cx="8488362" cy="831850"/>
            <a:chOff x="165" y="55"/>
            <a:chExt cx="5347" cy="524"/>
          </a:xfrm>
        </p:grpSpPr>
        <p:grpSp>
          <p:nvGrpSpPr>
            <p:cNvPr id="1032" name="Group 8"/>
            <p:cNvGrpSpPr>
              <a:grpSpLocks/>
            </p:cNvGrpSpPr>
            <p:nvPr userDrawn="1"/>
          </p:nvGrpSpPr>
          <p:grpSpPr bwMode="auto">
            <a:xfrm>
              <a:off x="664" y="104"/>
              <a:ext cx="4848" cy="432"/>
              <a:chOff x="664" y="104"/>
              <a:chExt cx="4848" cy="432"/>
            </a:xfrm>
          </p:grpSpPr>
          <p:sp>
            <p:nvSpPr>
              <p:cNvPr id="1034" name="Freeform 9"/>
              <p:cNvSpPr>
                <a:spLocks/>
              </p:cNvSpPr>
              <p:nvPr/>
            </p:nvSpPr>
            <p:spPr bwMode="ltGray">
              <a:xfrm>
                <a:off x="664" y="104"/>
                <a:ext cx="4848" cy="432"/>
              </a:xfrm>
              <a:custGeom>
                <a:avLst/>
                <a:gdLst>
                  <a:gd name="T0" fmla="*/ 4848 w 4848"/>
                  <a:gd name="T1" fmla="*/ 48 h 432"/>
                  <a:gd name="T2" fmla="*/ 4848 w 4848"/>
                  <a:gd name="T3" fmla="*/ 432 h 432"/>
                  <a:gd name="T4" fmla="*/ 0 w 4848"/>
                  <a:gd name="T5" fmla="*/ 432 h 432"/>
                  <a:gd name="T6" fmla="*/ 0 w 4848"/>
                  <a:gd name="T7" fmla="*/ 0 h 432"/>
                  <a:gd name="T8" fmla="*/ 4848 w 4848"/>
                  <a:gd name="T9" fmla="*/ 0 h 432"/>
                  <a:gd name="T10" fmla="*/ 4848 w 4848"/>
                  <a:gd name="T11" fmla="*/ 48 h 43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848" h="432">
                    <a:moveTo>
                      <a:pt x="4848" y="48"/>
                    </a:moveTo>
                    <a:lnTo>
                      <a:pt x="4848" y="432"/>
                    </a:lnTo>
                    <a:cubicBezTo>
                      <a:pt x="4848" y="432"/>
                      <a:pt x="2424" y="432"/>
                      <a:pt x="0" y="432"/>
                    </a:cubicBezTo>
                    <a:cubicBezTo>
                      <a:pt x="161" y="345"/>
                      <a:pt x="169" y="61"/>
                      <a:pt x="0" y="0"/>
                    </a:cubicBezTo>
                    <a:cubicBezTo>
                      <a:pt x="2424" y="0"/>
                      <a:pt x="4848" y="0"/>
                      <a:pt x="4848" y="0"/>
                    </a:cubicBezTo>
                    <a:lnTo>
                      <a:pt x="4848" y="48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bg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1035" name="Group 10"/>
              <p:cNvGrpSpPr>
                <a:grpSpLocks/>
              </p:cNvGrpSpPr>
              <p:nvPr/>
            </p:nvGrpSpPr>
            <p:grpSpPr bwMode="auto">
              <a:xfrm>
                <a:off x="1195" y="104"/>
                <a:ext cx="3827" cy="429"/>
                <a:chOff x="1021" y="240"/>
                <a:chExt cx="3827" cy="429"/>
              </a:xfrm>
            </p:grpSpPr>
            <p:grpSp>
              <p:nvGrpSpPr>
                <p:cNvPr id="1084" name="Group 11"/>
                <p:cNvGrpSpPr>
                  <a:grpSpLocks/>
                </p:cNvGrpSpPr>
                <p:nvPr/>
              </p:nvGrpSpPr>
              <p:grpSpPr bwMode="auto">
                <a:xfrm>
                  <a:off x="1021" y="241"/>
                  <a:ext cx="2208" cy="427"/>
                  <a:chOff x="1021" y="241"/>
                  <a:chExt cx="2208" cy="427"/>
                </a:xfrm>
              </p:grpSpPr>
              <p:sp>
                <p:nvSpPr>
                  <p:cNvPr id="1128" name="Freeform 12"/>
                  <p:cNvSpPr>
                    <a:spLocks/>
                  </p:cNvSpPr>
                  <p:nvPr/>
                </p:nvSpPr>
                <p:spPr bwMode="ltGray">
                  <a:xfrm>
                    <a:off x="2257" y="633"/>
                    <a:ext cx="7" cy="8"/>
                  </a:xfrm>
                  <a:custGeom>
                    <a:avLst/>
                    <a:gdLst>
                      <a:gd name="T0" fmla="*/ 5 w 15"/>
                      <a:gd name="T1" fmla="*/ 11 h 23"/>
                      <a:gd name="T2" fmla="*/ 15 w 15"/>
                      <a:gd name="T3" fmla="*/ 5 h 23"/>
                      <a:gd name="T4" fmla="*/ 13 w 15"/>
                      <a:gd name="T5" fmla="*/ 17 h 23"/>
                      <a:gd name="T6" fmla="*/ 5 w 15"/>
                      <a:gd name="T7" fmla="*/ 11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15" h="23">
                        <a:moveTo>
                          <a:pt x="5" y="11"/>
                        </a:moveTo>
                        <a:cubicBezTo>
                          <a:pt x="2" y="1"/>
                          <a:pt x="7" y="0"/>
                          <a:pt x="15" y="5"/>
                        </a:cubicBezTo>
                        <a:cubicBezTo>
                          <a:pt x="14" y="9"/>
                          <a:pt x="15" y="13"/>
                          <a:pt x="13" y="17"/>
                        </a:cubicBezTo>
                        <a:cubicBezTo>
                          <a:pt x="9" y="23"/>
                          <a:pt x="0" y="16"/>
                          <a:pt x="5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9" name="Freeform 13"/>
                  <p:cNvSpPr>
                    <a:spLocks/>
                  </p:cNvSpPr>
                  <p:nvPr/>
                </p:nvSpPr>
                <p:spPr bwMode="ltGray">
                  <a:xfrm>
                    <a:off x="2332" y="660"/>
                    <a:ext cx="9" cy="8"/>
                  </a:xfrm>
                  <a:custGeom>
                    <a:avLst/>
                    <a:gdLst>
                      <a:gd name="T0" fmla="*/ 3 w 20"/>
                      <a:gd name="T1" fmla="*/ 13 h 23"/>
                      <a:gd name="T2" fmla="*/ 11 w 20"/>
                      <a:gd name="T3" fmla="*/ 3 h 23"/>
                      <a:gd name="T4" fmla="*/ 7 w 20"/>
                      <a:gd name="T5" fmla="*/ 19 h 23"/>
                      <a:gd name="T6" fmla="*/ 3 w 20"/>
                      <a:gd name="T7" fmla="*/ 13 h 23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23">
                        <a:moveTo>
                          <a:pt x="3" y="13"/>
                        </a:moveTo>
                        <a:cubicBezTo>
                          <a:pt x="0" y="5"/>
                          <a:pt x="2" y="0"/>
                          <a:pt x="11" y="3"/>
                        </a:cubicBezTo>
                        <a:cubicBezTo>
                          <a:pt x="16" y="10"/>
                          <a:pt x="20" y="23"/>
                          <a:pt x="7" y="19"/>
                        </a:cubicBezTo>
                        <a:cubicBezTo>
                          <a:pt x="6" y="17"/>
                          <a:pt x="3" y="13"/>
                          <a:pt x="3" y="1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0" name="Freeform 14"/>
                  <p:cNvSpPr>
                    <a:spLocks/>
                  </p:cNvSpPr>
                  <p:nvPr/>
                </p:nvSpPr>
                <p:spPr bwMode="ltGray">
                  <a:xfrm>
                    <a:off x="2120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1" name="Freeform 15"/>
                  <p:cNvSpPr>
                    <a:spLocks/>
                  </p:cNvSpPr>
                  <p:nvPr/>
                </p:nvSpPr>
                <p:spPr bwMode="ltGray">
                  <a:xfrm>
                    <a:off x="1967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2" name="Freeform 16"/>
                  <p:cNvSpPr>
                    <a:spLocks/>
                  </p:cNvSpPr>
                  <p:nvPr/>
                </p:nvSpPr>
                <p:spPr bwMode="ltGray">
                  <a:xfrm>
                    <a:off x="1921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3" name="Freeform 17"/>
                  <p:cNvSpPr>
                    <a:spLocks/>
                  </p:cNvSpPr>
                  <p:nvPr/>
                </p:nvSpPr>
                <p:spPr bwMode="ltGray">
                  <a:xfrm>
                    <a:off x="1892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4" name="Freeform 18"/>
                  <p:cNvSpPr>
                    <a:spLocks/>
                  </p:cNvSpPr>
                  <p:nvPr/>
                </p:nvSpPr>
                <p:spPr bwMode="ltGray">
                  <a:xfrm>
                    <a:off x="1735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5" name="Freeform 19"/>
                  <p:cNvSpPr>
                    <a:spLocks/>
                  </p:cNvSpPr>
                  <p:nvPr/>
                </p:nvSpPr>
                <p:spPr bwMode="ltGray">
                  <a:xfrm>
                    <a:off x="1827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6" name="Freeform 20"/>
                  <p:cNvSpPr>
                    <a:spLocks/>
                  </p:cNvSpPr>
                  <p:nvPr/>
                </p:nvSpPr>
                <p:spPr bwMode="ltGray">
                  <a:xfrm>
                    <a:off x="1892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7" name="Freeform 21"/>
                  <p:cNvSpPr>
                    <a:spLocks/>
                  </p:cNvSpPr>
                  <p:nvPr/>
                </p:nvSpPr>
                <p:spPr bwMode="ltGray">
                  <a:xfrm>
                    <a:off x="1890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8" name="Freeform 22"/>
                  <p:cNvSpPr>
                    <a:spLocks/>
                  </p:cNvSpPr>
                  <p:nvPr/>
                </p:nvSpPr>
                <p:spPr bwMode="ltGray">
                  <a:xfrm>
                    <a:off x="1944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39" name="Freeform 23"/>
                  <p:cNvSpPr>
                    <a:spLocks/>
                  </p:cNvSpPr>
                  <p:nvPr/>
                </p:nvSpPr>
                <p:spPr bwMode="ltGray">
                  <a:xfrm>
                    <a:off x="1948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0" name="Freeform 24"/>
                  <p:cNvSpPr>
                    <a:spLocks/>
                  </p:cNvSpPr>
                  <p:nvPr/>
                </p:nvSpPr>
                <p:spPr bwMode="ltGray">
                  <a:xfrm>
                    <a:off x="1969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1" name="Freeform 25"/>
                  <p:cNvSpPr>
                    <a:spLocks/>
                  </p:cNvSpPr>
                  <p:nvPr/>
                </p:nvSpPr>
                <p:spPr bwMode="ltGray">
                  <a:xfrm>
                    <a:off x="1976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2" name="Freeform 26"/>
                  <p:cNvSpPr>
                    <a:spLocks/>
                  </p:cNvSpPr>
                  <p:nvPr/>
                </p:nvSpPr>
                <p:spPr bwMode="ltGray">
                  <a:xfrm>
                    <a:off x="2082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3" name="Freeform 27"/>
                  <p:cNvSpPr>
                    <a:spLocks/>
                  </p:cNvSpPr>
                  <p:nvPr/>
                </p:nvSpPr>
                <p:spPr bwMode="ltGray">
                  <a:xfrm>
                    <a:off x="2152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4" name="Freeform 28"/>
                  <p:cNvSpPr>
                    <a:spLocks/>
                  </p:cNvSpPr>
                  <p:nvPr/>
                </p:nvSpPr>
                <p:spPr bwMode="ltGray">
                  <a:xfrm>
                    <a:off x="2194" y="584"/>
                    <a:ext cx="11" cy="8"/>
                  </a:xfrm>
                  <a:custGeom>
                    <a:avLst/>
                    <a:gdLst>
                      <a:gd name="T0" fmla="*/ 8 w 26"/>
                      <a:gd name="T1" fmla="*/ 14 h 22"/>
                      <a:gd name="T2" fmla="*/ 14 w 26"/>
                      <a:gd name="T3" fmla="*/ 0 h 22"/>
                      <a:gd name="T4" fmla="*/ 14 w 26"/>
                      <a:gd name="T5" fmla="*/ 22 h 22"/>
                      <a:gd name="T6" fmla="*/ 8 w 26"/>
                      <a:gd name="T7" fmla="*/ 14 h 2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6" h="22">
                        <a:moveTo>
                          <a:pt x="8" y="14"/>
                        </a:moveTo>
                        <a:cubicBezTo>
                          <a:pt x="5" y="6"/>
                          <a:pt x="5" y="3"/>
                          <a:pt x="14" y="0"/>
                        </a:cubicBezTo>
                        <a:cubicBezTo>
                          <a:pt x="26" y="4"/>
                          <a:pt x="23" y="16"/>
                          <a:pt x="14" y="22"/>
                        </a:cubicBezTo>
                        <a:cubicBezTo>
                          <a:pt x="0" y="17"/>
                          <a:pt x="13" y="3"/>
                          <a:pt x="8" y="1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5" name="Freeform 29"/>
                  <p:cNvSpPr>
                    <a:spLocks/>
                  </p:cNvSpPr>
                  <p:nvPr/>
                </p:nvSpPr>
                <p:spPr bwMode="ltGray">
                  <a:xfrm>
                    <a:off x="2059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6" name="Freeform 30"/>
                  <p:cNvSpPr>
                    <a:spLocks/>
                  </p:cNvSpPr>
                  <p:nvPr/>
                </p:nvSpPr>
                <p:spPr bwMode="ltGray">
                  <a:xfrm>
                    <a:off x="1988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7" name="Freeform 31"/>
                  <p:cNvSpPr>
                    <a:spLocks/>
                  </p:cNvSpPr>
                  <p:nvPr/>
                </p:nvSpPr>
                <p:spPr bwMode="ltGray">
                  <a:xfrm>
                    <a:off x="1910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8" name="Freeform 32"/>
                  <p:cNvSpPr>
                    <a:spLocks/>
                  </p:cNvSpPr>
                  <p:nvPr/>
                </p:nvSpPr>
                <p:spPr bwMode="ltGray">
                  <a:xfrm>
                    <a:off x="1899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49" name="Freeform 33"/>
                  <p:cNvSpPr>
                    <a:spLocks/>
                  </p:cNvSpPr>
                  <p:nvPr/>
                </p:nvSpPr>
                <p:spPr bwMode="ltGray">
                  <a:xfrm>
                    <a:off x="1909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0" name="Freeform 34"/>
                  <p:cNvSpPr>
                    <a:spLocks/>
                  </p:cNvSpPr>
                  <p:nvPr/>
                </p:nvSpPr>
                <p:spPr bwMode="ltGray">
                  <a:xfrm>
                    <a:off x="1881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1" name="Freeform 35"/>
                  <p:cNvSpPr>
                    <a:spLocks/>
                  </p:cNvSpPr>
                  <p:nvPr/>
                </p:nvSpPr>
                <p:spPr bwMode="ltGray">
                  <a:xfrm>
                    <a:off x="2930" y="489"/>
                    <a:ext cx="299" cy="179"/>
                  </a:xfrm>
                  <a:custGeom>
                    <a:avLst/>
                    <a:gdLst>
                      <a:gd name="T0" fmla="*/ 21 w 471"/>
                      <a:gd name="T1" fmla="*/ 280 h 281"/>
                      <a:gd name="T2" fmla="*/ 24 w 471"/>
                      <a:gd name="T3" fmla="*/ 250 h 281"/>
                      <a:gd name="T4" fmla="*/ 22 w 471"/>
                      <a:gd name="T5" fmla="*/ 245 h 281"/>
                      <a:gd name="T6" fmla="*/ 16 w 471"/>
                      <a:gd name="T7" fmla="*/ 218 h 281"/>
                      <a:gd name="T8" fmla="*/ 4 w 471"/>
                      <a:gd name="T9" fmla="*/ 215 h 281"/>
                      <a:gd name="T10" fmla="*/ 0 w 471"/>
                      <a:gd name="T11" fmla="*/ 191 h 281"/>
                      <a:gd name="T12" fmla="*/ 12 w 471"/>
                      <a:gd name="T13" fmla="*/ 180 h 281"/>
                      <a:gd name="T14" fmla="*/ 6 w 471"/>
                      <a:gd name="T15" fmla="*/ 165 h 281"/>
                      <a:gd name="T16" fmla="*/ 2 w 471"/>
                      <a:gd name="T17" fmla="*/ 160 h 281"/>
                      <a:gd name="T18" fmla="*/ 28 w 471"/>
                      <a:gd name="T19" fmla="*/ 120 h 281"/>
                      <a:gd name="T20" fmla="*/ 44 w 471"/>
                      <a:gd name="T21" fmla="*/ 96 h 281"/>
                      <a:gd name="T22" fmla="*/ 42 w 471"/>
                      <a:gd name="T23" fmla="*/ 70 h 281"/>
                      <a:gd name="T24" fmla="*/ 24 w 471"/>
                      <a:gd name="T25" fmla="*/ 43 h 281"/>
                      <a:gd name="T26" fmla="*/ 20 w 471"/>
                      <a:gd name="T27" fmla="*/ 32 h 281"/>
                      <a:gd name="T28" fmla="*/ 26 w 471"/>
                      <a:gd name="T29" fmla="*/ 36 h 281"/>
                      <a:gd name="T30" fmla="*/ 48 w 471"/>
                      <a:gd name="T31" fmla="*/ 35 h 281"/>
                      <a:gd name="T32" fmla="*/ 64 w 471"/>
                      <a:gd name="T33" fmla="*/ 11 h 281"/>
                      <a:gd name="T34" fmla="*/ 82 w 471"/>
                      <a:gd name="T35" fmla="*/ 0 h 281"/>
                      <a:gd name="T36" fmla="*/ 88 w 471"/>
                      <a:gd name="T37" fmla="*/ 2 h 281"/>
                      <a:gd name="T38" fmla="*/ 92 w 471"/>
                      <a:gd name="T39" fmla="*/ 9 h 281"/>
                      <a:gd name="T40" fmla="*/ 98 w 471"/>
                      <a:gd name="T41" fmla="*/ 5 h 281"/>
                      <a:gd name="T42" fmla="*/ 110 w 471"/>
                      <a:gd name="T43" fmla="*/ 8 h 281"/>
                      <a:gd name="T44" fmla="*/ 116 w 471"/>
                      <a:gd name="T45" fmla="*/ 9 h 281"/>
                      <a:gd name="T46" fmla="*/ 141 w 471"/>
                      <a:gd name="T47" fmla="*/ 14 h 281"/>
                      <a:gd name="T48" fmla="*/ 155 w 471"/>
                      <a:gd name="T49" fmla="*/ 24 h 281"/>
                      <a:gd name="T50" fmla="*/ 167 w 471"/>
                      <a:gd name="T51" fmla="*/ 17 h 281"/>
                      <a:gd name="T52" fmla="*/ 173 w 471"/>
                      <a:gd name="T53" fmla="*/ 14 h 281"/>
                      <a:gd name="T54" fmla="*/ 195 w 471"/>
                      <a:gd name="T55" fmla="*/ 14 h 281"/>
                      <a:gd name="T56" fmla="*/ 211 w 471"/>
                      <a:gd name="T57" fmla="*/ 32 h 281"/>
                      <a:gd name="T58" fmla="*/ 231 w 471"/>
                      <a:gd name="T59" fmla="*/ 59 h 281"/>
                      <a:gd name="T60" fmla="*/ 245 w 471"/>
                      <a:gd name="T61" fmla="*/ 70 h 281"/>
                      <a:gd name="T62" fmla="*/ 257 w 471"/>
                      <a:gd name="T63" fmla="*/ 68 h 281"/>
                      <a:gd name="T64" fmla="*/ 270 w 471"/>
                      <a:gd name="T65" fmla="*/ 65 h 281"/>
                      <a:gd name="T66" fmla="*/ 290 w 471"/>
                      <a:gd name="T67" fmla="*/ 71 h 281"/>
                      <a:gd name="T68" fmla="*/ 300 w 471"/>
                      <a:gd name="T69" fmla="*/ 81 h 281"/>
                      <a:gd name="T70" fmla="*/ 308 w 471"/>
                      <a:gd name="T71" fmla="*/ 90 h 281"/>
                      <a:gd name="T72" fmla="*/ 318 w 471"/>
                      <a:gd name="T73" fmla="*/ 111 h 281"/>
                      <a:gd name="T74" fmla="*/ 322 w 471"/>
                      <a:gd name="T75" fmla="*/ 120 h 281"/>
                      <a:gd name="T76" fmla="*/ 324 w 471"/>
                      <a:gd name="T77" fmla="*/ 125 h 281"/>
                      <a:gd name="T78" fmla="*/ 310 w 471"/>
                      <a:gd name="T79" fmla="*/ 142 h 281"/>
                      <a:gd name="T80" fmla="*/ 322 w 471"/>
                      <a:gd name="T81" fmla="*/ 141 h 281"/>
                      <a:gd name="T82" fmla="*/ 342 w 471"/>
                      <a:gd name="T83" fmla="*/ 155 h 281"/>
                      <a:gd name="T84" fmla="*/ 364 w 471"/>
                      <a:gd name="T85" fmla="*/ 157 h 281"/>
                      <a:gd name="T86" fmla="*/ 380 w 471"/>
                      <a:gd name="T87" fmla="*/ 168 h 281"/>
                      <a:gd name="T88" fmla="*/ 382 w 471"/>
                      <a:gd name="T89" fmla="*/ 172 h 281"/>
                      <a:gd name="T90" fmla="*/ 382 w 471"/>
                      <a:gd name="T91" fmla="*/ 176 h 281"/>
                      <a:gd name="T92" fmla="*/ 394 w 471"/>
                      <a:gd name="T93" fmla="*/ 172 h 281"/>
                      <a:gd name="T94" fmla="*/ 400 w 471"/>
                      <a:gd name="T95" fmla="*/ 171 h 281"/>
                      <a:gd name="T96" fmla="*/ 439 w 471"/>
                      <a:gd name="T97" fmla="*/ 185 h 281"/>
                      <a:gd name="T98" fmla="*/ 447 w 471"/>
                      <a:gd name="T99" fmla="*/ 199 h 281"/>
                      <a:gd name="T100" fmla="*/ 465 w 471"/>
                      <a:gd name="T101" fmla="*/ 201 h 281"/>
                      <a:gd name="T102" fmla="*/ 471 w 471"/>
                      <a:gd name="T103" fmla="*/ 215 h 281"/>
                      <a:gd name="T104" fmla="*/ 451 w 471"/>
                      <a:gd name="T105" fmla="*/ 258 h 281"/>
                      <a:gd name="T106" fmla="*/ 435 w 471"/>
                      <a:gd name="T107" fmla="*/ 281 h 281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</a:gdLst>
                    <a:ahLst/>
                    <a:cxnLst>
                      <a:cxn ang="T108">
                        <a:pos x="T0" y="T1"/>
                      </a:cxn>
                      <a:cxn ang="T109">
                        <a:pos x="T2" y="T3"/>
                      </a:cxn>
                      <a:cxn ang="T110">
                        <a:pos x="T4" y="T5"/>
                      </a:cxn>
                      <a:cxn ang="T111">
                        <a:pos x="T6" y="T7"/>
                      </a:cxn>
                      <a:cxn ang="T112">
                        <a:pos x="T8" y="T9"/>
                      </a:cxn>
                      <a:cxn ang="T113">
                        <a:pos x="T10" y="T11"/>
                      </a:cxn>
                      <a:cxn ang="T114">
                        <a:pos x="T12" y="T13"/>
                      </a:cxn>
                      <a:cxn ang="T115">
                        <a:pos x="T14" y="T15"/>
                      </a:cxn>
                      <a:cxn ang="T116">
                        <a:pos x="T16" y="T17"/>
                      </a:cxn>
                      <a:cxn ang="T117">
                        <a:pos x="T18" y="T19"/>
                      </a:cxn>
                      <a:cxn ang="T118">
                        <a:pos x="T20" y="T21"/>
                      </a:cxn>
                      <a:cxn ang="T119">
                        <a:pos x="T22" y="T23"/>
                      </a:cxn>
                      <a:cxn ang="T120">
                        <a:pos x="T24" y="T25"/>
                      </a:cxn>
                      <a:cxn ang="T121">
                        <a:pos x="T26" y="T27"/>
                      </a:cxn>
                      <a:cxn ang="T122">
                        <a:pos x="T28" y="T29"/>
                      </a:cxn>
                      <a:cxn ang="T123">
                        <a:pos x="T30" y="T31"/>
                      </a:cxn>
                      <a:cxn ang="T124">
                        <a:pos x="T32" y="T33"/>
                      </a:cxn>
                      <a:cxn ang="T125">
                        <a:pos x="T34" y="T35"/>
                      </a:cxn>
                      <a:cxn ang="T126">
                        <a:pos x="T36" y="T37"/>
                      </a:cxn>
                      <a:cxn ang="T127">
                        <a:pos x="T38" y="T39"/>
                      </a:cxn>
                      <a:cxn ang="T128">
                        <a:pos x="T40" y="T41"/>
                      </a:cxn>
                      <a:cxn ang="T129">
                        <a:pos x="T42" y="T43"/>
                      </a:cxn>
                      <a:cxn ang="T130">
                        <a:pos x="T44" y="T45"/>
                      </a:cxn>
                      <a:cxn ang="T131">
                        <a:pos x="T46" y="T47"/>
                      </a:cxn>
                      <a:cxn ang="T132">
                        <a:pos x="T48" y="T49"/>
                      </a:cxn>
                      <a:cxn ang="T133">
                        <a:pos x="T50" y="T51"/>
                      </a:cxn>
                      <a:cxn ang="T134">
                        <a:pos x="T52" y="T53"/>
                      </a:cxn>
                      <a:cxn ang="T135">
                        <a:pos x="T54" y="T55"/>
                      </a:cxn>
                      <a:cxn ang="T136">
                        <a:pos x="T56" y="T57"/>
                      </a:cxn>
                      <a:cxn ang="T137">
                        <a:pos x="T58" y="T59"/>
                      </a:cxn>
                      <a:cxn ang="T138">
                        <a:pos x="T60" y="T61"/>
                      </a:cxn>
                      <a:cxn ang="T139">
                        <a:pos x="T62" y="T63"/>
                      </a:cxn>
                      <a:cxn ang="T140">
                        <a:pos x="T64" y="T65"/>
                      </a:cxn>
                      <a:cxn ang="T141">
                        <a:pos x="T66" y="T67"/>
                      </a:cxn>
                      <a:cxn ang="T142">
                        <a:pos x="T68" y="T69"/>
                      </a:cxn>
                      <a:cxn ang="T143">
                        <a:pos x="T70" y="T71"/>
                      </a:cxn>
                      <a:cxn ang="T144">
                        <a:pos x="T72" y="T73"/>
                      </a:cxn>
                      <a:cxn ang="T145">
                        <a:pos x="T74" y="T75"/>
                      </a:cxn>
                      <a:cxn ang="T146">
                        <a:pos x="T76" y="T77"/>
                      </a:cxn>
                      <a:cxn ang="T147">
                        <a:pos x="T78" y="T79"/>
                      </a:cxn>
                      <a:cxn ang="T148">
                        <a:pos x="T80" y="T81"/>
                      </a:cxn>
                      <a:cxn ang="T149">
                        <a:pos x="T82" y="T83"/>
                      </a:cxn>
                      <a:cxn ang="T150">
                        <a:pos x="T84" y="T85"/>
                      </a:cxn>
                      <a:cxn ang="T151">
                        <a:pos x="T86" y="T87"/>
                      </a:cxn>
                      <a:cxn ang="T152">
                        <a:pos x="T88" y="T89"/>
                      </a:cxn>
                      <a:cxn ang="T153">
                        <a:pos x="T90" y="T91"/>
                      </a:cxn>
                      <a:cxn ang="T154">
                        <a:pos x="T92" y="T93"/>
                      </a:cxn>
                      <a:cxn ang="T155">
                        <a:pos x="T94" y="T95"/>
                      </a:cxn>
                      <a:cxn ang="T156">
                        <a:pos x="T96" y="T97"/>
                      </a:cxn>
                      <a:cxn ang="T157">
                        <a:pos x="T98" y="T99"/>
                      </a:cxn>
                      <a:cxn ang="T158">
                        <a:pos x="T100" y="T101"/>
                      </a:cxn>
                      <a:cxn ang="T159">
                        <a:pos x="T102" y="T103"/>
                      </a:cxn>
                      <a:cxn ang="T160">
                        <a:pos x="T104" y="T105"/>
                      </a:cxn>
                      <a:cxn ang="T161">
                        <a:pos x="T106" y="T107"/>
                      </a:cxn>
                    </a:cxnLst>
                    <a:rect l="0" t="0" r="r" b="b"/>
                    <a:pathLst>
                      <a:path w="471" h="281">
                        <a:moveTo>
                          <a:pt x="21" y="280"/>
                        </a:moveTo>
                        <a:cubicBezTo>
                          <a:pt x="32" y="281"/>
                          <a:pt x="25" y="253"/>
                          <a:pt x="24" y="250"/>
                        </a:cubicBezTo>
                        <a:cubicBezTo>
                          <a:pt x="23" y="248"/>
                          <a:pt x="22" y="245"/>
                          <a:pt x="22" y="245"/>
                        </a:cubicBezTo>
                        <a:cubicBezTo>
                          <a:pt x="21" y="243"/>
                          <a:pt x="20" y="221"/>
                          <a:pt x="16" y="218"/>
                        </a:cubicBezTo>
                        <a:cubicBezTo>
                          <a:pt x="13" y="216"/>
                          <a:pt x="4" y="215"/>
                          <a:pt x="4" y="215"/>
                        </a:cubicBezTo>
                        <a:cubicBezTo>
                          <a:pt x="0" y="207"/>
                          <a:pt x="3" y="200"/>
                          <a:pt x="0" y="191"/>
                        </a:cubicBezTo>
                        <a:cubicBezTo>
                          <a:pt x="2" y="185"/>
                          <a:pt x="7" y="186"/>
                          <a:pt x="12" y="180"/>
                        </a:cubicBezTo>
                        <a:cubicBezTo>
                          <a:pt x="14" y="172"/>
                          <a:pt x="14" y="169"/>
                          <a:pt x="6" y="165"/>
                        </a:cubicBezTo>
                        <a:cubicBezTo>
                          <a:pt x="4" y="163"/>
                          <a:pt x="2" y="162"/>
                          <a:pt x="2" y="160"/>
                        </a:cubicBezTo>
                        <a:cubicBezTo>
                          <a:pt x="2" y="150"/>
                          <a:pt x="16" y="123"/>
                          <a:pt x="28" y="120"/>
                        </a:cubicBezTo>
                        <a:cubicBezTo>
                          <a:pt x="32" y="111"/>
                          <a:pt x="40" y="105"/>
                          <a:pt x="44" y="96"/>
                        </a:cubicBezTo>
                        <a:cubicBezTo>
                          <a:pt x="39" y="83"/>
                          <a:pt x="38" y="85"/>
                          <a:pt x="42" y="70"/>
                        </a:cubicBezTo>
                        <a:cubicBezTo>
                          <a:pt x="38" y="60"/>
                          <a:pt x="34" y="48"/>
                          <a:pt x="24" y="43"/>
                        </a:cubicBezTo>
                        <a:cubicBezTo>
                          <a:pt x="18" y="36"/>
                          <a:pt x="10" y="37"/>
                          <a:pt x="20" y="32"/>
                        </a:cubicBezTo>
                        <a:cubicBezTo>
                          <a:pt x="27" y="34"/>
                          <a:pt x="26" y="32"/>
                          <a:pt x="26" y="36"/>
                        </a:cubicBezTo>
                        <a:cubicBezTo>
                          <a:pt x="34" y="41"/>
                          <a:pt x="39" y="39"/>
                          <a:pt x="48" y="35"/>
                        </a:cubicBezTo>
                        <a:cubicBezTo>
                          <a:pt x="45" y="22"/>
                          <a:pt x="48" y="14"/>
                          <a:pt x="64" y="11"/>
                        </a:cubicBezTo>
                        <a:cubicBezTo>
                          <a:pt x="71" y="8"/>
                          <a:pt x="75" y="3"/>
                          <a:pt x="82" y="0"/>
                        </a:cubicBezTo>
                        <a:cubicBezTo>
                          <a:pt x="84" y="1"/>
                          <a:pt x="88" y="0"/>
                          <a:pt x="88" y="2"/>
                        </a:cubicBezTo>
                        <a:cubicBezTo>
                          <a:pt x="90" y="12"/>
                          <a:pt x="75" y="13"/>
                          <a:pt x="92" y="9"/>
                        </a:cubicBezTo>
                        <a:cubicBezTo>
                          <a:pt x="94" y="8"/>
                          <a:pt x="96" y="5"/>
                          <a:pt x="98" y="5"/>
                        </a:cubicBezTo>
                        <a:cubicBezTo>
                          <a:pt x="102" y="4"/>
                          <a:pt x="106" y="7"/>
                          <a:pt x="110" y="8"/>
                        </a:cubicBezTo>
                        <a:cubicBezTo>
                          <a:pt x="112" y="8"/>
                          <a:pt x="116" y="9"/>
                          <a:pt x="116" y="9"/>
                        </a:cubicBezTo>
                        <a:cubicBezTo>
                          <a:pt x="122" y="16"/>
                          <a:pt x="129" y="13"/>
                          <a:pt x="141" y="14"/>
                        </a:cubicBezTo>
                        <a:cubicBezTo>
                          <a:pt x="143" y="21"/>
                          <a:pt x="147" y="22"/>
                          <a:pt x="155" y="24"/>
                        </a:cubicBezTo>
                        <a:cubicBezTo>
                          <a:pt x="159" y="22"/>
                          <a:pt x="163" y="20"/>
                          <a:pt x="167" y="17"/>
                        </a:cubicBezTo>
                        <a:cubicBezTo>
                          <a:pt x="169" y="16"/>
                          <a:pt x="173" y="14"/>
                          <a:pt x="173" y="14"/>
                        </a:cubicBezTo>
                        <a:cubicBezTo>
                          <a:pt x="195" y="26"/>
                          <a:pt x="175" y="20"/>
                          <a:pt x="195" y="14"/>
                        </a:cubicBezTo>
                        <a:cubicBezTo>
                          <a:pt x="207" y="17"/>
                          <a:pt x="201" y="26"/>
                          <a:pt x="211" y="32"/>
                        </a:cubicBezTo>
                        <a:cubicBezTo>
                          <a:pt x="214" y="38"/>
                          <a:pt x="224" y="55"/>
                          <a:pt x="231" y="59"/>
                        </a:cubicBezTo>
                        <a:cubicBezTo>
                          <a:pt x="241" y="70"/>
                          <a:pt x="235" y="67"/>
                          <a:pt x="245" y="70"/>
                        </a:cubicBezTo>
                        <a:cubicBezTo>
                          <a:pt x="249" y="69"/>
                          <a:pt x="253" y="69"/>
                          <a:pt x="257" y="68"/>
                        </a:cubicBezTo>
                        <a:cubicBezTo>
                          <a:pt x="261" y="67"/>
                          <a:pt x="270" y="65"/>
                          <a:pt x="270" y="65"/>
                        </a:cubicBezTo>
                        <a:cubicBezTo>
                          <a:pt x="278" y="66"/>
                          <a:pt x="283" y="67"/>
                          <a:pt x="290" y="71"/>
                        </a:cubicBezTo>
                        <a:cubicBezTo>
                          <a:pt x="304" y="88"/>
                          <a:pt x="282" y="62"/>
                          <a:pt x="300" y="81"/>
                        </a:cubicBezTo>
                        <a:cubicBezTo>
                          <a:pt x="302" y="84"/>
                          <a:pt x="308" y="90"/>
                          <a:pt x="308" y="90"/>
                        </a:cubicBezTo>
                        <a:cubicBezTo>
                          <a:pt x="311" y="98"/>
                          <a:pt x="315" y="103"/>
                          <a:pt x="318" y="111"/>
                        </a:cubicBezTo>
                        <a:cubicBezTo>
                          <a:pt x="319" y="114"/>
                          <a:pt x="321" y="117"/>
                          <a:pt x="322" y="120"/>
                        </a:cubicBezTo>
                        <a:cubicBezTo>
                          <a:pt x="323" y="122"/>
                          <a:pt x="324" y="125"/>
                          <a:pt x="324" y="125"/>
                        </a:cubicBezTo>
                        <a:cubicBezTo>
                          <a:pt x="321" y="132"/>
                          <a:pt x="313" y="134"/>
                          <a:pt x="310" y="142"/>
                        </a:cubicBezTo>
                        <a:cubicBezTo>
                          <a:pt x="313" y="151"/>
                          <a:pt x="317" y="146"/>
                          <a:pt x="322" y="141"/>
                        </a:cubicBezTo>
                        <a:cubicBezTo>
                          <a:pt x="341" y="143"/>
                          <a:pt x="339" y="142"/>
                          <a:pt x="342" y="155"/>
                        </a:cubicBezTo>
                        <a:cubicBezTo>
                          <a:pt x="351" y="150"/>
                          <a:pt x="355" y="152"/>
                          <a:pt x="364" y="157"/>
                        </a:cubicBezTo>
                        <a:cubicBezTo>
                          <a:pt x="369" y="162"/>
                          <a:pt x="372" y="166"/>
                          <a:pt x="380" y="168"/>
                        </a:cubicBezTo>
                        <a:cubicBezTo>
                          <a:pt x="381" y="169"/>
                          <a:pt x="383" y="171"/>
                          <a:pt x="382" y="172"/>
                        </a:cubicBezTo>
                        <a:cubicBezTo>
                          <a:pt x="380" y="176"/>
                          <a:pt x="368" y="172"/>
                          <a:pt x="382" y="176"/>
                        </a:cubicBezTo>
                        <a:cubicBezTo>
                          <a:pt x="386" y="175"/>
                          <a:pt x="390" y="173"/>
                          <a:pt x="394" y="172"/>
                        </a:cubicBezTo>
                        <a:cubicBezTo>
                          <a:pt x="396" y="172"/>
                          <a:pt x="400" y="171"/>
                          <a:pt x="400" y="171"/>
                        </a:cubicBezTo>
                        <a:cubicBezTo>
                          <a:pt x="413" y="177"/>
                          <a:pt x="427" y="179"/>
                          <a:pt x="439" y="185"/>
                        </a:cubicBezTo>
                        <a:cubicBezTo>
                          <a:pt x="441" y="190"/>
                          <a:pt x="445" y="194"/>
                          <a:pt x="447" y="199"/>
                        </a:cubicBezTo>
                        <a:cubicBezTo>
                          <a:pt x="453" y="198"/>
                          <a:pt x="460" y="195"/>
                          <a:pt x="465" y="201"/>
                        </a:cubicBezTo>
                        <a:cubicBezTo>
                          <a:pt x="468" y="205"/>
                          <a:pt x="471" y="215"/>
                          <a:pt x="471" y="215"/>
                        </a:cubicBezTo>
                        <a:cubicBezTo>
                          <a:pt x="468" y="231"/>
                          <a:pt x="469" y="248"/>
                          <a:pt x="451" y="258"/>
                        </a:cubicBezTo>
                        <a:cubicBezTo>
                          <a:pt x="447" y="262"/>
                          <a:pt x="437" y="275"/>
                          <a:pt x="435" y="281"/>
                        </a:cubicBezTo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2" name="Freeform 36"/>
                  <p:cNvSpPr>
                    <a:spLocks/>
                  </p:cNvSpPr>
                  <p:nvPr/>
                </p:nvSpPr>
                <p:spPr bwMode="ltGray">
                  <a:xfrm>
                    <a:off x="2534" y="242"/>
                    <a:ext cx="420" cy="283"/>
                  </a:xfrm>
                  <a:custGeom>
                    <a:avLst/>
                    <a:gdLst>
                      <a:gd name="T0" fmla="*/ 406 w 984"/>
                      <a:gd name="T1" fmla="*/ 6 h 844"/>
                      <a:gd name="T2" fmla="*/ 502 w 984"/>
                      <a:gd name="T3" fmla="*/ 34 h 844"/>
                      <a:gd name="T4" fmla="*/ 550 w 984"/>
                      <a:gd name="T5" fmla="*/ 38 h 844"/>
                      <a:gd name="T6" fmla="*/ 578 w 984"/>
                      <a:gd name="T7" fmla="*/ 130 h 844"/>
                      <a:gd name="T8" fmla="*/ 586 w 984"/>
                      <a:gd name="T9" fmla="*/ 90 h 844"/>
                      <a:gd name="T10" fmla="*/ 606 w 984"/>
                      <a:gd name="T11" fmla="*/ 70 h 844"/>
                      <a:gd name="T12" fmla="*/ 642 w 984"/>
                      <a:gd name="T13" fmla="*/ 126 h 844"/>
                      <a:gd name="T14" fmla="*/ 682 w 984"/>
                      <a:gd name="T15" fmla="*/ 98 h 844"/>
                      <a:gd name="T16" fmla="*/ 706 w 984"/>
                      <a:gd name="T17" fmla="*/ 86 h 844"/>
                      <a:gd name="T18" fmla="*/ 762 w 984"/>
                      <a:gd name="T19" fmla="*/ 2 h 844"/>
                      <a:gd name="T20" fmla="*/ 798 w 984"/>
                      <a:gd name="T21" fmla="*/ 70 h 844"/>
                      <a:gd name="T22" fmla="*/ 798 w 984"/>
                      <a:gd name="T23" fmla="*/ 130 h 844"/>
                      <a:gd name="T24" fmla="*/ 790 w 984"/>
                      <a:gd name="T25" fmla="*/ 158 h 844"/>
                      <a:gd name="T26" fmla="*/ 766 w 984"/>
                      <a:gd name="T27" fmla="*/ 162 h 844"/>
                      <a:gd name="T28" fmla="*/ 762 w 984"/>
                      <a:gd name="T29" fmla="*/ 186 h 844"/>
                      <a:gd name="T30" fmla="*/ 802 w 984"/>
                      <a:gd name="T31" fmla="*/ 226 h 844"/>
                      <a:gd name="T32" fmla="*/ 786 w 984"/>
                      <a:gd name="T33" fmla="*/ 322 h 844"/>
                      <a:gd name="T34" fmla="*/ 830 w 984"/>
                      <a:gd name="T35" fmla="*/ 414 h 844"/>
                      <a:gd name="T36" fmla="*/ 854 w 984"/>
                      <a:gd name="T37" fmla="*/ 450 h 844"/>
                      <a:gd name="T38" fmla="*/ 830 w 984"/>
                      <a:gd name="T39" fmla="*/ 450 h 844"/>
                      <a:gd name="T40" fmla="*/ 746 w 984"/>
                      <a:gd name="T41" fmla="*/ 378 h 844"/>
                      <a:gd name="T42" fmla="*/ 678 w 984"/>
                      <a:gd name="T43" fmla="*/ 402 h 844"/>
                      <a:gd name="T44" fmla="*/ 590 w 984"/>
                      <a:gd name="T45" fmla="*/ 442 h 844"/>
                      <a:gd name="T46" fmla="*/ 642 w 984"/>
                      <a:gd name="T47" fmla="*/ 578 h 844"/>
                      <a:gd name="T48" fmla="*/ 710 w 984"/>
                      <a:gd name="T49" fmla="*/ 610 h 844"/>
                      <a:gd name="T50" fmla="*/ 738 w 984"/>
                      <a:gd name="T51" fmla="*/ 550 h 844"/>
                      <a:gd name="T52" fmla="*/ 774 w 984"/>
                      <a:gd name="T53" fmla="*/ 570 h 844"/>
                      <a:gd name="T54" fmla="*/ 766 w 984"/>
                      <a:gd name="T55" fmla="*/ 630 h 844"/>
                      <a:gd name="T56" fmla="*/ 802 w 984"/>
                      <a:gd name="T57" fmla="*/ 670 h 844"/>
                      <a:gd name="T58" fmla="*/ 838 w 984"/>
                      <a:gd name="T59" fmla="*/ 658 h 844"/>
                      <a:gd name="T60" fmla="*/ 922 w 984"/>
                      <a:gd name="T61" fmla="*/ 806 h 844"/>
                      <a:gd name="T62" fmla="*/ 942 w 984"/>
                      <a:gd name="T63" fmla="*/ 826 h 844"/>
                      <a:gd name="T64" fmla="*/ 874 w 984"/>
                      <a:gd name="T65" fmla="*/ 810 h 844"/>
                      <a:gd name="T66" fmla="*/ 830 w 984"/>
                      <a:gd name="T67" fmla="*/ 758 h 844"/>
                      <a:gd name="T68" fmla="*/ 778 w 984"/>
                      <a:gd name="T69" fmla="*/ 710 h 844"/>
                      <a:gd name="T70" fmla="*/ 702 w 984"/>
                      <a:gd name="T71" fmla="*/ 662 h 844"/>
                      <a:gd name="T72" fmla="*/ 614 w 984"/>
                      <a:gd name="T73" fmla="*/ 646 h 844"/>
                      <a:gd name="T74" fmla="*/ 506 w 984"/>
                      <a:gd name="T75" fmla="*/ 594 h 844"/>
                      <a:gd name="T76" fmla="*/ 462 w 984"/>
                      <a:gd name="T77" fmla="*/ 506 h 844"/>
                      <a:gd name="T78" fmla="*/ 430 w 984"/>
                      <a:gd name="T79" fmla="*/ 462 h 844"/>
                      <a:gd name="T80" fmla="*/ 382 w 984"/>
                      <a:gd name="T81" fmla="*/ 430 h 844"/>
                      <a:gd name="T82" fmla="*/ 342 w 984"/>
                      <a:gd name="T83" fmla="*/ 370 h 844"/>
                      <a:gd name="T84" fmla="*/ 354 w 984"/>
                      <a:gd name="T85" fmla="*/ 414 h 844"/>
                      <a:gd name="T86" fmla="*/ 418 w 984"/>
                      <a:gd name="T87" fmla="*/ 494 h 844"/>
                      <a:gd name="T88" fmla="*/ 422 w 984"/>
                      <a:gd name="T89" fmla="*/ 526 h 844"/>
                      <a:gd name="T90" fmla="*/ 394 w 984"/>
                      <a:gd name="T91" fmla="*/ 498 h 844"/>
                      <a:gd name="T92" fmla="*/ 354 w 984"/>
                      <a:gd name="T93" fmla="*/ 466 h 844"/>
                      <a:gd name="T94" fmla="*/ 314 w 984"/>
                      <a:gd name="T95" fmla="*/ 402 h 844"/>
                      <a:gd name="T96" fmla="*/ 266 w 984"/>
                      <a:gd name="T97" fmla="*/ 346 h 844"/>
                      <a:gd name="T98" fmla="*/ 210 w 984"/>
                      <a:gd name="T99" fmla="*/ 314 h 844"/>
                      <a:gd name="T100" fmla="*/ 154 w 984"/>
                      <a:gd name="T101" fmla="*/ 238 h 844"/>
                      <a:gd name="T102" fmla="*/ 66 w 984"/>
                      <a:gd name="T103" fmla="*/ 66 h 844"/>
                      <a:gd name="T104" fmla="*/ 34 w 984"/>
                      <a:gd name="T105" fmla="*/ 38 h 844"/>
                      <a:gd name="T106" fmla="*/ 46 w 984"/>
                      <a:gd name="T107" fmla="*/ 22 h 844"/>
                      <a:gd name="T108" fmla="*/ 102 w 984"/>
                      <a:gd name="T109" fmla="*/ 70 h 844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  <a:gd name="T159" fmla="*/ 0 60000 65536"/>
                      <a:gd name="T160" fmla="*/ 0 60000 65536"/>
                      <a:gd name="T161" fmla="*/ 0 60000 65536"/>
                      <a:gd name="T162" fmla="*/ 0 60000 65536"/>
                      <a:gd name="T163" fmla="*/ 0 60000 65536"/>
                      <a:gd name="T164" fmla="*/ 0 60000 65536"/>
                    </a:gdLst>
                    <a:ahLst/>
                    <a:cxnLst>
                      <a:cxn ang="T110">
                        <a:pos x="T0" y="T1"/>
                      </a:cxn>
                      <a:cxn ang="T111">
                        <a:pos x="T2" y="T3"/>
                      </a:cxn>
                      <a:cxn ang="T112">
                        <a:pos x="T4" y="T5"/>
                      </a:cxn>
                      <a:cxn ang="T113">
                        <a:pos x="T6" y="T7"/>
                      </a:cxn>
                      <a:cxn ang="T114">
                        <a:pos x="T8" y="T9"/>
                      </a:cxn>
                      <a:cxn ang="T115">
                        <a:pos x="T10" y="T11"/>
                      </a:cxn>
                      <a:cxn ang="T116">
                        <a:pos x="T12" y="T13"/>
                      </a:cxn>
                      <a:cxn ang="T117">
                        <a:pos x="T14" y="T15"/>
                      </a:cxn>
                      <a:cxn ang="T118">
                        <a:pos x="T16" y="T17"/>
                      </a:cxn>
                      <a:cxn ang="T119">
                        <a:pos x="T18" y="T19"/>
                      </a:cxn>
                      <a:cxn ang="T120">
                        <a:pos x="T20" y="T21"/>
                      </a:cxn>
                      <a:cxn ang="T121">
                        <a:pos x="T22" y="T23"/>
                      </a:cxn>
                      <a:cxn ang="T122">
                        <a:pos x="T24" y="T25"/>
                      </a:cxn>
                      <a:cxn ang="T123">
                        <a:pos x="T26" y="T27"/>
                      </a:cxn>
                      <a:cxn ang="T124">
                        <a:pos x="T28" y="T29"/>
                      </a:cxn>
                      <a:cxn ang="T125">
                        <a:pos x="T30" y="T31"/>
                      </a:cxn>
                      <a:cxn ang="T126">
                        <a:pos x="T32" y="T33"/>
                      </a:cxn>
                      <a:cxn ang="T127">
                        <a:pos x="T34" y="T35"/>
                      </a:cxn>
                      <a:cxn ang="T128">
                        <a:pos x="T36" y="T37"/>
                      </a:cxn>
                      <a:cxn ang="T129">
                        <a:pos x="T38" y="T39"/>
                      </a:cxn>
                      <a:cxn ang="T130">
                        <a:pos x="T40" y="T41"/>
                      </a:cxn>
                      <a:cxn ang="T131">
                        <a:pos x="T42" y="T43"/>
                      </a:cxn>
                      <a:cxn ang="T132">
                        <a:pos x="T44" y="T45"/>
                      </a:cxn>
                      <a:cxn ang="T133">
                        <a:pos x="T46" y="T47"/>
                      </a:cxn>
                      <a:cxn ang="T134">
                        <a:pos x="T48" y="T49"/>
                      </a:cxn>
                      <a:cxn ang="T135">
                        <a:pos x="T50" y="T51"/>
                      </a:cxn>
                      <a:cxn ang="T136">
                        <a:pos x="T52" y="T53"/>
                      </a:cxn>
                      <a:cxn ang="T137">
                        <a:pos x="T54" y="T55"/>
                      </a:cxn>
                      <a:cxn ang="T138">
                        <a:pos x="T56" y="T57"/>
                      </a:cxn>
                      <a:cxn ang="T139">
                        <a:pos x="T58" y="T59"/>
                      </a:cxn>
                      <a:cxn ang="T140">
                        <a:pos x="T60" y="T61"/>
                      </a:cxn>
                      <a:cxn ang="T141">
                        <a:pos x="T62" y="T63"/>
                      </a:cxn>
                      <a:cxn ang="T142">
                        <a:pos x="T64" y="T65"/>
                      </a:cxn>
                      <a:cxn ang="T143">
                        <a:pos x="T66" y="T67"/>
                      </a:cxn>
                      <a:cxn ang="T144">
                        <a:pos x="T68" y="T69"/>
                      </a:cxn>
                      <a:cxn ang="T145">
                        <a:pos x="T70" y="T71"/>
                      </a:cxn>
                      <a:cxn ang="T146">
                        <a:pos x="T72" y="T73"/>
                      </a:cxn>
                      <a:cxn ang="T147">
                        <a:pos x="T74" y="T75"/>
                      </a:cxn>
                      <a:cxn ang="T148">
                        <a:pos x="T76" y="T77"/>
                      </a:cxn>
                      <a:cxn ang="T149">
                        <a:pos x="T78" y="T79"/>
                      </a:cxn>
                      <a:cxn ang="T150">
                        <a:pos x="T80" y="T81"/>
                      </a:cxn>
                      <a:cxn ang="T151">
                        <a:pos x="T82" y="T83"/>
                      </a:cxn>
                      <a:cxn ang="T152">
                        <a:pos x="T84" y="T85"/>
                      </a:cxn>
                      <a:cxn ang="T153">
                        <a:pos x="T86" y="T87"/>
                      </a:cxn>
                      <a:cxn ang="T154">
                        <a:pos x="T88" y="T89"/>
                      </a:cxn>
                      <a:cxn ang="T155">
                        <a:pos x="T90" y="T91"/>
                      </a:cxn>
                      <a:cxn ang="T156">
                        <a:pos x="T92" y="T93"/>
                      </a:cxn>
                      <a:cxn ang="T157">
                        <a:pos x="T94" y="T95"/>
                      </a:cxn>
                      <a:cxn ang="T158">
                        <a:pos x="T96" y="T97"/>
                      </a:cxn>
                      <a:cxn ang="T159">
                        <a:pos x="T98" y="T99"/>
                      </a:cxn>
                      <a:cxn ang="T160">
                        <a:pos x="T100" y="T101"/>
                      </a:cxn>
                      <a:cxn ang="T161">
                        <a:pos x="T102" y="T103"/>
                      </a:cxn>
                      <a:cxn ang="T162">
                        <a:pos x="T104" y="T105"/>
                      </a:cxn>
                      <a:cxn ang="T163">
                        <a:pos x="T106" y="T107"/>
                      </a:cxn>
                      <a:cxn ang="T164">
                        <a:pos x="T108" y="T109"/>
                      </a:cxn>
                    </a:cxnLst>
                    <a:rect l="0" t="0" r="r" b="b"/>
                    <a:pathLst>
                      <a:path w="984" h="844">
                        <a:moveTo>
                          <a:pt x="82" y="38"/>
                        </a:moveTo>
                        <a:lnTo>
                          <a:pt x="406" y="6"/>
                        </a:lnTo>
                        <a:cubicBezTo>
                          <a:pt x="497" y="22"/>
                          <a:pt x="465" y="0"/>
                          <a:pt x="474" y="54"/>
                        </a:cubicBezTo>
                        <a:cubicBezTo>
                          <a:pt x="492" y="48"/>
                          <a:pt x="484" y="40"/>
                          <a:pt x="502" y="34"/>
                        </a:cubicBezTo>
                        <a:cubicBezTo>
                          <a:pt x="510" y="37"/>
                          <a:pt x="517" y="46"/>
                          <a:pt x="526" y="46"/>
                        </a:cubicBezTo>
                        <a:cubicBezTo>
                          <a:pt x="534" y="46"/>
                          <a:pt x="550" y="38"/>
                          <a:pt x="550" y="38"/>
                        </a:cubicBezTo>
                        <a:cubicBezTo>
                          <a:pt x="556" y="55"/>
                          <a:pt x="552" y="60"/>
                          <a:pt x="542" y="74"/>
                        </a:cubicBezTo>
                        <a:cubicBezTo>
                          <a:pt x="555" y="114"/>
                          <a:pt x="550" y="102"/>
                          <a:pt x="578" y="130"/>
                        </a:cubicBezTo>
                        <a:cubicBezTo>
                          <a:pt x="584" y="148"/>
                          <a:pt x="590" y="148"/>
                          <a:pt x="606" y="138"/>
                        </a:cubicBezTo>
                        <a:cubicBezTo>
                          <a:pt x="600" y="119"/>
                          <a:pt x="594" y="107"/>
                          <a:pt x="586" y="90"/>
                        </a:cubicBezTo>
                        <a:cubicBezTo>
                          <a:pt x="583" y="82"/>
                          <a:pt x="578" y="66"/>
                          <a:pt x="578" y="66"/>
                        </a:cubicBezTo>
                        <a:cubicBezTo>
                          <a:pt x="585" y="44"/>
                          <a:pt x="597" y="56"/>
                          <a:pt x="606" y="70"/>
                        </a:cubicBezTo>
                        <a:cubicBezTo>
                          <a:pt x="609" y="86"/>
                          <a:pt x="608" y="117"/>
                          <a:pt x="626" y="90"/>
                        </a:cubicBezTo>
                        <a:cubicBezTo>
                          <a:pt x="648" y="97"/>
                          <a:pt x="646" y="104"/>
                          <a:pt x="642" y="126"/>
                        </a:cubicBezTo>
                        <a:cubicBezTo>
                          <a:pt x="650" y="150"/>
                          <a:pt x="665" y="141"/>
                          <a:pt x="682" y="130"/>
                        </a:cubicBezTo>
                        <a:cubicBezTo>
                          <a:pt x="689" y="108"/>
                          <a:pt x="673" y="124"/>
                          <a:pt x="682" y="98"/>
                        </a:cubicBezTo>
                        <a:cubicBezTo>
                          <a:pt x="683" y="94"/>
                          <a:pt x="690" y="96"/>
                          <a:pt x="694" y="94"/>
                        </a:cubicBezTo>
                        <a:cubicBezTo>
                          <a:pt x="698" y="92"/>
                          <a:pt x="702" y="89"/>
                          <a:pt x="706" y="86"/>
                        </a:cubicBezTo>
                        <a:cubicBezTo>
                          <a:pt x="717" y="54"/>
                          <a:pt x="688" y="54"/>
                          <a:pt x="742" y="46"/>
                        </a:cubicBezTo>
                        <a:cubicBezTo>
                          <a:pt x="748" y="27"/>
                          <a:pt x="741" y="9"/>
                          <a:pt x="762" y="2"/>
                        </a:cubicBezTo>
                        <a:cubicBezTo>
                          <a:pt x="788" y="11"/>
                          <a:pt x="777" y="38"/>
                          <a:pt x="802" y="46"/>
                        </a:cubicBezTo>
                        <a:cubicBezTo>
                          <a:pt x="831" y="36"/>
                          <a:pt x="805" y="63"/>
                          <a:pt x="798" y="70"/>
                        </a:cubicBezTo>
                        <a:cubicBezTo>
                          <a:pt x="789" y="96"/>
                          <a:pt x="787" y="96"/>
                          <a:pt x="802" y="118"/>
                        </a:cubicBezTo>
                        <a:cubicBezTo>
                          <a:pt x="801" y="122"/>
                          <a:pt x="801" y="127"/>
                          <a:pt x="798" y="130"/>
                        </a:cubicBezTo>
                        <a:cubicBezTo>
                          <a:pt x="794" y="133"/>
                          <a:pt x="784" y="129"/>
                          <a:pt x="782" y="134"/>
                        </a:cubicBezTo>
                        <a:cubicBezTo>
                          <a:pt x="780" y="142"/>
                          <a:pt x="790" y="158"/>
                          <a:pt x="790" y="158"/>
                        </a:cubicBezTo>
                        <a:cubicBezTo>
                          <a:pt x="786" y="161"/>
                          <a:pt x="783" y="165"/>
                          <a:pt x="778" y="166"/>
                        </a:cubicBezTo>
                        <a:cubicBezTo>
                          <a:pt x="774" y="167"/>
                          <a:pt x="769" y="159"/>
                          <a:pt x="766" y="162"/>
                        </a:cubicBezTo>
                        <a:cubicBezTo>
                          <a:pt x="758" y="170"/>
                          <a:pt x="794" y="182"/>
                          <a:pt x="794" y="182"/>
                        </a:cubicBezTo>
                        <a:cubicBezTo>
                          <a:pt x="804" y="211"/>
                          <a:pt x="775" y="190"/>
                          <a:pt x="762" y="186"/>
                        </a:cubicBezTo>
                        <a:cubicBezTo>
                          <a:pt x="767" y="194"/>
                          <a:pt x="773" y="202"/>
                          <a:pt x="778" y="210"/>
                        </a:cubicBezTo>
                        <a:cubicBezTo>
                          <a:pt x="783" y="218"/>
                          <a:pt x="802" y="226"/>
                          <a:pt x="802" y="226"/>
                        </a:cubicBezTo>
                        <a:cubicBezTo>
                          <a:pt x="813" y="242"/>
                          <a:pt x="804" y="245"/>
                          <a:pt x="810" y="262"/>
                        </a:cubicBezTo>
                        <a:cubicBezTo>
                          <a:pt x="803" y="282"/>
                          <a:pt x="793" y="301"/>
                          <a:pt x="786" y="322"/>
                        </a:cubicBezTo>
                        <a:cubicBezTo>
                          <a:pt x="783" y="330"/>
                          <a:pt x="778" y="346"/>
                          <a:pt x="778" y="346"/>
                        </a:cubicBezTo>
                        <a:cubicBezTo>
                          <a:pt x="785" y="366"/>
                          <a:pt x="817" y="394"/>
                          <a:pt x="830" y="414"/>
                        </a:cubicBezTo>
                        <a:cubicBezTo>
                          <a:pt x="835" y="422"/>
                          <a:pt x="841" y="430"/>
                          <a:pt x="846" y="438"/>
                        </a:cubicBezTo>
                        <a:cubicBezTo>
                          <a:pt x="849" y="442"/>
                          <a:pt x="854" y="450"/>
                          <a:pt x="854" y="450"/>
                        </a:cubicBezTo>
                        <a:cubicBezTo>
                          <a:pt x="853" y="457"/>
                          <a:pt x="855" y="466"/>
                          <a:pt x="850" y="470"/>
                        </a:cubicBezTo>
                        <a:cubicBezTo>
                          <a:pt x="844" y="475"/>
                          <a:pt x="831" y="451"/>
                          <a:pt x="830" y="450"/>
                        </a:cubicBezTo>
                        <a:cubicBezTo>
                          <a:pt x="811" y="431"/>
                          <a:pt x="789" y="421"/>
                          <a:pt x="774" y="398"/>
                        </a:cubicBezTo>
                        <a:cubicBezTo>
                          <a:pt x="769" y="379"/>
                          <a:pt x="766" y="371"/>
                          <a:pt x="746" y="378"/>
                        </a:cubicBezTo>
                        <a:cubicBezTo>
                          <a:pt x="717" y="368"/>
                          <a:pt x="730" y="368"/>
                          <a:pt x="706" y="374"/>
                        </a:cubicBezTo>
                        <a:cubicBezTo>
                          <a:pt x="688" y="402"/>
                          <a:pt x="699" y="395"/>
                          <a:pt x="678" y="402"/>
                        </a:cubicBezTo>
                        <a:cubicBezTo>
                          <a:pt x="654" y="386"/>
                          <a:pt x="650" y="390"/>
                          <a:pt x="618" y="394"/>
                        </a:cubicBezTo>
                        <a:cubicBezTo>
                          <a:pt x="607" y="411"/>
                          <a:pt x="601" y="426"/>
                          <a:pt x="590" y="442"/>
                        </a:cubicBezTo>
                        <a:cubicBezTo>
                          <a:pt x="600" y="471"/>
                          <a:pt x="593" y="459"/>
                          <a:pt x="606" y="478"/>
                        </a:cubicBezTo>
                        <a:cubicBezTo>
                          <a:pt x="593" y="518"/>
                          <a:pt x="622" y="548"/>
                          <a:pt x="642" y="578"/>
                        </a:cubicBezTo>
                        <a:cubicBezTo>
                          <a:pt x="651" y="591"/>
                          <a:pt x="651" y="601"/>
                          <a:pt x="666" y="606"/>
                        </a:cubicBezTo>
                        <a:cubicBezTo>
                          <a:pt x="680" y="627"/>
                          <a:pt x="691" y="623"/>
                          <a:pt x="710" y="610"/>
                        </a:cubicBezTo>
                        <a:cubicBezTo>
                          <a:pt x="729" y="616"/>
                          <a:pt x="729" y="606"/>
                          <a:pt x="734" y="590"/>
                        </a:cubicBezTo>
                        <a:cubicBezTo>
                          <a:pt x="735" y="577"/>
                          <a:pt x="731" y="562"/>
                          <a:pt x="738" y="550"/>
                        </a:cubicBezTo>
                        <a:cubicBezTo>
                          <a:pt x="742" y="543"/>
                          <a:pt x="762" y="542"/>
                          <a:pt x="762" y="542"/>
                        </a:cubicBezTo>
                        <a:cubicBezTo>
                          <a:pt x="783" y="547"/>
                          <a:pt x="786" y="552"/>
                          <a:pt x="774" y="570"/>
                        </a:cubicBezTo>
                        <a:cubicBezTo>
                          <a:pt x="779" y="590"/>
                          <a:pt x="790" y="605"/>
                          <a:pt x="770" y="618"/>
                        </a:cubicBezTo>
                        <a:cubicBezTo>
                          <a:pt x="769" y="622"/>
                          <a:pt x="764" y="626"/>
                          <a:pt x="766" y="630"/>
                        </a:cubicBezTo>
                        <a:cubicBezTo>
                          <a:pt x="768" y="634"/>
                          <a:pt x="775" y="634"/>
                          <a:pt x="778" y="638"/>
                        </a:cubicBezTo>
                        <a:cubicBezTo>
                          <a:pt x="788" y="651"/>
                          <a:pt x="786" y="660"/>
                          <a:pt x="802" y="670"/>
                        </a:cubicBezTo>
                        <a:cubicBezTo>
                          <a:pt x="810" y="667"/>
                          <a:pt x="818" y="665"/>
                          <a:pt x="826" y="662"/>
                        </a:cubicBezTo>
                        <a:cubicBezTo>
                          <a:pt x="830" y="661"/>
                          <a:pt x="838" y="658"/>
                          <a:pt x="838" y="658"/>
                        </a:cubicBezTo>
                        <a:cubicBezTo>
                          <a:pt x="857" y="664"/>
                          <a:pt x="864" y="680"/>
                          <a:pt x="870" y="698"/>
                        </a:cubicBezTo>
                        <a:cubicBezTo>
                          <a:pt x="859" y="731"/>
                          <a:pt x="887" y="794"/>
                          <a:pt x="922" y="806"/>
                        </a:cubicBezTo>
                        <a:cubicBezTo>
                          <a:pt x="938" y="801"/>
                          <a:pt x="941" y="792"/>
                          <a:pt x="958" y="798"/>
                        </a:cubicBezTo>
                        <a:cubicBezTo>
                          <a:pt x="984" y="837"/>
                          <a:pt x="928" y="784"/>
                          <a:pt x="942" y="826"/>
                        </a:cubicBezTo>
                        <a:cubicBezTo>
                          <a:pt x="936" y="844"/>
                          <a:pt x="930" y="844"/>
                          <a:pt x="914" y="834"/>
                        </a:cubicBezTo>
                        <a:cubicBezTo>
                          <a:pt x="903" y="817"/>
                          <a:pt x="890" y="821"/>
                          <a:pt x="874" y="810"/>
                        </a:cubicBezTo>
                        <a:cubicBezTo>
                          <a:pt x="851" y="776"/>
                          <a:pt x="882" y="816"/>
                          <a:pt x="854" y="794"/>
                        </a:cubicBezTo>
                        <a:cubicBezTo>
                          <a:pt x="843" y="785"/>
                          <a:pt x="840" y="768"/>
                          <a:pt x="830" y="758"/>
                        </a:cubicBezTo>
                        <a:cubicBezTo>
                          <a:pt x="824" y="739"/>
                          <a:pt x="817" y="724"/>
                          <a:pt x="798" y="718"/>
                        </a:cubicBezTo>
                        <a:cubicBezTo>
                          <a:pt x="791" y="696"/>
                          <a:pt x="800" y="712"/>
                          <a:pt x="778" y="710"/>
                        </a:cubicBezTo>
                        <a:cubicBezTo>
                          <a:pt x="767" y="709"/>
                          <a:pt x="746" y="702"/>
                          <a:pt x="746" y="702"/>
                        </a:cubicBezTo>
                        <a:cubicBezTo>
                          <a:pt x="729" y="691"/>
                          <a:pt x="720" y="674"/>
                          <a:pt x="702" y="662"/>
                        </a:cubicBezTo>
                        <a:cubicBezTo>
                          <a:pt x="694" y="665"/>
                          <a:pt x="687" y="673"/>
                          <a:pt x="678" y="674"/>
                        </a:cubicBezTo>
                        <a:cubicBezTo>
                          <a:pt x="657" y="677"/>
                          <a:pt x="630" y="657"/>
                          <a:pt x="614" y="646"/>
                        </a:cubicBezTo>
                        <a:cubicBezTo>
                          <a:pt x="600" y="637"/>
                          <a:pt x="580" y="639"/>
                          <a:pt x="566" y="630"/>
                        </a:cubicBezTo>
                        <a:cubicBezTo>
                          <a:pt x="546" y="617"/>
                          <a:pt x="525" y="607"/>
                          <a:pt x="506" y="594"/>
                        </a:cubicBezTo>
                        <a:cubicBezTo>
                          <a:pt x="513" y="572"/>
                          <a:pt x="509" y="551"/>
                          <a:pt x="490" y="538"/>
                        </a:cubicBezTo>
                        <a:cubicBezTo>
                          <a:pt x="485" y="522"/>
                          <a:pt x="476" y="515"/>
                          <a:pt x="462" y="506"/>
                        </a:cubicBezTo>
                        <a:cubicBezTo>
                          <a:pt x="441" y="474"/>
                          <a:pt x="469" y="513"/>
                          <a:pt x="442" y="486"/>
                        </a:cubicBezTo>
                        <a:cubicBezTo>
                          <a:pt x="436" y="480"/>
                          <a:pt x="436" y="468"/>
                          <a:pt x="430" y="462"/>
                        </a:cubicBezTo>
                        <a:cubicBezTo>
                          <a:pt x="427" y="459"/>
                          <a:pt x="422" y="459"/>
                          <a:pt x="418" y="458"/>
                        </a:cubicBezTo>
                        <a:cubicBezTo>
                          <a:pt x="407" y="447"/>
                          <a:pt x="382" y="430"/>
                          <a:pt x="382" y="430"/>
                        </a:cubicBezTo>
                        <a:cubicBezTo>
                          <a:pt x="371" y="413"/>
                          <a:pt x="358" y="399"/>
                          <a:pt x="346" y="382"/>
                        </a:cubicBezTo>
                        <a:cubicBezTo>
                          <a:pt x="344" y="378"/>
                          <a:pt x="345" y="373"/>
                          <a:pt x="342" y="370"/>
                        </a:cubicBezTo>
                        <a:cubicBezTo>
                          <a:pt x="339" y="367"/>
                          <a:pt x="334" y="367"/>
                          <a:pt x="330" y="366"/>
                        </a:cubicBezTo>
                        <a:cubicBezTo>
                          <a:pt x="322" y="390"/>
                          <a:pt x="342" y="398"/>
                          <a:pt x="354" y="414"/>
                        </a:cubicBezTo>
                        <a:cubicBezTo>
                          <a:pt x="368" y="432"/>
                          <a:pt x="372" y="446"/>
                          <a:pt x="390" y="458"/>
                        </a:cubicBezTo>
                        <a:cubicBezTo>
                          <a:pt x="409" y="487"/>
                          <a:pt x="399" y="475"/>
                          <a:pt x="418" y="494"/>
                        </a:cubicBezTo>
                        <a:cubicBezTo>
                          <a:pt x="423" y="510"/>
                          <a:pt x="428" y="517"/>
                          <a:pt x="442" y="526"/>
                        </a:cubicBezTo>
                        <a:cubicBezTo>
                          <a:pt x="450" y="550"/>
                          <a:pt x="432" y="533"/>
                          <a:pt x="422" y="526"/>
                        </a:cubicBezTo>
                        <a:cubicBezTo>
                          <a:pt x="399" y="492"/>
                          <a:pt x="430" y="532"/>
                          <a:pt x="402" y="510"/>
                        </a:cubicBezTo>
                        <a:cubicBezTo>
                          <a:pt x="398" y="507"/>
                          <a:pt x="397" y="501"/>
                          <a:pt x="394" y="498"/>
                        </a:cubicBezTo>
                        <a:cubicBezTo>
                          <a:pt x="391" y="495"/>
                          <a:pt x="386" y="493"/>
                          <a:pt x="382" y="490"/>
                        </a:cubicBezTo>
                        <a:cubicBezTo>
                          <a:pt x="377" y="474"/>
                          <a:pt x="370" y="471"/>
                          <a:pt x="354" y="466"/>
                        </a:cubicBezTo>
                        <a:cubicBezTo>
                          <a:pt x="344" y="452"/>
                          <a:pt x="340" y="447"/>
                          <a:pt x="346" y="430"/>
                        </a:cubicBezTo>
                        <a:cubicBezTo>
                          <a:pt x="338" y="418"/>
                          <a:pt x="314" y="402"/>
                          <a:pt x="314" y="402"/>
                        </a:cubicBezTo>
                        <a:cubicBezTo>
                          <a:pt x="306" y="390"/>
                          <a:pt x="298" y="378"/>
                          <a:pt x="290" y="366"/>
                        </a:cubicBezTo>
                        <a:cubicBezTo>
                          <a:pt x="284" y="357"/>
                          <a:pt x="273" y="354"/>
                          <a:pt x="266" y="346"/>
                        </a:cubicBezTo>
                        <a:cubicBezTo>
                          <a:pt x="263" y="342"/>
                          <a:pt x="262" y="337"/>
                          <a:pt x="258" y="334"/>
                        </a:cubicBezTo>
                        <a:cubicBezTo>
                          <a:pt x="243" y="324"/>
                          <a:pt x="225" y="324"/>
                          <a:pt x="210" y="314"/>
                        </a:cubicBezTo>
                        <a:cubicBezTo>
                          <a:pt x="201" y="300"/>
                          <a:pt x="194" y="291"/>
                          <a:pt x="178" y="286"/>
                        </a:cubicBezTo>
                        <a:cubicBezTo>
                          <a:pt x="160" y="260"/>
                          <a:pt x="192" y="247"/>
                          <a:pt x="154" y="238"/>
                        </a:cubicBezTo>
                        <a:cubicBezTo>
                          <a:pt x="111" y="209"/>
                          <a:pt x="106" y="149"/>
                          <a:pt x="90" y="102"/>
                        </a:cubicBezTo>
                        <a:cubicBezTo>
                          <a:pt x="86" y="90"/>
                          <a:pt x="76" y="73"/>
                          <a:pt x="66" y="66"/>
                        </a:cubicBezTo>
                        <a:cubicBezTo>
                          <a:pt x="58" y="60"/>
                          <a:pt x="42" y="50"/>
                          <a:pt x="42" y="50"/>
                        </a:cubicBezTo>
                        <a:cubicBezTo>
                          <a:pt x="39" y="46"/>
                          <a:pt x="38" y="41"/>
                          <a:pt x="34" y="38"/>
                        </a:cubicBezTo>
                        <a:cubicBezTo>
                          <a:pt x="27" y="34"/>
                          <a:pt x="10" y="30"/>
                          <a:pt x="10" y="30"/>
                        </a:cubicBezTo>
                        <a:cubicBezTo>
                          <a:pt x="0" y="1"/>
                          <a:pt x="31" y="17"/>
                          <a:pt x="46" y="22"/>
                        </a:cubicBezTo>
                        <a:cubicBezTo>
                          <a:pt x="65" y="51"/>
                          <a:pt x="61" y="41"/>
                          <a:pt x="86" y="58"/>
                        </a:cubicBezTo>
                        <a:cubicBezTo>
                          <a:pt x="94" y="70"/>
                          <a:pt x="94" y="93"/>
                          <a:pt x="102" y="70"/>
                        </a:cubicBezTo>
                        <a:cubicBezTo>
                          <a:pt x="95" y="49"/>
                          <a:pt x="82" y="62"/>
                          <a:pt x="82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3" name="Freeform 37"/>
                  <p:cNvSpPr>
                    <a:spLocks/>
                  </p:cNvSpPr>
                  <p:nvPr/>
                </p:nvSpPr>
                <p:spPr bwMode="ltGray">
                  <a:xfrm>
                    <a:off x="2405" y="445"/>
                    <a:ext cx="15" cy="16"/>
                  </a:xfrm>
                  <a:custGeom>
                    <a:avLst/>
                    <a:gdLst>
                      <a:gd name="T0" fmla="*/ 6 w 36"/>
                      <a:gd name="T1" fmla="*/ 28 h 48"/>
                      <a:gd name="T2" fmla="*/ 10 w 36"/>
                      <a:gd name="T3" fmla="*/ 48 h 48"/>
                      <a:gd name="T4" fmla="*/ 6 w 36"/>
                      <a:gd name="T5" fmla="*/ 28 h 4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6" h="48">
                        <a:moveTo>
                          <a:pt x="6" y="28"/>
                        </a:moveTo>
                        <a:cubicBezTo>
                          <a:pt x="25" y="0"/>
                          <a:pt x="36" y="31"/>
                          <a:pt x="10" y="48"/>
                        </a:cubicBezTo>
                        <a:cubicBezTo>
                          <a:pt x="0" y="34"/>
                          <a:pt x="0" y="40"/>
                          <a:pt x="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4" name="Freeform 38"/>
                  <p:cNvSpPr>
                    <a:spLocks/>
                  </p:cNvSpPr>
                  <p:nvPr/>
                </p:nvSpPr>
                <p:spPr bwMode="ltGray">
                  <a:xfrm>
                    <a:off x="2393" y="439"/>
                    <a:ext cx="16" cy="12"/>
                  </a:xfrm>
                  <a:custGeom>
                    <a:avLst/>
                    <a:gdLst>
                      <a:gd name="T0" fmla="*/ 0 w 36"/>
                      <a:gd name="T1" fmla="*/ 5 h 37"/>
                      <a:gd name="T2" fmla="*/ 12 w 36"/>
                      <a:gd name="T3" fmla="*/ 1 h 37"/>
                      <a:gd name="T4" fmla="*/ 36 w 36"/>
                      <a:gd name="T5" fmla="*/ 17 h 37"/>
                      <a:gd name="T6" fmla="*/ 8 w 36"/>
                      <a:gd name="T7" fmla="*/ 17 h 37"/>
                      <a:gd name="T8" fmla="*/ 0 w 36"/>
                      <a:gd name="T9" fmla="*/ 5 h 3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6" h="37">
                        <a:moveTo>
                          <a:pt x="0" y="5"/>
                        </a:moveTo>
                        <a:cubicBezTo>
                          <a:pt x="4" y="4"/>
                          <a:pt x="8" y="0"/>
                          <a:pt x="12" y="1"/>
                        </a:cubicBezTo>
                        <a:cubicBezTo>
                          <a:pt x="21" y="4"/>
                          <a:pt x="36" y="17"/>
                          <a:pt x="36" y="17"/>
                        </a:cubicBezTo>
                        <a:cubicBezTo>
                          <a:pt x="29" y="37"/>
                          <a:pt x="22" y="26"/>
                          <a:pt x="8" y="17"/>
                        </a:cubicBezTo>
                        <a:cubicBezTo>
                          <a:pt x="5" y="13"/>
                          <a:pt x="0" y="5"/>
                          <a:pt x="0" y="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5" name="Freeform 39"/>
                  <p:cNvSpPr>
                    <a:spLocks/>
                  </p:cNvSpPr>
                  <p:nvPr/>
                </p:nvSpPr>
                <p:spPr bwMode="ltGray">
                  <a:xfrm>
                    <a:off x="2878" y="406"/>
                    <a:ext cx="73" cy="33"/>
                  </a:xfrm>
                  <a:custGeom>
                    <a:avLst/>
                    <a:gdLst>
                      <a:gd name="T0" fmla="*/ 0 w 170"/>
                      <a:gd name="T1" fmla="*/ 49 h 96"/>
                      <a:gd name="T2" fmla="*/ 28 w 170"/>
                      <a:gd name="T3" fmla="*/ 25 h 96"/>
                      <a:gd name="T4" fmla="*/ 56 w 170"/>
                      <a:gd name="T5" fmla="*/ 21 h 96"/>
                      <a:gd name="T6" fmla="*/ 80 w 170"/>
                      <a:gd name="T7" fmla="*/ 9 h 96"/>
                      <a:gd name="T8" fmla="*/ 64 w 170"/>
                      <a:gd name="T9" fmla="*/ 25 h 96"/>
                      <a:gd name="T10" fmla="*/ 124 w 170"/>
                      <a:gd name="T11" fmla="*/ 49 h 96"/>
                      <a:gd name="T12" fmla="*/ 160 w 170"/>
                      <a:gd name="T13" fmla="*/ 65 h 96"/>
                      <a:gd name="T14" fmla="*/ 116 w 170"/>
                      <a:gd name="T15" fmla="*/ 77 h 96"/>
                      <a:gd name="T16" fmla="*/ 88 w 170"/>
                      <a:gd name="T17" fmla="*/ 57 h 96"/>
                      <a:gd name="T18" fmla="*/ 76 w 170"/>
                      <a:gd name="T19" fmla="*/ 53 h 96"/>
                      <a:gd name="T20" fmla="*/ 24 w 170"/>
                      <a:gd name="T21" fmla="*/ 41 h 96"/>
                      <a:gd name="T22" fmla="*/ 0 w 170"/>
                      <a:gd name="T23" fmla="*/ 49 h 9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170" h="96">
                        <a:moveTo>
                          <a:pt x="0" y="49"/>
                        </a:moveTo>
                        <a:cubicBezTo>
                          <a:pt x="5" y="33"/>
                          <a:pt x="12" y="30"/>
                          <a:pt x="28" y="25"/>
                        </a:cubicBezTo>
                        <a:cubicBezTo>
                          <a:pt x="20" y="0"/>
                          <a:pt x="42" y="16"/>
                          <a:pt x="56" y="21"/>
                        </a:cubicBezTo>
                        <a:cubicBezTo>
                          <a:pt x="56" y="21"/>
                          <a:pt x="77" y="6"/>
                          <a:pt x="80" y="9"/>
                        </a:cubicBezTo>
                        <a:cubicBezTo>
                          <a:pt x="85" y="14"/>
                          <a:pt x="71" y="23"/>
                          <a:pt x="64" y="25"/>
                        </a:cubicBezTo>
                        <a:cubicBezTo>
                          <a:pt x="82" y="37"/>
                          <a:pt x="103" y="42"/>
                          <a:pt x="124" y="49"/>
                        </a:cubicBezTo>
                        <a:cubicBezTo>
                          <a:pt x="136" y="53"/>
                          <a:pt x="160" y="65"/>
                          <a:pt x="160" y="65"/>
                        </a:cubicBezTo>
                        <a:cubicBezTo>
                          <a:pt x="170" y="96"/>
                          <a:pt x="134" y="83"/>
                          <a:pt x="116" y="77"/>
                        </a:cubicBezTo>
                        <a:cubicBezTo>
                          <a:pt x="109" y="57"/>
                          <a:pt x="116" y="66"/>
                          <a:pt x="88" y="57"/>
                        </a:cubicBezTo>
                        <a:cubicBezTo>
                          <a:pt x="84" y="56"/>
                          <a:pt x="76" y="53"/>
                          <a:pt x="76" y="53"/>
                        </a:cubicBezTo>
                        <a:cubicBezTo>
                          <a:pt x="57" y="34"/>
                          <a:pt x="53" y="37"/>
                          <a:pt x="24" y="41"/>
                        </a:cubicBezTo>
                        <a:cubicBezTo>
                          <a:pt x="9" y="51"/>
                          <a:pt x="17" y="49"/>
                          <a:pt x="0" y="4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6" name="Freeform 40"/>
                  <p:cNvSpPr>
                    <a:spLocks/>
                  </p:cNvSpPr>
                  <p:nvPr/>
                </p:nvSpPr>
                <p:spPr bwMode="ltGray">
                  <a:xfrm>
                    <a:off x="2955" y="433"/>
                    <a:ext cx="59" cy="15"/>
                  </a:xfrm>
                  <a:custGeom>
                    <a:avLst/>
                    <a:gdLst>
                      <a:gd name="T0" fmla="*/ 0 w 138"/>
                      <a:gd name="T1" fmla="*/ 0 h 44"/>
                      <a:gd name="T2" fmla="*/ 52 w 138"/>
                      <a:gd name="T3" fmla="*/ 4 h 44"/>
                      <a:gd name="T4" fmla="*/ 88 w 138"/>
                      <a:gd name="T5" fmla="*/ 24 h 44"/>
                      <a:gd name="T6" fmla="*/ 112 w 138"/>
                      <a:gd name="T7" fmla="*/ 20 h 44"/>
                      <a:gd name="T8" fmla="*/ 108 w 138"/>
                      <a:gd name="T9" fmla="*/ 44 h 44"/>
                      <a:gd name="T10" fmla="*/ 64 w 138"/>
                      <a:gd name="T11" fmla="*/ 40 h 44"/>
                      <a:gd name="T12" fmla="*/ 0 w 138"/>
                      <a:gd name="T13" fmla="*/ 36 h 44"/>
                      <a:gd name="T14" fmla="*/ 28 w 138"/>
                      <a:gd name="T15" fmla="*/ 20 h 44"/>
                      <a:gd name="T16" fmla="*/ 0 w 138"/>
                      <a:gd name="T17" fmla="*/ 0 h 44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138" h="44">
                        <a:moveTo>
                          <a:pt x="0" y="0"/>
                        </a:moveTo>
                        <a:cubicBezTo>
                          <a:pt x="19" y="3"/>
                          <a:pt x="35" y="10"/>
                          <a:pt x="52" y="4"/>
                        </a:cubicBezTo>
                        <a:cubicBezTo>
                          <a:pt x="87" y="11"/>
                          <a:pt x="61" y="15"/>
                          <a:pt x="88" y="24"/>
                        </a:cubicBezTo>
                        <a:cubicBezTo>
                          <a:pt x="96" y="23"/>
                          <a:pt x="104" y="19"/>
                          <a:pt x="112" y="20"/>
                        </a:cubicBezTo>
                        <a:cubicBezTo>
                          <a:pt x="138" y="23"/>
                          <a:pt x="118" y="41"/>
                          <a:pt x="108" y="44"/>
                        </a:cubicBezTo>
                        <a:cubicBezTo>
                          <a:pt x="78" y="34"/>
                          <a:pt x="92" y="34"/>
                          <a:pt x="64" y="40"/>
                        </a:cubicBezTo>
                        <a:cubicBezTo>
                          <a:pt x="41" y="37"/>
                          <a:pt x="22" y="41"/>
                          <a:pt x="0" y="36"/>
                        </a:cubicBezTo>
                        <a:cubicBezTo>
                          <a:pt x="6" y="11"/>
                          <a:pt x="7" y="27"/>
                          <a:pt x="28" y="20"/>
                        </a:cubicBezTo>
                        <a:cubicBezTo>
                          <a:pt x="17" y="13"/>
                          <a:pt x="0" y="13"/>
                          <a:pt x="0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7" name="Freeform 41"/>
                  <p:cNvSpPr>
                    <a:spLocks/>
                  </p:cNvSpPr>
                  <p:nvPr/>
                </p:nvSpPr>
                <p:spPr bwMode="ltGray">
                  <a:xfrm>
                    <a:off x="2924" y="441"/>
                    <a:ext cx="24" cy="14"/>
                  </a:xfrm>
                  <a:custGeom>
                    <a:avLst/>
                    <a:gdLst>
                      <a:gd name="T0" fmla="*/ 17 w 57"/>
                      <a:gd name="T1" fmla="*/ 25 h 42"/>
                      <a:gd name="T2" fmla="*/ 37 w 57"/>
                      <a:gd name="T3" fmla="*/ 13 h 42"/>
                      <a:gd name="T4" fmla="*/ 17 w 57"/>
                      <a:gd name="T5" fmla="*/ 25 h 4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57" h="42">
                        <a:moveTo>
                          <a:pt x="17" y="25"/>
                        </a:moveTo>
                        <a:cubicBezTo>
                          <a:pt x="0" y="0"/>
                          <a:pt x="21" y="9"/>
                          <a:pt x="37" y="13"/>
                        </a:cubicBezTo>
                        <a:cubicBezTo>
                          <a:pt x="57" y="42"/>
                          <a:pt x="30" y="25"/>
                          <a:pt x="1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8" name="Freeform 42"/>
                  <p:cNvSpPr>
                    <a:spLocks/>
                  </p:cNvSpPr>
                  <p:nvPr/>
                </p:nvSpPr>
                <p:spPr bwMode="ltGray">
                  <a:xfrm>
                    <a:off x="2908" y="398"/>
                    <a:ext cx="16" cy="18"/>
                  </a:xfrm>
                  <a:custGeom>
                    <a:avLst/>
                    <a:gdLst>
                      <a:gd name="T0" fmla="*/ 19 w 39"/>
                      <a:gd name="T1" fmla="*/ 32 h 52"/>
                      <a:gd name="T2" fmla="*/ 19 w 39"/>
                      <a:gd name="T3" fmla="*/ 0 h 52"/>
                      <a:gd name="T4" fmla="*/ 19 w 39"/>
                      <a:gd name="T5" fmla="*/ 32 h 52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9" h="52">
                        <a:moveTo>
                          <a:pt x="19" y="32"/>
                        </a:moveTo>
                        <a:cubicBezTo>
                          <a:pt x="13" y="14"/>
                          <a:pt x="0" y="13"/>
                          <a:pt x="19" y="0"/>
                        </a:cubicBezTo>
                        <a:cubicBezTo>
                          <a:pt x="23" y="5"/>
                          <a:pt x="39" y="52"/>
                          <a:pt x="19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59" name="Freeform 43"/>
                  <p:cNvSpPr>
                    <a:spLocks/>
                  </p:cNvSpPr>
                  <p:nvPr/>
                </p:nvSpPr>
                <p:spPr bwMode="ltGray">
                  <a:xfrm>
                    <a:off x="3035" y="452"/>
                    <a:ext cx="19" cy="27"/>
                  </a:xfrm>
                  <a:custGeom>
                    <a:avLst/>
                    <a:gdLst>
                      <a:gd name="T0" fmla="*/ 4 w 44"/>
                      <a:gd name="T1" fmla="*/ 9 h 80"/>
                      <a:gd name="T2" fmla="*/ 20 w 44"/>
                      <a:gd name="T3" fmla="*/ 33 h 80"/>
                      <a:gd name="T4" fmla="*/ 24 w 44"/>
                      <a:gd name="T5" fmla="*/ 49 h 80"/>
                      <a:gd name="T6" fmla="*/ 36 w 44"/>
                      <a:gd name="T7" fmla="*/ 53 h 80"/>
                      <a:gd name="T8" fmla="*/ 24 w 44"/>
                      <a:gd name="T9" fmla="*/ 73 h 80"/>
                      <a:gd name="T10" fmla="*/ 0 w 44"/>
                      <a:gd name="T11" fmla="*/ 21 h 80"/>
                      <a:gd name="T12" fmla="*/ 4 w 44"/>
                      <a:gd name="T13" fmla="*/ 9 h 80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44" h="80">
                        <a:moveTo>
                          <a:pt x="4" y="9"/>
                        </a:moveTo>
                        <a:cubicBezTo>
                          <a:pt x="9" y="17"/>
                          <a:pt x="18" y="24"/>
                          <a:pt x="20" y="33"/>
                        </a:cubicBezTo>
                        <a:cubicBezTo>
                          <a:pt x="21" y="38"/>
                          <a:pt x="21" y="45"/>
                          <a:pt x="24" y="49"/>
                        </a:cubicBezTo>
                        <a:cubicBezTo>
                          <a:pt x="27" y="52"/>
                          <a:pt x="32" y="52"/>
                          <a:pt x="36" y="53"/>
                        </a:cubicBezTo>
                        <a:cubicBezTo>
                          <a:pt x="41" y="68"/>
                          <a:pt x="44" y="80"/>
                          <a:pt x="24" y="73"/>
                        </a:cubicBezTo>
                        <a:cubicBezTo>
                          <a:pt x="19" y="55"/>
                          <a:pt x="11" y="37"/>
                          <a:pt x="0" y="21"/>
                        </a:cubicBezTo>
                        <a:cubicBezTo>
                          <a:pt x="4" y="4"/>
                          <a:pt x="4" y="0"/>
                          <a:pt x="4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0" name="Freeform 44"/>
                  <p:cNvSpPr>
                    <a:spLocks/>
                  </p:cNvSpPr>
                  <p:nvPr/>
                </p:nvSpPr>
                <p:spPr bwMode="ltGray">
                  <a:xfrm>
                    <a:off x="2696" y="247"/>
                    <a:ext cx="205" cy="41"/>
                  </a:xfrm>
                  <a:custGeom>
                    <a:avLst/>
                    <a:gdLst>
                      <a:gd name="T0" fmla="*/ 220 w 323"/>
                      <a:gd name="T1" fmla="*/ 1 h 64"/>
                      <a:gd name="T2" fmla="*/ 231 w 323"/>
                      <a:gd name="T3" fmla="*/ 8 h 64"/>
                      <a:gd name="T4" fmla="*/ 235 w 323"/>
                      <a:gd name="T5" fmla="*/ 0 h 64"/>
                      <a:gd name="T6" fmla="*/ 265 w 323"/>
                      <a:gd name="T7" fmla="*/ 0 h 64"/>
                      <a:gd name="T8" fmla="*/ 287 w 323"/>
                      <a:gd name="T9" fmla="*/ 17 h 64"/>
                      <a:gd name="T10" fmla="*/ 319 w 323"/>
                      <a:gd name="T11" fmla="*/ 10 h 64"/>
                      <a:gd name="T12" fmla="*/ 314 w 323"/>
                      <a:gd name="T13" fmla="*/ 29 h 64"/>
                      <a:gd name="T14" fmla="*/ 298 w 323"/>
                      <a:gd name="T15" fmla="*/ 46 h 64"/>
                      <a:gd name="T16" fmla="*/ 295 w 323"/>
                      <a:gd name="T17" fmla="*/ 29 h 64"/>
                      <a:gd name="T18" fmla="*/ 287 w 323"/>
                      <a:gd name="T19" fmla="*/ 31 h 64"/>
                      <a:gd name="T20" fmla="*/ 279 w 323"/>
                      <a:gd name="T21" fmla="*/ 29 h 64"/>
                      <a:gd name="T22" fmla="*/ 263 w 323"/>
                      <a:gd name="T23" fmla="*/ 21 h 64"/>
                      <a:gd name="T24" fmla="*/ 228 w 323"/>
                      <a:gd name="T25" fmla="*/ 38 h 64"/>
                      <a:gd name="T26" fmla="*/ 201 w 323"/>
                      <a:gd name="T27" fmla="*/ 44 h 64"/>
                      <a:gd name="T28" fmla="*/ 212 w 323"/>
                      <a:gd name="T29" fmla="*/ 57 h 64"/>
                      <a:gd name="T30" fmla="*/ 188 w 323"/>
                      <a:gd name="T31" fmla="*/ 63 h 64"/>
                      <a:gd name="T32" fmla="*/ 169 w 323"/>
                      <a:gd name="T33" fmla="*/ 61 h 64"/>
                      <a:gd name="T34" fmla="*/ 177 w 323"/>
                      <a:gd name="T35" fmla="*/ 57 h 64"/>
                      <a:gd name="T36" fmla="*/ 171 w 323"/>
                      <a:gd name="T37" fmla="*/ 40 h 64"/>
                      <a:gd name="T38" fmla="*/ 169 w 323"/>
                      <a:gd name="T39" fmla="*/ 31 h 64"/>
                      <a:gd name="T40" fmla="*/ 158 w 323"/>
                      <a:gd name="T41" fmla="*/ 23 h 64"/>
                      <a:gd name="T42" fmla="*/ 142 w 323"/>
                      <a:gd name="T43" fmla="*/ 27 h 64"/>
                      <a:gd name="T44" fmla="*/ 134 w 323"/>
                      <a:gd name="T45" fmla="*/ 27 h 64"/>
                      <a:gd name="T46" fmla="*/ 123 w 323"/>
                      <a:gd name="T47" fmla="*/ 25 h 64"/>
                      <a:gd name="T48" fmla="*/ 83 w 323"/>
                      <a:gd name="T49" fmla="*/ 2 h 64"/>
                      <a:gd name="T50" fmla="*/ 59 w 323"/>
                      <a:gd name="T51" fmla="*/ 14 h 64"/>
                      <a:gd name="T52" fmla="*/ 1 w 323"/>
                      <a:gd name="T53" fmla="*/ 0 h 64"/>
                      <a:gd name="T54" fmla="*/ 220 w 323"/>
                      <a:gd name="T55" fmla="*/ 1 h 64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</a:gdLst>
                    <a:ahLst/>
                    <a:cxnLst>
                      <a:cxn ang="T56">
                        <a:pos x="T0" y="T1"/>
                      </a:cxn>
                      <a:cxn ang="T57">
                        <a:pos x="T2" y="T3"/>
                      </a:cxn>
                      <a:cxn ang="T58">
                        <a:pos x="T4" y="T5"/>
                      </a:cxn>
                      <a:cxn ang="T59">
                        <a:pos x="T6" y="T7"/>
                      </a:cxn>
                      <a:cxn ang="T60">
                        <a:pos x="T8" y="T9"/>
                      </a:cxn>
                      <a:cxn ang="T61">
                        <a:pos x="T10" y="T11"/>
                      </a:cxn>
                      <a:cxn ang="T62">
                        <a:pos x="T12" y="T13"/>
                      </a:cxn>
                      <a:cxn ang="T63">
                        <a:pos x="T14" y="T15"/>
                      </a:cxn>
                      <a:cxn ang="T64">
                        <a:pos x="T16" y="T17"/>
                      </a:cxn>
                      <a:cxn ang="T65">
                        <a:pos x="T18" y="T19"/>
                      </a:cxn>
                      <a:cxn ang="T66">
                        <a:pos x="T20" y="T21"/>
                      </a:cxn>
                      <a:cxn ang="T67">
                        <a:pos x="T22" y="T23"/>
                      </a:cxn>
                      <a:cxn ang="T68">
                        <a:pos x="T24" y="T25"/>
                      </a:cxn>
                      <a:cxn ang="T69">
                        <a:pos x="T26" y="T27"/>
                      </a:cxn>
                      <a:cxn ang="T70">
                        <a:pos x="T28" y="T29"/>
                      </a:cxn>
                      <a:cxn ang="T71">
                        <a:pos x="T30" y="T31"/>
                      </a:cxn>
                      <a:cxn ang="T72">
                        <a:pos x="T32" y="T33"/>
                      </a:cxn>
                      <a:cxn ang="T73">
                        <a:pos x="T34" y="T35"/>
                      </a:cxn>
                      <a:cxn ang="T74">
                        <a:pos x="T36" y="T37"/>
                      </a:cxn>
                      <a:cxn ang="T75">
                        <a:pos x="T38" y="T39"/>
                      </a:cxn>
                      <a:cxn ang="T76">
                        <a:pos x="T40" y="T41"/>
                      </a:cxn>
                      <a:cxn ang="T77">
                        <a:pos x="T42" y="T43"/>
                      </a:cxn>
                      <a:cxn ang="T78">
                        <a:pos x="T44" y="T45"/>
                      </a:cxn>
                      <a:cxn ang="T79">
                        <a:pos x="T46" y="T47"/>
                      </a:cxn>
                      <a:cxn ang="T80">
                        <a:pos x="T48" y="T49"/>
                      </a:cxn>
                      <a:cxn ang="T81">
                        <a:pos x="T50" y="T51"/>
                      </a:cxn>
                      <a:cxn ang="T82">
                        <a:pos x="T52" y="T53"/>
                      </a:cxn>
                      <a:cxn ang="T83">
                        <a:pos x="T54" y="T55"/>
                      </a:cxn>
                    </a:cxnLst>
                    <a:rect l="0" t="0" r="r" b="b"/>
                    <a:pathLst>
                      <a:path w="323" h="64">
                        <a:moveTo>
                          <a:pt x="220" y="1"/>
                        </a:moveTo>
                        <a:cubicBezTo>
                          <a:pt x="215" y="12"/>
                          <a:pt x="225" y="17"/>
                          <a:pt x="231" y="8"/>
                        </a:cubicBezTo>
                        <a:cubicBezTo>
                          <a:pt x="235" y="0"/>
                          <a:pt x="229" y="7"/>
                          <a:pt x="235" y="0"/>
                        </a:cubicBezTo>
                        <a:lnTo>
                          <a:pt x="265" y="0"/>
                        </a:lnTo>
                        <a:cubicBezTo>
                          <a:pt x="277" y="6"/>
                          <a:pt x="276" y="11"/>
                          <a:pt x="287" y="17"/>
                        </a:cubicBezTo>
                        <a:cubicBezTo>
                          <a:pt x="308" y="11"/>
                          <a:pt x="293" y="7"/>
                          <a:pt x="319" y="10"/>
                        </a:cubicBezTo>
                        <a:cubicBezTo>
                          <a:pt x="323" y="19"/>
                          <a:pt x="321" y="22"/>
                          <a:pt x="314" y="29"/>
                        </a:cubicBezTo>
                        <a:cubicBezTo>
                          <a:pt x="312" y="39"/>
                          <a:pt x="313" y="50"/>
                          <a:pt x="298" y="46"/>
                        </a:cubicBezTo>
                        <a:cubicBezTo>
                          <a:pt x="297" y="40"/>
                          <a:pt x="298" y="34"/>
                          <a:pt x="295" y="29"/>
                        </a:cubicBezTo>
                        <a:cubicBezTo>
                          <a:pt x="294" y="27"/>
                          <a:pt x="290" y="31"/>
                          <a:pt x="287" y="31"/>
                        </a:cubicBezTo>
                        <a:cubicBezTo>
                          <a:pt x="284" y="31"/>
                          <a:pt x="282" y="30"/>
                          <a:pt x="279" y="29"/>
                        </a:cubicBezTo>
                        <a:cubicBezTo>
                          <a:pt x="274" y="27"/>
                          <a:pt x="263" y="21"/>
                          <a:pt x="263" y="21"/>
                        </a:cubicBezTo>
                        <a:cubicBezTo>
                          <a:pt x="249" y="23"/>
                          <a:pt x="241" y="31"/>
                          <a:pt x="228" y="38"/>
                        </a:cubicBezTo>
                        <a:cubicBezTo>
                          <a:pt x="220" y="41"/>
                          <a:pt x="209" y="42"/>
                          <a:pt x="201" y="44"/>
                        </a:cubicBezTo>
                        <a:cubicBezTo>
                          <a:pt x="193" y="54"/>
                          <a:pt x="200" y="53"/>
                          <a:pt x="212" y="57"/>
                        </a:cubicBezTo>
                        <a:cubicBezTo>
                          <a:pt x="200" y="62"/>
                          <a:pt x="199" y="57"/>
                          <a:pt x="188" y="63"/>
                        </a:cubicBezTo>
                        <a:cubicBezTo>
                          <a:pt x="181" y="62"/>
                          <a:pt x="174" y="64"/>
                          <a:pt x="169" y="61"/>
                        </a:cubicBezTo>
                        <a:cubicBezTo>
                          <a:pt x="166" y="59"/>
                          <a:pt x="175" y="59"/>
                          <a:pt x="177" y="57"/>
                        </a:cubicBezTo>
                        <a:cubicBezTo>
                          <a:pt x="181" y="48"/>
                          <a:pt x="149" y="28"/>
                          <a:pt x="171" y="40"/>
                        </a:cubicBezTo>
                        <a:cubicBezTo>
                          <a:pt x="184" y="55"/>
                          <a:pt x="184" y="36"/>
                          <a:pt x="169" y="31"/>
                        </a:cubicBezTo>
                        <a:cubicBezTo>
                          <a:pt x="167" y="27"/>
                          <a:pt x="167" y="22"/>
                          <a:pt x="158" y="23"/>
                        </a:cubicBezTo>
                        <a:cubicBezTo>
                          <a:pt x="153" y="23"/>
                          <a:pt x="142" y="27"/>
                          <a:pt x="142" y="27"/>
                        </a:cubicBezTo>
                        <a:cubicBezTo>
                          <a:pt x="136" y="39"/>
                          <a:pt x="143" y="31"/>
                          <a:pt x="134" y="27"/>
                        </a:cubicBezTo>
                        <a:cubicBezTo>
                          <a:pt x="130" y="25"/>
                          <a:pt x="126" y="25"/>
                          <a:pt x="123" y="25"/>
                        </a:cubicBezTo>
                        <a:cubicBezTo>
                          <a:pt x="117" y="11"/>
                          <a:pt x="100" y="6"/>
                          <a:pt x="83" y="2"/>
                        </a:cubicBezTo>
                        <a:cubicBezTo>
                          <a:pt x="70" y="4"/>
                          <a:pt x="69" y="9"/>
                          <a:pt x="59" y="14"/>
                        </a:cubicBezTo>
                        <a:cubicBezTo>
                          <a:pt x="45" y="14"/>
                          <a:pt x="0" y="12"/>
                          <a:pt x="1" y="0"/>
                        </a:cubicBezTo>
                        <a:lnTo>
                          <a:pt x="220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1" name="Freeform 45"/>
                  <p:cNvSpPr>
                    <a:spLocks/>
                  </p:cNvSpPr>
                  <p:nvPr/>
                </p:nvSpPr>
                <p:spPr bwMode="ltGray">
                  <a:xfrm>
                    <a:off x="2515" y="246"/>
                    <a:ext cx="190" cy="20"/>
                  </a:xfrm>
                  <a:custGeom>
                    <a:avLst/>
                    <a:gdLst>
                      <a:gd name="T0" fmla="*/ 105 w 300"/>
                      <a:gd name="T1" fmla="*/ 31 h 31"/>
                      <a:gd name="T2" fmla="*/ 30 w 300"/>
                      <a:gd name="T3" fmla="*/ 1 h 31"/>
                      <a:gd name="T4" fmla="*/ 285 w 300"/>
                      <a:gd name="T5" fmla="*/ 0 h 31"/>
                      <a:gd name="T6" fmla="*/ 296 w 300"/>
                      <a:gd name="T7" fmla="*/ 14 h 31"/>
                      <a:gd name="T8" fmla="*/ 264 w 300"/>
                      <a:gd name="T9" fmla="*/ 16 h 31"/>
                      <a:gd name="T10" fmla="*/ 105 w 300"/>
                      <a:gd name="T11" fmla="*/ 31 h 31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300" h="31">
                        <a:moveTo>
                          <a:pt x="105" y="31"/>
                        </a:moveTo>
                        <a:cubicBezTo>
                          <a:pt x="83" y="19"/>
                          <a:pt x="0" y="6"/>
                          <a:pt x="30" y="1"/>
                        </a:cubicBezTo>
                        <a:lnTo>
                          <a:pt x="285" y="0"/>
                        </a:lnTo>
                        <a:cubicBezTo>
                          <a:pt x="296" y="4"/>
                          <a:pt x="300" y="5"/>
                          <a:pt x="296" y="14"/>
                        </a:cubicBezTo>
                        <a:cubicBezTo>
                          <a:pt x="285" y="11"/>
                          <a:pt x="276" y="16"/>
                          <a:pt x="264" y="16"/>
                        </a:cubicBezTo>
                        <a:lnTo>
                          <a:pt x="105" y="3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2" name="Freeform 46"/>
                  <p:cNvSpPr>
                    <a:spLocks/>
                  </p:cNvSpPr>
                  <p:nvPr/>
                </p:nvSpPr>
                <p:spPr bwMode="ltGray">
                  <a:xfrm>
                    <a:off x="2096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3" name="Freeform 47"/>
                  <p:cNvSpPr>
                    <a:spLocks/>
                  </p:cNvSpPr>
                  <p:nvPr/>
                </p:nvSpPr>
                <p:spPr bwMode="ltGray">
                  <a:xfrm>
                    <a:off x="1606" y="246"/>
                    <a:ext cx="436" cy="152"/>
                  </a:xfrm>
                  <a:custGeom>
                    <a:avLst/>
                    <a:gdLst>
                      <a:gd name="T0" fmla="*/ 73 w 436"/>
                      <a:gd name="T1" fmla="*/ 1 h 152"/>
                      <a:gd name="T2" fmla="*/ 436 w 436"/>
                      <a:gd name="T3" fmla="*/ 0 h 152"/>
                      <a:gd name="T4" fmla="*/ 416 w 436"/>
                      <a:gd name="T5" fmla="*/ 54 h 152"/>
                      <a:gd name="T6" fmla="*/ 397 w 436"/>
                      <a:gd name="T7" fmla="*/ 68 h 152"/>
                      <a:gd name="T8" fmla="*/ 392 w 436"/>
                      <a:gd name="T9" fmla="*/ 70 h 152"/>
                      <a:gd name="T10" fmla="*/ 375 w 436"/>
                      <a:gd name="T11" fmla="*/ 73 h 152"/>
                      <a:gd name="T12" fmla="*/ 361 w 436"/>
                      <a:gd name="T13" fmla="*/ 88 h 152"/>
                      <a:gd name="T14" fmla="*/ 362 w 436"/>
                      <a:gd name="T15" fmla="*/ 99 h 152"/>
                      <a:gd name="T16" fmla="*/ 364 w 436"/>
                      <a:gd name="T17" fmla="*/ 107 h 152"/>
                      <a:gd name="T18" fmla="*/ 366 w 436"/>
                      <a:gd name="T19" fmla="*/ 113 h 152"/>
                      <a:gd name="T20" fmla="*/ 362 w 436"/>
                      <a:gd name="T21" fmla="*/ 122 h 152"/>
                      <a:gd name="T22" fmla="*/ 351 w 436"/>
                      <a:gd name="T23" fmla="*/ 120 h 152"/>
                      <a:gd name="T24" fmla="*/ 342 w 436"/>
                      <a:gd name="T25" fmla="*/ 129 h 152"/>
                      <a:gd name="T26" fmla="*/ 347 w 436"/>
                      <a:gd name="T27" fmla="*/ 105 h 152"/>
                      <a:gd name="T28" fmla="*/ 338 w 436"/>
                      <a:gd name="T29" fmla="*/ 100 h 152"/>
                      <a:gd name="T30" fmla="*/ 344 w 436"/>
                      <a:gd name="T31" fmla="*/ 93 h 152"/>
                      <a:gd name="T32" fmla="*/ 342 w 436"/>
                      <a:gd name="T33" fmla="*/ 89 h 152"/>
                      <a:gd name="T34" fmla="*/ 320 w 436"/>
                      <a:gd name="T35" fmla="*/ 94 h 152"/>
                      <a:gd name="T36" fmla="*/ 317 w 436"/>
                      <a:gd name="T37" fmla="*/ 85 h 152"/>
                      <a:gd name="T38" fmla="*/ 297 w 436"/>
                      <a:gd name="T39" fmla="*/ 94 h 152"/>
                      <a:gd name="T40" fmla="*/ 320 w 436"/>
                      <a:gd name="T41" fmla="*/ 103 h 152"/>
                      <a:gd name="T42" fmla="*/ 305 w 436"/>
                      <a:gd name="T43" fmla="*/ 117 h 152"/>
                      <a:gd name="T44" fmla="*/ 311 w 436"/>
                      <a:gd name="T45" fmla="*/ 126 h 152"/>
                      <a:gd name="T46" fmla="*/ 315 w 436"/>
                      <a:gd name="T47" fmla="*/ 138 h 152"/>
                      <a:gd name="T48" fmla="*/ 309 w 436"/>
                      <a:gd name="T49" fmla="*/ 139 h 152"/>
                      <a:gd name="T50" fmla="*/ 314 w 436"/>
                      <a:gd name="T51" fmla="*/ 144 h 152"/>
                      <a:gd name="T52" fmla="*/ 307 w 436"/>
                      <a:gd name="T53" fmla="*/ 152 h 152"/>
                      <a:gd name="T54" fmla="*/ 0 w 436"/>
                      <a:gd name="T55" fmla="*/ 149 h 152"/>
                      <a:gd name="T56" fmla="*/ 73 w 436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6" h="152">
                        <a:moveTo>
                          <a:pt x="73" y="1"/>
                        </a:moveTo>
                        <a:lnTo>
                          <a:pt x="436" y="0"/>
                        </a:lnTo>
                        <a:cubicBezTo>
                          <a:pt x="430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4" name="Freeform 48"/>
                  <p:cNvSpPr>
                    <a:spLocks/>
                  </p:cNvSpPr>
                  <p:nvPr/>
                </p:nvSpPr>
                <p:spPr bwMode="ltGray">
                  <a:xfrm>
                    <a:off x="2043" y="241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5" name="Freeform 49"/>
                  <p:cNvSpPr>
                    <a:spLocks/>
                  </p:cNvSpPr>
                  <p:nvPr/>
                </p:nvSpPr>
                <p:spPr bwMode="ltGray">
                  <a:xfrm>
                    <a:off x="2031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6" name="Freeform 50"/>
                  <p:cNvSpPr>
                    <a:spLocks/>
                  </p:cNvSpPr>
                  <p:nvPr/>
                </p:nvSpPr>
                <p:spPr bwMode="ltGray">
                  <a:xfrm>
                    <a:off x="1968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7" name="Freeform 51"/>
                  <p:cNvSpPr>
                    <a:spLocks/>
                  </p:cNvSpPr>
                  <p:nvPr/>
                </p:nvSpPr>
                <p:spPr bwMode="ltGray">
                  <a:xfrm>
                    <a:off x="2021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8" name="Freeform 52"/>
                  <p:cNvSpPr>
                    <a:spLocks/>
                  </p:cNvSpPr>
                  <p:nvPr/>
                </p:nvSpPr>
                <p:spPr bwMode="ltGray">
                  <a:xfrm>
                    <a:off x="1573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69" name="Freeform 53"/>
                  <p:cNvSpPr>
                    <a:spLocks/>
                  </p:cNvSpPr>
                  <p:nvPr/>
                </p:nvSpPr>
                <p:spPr bwMode="ltGray">
                  <a:xfrm>
                    <a:off x="1634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0" name="Freeform 54"/>
                  <p:cNvSpPr>
                    <a:spLocks/>
                  </p:cNvSpPr>
                  <p:nvPr/>
                </p:nvSpPr>
                <p:spPr bwMode="ltGray">
                  <a:xfrm>
                    <a:off x="1900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1" name="Freeform 55"/>
                  <p:cNvSpPr>
                    <a:spLocks/>
                  </p:cNvSpPr>
                  <p:nvPr/>
                </p:nvSpPr>
                <p:spPr bwMode="ltGray">
                  <a:xfrm>
                    <a:off x="1951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2" name="Freeform 56"/>
                  <p:cNvSpPr>
                    <a:spLocks/>
                  </p:cNvSpPr>
                  <p:nvPr/>
                </p:nvSpPr>
                <p:spPr bwMode="ltGray">
                  <a:xfrm>
                    <a:off x="1021" y="314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3" name="Freeform 57"/>
                  <p:cNvSpPr>
                    <a:spLocks/>
                  </p:cNvSpPr>
                  <p:nvPr/>
                </p:nvSpPr>
                <p:spPr bwMode="ltGray">
                  <a:xfrm>
                    <a:off x="1189" y="447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4" name="Freeform 58"/>
                  <p:cNvSpPr>
                    <a:spLocks/>
                  </p:cNvSpPr>
                  <p:nvPr/>
                </p:nvSpPr>
                <p:spPr bwMode="ltGray">
                  <a:xfrm>
                    <a:off x="1476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5" name="Freeform 59"/>
                  <p:cNvSpPr>
                    <a:spLocks/>
                  </p:cNvSpPr>
                  <p:nvPr/>
                </p:nvSpPr>
                <p:spPr bwMode="ltGray">
                  <a:xfrm>
                    <a:off x="1467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6" name="Freeform 60"/>
                  <p:cNvSpPr>
                    <a:spLocks/>
                  </p:cNvSpPr>
                  <p:nvPr/>
                </p:nvSpPr>
                <p:spPr bwMode="ltGray">
                  <a:xfrm>
                    <a:off x="1072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7" name="Freeform 61"/>
                  <p:cNvSpPr>
                    <a:spLocks/>
                  </p:cNvSpPr>
                  <p:nvPr/>
                </p:nvSpPr>
                <p:spPr bwMode="ltGray">
                  <a:xfrm>
                    <a:off x="1374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8" name="Freeform 62"/>
                  <p:cNvSpPr>
                    <a:spLocks/>
                  </p:cNvSpPr>
                  <p:nvPr/>
                </p:nvSpPr>
                <p:spPr bwMode="ltGray">
                  <a:xfrm>
                    <a:off x="1173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79" name="Freeform 63"/>
                  <p:cNvSpPr>
                    <a:spLocks/>
                  </p:cNvSpPr>
                  <p:nvPr/>
                </p:nvSpPr>
                <p:spPr bwMode="ltGray">
                  <a:xfrm>
                    <a:off x="1293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0" name="Freeform 64"/>
                  <p:cNvSpPr>
                    <a:spLocks/>
                  </p:cNvSpPr>
                  <p:nvPr/>
                </p:nvSpPr>
                <p:spPr bwMode="ltGray">
                  <a:xfrm>
                    <a:off x="1278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1" name="Freeform 65"/>
                  <p:cNvSpPr>
                    <a:spLocks/>
                  </p:cNvSpPr>
                  <p:nvPr/>
                </p:nvSpPr>
                <p:spPr bwMode="ltGray">
                  <a:xfrm>
                    <a:off x="1340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2" name="Freeform 66"/>
                  <p:cNvSpPr>
                    <a:spLocks/>
                  </p:cNvSpPr>
                  <p:nvPr/>
                </p:nvSpPr>
                <p:spPr bwMode="ltGray">
                  <a:xfrm>
                    <a:off x="1395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83" name="Freeform 67"/>
                  <p:cNvSpPr>
                    <a:spLocks/>
                  </p:cNvSpPr>
                  <p:nvPr/>
                </p:nvSpPr>
                <p:spPr bwMode="ltGray">
                  <a:xfrm>
                    <a:off x="1248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grpSp>
              <p:nvGrpSpPr>
                <p:cNvPr id="1085" name="Group 68"/>
                <p:cNvGrpSpPr>
                  <a:grpSpLocks/>
                </p:cNvGrpSpPr>
                <p:nvPr/>
              </p:nvGrpSpPr>
              <p:grpSpPr bwMode="auto">
                <a:xfrm>
                  <a:off x="3709" y="240"/>
                  <a:ext cx="1139" cy="429"/>
                  <a:chOff x="3709" y="240"/>
                  <a:chExt cx="1139" cy="429"/>
                </a:xfrm>
              </p:grpSpPr>
              <p:sp>
                <p:nvSpPr>
                  <p:cNvPr id="1086" name="Freeform 69"/>
                  <p:cNvSpPr>
                    <a:spLocks/>
                  </p:cNvSpPr>
                  <p:nvPr/>
                </p:nvSpPr>
                <p:spPr bwMode="ltGray">
                  <a:xfrm>
                    <a:off x="4808" y="616"/>
                    <a:ext cx="13" cy="14"/>
                  </a:xfrm>
                  <a:custGeom>
                    <a:avLst/>
                    <a:gdLst>
                      <a:gd name="T0" fmla="*/ 16 w 30"/>
                      <a:gd name="T1" fmla="*/ 33 h 42"/>
                      <a:gd name="T2" fmla="*/ 8 w 30"/>
                      <a:gd name="T3" fmla="*/ 21 h 42"/>
                      <a:gd name="T4" fmla="*/ 0 w 30"/>
                      <a:gd name="T5" fmla="*/ 9 h 42"/>
                      <a:gd name="T6" fmla="*/ 16 w 30"/>
                      <a:gd name="T7" fmla="*/ 3 h 42"/>
                      <a:gd name="T8" fmla="*/ 30 w 30"/>
                      <a:gd name="T9" fmla="*/ 23 h 42"/>
                      <a:gd name="T10" fmla="*/ 28 w 30"/>
                      <a:gd name="T11" fmla="*/ 31 h 42"/>
                      <a:gd name="T12" fmla="*/ 16 w 30"/>
                      <a:gd name="T13" fmla="*/ 33 h 42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</a:gdLst>
                    <a:ahLst/>
                    <a:cxnLst>
                      <a:cxn ang="T14">
                        <a:pos x="T0" y="T1"/>
                      </a:cxn>
                      <a:cxn ang="T15">
                        <a:pos x="T2" y="T3"/>
                      </a:cxn>
                      <a:cxn ang="T16">
                        <a:pos x="T4" y="T5"/>
                      </a:cxn>
                      <a:cxn ang="T17">
                        <a:pos x="T6" y="T7"/>
                      </a:cxn>
                      <a:cxn ang="T18">
                        <a:pos x="T8" y="T9"/>
                      </a:cxn>
                      <a:cxn ang="T19">
                        <a:pos x="T10" y="T11"/>
                      </a:cxn>
                      <a:cxn ang="T20">
                        <a:pos x="T12" y="T13"/>
                      </a:cxn>
                    </a:cxnLst>
                    <a:rect l="0" t="0" r="r" b="b"/>
                    <a:pathLst>
                      <a:path w="30" h="42">
                        <a:moveTo>
                          <a:pt x="16" y="33"/>
                        </a:moveTo>
                        <a:cubicBezTo>
                          <a:pt x="3" y="20"/>
                          <a:pt x="15" y="34"/>
                          <a:pt x="8" y="21"/>
                        </a:cubicBezTo>
                        <a:cubicBezTo>
                          <a:pt x="6" y="17"/>
                          <a:pt x="0" y="9"/>
                          <a:pt x="0" y="9"/>
                        </a:cubicBezTo>
                        <a:cubicBezTo>
                          <a:pt x="5" y="1"/>
                          <a:pt x="7" y="0"/>
                          <a:pt x="16" y="3"/>
                        </a:cubicBezTo>
                        <a:cubicBezTo>
                          <a:pt x="25" y="16"/>
                          <a:pt x="10" y="16"/>
                          <a:pt x="30" y="23"/>
                        </a:cubicBezTo>
                        <a:cubicBezTo>
                          <a:pt x="29" y="26"/>
                          <a:pt x="30" y="29"/>
                          <a:pt x="28" y="31"/>
                        </a:cubicBezTo>
                        <a:cubicBezTo>
                          <a:pt x="15" y="42"/>
                          <a:pt x="16" y="38"/>
                          <a:pt x="16" y="33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7" name="Freeform 70"/>
                  <p:cNvSpPr>
                    <a:spLocks/>
                  </p:cNvSpPr>
                  <p:nvPr/>
                </p:nvSpPr>
                <p:spPr bwMode="ltGray">
                  <a:xfrm>
                    <a:off x="4655" y="629"/>
                    <a:ext cx="11" cy="5"/>
                  </a:xfrm>
                  <a:custGeom>
                    <a:avLst/>
                    <a:gdLst>
                      <a:gd name="T0" fmla="*/ 15 w 25"/>
                      <a:gd name="T1" fmla="*/ 16 h 16"/>
                      <a:gd name="T2" fmla="*/ 3 w 25"/>
                      <a:gd name="T3" fmla="*/ 8 h 16"/>
                      <a:gd name="T4" fmla="*/ 15 w 25"/>
                      <a:gd name="T5" fmla="*/ 0 h 16"/>
                      <a:gd name="T6" fmla="*/ 15 w 25"/>
                      <a:gd name="T7" fmla="*/ 16 h 16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5" h="16">
                        <a:moveTo>
                          <a:pt x="15" y="16"/>
                        </a:moveTo>
                        <a:cubicBezTo>
                          <a:pt x="10" y="15"/>
                          <a:pt x="0" y="12"/>
                          <a:pt x="3" y="8"/>
                        </a:cubicBezTo>
                        <a:cubicBezTo>
                          <a:pt x="6" y="4"/>
                          <a:pt x="15" y="0"/>
                          <a:pt x="15" y="0"/>
                        </a:cubicBezTo>
                        <a:cubicBezTo>
                          <a:pt x="17" y="3"/>
                          <a:pt x="25" y="16"/>
                          <a:pt x="15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8" name="Freeform 71"/>
                  <p:cNvSpPr>
                    <a:spLocks/>
                  </p:cNvSpPr>
                  <p:nvPr/>
                </p:nvSpPr>
                <p:spPr bwMode="ltGray">
                  <a:xfrm>
                    <a:off x="4609" y="635"/>
                    <a:ext cx="28" cy="16"/>
                  </a:xfrm>
                  <a:custGeom>
                    <a:avLst/>
                    <a:gdLst>
                      <a:gd name="T0" fmla="*/ 14 w 65"/>
                      <a:gd name="T1" fmla="*/ 24 h 46"/>
                      <a:gd name="T2" fmla="*/ 30 w 65"/>
                      <a:gd name="T3" fmla="*/ 4 h 46"/>
                      <a:gd name="T4" fmla="*/ 42 w 65"/>
                      <a:gd name="T5" fmla="*/ 0 h 46"/>
                      <a:gd name="T6" fmla="*/ 58 w 65"/>
                      <a:gd name="T7" fmla="*/ 12 h 46"/>
                      <a:gd name="T8" fmla="*/ 32 w 65"/>
                      <a:gd name="T9" fmla="*/ 26 h 46"/>
                      <a:gd name="T10" fmla="*/ 12 w 65"/>
                      <a:gd name="T11" fmla="*/ 46 h 46"/>
                      <a:gd name="T12" fmla="*/ 8 w 65"/>
                      <a:gd name="T13" fmla="*/ 20 h 46"/>
                      <a:gd name="T14" fmla="*/ 12 w 65"/>
                      <a:gd name="T15" fmla="*/ 14 h 46"/>
                      <a:gd name="T16" fmla="*/ 14 w 65"/>
                      <a:gd name="T17" fmla="*/ 24 h 4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</a:gdLst>
                    <a:ahLst/>
                    <a:cxnLst>
                      <a:cxn ang="T18">
                        <a:pos x="T0" y="T1"/>
                      </a:cxn>
                      <a:cxn ang="T19">
                        <a:pos x="T2" y="T3"/>
                      </a:cxn>
                      <a:cxn ang="T20">
                        <a:pos x="T4" y="T5"/>
                      </a:cxn>
                      <a:cxn ang="T21">
                        <a:pos x="T6" y="T7"/>
                      </a:cxn>
                      <a:cxn ang="T22">
                        <a:pos x="T8" y="T9"/>
                      </a:cxn>
                      <a:cxn ang="T23">
                        <a:pos x="T10" y="T11"/>
                      </a:cxn>
                      <a:cxn ang="T24">
                        <a:pos x="T12" y="T13"/>
                      </a:cxn>
                      <a:cxn ang="T25">
                        <a:pos x="T14" y="T15"/>
                      </a:cxn>
                      <a:cxn ang="T26">
                        <a:pos x="T16" y="T17"/>
                      </a:cxn>
                    </a:cxnLst>
                    <a:rect l="0" t="0" r="r" b="b"/>
                    <a:pathLst>
                      <a:path w="65" h="46">
                        <a:moveTo>
                          <a:pt x="14" y="24"/>
                        </a:moveTo>
                        <a:cubicBezTo>
                          <a:pt x="18" y="13"/>
                          <a:pt x="16" y="9"/>
                          <a:pt x="30" y="4"/>
                        </a:cubicBezTo>
                        <a:cubicBezTo>
                          <a:pt x="34" y="3"/>
                          <a:pt x="42" y="0"/>
                          <a:pt x="42" y="0"/>
                        </a:cubicBezTo>
                        <a:cubicBezTo>
                          <a:pt x="50" y="1"/>
                          <a:pt x="65" y="0"/>
                          <a:pt x="58" y="12"/>
                        </a:cubicBezTo>
                        <a:cubicBezTo>
                          <a:pt x="53" y="21"/>
                          <a:pt x="40" y="21"/>
                          <a:pt x="32" y="26"/>
                        </a:cubicBezTo>
                        <a:cubicBezTo>
                          <a:pt x="26" y="35"/>
                          <a:pt x="23" y="42"/>
                          <a:pt x="12" y="46"/>
                        </a:cubicBezTo>
                        <a:cubicBezTo>
                          <a:pt x="0" y="42"/>
                          <a:pt x="5" y="30"/>
                          <a:pt x="8" y="20"/>
                        </a:cubicBezTo>
                        <a:cubicBezTo>
                          <a:pt x="9" y="18"/>
                          <a:pt x="10" y="13"/>
                          <a:pt x="12" y="14"/>
                        </a:cubicBezTo>
                        <a:cubicBezTo>
                          <a:pt x="15" y="16"/>
                          <a:pt x="13" y="21"/>
                          <a:pt x="14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89" name="Freeform 72"/>
                  <p:cNvSpPr>
                    <a:spLocks/>
                  </p:cNvSpPr>
                  <p:nvPr/>
                </p:nvSpPr>
                <p:spPr bwMode="ltGray">
                  <a:xfrm>
                    <a:off x="4580" y="634"/>
                    <a:ext cx="29" cy="16"/>
                  </a:xfrm>
                  <a:custGeom>
                    <a:avLst/>
                    <a:gdLst>
                      <a:gd name="T0" fmla="*/ 0 w 69"/>
                      <a:gd name="T1" fmla="*/ 31 h 47"/>
                      <a:gd name="T2" fmla="*/ 18 w 69"/>
                      <a:gd name="T3" fmla="*/ 25 h 47"/>
                      <a:gd name="T4" fmla="*/ 52 w 69"/>
                      <a:gd name="T5" fmla="*/ 1 h 47"/>
                      <a:gd name="T6" fmla="*/ 64 w 69"/>
                      <a:gd name="T7" fmla="*/ 3 h 47"/>
                      <a:gd name="T8" fmla="*/ 50 w 69"/>
                      <a:gd name="T9" fmla="*/ 19 h 47"/>
                      <a:gd name="T10" fmla="*/ 28 w 69"/>
                      <a:gd name="T11" fmla="*/ 33 h 47"/>
                      <a:gd name="T12" fmla="*/ 22 w 69"/>
                      <a:gd name="T13" fmla="*/ 47 h 47"/>
                      <a:gd name="T14" fmla="*/ 16 w 69"/>
                      <a:gd name="T15" fmla="*/ 45 h 47"/>
                      <a:gd name="T16" fmla="*/ 12 w 69"/>
                      <a:gd name="T17" fmla="*/ 39 h 47"/>
                      <a:gd name="T18" fmla="*/ 0 w 69"/>
                      <a:gd name="T19" fmla="*/ 35 h 47"/>
                      <a:gd name="T20" fmla="*/ 0 w 69"/>
                      <a:gd name="T21" fmla="*/ 31 h 47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9" h="47">
                        <a:moveTo>
                          <a:pt x="0" y="31"/>
                        </a:moveTo>
                        <a:cubicBezTo>
                          <a:pt x="7" y="24"/>
                          <a:pt x="9" y="22"/>
                          <a:pt x="18" y="25"/>
                        </a:cubicBezTo>
                        <a:cubicBezTo>
                          <a:pt x="25" y="4"/>
                          <a:pt x="36" y="12"/>
                          <a:pt x="52" y="1"/>
                        </a:cubicBezTo>
                        <a:cubicBezTo>
                          <a:pt x="56" y="2"/>
                          <a:pt x="61" y="0"/>
                          <a:pt x="64" y="3"/>
                        </a:cubicBezTo>
                        <a:cubicBezTo>
                          <a:pt x="69" y="8"/>
                          <a:pt x="50" y="19"/>
                          <a:pt x="50" y="19"/>
                        </a:cubicBezTo>
                        <a:cubicBezTo>
                          <a:pt x="46" y="31"/>
                          <a:pt x="35" y="22"/>
                          <a:pt x="28" y="33"/>
                        </a:cubicBezTo>
                        <a:cubicBezTo>
                          <a:pt x="31" y="41"/>
                          <a:pt x="31" y="44"/>
                          <a:pt x="22" y="47"/>
                        </a:cubicBezTo>
                        <a:cubicBezTo>
                          <a:pt x="20" y="46"/>
                          <a:pt x="18" y="46"/>
                          <a:pt x="16" y="45"/>
                        </a:cubicBezTo>
                        <a:cubicBezTo>
                          <a:pt x="14" y="43"/>
                          <a:pt x="14" y="40"/>
                          <a:pt x="12" y="39"/>
                        </a:cubicBezTo>
                        <a:cubicBezTo>
                          <a:pt x="8" y="37"/>
                          <a:pt x="0" y="35"/>
                          <a:pt x="0" y="35"/>
                        </a:cubicBezTo>
                        <a:cubicBezTo>
                          <a:pt x="2" y="26"/>
                          <a:pt x="3" y="25"/>
                          <a:pt x="0" y="3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0" name="Freeform 73"/>
                  <p:cNvSpPr>
                    <a:spLocks/>
                  </p:cNvSpPr>
                  <p:nvPr/>
                </p:nvSpPr>
                <p:spPr bwMode="ltGray">
                  <a:xfrm>
                    <a:off x="4423" y="547"/>
                    <a:ext cx="151" cy="93"/>
                  </a:xfrm>
                  <a:custGeom>
                    <a:avLst/>
                    <a:gdLst>
                      <a:gd name="T0" fmla="*/ 10 w 355"/>
                      <a:gd name="T1" fmla="*/ 4 h 277"/>
                      <a:gd name="T2" fmla="*/ 36 w 355"/>
                      <a:gd name="T3" fmla="*/ 18 h 277"/>
                      <a:gd name="T4" fmla="*/ 46 w 355"/>
                      <a:gd name="T5" fmla="*/ 30 h 277"/>
                      <a:gd name="T6" fmla="*/ 76 w 355"/>
                      <a:gd name="T7" fmla="*/ 52 h 277"/>
                      <a:gd name="T8" fmla="*/ 92 w 355"/>
                      <a:gd name="T9" fmla="*/ 66 h 277"/>
                      <a:gd name="T10" fmla="*/ 122 w 355"/>
                      <a:gd name="T11" fmla="*/ 98 h 277"/>
                      <a:gd name="T12" fmla="*/ 136 w 355"/>
                      <a:gd name="T13" fmla="*/ 128 h 277"/>
                      <a:gd name="T14" fmla="*/ 148 w 355"/>
                      <a:gd name="T15" fmla="*/ 132 h 277"/>
                      <a:gd name="T16" fmla="*/ 154 w 355"/>
                      <a:gd name="T17" fmla="*/ 150 h 277"/>
                      <a:gd name="T18" fmla="*/ 176 w 355"/>
                      <a:gd name="T19" fmla="*/ 152 h 277"/>
                      <a:gd name="T20" fmla="*/ 170 w 355"/>
                      <a:gd name="T21" fmla="*/ 196 h 277"/>
                      <a:gd name="T22" fmla="*/ 180 w 355"/>
                      <a:gd name="T23" fmla="*/ 224 h 277"/>
                      <a:gd name="T24" fmla="*/ 198 w 355"/>
                      <a:gd name="T25" fmla="*/ 232 h 277"/>
                      <a:gd name="T26" fmla="*/ 216 w 355"/>
                      <a:gd name="T27" fmla="*/ 234 h 277"/>
                      <a:gd name="T28" fmla="*/ 236 w 355"/>
                      <a:gd name="T29" fmla="*/ 242 h 277"/>
                      <a:gd name="T30" fmla="*/ 254 w 355"/>
                      <a:gd name="T31" fmla="*/ 236 h 277"/>
                      <a:gd name="T32" fmla="*/ 272 w 355"/>
                      <a:gd name="T33" fmla="*/ 248 h 277"/>
                      <a:gd name="T34" fmla="*/ 296 w 355"/>
                      <a:gd name="T35" fmla="*/ 256 h 277"/>
                      <a:gd name="T36" fmla="*/ 314 w 355"/>
                      <a:gd name="T37" fmla="*/ 264 h 277"/>
                      <a:gd name="T38" fmla="*/ 352 w 355"/>
                      <a:gd name="T39" fmla="*/ 266 h 277"/>
                      <a:gd name="T40" fmla="*/ 342 w 355"/>
                      <a:gd name="T41" fmla="*/ 274 h 277"/>
                      <a:gd name="T42" fmla="*/ 322 w 355"/>
                      <a:gd name="T43" fmla="*/ 272 h 277"/>
                      <a:gd name="T44" fmla="*/ 300 w 355"/>
                      <a:gd name="T45" fmla="*/ 270 h 277"/>
                      <a:gd name="T46" fmla="*/ 288 w 355"/>
                      <a:gd name="T47" fmla="*/ 266 h 277"/>
                      <a:gd name="T48" fmla="*/ 252 w 355"/>
                      <a:gd name="T49" fmla="*/ 264 h 277"/>
                      <a:gd name="T50" fmla="*/ 234 w 355"/>
                      <a:gd name="T51" fmla="*/ 260 h 277"/>
                      <a:gd name="T52" fmla="*/ 172 w 355"/>
                      <a:gd name="T53" fmla="*/ 242 h 277"/>
                      <a:gd name="T54" fmla="*/ 160 w 355"/>
                      <a:gd name="T55" fmla="*/ 216 h 277"/>
                      <a:gd name="T56" fmla="*/ 126 w 355"/>
                      <a:gd name="T57" fmla="*/ 200 h 277"/>
                      <a:gd name="T58" fmla="*/ 108 w 355"/>
                      <a:gd name="T59" fmla="*/ 186 h 277"/>
                      <a:gd name="T60" fmla="*/ 94 w 355"/>
                      <a:gd name="T61" fmla="*/ 158 h 277"/>
                      <a:gd name="T62" fmla="*/ 68 w 355"/>
                      <a:gd name="T63" fmla="*/ 108 h 277"/>
                      <a:gd name="T64" fmla="*/ 64 w 355"/>
                      <a:gd name="T65" fmla="*/ 102 h 277"/>
                      <a:gd name="T66" fmla="*/ 58 w 355"/>
                      <a:gd name="T67" fmla="*/ 100 h 277"/>
                      <a:gd name="T68" fmla="*/ 54 w 355"/>
                      <a:gd name="T69" fmla="*/ 88 h 277"/>
                      <a:gd name="T70" fmla="*/ 38 w 355"/>
                      <a:gd name="T71" fmla="*/ 58 h 277"/>
                      <a:gd name="T72" fmla="*/ 20 w 355"/>
                      <a:gd name="T73" fmla="*/ 40 h 277"/>
                      <a:gd name="T74" fmla="*/ 4 w 355"/>
                      <a:gd name="T75" fmla="*/ 22 h 277"/>
                      <a:gd name="T76" fmla="*/ 10 w 355"/>
                      <a:gd name="T77" fmla="*/ 2 h 277"/>
                      <a:gd name="T78" fmla="*/ 10 w 355"/>
                      <a:gd name="T79" fmla="*/ 4 h 277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</a:gdLst>
                    <a:ahLst/>
                    <a:cxnLst>
                      <a:cxn ang="T80">
                        <a:pos x="T0" y="T1"/>
                      </a:cxn>
                      <a:cxn ang="T81">
                        <a:pos x="T2" y="T3"/>
                      </a:cxn>
                      <a:cxn ang="T82">
                        <a:pos x="T4" y="T5"/>
                      </a:cxn>
                      <a:cxn ang="T83">
                        <a:pos x="T6" y="T7"/>
                      </a:cxn>
                      <a:cxn ang="T84">
                        <a:pos x="T8" y="T9"/>
                      </a:cxn>
                      <a:cxn ang="T85">
                        <a:pos x="T10" y="T11"/>
                      </a:cxn>
                      <a:cxn ang="T86">
                        <a:pos x="T12" y="T13"/>
                      </a:cxn>
                      <a:cxn ang="T87">
                        <a:pos x="T14" y="T15"/>
                      </a:cxn>
                      <a:cxn ang="T88">
                        <a:pos x="T16" y="T17"/>
                      </a:cxn>
                      <a:cxn ang="T89">
                        <a:pos x="T18" y="T19"/>
                      </a:cxn>
                      <a:cxn ang="T90">
                        <a:pos x="T20" y="T21"/>
                      </a:cxn>
                      <a:cxn ang="T91">
                        <a:pos x="T22" y="T23"/>
                      </a:cxn>
                      <a:cxn ang="T92">
                        <a:pos x="T24" y="T25"/>
                      </a:cxn>
                      <a:cxn ang="T93">
                        <a:pos x="T26" y="T27"/>
                      </a:cxn>
                      <a:cxn ang="T94">
                        <a:pos x="T28" y="T29"/>
                      </a:cxn>
                      <a:cxn ang="T95">
                        <a:pos x="T30" y="T31"/>
                      </a:cxn>
                      <a:cxn ang="T96">
                        <a:pos x="T32" y="T33"/>
                      </a:cxn>
                      <a:cxn ang="T97">
                        <a:pos x="T34" y="T35"/>
                      </a:cxn>
                      <a:cxn ang="T98">
                        <a:pos x="T36" y="T37"/>
                      </a:cxn>
                      <a:cxn ang="T99">
                        <a:pos x="T38" y="T39"/>
                      </a:cxn>
                      <a:cxn ang="T100">
                        <a:pos x="T40" y="T41"/>
                      </a:cxn>
                      <a:cxn ang="T101">
                        <a:pos x="T42" y="T43"/>
                      </a:cxn>
                      <a:cxn ang="T102">
                        <a:pos x="T44" y="T45"/>
                      </a:cxn>
                      <a:cxn ang="T103">
                        <a:pos x="T46" y="T47"/>
                      </a:cxn>
                      <a:cxn ang="T104">
                        <a:pos x="T48" y="T49"/>
                      </a:cxn>
                      <a:cxn ang="T105">
                        <a:pos x="T50" y="T51"/>
                      </a:cxn>
                      <a:cxn ang="T106">
                        <a:pos x="T52" y="T53"/>
                      </a:cxn>
                      <a:cxn ang="T107">
                        <a:pos x="T54" y="T55"/>
                      </a:cxn>
                      <a:cxn ang="T108">
                        <a:pos x="T56" y="T57"/>
                      </a:cxn>
                      <a:cxn ang="T109">
                        <a:pos x="T58" y="T59"/>
                      </a:cxn>
                      <a:cxn ang="T110">
                        <a:pos x="T60" y="T61"/>
                      </a:cxn>
                      <a:cxn ang="T111">
                        <a:pos x="T62" y="T63"/>
                      </a:cxn>
                      <a:cxn ang="T112">
                        <a:pos x="T64" y="T65"/>
                      </a:cxn>
                      <a:cxn ang="T113">
                        <a:pos x="T66" y="T67"/>
                      </a:cxn>
                      <a:cxn ang="T114">
                        <a:pos x="T68" y="T69"/>
                      </a:cxn>
                      <a:cxn ang="T115">
                        <a:pos x="T70" y="T71"/>
                      </a:cxn>
                      <a:cxn ang="T116">
                        <a:pos x="T72" y="T73"/>
                      </a:cxn>
                      <a:cxn ang="T117">
                        <a:pos x="T74" y="T75"/>
                      </a:cxn>
                      <a:cxn ang="T118">
                        <a:pos x="T76" y="T77"/>
                      </a:cxn>
                      <a:cxn ang="T119">
                        <a:pos x="T78" y="T79"/>
                      </a:cxn>
                    </a:cxnLst>
                    <a:rect l="0" t="0" r="r" b="b"/>
                    <a:pathLst>
                      <a:path w="355" h="277">
                        <a:moveTo>
                          <a:pt x="10" y="4"/>
                        </a:moveTo>
                        <a:cubicBezTo>
                          <a:pt x="22" y="0"/>
                          <a:pt x="24" y="14"/>
                          <a:pt x="36" y="18"/>
                        </a:cubicBezTo>
                        <a:cubicBezTo>
                          <a:pt x="37" y="19"/>
                          <a:pt x="45" y="29"/>
                          <a:pt x="46" y="30"/>
                        </a:cubicBezTo>
                        <a:cubicBezTo>
                          <a:pt x="56" y="40"/>
                          <a:pt x="67" y="38"/>
                          <a:pt x="76" y="52"/>
                        </a:cubicBezTo>
                        <a:cubicBezTo>
                          <a:pt x="80" y="58"/>
                          <a:pt x="92" y="66"/>
                          <a:pt x="92" y="66"/>
                        </a:cubicBezTo>
                        <a:cubicBezTo>
                          <a:pt x="96" y="79"/>
                          <a:pt x="112" y="88"/>
                          <a:pt x="122" y="98"/>
                        </a:cubicBezTo>
                        <a:cubicBezTo>
                          <a:pt x="124" y="105"/>
                          <a:pt x="130" y="124"/>
                          <a:pt x="136" y="128"/>
                        </a:cubicBezTo>
                        <a:cubicBezTo>
                          <a:pt x="140" y="130"/>
                          <a:pt x="148" y="132"/>
                          <a:pt x="148" y="132"/>
                        </a:cubicBezTo>
                        <a:cubicBezTo>
                          <a:pt x="150" y="138"/>
                          <a:pt x="154" y="150"/>
                          <a:pt x="154" y="150"/>
                        </a:cubicBezTo>
                        <a:cubicBezTo>
                          <a:pt x="161" y="139"/>
                          <a:pt x="168" y="144"/>
                          <a:pt x="176" y="152"/>
                        </a:cubicBezTo>
                        <a:cubicBezTo>
                          <a:pt x="174" y="167"/>
                          <a:pt x="173" y="181"/>
                          <a:pt x="170" y="196"/>
                        </a:cubicBezTo>
                        <a:cubicBezTo>
                          <a:pt x="171" y="202"/>
                          <a:pt x="174" y="220"/>
                          <a:pt x="180" y="224"/>
                        </a:cubicBezTo>
                        <a:cubicBezTo>
                          <a:pt x="185" y="228"/>
                          <a:pt x="193" y="228"/>
                          <a:pt x="198" y="232"/>
                        </a:cubicBezTo>
                        <a:cubicBezTo>
                          <a:pt x="204" y="230"/>
                          <a:pt x="216" y="234"/>
                          <a:pt x="216" y="234"/>
                        </a:cubicBezTo>
                        <a:cubicBezTo>
                          <a:pt x="223" y="241"/>
                          <a:pt x="225" y="245"/>
                          <a:pt x="236" y="242"/>
                        </a:cubicBezTo>
                        <a:cubicBezTo>
                          <a:pt x="242" y="240"/>
                          <a:pt x="254" y="236"/>
                          <a:pt x="254" y="236"/>
                        </a:cubicBezTo>
                        <a:cubicBezTo>
                          <a:pt x="260" y="240"/>
                          <a:pt x="265" y="246"/>
                          <a:pt x="272" y="248"/>
                        </a:cubicBezTo>
                        <a:cubicBezTo>
                          <a:pt x="277" y="250"/>
                          <a:pt x="291" y="252"/>
                          <a:pt x="296" y="256"/>
                        </a:cubicBezTo>
                        <a:cubicBezTo>
                          <a:pt x="301" y="260"/>
                          <a:pt x="314" y="264"/>
                          <a:pt x="314" y="264"/>
                        </a:cubicBezTo>
                        <a:cubicBezTo>
                          <a:pt x="330" y="263"/>
                          <a:pt x="338" y="261"/>
                          <a:pt x="352" y="266"/>
                        </a:cubicBezTo>
                        <a:cubicBezTo>
                          <a:pt x="355" y="275"/>
                          <a:pt x="350" y="277"/>
                          <a:pt x="342" y="274"/>
                        </a:cubicBezTo>
                        <a:cubicBezTo>
                          <a:pt x="336" y="276"/>
                          <a:pt x="322" y="272"/>
                          <a:pt x="322" y="272"/>
                        </a:cubicBezTo>
                        <a:cubicBezTo>
                          <a:pt x="314" y="275"/>
                          <a:pt x="308" y="272"/>
                          <a:pt x="300" y="270"/>
                        </a:cubicBezTo>
                        <a:cubicBezTo>
                          <a:pt x="296" y="269"/>
                          <a:pt x="288" y="266"/>
                          <a:pt x="288" y="266"/>
                        </a:cubicBezTo>
                        <a:cubicBezTo>
                          <a:pt x="276" y="270"/>
                          <a:pt x="264" y="266"/>
                          <a:pt x="252" y="264"/>
                        </a:cubicBezTo>
                        <a:cubicBezTo>
                          <a:pt x="245" y="259"/>
                          <a:pt x="242" y="257"/>
                          <a:pt x="234" y="260"/>
                        </a:cubicBezTo>
                        <a:cubicBezTo>
                          <a:pt x="211" y="252"/>
                          <a:pt x="192" y="256"/>
                          <a:pt x="172" y="242"/>
                        </a:cubicBezTo>
                        <a:cubicBezTo>
                          <a:pt x="165" y="231"/>
                          <a:pt x="176" y="221"/>
                          <a:pt x="160" y="216"/>
                        </a:cubicBezTo>
                        <a:cubicBezTo>
                          <a:pt x="154" y="233"/>
                          <a:pt x="136" y="203"/>
                          <a:pt x="126" y="200"/>
                        </a:cubicBezTo>
                        <a:cubicBezTo>
                          <a:pt x="120" y="196"/>
                          <a:pt x="114" y="190"/>
                          <a:pt x="108" y="186"/>
                        </a:cubicBezTo>
                        <a:cubicBezTo>
                          <a:pt x="104" y="175"/>
                          <a:pt x="104" y="165"/>
                          <a:pt x="94" y="158"/>
                        </a:cubicBezTo>
                        <a:cubicBezTo>
                          <a:pt x="83" y="142"/>
                          <a:pt x="85" y="119"/>
                          <a:pt x="68" y="108"/>
                        </a:cubicBezTo>
                        <a:cubicBezTo>
                          <a:pt x="67" y="106"/>
                          <a:pt x="66" y="104"/>
                          <a:pt x="64" y="102"/>
                        </a:cubicBezTo>
                        <a:cubicBezTo>
                          <a:pt x="62" y="101"/>
                          <a:pt x="59" y="102"/>
                          <a:pt x="58" y="100"/>
                        </a:cubicBezTo>
                        <a:cubicBezTo>
                          <a:pt x="56" y="97"/>
                          <a:pt x="54" y="88"/>
                          <a:pt x="54" y="88"/>
                        </a:cubicBezTo>
                        <a:cubicBezTo>
                          <a:pt x="59" y="73"/>
                          <a:pt x="52" y="61"/>
                          <a:pt x="38" y="58"/>
                        </a:cubicBezTo>
                        <a:cubicBezTo>
                          <a:pt x="32" y="49"/>
                          <a:pt x="31" y="44"/>
                          <a:pt x="20" y="40"/>
                        </a:cubicBezTo>
                        <a:cubicBezTo>
                          <a:pt x="16" y="27"/>
                          <a:pt x="16" y="26"/>
                          <a:pt x="4" y="22"/>
                        </a:cubicBezTo>
                        <a:cubicBezTo>
                          <a:pt x="1" y="13"/>
                          <a:pt x="0" y="5"/>
                          <a:pt x="10" y="2"/>
                        </a:cubicBezTo>
                        <a:cubicBezTo>
                          <a:pt x="18" y="5"/>
                          <a:pt x="18" y="4"/>
                          <a:pt x="10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1" name="Freeform 74"/>
                  <p:cNvSpPr>
                    <a:spLocks/>
                  </p:cNvSpPr>
                  <p:nvPr/>
                </p:nvSpPr>
                <p:spPr bwMode="ltGray">
                  <a:xfrm>
                    <a:off x="4515" y="541"/>
                    <a:ext cx="67" cy="68"/>
                  </a:xfrm>
                  <a:custGeom>
                    <a:avLst/>
                    <a:gdLst>
                      <a:gd name="T0" fmla="*/ 54 w 156"/>
                      <a:gd name="T1" fmla="*/ 66 h 206"/>
                      <a:gd name="T2" fmla="*/ 66 w 156"/>
                      <a:gd name="T3" fmla="*/ 58 h 206"/>
                      <a:gd name="T4" fmla="*/ 68 w 156"/>
                      <a:gd name="T5" fmla="*/ 52 h 206"/>
                      <a:gd name="T6" fmla="*/ 80 w 156"/>
                      <a:gd name="T7" fmla="*/ 44 h 206"/>
                      <a:gd name="T8" fmla="*/ 106 w 156"/>
                      <a:gd name="T9" fmla="*/ 22 h 206"/>
                      <a:gd name="T10" fmla="*/ 112 w 156"/>
                      <a:gd name="T11" fmla="*/ 4 h 206"/>
                      <a:gd name="T12" fmla="*/ 124 w 156"/>
                      <a:gd name="T13" fmla="*/ 0 h 206"/>
                      <a:gd name="T14" fmla="*/ 150 w 156"/>
                      <a:gd name="T15" fmla="*/ 28 h 206"/>
                      <a:gd name="T16" fmla="*/ 146 w 156"/>
                      <a:gd name="T17" fmla="*/ 44 h 206"/>
                      <a:gd name="T18" fmla="*/ 126 w 156"/>
                      <a:gd name="T19" fmla="*/ 64 h 206"/>
                      <a:gd name="T20" fmla="*/ 132 w 156"/>
                      <a:gd name="T21" fmla="*/ 94 h 206"/>
                      <a:gd name="T22" fmla="*/ 142 w 156"/>
                      <a:gd name="T23" fmla="*/ 110 h 206"/>
                      <a:gd name="T24" fmla="*/ 146 w 156"/>
                      <a:gd name="T25" fmla="*/ 128 h 206"/>
                      <a:gd name="T26" fmla="*/ 128 w 156"/>
                      <a:gd name="T27" fmla="*/ 128 h 206"/>
                      <a:gd name="T28" fmla="*/ 116 w 156"/>
                      <a:gd name="T29" fmla="*/ 146 h 206"/>
                      <a:gd name="T30" fmla="*/ 104 w 156"/>
                      <a:gd name="T31" fmla="*/ 156 h 206"/>
                      <a:gd name="T32" fmla="*/ 100 w 156"/>
                      <a:gd name="T33" fmla="*/ 198 h 206"/>
                      <a:gd name="T34" fmla="*/ 88 w 156"/>
                      <a:gd name="T35" fmla="*/ 202 h 206"/>
                      <a:gd name="T36" fmla="*/ 82 w 156"/>
                      <a:gd name="T37" fmla="*/ 206 h 206"/>
                      <a:gd name="T38" fmla="*/ 76 w 156"/>
                      <a:gd name="T39" fmla="*/ 202 h 206"/>
                      <a:gd name="T40" fmla="*/ 72 w 156"/>
                      <a:gd name="T41" fmla="*/ 190 h 206"/>
                      <a:gd name="T42" fmla="*/ 60 w 156"/>
                      <a:gd name="T43" fmla="*/ 186 h 206"/>
                      <a:gd name="T44" fmla="*/ 42 w 156"/>
                      <a:gd name="T45" fmla="*/ 194 h 206"/>
                      <a:gd name="T46" fmla="*/ 28 w 156"/>
                      <a:gd name="T47" fmla="*/ 186 h 206"/>
                      <a:gd name="T48" fmla="*/ 10 w 156"/>
                      <a:gd name="T49" fmla="*/ 148 h 206"/>
                      <a:gd name="T50" fmla="*/ 4 w 156"/>
                      <a:gd name="T51" fmla="*/ 130 h 206"/>
                      <a:gd name="T52" fmla="*/ 0 w 156"/>
                      <a:gd name="T53" fmla="*/ 118 h 206"/>
                      <a:gd name="T54" fmla="*/ 20 w 156"/>
                      <a:gd name="T55" fmla="*/ 96 h 206"/>
                      <a:gd name="T56" fmla="*/ 32 w 156"/>
                      <a:gd name="T57" fmla="*/ 104 h 206"/>
                      <a:gd name="T58" fmla="*/ 34 w 156"/>
                      <a:gd name="T59" fmla="*/ 80 h 206"/>
                      <a:gd name="T60" fmla="*/ 52 w 156"/>
                      <a:gd name="T61" fmla="*/ 70 h 206"/>
                      <a:gd name="T62" fmla="*/ 54 w 156"/>
                      <a:gd name="T63" fmla="*/ 66 h 20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</a:gdLst>
                    <a:ahLst/>
                    <a:cxnLst>
                      <a:cxn ang="T64">
                        <a:pos x="T0" y="T1"/>
                      </a:cxn>
                      <a:cxn ang="T65">
                        <a:pos x="T2" y="T3"/>
                      </a:cxn>
                      <a:cxn ang="T66">
                        <a:pos x="T4" y="T5"/>
                      </a:cxn>
                      <a:cxn ang="T67">
                        <a:pos x="T6" y="T7"/>
                      </a:cxn>
                      <a:cxn ang="T68">
                        <a:pos x="T8" y="T9"/>
                      </a:cxn>
                      <a:cxn ang="T69">
                        <a:pos x="T10" y="T11"/>
                      </a:cxn>
                      <a:cxn ang="T70">
                        <a:pos x="T12" y="T13"/>
                      </a:cxn>
                      <a:cxn ang="T71">
                        <a:pos x="T14" y="T15"/>
                      </a:cxn>
                      <a:cxn ang="T72">
                        <a:pos x="T16" y="T17"/>
                      </a:cxn>
                      <a:cxn ang="T73">
                        <a:pos x="T18" y="T19"/>
                      </a:cxn>
                      <a:cxn ang="T74">
                        <a:pos x="T20" y="T21"/>
                      </a:cxn>
                      <a:cxn ang="T75">
                        <a:pos x="T22" y="T23"/>
                      </a:cxn>
                      <a:cxn ang="T76">
                        <a:pos x="T24" y="T25"/>
                      </a:cxn>
                      <a:cxn ang="T77">
                        <a:pos x="T26" y="T27"/>
                      </a:cxn>
                      <a:cxn ang="T78">
                        <a:pos x="T28" y="T29"/>
                      </a:cxn>
                      <a:cxn ang="T79">
                        <a:pos x="T30" y="T31"/>
                      </a:cxn>
                      <a:cxn ang="T80">
                        <a:pos x="T32" y="T33"/>
                      </a:cxn>
                      <a:cxn ang="T81">
                        <a:pos x="T34" y="T35"/>
                      </a:cxn>
                      <a:cxn ang="T82">
                        <a:pos x="T36" y="T37"/>
                      </a:cxn>
                      <a:cxn ang="T83">
                        <a:pos x="T38" y="T39"/>
                      </a:cxn>
                      <a:cxn ang="T84">
                        <a:pos x="T40" y="T41"/>
                      </a:cxn>
                      <a:cxn ang="T85">
                        <a:pos x="T42" y="T43"/>
                      </a:cxn>
                      <a:cxn ang="T86">
                        <a:pos x="T44" y="T45"/>
                      </a:cxn>
                      <a:cxn ang="T87">
                        <a:pos x="T46" y="T47"/>
                      </a:cxn>
                      <a:cxn ang="T88">
                        <a:pos x="T48" y="T49"/>
                      </a:cxn>
                      <a:cxn ang="T89">
                        <a:pos x="T50" y="T51"/>
                      </a:cxn>
                      <a:cxn ang="T90">
                        <a:pos x="T52" y="T53"/>
                      </a:cxn>
                      <a:cxn ang="T91">
                        <a:pos x="T54" y="T55"/>
                      </a:cxn>
                      <a:cxn ang="T92">
                        <a:pos x="T56" y="T57"/>
                      </a:cxn>
                      <a:cxn ang="T93">
                        <a:pos x="T58" y="T59"/>
                      </a:cxn>
                      <a:cxn ang="T94">
                        <a:pos x="T60" y="T61"/>
                      </a:cxn>
                      <a:cxn ang="T95">
                        <a:pos x="T62" y="T63"/>
                      </a:cxn>
                    </a:cxnLst>
                    <a:rect l="0" t="0" r="r" b="b"/>
                    <a:pathLst>
                      <a:path w="156" h="206">
                        <a:moveTo>
                          <a:pt x="54" y="66"/>
                        </a:moveTo>
                        <a:cubicBezTo>
                          <a:pt x="58" y="63"/>
                          <a:pt x="64" y="63"/>
                          <a:pt x="66" y="58"/>
                        </a:cubicBezTo>
                        <a:cubicBezTo>
                          <a:pt x="67" y="56"/>
                          <a:pt x="67" y="53"/>
                          <a:pt x="68" y="52"/>
                        </a:cubicBezTo>
                        <a:cubicBezTo>
                          <a:pt x="71" y="49"/>
                          <a:pt x="80" y="44"/>
                          <a:pt x="80" y="44"/>
                        </a:cubicBezTo>
                        <a:cubicBezTo>
                          <a:pt x="113" y="55"/>
                          <a:pt x="85" y="29"/>
                          <a:pt x="106" y="22"/>
                        </a:cubicBezTo>
                        <a:cubicBezTo>
                          <a:pt x="110" y="17"/>
                          <a:pt x="108" y="9"/>
                          <a:pt x="112" y="4"/>
                        </a:cubicBezTo>
                        <a:cubicBezTo>
                          <a:pt x="115" y="1"/>
                          <a:pt x="124" y="0"/>
                          <a:pt x="124" y="0"/>
                        </a:cubicBezTo>
                        <a:cubicBezTo>
                          <a:pt x="138" y="14"/>
                          <a:pt x="126" y="23"/>
                          <a:pt x="150" y="28"/>
                        </a:cubicBezTo>
                        <a:cubicBezTo>
                          <a:pt x="156" y="36"/>
                          <a:pt x="154" y="39"/>
                          <a:pt x="146" y="44"/>
                        </a:cubicBezTo>
                        <a:cubicBezTo>
                          <a:pt x="141" y="52"/>
                          <a:pt x="135" y="61"/>
                          <a:pt x="126" y="64"/>
                        </a:cubicBezTo>
                        <a:cubicBezTo>
                          <a:pt x="118" y="75"/>
                          <a:pt x="128" y="83"/>
                          <a:pt x="132" y="94"/>
                        </a:cubicBezTo>
                        <a:cubicBezTo>
                          <a:pt x="129" y="103"/>
                          <a:pt x="135" y="105"/>
                          <a:pt x="142" y="110"/>
                        </a:cubicBezTo>
                        <a:cubicBezTo>
                          <a:pt x="145" y="119"/>
                          <a:pt x="141" y="120"/>
                          <a:pt x="146" y="128"/>
                        </a:cubicBezTo>
                        <a:cubicBezTo>
                          <a:pt x="142" y="139"/>
                          <a:pt x="135" y="133"/>
                          <a:pt x="128" y="128"/>
                        </a:cubicBezTo>
                        <a:cubicBezTo>
                          <a:pt x="116" y="132"/>
                          <a:pt x="122" y="136"/>
                          <a:pt x="116" y="146"/>
                        </a:cubicBezTo>
                        <a:cubicBezTo>
                          <a:pt x="113" y="151"/>
                          <a:pt x="108" y="152"/>
                          <a:pt x="104" y="156"/>
                        </a:cubicBezTo>
                        <a:cubicBezTo>
                          <a:pt x="107" y="167"/>
                          <a:pt x="112" y="191"/>
                          <a:pt x="100" y="198"/>
                        </a:cubicBezTo>
                        <a:cubicBezTo>
                          <a:pt x="96" y="200"/>
                          <a:pt x="92" y="200"/>
                          <a:pt x="88" y="202"/>
                        </a:cubicBezTo>
                        <a:cubicBezTo>
                          <a:pt x="86" y="203"/>
                          <a:pt x="84" y="205"/>
                          <a:pt x="82" y="206"/>
                        </a:cubicBezTo>
                        <a:cubicBezTo>
                          <a:pt x="80" y="205"/>
                          <a:pt x="77" y="204"/>
                          <a:pt x="76" y="202"/>
                        </a:cubicBezTo>
                        <a:cubicBezTo>
                          <a:pt x="74" y="198"/>
                          <a:pt x="76" y="191"/>
                          <a:pt x="72" y="190"/>
                        </a:cubicBezTo>
                        <a:cubicBezTo>
                          <a:pt x="68" y="189"/>
                          <a:pt x="60" y="186"/>
                          <a:pt x="60" y="186"/>
                        </a:cubicBezTo>
                        <a:cubicBezTo>
                          <a:pt x="53" y="188"/>
                          <a:pt x="49" y="192"/>
                          <a:pt x="42" y="194"/>
                        </a:cubicBezTo>
                        <a:cubicBezTo>
                          <a:pt x="34" y="189"/>
                          <a:pt x="37" y="183"/>
                          <a:pt x="28" y="186"/>
                        </a:cubicBezTo>
                        <a:cubicBezTo>
                          <a:pt x="12" y="181"/>
                          <a:pt x="19" y="161"/>
                          <a:pt x="10" y="148"/>
                        </a:cubicBezTo>
                        <a:cubicBezTo>
                          <a:pt x="5" y="121"/>
                          <a:pt x="11" y="147"/>
                          <a:pt x="4" y="130"/>
                        </a:cubicBezTo>
                        <a:cubicBezTo>
                          <a:pt x="2" y="126"/>
                          <a:pt x="0" y="118"/>
                          <a:pt x="0" y="118"/>
                        </a:cubicBezTo>
                        <a:cubicBezTo>
                          <a:pt x="2" y="95"/>
                          <a:pt x="0" y="83"/>
                          <a:pt x="20" y="96"/>
                        </a:cubicBezTo>
                        <a:cubicBezTo>
                          <a:pt x="23" y="105"/>
                          <a:pt x="23" y="110"/>
                          <a:pt x="32" y="104"/>
                        </a:cubicBezTo>
                        <a:cubicBezTo>
                          <a:pt x="35" y="95"/>
                          <a:pt x="29" y="88"/>
                          <a:pt x="34" y="80"/>
                        </a:cubicBezTo>
                        <a:cubicBezTo>
                          <a:pt x="36" y="76"/>
                          <a:pt x="48" y="73"/>
                          <a:pt x="52" y="70"/>
                        </a:cubicBezTo>
                        <a:cubicBezTo>
                          <a:pt x="57" y="63"/>
                          <a:pt x="58" y="62"/>
                          <a:pt x="54" y="6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2" name="Freeform 75"/>
                  <p:cNvSpPr>
                    <a:spLocks/>
                  </p:cNvSpPr>
                  <p:nvPr/>
                </p:nvSpPr>
                <p:spPr bwMode="ltGray">
                  <a:xfrm>
                    <a:off x="4580" y="572"/>
                    <a:ext cx="47" cy="13"/>
                  </a:xfrm>
                  <a:custGeom>
                    <a:avLst/>
                    <a:gdLst>
                      <a:gd name="T0" fmla="*/ 4 w 109"/>
                      <a:gd name="T1" fmla="*/ 32 h 38"/>
                      <a:gd name="T2" fmla="*/ 18 w 109"/>
                      <a:gd name="T3" fmla="*/ 10 h 38"/>
                      <a:gd name="T4" fmla="*/ 46 w 109"/>
                      <a:gd name="T5" fmla="*/ 20 h 38"/>
                      <a:gd name="T6" fmla="*/ 72 w 109"/>
                      <a:gd name="T7" fmla="*/ 14 h 38"/>
                      <a:gd name="T8" fmla="*/ 90 w 109"/>
                      <a:gd name="T9" fmla="*/ 0 h 38"/>
                      <a:gd name="T10" fmla="*/ 76 w 109"/>
                      <a:gd name="T11" fmla="*/ 26 h 38"/>
                      <a:gd name="T12" fmla="*/ 60 w 109"/>
                      <a:gd name="T13" fmla="*/ 38 h 38"/>
                      <a:gd name="T14" fmla="*/ 42 w 109"/>
                      <a:gd name="T15" fmla="*/ 32 h 38"/>
                      <a:gd name="T16" fmla="*/ 14 w 109"/>
                      <a:gd name="T17" fmla="*/ 30 h 38"/>
                      <a:gd name="T18" fmla="*/ 4 w 109"/>
                      <a:gd name="T19" fmla="*/ 32 h 38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</a:gdLst>
                    <a:ahLst/>
                    <a:cxnLst>
                      <a:cxn ang="T20">
                        <a:pos x="T0" y="T1"/>
                      </a:cxn>
                      <a:cxn ang="T21">
                        <a:pos x="T2" y="T3"/>
                      </a:cxn>
                      <a:cxn ang="T22">
                        <a:pos x="T4" y="T5"/>
                      </a:cxn>
                      <a:cxn ang="T23">
                        <a:pos x="T6" y="T7"/>
                      </a:cxn>
                      <a:cxn ang="T24">
                        <a:pos x="T8" y="T9"/>
                      </a:cxn>
                      <a:cxn ang="T25">
                        <a:pos x="T10" y="T11"/>
                      </a:cxn>
                      <a:cxn ang="T26">
                        <a:pos x="T12" y="T13"/>
                      </a:cxn>
                      <a:cxn ang="T27">
                        <a:pos x="T14" y="T15"/>
                      </a:cxn>
                      <a:cxn ang="T28">
                        <a:pos x="T16" y="T17"/>
                      </a:cxn>
                      <a:cxn ang="T29">
                        <a:pos x="T18" y="T19"/>
                      </a:cxn>
                    </a:cxnLst>
                    <a:rect l="0" t="0" r="r" b="b"/>
                    <a:pathLst>
                      <a:path w="109" h="38">
                        <a:moveTo>
                          <a:pt x="4" y="32"/>
                        </a:moveTo>
                        <a:cubicBezTo>
                          <a:pt x="7" y="22"/>
                          <a:pt x="7" y="14"/>
                          <a:pt x="18" y="10"/>
                        </a:cubicBezTo>
                        <a:cubicBezTo>
                          <a:pt x="28" y="12"/>
                          <a:pt x="37" y="14"/>
                          <a:pt x="46" y="20"/>
                        </a:cubicBezTo>
                        <a:cubicBezTo>
                          <a:pt x="62" y="15"/>
                          <a:pt x="54" y="17"/>
                          <a:pt x="72" y="14"/>
                        </a:cubicBezTo>
                        <a:cubicBezTo>
                          <a:pt x="77" y="9"/>
                          <a:pt x="90" y="0"/>
                          <a:pt x="90" y="0"/>
                        </a:cubicBezTo>
                        <a:cubicBezTo>
                          <a:pt x="109" y="6"/>
                          <a:pt x="85" y="23"/>
                          <a:pt x="76" y="26"/>
                        </a:cubicBezTo>
                        <a:cubicBezTo>
                          <a:pt x="71" y="33"/>
                          <a:pt x="68" y="35"/>
                          <a:pt x="60" y="38"/>
                        </a:cubicBezTo>
                        <a:cubicBezTo>
                          <a:pt x="54" y="36"/>
                          <a:pt x="42" y="32"/>
                          <a:pt x="42" y="32"/>
                        </a:cubicBezTo>
                        <a:cubicBezTo>
                          <a:pt x="33" y="23"/>
                          <a:pt x="26" y="26"/>
                          <a:pt x="14" y="30"/>
                        </a:cubicBezTo>
                        <a:cubicBezTo>
                          <a:pt x="1" y="28"/>
                          <a:pt x="0" y="24"/>
                          <a:pt x="4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3" name="Freeform 76"/>
                  <p:cNvSpPr>
                    <a:spLocks/>
                  </p:cNvSpPr>
                  <p:nvPr/>
                </p:nvSpPr>
                <p:spPr bwMode="ltGray">
                  <a:xfrm>
                    <a:off x="4578" y="588"/>
                    <a:ext cx="32" cy="34"/>
                  </a:xfrm>
                  <a:custGeom>
                    <a:avLst/>
                    <a:gdLst>
                      <a:gd name="T0" fmla="*/ 8 w 76"/>
                      <a:gd name="T1" fmla="*/ 18 h 104"/>
                      <a:gd name="T2" fmla="*/ 18 w 76"/>
                      <a:gd name="T3" fmla="*/ 0 h 104"/>
                      <a:gd name="T4" fmla="*/ 34 w 76"/>
                      <a:gd name="T5" fmla="*/ 18 h 104"/>
                      <a:gd name="T6" fmla="*/ 62 w 76"/>
                      <a:gd name="T7" fmla="*/ 4 h 104"/>
                      <a:gd name="T8" fmla="*/ 46 w 76"/>
                      <a:gd name="T9" fmla="*/ 34 h 104"/>
                      <a:gd name="T10" fmla="*/ 54 w 76"/>
                      <a:gd name="T11" fmla="*/ 48 h 104"/>
                      <a:gd name="T12" fmla="*/ 58 w 76"/>
                      <a:gd name="T13" fmla="*/ 60 h 104"/>
                      <a:gd name="T14" fmla="*/ 46 w 76"/>
                      <a:gd name="T15" fmla="*/ 74 h 104"/>
                      <a:gd name="T16" fmla="*/ 34 w 76"/>
                      <a:gd name="T17" fmla="*/ 60 h 104"/>
                      <a:gd name="T18" fmla="*/ 22 w 76"/>
                      <a:gd name="T19" fmla="*/ 48 h 104"/>
                      <a:gd name="T20" fmla="*/ 28 w 76"/>
                      <a:gd name="T21" fmla="*/ 68 h 104"/>
                      <a:gd name="T22" fmla="*/ 30 w 76"/>
                      <a:gd name="T23" fmla="*/ 74 h 104"/>
                      <a:gd name="T24" fmla="*/ 20 w 76"/>
                      <a:gd name="T25" fmla="*/ 104 h 104"/>
                      <a:gd name="T26" fmla="*/ 12 w 76"/>
                      <a:gd name="T27" fmla="*/ 102 h 104"/>
                      <a:gd name="T28" fmla="*/ 8 w 76"/>
                      <a:gd name="T29" fmla="*/ 90 h 104"/>
                      <a:gd name="T30" fmla="*/ 0 w 76"/>
                      <a:gd name="T31" fmla="*/ 54 h 104"/>
                      <a:gd name="T32" fmla="*/ 2 w 76"/>
                      <a:gd name="T33" fmla="*/ 30 h 104"/>
                      <a:gd name="T34" fmla="*/ 8 w 76"/>
                      <a:gd name="T35" fmla="*/ 18 h 104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</a:gdLst>
                    <a:ahLst/>
                    <a:cxnLst>
                      <a:cxn ang="T36">
                        <a:pos x="T0" y="T1"/>
                      </a:cxn>
                      <a:cxn ang="T37">
                        <a:pos x="T2" y="T3"/>
                      </a:cxn>
                      <a:cxn ang="T38">
                        <a:pos x="T4" y="T5"/>
                      </a:cxn>
                      <a:cxn ang="T39">
                        <a:pos x="T6" y="T7"/>
                      </a:cxn>
                      <a:cxn ang="T40">
                        <a:pos x="T8" y="T9"/>
                      </a:cxn>
                      <a:cxn ang="T41">
                        <a:pos x="T10" y="T11"/>
                      </a:cxn>
                      <a:cxn ang="T42">
                        <a:pos x="T12" y="T13"/>
                      </a:cxn>
                      <a:cxn ang="T43">
                        <a:pos x="T14" y="T15"/>
                      </a:cxn>
                      <a:cxn ang="T44">
                        <a:pos x="T16" y="T17"/>
                      </a:cxn>
                      <a:cxn ang="T45">
                        <a:pos x="T18" y="T19"/>
                      </a:cxn>
                      <a:cxn ang="T46">
                        <a:pos x="T20" y="T21"/>
                      </a:cxn>
                      <a:cxn ang="T47">
                        <a:pos x="T22" y="T23"/>
                      </a:cxn>
                      <a:cxn ang="T48">
                        <a:pos x="T24" y="T25"/>
                      </a:cxn>
                      <a:cxn ang="T49">
                        <a:pos x="T26" y="T27"/>
                      </a:cxn>
                      <a:cxn ang="T50">
                        <a:pos x="T28" y="T29"/>
                      </a:cxn>
                      <a:cxn ang="T51">
                        <a:pos x="T30" y="T31"/>
                      </a:cxn>
                      <a:cxn ang="T52">
                        <a:pos x="T32" y="T33"/>
                      </a:cxn>
                      <a:cxn ang="T53">
                        <a:pos x="T34" y="T35"/>
                      </a:cxn>
                    </a:cxnLst>
                    <a:rect l="0" t="0" r="r" b="b"/>
                    <a:pathLst>
                      <a:path w="76" h="104">
                        <a:moveTo>
                          <a:pt x="8" y="18"/>
                        </a:moveTo>
                        <a:cubicBezTo>
                          <a:pt x="10" y="8"/>
                          <a:pt x="9" y="3"/>
                          <a:pt x="18" y="0"/>
                        </a:cubicBezTo>
                        <a:cubicBezTo>
                          <a:pt x="28" y="3"/>
                          <a:pt x="25" y="12"/>
                          <a:pt x="34" y="18"/>
                        </a:cubicBezTo>
                        <a:cubicBezTo>
                          <a:pt x="46" y="16"/>
                          <a:pt x="51" y="8"/>
                          <a:pt x="62" y="4"/>
                        </a:cubicBezTo>
                        <a:cubicBezTo>
                          <a:pt x="76" y="9"/>
                          <a:pt x="56" y="31"/>
                          <a:pt x="46" y="34"/>
                        </a:cubicBezTo>
                        <a:cubicBezTo>
                          <a:pt x="51" y="56"/>
                          <a:pt x="43" y="29"/>
                          <a:pt x="54" y="48"/>
                        </a:cubicBezTo>
                        <a:cubicBezTo>
                          <a:pt x="56" y="52"/>
                          <a:pt x="58" y="60"/>
                          <a:pt x="58" y="60"/>
                        </a:cubicBezTo>
                        <a:cubicBezTo>
                          <a:pt x="55" y="68"/>
                          <a:pt x="54" y="71"/>
                          <a:pt x="46" y="74"/>
                        </a:cubicBezTo>
                        <a:cubicBezTo>
                          <a:pt x="38" y="71"/>
                          <a:pt x="37" y="68"/>
                          <a:pt x="34" y="60"/>
                        </a:cubicBezTo>
                        <a:cubicBezTo>
                          <a:pt x="33" y="50"/>
                          <a:pt x="32" y="33"/>
                          <a:pt x="22" y="48"/>
                        </a:cubicBezTo>
                        <a:cubicBezTo>
                          <a:pt x="25" y="60"/>
                          <a:pt x="23" y="53"/>
                          <a:pt x="28" y="68"/>
                        </a:cubicBezTo>
                        <a:cubicBezTo>
                          <a:pt x="29" y="70"/>
                          <a:pt x="30" y="74"/>
                          <a:pt x="30" y="74"/>
                        </a:cubicBezTo>
                        <a:cubicBezTo>
                          <a:pt x="24" y="84"/>
                          <a:pt x="22" y="93"/>
                          <a:pt x="20" y="104"/>
                        </a:cubicBezTo>
                        <a:cubicBezTo>
                          <a:pt x="17" y="103"/>
                          <a:pt x="14" y="104"/>
                          <a:pt x="12" y="102"/>
                        </a:cubicBezTo>
                        <a:cubicBezTo>
                          <a:pt x="9" y="99"/>
                          <a:pt x="8" y="90"/>
                          <a:pt x="8" y="90"/>
                        </a:cubicBezTo>
                        <a:cubicBezTo>
                          <a:pt x="13" y="75"/>
                          <a:pt x="14" y="64"/>
                          <a:pt x="0" y="54"/>
                        </a:cubicBezTo>
                        <a:cubicBezTo>
                          <a:pt x="1" y="46"/>
                          <a:pt x="1" y="38"/>
                          <a:pt x="2" y="30"/>
                        </a:cubicBezTo>
                        <a:cubicBezTo>
                          <a:pt x="2" y="27"/>
                          <a:pt x="13" y="2"/>
                          <a:pt x="8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4" name="Freeform 77"/>
                  <p:cNvSpPr>
                    <a:spLocks/>
                  </p:cNvSpPr>
                  <p:nvPr/>
                </p:nvSpPr>
                <p:spPr bwMode="ltGray">
                  <a:xfrm>
                    <a:off x="4632" y="569"/>
                    <a:ext cx="16" cy="20"/>
                  </a:xfrm>
                  <a:custGeom>
                    <a:avLst/>
                    <a:gdLst>
                      <a:gd name="T0" fmla="*/ 3 w 37"/>
                      <a:gd name="T1" fmla="*/ 28 h 61"/>
                      <a:gd name="T2" fmla="*/ 13 w 37"/>
                      <a:gd name="T3" fmla="*/ 0 h 61"/>
                      <a:gd name="T4" fmla="*/ 15 w 37"/>
                      <a:gd name="T5" fmla="*/ 28 h 61"/>
                      <a:gd name="T6" fmla="*/ 37 w 37"/>
                      <a:gd name="T7" fmla="*/ 38 h 61"/>
                      <a:gd name="T8" fmla="*/ 19 w 37"/>
                      <a:gd name="T9" fmla="*/ 44 h 61"/>
                      <a:gd name="T10" fmla="*/ 5 w 37"/>
                      <a:gd name="T11" fmla="*/ 58 h 61"/>
                      <a:gd name="T12" fmla="*/ 1 w 37"/>
                      <a:gd name="T13" fmla="*/ 34 h 61"/>
                      <a:gd name="T14" fmla="*/ 3 w 37"/>
                      <a:gd name="T15" fmla="*/ 28 h 61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7" h="61">
                        <a:moveTo>
                          <a:pt x="3" y="28"/>
                        </a:moveTo>
                        <a:cubicBezTo>
                          <a:pt x="5" y="14"/>
                          <a:pt x="2" y="7"/>
                          <a:pt x="13" y="0"/>
                        </a:cubicBezTo>
                        <a:cubicBezTo>
                          <a:pt x="26" y="9"/>
                          <a:pt x="23" y="17"/>
                          <a:pt x="15" y="28"/>
                        </a:cubicBezTo>
                        <a:cubicBezTo>
                          <a:pt x="25" y="31"/>
                          <a:pt x="33" y="27"/>
                          <a:pt x="37" y="38"/>
                        </a:cubicBezTo>
                        <a:cubicBezTo>
                          <a:pt x="30" y="45"/>
                          <a:pt x="28" y="47"/>
                          <a:pt x="19" y="44"/>
                        </a:cubicBezTo>
                        <a:cubicBezTo>
                          <a:pt x="13" y="54"/>
                          <a:pt x="18" y="61"/>
                          <a:pt x="5" y="58"/>
                        </a:cubicBezTo>
                        <a:cubicBezTo>
                          <a:pt x="0" y="50"/>
                          <a:pt x="3" y="44"/>
                          <a:pt x="1" y="34"/>
                        </a:cubicBezTo>
                        <a:cubicBezTo>
                          <a:pt x="2" y="32"/>
                          <a:pt x="3" y="28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5" name="Freeform 78"/>
                  <p:cNvSpPr>
                    <a:spLocks/>
                  </p:cNvSpPr>
                  <p:nvPr/>
                </p:nvSpPr>
                <p:spPr bwMode="ltGray">
                  <a:xfrm>
                    <a:off x="4636" y="600"/>
                    <a:ext cx="20" cy="10"/>
                  </a:xfrm>
                  <a:custGeom>
                    <a:avLst/>
                    <a:gdLst>
                      <a:gd name="T0" fmla="*/ 7 w 49"/>
                      <a:gd name="T1" fmla="*/ 0 h 29"/>
                      <a:gd name="T2" fmla="*/ 29 w 49"/>
                      <a:gd name="T3" fmla="*/ 0 h 29"/>
                      <a:gd name="T4" fmla="*/ 49 w 49"/>
                      <a:gd name="T5" fmla="*/ 16 h 29"/>
                      <a:gd name="T6" fmla="*/ 35 w 49"/>
                      <a:gd name="T7" fmla="*/ 14 h 29"/>
                      <a:gd name="T8" fmla="*/ 3 w 49"/>
                      <a:gd name="T9" fmla="*/ 16 h 29"/>
                      <a:gd name="T10" fmla="*/ 7 w 49"/>
                      <a:gd name="T11" fmla="*/ 0 h 29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9" h="29">
                        <a:moveTo>
                          <a:pt x="7" y="0"/>
                        </a:moveTo>
                        <a:cubicBezTo>
                          <a:pt x="15" y="6"/>
                          <a:pt x="19" y="2"/>
                          <a:pt x="29" y="0"/>
                        </a:cubicBezTo>
                        <a:cubicBezTo>
                          <a:pt x="45" y="5"/>
                          <a:pt x="40" y="3"/>
                          <a:pt x="49" y="16"/>
                        </a:cubicBezTo>
                        <a:cubicBezTo>
                          <a:pt x="46" y="29"/>
                          <a:pt x="42" y="21"/>
                          <a:pt x="35" y="14"/>
                        </a:cubicBezTo>
                        <a:cubicBezTo>
                          <a:pt x="26" y="15"/>
                          <a:pt x="12" y="19"/>
                          <a:pt x="3" y="16"/>
                        </a:cubicBezTo>
                        <a:cubicBezTo>
                          <a:pt x="0" y="6"/>
                          <a:pt x="7" y="10"/>
                          <a:pt x="7" y="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6" name="Freeform 79"/>
                  <p:cNvSpPr>
                    <a:spLocks/>
                  </p:cNvSpPr>
                  <p:nvPr/>
                </p:nvSpPr>
                <p:spPr bwMode="ltGray">
                  <a:xfrm>
                    <a:off x="4657" y="585"/>
                    <a:ext cx="26" cy="17"/>
                  </a:xfrm>
                  <a:custGeom>
                    <a:avLst/>
                    <a:gdLst>
                      <a:gd name="T0" fmla="*/ 21 w 61"/>
                      <a:gd name="T1" fmla="*/ 38 h 48"/>
                      <a:gd name="T2" fmla="*/ 15 w 61"/>
                      <a:gd name="T3" fmla="*/ 26 h 48"/>
                      <a:gd name="T4" fmla="*/ 3 w 61"/>
                      <a:gd name="T5" fmla="*/ 22 h 48"/>
                      <a:gd name="T6" fmla="*/ 13 w 61"/>
                      <a:gd name="T7" fmla="*/ 8 h 48"/>
                      <a:gd name="T8" fmla="*/ 25 w 61"/>
                      <a:gd name="T9" fmla="*/ 0 h 48"/>
                      <a:gd name="T10" fmla="*/ 49 w 61"/>
                      <a:gd name="T11" fmla="*/ 10 h 48"/>
                      <a:gd name="T12" fmla="*/ 53 w 61"/>
                      <a:gd name="T13" fmla="*/ 20 h 48"/>
                      <a:gd name="T14" fmla="*/ 61 w 61"/>
                      <a:gd name="T15" fmla="*/ 32 h 48"/>
                      <a:gd name="T16" fmla="*/ 41 w 61"/>
                      <a:gd name="T17" fmla="*/ 38 h 48"/>
                      <a:gd name="T18" fmla="*/ 23 w 61"/>
                      <a:gd name="T19" fmla="*/ 44 h 48"/>
                      <a:gd name="T20" fmla="*/ 21 w 61"/>
                      <a:gd name="T21" fmla="*/ 38 h 48"/>
                      <a:gd name="T22" fmla="*/ 0 60000 65536"/>
                      <a:gd name="T23" fmla="*/ 0 60000 65536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</a:gdLst>
                    <a:ahLst/>
                    <a:cxnLst>
                      <a:cxn ang="T22">
                        <a:pos x="T0" y="T1"/>
                      </a:cxn>
                      <a:cxn ang="T23">
                        <a:pos x="T2" y="T3"/>
                      </a:cxn>
                      <a:cxn ang="T24">
                        <a:pos x="T4" y="T5"/>
                      </a:cxn>
                      <a:cxn ang="T25">
                        <a:pos x="T6" y="T7"/>
                      </a:cxn>
                      <a:cxn ang="T26">
                        <a:pos x="T8" y="T9"/>
                      </a:cxn>
                      <a:cxn ang="T27">
                        <a:pos x="T10" y="T11"/>
                      </a:cxn>
                      <a:cxn ang="T28">
                        <a:pos x="T12" y="T13"/>
                      </a:cxn>
                      <a:cxn ang="T29">
                        <a:pos x="T14" y="T15"/>
                      </a:cxn>
                      <a:cxn ang="T30">
                        <a:pos x="T16" y="T17"/>
                      </a:cxn>
                      <a:cxn ang="T31">
                        <a:pos x="T18" y="T19"/>
                      </a:cxn>
                      <a:cxn ang="T32">
                        <a:pos x="T20" y="T21"/>
                      </a:cxn>
                    </a:cxnLst>
                    <a:rect l="0" t="0" r="r" b="b"/>
                    <a:pathLst>
                      <a:path w="61" h="48">
                        <a:moveTo>
                          <a:pt x="21" y="38"/>
                        </a:moveTo>
                        <a:cubicBezTo>
                          <a:pt x="19" y="34"/>
                          <a:pt x="19" y="29"/>
                          <a:pt x="15" y="26"/>
                        </a:cubicBezTo>
                        <a:cubicBezTo>
                          <a:pt x="12" y="24"/>
                          <a:pt x="3" y="22"/>
                          <a:pt x="3" y="22"/>
                        </a:cubicBezTo>
                        <a:cubicBezTo>
                          <a:pt x="0" y="12"/>
                          <a:pt x="5" y="12"/>
                          <a:pt x="13" y="8"/>
                        </a:cubicBezTo>
                        <a:cubicBezTo>
                          <a:pt x="17" y="6"/>
                          <a:pt x="25" y="0"/>
                          <a:pt x="25" y="0"/>
                        </a:cubicBezTo>
                        <a:cubicBezTo>
                          <a:pt x="37" y="2"/>
                          <a:pt x="41" y="2"/>
                          <a:pt x="49" y="10"/>
                        </a:cubicBezTo>
                        <a:cubicBezTo>
                          <a:pt x="45" y="21"/>
                          <a:pt x="46" y="12"/>
                          <a:pt x="53" y="20"/>
                        </a:cubicBezTo>
                        <a:cubicBezTo>
                          <a:pt x="56" y="24"/>
                          <a:pt x="61" y="32"/>
                          <a:pt x="61" y="32"/>
                        </a:cubicBezTo>
                        <a:cubicBezTo>
                          <a:pt x="56" y="47"/>
                          <a:pt x="53" y="42"/>
                          <a:pt x="41" y="38"/>
                        </a:cubicBezTo>
                        <a:cubicBezTo>
                          <a:pt x="27" y="47"/>
                          <a:pt x="34" y="48"/>
                          <a:pt x="23" y="44"/>
                        </a:cubicBezTo>
                        <a:cubicBezTo>
                          <a:pt x="22" y="42"/>
                          <a:pt x="21" y="38"/>
                          <a:pt x="21" y="3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7" name="Freeform 80"/>
                  <p:cNvSpPr>
                    <a:spLocks/>
                  </p:cNvSpPr>
                  <p:nvPr/>
                </p:nvSpPr>
                <p:spPr bwMode="ltGray">
                  <a:xfrm>
                    <a:off x="4664" y="593"/>
                    <a:ext cx="122" cy="61"/>
                  </a:xfrm>
                  <a:custGeom>
                    <a:avLst/>
                    <a:gdLst>
                      <a:gd name="T0" fmla="*/ 46 w 286"/>
                      <a:gd name="T1" fmla="*/ 28 h 182"/>
                      <a:gd name="T2" fmla="*/ 36 w 286"/>
                      <a:gd name="T3" fmla="*/ 14 h 182"/>
                      <a:gd name="T4" fmla="*/ 26 w 286"/>
                      <a:gd name="T5" fmla="*/ 30 h 182"/>
                      <a:gd name="T6" fmla="*/ 0 w 286"/>
                      <a:gd name="T7" fmla="*/ 24 h 182"/>
                      <a:gd name="T8" fmla="*/ 10 w 286"/>
                      <a:gd name="T9" fmla="*/ 42 h 182"/>
                      <a:gd name="T10" fmla="*/ 16 w 286"/>
                      <a:gd name="T11" fmla="*/ 62 h 182"/>
                      <a:gd name="T12" fmla="*/ 24 w 286"/>
                      <a:gd name="T13" fmla="*/ 48 h 182"/>
                      <a:gd name="T14" fmla="*/ 30 w 286"/>
                      <a:gd name="T15" fmla="*/ 44 h 182"/>
                      <a:gd name="T16" fmla="*/ 48 w 286"/>
                      <a:gd name="T17" fmla="*/ 56 h 182"/>
                      <a:gd name="T18" fmla="*/ 70 w 286"/>
                      <a:gd name="T19" fmla="*/ 62 h 182"/>
                      <a:gd name="T20" fmla="*/ 88 w 286"/>
                      <a:gd name="T21" fmla="*/ 72 h 182"/>
                      <a:gd name="T22" fmla="*/ 106 w 286"/>
                      <a:gd name="T23" fmla="*/ 102 h 182"/>
                      <a:gd name="T24" fmla="*/ 104 w 286"/>
                      <a:gd name="T25" fmla="*/ 122 h 182"/>
                      <a:gd name="T26" fmla="*/ 98 w 286"/>
                      <a:gd name="T27" fmla="*/ 134 h 182"/>
                      <a:gd name="T28" fmla="*/ 122 w 286"/>
                      <a:gd name="T29" fmla="*/ 128 h 182"/>
                      <a:gd name="T30" fmla="*/ 140 w 286"/>
                      <a:gd name="T31" fmla="*/ 140 h 182"/>
                      <a:gd name="T32" fmla="*/ 168 w 286"/>
                      <a:gd name="T33" fmla="*/ 148 h 182"/>
                      <a:gd name="T34" fmla="*/ 174 w 286"/>
                      <a:gd name="T35" fmla="*/ 146 h 182"/>
                      <a:gd name="T36" fmla="*/ 168 w 286"/>
                      <a:gd name="T37" fmla="*/ 134 h 182"/>
                      <a:gd name="T38" fmla="*/ 178 w 286"/>
                      <a:gd name="T39" fmla="*/ 136 h 182"/>
                      <a:gd name="T40" fmla="*/ 186 w 286"/>
                      <a:gd name="T41" fmla="*/ 118 h 182"/>
                      <a:gd name="T42" fmla="*/ 202 w 286"/>
                      <a:gd name="T43" fmla="*/ 122 h 182"/>
                      <a:gd name="T44" fmla="*/ 214 w 286"/>
                      <a:gd name="T45" fmla="*/ 130 h 182"/>
                      <a:gd name="T46" fmla="*/ 244 w 286"/>
                      <a:gd name="T47" fmla="*/ 168 h 182"/>
                      <a:gd name="T48" fmla="*/ 262 w 286"/>
                      <a:gd name="T49" fmla="*/ 178 h 182"/>
                      <a:gd name="T50" fmla="*/ 284 w 286"/>
                      <a:gd name="T51" fmla="*/ 170 h 182"/>
                      <a:gd name="T52" fmla="*/ 268 w 286"/>
                      <a:gd name="T53" fmla="*/ 160 h 182"/>
                      <a:gd name="T54" fmla="*/ 256 w 286"/>
                      <a:gd name="T55" fmla="*/ 138 h 182"/>
                      <a:gd name="T56" fmla="*/ 250 w 286"/>
                      <a:gd name="T57" fmla="*/ 132 h 182"/>
                      <a:gd name="T58" fmla="*/ 248 w 286"/>
                      <a:gd name="T59" fmla="*/ 122 h 182"/>
                      <a:gd name="T60" fmla="*/ 236 w 286"/>
                      <a:gd name="T61" fmla="*/ 116 h 182"/>
                      <a:gd name="T62" fmla="*/ 240 w 286"/>
                      <a:gd name="T63" fmla="*/ 96 h 182"/>
                      <a:gd name="T64" fmla="*/ 220 w 286"/>
                      <a:gd name="T65" fmla="*/ 86 h 182"/>
                      <a:gd name="T66" fmla="*/ 210 w 286"/>
                      <a:gd name="T67" fmla="*/ 70 h 182"/>
                      <a:gd name="T68" fmla="*/ 190 w 286"/>
                      <a:gd name="T69" fmla="*/ 54 h 182"/>
                      <a:gd name="T70" fmla="*/ 168 w 286"/>
                      <a:gd name="T71" fmla="*/ 38 h 182"/>
                      <a:gd name="T72" fmla="*/ 156 w 286"/>
                      <a:gd name="T73" fmla="*/ 34 h 182"/>
                      <a:gd name="T74" fmla="*/ 120 w 286"/>
                      <a:gd name="T75" fmla="*/ 16 h 182"/>
                      <a:gd name="T76" fmla="*/ 102 w 286"/>
                      <a:gd name="T77" fmla="*/ 4 h 182"/>
                      <a:gd name="T78" fmla="*/ 96 w 286"/>
                      <a:gd name="T79" fmla="*/ 0 h 182"/>
                      <a:gd name="T80" fmla="*/ 70 w 286"/>
                      <a:gd name="T81" fmla="*/ 10 h 182"/>
                      <a:gd name="T82" fmla="*/ 56 w 286"/>
                      <a:gd name="T83" fmla="*/ 32 h 182"/>
                      <a:gd name="T84" fmla="*/ 46 w 286"/>
                      <a:gd name="T85" fmla="*/ 28 h 182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</a:gdLst>
                    <a:ahLst/>
                    <a:cxnLst>
                      <a:cxn ang="T86">
                        <a:pos x="T0" y="T1"/>
                      </a:cxn>
                      <a:cxn ang="T87">
                        <a:pos x="T2" y="T3"/>
                      </a:cxn>
                      <a:cxn ang="T88">
                        <a:pos x="T4" y="T5"/>
                      </a:cxn>
                      <a:cxn ang="T89">
                        <a:pos x="T6" y="T7"/>
                      </a:cxn>
                      <a:cxn ang="T90">
                        <a:pos x="T8" y="T9"/>
                      </a:cxn>
                      <a:cxn ang="T91">
                        <a:pos x="T10" y="T11"/>
                      </a:cxn>
                      <a:cxn ang="T92">
                        <a:pos x="T12" y="T13"/>
                      </a:cxn>
                      <a:cxn ang="T93">
                        <a:pos x="T14" y="T15"/>
                      </a:cxn>
                      <a:cxn ang="T94">
                        <a:pos x="T16" y="T17"/>
                      </a:cxn>
                      <a:cxn ang="T95">
                        <a:pos x="T18" y="T19"/>
                      </a:cxn>
                      <a:cxn ang="T96">
                        <a:pos x="T20" y="T21"/>
                      </a:cxn>
                      <a:cxn ang="T97">
                        <a:pos x="T22" y="T23"/>
                      </a:cxn>
                      <a:cxn ang="T98">
                        <a:pos x="T24" y="T25"/>
                      </a:cxn>
                      <a:cxn ang="T99">
                        <a:pos x="T26" y="T27"/>
                      </a:cxn>
                      <a:cxn ang="T100">
                        <a:pos x="T28" y="T29"/>
                      </a:cxn>
                      <a:cxn ang="T101">
                        <a:pos x="T30" y="T31"/>
                      </a:cxn>
                      <a:cxn ang="T102">
                        <a:pos x="T32" y="T33"/>
                      </a:cxn>
                      <a:cxn ang="T103">
                        <a:pos x="T34" y="T35"/>
                      </a:cxn>
                      <a:cxn ang="T104">
                        <a:pos x="T36" y="T37"/>
                      </a:cxn>
                      <a:cxn ang="T105">
                        <a:pos x="T38" y="T39"/>
                      </a:cxn>
                      <a:cxn ang="T106">
                        <a:pos x="T40" y="T41"/>
                      </a:cxn>
                      <a:cxn ang="T107">
                        <a:pos x="T42" y="T43"/>
                      </a:cxn>
                      <a:cxn ang="T108">
                        <a:pos x="T44" y="T45"/>
                      </a:cxn>
                      <a:cxn ang="T109">
                        <a:pos x="T46" y="T47"/>
                      </a:cxn>
                      <a:cxn ang="T110">
                        <a:pos x="T48" y="T49"/>
                      </a:cxn>
                      <a:cxn ang="T111">
                        <a:pos x="T50" y="T51"/>
                      </a:cxn>
                      <a:cxn ang="T112">
                        <a:pos x="T52" y="T53"/>
                      </a:cxn>
                      <a:cxn ang="T113">
                        <a:pos x="T54" y="T55"/>
                      </a:cxn>
                      <a:cxn ang="T114">
                        <a:pos x="T56" y="T57"/>
                      </a:cxn>
                      <a:cxn ang="T115">
                        <a:pos x="T58" y="T59"/>
                      </a:cxn>
                      <a:cxn ang="T116">
                        <a:pos x="T60" y="T61"/>
                      </a:cxn>
                      <a:cxn ang="T117">
                        <a:pos x="T62" y="T63"/>
                      </a:cxn>
                      <a:cxn ang="T118">
                        <a:pos x="T64" y="T65"/>
                      </a:cxn>
                      <a:cxn ang="T119">
                        <a:pos x="T66" y="T67"/>
                      </a:cxn>
                      <a:cxn ang="T120">
                        <a:pos x="T68" y="T69"/>
                      </a:cxn>
                      <a:cxn ang="T121">
                        <a:pos x="T70" y="T71"/>
                      </a:cxn>
                      <a:cxn ang="T122">
                        <a:pos x="T72" y="T73"/>
                      </a:cxn>
                      <a:cxn ang="T123">
                        <a:pos x="T74" y="T75"/>
                      </a:cxn>
                      <a:cxn ang="T124">
                        <a:pos x="T76" y="T77"/>
                      </a:cxn>
                      <a:cxn ang="T125">
                        <a:pos x="T78" y="T79"/>
                      </a:cxn>
                      <a:cxn ang="T126">
                        <a:pos x="T80" y="T81"/>
                      </a:cxn>
                      <a:cxn ang="T127">
                        <a:pos x="T82" y="T83"/>
                      </a:cxn>
                      <a:cxn ang="T128">
                        <a:pos x="T84" y="T85"/>
                      </a:cxn>
                    </a:cxnLst>
                    <a:rect l="0" t="0" r="r" b="b"/>
                    <a:pathLst>
                      <a:path w="286" h="182">
                        <a:moveTo>
                          <a:pt x="46" y="28"/>
                        </a:moveTo>
                        <a:cubicBezTo>
                          <a:pt x="41" y="14"/>
                          <a:pt x="46" y="17"/>
                          <a:pt x="36" y="14"/>
                        </a:cubicBezTo>
                        <a:cubicBezTo>
                          <a:pt x="31" y="17"/>
                          <a:pt x="26" y="30"/>
                          <a:pt x="26" y="30"/>
                        </a:cubicBezTo>
                        <a:cubicBezTo>
                          <a:pt x="12" y="25"/>
                          <a:pt x="19" y="21"/>
                          <a:pt x="0" y="24"/>
                        </a:cubicBezTo>
                        <a:cubicBezTo>
                          <a:pt x="2" y="33"/>
                          <a:pt x="2" y="37"/>
                          <a:pt x="10" y="42"/>
                        </a:cubicBezTo>
                        <a:cubicBezTo>
                          <a:pt x="12" y="49"/>
                          <a:pt x="14" y="55"/>
                          <a:pt x="16" y="62"/>
                        </a:cubicBezTo>
                        <a:cubicBezTo>
                          <a:pt x="24" y="59"/>
                          <a:pt x="27" y="57"/>
                          <a:pt x="24" y="48"/>
                        </a:cubicBezTo>
                        <a:cubicBezTo>
                          <a:pt x="26" y="47"/>
                          <a:pt x="28" y="43"/>
                          <a:pt x="30" y="44"/>
                        </a:cubicBezTo>
                        <a:cubicBezTo>
                          <a:pt x="48" y="48"/>
                          <a:pt x="36" y="52"/>
                          <a:pt x="48" y="56"/>
                        </a:cubicBezTo>
                        <a:cubicBezTo>
                          <a:pt x="74" y="65"/>
                          <a:pt x="47" y="56"/>
                          <a:pt x="70" y="62"/>
                        </a:cubicBezTo>
                        <a:cubicBezTo>
                          <a:pt x="77" y="64"/>
                          <a:pt x="88" y="72"/>
                          <a:pt x="88" y="72"/>
                        </a:cubicBezTo>
                        <a:cubicBezTo>
                          <a:pt x="96" y="84"/>
                          <a:pt x="102" y="87"/>
                          <a:pt x="106" y="102"/>
                        </a:cubicBezTo>
                        <a:cubicBezTo>
                          <a:pt x="105" y="109"/>
                          <a:pt x="106" y="115"/>
                          <a:pt x="104" y="122"/>
                        </a:cubicBezTo>
                        <a:cubicBezTo>
                          <a:pt x="103" y="126"/>
                          <a:pt x="94" y="132"/>
                          <a:pt x="98" y="134"/>
                        </a:cubicBezTo>
                        <a:cubicBezTo>
                          <a:pt x="106" y="137"/>
                          <a:pt x="122" y="128"/>
                          <a:pt x="122" y="128"/>
                        </a:cubicBezTo>
                        <a:cubicBezTo>
                          <a:pt x="130" y="131"/>
                          <a:pt x="133" y="135"/>
                          <a:pt x="140" y="140"/>
                        </a:cubicBezTo>
                        <a:cubicBezTo>
                          <a:pt x="148" y="145"/>
                          <a:pt x="159" y="145"/>
                          <a:pt x="168" y="148"/>
                        </a:cubicBezTo>
                        <a:cubicBezTo>
                          <a:pt x="170" y="147"/>
                          <a:pt x="173" y="148"/>
                          <a:pt x="174" y="146"/>
                        </a:cubicBezTo>
                        <a:cubicBezTo>
                          <a:pt x="176" y="142"/>
                          <a:pt x="164" y="136"/>
                          <a:pt x="168" y="134"/>
                        </a:cubicBezTo>
                        <a:cubicBezTo>
                          <a:pt x="171" y="132"/>
                          <a:pt x="175" y="135"/>
                          <a:pt x="178" y="136"/>
                        </a:cubicBezTo>
                        <a:cubicBezTo>
                          <a:pt x="182" y="131"/>
                          <a:pt x="186" y="118"/>
                          <a:pt x="186" y="118"/>
                        </a:cubicBezTo>
                        <a:cubicBezTo>
                          <a:pt x="189" y="119"/>
                          <a:pt x="199" y="120"/>
                          <a:pt x="202" y="122"/>
                        </a:cubicBezTo>
                        <a:cubicBezTo>
                          <a:pt x="206" y="124"/>
                          <a:pt x="214" y="130"/>
                          <a:pt x="214" y="130"/>
                        </a:cubicBezTo>
                        <a:cubicBezTo>
                          <a:pt x="224" y="145"/>
                          <a:pt x="228" y="158"/>
                          <a:pt x="244" y="168"/>
                        </a:cubicBezTo>
                        <a:cubicBezTo>
                          <a:pt x="250" y="172"/>
                          <a:pt x="262" y="178"/>
                          <a:pt x="262" y="178"/>
                        </a:cubicBezTo>
                        <a:cubicBezTo>
                          <a:pt x="265" y="178"/>
                          <a:pt x="286" y="182"/>
                          <a:pt x="284" y="170"/>
                        </a:cubicBezTo>
                        <a:cubicBezTo>
                          <a:pt x="283" y="164"/>
                          <a:pt x="268" y="160"/>
                          <a:pt x="268" y="160"/>
                        </a:cubicBezTo>
                        <a:cubicBezTo>
                          <a:pt x="261" y="150"/>
                          <a:pt x="270" y="143"/>
                          <a:pt x="256" y="138"/>
                        </a:cubicBezTo>
                        <a:cubicBezTo>
                          <a:pt x="254" y="136"/>
                          <a:pt x="251" y="135"/>
                          <a:pt x="250" y="132"/>
                        </a:cubicBezTo>
                        <a:cubicBezTo>
                          <a:pt x="248" y="129"/>
                          <a:pt x="250" y="125"/>
                          <a:pt x="248" y="122"/>
                        </a:cubicBezTo>
                        <a:cubicBezTo>
                          <a:pt x="246" y="118"/>
                          <a:pt x="240" y="118"/>
                          <a:pt x="236" y="116"/>
                        </a:cubicBezTo>
                        <a:cubicBezTo>
                          <a:pt x="230" y="107"/>
                          <a:pt x="227" y="100"/>
                          <a:pt x="240" y="96"/>
                        </a:cubicBezTo>
                        <a:cubicBezTo>
                          <a:pt x="236" y="83"/>
                          <a:pt x="236" y="84"/>
                          <a:pt x="220" y="86"/>
                        </a:cubicBezTo>
                        <a:cubicBezTo>
                          <a:pt x="209" y="82"/>
                          <a:pt x="208" y="82"/>
                          <a:pt x="210" y="70"/>
                        </a:cubicBezTo>
                        <a:cubicBezTo>
                          <a:pt x="207" y="60"/>
                          <a:pt x="199" y="57"/>
                          <a:pt x="190" y="54"/>
                        </a:cubicBezTo>
                        <a:cubicBezTo>
                          <a:pt x="181" y="45"/>
                          <a:pt x="181" y="42"/>
                          <a:pt x="168" y="38"/>
                        </a:cubicBezTo>
                        <a:cubicBezTo>
                          <a:pt x="164" y="37"/>
                          <a:pt x="156" y="34"/>
                          <a:pt x="156" y="34"/>
                        </a:cubicBezTo>
                        <a:cubicBezTo>
                          <a:pt x="146" y="24"/>
                          <a:pt x="134" y="21"/>
                          <a:pt x="120" y="16"/>
                        </a:cubicBezTo>
                        <a:cubicBezTo>
                          <a:pt x="113" y="14"/>
                          <a:pt x="108" y="8"/>
                          <a:pt x="102" y="4"/>
                        </a:cubicBezTo>
                        <a:cubicBezTo>
                          <a:pt x="100" y="3"/>
                          <a:pt x="96" y="0"/>
                          <a:pt x="96" y="0"/>
                        </a:cubicBezTo>
                        <a:cubicBezTo>
                          <a:pt x="83" y="2"/>
                          <a:pt x="79" y="1"/>
                          <a:pt x="70" y="10"/>
                        </a:cubicBezTo>
                        <a:cubicBezTo>
                          <a:pt x="67" y="19"/>
                          <a:pt x="63" y="27"/>
                          <a:pt x="56" y="32"/>
                        </a:cubicBezTo>
                        <a:cubicBezTo>
                          <a:pt x="49" y="30"/>
                          <a:pt x="52" y="31"/>
                          <a:pt x="46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8" name="Freeform 81"/>
                  <p:cNvSpPr>
                    <a:spLocks/>
                  </p:cNvSpPr>
                  <p:nvPr/>
                </p:nvSpPr>
                <p:spPr bwMode="ltGray">
                  <a:xfrm>
                    <a:off x="4770" y="599"/>
                    <a:ext cx="33" cy="26"/>
                  </a:xfrm>
                  <a:custGeom>
                    <a:avLst/>
                    <a:gdLst>
                      <a:gd name="T0" fmla="*/ 1 w 78"/>
                      <a:gd name="T1" fmla="*/ 58 h 78"/>
                      <a:gd name="T2" fmla="*/ 27 w 78"/>
                      <a:gd name="T3" fmla="*/ 60 h 78"/>
                      <a:gd name="T4" fmla="*/ 45 w 78"/>
                      <a:gd name="T5" fmla="*/ 48 h 78"/>
                      <a:gd name="T6" fmla="*/ 57 w 78"/>
                      <a:gd name="T7" fmla="*/ 30 h 78"/>
                      <a:gd name="T8" fmla="*/ 43 w 78"/>
                      <a:gd name="T9" fmla="*/ 14 h 78"/>
                      <a:gd name="T10" fmla="*/ 43 w 78"/>
                      <a:gd name="T11" fmla="*/ 4 h 78"/>
                      <a:gd name="T12" fmla="*/ 71 w 78"/>
                      <a:gd name="T13" fmla="*/ 26 h 78"/>
                      <a:gd name="T14" fmla="*/ 67 w 78"/>
                      <a:gd name="T15" fmla="*/ 54 h 78"/>
                      <a:gd name="T16" fmla="*/ 33 w 78"/>
                      <a:gd name="T17" fmla="*/ 78 h 78"/>
                      <a:gd name="T18" fmla="*/ 9 w 78"/>
                      <a:gd name="T19" fmla="*/ 66 h 78"/>
                      <a:gd name="T20" fmla="*/ 3 w 78"/>
                      <a:gd name="T21" fmla="*/ 62 h 78"/>
                      <a:gd name="T22" fmla="*/ 1 w 78"/>
                      <a:gd name="T23" fmla="*/ 58 h 78"/>
                      <a:gd name="T24" fmla="*/ 0 60000 65536"/>
                      <a:gd name="T25" fmla="*/ 0 60000 65536"/>
                      <a:gd name="T26" fmla="*/ 0 60000 65536"/>
                      <a:gd name="T27" fmla="*/ 0 60000 65536"/>
                      <a:gd name="T28" fmla="*/ 0 60000 65536"/>
                      <a:gd name="T29" fmla="*/ 0 60000 65536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</a:gdLst>
                    <a:ahLst/>
                    <a:cxnLst>
                      <a:cxn ang="T24">
                        <a:pos x="T0" y="T1"/>
                      </a:cxn>
                      <a:cxn ang="T25">
                        <a:pos x="T2" y="T3"/>
                      </a:cxn>
                      <a:cxn ang="T26">
                        <a:pos x="T4" y="T5"/>
                      </a:cxn>
                      <a:cxn ang="T27">
                        <a:pos x="T6" y="T7"/>
                      </a:cxn>
                      <a:cxn ang="T28">
                        <a:pos x="T8" y="T9"/>
                      </a:cxn>
                      <a:cxn ang="T29">
                        <a:pos x="T10" y="T11"/>
                      </a:cxn>
                      <a:cxn ang="T30">
                        <a:pos x="T12" y="T13"/>
                      </a:cxn>
                      <a:cxn ang="T31">
                        <a:pos x="T14" y="T15"/>
                      </a:cxn>
                      <a:cxn ang="T32">
                        <a:pos x="T16" y="T17"/>
                      </a:cxn>
                      <a:cxn ang="T33">
                        <a:pos x="T18" y="T19"/>
                      </a:cxn>
                      <a:cxn ang="T34">
                        <a:pos x="T20" y="T21"/>
                      </a:cxn>
                      <a:cxn ang="T35">
                        <a:pos x="T22" y="T23"/>
                      </a:cxn>
                    </a:cxnLst>
                    <a:rect l="0" t="0" r="r" b="b"/>
                    <a:pathLst>
                      <a:path w="78" h="78">
                        <a:moveTo>
                          <a:pt x="1" y="58"/>
                        </a:moveTo>
                        <a:cubicBezTo>
                          <a:pt x="6" y="44"/>
                          <a:pt x="18" y="57"/>
                          <a:pt x="27" y="60"/>
                        </a:cubicBezTo>
                        <a:cubicBezTo>
                          <a:pt x="35" y="57"/>
                          <a:pt x="38" y="52"/>
                          <a:pt x="45" y="48"/>
                        </a:cubicBezTo>
                        <a:cubicBezTo>
                          <a:pt x="48" y="40"/>
                          <a:pt x="51" y="36"/>
                          <a:pt x="57" y="30"/>
                        </a:cubicBezTo>
                        <a:cubicBezTo>
                          <a:pt x="55" y="23"/>
                          <a:pt x="43" y="14"/>
                          <a:pt x="43" y="14"/>
                        </a:cubicBezTo>
                        <a:cubicBezTo>
                          <a:pt x="33" y="0"/>
                          <a:pt x="30" y="1"/>
                          <a:pt x="43" y="4"/>
                        </a:cubicBezTo>
                        <a:cubicBezTo>
                          <a:pt x="54" y="11"/>
                          <a:pt x="58" y="22"/>
                          <a:pt x="71" y="26"/>
                        </a:cubicBezTo>
                        <a:cubicBezTo>
                          <a:pt x="78" y="37"/>
                          <a:pt x="78" y="46"/>
                          <a:pt x="67" y="54"/>
                        </a:cubicBezTo>
                        <a:cubicBezTo>
                          <a:pt x="51" y="49"/>
                          <a:pt x="53" y="71"/>
                          <a:pt x="33" y="78"/>
                        </a:cubicBezTo>
                        <a:cubicBezTo>
                          <a:pt x="16" y="72"/>
                          <a:pt x="25" y="76"/>
                          <a:pt x="9" y="66"/>
                        </a:cubicBezTo>
                        <a:cubicBezTo>
                          <a:pt x="7" y="65"/>
                          <a:pt x="3" y="62"/>
                          <a:pt x="3" y="62"/>
                        </a:cubicBezTo>
                        <a:cubicBezTo>
                          <a:pt x="0" y="54"/>
                          <a:pt x="13" y="42"/>
                          <a:pt x="1" y="5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099" name="Freeform 82"/>
                  <p:cNvSpPr>
                    <a:spLocks/>
                  </p:cNvSpPr>
                  <p:nvPr/>
                </p:nvSpPr>
                <p:spPr bwMode="ltGray">
                  <a:xfrm>
                    <a:off x="4840" y="544"/>
                    <a:ext cx="8" cy="6"/>
                  </a:xfrm>
                  <a:custGeom>
                    <a:avLst/>
                    <a:gdLst>
                      <a:gd name="T0" fmla="*/ 3 w 17"/>
                      <a:gd name="T1" fmla="*/ 4 h 18"/>
                      <a:gd name="T2" fmla="*/ 3 w 17"/>
                      <a:gd name="T3" fmla="*/ 14 h 18"/>
                      <a:gd name="T4" fmla="*/ 3 w 17"/>
                      <a:gd name="T5" fmla="*/ 4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7" h="18">
                        <a:moveTo>
                          <a:pt x="3" y="4"/>
                        </a:moveTo>
                        <a:cubicBezTo>
                          <a:pt x="17" y="7"/>
                          <a:pt x="16" y="18"/>
                          <a:pt x="3" y="14"/>
                        </a:cubicBezTo>
                        <a:cubicBezTo>
                          <a:pt x="0" y="6"/>
                          <a:pt x="7" y="0"/>
                          <a:pt x="3" y="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0" name="Freeform 83"/>
                  <p:cNvSpPr>
                    <a:spLocks/>
                  </p:cNvSpPr>
                  <p:nvPr/>
                </p:nvSpPr>
                <p:spPr bwMode="ltGray">
                  <a:xfrm>
                    <a:off x="4747" y="494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7 w 20"/>
                      <a:gd name="T3" fmla="*/ 2 h 15"/>
                      <a:gd name="T4" fmla="*/ 9 w 20"/>
                      <a:gd name="T5" fmla="*/ 12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1"/>
                          <a:pt x="6" y="0"/>
                          <a:pt x="17" y="2"/>
                        </a:cubicBezTo>
                        <a:cubicBezTo>
                          <a:pt x="20" y="10"/>
                          <a:pt x="18" y="15"/>
                          <a:pt x="9" y="12"/>
                        </a:cubicBezTo>
                        <a:cubicBezTo>
                          <a:pt x="4" y="4"/>
                          <a:pt x="4" y="4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1" name="Freeform 84"/>
                  <p:cNvSpPr>
                    <a:spLocks/>
                  </p:cNvSpPr>
                  <p:nvPr/>
                </p:nvSpPr>
                <p:spPr bwMode="ltGray">
                  <a:xfrm>
                    <a:off x="4676" y="536"/>
                    <a:ext cx="8" cy="5"/>
                  </a:xfrm>
                  <a:custGeom>
                    <a:avLst/>
                    <a:gdLst>
                      <a:gd name="T0" fmla="*/ 7 w 20"/>
                      <a:gd name="T1" fmla="*/ 12 h 15"/>
                      <a:gd name="T2" fmla="*/ 15 w 20"/>
                      <a:gd name="T3" fmla="*/ 2 h 15"/>
                      <a:gd name="T4" fmla="*/ 15 w 20"/>
                      <a:gd name="T5" fmla="*/ 14 h 15"/>
                      <a:gd name="T6" fmla="*/ 7 w 20"/>
                      <a:gd name="T7" fmla="*/ 12 h 15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0" h="15">
                        <a:moveTo>
                          <a:pt x="7" y="12"/>
                        </a:moveTo>
                        <a:cubicBezTo>
                          <a:pt x="0" y="2"/>
                          <a:pt x="3" y="0"/>
                          <a:pt x="15" y="2"/>
                        </a:cubicBezTo>
                        <a:cubicBezTo>
                          <a:pt x="16" y="4"/>
                          <a:pt x="20" y="12"/>
                          <a:pt x="15" y="14"/>
                        </a:cubicBezTo>
                        <a:cubicBezTo>
                          <a:pt x="12" y="15"/>
                          <a:pt x="7" y="12"/>
                          <a:pt x="7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2" name="Freeform 85"/>
                  <p:cNvSpPr>
                    <a:spLocks/>
                  </p:cNvSpPr>
                  <p:nvPr/>
                </p:nvSpPr>
                <p:spPr bwMode="ltGray">
                  <a:xfrm>
                    <a:off x="4598" y="523"/>
                    <a:ext cx="34" cy="27"/>
                  </a:xfrm>
                  <a:custGeom>
                    <a:avLst/>
                    <a:gdLst>
                      <a:gd name="T0" fmla="*/ 0 w 80"/>
                      <a:gd name="T1" fmla="*/ 50 h 80"/>
                      <a:gd name="T2" fmla="*/ 14 w 80"/>
                      <a:gd name="T3" fmla="*/ 24 h 80"/>
                      <a:gd name="T4" fmla="*/ 26 w 80"/>
                      <a:gd name="T5" fmla="*/ 20 h 80"/>
                      <a:gd name="T6" fmla="*/ 48 w 80"/>
                      <a:gd name="T7" fmla="*/ 18 h 80"/>
                      <a:gd name="T8" fmla="*/ 58 w 80"/>
                      <a:gd name="T9" fmla="*/ 0 h 80"/>
                      <a:gd name="T10" fmla="*/ 80 w 80"/>
                      <a:gd name="T11" fmla="*/ 40 h 80"/>
                      <a:gd name="T12" fmla="*/ 70 w 80"/>
                      <a:gd name="T13" fmla="*/ 56 h 80"/>
                      <a:gd name="T14" fmla="*/ 54 w 80"/>
                      <a:gd name="T15" fmla="*/ 62 h 80"/>
                      <a:gd name="T16" fmla="*/ 48 w 80"/>
                      <a:gd name="T17" fmla="*/ 80 h 80"/>
                      <a:gd name="T18" fmla="*/ 32 w 80"/>
                      <a:gd name="T19" fmla="*/ 68 h 80"/>
                      <a:gd name="T20" fmla="*/ 38 w 80"/>
                      <a:gd name="T21" fmla="*/ 52 h 80"/>
                      <a:gd name="T22" fmla="*/ 30 w 80"/>
                      <a:gd name="T23" fmla="*/ 28 h 80"/>
                      <a:gd name="T24" fmla="*/ 20 w 80"/>
                      <a:gd name="T25" fmla="*/ 48 h 80"/>
                      <a:gd name="T26" fmla="*/ 8 w 80"/>
                      <a:gd name="T27" fmla="*/ 56 h 80"/>
                      <a:gd name="T28" fmla="*/ 0 w 80"/>
                      <a:gd name="T29" fmla="*/ 50 h 80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0" t="0" r="r" b="b"/>
                    <a:pathLst>
                      <a:path w="80" h="80">
                        <a:moveTo>
                          <a:pt x="0" y="50"/>
                        </a:moveTo>
                        <a:cubicBezTo>
                          <a:pt x="1" y="47"/>
                          <a:pt x="12" y="25"/>
                          <a:pt x="14" y="24"/>
                        </a:cubicBezTo>
                        <a:cubicBezTo>
                          <a:pt x="17" y="22"/>
                          <a:pt x="26" y="20"/>
                          <a:pt x="26" y="20"/>
                        </a:cubicBezTo>
                        <a:cubicBezTo>
                          <a:pt x="34" y="23"/>
                          <a:pt x="40" y="21"/>
                          <a:pt x="48" y="18"/>
                        </a:cubicBezTo>
                        <a:cubicBezTo>
                          <a:pt x="52" y="12"/>
                          <a:pt x="54" y="6"/>
                          <a:pt x="58" y="0"/>
                        </a:cubicBezTo>
                        <a:cubicBezTo>
                          <a:pt x="70" y="4"/>
                          <a:pt x="76" y="28"/>
                          <a:pt x="80" y="40"/>
                        </a:cubicBezTo>
                        <a:cubicBezTo>
                          <a:pt x="75" y="54"/>
                          <a:pt x="80" y="50"/>
                          <a:pt x="70" y="56"/>
                        </a:cubicBezTo>
                        <a:cubicBezTo>
                          <a:pt x="61" y="53"/>
                          <a:pt x="59" y="54"/>
                          <a:pt x="54" y="62"/>
                        </a:cubicBezTo>
                        <a:cubicBezTo>
                          <a:pt x="57" y="71"/>
                          <a:pt x="56" y="75"/>
                          <a:pt x="48" y="80"/>
                        </a:cubicBezTo>
                        <a:cubicBezTo>
                          <a:pt x="40" y="77"/>
                          <a:pt x="39" y="72"/>
                          <a:pt x="32" y="68"/>
                        </a:cubicBezTo>
                        <a:cubicBezTo>
                          <a:pt x="26" y="59"/>
                          <a:pt x="30" y="57"/>
                          <a:pt x="38" y="52"/>
                        </a:cubicBezTo>
                        <a:cubicBezTo>
                          <a:pt x="41" y="42"/>
                          <a:pt x="39" y="34"/>
                          <a:pt x="30" y="28"/>
                        </a:cubicBezTo>
                        <a:cubicBezTo>
                          <a:pt x="20" y="31"/>
                          <a:pt x="30" y="40"/>
                          <a:pt x="20" y="48"/>
                        </a:cubicBezTo>
                        <a:cubicBezTo>
                          <a:pt x="16" y="51"/>
                          <a:pt x="8" y="56"/>
                          <a:pt x="8" y="56"/>
                        </a:cubicBezTo>
                        <a:cubicBezTo>
                          <a:pt x="2" y="50"/>
                          <a:pt x="5" y="50"/>
                          <a:pt x="0" y="50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3" name="Freeform 86"/>
                  <p:cNvSpPr>
                    <a:spLocks/>
                  </p:cNvSpPr>
                  <p:nvPr/>
                </p:nvSpPr>
                <p:spPr bwMode="ltGray">
                  <a:xfrm>
                    <a:off x="4587" y="466"/>
                    <a:ext cx="40" cy="58"/>
                  </a:xfrm>
                  <a:custGeom>
                    <a:avLst/>
                    <a:gdLst>
                      <a:gd name="T0" fmla="*/ 14 w 94"/>
                      <a:gd name="T1" fmla="*/ 96 h 174"/>
                      <a:gd name="T2" fmla="*/ 26 w 94"/>
                      <a:gd name="T3" fmla="*/ 128 h 174"/>
                      <a:gd name="T4" fmla="*/ 32 w 94"/>
                      <a:gd name="T5" fmla="*/ 108 h 174"/>
                      <a:gd name="T6" fmla="*/ 52 w 94"/>
                      <a:gd name="T7" fmla="*/ 100 h 174"/>
                      <a:gd name="T8" fmla="*/ 46 w 94"/>
                      <a:gd name="T9" fmla="*/ 124 h 174"/>
                      <a:gd name="T10" fmla="*/ 66 w 94"/>
                      <a:gd name="T11" fmla="*/ 126 h 174"/>
                      <a:gd name="T12" fmla="*/ 76 w 94"/>
                      <a:gd name="T13" fmla="*/ 142 h 174"/>
                      <a:gd name="T14" fmla="*/ 58 w 94"/>
                      <a:gd name="T15" fmla="*/ 148 h 174"/>
                      <a:gd name="T16" fmla="*/ 74 w 94"/>
                      <a:gd name="T17" fmla="*/ 174 h 174"/>
                      <a:gd name="T18" fmla="*/ 84 w 94"/>
                      <a:gd name="T19" fmla="*/ 154 h 174"/>
                      <a:gd name="T20" fmla="*/ 82 w 94"/>
                      <a:gd name="T21" fmla="*/ 112 h 174"/>
                      <a:gd name="T22" fmla="*/ 60 w 94"/>
                      <a:gd name="T23" fmla="*/ 106 h 174"/>
                      <a:gd name="T24" fmla="*/ 50 w 94"/>
                      <a:gd name="T25" fmla="*/ 82 h 174"/>
                      <a:gd name="T26" fmla="*/ 34 w 94"/>
                      <a:gd name="T27" fmla="*/ 82 h 174"/>
                      <a:gd name="T28" fmla="*/ 30 w 94"/>
                      <a:gd name="T29" fmla="*/ 70 h 174"/>
                      <a:gd name="T30" fmla="*/ 42 w 94"/>
                      <a:gd name="T31" fmla="*/ 42 h 174"/>
                      <a:gd name="T32" fmla="*/ 30 w 94"/>
                      <a:gd name="T33" fmla="*/ 0 h 174"/>
                      <a:gd name="T34" fmla="*/ 18 w 94"/>
                      <a:gd name="T35" fmla="*/ 22 h 174"/>
                      <a:gd name="T36" fmla="*/ 4 w 94"/>
                      <a:gd name="T37" fmla="*/ 46 h 174"/>
                      <a:gd name="T38" fmla="*/ 14 w 94"/>
                      <a:gd name="T39" fmla="*/ 76 h 174"/>
                      <a:gd name="T40" fmla="*/ 14 w 94"/>
                      <a:gd name="T41" fmla="*/ 96 h 174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</a:gdLst>
                    <a:ahLst/>
                    <a:cxnLst>
                      <a:cxn ang="T42">
                        <a:pos x="T0" y="T1"/>
                      </a:cxn>
                      <a:cxn ang="T43">
                        <a:pos x="T2" y="T3"/>
                      </a:cxn>
                      <a:cxn ang="T44">
                        <a:pos x="T4" y="T5"/>
                      </a:cxn>
                      <a:cxn ang="T45">
                        <a:pos x="T6" y="T7"/>
                      </a:cxn>
                      <a:cxn ang="T46">
                        <a:pos x="T8" y="T9"/>
                      </a:cxn>
                      <a:cxn ang="T47">
                        <a:pos x="T10" y="T11"/>
                      </a:cxn>
                      <a:cxn ang="T48">
                        <a:pos x="T12" y="T13"/>
                      </a:cxn>
                      <a:cxn ang="T49">
                        <a:pos x="T14" y="T15"/>
                      </a:cxn>
                      <a:cxn ang="T50">
                        <a:pos x="T16" y="T17"/>
                      </a:cxn>
                      <a:cxn ang="T51">
                        <a:pos x="T18" y="T19"/>
                      </a:cxn>
                      <a:cxn ang="T52">
                        <a:pos x="T20" y="T21"/>
                      </a:cxn>
                      <a:cxn ang="T53">
                        <a:pos x="T22" y="T23"/>
                      </a:cxn>
                      <a:cxn ang="T54">
                        <a:pos x="T24" y="T25"/>
                      </a:cxn>
                      <a:cxn ang="T55">
                        <a:pos x="T26" y="T27"/>
                      </a:cxn>
                      <a:cxn ang="T56">
                        <a:pos x="T28" y="T29"/>
                      </a:cxn>
                      <a:cxn ang="T57">
                        <a:pos x="T30" y="T31"/>
                      </a:cxn>
                      <a:cxn ang="T58">
                        <a:pos x="T32" y="T33"/>
                      </a:cxn>
                      <a:cxn ang="T59">
                        <a:pos x="T34" y="T35"/>
                      </a:cxn>
                      <a:cxn ang="T60">
                        <a:pos x="T36" y="T37"/>
                      </a:cxn>
                      <a:cxn ang="T61">
                        <a:pos x="T38" y="T39"/>
                      </a:cxn>
                      <a:cxn ang="T62">
                        <a:pos x="T40" y="T41"/>
                      </a:cxn>
                    </a:cxnLst>
                    <a:rect l="0" t="0" r="r" b="b"/>
                    <a:pathLst>
                      <a:path w="94" h="174">
                        <a:moveTo>
                          <a:pt x="14" y="96"/>
                        </a:moveTo>
                        <a:cubicBezTo>
                          <a:pt x="11" y="109"/>
                          <a:pt x="15" y="120"/>
                          <a:pt x="26" y="128"/>
                        </a:cubicBezTo>
                        <a:cubicBezTo>
                          <a:pt x="34" y="120"/>
                          <a:pt x="35" y="119"/>
                          <a:pt x="32" y="108"/>
                        </a:cubicBezTo>
                        <a:cubicBezTo>
                          <a:pt x="35" y="92"/>
                          <a:pt x="39" y="92"/>
                          <a:pt x="52" y="100"/>
                        </a:cubicBezTo>
                        <a:cubicBezTo>
                          <a:pt x="59" y="110"/>
                          <a:pt x="49" y="114"/>
                          <a:pt x="46" y="124"/>
                        </a:cubicBezTo>
                        <a:cubicBezTo>
                          <a:pt x="50" y="137"/>
                          <a:pt x="57" y="129"/>
                          <a:pt x="66" y="126"/>
                        </a:cubicBezTo>
                        <a:cubicBezTo>
                          <a:pt x="77" y="129"/>
                          <a:pt x="79" y="131"/>
                          <a:pt x="76" y="142"/>
                        </a:cubicBezTo>
                        <a:cubicBezTo>
                          <a:pt x="67" y="139"/>
                          <a:pt x="65" y="141"/>
                          <a:pt x="58" y="148"/>
                        </a:cubicBezTo>
                        <a:cubicBezTo>
                          <a:pt x="60" y="160"/>
                          <a:pt x="62" y="170"/>
                          <a:pt x="74" y="174"/>
                        </a:cubicBezTo>
                        <a:cubicBezTo>
                          <a:pt x="77" y="165"/>
                          <a:pt x="74" y="157"/>
                          <a:pt x="84" y="154"/>
                        </a:cubicBezTo>
                        <a:cubicBezTo>
                          <a:pt x="91" y="143"/>
                          <a:pt x="94" y="122"/>
                          <a:pt x="82" y="112"/>
                        </a:cubicBezTo>
                        <a:cubicBezTo>
                          <a:pt x="77" y="108"/>
                          <a:pt x="66" y="108"/>
                          <a:pt x="60" y="106"/>
                        </a:cubicBezTo>
                        <a:cubicBezTo>
                          <a:pt x="65" y="92"/>
                          <a:pt x="66" y="87"/>
                          <a:pt x="50" y="82"/>
                        </a:cubicBezTo>
                        <a:cubicBezTo>
                          <a:pt x="48" y="82"/>
                          <a:pt x="37" y="86"/>
                          <a:pt x="34" y="82"/>
                        </a:cubicBezTo>
                        <a:cubicBezTo>
                          <a:pt x="32" y="79"/>
                          <a:pt x="30" y="70"/>
                          <a:pt x="30" y="70"/>
                        </a:cubicBezTo>
                        <a:cubicBezTo>
                          <a:pt x="32" y="54"/>
                          <a:pt x="32" y="52"/>
                          <a:pt x="42" y="42"/>
                        </a:cubicBezTo>
                        <a:cubicBezTo>
                          <a:pt x="41" y="30"/>
                          <a:pt x="45" y="5"/>
                          <a:pt x="30" y="0"/>
                        </a:cubicBezTo>
                        <a:cubicBezTo>
                          <a:pt x="14" y="4"/>
                          <a:pt x="16" y="4"/>
                          <a:pt x="18" y="22"/>
                        </a:cubicBezTo>
                        <a:cubicBezTo>
                          <a:pt x="16" y="39"/>
                          <a:pt x="15" y="35"/>
                          <a:pt x="4" y="46"/>
                        </a:cubicBezTo>
                        <a:cubicBezTo>
                          <a:pt x="0" y="59"/>
                          <a:pt x="5" y="67"/>
                          <a:pt x="14" y="76"/>
                        </a:cubicBezTo>
                        <a:cubicBezTo>
                          <a:pt x="15" y="80"/>
                          <a:pt x="17" y="93"/>
                          <a:pt x="14" y="9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4" name="Freeform 87"/>
                  <p:cNvSpPr>
                    <a:spLocks/>
                  </p:cNvSpPr>
                  <p:nvPr/>
                </p:nvSpPr>
                <p:spPr bwMode="ltGray">
                  <a:xfrm>
                    <a:off x="4597" y="508"/>
                    <a:ext cx="14" cy="17"/>
                  </a:xfrm>
                  <a:custGeom>
                    <a:avLst/>
                    <a:gdLst>
                      <a:gd name="T0" fmla="*/ 6 w 32"/>
                      <a:gd name="T1" fmla="*/ 24 h 50"/>
                      <a:gd name="T2" fmla="*/ 12 w 32"/>
                      <a:gd name="T3" fmla="*/ 0 h 50"/>
                      <a:gd name="T4" fmla="*/ 20 w 32"/>
                      <a:gd name="T5" fmla="*/ 16 h 50"/>
                      <a:gd name="T6" fmla="*/ 22 w 32"/>
                      <a:gd name="T7" fmla="*/ 24 h 50"/>
                      <a:gd name="T8" fmla="*/ 28 w 32"/>
                      <a:gd name="T9" fmla="*/ 26 h 50"/>
                      <a:gd name="T10" fmla="*/ 32 w 32"/>
                      <a:gd name="T11" fmla="*/ 38 h 50"/>
                      <a:gd name="T12" fmla="*/ 18 w 32"/>
                      <a:gd name="T13" fmla="*/ 50 h 50"/>
                      <a:gd name="T14" fmla="*/ 6 w 32"/>
                      <a:gd name="T15" fmla="*/ 24 h 50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32" h="50">
                        <a:moveTo>
                          <a:pt x="6" y="24"/>
                        </a:moveTo>
                        <a:cubicBezTo>
                          <a:pt x="0" y="15"/>
                          <a:pt x="3" y="6"/>
                          <a:pt x="12" y="0"/>
                        </a:cubicBezTo>
                        <a:cubicBezTo>
                          <a:pt x="23" y="3"/>
                          <a:pt x="23" y="5"/>
                          <a:pt x="20" y="16"/>
                        </a:cubicBezTo>
                        <a:cubicBezTo>
                          <a:pt x="21" y="19"/>
                          <a:pt x="20" y="22"/>
                          <a:pt x="22" y="24"/>
                        </a:cubicBezTo>
                        <a:cubicBezTo>
                          <a:pt x="23" y="26"/>
                          <a:pt x="27" y="24"/>
                          <a:pt x="28" y="26"/>
                        </a:cubicBezTo>
                        <a:cubicBezTo>
                          <a:pt x="30" y="29"/>
                          <a:pt x="32" y="38"/>
                          <a:pt x="32" y="38"/>
                        </a:cubicBezTo>
                        <a:cubicBezTo>
                          <a:pt x="29" y="46"/>
                          <a:pt x="26" y="47"/>
                          <a:pt x="18" y="50"/>
                        </a:cubicBezTo>
                        <a:cubicBezTo>
                          <a:pt x="12" y="41"/>
                          <a:pt x="18" y="24"/>
                          <a:pt x="6" y="2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5" name="Freeform 88"/>
                  <p:cNvSpPr>
                    <a:spLocks/>
                  </p:cNvSpPr>
                  <p:nvPr/>
                </p:nvSpPr>
                <p:spPr bwMode="ltGray">
                  <a:xfrm>
                    <a:off x="4569" y="512"/>
                    <a:ext cx="19" cy="17"/>
                  </a:xfrm>
                  <a:custGeom>
                    <a:avLst/>
                    <a:gdLst>
                      <a:gd name="T0" fmla="*/ 0 w 43"/>
                      <a:gd name="T1" fmla="*/ 44 h 50"/>
                      <a:gd name="T2" fmla="*/ 22 w 43"/>
                      <a:gd name="T3" fmla="*/ 20 h 50"/>
                      <a:gd name="T4" fmla="*/ 36 w 43"/>
                      <a:gd name="T5" fmla="*/ 0 h 50"/>
                      <a:gd name="T6" fmla="*/ 24 w 43"/>
                      <a:gd name="T7" fmla="*/ 28 h 50"/>
                      <a:gd name="T8" fmla="*/ 2 w 43"/>
                      <a:gd name="T9" fmla="*/ 50 h 50"/>
                      <a:gd name="T10" fmla="*/ 0 w 43"/>
                      <a:gd name="T11" fmla="*/ 44 h 50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50">
                        <a:moveTo>
                          <a:pt x="0" y="44"/>
                        </a:moveTo>
                        <a:cubicBezTo>
                          <a:pt x="6" y="38"/>
                          <a:pt x="18" y="29"/>
                          <a:pt x="22" y="20"/>
                        </a:cubicBezTo>
                        <a:cubicBezTo>
                          <a:pt x="27" y="10"/>
                          <a:pt x="25" y="4"/>
                          <a:pt x="36" y="0"/>
                        </a:cubicBezTo>
                        <a:cubicBezTo>
                          <a:pt x="43" y="11"/>
                          <a:pt x="36" y="24"/>
                          <a:pt x="24" y="28"/>
                        </a:cubicBezTo>
                        <a:cubicBezTo>
                          <a:pt x="21" y="38"/>
                          <a:pt x="12" y="47"/>
                          <a:pt x="2" y="50"/>
                        </a:cubicBezTo>
                        <a:cubicBezTo>
                          <a:pt x="1" y="48"/>
                          <a:pt x="0" y="44"/>
                          <a:pt x="0" y="44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6" name="Freeform 89"/>
                  <p:cNvSpPr>
                    <a:spLocks/>
                  </p:cNvSpPr>
                  <p:nvPr/>
                </p:nvSpPr>
                <p:spPr bwMode="ltGray">
                  <a:xfrm>
                    <a:off x="4784" y="275"/>
                    <a:ext cx="18" cy="10"/>
                  </a:xfrm>
                  <a:custGeom>
                    <a:avLst/>
                    <a:gdLst>
                      <a:gd name="T0" fmla="*/ 0 w 41"/>
                      <a:gd name="T1" fmla="*/ 25 h 29"/>
                      <a:gd name="T2" fmla="*/ 12 w 41"/>
                      <a:gd name="T3" fmla="*/ 29 h 29"/>
                      <a:gd name="T4" fmla="*/ 0 w 41"/>
                      <a:gd name="T5" fmla="*/ 25 h 29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1" h="29">
                        <a:moveTo>
                          <a:pt x="0" y="25"/>
                        </a:moveTo>
                        <a:cubicBezTo>
                          <a:pt x="10" y="11"/>
                          <a:pt x="41" y="0"/>
                          <a:pt x="12" y="29"/>
                        </a:cubicBezTo>
                        <a:cubicBezTo>
                          <a:pt x="8" y="28"/>
                          <a:pt x="0" y="25"/>
                          <a:pt x="0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7" name="Freeform 90"/>
                  <p:cNvSpPr>
                    <a:spLocks/>
                  </p:cNvSpPr>
                  <p:nvPr/>
                </p:nvSpPr>
                <p:spPr bwMode="ltGray">
                  <a:xfrm>
                    <a:off x="4293" y="246"/>
                    <a:ext cx="438" cy="152"/>
                  </a:xfrm>
                  <a:custGeom>
                    <a:avLst/>
                    <a:gdLst>
                      <a:gd name="T0" fmla="*/ 73 w 438"/>
                      <a:gd name="T1" fmla="*/ 1 h 152"/>
                      <a:gd name="T2" fmla="*/ 438 w 438"/>
                      <a:gd name="T3" fmla="*/ 0 h 152"/>
                      <a:gd name="T4" fmla="*/ 416 w 438"/>
                      <a:gd name="T5" fmla="*/ 54 h 152"/>
                      <a:gd name="T6" fmla="*/ 397 w 438"/>
                      <a:gd name="T7" fmla="*/ 68 h 152"/>
                      <a:gd name="T8" fmla="*/ 392 w 438"/>
                      <a:gd name="T9" fmla="*/ 70 h 152"/>
                      <a:gd name="T10" fmla="*/ 375 w 438"/>
                      <a:gd name="T11" fmla="*/ 73 h 152"/>
                      <a:gd name="T12" fmla="*/ 361 w 438"/>
                      <a:gd name="T13" fmla="*/ 88 h 152"/>
                      <a:gd name="T14" fmla="*/ 362 w 438"/>
                      <a:gd name="T15" fmla="*/ 99 h 152"/>
                      <a:gd name="T16" fmla="*/ 364 w 438"/>
                      <a:gd name="T17" fmla="*/ 107 h 152"/>
                      <a:gd name="T18" fmla="*/ 366 w 438"/>
                      <a:gd name="T19" fmla="*/ 113 h 152"/>
                      <a:gd name="T20" fmla="*/ 362 w 438"/>
                      <a:gd name="T21" fmla="*/ 122 h 152"/>
                      <a:gd name="T22" fmla="*/ 351 w 438"/>
                      <a:gd name="T23" fmla="*/ 120 h 152"/>
                      <a:gd name="T24" fmla="*/ 342 w 438"/>
                      <a:gd name="T25" fmla="*/ 129 h 152"/>
                      <a:gd name="T26" fmla="*/ 347 w 438"/>
                      <a:gd name="T27" fmla="*/ 105 h 152"/>
                      <a:gd name="T28" fmla="*/ 338 w 438"/>
                      <a:gd name="T29" fmla="*/ 100 h 152"/>
                      <a:gd name="T30" fmla="*/ 344 w 438"/>
                      <a:gd name="T31" fmla="*/ 93 h 152"/>
                      <a:gd name="T32" fmla="*/ 342 w 438"/>
                      <a:gd name="T33" fmla="*/ 89 h 152"/>
                      <a:gd name="T34" fmla="*/ 320 w 438"/>
                      <a:gd name="T35" fmla="*/ 94 h 152"/>
                      <a:gd name="T36" fmla="*/ 317 w 438"/>
                      <a:gd name="T37" fmla="*/ 85 h 152"/>
                      <a:gd name="T38" fmla="*/ 297 w 438"/>
                      <a:gd name="T39" fmla="*/ 94 h 152"/>
                      <a:gd name="T40" fmla="*/ 320 w 438"/>
                      <a:gd name="T41" fmla="*/ 103 h 152"/>
                      <a:gd name="T42" fmla="*/ 305 w 438"/>
                      <a:gd name="T43" fmla="*/ 117 h 152"/>
                      <a:gd name="T44" fmla="*/ 311 w 438"/>
                      <a:gd name="T45" fmla="*/ 126 h 152"/>
                      <a:gd name="T46" fmla="*/ 315 w 438"/>
                      <a:gd name="T47" fmla="*/ 138 h 152"/>
                      <a:gd name="T48" fmla="*/ 309 w 438"/>
                      <a:gd name="T49" fmla="*/ 139 h 152"/>
                      <a:gd name="T50" fmla="*/ 314 w 438"/>
                      <a:gd name="T51" fmla="*/ 144 h 152"/>
                      <a:gd name="T52" fmla="*/ 307 w 438"/>
                      <a:gd name="T53" fmla="*/ 152 h 152"/>
                      <a:gd name="T54" fmla="*/ 0 w 438"/>
                      <a:gd name="T55" fmla="*/ 149 h 152"/>
                      <a:gd name="T56" fmla="*/ 73 w 438"/>
                      <a:gd name="T57" fmla="*/ 1 h 152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</a:gdLst>
                    <a:ahLst/>
                    <a:cxnLst>
                      <a:cxn ang="T58">
                        <a:pos x="T0" y="T1"/>
                      </a:cxn>
                      <a:cxn ang="T59">
                        <a:pos x="T2" y="T3"/>
                      </a:cxn>
                      <a:cxn ang="T60">
                        <a:pos x="T4" y="T5"/>
                      </a:cxn>
                      <a:cxn ang="T61">
                        <a:pos x="T6" y="T7"/>
                      </a:cxn>
                      <a:cxn ang="T62">
                        <a:pos x="T8" y="T9"/>
                      </a:cxn>
                      <a:cxn ang="T63">
                        <a:pos x="T10" y="T11"/>
                      </a:cxn>
                      <a:cxn ang="T64">
                        <a:pos x="T12" y="T13"/>
                      </a:cxn>
                      <a:cxn ang="T65">
                        <a:pos x="T14" y="T15"/>
                      </a:cxn>
                      <a:cxn ang="T66">
                        <a:pos x="T16" y="T17"/>
                      </a:cxn>
                      <a:cxn ang="T67">
                        <a:pos x="T18" y="T19"/>
                      </a:cxn>
                      <a:cxn ang="T68">
                        <a:pos x="T20" y="T21"/>
                      </a:cxn>
                      <a:cxn ang="T69">
                        <a:pos x="T22" y="T23"/>
                      </a:cxn>
                      <a:cxn ang="T70">
                        <a:pos x="T24" y="T25"/>
                      </a:cxn>
                      <a:cxn ang="T71">
                        <a:pos x="T26" y="T27"/>
                      </a:cxn>
                      <a:cxn ang="T72">
                        <a:pos x="T28" y="T29"/>
                      </a:cxn>
                      <a:cxn ang="T73">
                        <a:pos x="T30" y="T31"/>
                      </a:cxn>
                      <a:cxn ang="T74">
                        <a:pos x="T32" y="T33"/>
                      </a:cxn>
                      <a:cxn ang="T75">
                        <a:pos x="T34" y="T35"/>
                      </a:cxn>
                      <a:cxn ang="T76">
                        <a:pos x="T36" y="T37"/>
                      </a:cxn>
                      <a:cxn ang="T77">
                        <a:pos x="T38" y="T39"/>
                      </a:cxn>
                      <a:cxn ang="T78">
                        <a:pos x="T40" y="T41"/>
                      </a:cxn>
                      <a:cxn ang="T79">
                        <a:pos x="T42" y="T43"/>
                      </a:cxn>
                      <a:cxn ang="T80">
                        <a:pos x="T44" y="T45"/>
                      </a:cxn>
                      <a:cxn ang="T81">
                        <a:pos x="T46" y="T47"/>
                      </a:cxn>
                      <a:cxn ang="T82">
                        <a:pos x="T48" y="T49"/>
                      </a:cxn>
                      <a:cxn ang="T83">
                        <a:pos x="T50" y="T51"/>
                      </a:cxn>
                      <a:cxn ang="T84">
                        <a:pos x="T52" y="T53"/>
                      </a:cxn>
                      <a:cxn ang="T85">
                        <a:pos x="T54" y="T55"/>
                      </a:cxn>
                      <a:cxn ang="T86">
                        <a:pos x="T56" y="T57"/>
                      </a:cxn>
                    </a:cxnLst>
                    <a:rect l="0" t="0" r="r" b="b"/>
                    <a:pathLst>
                      <a:path w="438" h="152">
                        <a:moveTo>
                          <a:pt x="73" y="1"/>
                        </a:moveTo>
                        <a:lnTo>
                          <a:pt x="438" y="0"/>
                        </a:lnTo>
                        <a:cubicBezTo>
                          <a:pt x="432" y="15"/>
                          <a:pt x="429" y="42"/>
                          <a:pt x="416" y="54"/>
                        </a:cubicBezTo>
                        <a:cubicBezTo>
                          <a:pt x="410" y="60"/>
                          <a:pt x="405" y="63"/>
                          <a:pt x="397" y="68"/>
                        </a:cubicBezTo>
                        <a:cubicBezTo>
                          <a:pt x="396" y="69"/>
                          <a:pt x="392" y="70"/>
                          <a:pt x="392" y="70"/>
                        </a:cubicBezTo>
                        <a:cubicBezTo>
                          <a:pt x="377" y="63"/>
                          <a:pt x="385" y="68"/>
                          <a:pt x="375" y="73"/>
                        </a:cubicBezTo>
                        <a:cubicBezTo>
                          <a:pt x="371" y="82"/>
                          <a:pt x="371" y="83"/>
                          <a:pt x="361" y="88"/>
                        </a:cubicBezTo>
                        <a:cubicBezTo>
                          <a:pt x="359" y="92"/>
                          <a:pt x="364" y="93"/>
                          <a:pt x="362" y="99"/>
                        </a:cubicBezTo>
                        <a:cubicBezTo>
                          <a:pt x="363" y="102"/>
                          <a:pt x="364" y="105"/>
                          <a:pt x="364" y="107"/>
                        </a:cubicBezTo>
                        <a:cubicBezTo>
                          <a:pt x="365" y="109"/>
                          <a:pt x="366" y="111"/>
                          <a:pt x="366" y="113"/>
                        </a:cubicBezTo>
                        <a:cubicBezTo>
                          <a:pt x="365" y="115"/>
                          <a:pt x="364" y="120"/>
                          <a:pt x="362" y="122"/>
                        </a:cubicBezTo>
                        <a:cubicBezTo>
                          <a:pt x="359" y="123"/>
                          <a:pt x="354" y="119"/>
                          <a:pt x="351" y="120"/>
                        </a:cubicBezTo>
                        <a:cubicBezTo>
                          <a:pt x="347" y="129"/>
                          <a:pt x="352" y="127"/>
                          <a:pt x="342" y="129"/>
                        </a:cubicBezTo>
                        <a:cubicBezTo>
                          <a:pt x="340" y="123"/>
                          <a:pt x="345" y="111"/>
                          <a:pt x="347" y="105"/>
                        </a:cubicBezTo>
                        <a:cubicBezTo>
                          <a:pt x="347" y="100"/>
                          <a:pt x="338" y="102"/>
                          <a:pt x="338" y="100"/>
                        </a:cubicBezTo>
                        <a:cubicBezTo>
                          <a:pt x="338" y="98"/>
                          <a:pt x="344" y="95"/>
                          <a:pt x="344" y="93"/>
                        </a:cubicBezTo>
                        <a:cubicBezTo>
                          <a:pt x="344" y="92"/>
                          <a:pt x="344" y="89"/>
                          <a:pt x="342" y="89"/>
                        </a:cubicBezTo>
                        <a:cubicBezTo>
                          <a:pt x="339" y="89"/>
                          <a:pt x="324" y="94"/>
                          <a:pt x="320" y="94"/>
                        </a:cubicBezTo>
                        <a:cubicBezTo>
                          <a:pt x="317" y="86"/>
                          <a:pt x="328" y="88"/>
                          <a:pt x="317" y="85"/>
                        </a:cubicBezTo>
                        <a:cubicBezTo>
                          <a:pt x="311" y="91"/>
                          <a:pt x="306" y="93"/>
                          <a:pt x="297" y="94"/>
                        </a:cubicBezTo>
                        <a:cubicBezTo>
                          <a:pt x="300" y="104"/>
                          <a:pt x="307" y="101"/>
                          <a:pt x="320" y="103"/>
                        </a:cubicBezTo>
                        <a:cubicBezTo>
                          <a:pt x="318" y="109"/>
                          <a:pt x="311" y="111"/>
                          <a:pt x="305" y="117"/>
                        </a:cubicBezTo>
                        <a:lnTo>
                          <a:pt x="311" y="126"/>
                        </a:lnTo>
                        <a:lnTo>
                          <a:pt x="315" y="138"/>
                        </a:lnTo>
                        <a:lnTo>
                          <a:pt x="309" y="139"/>
                        </a:lnTo>
                        <a:lnTo>
                          <a:pt x="314" y="144"/>
                        </a:lnTo>
                        <a:lnTo>
                          <a:pt x="307" y="152"/>
                        </a:lnTo>
                        <a:lnTo>
                          <a:pt x="0" y="149"/>
                        </a:lnTo>
                        <a:lnTo>
                          <a:pt x="73" y="1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8" name="Freeform 91"/>
                  <p:cNvSpPr>
                    <a:spLocks/>
                  </p:cNvSpPr>
                  <p:nvPr/>
                </p:nvSpPr>
                <p:spPr bwMode="ltGray">
                  <a:xfrm>
                    <a:off x="4731" y="240"/>
                    <a:ext cx="20" cy="55"/>
                  </a:xfrm>
                  <a:custGeom>
                    <a:avLst/>
                    <a:gdLst>
                      <a:gd name="T0" fmla="*/ 5 w 47"/>
                      <a:gd name="T1" fmla="*/ 156 h 165"/>
                      <a:gd name="T2" fmla="*/ 15 w 47"/>
                      <a:gd name="T3" fmla="*/ 108 h 165"/>
                      <a:gd name="T4" fmla="*/ 17 w 47"/>
                      <a:gd name="T5" fmla="*/ 68 h 165"/>
                      <a:gd name="T6" fmla="*/ 11 w 47"/>
                      <a:gd name="T7" fmla="*/ 40 h 165"/>
                      <a:gd name="T8" fmla="*/ 17 w 47"/>
                      <a:gd name="T9" fmla="*/ 12 h 165"/>
                      <a:gd name="T10" fmla="*/ 21 w 47"/>
                      <a:gd name="T11" fmla="*/ 0 h 165"/>
                      <a:gd name="T12" fmla="*/ 31 w 47"/>
                      <a:gd name="T13" fmla="*/ 30 h 165"/>
                      <a:gd name="T14" fmla="*/ 47 w 47"/>
                      <a:gd name="T15" fmla="*/ 98 h 165"/>
                      <a:gd name="T16" fmla="*/ 31 w 47"/>
                      <a:gd name="T17" fmla="*/ 108 h 165"/>
                      <a:gd name="T18" fmla="*/ 23 w 47"/>
                      <a:gd name="T19" fmla="*/ 126 h 165"/>
                      <a:gd name="T20" fmla="*/ 21 w 47"/>
                      <a:gd name="T21" fmla="*/ 132 h 165"/>
                      <a:gd name="T22" fmla="*/ 27 w 47"/>
                      <a:gd name="T23" fmla="*/ 134 h 165"/>
                      <a:gd name="T24" fmla="*/ 31 w 47"/>
                      <a:gd name="T25" fmla="*/ 146 h 165"/>
                      <a:gd name="T26" fmla="*/ 13 w 47"/>
                      <a:gd name="T27" fmla="*/ 148 h 165"/>
                      <a:gd name="T28" fmla="*/ 7 w 47"/>
                      <a:gd name="T29" fmla="*/ 160 h 165"/>
                      <a:gd name="T30" fmla="*/ 3 w 47"/>
                      <a:gd name="T31" fmla="*/ 154 h 165"/>
                      <a:gd name="T32" fmla="*/ 5 w 47"/>
                      <a:gd name="T33" fmla="*/ 156 h 165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</a:gdLst>
                    <a:ahLst/>
                    <a:cxnLst>
                      <a:cxn ang="T34">
                        <a:pos x="T0" y="T1"/>
                      </a:cxn>
                      <a:cxn ang="T35">
                        <a:pos x="T2" y="T3"/>
                      </a:cxn>
                      <a:cxn ang="T36">
                        <a:pos x="T4" y="T5"/>
                      </a:cxn>
                      <a:cxn ang="T37">
                        <a:pos x="T6" y="T7"/>
                      </a:cxn>
                      <a:cxn ang="T38">
                        <a:pos x="T8" y="T9"/>
                      </a:cxn>
                      <a:cxn ang="T39">
                        <a:pos x="T10" y="T11"/>
                      </a:cxn>
                      <a:cxn ang="T40">
                        <a:pos x="T12" y="T13"/>
                      </a:cxn>
                      <a:cxn ang="T41">
                        <a:pos x="T14" y="T15"/>
                      </a:cxn>
                      <a:cxn ang="T42">
                        <a:pos x="T16" y="T17"/>
                      </a:cxn>
                      <a:cxn ang="T43">
                        <a:pos x="T18" y="T19"/>
                      </a:cxn>
                      <a:cxn ang="T44">
                        <a:pos x="T20" y="T21"/>
                      </a:cxn>
                      <a:cxn ang="T45">
                        <a:pos x="T22" y="T23"/>
                      </a:cxn>
                      <a:cxn ang="T46">
                        <a:pos x="T24" y="T25"/>
                      </a:cxn>
                      <a:cxn ang="T47">
                        <a:pos x="T26" y="T27"/>
                      </a:cxn>
                      <a:cxn ang="T48">
                        <a:pos x="T28" y="T29"/>
                      </a:cxn>
                      <a:cxn ang="T49">
                        <a:pos x="T30" y="T31"/>
                      </a:cxn>
                      <a:cxn ang="T50">
                        <a:pos x="T32" y="T33"/>
                      </a:cxn>
                    </a:cxnLst>
                    <a:rect l="0" t="0" r="r" b="b"/>
                    <a:pathLst>
                      <a:path w="47" h="165">
                        <a:moveTo>
                          <a:pt x="5" y="156"/>
                        </a:moveTo>
                        <a:cubicBezTo>
                          <a:pt x="0" y="141"/>
                          <a:pt x="1" y="118"/>
                          <a:pt x="15" y="108"/>
                        </a:cubicBezTo>
                        <a:cubicBezTo>
                          <a:pt x="16" y="95"/>
                          <a:pt x="17" y="81"/>
                          <a:pt x="17" y="68"/>
                        </a:cubicBezTo>
                        <a:cubicBezTo>
                          <a:pt x="17" y="58"/>
                          <a:pt x="11" y="40"/>
                          <a:pt x="11" y="40"/>
                        </a:cubicBezTo>
                        <a:cubicBezTo>
                          <a:pt x="14" y="20"/>
                          <a:pt x="11" y="29"/>
                          <a:pt x="17" y="12"/>
                        </a:cubicBezTo>
                        <a:cubicBezTo>
                          <a:pt x="18" y="8"/>
                          <a:pt x="21" y="0"/>
                          <a:pt x="21" y="0"/>
                        </a:cubicBezTo>
                        <a:cubicBezTo>
                          <a:pt x="38" y="6"/>
                          <a:pt x="33" y="7"/>
                          <a:pt x="31" y="30"/>
                        </a:cubicBezTo>
                        <a:cubicBezTo>
                          <a:pt x="38" y="52"/>
                          <a:pt x="40" y="76"/>
                          <a:pt x="47" y="98"/>
                        </a:cubicBezTo>
                        <a:cubicBezTo>
                          <a:pt x="44" y="116"/>
                          <a:pt x="45" y="113"/>
                          <a:pt x="31" y="108"/>
                        </a:cubicBezTo>
                        <a:cubicBezTo>
                          <a:pt x="25" y="118"/>
                          <a:pt x="28" y="112"/>
                          <a:pt x="23" y="126"/>
                        </a:cubicBezTo>
                        <a:cubicBezTo>
                          <a:pt x="22" y="128"/>
                          <a:pt x="21" y="132"/>
                          <a:pt x="21" y="132"/>
                        </a:cubicBezTo>
                        <a:cubicBezTo>
                          <a:pt x="23" y="133"/>
                          <a:pt x="26" y="132"/>
                          <a:pt x="27" y="134"/>
                        </a:cubicBezTo>
                        <a:cubicBezTo>
                          <a:pt x="29" y="137"/>
                          <a:pt x="31" y="146"/>
                          <a:pt x="31" y="146"/>
                        </a:cubicBezTo>
                        <a:cubicBezTo>
                          <a:pt x="27" y="165"/>
                          <a:pt x="23" y="155"/>
                          <a:pt x="13" y="148"/>
                        </a:cubicBezTo>
                        <a:cubicBezTo>
                          <a:pt x="11" y="152"/>
                          <a:pt x="11" y="160"/>
                          <a:pt x="7" y="160"/>
                        </a:cubicBezTo>
                        <a:cubicBezTo>
                          <a:pt x="5" y="160"/>
                          <a:pt x="4" y="156"/>
                          <a:pt x="3" y="154"/>
                        </a:cubicBezTo>
                        <a:cubicBezTo>
                          <a:pt x="3" y="153"/>
                          <a:pt x="4" y="155"/>
                          <a:pt x="5" y="15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09" name="Freeform 92"/>
                  <p:cNvSpPr>
                    <a:spLocks/>
                  </p:cNvSpPr>
                  <p:nvPr/>
                </p:nvSpPr>
                <p:spPr bwMode="ltGray">
                  <a:xfrm>
                    <a:off x="4719" y="287"/>
                    <a:ext cx="59" cy="34"/>
                  </a:xfrm>
                  <a:custGeom>
                    <a:avLst/>
                    <a:gdLst>
                      <a:gd name="T0" fmla="*/ 26 w 138"/>
                      <a:gd name="T1" fmla="*/ 61 h 103"/>
                      <a:gd name="T2" fmla="*/ 30 w 138"/>
                      <a:gd name="T3" fmla="*/ 43 h 103"/>
                      <a:gd name="T4" fmla="*/ 50 w 138"/>
                      <a:gd name="T5" fmla="*/ 33 h 103"/>
                      <a:gd name="T6" fmla="*/ 54 w 138"/>
                      <a:gd name="T7" fmla="*/ 45 h 103"/>
                      <a:gd name="T8" fmla="*/ 66 w 138"/>
                      <a:gd name="T9" fmla="*/ 49 h 103"/>
                      <a:gd name="T10" fmla="*/ 80 w 138"/>
                      <a:gd name="T11" fmla="*/ 55 h 103"/>
                      <a:gd name="T12" fmla="*/ 116 w 138"/>
                      <a:gd name="T13" fmla="*/ 33 h 103"/>
                      <a:gd name="T14" fmla="*/ 130 w 138"/>
                      <a:gd name="T15" fmla="*/ 17 h 103"/>
                      <a:gd name="T16" fmla="*/ 138 w 138"/>
                      <a:gd name="T17" fmla="*/ 11 h 103"/>
                      <a:gd name="T18" fmla="*/ 106 w 138"/>
                      <a:gd name="T19" fmla="*/ 49 h 103"/>
                      <a:gd name="T20" fmla="*/ 84 w 138"/>
                      <a:gd name="T21" fmla="*/ 67 h 103"/>
                      <a:gd name="T22" fmla="*/ 66 w 138"/>
                      <a:gd name="T23" fmla="*/ 81 h 103"/>
                      <a:gd name="T24" fmla="*/ 48 w 138"/>
                      <a:gd name="T25" fmla="*/ 103 h 103"/>
                      <a:gd name="T26" fmla="*/ 26 w 138"/>
                      <a:gd name="T27" fmla="*/ 89 h 103"/>
                      <a:gd name="T28" fmla="*/ 20 w 138"/>
                      <a:gd name="T29" fmla="*/ 87 h 103"/>
                      <a:gd name="T30" fmla="*/ 22 w 138"/>
                      <a:gd name="T31" fmla="*/ 97 h 103"/>
                      <a:gd name="T32" fmla="*/ 0 w 138"/>
                      <a:gd name="T33" fmla="*/ 97 h 103"/>
                      <a:gd name="T34" fmla="*/ 10 w 138"/>
                      <a:gd name="T35" fmla="*/ 79 h 103"/>
                      <a:gd name="T36" fmla="*/ 26 w 138"/>
                      <a:gd name="T37" fmla="*/ 61 h 103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</a:gdLst>
                    <a:ahLst/>
                    <a:cxnLst>
                      <a:cxn ang="T38">
                        <a:pos x="T0" y="T1"/>
                      </a:cxn>
                      <a:cxn ang="T39">
                        <a:pos x="T2" y="T3"/>
                      </a:cxn>
                      <a:cxn ang="T40">
                        <a:pos x="T4" y="T5"/>
                      </a:cxn>
                      <a:cxn ang="T41">
                        <a:pos x="T6" y="T7"/>
                      </a:cxn>
                      <a:cxn ang="T42">
                        <a:pos x="T8" y="T9"/>
                      </a:cxn>
                      <a:cxn ang="T43">
                        <a:pos x="T10" y="T11"/>
                      </a:cxn>
                      <a:cxn ang="T44">
                        <a:pos x="T12" y="T13"/>
                      </a:cxn>
                      <a:cxn ang="T45">
                        <a:pos x="T14" y="T15"/>
                      </a:cxn>
                      <a:cxn ang="T46">
                        <a:pos x="T16" y="T17"/>
                      </a:cxn>
                      <a:cxn ang="T47">
                        <a:pos x="T18" y="T19"/>
                      </a:cxn>
                      <a:cxn ang="T48">
                        <a:pos x="T20" y="T21"/>
                      </a:cxn>
                      <a:cxn ang="T49">
                        <a:pos x="T22" y="T23"/>
                      </a:cxn>
                      <a:cxn ang="T50">
                        <a:pos x="T24" y="T25"/>
                      </a:cxn>
                      <a:cxn ang="T51">
                        <a:pos x="T26" y="T27"/>
                      </a:cxn>
                      <a:cxn ang="T52">
                        <a:pos x="T28" y="T29"/>
                      </a:cxn>
                      <a:cxn ang="T53">
                        <a:pos x="T30" y="T31"/>
                      </a:cxn>
                      <a:cxn ang="T54">
                        <a:pos x="T32" y="T33"/>
                      </a:cxn>
                      <a:cxn ang="T55">
                        <a:pos x="T34" y="T35"/>
                      </a:cxn>
                      <a:cxn ang="T56">
                        <a:pos x="T36" y="T37"/>
                      </a:cxn>
                    </a:cxnLst>
                    <a:rect l="0" t="0" r="r" b="b"/>
                    <a:pathLst>
                      <a:path w="138" h="103">
                        <a:moveTo>
                          <a:pt x="26" y="61"/>
                        </a:moveTo>
                        <a:cubicBezTo>
                          <a:pt x="29" y="53"/>
                          <a:pt x="33" y="51"/>
                          <a:pt x="30" y="43"/>
                        </a:cubicBezTo>
                        <a:cubicBezTo>
                          <a:pt x="33" y="27"/>
                          <a:pt x="37" y="24"/>
                          <a:pt x="50" y="33"/>
                        </a:cubicBezTo>
                        <a:cubicBezTo>
                          <a:pt x="51" y="37"/>
                          <a:pt x="53" y="41"/>
                          <a:pt x="54" y="45"/>
                        </a:cubicBezTo>
                        <a:cubicBezTo>
                          <a:pt x="55" y="49"/>
                          <a:pt x="66" y="49"/>
                          <a:pt x="66" y="49"/>
                        </a:cubicBezTo>
                        <a:cubicBezTo>
                          <a:pt x="75" y="43"/>
                          <a:pt x="77" y="45"/>
                          <a:pt x="80" y="55"/>
                        </a:cubicBezTo>
                        <a:cubicBezTo>
                          <a:pt x="92" y="47"/>
                          <a:pt x="101" y="37"/>
                          <a:pt x="116" y="33"/>
                        </a:cubicBezTo>
                        <a:cubicBezTo>
                          <a:pt x="125" y="19"/>
                          <a:pt x="120" y="24"/>
                          <a:pt x="130" y="17"/>
                        </a:cubicBezTo>
                        <a:cubicBezTo>
                          <a:pt x="134" y="11"/>
                          <a:pt x="134" y="0"/>
                          <a:pt x="138" y="11"/>
                        </a:cubicBezTo>
                        <a:cubicBezTo>
                          <a:pt x="135" y="31"/>
                          <a:pt x="126" y="45"/>
                          <a:pt x="106" y="49"/>
                        </a:cubicBezTo>
                        <a:cubicBezTo>
                          <a:pt x="97" y="55"/>
                          <a:pt x="93" y="61"/>
                          <a:pt x="84" y="67"/>
                        </a:cubicBezTo>
                        <a:cubicBezTo>
                          <a:pt x="80" y="79"/>
                          <a:pt x="79" y="79"/>
                          <a:pt x="66" y="81"/>
                        </a:cubicBezTo>
                        <a:cubicBezTo>
                          <a:pt x="60" y="90"/>
                          <a:pt x="57" y="97"/>
                          <a:pt x="48" y="103"/>
                        </a:cubicBezTo>
                        <a:cubicBezTo>
                          <a:pt x="42" y="94"/>
                          <a:pt x="37" y="93"/>
                          <a:pt x="26" y="89"/>
                        </a:cubicBezTo>
                        <a:cubicBezTo>
                          <a:pt x="24" y="88"/>
                          <a:pt x="20" y="87"/>
                          <a:pt x="20" y="87"/>
                        </a:cubicBezTo>
                        <a:cubicBezTo>
                          <a:pt x="10" y="90"/>
                          <a:pt x="14" y="94"/>
                          <a:pt x="22" y="97"/>
                        </a:cubicBezTo>
                        <a:cubicBezTo>
                          <a:pt x="14" y="103"/>
                          <a:pt x="9" y="100"/>
                          <a:pt x="0" y="97"/>
                        </a:cubicBezTo>
                        <a:cubicBezTo>
                          <a:pt x="2" y="87"/>
                          <a:pt x="1" y="82"/>
                          <a:pt x="10" y="79"/>
                        </a:cubicBezTo>
                        <a:cubicBezTo>
                          <a:pt x="15" y="63"/>
                          <a:pt x="14" y="69"/>
                          <a:pt x="26" y="6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0" name="Freeform 93"/>
                  <p:cNvSpPr>
                    <a:spLocks/>
                  </p:cNvSpPr>
                  <p:nvPr/>
                </p:nvSpPr>
                <p:spPr bwMode="ltGray">
                  <a:xfrm>
                    <a:off x="4656" y="319"/>
                    <a:ext cx="80" cy="72"/>
                  </a:xfrm>
                  <a:custGeom>
                    <a:avLst/>
                    <a:gdLst>
                      <a:gd name="T0" fmla="*/ 158 w 188"/>
                      <a:gd name="T1" fmla="*/ 24 h 214"/>
                      <a:gd name="T2" fmla="*/ 160 w 188"/>
                      <a:gd name="T3" fmla="*/ 6 h 214"/>
                      <a:gd name="T4" fmla="*/ 170 w 188"/>
                      <a:gd name="T5" fmla="*/ 0 h 214"/>
                      <a:gd name="T6" fmla="*/ 182 w 188"/>
                      <a:gd name="T7" fmla="*/ 24 h 214"/>
                      <a:gd name="T8" fmla="*/ 188 w 188"/>
                      <a:gd name="T9" fmla="*/ 42 h 214"/>
                      <a:gd name="T10" fmla="*/ 178 w 188"/>
                      <a:gd name="T11" fmla="*/ 58 h 214"/>
                      <a:gd name="T12" fmla="*/ 170 w 188"/>
                      <a:gd name="T13" fmla="*/ 76 h 214"/>
                      <a:gd name="T14" fmla="*/ 162 w 188"/>
                      <a:gd name="T15" fmla="*/ 126 h 214"/>
                      <a:gd name="T16" fmla="*/ 144 w 188"/>
                      <a:gd name="T17" fmla="*/ 136 h 214"/>
                      <a:gd name="T18" fmla="*/ 120 w 188"/>
                      <a:gd name="T19" fmla="*/ 138 h 214"/>
                      <a:gd name="T20" fmla="*/ 112 w 188"/>
                      <a:gd name="T21" fmla="*/ 124 h 214"/>
                      <a:gd name="T22" fmla="*/ 102 w 188"/>
                      <a:gd name="T23" fmla="*/ 146 h 214"/>
                      <a:gd name="T24" fmla="*/ 90 w 188"/>
                      <a:gd name="T25" fmla="*/ 150 h 214"/>
                      <a:gd name="T26" fmla="*/ 80 w 188"/>
                      <a:gd name="T27" fmla="*/ 132 h 214"/>
                      <a:gd name="T28" fmla="*/ 58 w 188"/>
                      <a:gd name="T29" fmla="*/ 144 h 214"/>
                      <a:gd name="T30" fmla="*/ 76 w 188"/>
                      <a:gd name="T31" fmla="*/ 142 h 214"/>
                      <a:gd name="T32" fmla="*/ 78 w 188"/>
                      <a:gd name="T33" fmla="*/ 160 h 214"/>
                      <a:gd name="T34" fmla="*/ 58 w 188"/>
                      <a:gd name="T35" fmla="*/ 166 h 214"/>
                      <a:gd name="T36" fmla="*/ 34 w 188"/>
                      <a:gd name="T37" fmla="*/ 166 h 214"/>
                      <a:gd name="T38" fmla="*/ 36 w 188"/>
                      <a:gd name="T39" fmla="*/ 154 h 214"/>
                      <a:gd name="T40" fmla="*/ 46 w 188"/>
                      <a:gd name="T41" fmla="*/ 144 h 214"/>
                      <a:gd name="T42" fmla="*/ 34 w 188"/>
                      <a:gd name="T43" fmla="*/ 148 h 214"/>
                      <a:gd name="T44" fmla="*/ 26 w 188"/>
                      <a:gd name="T45" fmla="*/ 166 h 214"/>
                      <a:gd name="T46" fmla="*/ 30 w 188"/>
                      <a:gd name="T47" fmla="*/ 190 h 214"/>
                      <a:gd name="T48" fmla="*/ 14 w 188"/>
                      <a:gd name="T49" fmla="*/ 200 h 214"/>
                      <a:gd name="T50" fmla="*/ 0 w 188"/>
                      <a:gd name="T51" fmla="*/ 214 h 214"/>
                      <a:gd name="T52" fmla="*/ 8 w 188"/>
                      <a:gd name="T53" fmla="*/ 188 h 214"/>
                      <a:gd name="T54" fmla="*/ 0 w 188"/>
                      <a:gd name="T55" fmla="*/ 164 h 214"/>
                      <a:gd name="T56" fmla="*/ 14 w 188"/>
                      <a:gd name="T57" fmla="*/ 152 h 214"/>
                      <a:gd name="T58" fmla="*/ 32 w 188"/>
                      <a:gd name="T59" fmla="*/ 134 h 214"/>
                      <a:gd name="T60" fmla="*/ 44 w 188"/>
                      <a:gd name="T61" fmla="*/ 118 h 214"/>
                      <a:gd name="T62" fmla="*/ 72 w 188"/>
                      <a:gd name="T63" fmla="*/ 116 h 214"/>
                      <a:gd name="T64" fmla="*/ 84 w 188"/>
                      <a:gd name="T65" fmla="*/ 112 h 214"/>
                      <a:gd name="T66" fmla="*/ 114 w 188"/>
                      <a:gd name="T67" fmla="*/ 78 h 214"/>
                      <a:gd name="T68" fmla="*/ 120 w 188"/>
                      <a:gd name="T69" fmla="*/ 92 h 214"/>
                      <a:gd name="T70" fmla="*/ 132 w 188"/>
                      <a:gd name="T71" fmla="*/ 76 h 214"/>
                      <a:gd name="T72" fmla="*/ 150 w 188"/>
                      <a:gd name="T73" fmla="*/ 54 h 214"/>
                      <a:gd name="T74" fmla="*/ 154 w 188"/>
                      <a:gd name="T75" fmla="*/ 42 h 214"/>
                      <a:gd name="T76" fmla="*/ 148 w 188"/>
                      <a:gd name="T77" fmla="*/ 38 h 214"/>
                      <a:gd name="T78" fmla="*/ 152 w 188"/>
                      <a:gd name="T79" fmla="*/ 32 h 214"/>
                      <a:gd name="T80" fmla="*/ 158 w 188"/>
                      <a:gd name="T81" fmla="*/ 24 h 214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</a:gdLst>
                    <a:ahLst/>
                    <a:cxnLst>
                      <a:cxn ang="T82">
                        <a:pos x="T0" y="T1"/>
                      </a:cxn>
                      <a:cxn ang="T83">
                        <a:pos x="T2" y="T3"/>
                      </a:cxn>
                      <a:cxn ang="T84">
                        <a:pos x="T4" y="T5"/>
                      </a:cxn>
                      <a:cxn ang="T85">
                        <a:pos x="T6" y="T7"/>
                      </a:cxn>
                      <a:cxn ang="T86">
                        <a:pos x="T8" y="T9"/>
                      </a:cxn>
                      <a:cxn ang="T87">
                        <a:pos x="T10" y="T11"/>
                      </a:cxn>
                      <a:cxn ang="T88">
                        <a:pos x="T12" y="T13"/>
                      </a:cxn>
                      <a:cxn ang="T89">
                        <a:pos x="T14" y="T15"/>
                      </a:cxn>
                      <a:cxn ang="T90">
                        <a:pos x="T16" y="T17"/>
                      </a:cxn>
                      <a:cxn ang="T91">
                        <a:pos x="T18" y="T19"/>
                      </a:cxn>
                      <a:cxn ang="T92">
                        <a:pos x="T20" y="T21"/>
                      </a:cxn>
                      <a:cxn ang="T93">
                        <a:pos x="T22" y="T23"/>
                      </a:cxn>
                      <a:cxn ang="T94">
                        <a:pos x="T24" y="T25"/>
                      </a:cxn>
                      <a:cxn ang="T95">
                        <a:pos x="T26" y="T27"/>
                      </a:cxn>
                      <a:cxn ang="T96">
                        <a:pos x="T28" y="T29"/>
                      </a:cxn>
                      <a:cxn ang="T97">
                        <a:pos x="T30" y="T31"/>
                      </a:cxn>
                      <a:cxn ang="T98">
                        <a:pos x="T32" y="T33"/>
                      </a:cxn>
                      <a:cxn ang="T99">
                        <a:pos x="T34" y="T35"/>
                      </a:cxn>
                      <a:cxn ang="T100">
                        <a:pos x="T36" y="T37"/>
                      </a:cxn>
                      <a:cxn ang="T101">
                        <a:pos x="T38" y="T39"/>
                      </a:cxn>
                      <a:cxn ang="T102">
                        <a:pos x="T40" y="T41"/>
                      </a:cxn>
                      <a:cxn ang="T103">
                        <a:pos x="T42" y="T43"/>
                      </a:cxn>
                      <a:cxn ang="T104">
                        <a:pos x="T44" y="T45"/>
                      </a:cxn>
                      <a:cxn ang="T105">
                        <a:pos x="T46" y="T47"/>
                      </a:cxn>
                      <a:cxn ang="T106">
                        <a:pos x="T48" y="T49"/>
                      </a:cxn>
                      <a:cxn ang="T107">
                        <a:pos x="T50" y="T51"/>
                      </a:cxn>
                      <a:cxn ang="T108">
                        <a:pos x="T52" y="T53"/>
                      </a:cxn>
                      <a:cxn ang="T109">
                        <a:pos x="T54" y="T55"/>
                      </a:cxn>
                      <a:cxn ang="T110">
                        <a:pos x="T56" y="T57"/>
                      </a:cxn>
                      <a:cxn ang="T111">
                        <a:pos x="T58" y="T59"/>
                      </a:cxn>
                      <a:cxn ang="T112">
                        <a:pos x="T60" y="T61"/>
                      </a:cxn>
                      <a:cxn ang="T113">
                        <a:pos x="T62" y="T63"/>
                      </a:cxn>
                      <a:cxn ang="T114">
                        <a:pos x="T64" y="T65"/>
                      </a:cxn>
                      <a:cxn ang="T115">
                        <a:pos x="T66" y="T67"/>
                      </a:cxn>
                      <a:cxn ang="T116">
                        <a:pos x="T68" y="T69"/>
                      </a:cxn>
                      <a:cxn ang="T117">
                        <a:pos x="T70" y="T71"/>
                      </a:cxn>
                      <a:cxn ang="T118">
                        <a:pos x="T72" y="T73"/>
                      </a:cxn>
                      <a:cxn ang="T119">
                        <a:pos x="T74" y="T75"/>
                      </a:cxn>
                      <a:cxn ang="T120">
                        <a:pos x="T76" y="T77"/>
                      </a:cxn>
                      <a:cxn ang="T121">
                        <a:pos x="T78" y="T79"/>
                      </a:cxn>
                      <a:cxn ang="T122">
                        <a:pos x="T80" y="T81"/>
                      </a:cxn>
                    </a:cxnLst>
                    <a:rect l="0" t="0" r="r" b="b"/>
                    <a:pathLst>
                      <a:path w="188" h="214">
                        <a:moveTo>
                          <a:pt x="158" y="24"/>
                        </a:moveTo>
                        <a:cubicBezTo>
                          <a:pt x="156" y="18"/>
                          <a:pt x="160" y="6"/>
                          <a:pt x="160" y="6"/>
                        </a:cubicBezTo>
                        <a:cubicBezTo>
                          <a:pt x="167" y="16"/>
                          <a:pt x="167" y="8"/>
                          <a:pt x="170" y="0"/>
                        </a:cubicBezTo>
                        <a:cubicBezTo>
                          <a:pt x="181" y="4"/>
                          <a:pt x="179" y="14"/>
                          <a:pt x="182" y="24"/>
                        </a:cubicBezTo>
                        <a:cubicBezTo>
                          <a:pt x="184" y="30"/>
                          <a:pt x="188" y="42"/>
                          <a:pt x="188" y="42"/>
                        </a:cubicBezTo>
                        <a:cubicBezTo>
                          <a:pt x="183" y="56"/>
                          <a:pt x="188" y="52"/>
                          <a:pt x="178" y="58"/>
                        </a:cubicBezTo>
                        <a:cubicBezTo>
                          <a:pt x="174" y="63"/>
                          <a:pt x="170" y="76"/>
                          <a:pt x="170" y="76"/>
                        </a:cubicBezTo>
                        <a:cubicBezTo>
                          <a:pt x="169" y="100"/>
                          <a:pt x="173" y="110"/>
                          <a:pt x="162" y="126"/>
                        </a:cubicBezTo>
                        <a:cubicBezTo>
                          <a:pt x="150" y="118"/>
                          <a:pt x="155" y="132"/>
                          <a:pt x="144" y="136"/>
                        </a:cubicBezTo>
                        <a:cubicBezTo>
                          <a:pt x="135" y="134"/>
                          <a:pt x="129" y="135"/>
                          <a:pt x="120" y="138"/>
                        </a:cubicBezTo>
                        <a:cubicBezTo>
                          <a:pt x="114" y="129"/>
                          <a:pt x="122" y="127"/>
                          <a:pt x="112" y="124"/>
                        </a:cubicBezTo>
                        <a:cubicBezTo>
                          <a:pt x="108" y="130"/>
                          <a:pt x="108" y="142"/>
                          <a:pt x="102" y="146"/>
                        </a:cubicBezTo>
                        <a:cubicBezTo>
                          <a:pt x="98" y="148"/>
                          <a:pt x="90" y="150"/>
                          <a:pt x="90" y="150"/>
                        </a:cubicBezTo>
                        <a:cubicBezTo>
                          <a:pt x="87" y="141"/>
                          <a:pt x="89" y="135"/>
                          <a:pt x="80" y="132"/>
                        </a:cubicBezTo>
                        <a:cubicBezTo>
                          <a:pt x="68" y="134"/>
                          <a:pt x="65" y="134"/>
                          <a:pt x="58" y="144"/>
                        </a:cubicBezTo>
                        <a:cubicBezTo>
                          <a:pt x="66" y="150"/>
                          <a:pt x="68" y="147"/>
                          <a:pt x="76" y="142"/>
                        </a:cubicBezTo>
                        <a:cubicBezTo>
                          <a:pt x="81" y="146"/>
                          <a:pt x="85" y="155"/>
                          <a:pt x="78" y="160"/>
                        </a:cubicBezTo>
                        <a:cubicBezTo>
                          <a:pt x="75" y="162"/>
                          <a:pt x="62" y="165"/>
                          <a:pt x="58" y="166"/>
                        </a:cubicBezTo>
                        <a:cubicBezTo>
                          <a:pt x="48" y="173"/>
                          <a:pt x="44" y="173"/>
                          <a:pt x="34" y="166"/>
                        </a:cubicBezTo>
                        <a:cubicBezTo>
                          <a:pt x="35" y="162"/>
                          <a:pt x="34" y="158"/>
                          <a:pt x="36" y="154"/>
                        </a:cubicBezTo>
                        <a:cubicBezTo>
                          <a:pt x="38" y="150"/>
                          <a:pt x="55" y="146"/>
                          <a:pt x="46" y="144"/>
                        </a:cubicBezTo>
                        <a:cubicBezTo>
                          <a:pt x="42" y="143"/>
                          <a:pt x="34" y="148"/>
                          <a:pt x="34" y="148"/>
                        </a:cubicBezTo>
                        <a:cubicBezTo>
                          <a:pt x="32" y="155"/>
                          <a:pt x="28" y="159"/>
                          <a:pt x="26" y="166"/>
                        </a:cubicBezTo>
                        <a:cubicBezTo>
                          <a:pt x="36" y="182"/>
                          <a:pt x="36" y="173"/>
                          <a:pt x="30" y="190"/>
                        </a:cubicBezTo>
                        <a:cubicBezTo>
                          <a:pt x="28" y="196"/>
                          <a:pt x="14" y="200"/>
                          <a:pt x="14" y="200"/>
                        </a:cubicBezTo>
                        <a:cubicBezTo>
                          <a:pt x="5" y="214"/>
                          <a:pt x="11" y="210"/>
                          <a:pt x="0" y="214"/>
                        </a:cubicBezTo>
                        <a:cubicBezTo>
                          <a:pt x="2" y="202"/>
                          <a:pt x="5" y="198"/>
                          <a:pt x="8" y="188"/>
                        </a:cubicBezTo>
                        <a:cubicBezTo>
                          <a:pt x="6" y="178"/>
                          <a:pt x="3" y="173"/>
                          <a:pt x="0" y="164"/>
                        </a:cubicBezTo>
                        <a:cubicBezTo>
                          <a:pt x="3" y="156"/>
                          <a:pt x="7" y="157"/>
                          <a:pt x="14" y="152"/>
                        </a:cubicBezTo>
                        <a:cubicBezTo>
                          <a:pt x="18" y="141"/>
                          <a:pt x="23" y="140"/>
                          <a:pt x="32" y="134"/>
                        </a:cubicBezTo>
                        <a:cubicBezTo>
                          <a:pt x="37" y="127"/>
                          <a:pt x="37" y="123"/>
                          <a:pt x="44" y="118"/>
                        </a:cubicBezTo>
                        <a:cubicBezTo>
                          <a:pt x="64" y="121"/>
                          <a:pt x="55" y="122"/>
                          <a:pt x="72" y="116"/>
                        </a:cubicBezTo>
                        <a:cubicBezTo>
                          <a:pt x="76" y="115"/>
                          <a:pt x="84" y="112"/>
                          <a:pt x="84" y="112"/>
                        </a:cubicBezTo>
                        <a:cubicBezTo>
                          <a:pt x="105" y="119"/>
                          <a:pt x="97" y="84"/>
                          <a:pt x="114" y="78"/>
                        </a:cubicBezTo>
                        <a:cubicBezTo>
                          <a:pt x="117" y="87"/>
                          <a:pt x="110" y="89"/>
                          <a:pt x="120" y="92"/>
                        </a:cubicBezTo>
                        <a:cubicBezTo>
                          <a:pt x="125" y="85"/>
                          <a:pt x="125" y="81"/>
                          <a:pt x="132" y="76"/>
                        </a:cubicBezTo>
                        <a:cubicBezTo>
                          <a:pt x="138" y="68"/>
                          <a:pt x="146" y="65"/>
                          <a:pt x="150" y="54"/>
                        </a:cubicBezTo>
                        <a:cubicBezTo>
                          <a:pt x="151" y="50"/>
                          <a:pt x="154" y="42"/>
                          <a:pt x="154" y="42"/>
                        </a:cubicBezTo>
                        <a:cubicBezTo>
                          <a:pt x="152" y="41"/>
                          <a:pt x="148" y="40"/>
                          <a:pt x="148" y="38"/>
                        </a:cubicBezTo>
                        <a:cubicBezTo>
                          <a:pt x="148" y="36"/>
                          <a:pt x="161" y="33"/>
                          <a:pt x="152" y="32"/>
                        </a:cubicBezTo>
                        <a:lnTo>
                          <a:pt x="158" y="2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1" name="Freeform 94"/>
                  <p:cNvSpPr>
                    <a:spLocks/>
                  </p:cNvSpPr>
                  <p:nvPr/>
                </p:nvSpPr>
                <p:spPr bwMode="ltGray">
                  <a:xfrm>
                    <a:off x="4709" y="340"/>
                    <a:ext cx="6" cy="4"/>
                  </a:xfrm>
                  <a:custGeom>
                    <a:avLst/>
                    <a:gdLst>
                      <a:gd name="T0" fmla="*/ 0 w 13"/>
                      <a:gd name="T1" fmla="*/ 9 h 13"/>
                      <a:gd name="T2" fmla="*/ 4 w 13"/>
                      <a:gd name="T3" fmla="*/ 13 h 13"/>
                      <a:gd name="T4" fmla="*/ 0 w 13"/>
                      <a:gd name="T5" fmla="*/ 9 h 13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3" h="13">
                        <a:moveTo>
                          <a:pt x="0" y="9"/>
                        </a:moveTo>
                        <a:cubicBezTo>
                          <a:pt x="6" y="0"/>
                          <a:pt x="13" y="7"/>
                          <a:pt x="4" y="13"/>
                        </a:cubicBezTo>
                        <a:cubicBezTo>
                          <a:pt x="0" y="6"/>
                          <a:pt x="0" y="5"/>
                          <a:pt x="0" y="9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2" name="Freeform 95"/>
                  <p:cNvSpPr>
                    <a:spLocks/>
                  </p:cNvSpPr>
                  <p:nvPr/>
                </p:nvSpPr>
                <p:spPr bwMode="ltGray">
                  <a:xfrm>
                    <a:off x="4261" y="389"/>
                    <a:ext cx="347" cy="189"/>
                  </a:xfrm>
                  <a:custGeom>
                    <a:avLst/>
                    <a:gdLst>
                      <a:gd name="T0" fmla="*/ 812 w 812"/>
                      <a:gd name="T1" fmla="*/ 26 h 564"/>
                      <a:gd name="T2" fmla="*/ 778 w 812"/>
                      <a:gd name="T3" fmla="*/ 78 h 564"/>
                      <a:gd name="T4" fmla="*/ 748 w 812"/>
                      <a:gd name="T5" fmla="*/ 122 h 564"/>
                      <a:gd name="T6" fmla="*/ 722 w 812"/>
                      <a:gd name="T7" fmla="*/ 142 h 564"/>
                      <a:gd name="T8" fmla="*/ 634 w 812"/>
                      <a:gd name="T9" fmla="*/ 180 h 564"/>
                      <a:gd name="T10" fmla="*/ 632 w 812"/>
                      <a:gd name="T11" fmla="*/ 210 h 564"/>
                      <a:gd name="T12" fmla="*/ 604 w 812"/>
                      <a:gd name="T13" fmla="*/ 230 h 564"/>
                      <a:gd name="T14" fmla="*/ 620 w 812"/>
                      <a:gd name="T15" fmla="*/ 178 h 564"/>
                      <a:gd name="T16" fmla="*/ 576 w 812"/>
                      <a:gd name="T17" fmla="*/ 188 h 564"/>
                      <a:gd name="T18" fmla="*/ 556 w 812"/>
                      <a:gd name="T19" fmla="*/ 218 h 564"/>
                      <a:gd name="T20" fmla="*/ 596 w 812"/>
                      <a:gd name="T21" fmla="*/ 280 h 564"/>
                      <a:gd name="T22" fmla="*/ 594 w 812"/>
                      <a:gd name="T23" fmla="*/ 368 h 564"/>
                      <a:gd name="T24" fmla="*/ 542 w 812"/>
                      <a:gd name="T25" fmla="*/ 406 h 564"/>
                      <a:gd name="T26" fmla="*/ 522 w 812"/>
                      <a:gd name="T27" fmla="*/ 386 h 564"/>
                      <a:gd name="T28" fmla="*/ 482 w 812"/>
                      <a:gd name="T29" fmla="*/ 348 h 564"/>
                      <a:gd name="T30" fmla="*/ 462 w 812"/>
                      <a:gd name="T31" fmla="*/ 348 h 564"/>
                      <a:gd name="T32" fmla="*/ 450 w 812"/>
                      <a:gd name="T33" fmla="*/ 394 h 564"/>
                      <a:gd name="T34" fmla="*/ 500 w 812"/>
                      <a:gd name="T35" fmla="*/ 464 h 564"/>
                      <a:gd name="T36" fmla="*/ 510 w 812"/>
                      <a:gd name="T37" fmla="*/ 524 h 564"/>
                      <a:gd name="T38" fmla="*/ 526 w 812"/>
                      <a:gd name="T39" fmla="*/ 560 h 564"/>
                      <a:gd name="T40" fmla="*/ 492 w 812"/>
                      <a:gd name="T41" fmla="*/ 544 h 564"/>
                      <a:gd name="T42" fmla="*/ 470 w 812"/>
                      <a:gd name="T43" fmla="*/ 518 h 564"/>
                      <a:gd name="T44" fmla="*/ 422 w 812"/>
                      <a:gd name="T45" fmla="*/ 424 h 564"/>
                      <a:gd name="T46" fmla="*/ 426 w 812"/>
                      <a:gd name="T47" fmla="*/ 310 h 564"/>
                      <a:gd name="T48" fmla="*/ 422 w 812"/>
                      <a:gd name="T49" fmla="*/ 268 h 564"/>
                      <a:gd name="T50" fmla="*/ 412 w 812"/>
                      <a:gd name="T51" fmla="*/ 276 h 564"/>
                      <a:gd name="T52" fmla="*/ 386 w 812"/>
                      <a:gd name="T53" fmla="*/ 266 h 564"/>
                      <a:gd name="T54" fmla="*/ 360 w 812"/>
                      <a:gd name="T55" fmla="*/ 170 h 564"/>
                      <a:gd name="T56" fmla="*/ 330 w 812"/>
                      <a:gd name="T57" fmla="*/ 166 h 564"/>
                      <a:gd name="T58" fmla="*/ 288 w 812"/>
                      <a:gd name="T59" fmla="*/ 172 h 564"/>
                      <a:gd name="T60" fmla="*/ 242 w 812"/>
                      <a:gd name="T61" fmla="*/ 232 h 564"/>
                      <a:gd name="T62" fmla="*/ 196 w 812"/>
                      <a:gd name="T63" fmla="*/ 268 h 564"/>
                      <a:gd name="T64" fmla="*/ 184 w 812"/>
                      <a:gd name="T65" fmla="*/ 274 h 564"/>
                      <a:gd name="T66" fmla="*/ 160 w 812"/>
                      <a:gd name="T67" fmla="*/ 328 h 564"/>
                      <a:gd name="T68" fmla="*/ 152 w 812"/>
                      <a:gd name="T69" fmla="*/ 354 h 564"/>
                      <a:gd name="T70" fmla="*/ 128 w 812"/>
                      <a:gd name="T71" fmla="*/ 404 h 564"/>
                      <a:gd name="T72" fmla="*/ 94 w 812"/>
                      <a:gd name="T73" fmla="*/ 392 h 564"/>
                      <a:gd name="T74" fmla="*/ 66 w 812"/>
                      <a:gd name="T75" fmla="*/ 258 h 564"/>
                      <a:gd name="T76" fmla="*/ 72 w 812"/>
                      <a:gd name="T77" fmla="*/ 156 h 564"/>
                      <a:gd name="T78" fmla="*/ 44 w 812"/>
                      <a:gd name="T79" fmla="*/ 180 h 564"/>
                      <a:gd name="T80" fmla="*/ 20 w 812"/>
                      <a:gd name="T81" fmla="*/ 150 h 564"/>
                      <a:gd name="T82" fmla="*/ 24 w 812"/>
                      <a:gd name="T83" fmla="*/ 138 h 564"/>
                      <a:gd name="T84" fmla="*/ 0 w 812"/>
                      <a:gd name="T85" fmla="*/ 92 h 564"/>
                      <a:gd name="T86" fmla="*/ 798 w 812"/>
                      <a:gd name="T87" fmla="*/ 6 h 564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</a:gdLst>
                    <a:ahLst/>
                    <a:cxnLst>
                      <a:cxn ang="T88">
                        <a:pos x="T0" y="T1"/>
                      </a:cxn>
                      <a:cxn ang="T89">
                        <a:pos x="T2" y="T3"/>
                      </a:cxn>
                      <a:cxn ang="T90">
                        <a:pos x="T4" y="T5"/>
                      </a:cxn>
                      <a:cxn ang="T91">
                        <a:pos x="T6" y="T7"/>
                      </a:cxn>
                      <a:cxn ang="T92">
                        <a:pos x="T8" y="T9"/>
                      </a:cxn>
                      <a:cxn ang="T93">
                        <a:pos x="T10" y="T11"/>
                      </a:cxn>
                      <a:cxn ang="T94">
                        <a:pos x="T12" y="T13"/>
                      </a:cxn>
                      <a:cxn ang="T95">
                        <a:pos x="T14" y="T15"/>
                      </a:cxn>
                      <a:cxn ang="T96">
                        <a:pos x="T16" y="T17"/>
                      </a:cxn>
                      <a:cxn ang="T97">
                        <a:pos x="T18" y="T19"/>
                      </a:cxn>
                      <a:cxn ang="T98">
                        <a:pos x="T20" y="T21"/>
                      </a:cxn>
                      <a:cxn ang="T99">
                        <a:pos x="T22" y="T23"/>
                      </a:cxn>
                      <a:cxn ang="T100">
                        <a:pos x="T24" y="T25"/>
                      </a:cxn>
                      <a:cxn ang="T101">
                        <a:pos x="T26" y="T27"/>
                      </a:cxn>
                      <a:cxn ang="T102">
                        <a:pos x="T28" y="T29"/>
                      </a:cxn>
                      <a:cxn ang="T103">
                        <a:pos x="T30" y="T31"/>
                      </a:cxn>
                      <a:cxn ang="T104">
                        <a:pos x="T32" y="T33"/>
                      </a:cxn>
                      <a:cxn ang="T105">
                        <a:pos x="T34" y="T35"/>
                      </a:cxn>
                      <a:cxn ang="T106">
                        <a:pos x="T36" y="T37"/>
                      </a:cxn>
                      <a:cxn ang="T107">
                        <a:pos x="T38" y="T39"/>
                      </a:cxn>
                      <a:cxn ang="T108">
                        <a:pos x="T40" y="T41"/>
                      </a:cxn>
                      <a:cxn ang="T109">
                        <a:pos x="T42" y="T43"/>
                      </a:cxn>
                      <a:cxn ang="T110">
                        <a:pos x="T44" y="T45"/>
                      </a:cxn>
                      <a:cxn ang="T111">
                        <a:pos x="T46" y="T47"/>
                      </a:cxn>
                      <a:cxn ang="T112">
                        <a:pos x="T48" y="T49"/>
                      </a:cxn>
                      <a:cxn ang="T113">
                        <a:pos x="T50" y="T51"/>
                      </a:cxn>
                      <a:cxn ang="T114">
                        <a:pos x="T52" y="T53"/>
                      </a:cxn>
                      <a:cxn ang="T115">
                        <a:pos x="T54" y="T55"/>
                      </a:cxn>
                      <a:cxn ang="T116">
                        <a:pos x="T56" y="T57"/>
                      </a:cxn>
                      <a:cxn ang="T117">
                        <a:pos x="T58" y="T59"/>
                      </a:cxn>
                      <a:cxn ang="T118">
                        <a:pos x="T60" y="T61"/>
                      </a:cxn>
                      <a:cxn ang="T119">
                        <a:pos x="T62" y="T63"/>
                      </a:cxn>
                      <a:cxn ang="T120">
                        <a:pos x="T64" y="T65"/>
                      </a:cxn>
                      <a:cxn ang="T121">
                        <a:pos x="T66" y="T67"/>
                      </a:cxn>
                      <a:cxn ang="T122">
                        <a:pos x="T68" y="T69"/>
                      </a:cxn>
                      <a:cxn ang="T123">
                        <a:pos x="T70" y="T71"/>
                      </a:cxn>
                      <a:cxn ang="T124">
                        <a:pos x="T72" y="T73"/>
                      </a:cxn>
                      <a:cxn ang="T125">
                        <a:pos x="T74" y="T75"/>
                      </a:cxn>
                      <a:cxn ang="T126">
                        <a:pos x="T76" y="T77"/>
                      </a:cxn>
                      <a:cxn ang="T127">
                        <a:pos x="T78" y="T79"/>
                      </a:cxn>
                      <a:cxn ang="T128">
                        <a:pos x="T80" y="T81"/>
                      </a:cxn>
                      <a:cxn ang="T129">
                        <a:pos x="T82" y="T83"/>
                      </a:cxn>
                      <a:cxn ang="T130">
                        <a:pos x="T84" y="T85"/>
                      </a:cxn>
                      <a:cxn ang="T131">
                        <a:pos x="T86" y="T87"/>
                      </a:cxn>
                    </a:cxnLst>
                    <a:rect l="0" t="0" r="r" b="b"/>
                    <a:pathLst>
                      <a:path w="812" h="564">
                        <a:moveTo>
                          <a:pt x="798" y="6"/>
                        </a:moveTo>
                        <a:cubicBezTo>
                          <a:pt x="801" y="15"/>
                          <a:pt x="809" y="16"/>
                          <a:pt x="812" y="26"/>
                        </a:cubicBezTo>
                        <a:cubicBezTo>
                          <a:pt x="809" y="36"/>
                          <a:pt x="801" y="41"/>
                          <a:pt x="796" y="50"/>
                        </a:cubicBezTo>
                        <a:cubicBezTo>
                          <a:pt x="791" y="61"/>
                          <a:pt x="788" y="71"/>
                          <a:pt x="778" y="78"/>
                        </a:cubicBezTo>
                        <a:cubicBezTo>
                          <a:pt x="773" y="85"/>
                          <a:pt x="771" y="88"/>
                          <a:pt x="774" y="96"/>
                        </a:cubicBezTo>
                        <a:cubicBezTo>
                          <a:pt x="767" y="107"/>
                          <a:pt x="758" y="114"/>
                          <a:pt x="748" y="122"/>
                        </a:cubicBezTo>
                        <a:cubicBezTo>
                          <a:pt x="744" y="125"/>
                          <a:pt x="736" y="130"/>
                          <a:pt x="736" y="130"/>
                        </a:cubicBezTo>
                        <a:cubicBezTo>
                          <a:pt x="740" y="141"/>
                          <a:pt x="731" y="140"/>
                          <a:pt x="722" y="142"/>
                        </a:cubicBezTo>
                        <a:cubicBezTo>
                          <a:pt x="716" y="148"/>
                          <a:pt x="712" y="151"/>
                          <a:pt x="704" y="154"/>
                        </a:cubicBezTo>
                        <a:cubicBezTo>
                          <a:pt x="686" y="150"/>
                          <a:pt x="650" y="169"/>
                          <a:pt x="634" y="180"/>
                        </a:cubicBezTo>
                        <a:cubicBezTo>
                          <a:pt x="636" y="189"/>
                          <a:pt x="631" y="193"/>
                          <a:pt x="640" y="196"/>
                        </a:cubicBezTo>
                        <a:cubicBezTo>
                          <a:pt x="643" y="205"/>
                          <a:pt x="640" y="207"/>
                          <a:pt x="632" y="210"/>
                        </a:cubicBezTo>
                        <a:cubicBezTo>
                          <a:pt x="626" y="219"/>
                          <a:pt x="623" y="226"/>
                          <a:pt x="614" y="232"/>
                        </a:cubicBezTo>
                        <a:cubicBezTo>
                          <a:pt x="611" y="231"/>
                          <a:pt x="606" y="233"/>
                          <a:pt x="604" y="230"/>
                        </a:cubicBezTo>
                        <a:cubicBezTo>
                          <a:pt x="599" y="220"/>
                          <a:pt x="610" y="199"/>
                          <a:pt x="620" y="196"/>
                        </a:cubicBezTo>
                        <a:cubicBezTo>
                          <a:pt x="623" y="187"/>
                          <a:pt x="617" y="187"/>
                          <a:pt x="620" y="178"/>
                        </a:cubicBezTo>
                        <a:cubicBezTo>
                          <a:pt x="617" y="164"/>
                          <a:pt x="609" y="168"/>
                          <a:pt x="598" y="172"/>
                        </a:cubicBezTo>
                        <a:cubicBezTo>
                          <a:pt x="592" y="180"/>
                          <a:pt x="585" y="185"/>
                          <a:pt x="576" y="188"/>
                        </a:cubicBezTo>
                        <a:cubicBezTo>
                          <a:pt x="572" y="194"/>
                          <a:pt x="568" y="200"/>
                          <a:pt x="564" y="206"/>
                        </a:cubicBezTo>
                        <a:cubicBezTo>
                          <a:pt x="561" y="210"/>
                          <a:pt x="556" y="218"/>
                          <a:pt x="556" y="218"/>
                        </a:cubicBezTo>
                        <a:cubicBezTo>
                          <a:pt x="558" y="234"/>
                          <a:pt x="559" y="243"/>
                          <a:pt x="572" y="252"/>
                        </a:cubicBezTo>
                        <a:cubicBezTo>
                          <a:pt x="579" y="262"/>
                          <a:pt x="586" y="273"/>
                          <a:pt x="596" y="280"/>
                        </a:cubicBezTo>
                        <a:cubicBezTo>
                          <a:pt x="598" y="286"/>
                          <a:pt x="602" y="298"/>
                          <a:pt x="602" y="298"/>
                        </a:cubicBezTo>
                        <a:cubicBezTo>
                          <a:pt x="601" y="308"/>
                          <a:pt x="599" y="361"/>
                          <a:pt x="594" y="368"/>
                        </a:cubicBezTo>
                        <a:cubicBezTo>
                          <a:pt x="590" y="374"/>
                          <a:pt x="576" y="378"/>
                          <a:pt x="570" y="382"/>
                        </a:cubicBezTo>
                        <a:cubicBezTo>
                          <a:pt x="563" y="393"/>
                          <a:pt x="550" y="396"/>
                          <a:pt x="542" y="406"/>
                        </a:cubicBezTo>
                        <a:cubicBezTo>
                          <a:pt x="536" y="413"/>
                          <a:pt x="539" y="417"/>
                          <a:pt x="530" y="420"/>
                        </a:cubicBezTo>
                        <a:cubicBezTo>
                          <a:pt x="526" y="408"/>
                          <a:pt x="538" y="391"/>
                          <a:pt x="522" y="386"/>
                        </a:cubicBezTo>
                        <a:cubicBezTo>
                          <a:pt x="516" y="377"/>
                          <a:pt x="510" y="364"/>
                          <a:pt x="502" y="356"/>
                        </a:cubicBezTo>
                        <a:cubicBezTo>
                          <a:pt x="497" y="341"/>
                          <a:pt x="505" y="360"/>
                          <a:pt x="482" y="348"/>
                        </a:cubicBezTo>
                        <a:cubicBezTo>
                          <a:pt x="478" y="346"/>
                          <a:pt x="478" y="339"/>
                          <a:pt x="474" y="336"/>
                        </a:cubicBezTo>
                        <a:cubicBezTo>
                          <a:pt x="470" y="323"/>
                          <a:pt x="466" y="342"/>
                          <a:pt x="462" y="348"/>
                        </a:cubicBezTo>
                        <a:cubicBezTo>
                          <a:pt x="460" y="358"/>
                          <a:pt x="456" y="363"/>
                          <a:pt x="454" y="374"/>
                        </a:cubicBezTo>
                        <a:cubicBezTo>
                          <a:pt x="457" y="383"/>
                          <a:pt x="455" y="387"/>
                          <a:pt x="450" y="394"/>
                        </a:cubicBezTo>
                        <a:cubicBezTo>
                          <a:pt x="454" y="399"/>
                          <a:pt x="464" y="411"/>
                          <a:pt x="466" y="418"/>
                        </a:cubicBezTo>
                        <a:cubicBezTo>
                          <a:pt x="474" y="443"/>
                          <a:pt x="472" y="458"/>
                          <a:pt x="500" y="464"/>
                        </a:cubicBezTo>
                        <a:cubicBezTo>
                          <a:pt x="507" y="469"/>
                          <a:pt x="510" y="474"/>
                          <a:pt x="516" y="480"/>
                        </a:cubicBezTo>
                        <a:cubicBezTo>
                          <a:pt x="511" y="494"/>
                          <a:pt x="513" y="509"/>
                          <a:pt x="510" y="524"/>
                        </a:cubicBezTo>
                        <a:cubicBezTo>
                          <a:pt x="512" y="537"/>
                          <a:pt x="511" y="541"/>
                          <a:pt x="522" y="548"/>
                        </a:cubicBezTo>
                        <a:cubicBezTo>
                          <a:pt x="523" y="552"/>
                          <a:pt x="525" y="556"/>
                          <a:pt x="526" y="560"/>
                        </a:cubicBezTo>
                        <a:cubicBezTo>
                          <a:pt x="527" y="564"/>
                          <a:pt x="514" y="556"/>
                          <a:pt x="514" y="556"/>
                        </a:cubicBezTo>
                        <a:cubicBezTo>
                          <a:pt x="502" y="564"/>
                          <a:pt x="501" y="551"/>
                          <a:pt x="492" y="544"/>
                        </a:cubicBezTo>
                        <a:cubicBezTo>
                          <a:pt x="488" y="541"/>
                          <a:pt x="480" y="536"/>
                          <a:pt x="480" y="536"/>
                        </a:cubicBezTo>
                        <a:cubicBezTo>
                          <a:pt x="471" y="522"/>
                          <a:pt x="474" y="529"/>
                          <a:pt x="470" y="518"/>
                        </a:cubicBezTo>
                        <a:cubicBezTo>
                          <a:pt x="467" y="491"/>
                          <a:pt x="461" y="446"/>
                          <a:pt x="436" y="430"/>
                        </a:cubicBezTo>
                        <a:cubicBezTo>
                          <a:pt x="428" y="433"/>
                          <a:pt x="425" y="433"/>
                          <a:pt x="422" y="424"/>
                        </a:cubicBezTo>
                        <a:cubicBezTo>
                          <a:pt x="427" y="404"/>
                          <a:pt x="432" y="383"/>
                          <a:pt x="438" y="364"/>
                        </a:cubicBezTo>
                        <a:cubicBezTo>
                          <a:pt x="436" y="343"/>
                          <a:pt x="431" y="330"/>
                          <a:pt x="426" y="310"/>
                        </a:cubicBezTo>
                        <a:cubicBezTo>
                          <a:pt x="429" y="302"/>
                          <a:pt x="425" y="300"/>
                          <a:pt x="422" y="292"/>
                        </a:cubicBezTo>
                        <a:cubicBezTo>
                          <a:pt x="424" y="282"/>
                          <a:pt x="428" y="277"/>
                          <a:pt x="422" y="268"/>
                        </a:cubicBezTo>
                        <a:cubicBezTo>
                          <a:pt x="420" y="269"/>
                          <a:pt x="418" y="269"/>
                          <a:pt x="416" y="270"/>
                        </a:cubicBezTo>
                        <a:cubicBezTo>
                          <a:pt x="414" y="272"/>
                          <a:pt x="414" y="275"/>
                          <a:pt x="412" y="276"/>
                        </a:cubicBezTo>
                        <a:cubicBezTo>
                          <a:pt x="408" y="278"/>
                          <a:pt x="400" y="280"/>
                          <a:pt x="400" y="280"/>
                        </a:cubicBezTo>
                        <a:cubicBezTo>
                          <a:pt x="394" y="274"/>
                          <a:pt x="389" y="274"/>
                          <a:pt x="386" y="266"/>
                        </a:cubicBezTo>
                        <a:cubicBezTo>
                          <a:pt x="391" y="251"/>
                          <a:pt x="379" y="206"/>
                          <a:pt x="364" y="196"/>
                        </a:cubicBezTo>
                        <a:cubicBezTo>
                          <a:pt x="357" y="186"/>
                          <a:pt x="358" y="182"/>
                          <a:pt x="360" y="170"/>
                        </a:cubicBezTo>
                        <a:cubicBezTo>
                          <a:pt x="358" y="160"/>
                          <a:pt x="356" y="147"/>
                          <a:pt x="346" y="144"/>
                        </a:cubicBezTo>
                        <a:cubicBezTo>
                          <a:pt x="343" y="154"/>
                          <a:pt x="338" y="160"/>
                          <a:pt x="330" y="166"/>
                        </a:cubicBezTo>
                        <a:cubicBezTo>
                          <a:pt x="323" y="164"/>
                          <a:pt x="308" y="160"/>
                          <a:pt x="308" y="160"/>
                        </a:cubicBezTo>
                        <a:cubicBezTo>
                          <a:pt x="296" y="162"/>
                          <a:pt x="297" y="166"/>
                          <a:pt x="288" y="172"/>
                        </a:cubicBezTo>
                        <a:cubicBezTo>
                          <a:pt x="284" y="185"/>
                          <a:pt x="282" y="191"/>
                          <a:pt x="268" y="196"/>
                        </a:cubicBezTo>
                        <a:cubicBezTo>
                          <a:pt x="264" y="200"/>
                          <a:pt x="243" y="231"/>
                          <a:pt x="242" y="232"/>
                        </a:cubicBezTo>
                        <a:cubicBezTo>
                          <a:pt x="231" y="239"/>
                          <a:pt x="215" y="247"/>
                          <a:pt x="206" y="256"/>
                        </a:cubicBezTo>
                        <a:cubicBezTo>
                          <a:pt x="202" y="260"/>
                          <a:pt x="200" y="265"/>
                          <a:pt x="196" y="268"/>
                        </a:cubicBezTo>
                        <a:cubicBezTo>
                          <a:pt x="194" y="269"/>
                          <a:pt x="192" y="269"/>
                          <a:pt x="190" y="270"/>
                        </a:cubicBezTo>
                        <a:cubicBezTo>
                          <a:pt x="188" y="271"/>
                          <a:pt x="186" y="272"/>
                          <a:pt x="184" y="274"/>
                        </a:cubicBezTo>
                        <a:cubicBezTo>
                          <a:pt x="180" y="278"/>
                          <a:pt x="172" y="286"/>
                          <a:pt x="172" y="286"/>
                        </a:cubicBezTo>
                        <a:cubicBezTo>
                          <a:pt x="167" y="300"/>
                          <a:pt x="165" y="314"/>
                          <a:pt x="160" y="328"/>
                        </a:cubicBezTo>
                        <a:cubicBezTo>
                          <a:pt x="158" y="335"/>
                          <a:pt x="156" y="341"/>
                          <a:pt x="154" y="348"/>
                        </a:cubicBezTo>
                        <a:cubicBezTo>
                          <a:pt x="153" y="350"/>
                          <a:pt x="152" y="354"/>
                          <a:pt x="152" y="354"/>
                        </a:cubicBezTo>
                        <a:cubicBezTo>
                          <a:pt x="152" y="359"/>
                          <a:pt x="156" y="384"/>
                          <a:pt x="146" y="392"/>
                        </a:cubicBezTo>
                        <a:cubicBezTo>
                          <a:pt x="141" y="397"/>
                          <a:pt x="128" y="404"/>
                          <a:pt x="128" y="404"/>
                        </a:cubicBezTo>
                        <a:cubicBezTo>
                          <a:pt x="125" y="412"/>
                          <a:pt x="122" y="421"/>
                          <a:pt x="114" y="424"/>
                        </a:cubicBezTo>
                        <a:cubicBezTo>
                          <a:pt x="100" y="419"/>
                          <a:pt x="97" y="405"/>
                          <a:pt x="94" y="392"/>
                        </a:cubicBezTo>
                        <a:cubicBezTo>
                          <a:pt x="86" y="362"/>
                          <a:pt x="82" y="332"/>
                          <a:pt x="72" y="302"/>
                        </a:cubicBezTo>
                        <a:cubicBezTo>
                          <a:pt x="71" y="281"/>
                          <a:pt x="70" y="275"/>
                          <a:pt x="66" y="258"/>
                        </a:cubicBezTo>
                        <a:cubicBezTo>
                          <a:pt x="66" y="251"/>
                          <a:pt x="68" y="219"/>
                          <a:pt x="64" y="208"/>
                        </a:cubicBezTo>
                        <a:cubicBezTo>
                          <a:pt x="70" y="191"/>
                          <a:pt x="66" y="173"/>
                          <a:pt x="72" y="156"/>
                        </a:cubicBezTo>
                        <a:cubicBezTo>
                          <a:pt x="66" y="139"/>
                          <a:pt x="60" y="168"/>
                          <a:pt x="56" y="172"/>
                        </a:cubicBezTo>
                        <a:cubicBezTo>
                          <a:pt x="53" y="175"/>
                          <a:pt x="44" y="180"/>
                          <a:pt x="44" y="180"/>
                        </a:cubicBezTo>
                        <a:cubicBezTo>
                          <a:pt x="35" y="177"/>
                          <a:pt x="28" y="173"/>
                          <a:pt x="24" y="162"/>
                        </a:cubicBezTo>
                        <a:cubicBezTo>
                          <a:pt x="23" y="158"/>
                          <a:pt x="20" y="150"/>
                          <a:pt x="20" y="150"/>
                        </a:cubicBezTo>
                        <a:cubicBezTo>
                          <a:pt x="30" y="148"/>
                          <a:pt x="30" y="143"/>
                          <a:pt x="38" y="138"/>
                        </a:cubicBezTo>
                        <a:cubicBezTo>
                          <a:pt x="35" y="128"/>
                          <a:pt x="31" y="133"/>
                          <a:pt x="24" y="138"/>
                        </a:cubicBezTo>
                        <a:cubicBezTo>
                          <a:pt x="15" y="135"/>
                          <a:pt x="15" y="132"/>
                          <a:pt x="18" y="124"/>
                        </a:cubicBezTo>
                        <a:cubicBezTo>
                          <a:pt x="11" y="114"/>
                          <a:pt x="9" y="101"/>
                          <a:pt x="0" y="92"/>
                        </a:cubicBezTo>
                        <a:lnTo>
                          <a:pt x="76" y="0"/>
                        </a:lnTo>
                        <a:lnTo>
                          <a:pt x="798" y="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3" name="Freeform 96"/>
                  <p:cNvSpPr>
                    <a:spLocks/>
                  </p:cNvSpPr>
                  <p:nvPr/>
                </p:nvSpPr>
                <p:spPr bwMode="ltGray">
                  <a:xfrm>
                    <a:off x="4322" y="519"/>
                    <a:ext cx="19" cy="29"/>
                  </a:xfrm>
                  <a:custGeom>
                    <a:avLst/>
                    <a:gdLst>
                      <a:gd name="T0" fmla="*/ 7 w 43"/>
                      <a:gd name="T1" fmla="*/ 11 h 85"/>
                      <a:gd name="T2" fmla="*/ 17 w 43"/>
                      <a:gd name="T3" fmla="*/ 3 h 85"/>
                      <a:gd name="T4" fmla="*/ 37 w 43"/>
                      <a:gd name="T5" fmla="*/ 33 h 85"/>
                      <a:gd name="T6" fmla="*/ 19 w 43"/>
                      <a:gd name="T7" fmla="*/ 85 h 85"/>
                      <a:gd name="T8" fmla="*/ 1 w 43"/>
                      <a:gd name="T9" fmla="*/ 69 h 85"/>
                      <a:gd name="T10" fmla="*/ 7 w 43"/>
                      <a:gd name="T11" fmla="*/ 11 h 85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0" t="0" r="r" b="b"/>
                    <a:pathLst>
                      <a:path w="43" h="85">
                        <a:moveTo>
                          <a:pt x="7" y="11"/>
                        </a:moveTo>
                        <a:cubicBezTo>
                          <a:pt x="4" y="2"/>
                          <a:pt x="9" y="0"/>
                          <a:pt x="17" y="3"/>
                        </a:cubicBezTo>
                        <a:cubicBezTo>
                          <a:pt x="24" y="13"/>
                          <a:pt x="28" y="24"/>
                          <a:pt x="37" y="33"/>
                        </a:cubicBezTo>
                        <a:cubicBezTo>
                          <a:pt x="43" y="52"/>
                          <a:pt x="40" y="78"/>
                          <a:pt x="19" y="85"/>
                        </a:cubicBezTo>
                        <a:cubicBezTo>
                          <a:pt x="6" y="81"/>
                          <a:pt x="5" y="81"/>
                          <a:pt x="1" y="69"/>
                        </a:cubicBezTo>
                        <a:cubicBezTo>
                          <a:pt x="2" y="66"/>
                          <a:pt x="0" y="4"/>
                          <a:pt x="7" y="1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4" name="Freeform 97"/>
                  <p:cNvSpPr>
                    <a:spLocks/>
                  </p:cNvSpPr>
                  <p:nvPr/>
                </p:nvSpPr>
                <p:spPr bwMode="ltGray">
                  <a:xfrm>
                    <a:off x="4588" y="421"/>
                    <a:ext cx="18" cy="24"/>
                  </a:xfrm>
                  <a:custGeom>
                    <a:avLst/>
                    <a:gdLst>
                      <a:gd name="T0" fmla="*/ 13 w 44"/>
                      <a:gd name="T1" fmla="*/ 28 h 74"/>
                      <a:gd name="T2" fmla="*/ 29 w 44"/>
                      <a:gd name="T3" fmla="*/ 2 h 74"/>
                      <a:gd name="T4" fmla="*/ 43 w 44"/>
                      <a:gd name="T5" fmla="*/ 4 h 74"/>
                      <a:gd name="T6" fmla="*/ 39 w 44"/>
                      <a:gd name="T7" fmla="*/ 26 h 74"/>
                      <a:gd name="T8" fmla="*/ 13 w 44"/>
                      <a:gd name="T9" fmla="*/ 74 h 74"/>
                      <a:gd name="T10" fmla="*/ 7 w 44"/>
                      <a:gd name="T11" fmla="*/ 60 h 74"/>
                      <a:gd name="T12" fmla="*/ 3 w 44"/>
                      <a:gd name="T13" fmla="*/ 36 h 74"/>
                      <a:gd name="T14" fmla="*/ 13 w 44"/>
                      <a:gd name="T15" fmla="*/ 28 h 74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0" t="0" r="r" b="b"/>
                    <a:pathLst>
                      <a:path w="44" h="74">
                        <a:moveTo>
                          <a:pt x="13" y="28"/>
                        </a:moveTo>
                        <a:cubicBezTo>
                          <a:pt x="15" y="13"/>
                          <a:pt x="14" y="7"/>
                          <a:pt x="29" y="2"/>
                        </a:cubicBezTo>
                        <a:cubicBezTo>
                          <a:pt x="34" y="3"/>
                          <a:pt x="40" y="0"/>
                          <a:pt x="43" y="4"/>
                        </a:cubicBezTo>
                        <a:cubicBezTo>
                          <a:pt x="44" y="6"/>
                          <a:pt x="41" y="21"/>
                          <a:pt x="39" y="26"/>
                        </a:cubicBezTo>
                        <a:cubicBezTo>
                          <a:pt x="31" y="43"/>
                          <a:pt x="30" y="63"/>
                          <a:pt x="13" y="74"/>
                        </a:cubicBezTo>
                        <a:cubicBezTo>
                          <a:pt x="4" y="71"/>
                          <a:pt x="4" y="68"/>
                          <a:pt x="7" y="60"/>
                        </a:cubicBezTo>
                        <a:cubicBezTo>
                          <a:pt x="5" y="50"/>
                          <a:pt x="0" y="46"/>
                          <a:pt x="3" y="36"/>
                        </a:cubicBezTo>
                        <a:cubicBezTo>
                          <a:pt x="4" y="32"/>
                          <a:pt x="8" y="23"/>
                          <a:pt x="1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5" name="Freeform 98"/>
                  <p:cNvSpPr>
                    <a:spLocks/>
                  </p:cNvSpPr>
                  <p:nvPr/>
                </p:nvSpPr>
                <p:spPr bwMode="ltGray">
                  <a:xfrm>
                    <a:off x="4639" y="409"/>
                    <a:ext cx="9" cy="10"/>
                  </a:xfrm>
                  <a:custGeom>
                    <a:avLst/>
                    <a:gdLst>
                      <a:gd name="T0" fmla="*/ 7 w 20"/>
                      <a:gd name="T1" fmla="*/ 16 h 30"/>
                      <a:gd name="T2" fmla="*/ 5 w 20"/>
                      <a:gd name="T3" fmla="*/ 30 h 30"/>
                      <a:gd name="T4" fmla="*/ 7 w 20"/>
                      <a:gd name="T5" fmla="*/ 16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20" h="30">
                        <a:moveTo>
                          <a:pt x="7" y="16"/>
                        </a:moveTo>
                        <a:cubicBezTo>
                          <a:pt x="18" y="0"/>
                          <a:pt x="20" y="20"/>
                          <a:pt x="5" y="30"/>
                        </a:cubicBezTo>
                        <a:cubicBezTo>
                          <a:pt x="0" y="23"/>
                          <a:pt x="1" y="22"/>
                          <a:pt x="7" y="16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6" name="Freeform 99"/>
                  <p:cNvSpPr>
                    <a:spLocks/>
                  </p:cNvSpPr>
                  <p:nvPr/>
                </p:nvSpPr>
                <p:spPr bwMode="ltGray">
                  <a:xfrm>
                    <a:off x="3709" y="315"/>
                    <a:ext cx="433" cy="354"/>
                  </a:xfrm>
                  <a:custGeom>
                    <a:avLst/>
                    <a:gdLst>
                      <a:gd name="T0" fmla="*/ 481 w 682"/>
                      <a:gd name="T1" fmla="*/ 464 h 557"/>
                      <a:gd name="T2" fmla="*/ 486 w 682"/>
                      <a:gd name="T3" fmla="*/ 451 h 557"/>
                      <a:gd name="T4" fmla="*/ 500 w 682"/>
                      <a:gd name="T5" fmla="*/ 413 h 557"/>
                      <a:gd name="T6" fmla="*/ 309 w 682"/>
                      <a:gd name="T7" fmla="*/ 287 h 557"/>
                      <a:gd name="T8" fmla="*/ 282 w 682"/>
                      <a:gd name="T9" fmla="*/ 346 h 557"/>
                      <a:gd name="T10" fmla="*/ 303 w 682"/>
                      <a:gd name="T11" fmla="*/ 556 h 557"/>
                      <a:gd name="T12" fmla="*/ 282 w 682"/>
                      <a:gd name="T13" fmla="*/ 494 h 557"/>
                      <a:gd name="T14" fmla="*/ 242 w 682"/>
                      <a:gd name="T15" fmla="*/ 439 h 557"/>
                      <a:gd name="T16" fmla="*/ 245 w 682"/>
                      <a:gd name="T17" fmla="*/ 413 h 557"/>
                      <a:gd name="T18" fmla="*/ 247 w 682"/>
                      <a:gd name="T19" fmla="*/ 394 h 557"/>
                      <a:gd name="T20" fmla="*/ 220 w 682"/>
                      <a:gd name="T21" fmla="*/ 375 h 557"/>
                      <a:gd name="T22" fmla="*/ 194 w 682"/>
                      <a:gd name="T23" fmla="*/ 346 h 557"/>
                      <a:gd name="T24" fmla="*/ 148 w 682"/>
                      <a:gd name="T25" fmla="*/ 354 h 557"/>
                      <a:gd name="T26" fmla="*/ 126 w 682"/>
                      <a:gd name="T27" fmla="*/ 365 h 557"/>
                      <a:gd name="T28" fmla="*/ 78 w 682"/>
                      <a:gd name="T29" fmla="*/ 365 h 557"/>
                      <a:gd name="T30" fmla="*/ 22 w 682"/>
                      <a:gd name="T31" fmla="*/ 312 h 557"/>
                      <a:gd name="T32" fmla="*/ 11 w 682"/>
                      <a:gd name="T33" fmla="*/ 295 h 557"/>
                      <a:gd name="T34" fmla="*/ 0 w 682"/>
                      <a:gd name="T35" fmla="*/ 264 h 557"/>
                      <a:gd name="T36" fmla="*/ 24 w 682"/>
                      <a:gd name="T37" fmla="*/ 213 h 557"/>
                      <a:gd name="T38" fmla="*/ 32 w 682"/>
                      <a:gd name="T39" fmla="*/ 181 h 557"/>
                      <a:gd name="T40" fmla="*/ 51 w 682"/>
                      <a:gd name="T41" fmla="*/ 143 h 557"/>
                      <a:gd name="T42" fmla="*/ 81 w 682"/>
                      <a:gd name="T43" fmla="*/ 116 h 557"/>
                      <a:gd name="T44" fmla="*/ 167 w 682"/>
                      <a:gd name="T45" fmla="*/ 67 h 557"/>
                      <a:gd name="T46" fmla="*/ 220 w 682"/>
                      <a:gd name="T47" fmla="*/ 30 h 557"/>
                      <a:gd name="T48" fmla="*/ 258 w 682"/>
                      <a:gd name="T49" fmla="*/ 6 h 557"/>
                      <a:gd name="T50" fmla="*/ 363 w 682"/>
                      <a:gd name="T51" fmla="*/ 2 h 557"/>
                      <a:gd name="T52" fmla="*/ 398 w 682"/>
                      <a:gd name="T53" fmla="*/ 0 h 557"/>
                      <a:gd name="T54" fmla="*/ 384 w 682"/>
                      <a:gd name="T55" fmla="*/ 34 h 557"/>
                      <a:gd name="T56" fmla="*/ 443 w 682"/>
                      <a:gd name="T57" fmla="*/ 84 h 557"/>
                      <a:gd name="T58" fmla="*/ 497 w 682"/>
                      <a:gd name="T59" fmla="*/ 74 h 557"/>
                      <a:gd name="T60" fmla="*/ 529 w 682"/>
                      <a:gd name="T61" fmla="*/ 82 h 557"/>
                      <a:gd name="T62" fmla="*/ 559 w 682"/>
                      <a:gd name="T63" fmla="*/ 97 h 557"/>
                      <a:gd name="T64" fmla="*/ 572 w 682"/>
                      <a:gd name="T65" fmla="*/ 188 h 557"/>
                      <a:gd name="T66" fmla="*/ 572 w 682"/>
                      <a:gd name="T67" fmla="*/ 240 h 557"/>
                      <a:gd name="T68" fmla="*/ 599 w 682"/>
                      <a:gd name="T69" fmla="*/ 283 h 557"/>
                      <a:gd name="T70" fmla="*/ 645 w 682"/>
                      <a:gd name="T71" fmla="*/ 300 h 557"/>
                      <a:gd name="T72" fmla="*/ 680 w 682"/>
                      <a:gd name="T73" fmla="*/ 295 h 557"/>
                      <a:gd name="T74" fmla="*/ 664 w 682"/>
                      <a:gd name="T75" fmla="*/ 340 h 557"/>
                      <a:gd name="T76" fmla="*/ 599 w 682"/>
                      <a:gd name="T77" fmla="*/ 407 h 557"/>
                      <a:gd name="T78" fmla="*/ 548 w 682"/>
                      <a:gd name="T79" fmla="*/ 485 h 557"/>
                      <a:gd name="T80" fmla="*/ 556 w 682"/>
                      <a:gd name="T81" fmla="*/ 508 h 557"/>
                      <a:gd name="T82" fmla="*/ 435 w 682"/>
                      <a:gd name="T83" fmla="*/ 556 h 557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682" h="557">
                        <a:moveTo>
                          <a:pt x="435" y="556"/>
                        </a:moveTo>
                        <a:lnTo>
                          <a:pt x="481" y="464"/>
                        </a:lnTo>
                        <a:lnTo>
                          <a:pt x="473" y="449"/>
                        </a:lnTo>
                        <a:lnTo>
                          <a:pt x="486" y="451"/>
                        </a:lnTo>
                        <a:lnTo>
                          <a:pt x="495" y="441"/>
                        </a:lnTo>
                        <a:lnTo>
                          <a:pt x="500" y="413"/>
                        </a:lnTo>
                        <a:lnTo>
                          <a:pt x="500" y="371"/>
                        </a:lnTo>
                        <a:lnTo>
                          <a:pt x="309" y="287"/>
                        </a:lnTo>
                        <a:lnTo>
                          <a:pt x="296" y="308"/>
                        </a:lnTo>
                        <a:lnTo>
                          <a:pt x="282" y="346"/>
                        </a:lnTo>
                        <a:lnTo>
                          <a:pt x="396" y="557"/>
                        </a:lnTo>
                        <a:lnTo>
                          <a:pt x="303" y="556"/>
                        </a:lnTo>
                        <a:lnTo>
                          <a:pt x="304" y="536"/>
                        </a:lnTo>
                        <a:cubicBezTo>
                          <a:pt x="284" y="520"/>
                          <a:pt x="296" y="510"/>
                          <a:pt x="282" y="494"/>
                        </a:cubicBezTo>
                        <a:cubicBezTo>
                          <a:pt x="276" y="475"/>
                          <a:pt x="267" y="468"/>
                          <a:pt x="253" y="451"/>
                        </a:cubicBezTo>
                        <a:cubicBezTo>
                          <a:pt x="249" y="447"/>
                          <a:pt x="245" y="443"/>
                          <a:pt x="242" y="439"/>
                        </a:cubicBezTo>
                        <a:lnTo>
                          <a:pt x="237" y="432"/>
                        </a:lnTo>
                        <a:cubicBezTo>
                          <a:pt x="237" y="432"/>
                          <a:pt x="245" y="413"/>
                          <a:pt x="245" y="413"/>
                        </a:cubicBezTo>
                        <a:cubicBezTo>
                          <a:pt x="247" y="409"/>
                          <a:pt x="250" y="401"/>
                          <a:pt x="250" y="401"/>
                        </a:cubicBezTo>
                        <a:cubicBezTo>
                          <a:pt x="249" y="399"/>
                          <a:pt x="247" y="397"/>
                          <a:pt x="247" y="394"/>
                        </a:cubicBezTo>
                        <a:cubicBezTo>
                          <a:pt x="248" y="390"/>
                          <a:pt x="253" y="382"/>
                          <a:pt x="253" y="382"/>
                        </a:cubicBezTo>
                        <a:cubicBezTo>
                          <a:pt x="243" y="370"/>
                          <a:pt x="237" y="371"/>
                          <a:pt x="220" y="375"/>
                        </a:cubicBezTo>
                        <a:cubicBezTo>
                          <a:pt x="217" y="371"/>
                          <a:pt x="210" y="369"/>
                          <a:pt x="207" y="365"/>
                        </a:cubicBezTo>
                        <a:cubicBezTo>
                          <a:pt x="185" y="337"/>
                          <a:pt x="216" y="363"/>
                          <a:pt x="194" y="346"/>
                        </a:cubicBezTo>
                        <a:cubicBezTo>
                          <a:pt x="167" y="349"/>
                          <a:pt x="179" y="346"/>
                          <a:pt x="156" y="352"/>
                        </a:cubicBezTo>
                        <a:cubicBezTo>
                          <a:pt x="153" y="353"/>
                          <a:pt x="148" y="354"/>
                          <a:pt x="148" y="354"/>
                        </a:cubicBezTo>
                        <a:cubicBezTo>
                          <a:pt x="146" y="356"/>
                          <a:pt x="145" y="359"/>
                          <a:pt x="142" y="361"/>
                        </a:cubicBezTo>
                        <a:cubicBezTo>
                          <a:pt x="138" y="363"/>
                          <a:pt x="126" y="365"/>
                          <a:pt x="126" y="365"/>
                        </a:cubicBezTo>
                        <a:cubicBezTo>
                          <a:pt x="105" y="354"/>
                          <a:pt x="116" y="355"/>
                          <a:pt x="94" y="361"/>
                        </a:cubicBezTo>
                        <a:cubicBezTo>
                          <a:pt x="89" y="362"/>
                          <a:pt x="78" y="365"/>
                          <a:pt x="78" y="365"/>
                        </a:cubicBezTo>
                        <a:cubicBezTo>
                          <a:pt x="62" y="383"/>
                          <a:pt x="46" y="346"/>
                          <a:pt x="35" y="337"/>
                        </a:cubicBezTo>
                        <a:cubicBezTo>
                          <a:pt x="32" y="330"/>
                          <a:pt x="24" y="320"/>
                          <a:pt x="22" y="312"/>
                        </a:cubicBezTo>
                        <a:cubicBezTo>
                          <a:pt x="20" y="308"/>
                          <a:pt x="22" y="303"/>
                          <a:pt x="19" y="300"/>
                        </a:cubicBezTo>
                        <a:cubicBezTo>
                          <a:pt x="17" y="297"/>
                          <a:pt x="13" y="297"/>
                          <a:pt x="11" y="295"/>
                        </a:cubicBezTo>
                        <a:cubicBezTo>
                          <a:pt x="3" y="277"/>
                          <a:pt x="15" y="306"/>
                          <a:pt x="5" y="276"/>
                        </a:cubicBezTo>
                        <a:cubicBezTo>
                          <a:pt x="4" y="272"/>
                          <a:pt x="0" y="264"/>
                          <a:pt x="0" y="264"/>
                        </a:cubicBezTo>
                        <a:cubicBezTo>
                          <a:pt x="3" y="253"/>
                          <a:pt x="2" y="248"/>
                          <a:pt x="13" y="243"/>
                        </a:cubicBezTo>
                        <a:cubicBezTo>
                          <a:pt x="20" y="221"/>
                          <a:pt x="17" y="231"/>
                          <a:pt x="24" y="213"/>
                        </a:cubicBezTo>
                        <a:cubicBezTo>
                          <a:pt x="26" y="209"/>
                          <a:pt x="30" y="200"/>
                          <a:pt x="30" y="200"/>
                        </a:cubicBezTo>
                        <a:cubicBezTo>
                          <a:pt x="26" y="192"/>
                          <a:pt x="24" y="191"/>
                          <a:pt x="32" y="181"/>
                        </a:cubicBezTo>
                        <a:cubicBezTo>
                          <a:pt x="36" y="177"/>
                          <a:pt x="43" y="169"/>
                          <a:pt x="43" y="169"/>
                        </a:cubicBezTo>
                        <a:cubicBezTo>
                          <a:pt x="37" y="155"/>
                          <a:pt x="36" y="153"/>
                          <a:pt x="51" y="143"/>
                        </a:cubicBezTo>
                        <a:cubicBezTo>
                          <a:pt x="56" y="140"/>
                          <a:pt x="67" y="135"/>
                          <a:pt x="67" y="135"/>
                        </a:cubicBezTo>
                        <a:cubicBezTo>
                          <a:pt x="73" y="129"/>
                          <a:pt x="75" y="122"/>
                          <a:pt x="81" y="116"/>
                        </a:cubicBezTo>
                        <a:cubicBezTo>
                          <a:pt x="89" y="107"/>
                          <a:pt x="102" y="105"/>
                          <a:pt x="113" y="99"/>
                        </a:cubicBezTo>
                        <a:cubicBezTo>
                          <a:pt x="125" y="85"/>
                          <a:pt x="149" y="76"/>
                          <a:pt x="167" y="67"/>
                        </a:cubicBezTo>
                        <a:cubicBezTo>
                          <a:pt x="174" y="59"/>
                          <a:pt x="175" y="50"/>
                          <a:pt x="188" y="46"/>
                        </a:cubicBezTo>
                        <a:cubicBezTo>
                          <a:pt x="198" y="39"/>
                          <a:pt x="208" y="36"/>
                          <a:pt x="220" y="30"/>
                        </a:cubicBezTo>
                        <a:cubicBezTo>
                          <a:pt x="223" y="28"/>
                          <a:pt x="228" y="25"/>
                          <a:pt x="228" y="25"/>
                        </a:cubicBezTo>
                        <a:cubicBezTo>
                          <a:pt x="237" y="16"/>
                          <a:pt x="245" y="10"/>
                          <a:pt x="258" y="6"/>
                        </a:cubicBezTo>
                        <a:cubicBezTo>
                          <a:pt x="269" y="31"/>
                          <a:pt x="301" y="6"/>
                          <a:pt x="320" y="4"/>
                        </a:cubicBezTo>
                        <a:cubicBezTo>
                          <a:pt x="334" y="3"/>
                          <a:pt x="349" y="3"/>
                          <a:pt x="363" y="2"/>
                        </a:cubicBezTo>
                        <a:cubicBezTo>
                          <a:pt x="369" y="3"/>
                          <a:pt x="376" y="5"/>
                          <a:pt x="382" y="4"/>
                        </a:cubicBezTo>
                        <a:cubicBezTo>
                          <a:pt x="387" y="4"/>
                          <a:pt x="398" y="0"/>
                          <a:pt x="398" y="0"/>
                        </a:cubicBezTo>
                        <a:cubicBezTo>
                          <a:pt x="415" y="8"/>
                          <a:pt x="406" y="16"/>
                          <a:pt x="400" y="30"/>
                        </a:cubicBezTo>
                        <a:cubicBezTo>
                          <a:pt x="398" y="34"/>
                          <a:pt x="384" y="34"/>
                          <a:pt x="384" y="34"/>
                        </a:cubicBezTo>
                        <a:cubicBezTo>
                          <a:pt x="379" y="47"/>
                          <a:pt x="398" y="51"/>
                          <a:pt x="411" y="55"/>
                        </a:cubicBezTo>
                        <a:cubicBezTo>
                          <a:pt x="419" y="72"/>
                          <a:pt x="421" y="79"/>
                          <a:pt x="443" y="84"/>
                        </a:cubicBezTo>
                        <a:cubicBezTo>
                          <a:pt x="461" y="71"/>
                          <a:pt x="435" y="65"/>
                          <a:pt x="468" y="57"/>
                        </a:cubicBezTo>
                        <a:cubicBezTo>
                          <a:pt x="482" y="61"/>
                          <a:pt x="485" y="70"/>
                          <a:pt x="497" y="74"/>
                        </a:cubicBezTo>
                        <a:cubicBezTo>
                          <a:pt x="505" y="76"/>
                          <a:pt x="513" y="78"/>
                          <a:pt x="521" y="80"/>
                        </a:cubicBezTo>
                        <a:cubicBezTo>
                          <a:pt x="524" y="81"/>
                          <a:pt x="529" y="82"/>
                          <a:pt x="529" y="82"/>
                        </a:cubicBezTo>
                        <a:cubicBezTo>
                          <a:pt x="547" y="78"/>
                          <a:pt x="547" y="76"/>
                          <a:pt x="562" y="84"/>
                        </a:cubicBezTo>
                        <a:cubicBezTo>
                          <a:pt x="566" y="95"/>
                          <a:pt x="565" y="86"/>
                          <a:pt x="559" y="97"/>
                        </a:cubicBezTo>
                        <a:cubicBezTo>
                          <a:pt x="557" y="101"/>
                          <a:pt x="554" y="110"/>
                          <a:pt x="554" y="110"/>
                        </a:cubicBezTo>
                        <a:cubicBezTo>
                          <a:pt x="556" y="132"/>
                          <a:pt x="556" y="168"/>
                          <a:pt x="572" y="188"/>
                        </a:cubicBezTo>
                        <a:cubicBezTo>
                          <a:pt x="568" y="198"/>
                          <a:pt x="564" y="208"/>
                          <a:pt x="562" y="219"/>
                        </a:cubicBezTo>
                        <a:cubicBezTo>
                          <a:pt x="564" y="227"/>
                          <a:pt x="569" y="233"/>
                          <a:pt x="572" y="240"/>
                        </a:cubicBezTo>
                        <a:cubicBezTo>
                          <a:pt x="573" y="247"/>
                          <a:pt x="572" y="254"/>
                          <a:pt x="575" y="259"/>
                        </a:cubicBezTo>
                        <a:cubicBezTo>
                          <a:pt x="577" y="263"/>
                          <a:pt x="595" y="272"/>
                          <a:pt x="599" y="283"/>
                        </a:cubicBezTo>
                        <a:cubicBezTo>
                          <a:pt x="594" y="295"/>
                          <a:pt x="603" y="306"/>
                          <a:pt x="618" y="310"/>
                        </a:cubicBezTo>
                        <a:cubicBezTo>
                          <a:pt x="630" y="307"/>
                          <a:pt x="638" y="308"/>
                          <a:pt x="645" y="300"/>
                        </a:cubicBezTo>
                        <a:cubicBezTo>
                          <a:pt x="660" y="302"/>
                          <a:pt x="663" y="303"/>
                          <a:pt x="672" y="293"/>
                        </a:cubicBezTo>
                        <a:cubicBezTo>
                          <a:pt x="675" y="294"/>
                          <a:pt x="679" y="293"/>
                          <a:pt x="680" y="295"/>
                        </a:cubicBezTo>
                        <a:cubicBezTo>
                          <a:pt x="682" y="301"/>
                          <a:pt x="674" y="321"/>
                          <a:pt x="672" y="327"/>
                        </a:cubicBezTo>
                        <a:cubicBezTo>
                          <a:pt x="668" y="340"/>
                          <a:pt x="671" y="326"/>
                          <a:pt x="664" y="340"/>
                        </a:cubicBezTo>
                        <a:cubicBezTo>
                          <a:pt x="652" y="360"/>
                          <a:pt x="646" y="381"/>
                          <a:pt x="621" y="394"/>
                        </a:cubicBezTo>
                        <a:cubicBezTo>
                          <a:pt x="614" y="402"/>
                          <a:pt x="609" y="402"/>
                          <a:pt x="599" y="407"/>
                        </a:cubicBezTo>
                        <a:cubicBezTo>
                          <a:pt x="590" y="418"/>
                          <a:pt x="579" y="429"/>
                          <a:pt x="567" y="439"/>
                        </a:cubicBezTo>
                        <a:cubicBezTo>
                          <a:pt x="560" y="454"/>
                          <a:pt x="555" y="470"/>
                          <a:pt x="548" y="485"/>
                        </a:cubicBezTo>
                        <a:cubicBezTo>
                          <a:pt x="549" y="489"/>
                          <a:pt x="550" y="492"/>
                          <a:pt x="551" y="496"/>
                        </a:cubicBezTo>
                        <a:cubicBezTo>
                          <a:pt x="552" y="500"/>
                          <a:pt x="556" y="508"/>
                          <a:pt x="556" y="508"/>
                        </a:cubicBezTo>
                        <a:cubicBezTo>
                          <a:pt x="559" y="524"/>
                          <a:pt x="562" y="546"/>
                          <a:pt x="576" y="557"/>
                        </a:cubicBezTo>
                        <a:lnTo>
                          <a:pt x="435" y="556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7" name="Freeform 100"/>
                  <p:cNvSpPr>
                    <a:spLocks/>
                  </p:cNvSpPr>
                  <p:nvPr/>
                </p:nvSpPr>
                <p:spPr bwMode="ltGray">
                  <a:xfrm>
                    <a:off x="3877" y="448"/>
                    <a:ext cx="163" cy="221"/>
                  </a:xfrm>
                  <a:custGeom>
                    <a:avLst/>
                    <a:gdLst>
                      <a:gd name="T0" fmla="*/ 243 w 257"/>
                      <a:gd name="T1" fmla="*/ 347 h 347"/>
                      <a:gd name="T2" fmla="*/ 233 w 257"/>
                      <a:gd name="T3" fmla="*/ 301 h 347"/>
                      <a:gd name="T4" fmla="*/ 217 w 257"/>
                      <a:gd name="T5" fmla="*/ 288 h 347"/>
                      <a:gd name="T6" fmla="*/ 215 w 257"/>
                      <a:gd name="T7" fmla="*/ 269 h 347"/>
                      <a:gd name="T8" fmla="*/ 209 w 257"/>
                      <a:gd name="T9" fmla="*/ 254 h 347"/>
                      <a:gd name="T10" fmla="*/ 209 w 257"/>
                      <a:gd name="T11" fmla="*/ 229 h 347"/>
                      <a:gd name="T12" fmla="*/ 207 w 257"/>
                      <a:gd name="T13" fmla="*/ 214 h 347"/>
                      <a:gd name="T14" fmla="*/ 228 w 257"/>
                      <a:gd name="T15" fmla="*/ 202 h 347"/>
                      <a:gd name="T16" fmla="*/ 257 w 257"/>
                      <a:gd name="T17" fmla="*/ 197 h 347"/>
                      <a:gd name="T18" fmla="*/ 257 w 257"/>
                      <a:gd name="T19" fmla="*/ 136 h 347"/>
                      <a:gd name="T20" fmla="*/ 54 w 257"/>
                      <a:gd name="T21" fmla="*/ 96 h 347"/>
                      <a:gd name="T22" fmla="*/ 32 w 257"/>
                      <a:gd name="T23" fmla="*/ 98 h 347"/>
                      <a:gd name="T24" fmla="*/ 16 w 257"/>
                      <a:gd name="T25" fmla="*/ 102 h 347"/>
                      <a:gd name="T26" fmla="*/ 0 w 257"/>
                      <a:gd name="T27" fmla="*/ 149 h 347"/>
                      <a:gd name="T28" fmla="*/ 93 w 257"/>
                      <a:gd name="T29" fmla="*/ 346 h 347"/>
                      <a:gd name="T30" fmla="*/ 243 w 257"/>
                      <a:gd name="T31" fmla="*/ 347 h 347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</a:gdLst>
                    <a:ahLst/>
                    <a:cxnLst>
                      <a:cxn ang="T32">
                        <a:pos x="T0" y="T1"/>
                      </a:cxn>
                      <a:cxn ang="T33">
                        <a:pos x="T2" y="T3"/>
                      </a:cxn>
                      <a:cxn ang="T34">
                        <a:pos x="T4" y="T5"/>
                      </a:cxn>
                      <a:cxn ang="T35">
                        <a:pos x="T6" y="T7"/>
                      </a:cxn>
                      <a:cxn ang="T36">
                        <a:pos x="T8" y="T9"/>
                      </a:cxn>
                      <a:cxn ang="T37">
                        <a:pos x="T10" y="T11"/>
                      </a:cxn>
                      <a:cxn ang="T38">
                        <a:pos x="T12" y="T13"/>
                      </a:cxn>
                      <a:cxn ang="T39">
                        <a:pos x="T14" y="T15"/>
                      </a:cxn>
                      <a:cxn ang="T40">
                        <a:pos x="T16" y="T17"/>
                      </a:cxn>
                      <a:cxn ang="T41">
                        <a:pos x="T18" y="T19"/>
                      </a:cxn>
                      <a:cxn ang="T42">
                        <a:pos x="T20" y="T21"/>
                      </a:cxn>
                      <a:cxn ang="T43">
                        <a:pos x="T22" y="T23"/>
                      </a:cxn>
                      <a:cxn ang="T44">
                        <a:pos x="T24" y="T25"/>
                      </a:cxn>
                      <a:cxn ang="T45">
                        <a:pos x="T26" y="T27"/>
                      </a:cxn>
                      <a:cxn ang="T46">
                        <a:pos x="T28" y="T29"/>
                      </a:cxn>
                      <a:cxn ang="T47">
                        <a:pos x="T30" y="T31"/>
                      </a:cxn>
                    </a:cxnLst>
                    <a:rect l="0" t="0" r="r" b="b"/>
                    <a:pathLst>
                      <a:path w="257" h="347">
                        <a:moveTo>
                          <a:pt x="243" y="347"/>
                        </a:moveTo>
                        <a:lnTo>
                          <a:pt x="233" y="301"/>
                        </a:lnTo>
                        <a:lnTo>
                          <a:pt x="217" y="288"/>
                        </a:lnTo>
                        <a:lnTo>
                          <a:pt x="215" y="269"/>
                        </a:lnTo>
                        <a:lnTo>
                          <a:pt x="209" y="254"/>
                        </a:lnTo>
                        <a:lnTo>
                          <a:pt x="209" y="229"/>
                        </a:lnTo>
                        <a:lnTo>
                          <a:pt x="207" y="214"/>
                        </a:lnTo>
                        <a:lnTo>
                          <a:pt x="228" y="202"/>
                        </a:lnTo>
                        <a:lnTo>
                          <a:pt x="257" y="197"/>
                        </a:lnTo>
                        <a:lnTo>
                          <a:pt x="257" y="136"/>
                        </a:lnTo>
                        <a:cubicBezTo>
                          <a:pt x="209" y="119"/>
                          <a:pt x="13" y="0"/>
                          <a:pt x="54" y="96"/>
                        </a:cubicBezTo>
                        <a:cubicBezTo>
                          <a:pt x="36" y="106"/>
                          <a:pt x="57" y="97"/>
                          <a:pt x="32" y="98"/>
                        </a:cubicBezTo>
                        <a:cubicBezTo>
                          <a:pt x="27" y="99"/>
                          <a:pt x="16" y="102"/>
                          <a:pt x="16" y="102"/>
                        </a:cubicBezTo>
                        <a:lnTo>
                          <a:pt x="0" y="149"/>
                        </a:lnTo>
                        <a:lnTo>
                          <a:pt x="93" y="346"/>
                        </a:lnTo>
                        <a:lnTo>
                          <a:pt x="243" y="347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8" name="Freeform 101"/>
                  <p:cNvSpPr>
                    <a:spLocks/>
                  </p:cNvSpPr>
                  <p:nvPr/>
                </p:nvSpPr>
                <p:spPr bwMode="ltGray">
                  <a:xfrm>
                    <a:off x="4164" y="611"/>
                    <a:ext cx="7" cy="12"/>
                  </a:xfrm>
                  <a:custGeom>
                    <a:avLst/>
                    <a:gdLst>
                      <a:gd name="T0" fmla="*/ 7 w 19"/>
                      <a:gd name="T1" fmla="*/ 25 h 37"/>
                      <a:gd name="T2" fmla="*/ 19 w 19"/>
                      <a:gd name="T3" fmla="*/ 21 h 37"/>
                      <a:gd name="T4" fmla="*/ 7 w 19"/>
                      <a:gd name="T5" fmla="*/ 25 h 37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19" h="37">
                        <a:moveTo>
                          <a:pt x="7" y="25"/>
                        </a:moveTo>
                        <a:cubicBezTo>
                          <a:pt x="0" y="4"/>
                          <a:pt x="12" y="0"/>
                          <a:pt x="19" y="21"/>
                        </a:cubicBezTo>
                        <a:cubicBezTo>
                          <a:pt x="14" y="37"/>
                          <a:pt x="18" y="36"/>
                          <a:pt x="7" y="25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19" name="Freeform 102"/>
                  <p:cNvSpPr>
                    <a:spLocks/>
                  </p:cNvSpPr>
                  <p:nvPr/>
                </p:nvSpPr>
                <p:spPr bwMode="ltGray">
                  <a:xfrm>
                    <a:off x="4155" y="497"/>
                    <a:ext cx="9" cy="7"/>
                  </a:xfrm>
                  <a:custGeom>
                    <a:avLst/>
                    <a:gdLst>
                      <a:gd name="T0" fmla="*/ 12 w 22"/>
                      <a:gd name="T1" fmla="*/ 12 h 20"/>
                      <a:gd name="T2" fmla="*/ 16 w 22"/>
                      <a:gd name="T3" fmla="*/ 0 h 20"/>
                      <a:gd name="T4" fmla="*/ 20 w 22"/>
                      <a:gd name="T5" fmla="*/ 12 h 20"/>
                      <a:gd name="T6" fmla="*/ 8 w 22"/>
                      <a:gd name="T7" fmla="*/ 20 h 20"/>
                      <a:gd name="T8" fmla="*/ 12 w 22"/>
                      <a:gd name="T9" fmla="*/ 12 h 2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2" h="20">
                        <a:moveTo>
                          <a:pt x="12" y="12"/>
                        </a:moveTo>
                        <a:cubicBezTo>
                          <a:pt x="13" y="8"/>
                          <a:pt x="12" y="0"/>
                          <a:pt x="16" y="0"/>
                        </a:cubicBezTo>
                        <a:cubicBezTo>
                          <a:pt x="20" y="0"/>
                          <a:pt x="22" y="8"/>
                          <a:pt x="20" y="12"/>
                        </a:cubicBezTo>
                        <a:cubicBezTo>
                          <a:pt x="18" y="16"/>
                          <a:pt x="12" y="17"/>
                          <a:pt x="8" y="20"/>
                        </a:cubicBezTo>
                        <a:cubicBezTo>
                          <a:pt x="3" y="5"/>
                          <a:pt x="0" y="6"/>
                          <a:pt x="12" y="1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0" name="Freeform 103"/>
                  <p:cNvSpPr>
                    <a:spLocks/>
                  </p:cNvSpPr>
                  <p:nvPr/>
                </p:nvSpPr>
                <p:spPr bwMode="ltGray">
                  <a:xfrm>
                    <a:off x="3760" y="357"/>
                    <a:ext cx="25" cy="10"/>
                  </a:xfrm>
                  <a:custGeom>
                    <a:avLst/>
                    <a:gdLst>
                      <a:gd name="T0" fmla="*/ 24 w 57"/>
                      <a:gd name="T1" fmla="*/ 18 h 30"/>
                      <a:gd name="T2" fmla="*/ 32 w 57"/>
                      <a:gd name="T3" fmla="*/ 6 h 30"/>
                      <a:gd name="T4" fmla="*/ 36 w 57"/>
                      <a:gd name="T5" fmla="*/ 30 h 30"/>
                      <a:gd name="T6" fmla="*/ 24 w 57"/>
                      <a:gd name="T7" fmla="*/ 1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57" h="30">
                        <a:moveTo>
                          <a:pt x="24" y="18"/>
                        </a:moveTo>
                        <a:cubicBezTo>
                          <a:pt x="0" y="10"/>
                          <a:pt x="9" y="0"/>
                          <a:pt x="32" y="6"/>
                        </a:cubicBezTo>
                        <a:cubicBezTo>
                          <a:pt x="46" y="15"/>
                          <a:pt x="57" y="23"/>
                          <a:pt x="36" y="30"/>
                        </a:cubicBezTo>
                        <a:cubicBezTo>
                          <a:pt x="21" y="25"/>
                          <a:pt x="24" y="30"/>
                          <a:pt x="24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1" name="Freeform 104"/>
                  <p:cNvSpPr>
                    <a:spLocks/>
                  </p:cNvSpPr>
                  <p:nvPr/>
                </p:nvSpPr>
                <p:spPr bwMode="ltGray">
                  <a:xfrm>
                    <a:off x="4062" y="265"/>
                    <a:ext cx="295" cy="233"/>
                  </a:xfrm>
                  <a:custGeom>
                    <a:avLst/>
                    <a:gdLst>
                      <a:gd name="T0" fmla="*/ 473 w 693"/>
                      <a:gd name="T1" fmla="*/ 464 h 696"/>
                      <a:gd name="T2" fmla="*/ 393 w 693"/>
                      <a:gd name="T3" fmla="*/ 452 h 696"/>
                      <a:gd name="T4" fmla="*/ 325 w 693"/>
                      <a:gd name="T5" fmla="*/ 412 h 696"/>
                      <a:gd name="T6" fmla="*/ 265 w 693"/>
                      <a:gd name="T7" fmla="*/ 400 h 696"/>
                      <a:gd name="T8" fmla="*/ 237 w 693"/>
                      <a:gd name="T9" fmla="*/ 416 h 696"/>
                      <a:gd name="T10" fmla="*/ 261 w 693"/>
                      <a:gd name="T11" fmla="*/ 428 h 696"/>
                      <a:gd name="T12" fmla="*/ 293 w 693"/>
                      <a:gd name="T13" fmla="*/ 468 h 696"/>
                      <a:gd name="T14" fmla="*/ 321 w 693"/>
                      <a:gd name="T15" fmla="*/ 476 h 696"/>
                      <a:gd name="T16" fmla="*/ 333 w 693"/>
                      <a:gd name="T17" fmla="*/ 536 h 696"/>
                      <a:gd name="T18" fmla="*/ 313 w 693"/>
                      <a:gd name="T19" fmla="*/ 552 h 696"/>
                      <a:gd name="T20" fmla="*/ 261 w 693"/>
                      <a:gd name="T21" fmla="*/ 616 h 696"/>
                      <a:gd name="T22" fmla="*/ 225 w 693"/>
                      <a:gd name="T23" fmla="*/ 628 h 696"/>
                      <a:gd name="T24" fmla="*/ 97 w 693"/>
                      <a:gd name="T25" fmla="*/ 696 h 696"/>
                      <a:gd name="T26" fmla="*/ 77 w 693"/>
                      <a:gd name="T27" fmla="*/ 616 h 696"/>
                      <a:gd name="T28" fmla="*/ 45 w 693"/>
                      <a:gd name="T29" fmla="*/ 524 h 696"/>
                      <a:gd name="T30" fmla="*/ 33 w 693"/>
                      <a:gd name="T31" fmla="*/ 448 h 696"/>
                      <a:gd name="T32" fmla="*/ 53 w 693"/>
                      <a:gd name="T33" fmla="*/ 344 h 696"/>
                      <a:gd name="T34" fmla="*/ 17 w 693"/>
                      <a:gd name="T35" fmla="*/ 392 h 696"/>
                      <a:gd name="T36" fmla="*/ 81 w 693"/>
                      <a:gd name="T37" fmla="*/ 280 h 696"/>
                      <a:gd name="T38" fmla="*/ 113 w 693"/>
                      <a:gd name="T39" fmla="*/ 204 h 696"/>
                      <a:gd name="T40" fmla="*/ 37 w 693"/>
                      <a:gd name="T41" fmla="*/ 204 h 696"/>
                      <a:gd name="T42" fmla="*/ 1 w 693"/>
                      <a:gd name="T43" fmla="*/ 196 h 696"/>
                      <a:gd name="T44" fmla="*/ 25 w 693"/>
                      <a:gd name="T45" fmla="*/ 140 h 696"/>
                      <a:gd name="T46" fmla="*/ 97 w 693"/>
                      <a:gd name="T47" fmla="*/ 112 h 696"/>
                      <a:gd name="T48" fmla="*/ 221 w 693"/>
                      <a:gd name="T49" fmla="*/ 124 h 696"/>
                      <a:gd name="T50" fmla="*/ 229 w 693"/>
                      <a:gd name="T51" fmla="*/ 64 h 696"/>
                      <a:gd name="T52" fmla="*/ 261 w 693"/>
                      <a:gd name="T53" fmla="*/ 0 h 696"/>
                      <a:gd name="T54" fmla="*/ 357 w 693"/>
                      <a:gd name="T55" fmla="*/ 44 h 696"/>
                      <a:gd name="T56" fmla="*/ 329 w 693"/>
                      <a:gd name="T57" fmla="*/ 88 h 696"/>
                      <a:gd name="T58" fmla="*/ 301 w 693"/>
                      <a:gd name="T59" fmla="*/ 176 h 696"/>
                      <a:gd name="T60" fmla="*/ 361 w 693"/>
                      <a:gd name="T61" fmla="*/ 192 h 696"/>
                      <a:gd name="T62" fmla="*/ 373 w 693"/>
                      <a:gd name="T63" fmla="*/ 136 h 696"/>
                      <a:gd name="T64" fmla="*/ 417 w 693"/>
                      <a:gd name="T65" fmla="*/ 92 h 696"/>
                      <a:gd name="T66" fmla="*/ 497 w 693"/>
                      <a:gd name="T67" fmla="*/ 88 h 696"/>
                      <a:gd name="T68" fmla="*/ 529 w 693"/>
                      <a:gd name="T69" fmla="*/ 52 h 696"/>
                      <a:gd name="T70" fmla="*/ 541 w 693"/>
                      <a:gd name="T71" fmla="*/ 460 h 696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693" h="696">
                        <a:moveTo>
                          <a:pt x="541" y="460"/>
                        </a:moveTo>
                        <a:lnTo>
                          <a:pt x="473" y="464"/>
                        </a:lnTo>
                        <a:lnTo>
                          <a:pt x="441" y="452"/>
                        </a:lnTo>
                        <a:lnTo>
                          <a:pt x="393" y="452"/>
                        </a:lnTo>
                        <a:cubicBezTo>
                          <a:pt x="365" y="448"/>
                          <a:pt x="360" y="444"/>
                          <a:pt x="337" y="436"/>
                        </a:cubicBezTo>
                        <a:cubicBezTo>
                          <a:pt x="336" y="432"/>
                          <a:pt x="330" y="413"/>
                          <a:pt x="325" y="412"/>
                        </a:cubicBezTo>
                        <a:cubicBezTo>
                          <a:pt x="317" y="411"/>
                          <a:pt x="301" y="420"/>
                          <a:pt x="301" y="420"/>
                        </a:cubicBezTo>
                        <a:cubicBezTo>
                          <a:pt x="289" y="412"/>
                          <a:pt x="277" y="408"/>
                          <a:pt x="265" y="400"/>
                        </a:cubicBezTo>
                        <a:cubicBezTo>
                          <a:pt x="252" y="380"/>
                          <a:pt x="256" y="356"/>
                          <a:pt x="233" y="348"/>
                        </a:cubicBezTo>
                        <a:cubicBezTo>
                          <a:pt x="217" y="372"/>
                          <a:pt x="221" y="392"/>
                          <a:pt x="237" y="416"/>
                        </a:cubicBezTo>
                        <a:cubicBezTo>
                          <a:pt x="234" y="428"/>
                          <a:pt x="228" y="445"/>
                          <a:pt x="237" y="444"/>
                        </a:cubicBezTo>
                        <a:cubicBezTo>
                          <a:pt x="247" y="443"/>
                          <a:pt x="261" y="428"/>
                          <a:pt x="261" y="428"/>
                        </a:cubicBezTo>
                        <a:cubicBezTo>
                          <a:pt x="258" y="450"/>
                          <a:pt x="243" y="475"/>
                          <a:pt x="269" y="484"/>
                        </a:cubicBezTo>
                        <a:cubicBezTo>
                          <a:pt x="277" y="479"/>
                          <a:pt x="288" y="476"/>
                          <a:pt x="293" y="468"/>
                        </a:cubicBezTo>
                        <a:cubicBezTo>
                          <a:pt x="302" y="454"/>
                          <a:pt x="303" y="446"/>
                          <a:pt x="317" y="436"/>
                        </a:cubicBezTo>
                        <a:cubicBezTo>
                          <a:pt x="315" y="448"/>
                          <a:pt x="306" y="467"/>
                          <a:pt x="321" y="476"/>
                        </a:cubicBezTo>
                        <a:cubicBezTo>
                          <a:pt x="328" y="480"/>
                          <a:pt x="345" y="484"/>
                          <a:pt x="345" y="484"/>
                        </a:cubicBezTo>
                        <a:cubicBezTo>
                          <a:pt x="382" y="472"/>
                          <a:pt x="347" y="527"/>
                          <a:pt x="333" y="536"/>
                        </a:cubicBezTo>
                        <a:cubicBezTo>
                          <a:pt x="330" y="540"/>
                          <a:pt x="329" y="545"/>
                          <a:pt x="325" y="548"/>
                        </a:cubicBezTo>
                        <a:cubicBezTo>
                          <a:pt x="322" y="551"/>
                          <a:pt x="316" y="549"/>
                          <a:pt x="313" y="552"/>
                        </a:cubicBezTo>
                        <a:cubicBezTo>
                          <a:pt x="300" y="565"/>
                          <a:pt x="320" y="575"/>
                          <a:pt x="293" y="584"/>
                        </a:cubicBezTo>
                        <a:cubicBezTo>
                          <a:pt x="286" y="595"/>
                          <a:pt x="272" y="610"/>
                          <a:pt x="261" y="616"/>
                        </a:cubicBezTo>
                        <a:cubicBezTo>
                          <a:pt x="254" y="620"/>
                          <a:pt x="245" y="621"/>
                          <a:pt x="237" y="624"/>
                        </a:cubicBezTo>
                        <a:cubicBezTo>
                          <a:pt x="233" y="625"/>
                          <a:pt x="225" y="628"/>
                          <a:pt x="225" y="628"/>
                        </a:cubicBezTo>
                        <a:cubicBezTo>
                          <a:pt x="215" y="659"/>
                          <a:pt x="212" y="652"/>
                          <a:pt x="173" y="656"/>
                        </a:cubicBezTo>
                        <a:cubicBezTo>
                          <a:pt x="140" y="667"/>
                          <a:pt x="132" y="687"/>
                          <a:pt x="97" y="696"/>
                        </a:cubicBezTo>
                        <a:cubicBezTo>
                          <a:pt x="77" y="691"/>
                          <a:pt x="75" y="687"/>
                          <a:pt x="81" y="668"/>
                        </a:cubicBezTo>
                        <a:cubicBezTo>
                          <a:pt x="77" y="646"/>
                          <a:pt x="72" y="639"/>
                          <a:pt x="77" y="616"/>
                        </a:cubicBezTo>
                        <a:cubicBezTo>
                          <a:pt x="73" y="598"/>
                          <a:pt x="71" y="587"/>
                          <a:pt x="61" y="572"/>
                        </a:cubicBezTo>
                        <a:cubicBezTo>
                          <a:pt x="58" y="551"/>
                          <a:pt x="51" y="543"/>
                          <a:pt x="45" y="524"/>
                        </a:cubicBezTo>
                        <a:cubicBezTo>
                          <a:pt x="52" y="502"/>
                          <a:pt x="58" y="496"/>
                          <a:pt x="49" y="472"/>
                        </a:cubicBezTo>
                        <a:cubicBezTo>
                          <a:pt x="46" y="463"/>
                          <a:pt x="33" y="448"/>
                          <a:pt x="33" y="448"/>
                        </a:cubicBezTo>
                        <a:cubicBezTo>
                          <a:pt x="42" y="422"/>
                          <a:pt x="42" y="408"/>
                          <a:pt x="33" y="380"/>
                        </a:cubicBezTo>
                        <a:cubicBezTo>
                          <a:pt x="49" y="369"/>
                          <a:pt x="48" y="362"/>
                          <a:pt x="53" y="344"/>
                        </a:cubicBezTo>
                        <a:cubicBezTo>
                          <a:pt x="47" y="327"/>
                          <a:pt x="49" y="308"/>
                          <a:pt x="33" y="332"/>
                        </a:cubicBezTo>
                        <a:cubicBezTo>
                          <a:pt x="40" y="353"/>
                          <a:pt x="29" y="374"/>
                          <a:pt x="17" y="392"/>
                        </a:cubicBezTo>
                        <a:cubicBezTo>
                          <a:pt x="6" y="360"/>
                          <a:pt x="10" y="340"/>
                          <a:pt x="13" y="304"/>
                        </a:cubicBezTo>
                        <a:cubicBezTo>
                          <a:pt x="44" y="314"/>
                          <a:pt x="54" y="289"/>
                          <a:pt x="81" y="280"/>
                        </a:cubicBezTo>
                        <a:cubicBezTo>
                          <a:pt x="94" y="261"/>
                          <a:pt x="85" y="242"/>
                          <a:pt x="105" y="228"/>
                        </a:cubicBezTo>
                        <a:cubicBezTo>
                          <a:pt x="108" y="220"/>
                          <a:pt x="110" y="212"/>
                          <a:pt x="113" y="204"/>
                        </a:cubicBezTo>
                        <a:cubicBezTo>
                          <a:pt x="116" y="196"/>
                          <a:pt x="89" y="196"/>
                          <a:pt x="89" y="196"/>
                        </a:cubicBezTo>
                        <a:cubicBezTo>
                          <a:pt x="81" y="221"/>
                          <a:pt x="58" y="211"/>
                          <a:pt x="37" y="204"/>
                        </a:cubicBezTo>
                        <a:cubicBezTo>
                          <a:pt x="33" y="207"/>
                          <a:pt x="30" y="213"/>
                          <a:pt x="25" y="212"/>
                        </a:cubicBezTo>
                        <a:cubicBezTo>
                          <a:pt x="16" y="210"/>
                          <a:pt x="1" y="196"/>
                          <a:pt x="1" y="196"/>
                        </a:cubicBezTo>
                        <a:cubicBezTo>
                          <a:pt x="4" y="186"/>
                          <a:pt x="4" y="174"/>
                          <a:pt x="9" y="164"/>
                        </a:cubicBezTo>
                        <a:cubicBezTo>
                          <a:pt x="13" y="155"/>
                          <a:pt x="25" y="140"/>
                          <a:pt x="25" y="140"/>
                        </a:cubicBezTo>
                        <a:cubicBezTo>
                          <a:pt x="0" y="132"/>
                          <a:pt x="25" y="128"/>
                          <a:pt x="37" y="124"/>
                        </a:cubicBezTo>
                        <a:cubicBezTo>
                          <a:pt x="58" y="131"/>
                          <a:pt x="75" y="116"/>
                          <a:pt x="97" y="112"/>
                        </a:cubicBezTo>
                        <a:cubicBezTo>
                          <a:pt x="135" y="87"/>
                          <a:pt x="159" y="122"/>
                          <a:pt x="197" y="132"/>
                        </a:cubicBezTo>
                        <a:cubicBezTo>
                          <a:pt x="205" y="129"/>
                          <a:pt x="213" y="127"/>
                          <a:pt x="221" y="124"/>
                        </a:cubicBezTo>
                        <a:cubicBezTo>
                          <a:pt x="225" y="123"/>
                          <a:pt x="226" y="147"/>
                          <a:pt x="233" y="120"/>
                        </a:cubicBezTo>
                        <a:lnTo>
                          <a:pt x="229" y="64"/>
                        </a:lnTo>
                        <a:lnTo>
                          <a:pt x="209" y="40"/>
                        </a:lnTo>
                        <a:cubicBezTo>
                          <a:pt x="243" y="21"/>
                          <a:pt x="240" y="21"/>
                          <a:pt x="261" y="0"/>
                        </a:cubicBezTo>
                        <a:cubicBezTo>
                          <a:pt x="297" y="16"/>
                          <a:pt x="333" y="32"/>
                          <a:pt x="369" y="48"/>
                        </a:cubicBezTo>
                        <a:cubicBezTo>
                          <a:pt x="373" y="50"/>
                          <a:pt x="361" y="44"/>
                          <a:pt x="357" y="44"/>
                        </a:cubicBezTo>
                        <a:cubicBezTo>
                          <a:pt x="349" y="45"/>
                          <a:pt x="333" y="52"/>
                          <a:pt x="333" y="52"/>
                        </a:cubicBezTo>
                        <a:cubicBezTo>
                          <a:pt x="322" y="68"/>
                          <a:pt x="318" y="71"/>
                          <a:pt x="329" y="88"/>
                        </a:cubicBezTo>
                        <a:cubicBezTo>
                          <a:pt x="308" y="119"/>
                          <a:pt x="323" y="118"/>
                          <a:pt x="333" y="148"/>
                        </a:cubicBezTo>
                        <a:cubicBezTo>
                          <a:pt x="320" y="157"/>
                          <a:pt x="314" y="167"/>
                          <a:pt x="301" y="176"/>
                        </a:cubicBezTo>
                        <a:cubicBezTo>
                          <a:pt x="306" y="213"/>
                          <a:pt x="303" y="213"/>
                          <a:pt x="337" y="220"/>
                        </a:cubicBezTo>
                        <a:cubicBezTo>
                          <a:pt x="358" y="216"/>
                          <a:pt x="368" y="214"/>
                          <a:pt x="361" y="192"/>
                        </a:cubicBezTo>
                        <a:cubicBezTo>
                          <a:pt x="362" y="177"/>
                          <a:pt x="362" y="162"/>
                          <a:pt x="365" y="148"/>
                        </a:cubicBezTo>
                        <a:cubicBezTo>
                          <a:pt x="366" y="143"/>
                          <a:pt x="369" y="133"/>
                          <a:pt x="373" y="136"/>
                        </a:cubicBezTo>
                        <a:cubicBezTo>
                          <a:pt x="379" y="140"/>
                          <a:pt x="376" y="149"/>
                          <a:pt x="377" y="156"/>
                        </a:cubicBezTo>
                        <a:cubicBezTo>
                          <a:pt x="404" y="147"/>
                          <a:pt x="409" y="116"/>
                          <a:pt x="417" y="92"/>
                        </a:cubicBezTo>
                        <a:cubicBezTo>
                          <a:pt x="422" y="76"/>
                          <a:pt x="453" y="74"/>
                          <a:pt x="465" y="72"/>
                        </a:cubicBezTo>
                        <a:cubicBezTo>
                          <a:pt x="472" y="92"/>
                          <a:pt x="477" y="93"/>
                          <a:pt x="497" y="88"/>
                        </a:cubicBezTo>
                        <a:cubicBezTo>
                          <a:pt x="512" y="78"/>
                          <a:pt x="515" y="74"/>
                          <a:pt x="509" y="56"/>
                        </a:cubicBezTo>
                        <a:cubicBezTo>
                          <a:pt x="523" y="46"/>
                          <a:pt x="517" y="46"/>
                          <a:pt x="529" y="52"/>
                        </a:cubicBezTo>
                        <a:lnTo>
                          <a:pt x="693" y="72"/>
                        </a:lnTo>
                        <a:lnTo>
                          <a:pt x="541" y="460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2" name="Freeform 105"/>
                  <p:cNvSpPr>
                    <a:spLocks/>
                  </p:cNvSpPr>
                  <p:nvPr/>
                </p:nvSpPr>
                <p:spPr bwMode="ltGray">
                  <a:xfrm>
                    <a:off x="3861" y="247"/>
                    <a:ext cx="591" cy="95"/>
                  </a:xfrm>
                  <a:custGeom>
                    <a:avLst/>
                    <a:gdLst>
                      <a:gd name="T0" fmla="*/ 825 w 931"/>
                      <a:gd name="T1" fmla="*/ 0 h 149"/>
                      <a:gd name="T2" fmla="*/ 143 w 931"/>
                      <a:gd name="T3" fmla="*/ 29 h 149"/>
                      <a:gd name="T4" fmla="*/ 91 w 931"/>
                      <a:gd name="T5" fmla="*/ 42 h 149"/>
                      <a:gd name="T6" fmla="*/ 62 w 931"/>
                      <a:gd name="T7" fmla="*/ 42 h 149"/>
                      <a:gd name="T8" fmla="*/ 22 w 931"/>
                      <a:gd name="T9" fmla="*/ 77 h 149"/>
                      <a:gd name="T10" fmla="*/ 0 w 931"/>
                      <a:gd name="T11" fmla="*/ 105 h 149"/>
                      <a:gd name="T12" fmla="*/ 59 w 931"/>
                      <a:gd name="T13" fmla="*/ 115 h 149"/>
                      <a:gd name="T14" fmla="*/ 97 w 931"/>
                      <a:gd name="T15" fmla="*/ 96 h 149"/>
                      <a:gd name="T16" fmla="*/ 108 w 931"/>
                      <a:gd name="T17" fmla="*/ 84 h 149"/>
                      <a:gd name="T18" fmla="*/ 167 w 931"/>
                      <a:gd name="T19" fmla="*/ 52 h 149"/>
                      <a:gd name="T20" fmla="*/ 215 w 931"/>
                      <a:gd name="T21" fmla="*/ 46 h 149"/>
                      <a:gd name="T22" fmla="*/ 237 w 931"/>
                      <a:gd name="T23" fmla="*/ 94 h 149"/>
                      <a:gd name="T24" fmla="*/ 188 w 931"/>
                      <a:gd name="T25" fmla="*/ 109 h 149"/>
                      <a:gd name="T26" fmla="*/ 231 w 931"/>
                      <a:gd name="T27" fmla="*/ 113 h 149"/>
                      <a:gd name="T28" fmla="*/ 250 w 931"/>
                      <a:gd name="T29" fmla="*/ 90 h 149"/>
                      <a:gd name="T30" fmla="*/ 266 w 931"/>
                      <a:gd name="T31" fmla="*/ 92 h 149"/>
                      <a:gd name="T32" fmla="*/ 253 w 931"/>
                      <a:gd name="T33" fmla="*/ 54 h 149"/>
                      <a:gd name="T34" fmla="*/ 266 w 931"/>
                      <a:gd name="T35" fmla="*/ 44 h 149"/>
                      <a:gd name="T36" fmla="*/ 277 w 931"/>
                      <a:gd name="T37" fmla="*/ 88 h 149"/>
                      <a:gd name="T38" fmla="*/ 266 w 931"/>
                      <a:gd name="T39" fmla="*/ 113 h 149"/>
                      <a:gd name="T40" fmla="*/ 296 w 931"/>
                      <a:gd name="T41" fmla="*/ 130 h 149"/>
                      <a:gd name="T42" fmla="*/ 299 w 931"/>
                      <a:gd name="T43" fmla="*/ 92 h 149"/>
                      <a:gd name="T44" fmla="*/ 331 w 931"/>
                      <a:gd name="T45" fmla="*/ 103 h 149"/>
                      <a:gd name="T46" fmla="*/ 382 w 931"/>
                      <a:gd name="T47" fmla="*/ 73 h 149"/>
                      <a:gd name="T48" fmla="*/ 409 w 931"/>
                      <a:gd name="T49" fmla="*/ 50 h 149"/>
                      <a:gd name="T50" fmla="*/ 439 w 931"/>
                      <a:gd name="T51" fmla="*/ 56 h 149"/>
                      <a:gd name="T52" fmla="*/ 455 w 931"/>
                      <a:gd name="T53" fmla="*/ 50 h 149"/>
                      <a:gd name="T54" fmla="*/ 431 w 931"/>
                      <a:gd name="T55" fmla="*/ 44 h 149"/>
                      <a:gd name="T56" fmla="*/ 474 w 931"/>
                      <a:gd name="T57" fmla="*/ 35 h 149"/>
                      <a:gd name="T58" fmla="*/ 544 w 931"/>
                      <a:gd name="T59" fmla="*/ 54 h 149"/>
                      <a:gd name="T60" fmla="*/ 581 w 931"/>
                      <a:gd name="T61" fmla="*/ 42 h 149"/>
                      <a:gd name="T62" fmla="*/ 584 w 931"/>
                      <a:gd name="T63" fmla="*/ 63 h 149"/>
                      <a:gd name="T64" fmla="*/ 568 w 931"/>
                      <a:gd name="T65" fmla="*/ 101 h 149"/>
                      <a:gd name="T66" fmla="*/ 611 w 931"/>
                      <a:gd name="T67" fmla="*/ 88 h 149"/>
                      <a:gd name="T68" fmla="*/ 624 w 931"/>
                      <a:gd name="T69" fmla="*/ 80 h 149"/>
                      <a:gd name="T70" fmla="*/ 648 w 931"/>
                      <a:gd name="T71" fmla="*/ 61 h 149"/>
                      <a:gd name="T72" fmla="*/ 794 w 931"/>
                      <a:gd name="T73" fmla="*/ 84 h 149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</a:gdLst>
                    <a:ahLst/>
                    <a:cxnLst>
                      <a:cxn ang="T74">
                        <a:pos x="T0" y="T1"/>
                      </a:cxn>
                      <a:cxn ang="T75">
                        <a:pos x="T2" y="T3"/>
                      </a:cxn>
                      <a:cxn ang="T76">
                        <a:pos x="T4" y="T5"/>
                      </a:cxn>
                      <a:cxn ang="T77">
                        <a:pos x="T6" y="T7"/>
                      </a:cxn>
                      <a:cxn ang="T78">
                        <a:pos x="T8" y="T9"/>
                      </a:cxn>
                      <a:cxn ang="T79">
                        <a:pos x="T10" y="T11"/>
                      </a:cxn>
                      <a:cxn ang="T80">
                        <a:pos x="T12" y="T13"/>
                      </a:cxn>
                      <a:cxn ang="T81">
                        <a:pos x="T14" y="T15"/>
                      </a:cxn>
                      <a:cxn ang="T82">
                        <a:pos x="T16" y="T17"/>
                      </a:cxn>
                      <a:cxn ang="T83">
                        <a:pos x="T18" y="T19"/>
                      </a:cxn>
                      <a:cxn ang="T84">
                        <a:pos x="T20" y="T21"/>
                      </a:cxn>
                      <a:cxn ang="T85">
                        <a:pos x="T22" y="T23"/>
                      </a:cxn>
                      <a:cxn ang="T86">
                        <a:pos x="T24" y="T25"/>
                      </a:cxn>
                      <a:cxn ang="T87">
                        <a:pos x="T26" y="T27"/>
                      </a:cxn>
                      <a:cxn ang="T88">
                        <a:pos x="T28" y="T29"/>
                      </a:cxn>
                      <a:cxn ang="T89">
                        <a:pos x="T30" y="T31"/>
                      </a:cxn>
                      <a:cxn ang="T90">
                        <a:pos x="T32" y="T33"/>
                      </a:cxn>
                      <a:cxn ang="T91">
                        <a:pos x="T34" y="T35"/>
                      </a:cxn>
                      <a:cxn ang="T92">
                        <a:pos x="T36" y="T37"/>
                      </a:cxn>
                      <a:cxn ang="T93">
                        <a:pos x="T38" y="T39"/>
                      </a:cxn>
                      <a:cxn ang="T94">
                        <a:pos x="T40" y="T41"/>
                      </a:cxn>
                      <a:cxn ang="T95">
                        <a:pos x="T42" y="T43"/>
                      </a:cxn>
                      <a:cxn ang="T96">
                        <a:pos x="T44" y="T45"/>
                      </a:cxn>
                      <a:cxn ang="T97">
                        <a:pos x="T46" y="T47"/>
                      </a:cxn>
                      <a:cxn ang="T98">
                        <a:pos x="T48" y="T49"/>
                      </a:cxn>
                      <a:cxn ang="T99">
                        <a:pos x="T50" y="T51"/>
                      </a:cxn>
                      <a:cxn ang="T100">
                        <a:pos x="T52" y="T53"/>
                      </a:cxn>
                      <a:cxn ang="T101">
                        <a:pos x="T54" y="T55"/>
                      </a:cxn>
                      <a:cxn ang="T102">
                        <a:pos x="T56" y="T57"/>
                      </a:cxn>
                      <a:cxn ang="T103">
                        <a:pos x="T58" y="T59"/>
                      </a:cxn>
                      <a:cxn ang="T104">
                        <a:pos x="T60" y="T61"/>
                      </a:cxn>
                      <a:cxn ang="T105">
                        <a:pos x="T62" y="T63"/>
                      </a:cxn>
                      <a:cxn ang="T106">
                        <a:pos x="T64" y="T65"/>
                      </a:cxn>
                      <a:cxn ang="T107">
                        <a:pos x="T66" y="T67"/>
                      </a:cxn>
                      <a:cxn ang="T108">
                        <a:pos x="T68" y="T69"/>
                      </a:cxn>
                      <a:cxn ang="T109">
                        <a:pos x="T70" y="T71"/>
                      </a:cxn>
                      <a:cxn ang="T110">
                        <a:pos x="T72" y="T73"/>
                      </a:cxn>
                    </a:cxnLst>
                    <a:rect l="0" t="0" r="r" b="b"/>
                    <a:pathLst>
                      <a:path w="931" h="149">
                        <a:moveTo>
                          <a:pt x="794" y="84"/>
                        </a:moveTo>
                        <a:cubicBezTo>
                          <a:pt x="813" y="72"/>
                          <a:pt x="931" y="14"/>
                          <a:pt x="825" y="0"/>
                        </a:cubicBezTo>
                        <a:lnTo>
                          <a:pt x="159" y="0"/>
                        </a:lnTo>
                        <a:cubicBezTo>
                          <a:pt x="149" y="12"/>
                          <a:pt x="162" y="18"/>
                          <a:pt x="143" y="29"/>
                        </a:cubicBezTo>
                        <a:cubicBezTo>
                          <a:pt x="130" y="44"/>
                          <a:pt x="133" y="39"/>
                          <a:pt x="116" y="48"/>
                        </a:cubicBezTo>
                        <a:cubicBezTo>
                          <a:pt x="108" y="46"/>
                          <a:pt x="100" y="44"/>
                          <a:pt x="91" y="42"/>
                        </a:cubicBezTo>
                        <a:cubicBezTo>
                          <a:pt x="89" y="41"/>
                          <a:pt x="83" y="40"/>
                          <a:pt x="83" y="40"/>
                        </a:cubicBezTo>
                        <a:cubicBezTo>
                          <a:pt x="76" y="40"/>
                          <a:pt x="68" y="39"/>
                          <a:pt x="62" y="42"/>
                        </a:cubicBezTo>
                        <a:cubicBezTo>
                          <a:pt x="54" y="45"/>
                          <a:pt x="46" y="61"/>
                          <a:pt x="38" y="67"/>
                        </a:cubicBezTo>
                        <a:cubicBezTo>
                          <a:pt x="32" y="71"/>
                          <a:pt x="27" y="74"/>
                          <a:pt x="22" y="77"/>
                        </a:cubicBezTo>
                        <a:cubicBezTo>
                          <a:pt x="16" y="81"/>
                          <a:pt x="5" y="86"/>
                          <a:pt x="5" y="86"/>
                        </a:cubicBezTo>
                        <a:cubicBezTo>
                          <a:pt x="9" y="95"/>
                          <a:pt x="7" y="97"/>
                          <a:pt x="0" y="105"/>
                        </a:cubicBezTo>
                        <a:cubicBezTo>
                          <a:pt x="17" y="107"/>
                          <a:pt x="22" y="107"/>
                          <a:pt x="16" y="120"/>
                        </a:cubicBezTo>
                        <a:cubicBezTo>
                          <a:pt x="27" y="122"/>
                          <a:pt x="48" y="116"/>
                          <a:pt x="59" y="115"/>
                        </a:cubicBezTo>
                        <a:cubicBezTo>
                          <a:pt x="71" y="112"/>
                          <a:pt x="73" y="117"/>
                          <a:pt x="83" y="111"/>
                        </a:cubicBezTo>
                        <a:cubicBezTo>
                          <a:pt x="89" y="96"/>
                          <a:pt x="83" y="100"/>
                          <a:pt x="97" y="96"/>
                        </a:cubicBezTo>
                        <a:cubicBezTo>
                          <a:pt x="100" y="94"/>
                          <a:pt x="103" y="93"/>
                          <a:pt x="105" y="90"/>
                        </a:cubicBezTo>
                        <a:cubicBezTo>
                          <a:pt x="106" y="88"/>
                          <a:pt x="106" y="85"/>
                          <a:pt x="108" y="84"/>
                        </a:cubicBezTo>
                        <a:cubicBezTo>
                          <a:pt x="112" y="80"/>
                          <a:pt x="140" y="69"/>
                          <a:pt x="148" y="67"/>
                        </a:cubicBezTo>
                        <a:cubicBezTo>
                          <a:pt x="160" y="52"/>
                          <a:pt x="153" y="56"/>
                          <a:pt x="167" y="52"/>
                        </a:cubicBezTo>
                        <a:cubicBezTo>
                          <a:pt x="178" y="55"/>
                          <a:pt x="179" y="62"/>
                          <a:pt x="191" y="58"/>
                        </a:cubicBezTo>
                        <a:cubicBezTo>
                          <a:pt x="199" y="52"/>
                          <a:pt x="206" y="51"/>
                          <a:pt x="215" y="46"/>
                        </a:cubicBezTo>
                        <a:cubicBezTo>
                          <a:pt x="226" y="58"/>
                          <a:pt x="217" y="46"/>
                          <a:pt x="223" y="69"/>
                        </a:cubicBezTo>
                        <a:cubicBezTo>
                          <a:pt x="226" y="79"/>
                          <a:pt x="233" y="85"/>
                          <a:pt x="237" y="94"/>
                        </a:cubicBezTo>
                        <a:cubicBezTo>
                          <a:pt x="227" y="100"/>
                          <a:pt x="229" y="104"/>
                          <a:pt x="218" y="107"/>
                        </a:cubicBezTo>
                        <a:cubicBezTo>
                          <a:pt x="207" y="120"/>
                          <a:pt x="203" y="113"/>
                          <a:pt x="188" y="109"/>
                        </a:cubicBezTo>
                        <a:cubicBezTo>
                          <a:pt x="191" y="117"/>
                          <a:pt x="200" y="127"/>
                          <a:pt x="210" y="132"/>
                        </a:cubicBezTo>
                        <a:cubicBezTo>
                          <a:pt x="218" y="114"/>
                          <a:pt x="211" y="122"/>
                          <a:pt x="231" y="113"/>
                        </a:cubicBezTo>
                        <a:cubicBezTo>
                          <a:pt x="237" y="111"/>
                          <a:pt x="248" y="105"/>
                          <a:pt x="248" y="105"/>
                        </a:cubicBezTo>
                        <a:cubicBezTo>
                          <a:pt x="248" y="100"/>
                          <a:pt x="246" y="94"/>
                          <a:pt x="250" y="90"/>
                        </a:cubicBezTo>
                        <a:cubicBezTo>
                          <a:pt x="253" y="88"/>
                          <a:pt x="254" y="96"/>
                          <a:pt x="258" y="96"/>
                        </a:cubicBezTo>
                        <a:cubicBezTo>
                          <a:pt x="262" y="97"/>
                          <a:pt x="264" y="94"/>
                          <a:pt x="266" y="92"/>
                        </a:cubicBezTo>
                        <a:cubicBezTo>
                          <a:pt x="262" y="82"/>
                          <a:pt x="252" y="77"/>
                          <a:pt x="248" y="67"/>
                        </a:cubicBezTo>
                        <a:cubicBezTo>
                          <a:pt x="250" y="63"/>
                          <a:pt x="255" y="58"/>
                          <a:pt x="253" y="54"/>
                        </a:cubicBezTo>
                        <a:cubicBezTo>
                          <a:pt x="251" y="50"/>
                          <a:pt x="248" y="42"/>
                          <a:pt x="248" y="42"/>
                        </a:cubicBezTo>
                        <a:cubicBezTo>
                          <a:pt x="256" y="32"/>
                          <a:pt x="259" y="35"/>
                          <a:pt x="266" y="44"/>
                        </a:cubicBezTo>
                        <a:cubicBezTo>
                          <a:pt x="270" y="56"/>
                          <a:pt x="276" y="61"/>
                          <a:pt x="285" y="71"/>
                        </a:cubicBezTo>
                        <a:cubicBezTo>
                          <a:pt x="281" y="81"/>
                          <a:pt x="289" y="82"/>
                          <a:pt x="277" y="88"/>
                        </a:cubicBezTo>
                        <a:cubicBezTo>
                          <a:pt x="262" y="106"/>
                          <a:pt x="278" y="83"/>
                          <a:pt x="274" y="101"/>
                        </a:cubicBezTo>
                        <a:cubicBezTo>
                          <a:pt x="274" y="105"/>
                          <a:pt x="268" y="109"/>
                          <a:pt x="266" y="113"/>
                        </a:cubicBezTo>
                        <a:cubicBezTo>
                          <a:pt x="270" y="122"/>
                          <a:pt x="268" y="125"/>
                          <a:pt x="261" y="132"/>
                        </a:cubicBezTo>
                        <a:cubicBezTo>
                          <a:pt x="268" y="149"/>
                          <a:pt x="282" y="134"/>
                          <a:pt x="296" y="130"/>
                        </a:cubicBezTo>
                        <a:cubicBezTo>
                          <a:pt x="299" y="122"/>
                          <a:pt x="295" y="119"/>
                          <a:pt x="299" y="111"/>
                        </a:cubicBezTo>
                        <a:cubicBezTo>
                          <a:pt x="296" y="105"/>
                          <a:pt x="288" y="97"/>
                          <a:pt x="299" y="92"/>
                        </a:cubicBezTo>
                        <a:cubicBezTo>
                          <a:pt x="303" y="90"/>
                          <a:pt x="315" y="88"/>
                          <a:pt x="315" y="88"/>
                        </a:cubicBezTo>
                        <a:cubicBezTo>
                          <a:pt x="326" y="91"/>
                          <a:pt x="325" y="95"/>
                          <a:pt x="331" y="103"/>
                        </a:cubicBezTo>
                        <a:cubicBezTo>
                          <a:pt x="339" y="84"/>
                          <a:pt x="331" y="90"/>
                          <a:pt x="361" y="92"/>
                        </a:cubicBezTo>
                        <a:cubicBezTo>
                          <a:pt x="355" y="76"/>
                          <a:pt x="365" y="76"/>
                          <a:pt x="382" y="73"/>
                        </a:cubicBezTo>
                        <a:cubicBezTo>
                          <a:pt x="383" y="71"/>
                          <a:pt x="387" y="57"/>
                          <a:pt x="393" y="54"/>
                        </a:cubicBezTo>
                        <a:cubicBezTo>
                          <a:pt x="398" y="52"/>
                          <a:pt x="409" y="50"/>
                          <a:pt x="409" y="50"/>
                        </a:cubicBezTo>
                        <a:cubicBezTo>
                          <a:pt x="430" y="54"/>
                          <a:pt x="413" y="58"/>
                          <a:pt x="431" y="63"/>
                        </a:cubicBezTo>
                        <a:cubicBezTo>
                          <a:pt x="433" y="61"/>
                          <a:pt x="435" y="57"/>
                          <a:pt x="439" y="56"/>
                        </a:cubicBezTo>
                        <a:cubicBezTo>
                          <a:pt x="445" y="55"/>
                          <a:pt x="452" y="61"/>
                          <a:pt x="457" y="58"/>
                        </a:cubicBezTo>
                        <a:cubicBezTo>
                          <a:pt x="461" y="57"/>
                          <a:pt x="457" y="52"/>
                          <a:pt x="455" y="50"/>
                        </a:cubicBezTo>
                        <a:cubicBezTo>
                          <a:pt x="451" y="47"/>
                          <a:pt x="444" y="47"/>
                          <a:pt x="439" y="46"/>
                        </a:cubicBezTo>
                        <a:cubicBezTo>
                          <a:pt x="436" y="45"/>
                          <a:pt x="431" y="44"/>
                          <a:pt x="431" y="44"/>
                        </a:cubicBezTo>
                        <a:cubicBezTo>
                          <a:pt x="440" y="38"/>
                          <a:pt x="443" y="36"/>
                          <a:pt x="455" y="40"/>
                        </a:cubicBezTo>
                        <a:cubicBezTo>
                          <a:pt x="461" y="38"/>
                          <a:pt x="467" y="35"/>
                          <a:pt x="474" y="35"/>
                        </a:cubicBezTo>
                        <a:cubicBezTo>
                          <a:pt x="483" y="36"/>
                          <a:pt x="511" y="43"/>
                          <a:pt x="519" y="46"/>
                        </a:cubicBezTo>
                        <a:cubicBezTo>
                          <a:pt x="527" y="49"/>
                          <a:pt x="544" y="54"/>
                          <a:pt x="544" y="54"/>
                        </a:cubicBezTo>
                        <a:cubicBezTo>
                          <a:pt x="548" y="54"/>
                          <a:pt x="560" y="52"/>
                          <a:pt x="565" y="50"/>
                        </a:cubicBezTo>
                        <a:cubicBezTo>
                          <a:pt x="570" y="47"/>
                          <a:pt x="581" y="42"/>
                          <a:pt x="581" y="42"/>
                        </a:cubicBezTo>
                        <a:cubicBezTo>
                          <a:pt x="585" y="42"/>
                          <a:pt x="598" y="44"/>
                          <a:pt x="600" y="48"/>
                        </a:cubicBezTo>
                        <a:cubicBezTo>
                          <a:pt x="603" y="55"/>
                          <a:pt x="589" y="61"/>
                          <a:pt x="584" y="63"/>
                        </a:cubicBezTo>
                        <a:cubicBezTo>
                          <a:pt x="576" y="69"/>
                          <a:pt x="568" y="69"/>
                          <a:pt x="565" y="77"/>
                        </a:cubicBezTo>
                        <a:cubicBezTo>
                          <a:pt x="568" y="86"/>
                          <a:pt x="564" y="92"/>
                          <a:pt x="568" y="101"/>
                        </a:cubicBezTo>
                        <a:cubicBezTo>
                          <a:pt x="574" y="93"/>
                          <a:pt x="577" y="91"/>
                          <a:pt x="589" y="94"/>
                        </a:cubicBezTo>
                        <a:cubicBezTo>
                          <a:pt x="595" y="108"/>
                          <a:pt x="602" y="93"/>
                          <a:pt x="611" y="88"/>
                        </a:cubicBezTo>
                        <a:cubicBezTo>
                          <a:pt x="613" y="86"/>
                          <a:pt x="613" y="83"/>
                          <a:pt x="616" y="82"/>
                        </a:cubicBezTo>
                        <a:cubicBezTo>
                          <a:pt x="618" y="80"/>
                          <a:pt x="622" y="81"/>
                          <a:pt x="624" y="80"/>
                        </a:cubicBezTo>
                        <a:cubicBezTo>
                          <a:pt x="626" y="78"/>
                          <a:pt x="626" y="75"/>
                          <a:pt x="627" y="73"/>
                        </a:cubicBezTo>
                        <a:cubicBezTo>
                          <a:pt x="632" y="65"/>
                          <a:pt x="638" y="63"/>
                          <a:pt x="648" y="61"/>
                        </a:cubicBezTo>
                        <a:cubicBezTo>
                          <a:pt x="664" y="62"/>
                          <a:pt x="684" y="69"/>
                          <a:pt x="700" y="69"/>
                        </a:cubicBezTo>
                        <a:lnTo>
                          <a:pt x="794" y="84"/>
                        </a:ln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3" name="Freeform 106"/>
                  <p:cNvSpPr>
                    <a:spLocks/>
                  </p:cNvSpPr>
                  <p:nvPr/>
                </p:nvSpPr>
                <p:spPr bwMode="ltGray">
                  <a:xfrm>
                    <a:off x="3981" y="282"/>
                    <a:ext cx="13" cy="10"/>
                  </a:xfrm>
                  <a:custGeom>
                    <a:avLst/>
                    <a:gdLst>
                      <a:gd name="T0" fmla="*/ 3 w 31"/>
                      <a:gd name="T1" fmla="*/ 28 h 30"/>
                      <a:gd name="T2" fmla="*/ 31 w 31"/>
                      <a:gd name="T3" fmla="*/ 0 h 30"/>
                      <a:gd name="T4" fmla="*/ 19 w 31"/>
                      <a:gd name="T5" fmla="*/ 24 h 30"/>
                      <a:gd name="T6" fmla="*/ 3 w 31"/>
                      <a:gd name="T7" fmla="*/ 28 h 3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31" h="30">
                        <a:moveTo>
                          <a:pt x="3" y="28"/>
                        </a:moveTo>
                        <a:cubicBezTo>
                          <a:pt x="8" y="8"/>
                          <a:pt x="12" y="6"/>
                          <a:pt x="31" y="0"/>
                        </a:cubicBezTo>
                        <a:cubicBezTo>
                          <a:pt x="29" y="5"/>
                          <a:pt x="25" y="22"/>
                          <a:pt x="19" y="24"/>
                        </a:cubicBezTo>
                        <a:cubicBezTo>
                          <a:pt x="0" y="30"/>
                          <a:pt x="3" y="9"/>
                          <a:pt x="3" y="2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4" name="Freeform 107"/>
                  <p:cNvSpPr>
                    <a:spLocks/>
                  </p:cNvSpPr>
                  <p:nvPr/>
                </p:nvSpPr>
                <p:spPr bwMode="ltGray">
                  <a:xfrm>
                    <a:off x="3966" y="296"/>
                    <a:ext cx="19" cy="11"/>
                  </a:xfrm>
                  <a:custGeom>
                    <a:avLst/>
                    <a:gdLst>
                      <a:gd name="T0" fmla="*/ 6 w 44"/>
                      <a:gd name="T1" fmla="*/ 32 h 32"/>
                      <a:gd name="T2" fmla="*/ 22 w 44"/>
                      <a:gd name="T3" fmla="*/ 0 h 32"/>
                      <a:gd name="T4" fmla="*/ 38 w 44"/>
                      <a:gd name="T5" fmla="*/ 4 h 32"/>
                      <a:gd name="T6" fmla="*/ 6 w 44"/>
                      <a:gd name="T7" fmla="*/ 32 h 32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44" h="32">
                        <a:moveTo>
                          <a:pt x="6" y="32"/>
                        </a:moveTo>
                        <a:cubicBezTo>
                          <a:pt x="0" y="14"/>
                          <a:pt x="7" y="10"/>
                          <a:pt x="22" y="0"/>
                        </a:cubicBezTo>
                        <a:cubicBezTo>
                          <a:pt x="27" y="1"/>
                          <a:pt x="35" y="0"/>
                          <a:pt x="38" y="4"/>
                        </a:cubicBezTo>
                        <a:cubicBezTo>
                          <a:pt x="44" y="13"/>
                          <a:pt x="16" y="32"/>
                          <a:pt x="6" y="3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5" name="Freeform 108"/>
                  <p:cNvSpPr>
                    <a:spLocks/>
                  </p:cNvSpPr>
                  <p:nvPr/>
                </p:nvSpPr>
                <p:spPr bwMode="ltGray">
                  <a:xfrm>
                    <a:off x="4028" y="337"/>
                    <a:ext cx="32" cy="6"/>
                  </a:xfrm>
                  <a:custGeom>
                    <a:avLst/>
                    <a:gdLst>
                      <a:gd name="T0" fmla="*/ 37 w 76"/>
                      <a:gd name="T1" fmla="*/ 18 h 18"/>
                      <a:gd name="T2" fmla="*/ 25 w 76"/>
                      <a:gd name="T3" fmla="*/ 2 h 18"/>
                      <a:gd name="T4" fmla="*/ 37 w 76"/>
                      <a:gd name="T5" fmla="*/ 18 h 18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76" h="18">
                        <a:moveTo>
                          <a:pt x="37" y="18"/>
                        </a:moveTo>
                        <a:cubicBezTo>
                          <a:pt x="25" y="14"/>
                          <a:pt x="0" y="10"/>
                          <a:pt x="25" y="2"/>
                        </a:cubicBezTo>
                        <a:cubicBezTo>
                          <a:pt x="76" y="9"/>
                          <a:pt x="46" y="0"/>
                          <a:pt x="37" y="18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6" name="Freeform 109"/>
                  <p:cNvSpPr>
                    <a:spLocks/>
                  </p:cNvSpPr>
                  <p:nvPr/>
                </p:nvSpPr>
                <p:spPr bwMode="ltGray">
                  <a:xfrm>
                    <a:off x="4083" y="336"/>
                    <a:ext cx="18" cy="15"/>
                  </a:xfrm>
                  <a:custGeom>
                    <a:avLst/>
                    <a:gdLst>
                      <a:gd name="T0" fmla="*/ 0 w 42"/>
                      <a:gd name="T1" fmla="*/ 21 h 44"/>
                      <a:gd name="T2" fmla="*/ 12 w 42"/>
                      <a:gd name="T3" fmla="*/ 9 h 44"/>
                      <a:gd name="T4" fmla="*/ 0 w 42"/>
                      <a:gd name="T5" fmla="*/ 21 h 44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42" h="44">
                        <a:moveTo>
                          <a:pt x="0" y="21"/>
                        </a:moveTo>
                        <a:cubicBezTo>
                          <a:pt x="4" y="17"/>
                          <a:pt x="7" y="11"/>
                          <a:pt x="12" y="9"/>
                        </a:cubicBezTo>
                        <a:cubicBezTo>
                          <a:pt x="42" y="0"/>
                          <a:pt x="23" y="44"/>
                          <a:pt x="0" y="21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1127" name="Freeform 110"/>
                  <p:cNvSpPr>
                    <a:spLocks/>
                  </p:cNvSpPr>
                  <p:nvPr/>
                </p:nvSpPr>
                <p:spPr bwMode="ltGray">
                  <a:xfrm>
                    <a:off x="3936" y="295"/>
                    <a:ext cx="14" cy="10"/>
                  </a:xfrm>
                  <a:custGeom>
                    <a:avLst/>
                    <a:gdLst>
                      <a:gd name="T0" fmla="*/ 7 w 31"/>
                      <a:gd name="T1" fmla="*/ 22 h 30"/>
                      <a:gd name="T2" fmla="*/ 31 w 31"/>
                      <a:gd name="T3" fmla="*/ 10 h 30"/>
                      <a:gd name="T4" fmla="*/ 7 w 31"/>
                      <a:gd name="T5" fmla="*/ 22 h 30"/>
                      <a:gd name="T6" fmla="*/ 0 60000 65536"/>
                      <a:gd name="T7" fmla="*/ 0 60000 65536"/>
                      <a:gd name="T8" fmla="*/ 0 60000 65536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0" t="0" r="r" b="b"/>
                    <a:pathLst>
                      <a:path w="31" h="30">
                        <a:moveTo>
                          <a:pt x="7" y="22"/>
                        </a:moveTo>
                        <a:cubicBezTo>
                          <a:pt x="0" y="0"/>
                          <a:pt x="15" y="6"/>
                          <a:pt x="31" y="10"/>
                        </a:cubicBezTo>
                        <a:cubicBezTo>
                          <a:pt x="14" y="16"/>
                          <a:pt x="15" y="30"/>
                          <a:pt x="7" y="22"/>
                        </a:cubicBezTo>
                        <a:close/>
                      </a:path>
                    </a:pathLst>
                  </a:custGeom>
                  <a:solidFill>
                    <a:schemeClr val="folHlink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</p:grpSp>
          <p:grpSp>
            <p:nvGrpSpPr>
              <p:cNvPr id="1036" name="Group 111"/>
              <p:cNvGrpSpPr>
                <a:grpSpLocks/>
              </p:cNvGrpSpPr>
              <p:nvPr/>
            </p:nvGrpSpPr>
            <p:grpSpPr bwMode="auto">
              <a:xfrm>
                <a:off x="798" y="111"/>
                <a:ext cx="4702" cy="418"/>
                <a:chOff x="798" y="255"/>
                <a:chExt cx="4702" cy="418"/>
              </a:xfrm>
            </p:grpSpPr>
            <p:sp>
              <p:nvSpPr>
                <p:cNvPr id="1063" name="Line 112"/>
                <p:cNvSpPr>
                  <a:spLocks noChangeShapeType="1"/>
                </p:cNvSpPr>
                <p:nvPr/>
              </p:nvSpPr>
              <p:spPr bwMode="white">
                <a:xfrm>
                  <a:off x="798" y="476"/>
                  <a:ext cx="4702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4" name="Line 113"/>
                <p:cNvSpPr>
                  <a:spLocks noChangeShapeType="1"/>
                </p:cNvSpPr>
                <p:nvPr/>
              </p:nvSpPr>
              <p:spPr bwMode="white">
                <a:xfrm>
                  <a:off x="102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5" name="Line 114"/>
                <p:cNvSpPr>
                  <a:spLocks noChangeShapeType="1"/>
                </p:cNvSpPr>
                <p:nvPr/>
              </p:nvSpPr>
              <p:spPr bwMode="white">
                <a:xfrm>
                  <a:off x="125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6" name="Line 115"/>
                <p:cNvSpPr>
                  <a:spLocks noChangeShapeType="1"/>
                </p:cNvSpPr>
                <p:nvPr/>
              </p:nvSpPr>
              <p:spPr bwMode="white">
                <a:xfrm>
                  <a:off x="148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7" name="Line 116"/>
                <p:cNvSpPr>
                  <a:spLocks noChangeShapeType="1"/>
                </p:cNvSpPr>
                <p:nvPr/>
              </p:nvSpPr>
              <p:spPr bwMode="white">
                <a:xfrm>
                  <a:off x="171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8" name="Line 117"/>
                <p:cNvSpPr>
                  <a:spLocks noChangeShapeType="1"/>
                </p:cNvSpPr>
                <p:nvPr/>
              </p:nvSpPr>
              <p:spPr bwMode="white">
                <a:xfrm>
                  <a:off x="193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9" name="Line 118"/>
                <p:cNvSpPr>
                  <a:spLocks noChangeShapeType="1"/>
                </p:cNvSpPr>
                <p:nvPr/>
              </p:nvSpPr>
              <p:spPr bwMode="white">
                <a:xfrm>
                  <a:off x="216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0" name="Line 119"/>
                <p:cNvSpPr>
                  <a:spLocks noChangeShapeType="1"/>
                </p:cNvSpPr>
                <p:nvPr/>
              </p:nvSpPr>
              <p:spPr bwMode="white">
                <a:xfrm>
                  <a:off x="239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1" name="Line 120"/>
                <p:cNvSpPr>
                  <a:spLocks noChangeShapeType="1"/>
                </p:cNvSpPr>
                <p:nvPr/>
              </p:nvSpPr>
              <p:spPr bwMode="white">
                <a:xfrm>
                  <a:off x="262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2" name="Line 121"/>
                <p:cNvSpPr>
                  <a:spLocks noChangeShapeType="1"/>
                </p:cNvSpPr>
                <p:nvPr/>
              </p:nvSpPr>
              <p:spPr bwMode="white">
                <a:xfrm>
                  <a:off x="285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3" name="Line 122"/>
                <p:cNvSpPr>
                  <a:spLocks noChangeShapeType="1"/>
                </p:cNvSpPr>
                <p:nvPr/>
              </p:nvSpPr>
              <p:spPr bwMode="white">
                <a:xfrm>
                  <a:off x="307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4" name="Line 123"/>
                <p:cNvSpPr>
                  <a:spLocks noChangeShapeType="1"/>
                </p:cNvSpPr>
                <p:nvPr/>
              </p:nvSpPr>
              <p:spPr bwMode="white">
                <a:xfrm>
                  <a:off x="330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5" name="Line 124"/>
                <p:cNvSpPr>
                  <a:spLocks noChangeShapeType="1"/>
                </p:cNvSpPr>
                <p:nvPr/>
              </p:nvSpPr>
              <p:spPr bwMode="white">
                <a:xfrm>
                  <a:off x="353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6" name="Line 125"/>
                <p:cNvSpPr>
                  <a:spLocks noChangeShapeType="1"/>
                </p:cNvSpPr>
                <p:nvPr/>
              </p:nvSpPr>
              <p:spPr bwMode="white">
                <a:xfrm>
                  <a:off x="376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7" name="Line 126"/>
                <p:cNvSpPr>
                  <a:spLocks noChangeShapeType="1"/>
                </p:cNvSpPr>
                <p:nvPr/>
              </p:nvSpPr>
              <p:spPr bwMode="white">
                <a:xfrm>
                  <a:off x="399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8" name="Line 127"/>
                <p:cNvSpPr>
                  <a:spLocks noChangeShapeType="1"/>
                </p:cNvSpPr>
                <p:nvPr/>
              </p:nvSpPr>
              <p:spPr bwMode="white">
                <a:xfrm>
                  <a:off x="421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79" name="Line 128"/>
                <p:cNvSpPr>
                  <a:spLocks noChangeShapeType="1"/>
                </p:cNvSpPr>
                <p:nvPr/>
              </p:nvSpPr>
              <p:spPr bwMode="white">
                <a:xfrm>
                  <a:off x="4446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0" name="Line 129"/>
                <p:cNvSpPr>
                  <a:spLocks noChangeShapeType="1"/>
                </p:cNvSpPr>
                <p:nvPr/>
              </p:nvSpPr>
              <p:spPr bwMode="white">
                <a:xfrm>
                  <a:off x="4674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1" name="Line 130"/>
                <p:cNvSpPr>
                  <a:spLocks noChangeShapeType="1"/>
                </p:cNvSpPr>
                <p:nvPr/>
              </p:nvSpPr>
              <p:spPr bwMode="white">
                <a:xfrm>
                  <a:off x="4902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2" name="Line 131"/>
                <p:cNvSpPr>
                  <a:spLocks noChangeShapeType="1"/>
                </p:cNvSpPr>
                <p:nvPr/>
              </p:nvSpPr>
              <p:spPr bwMode="white">
                <a:xfrm>
                  <a:off x="5130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83" name="Line 132"/>
                <p:cNvSpPr>
                  <a:spLocks noChangeShapeType="1"/>
                </p:cNvSpPr>
                <p:nvPr/>
              </p:nvSpPr>
              <p:spPr bwMode="white">
                <a:xfrm>
                  <a:off x="5358" y="255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1037" name="Group 133"/>
              <p:cNvGrpSpPr>
                <a:grpSpLocks/>
              </p:cNvGrpSpPr>
              <p:nvPr/>
            </p:nvGrpSpPr>
            <p:grpSpPr bwMode="auto">
              <a:xfrm>
                <a:off x="1208" y="109"/>
                <a:ext cx="3694" cy="423"/>
                <a:chOff x="1034" y="245"/>
                <a:chExt cx="3694" cy="423"/>
              </a:xfrm>
            </p:grpSpPr>
            <p:sp>
              <p:nvSpPr>
                <p:cNvPr id="1038" name="Line 134"/>
                <p:cNvSpPr>
                  <a:spLocks noChangeShapeType="1"/>
                </p:cNvSpPr>
                <p:nvPr/>
              </p:nvSpPr>
              <p:spPr bwMode="ltGray">
                <a:xfrm>
                  <a:off x="2676" y="246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39" name="Line 135"/>
                <p:cNvSpPr>
                  <a:spLocks noChangeShapeType="1"/>
                </p:cNvSpPr>
                <p:nvPr/>
              </p:nvSpPr>
              <p:spPr bwMode="ltGray">
                <a:xfrm>
                  <a:off x="2798" y="468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0" name="Line 136"/>
                <p:cNvSpPr>
                  <a:spLocks noChangeShapeType="1"/>
                </p:cNvSpPr>
                <p:nvPr/>
              </p:nvSpPr>
              <p:spPr bwMode="ltGray">
                <a:xfrm>
                  <a:off x="2904" y="486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1" name="Line 137"/>
                <p:cNvSpPr>
                  <a:spLocks noChangeShapeType="1"/>
                </p:cNvSpPr>
                <p:nvPr/>
              </p:nvSpPr>
              <p:spPr bwMode="ltGray">
                <a:xfrm>
                  <a:off x="3132" y="586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2" name="Line 138"/>
                <p:cNvSpPr>
                  <a:spLocks noChangeShapeType="1"/>
                </p:cNvSpPr>
                <p:nvPr/>
              </p:nvSpPr>
              <p:spPr bwMode="ltGray">
                <a:xfrm>
                  <a:off x="3816" y="358"/>
                  <a:ext cx="0" cy="18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3" name="Line 139"/>
                <p:cNvSpPr>
                  <a:spLocks noChangeShapeType="1"/>
                </p:cNvSpPr>
                <p:nvPr/>
              </p:nvSpPr>
              <p:spPr bwMode="ltGray">
                <a:xfrm>
                  <a:off x="3722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4" name="Line 140"/>
                <p:cNvSpPr>
                  <a:spLocks noChangeShapeType="1"/>
                </p:cNvSpPr>
                <p:nvPr/>
              </p:nvSpPr>
              <p:spPr bwMode="ltGray">
                <a:xfrm>
                  <a:off x="4044" y="372"/>
                  <a:ext cx="0" cy="29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5" name="Line 141"/>
                <p:cNvSpPr>
                  <a:spLocks noChangeShapeType="1"/>
                </p:cNvSpPr>
                <p:nvPr/>
              </p:nvSpPr>
              <p:spPr bwMode="ltGray">
                <a:xfrm flipV="1">
                  <a:off x="4046" y="248"/>
                  <a:ext cx="0" cy="5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6" name="Line 142"/>
                <p:cNvSpPr>
                  <a:spLocks noChangeShapeType="1"/>
                </p:cNvSpPr>
                <p:nvPr/>
              </p:nvSpPr>
              <p:spPr bwMode="ltGray">
                <a:xfrm flipV="1">
                  <a:off x="4272" y="246"/>
                  <a:ext cx="0" cy="18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7" name="Line 143"/>
                <p:cNvSpPr>
                  <a:spLocks noChangeShapeType="1"/>
                </p:cNvSpPr>
                <p:nvPr/>
              </p:nvSpPr>
              <p:spPr bwMode="ltGray">
                <a:xfrm flipH="1">
                  <a:off x="4422" y="468"/>
                  <a:ext cx="7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8" name="Line 144"/>
                <p:cNvSpPr>
                  <a:spLocks noChangeShapeType="1"/>
                </p:cNvSpPr>
                <p:nvPr/>
              </p:nvSpPr>
              <p:spPr bwMode="ltGray">
                <a:xfrm flipH="1">
                  <a:off x="4290" y="468"/>
                  <a:ext cx="6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49" name="Line 145"/>
                <p:cNvSpPr>
                  <a:spLocks noChangeShapeType="1"/>
                </p:cNvSpPr>
                <p:nvPr/>
              </p:nvSpPr>
              <p:spPr bwMode="ltGray">
                <a:xfrm flipV="1">
                  <a:off x="4500" y="246"/>
                  <a:ext cx="0" cy="27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0" name="Line 146"/>
                <p:cNvSpPr>
                  <a:spLocks noChangeShapeType="1"/>
                </p:cNvSpPr>
                <p:nvPr/>
              </p:nvSpPr>
              <p:spPr bwMode="ltGray">
                <a:xfrm>
                  <a:off x="4728" y="606"/>
                  <a:ext cx="0" cy="34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1" name="Line 147"/>
                <p:cNvSpPr>
                  <a:spLocks noChangeShapeType="1"/>
                </p:cNvSpPr>
                <p:nvPr/>
              </p:nvSpPr>
              <p:spPr bwMode="ltGray">
                <a:xfrm>
                  <a:off x="1992" y="250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2" name="Line 148"/>
                <p:cNvSpPr>
                  <a:spLocks noChangeShapeType="1"/>
                </p:cNvSpPr>
                <p:nvPr/>
              </p:nvSpPr>
              <p:spPr bwMode="ltGray">
                <a:xfrm>
                  <a:off x="1764" y="247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3" name="Line 149"/>
                <p:cNvSpPr>
                  <a:spLocks noChangeShapeType="1"/>
                </p:cNvSpPr>
                <p:nvPr/>
              </p:nvSpPr>
              <p:spPr bwMode="ltGray">
                <a:xfrm flipH="1">
                  <a:off x="1738" y="468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4" name="Line 150"/>
                <p:cNvSpPr>
                  <a:spLocks noChangeShapeType="1"/>
                </p:cNvSpPr>
                <p:nvPr/>
              </p:nvSpPr>
              <p:spPr bwMode="ltGray">
                <a:xfrm>
                  <a:off x="1604" y="468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5" name="Line 151"/>
                <p:cNvSpPr>
                  <a:spLocks noChangeShapeType="1"/>
                </p:cNvSpPr>
                <p:nvPr/>
              </p:nvSpPr>
              <p:spPr bwMode="ltGray">
                <a:xfrm flipH="1">
                  <a:off x="1404" y="468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6" name="Line 152"/>
                <p:cNvSpPr>
                  <a:spLocks noChangeShapeType="1"/>
                </p:cNvSpPr>
                <p:nvPr/>
              </p:nvSpPr>
              <p:spPr bwMode="ltGray">
                <a:xfrm>
                  <a:off x="1034" y="468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7" name="Line 153"/>
                <p:cNvSpPr>
                  <a:spLocks noChangeShapeType="1"/>
                </p:cNvSpPr>
                <p:nvPr/>
              </p:nvSpPr>
              <p:spPr bwMode="ltGray">
                <a:xfrm>
                  <a:off x="1306" y="370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8" name="Line 154"/>
                <p:cNvSpPr>
                  <a:spLocks noChangeShapeType="1"/>
                </p:cNvSpPr>
                <p:nvPr/>
              </p:nvSpPr>
              <p:spPr bwMode="ltGray">
                <a:xfrm>
                  <a:off x="1080" y="388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59" name="Line 155"/>
                <p:cNvSpPr>
                  <a:spLocks noChangeShapeType="1"/>
                </p:cNvSpPr>
                <p:nvPr/>
              </p:nvSpPr>
              <p:spPr bwMode="ltGray">
                <a:xfrm flipH="1" flipV="1">
                  <a:off x="1308" y="245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0" name="Line 156"/>
                <p:cNvSpPr>
                  <a:spLocks noChangeShapeType="1"/>
                </p:cNvSpPr>
                <p:nvPr/>
              </p:nvSpPr>
              <p:spPr bwMode="ltGray">
                <a:xfrm>
                  <a:off x="1536" y="316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1" name="Line 157"/>
                <p:cNvSpPr>
                  <a:spLocks noChangeShapeType="1"/>
                </p:cNvSpPr>
                <p:nvPr/>
              </p:nvSpPr>
              <p:spPr bwMode="ltGray">
                <a:xfrm flipV="1">
                  <a:off x="1536" y="247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1062" name="Line 158"/>
                <p:cNvSpPr>
                  <a:spLocks noChangeShapeType="1"/>
                </p:cNvSpPr>
                <p:nvPr/>
              </p:nvSpPr>
              <p:spPr bwMode="ltGray">
                <a:xfrm>
                  <a:off x="4095" y="467"/>
                  <a:ext cx="8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pic>
          <p:nvPicPr>
            <p:cNvPr id="1033" name="Picture 159" descr="earth"/>
            <p:cNvPicPr>
              <a:picLocks noChangeAspect="1" noChangeArrowheads="1"/>
            </p:cNvPicPr>
            <p:nvPr userDrawn="1"/>
          </p:nvPicPr>
          <p:blipFill>
            <a:blip r:embed="rId13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5" y="55"/>
              <a:ext cx="562" cy="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68" r:id="rId3"/>
    <p:sldLayoutId id="2147483869" r:id="rId4"/>
    <p:sldLayoutId id="2147483870" r:id="rId5"/>
    <p:sldLayoutId id="2147483878" r:id="rId6"/>
    <p:sldLayoutId id="2147483871" r:id="rId7"/>
    <p:sldLayoutId id="2147483872" r:id="rId8"/>
    <p:sldLayoutId id="2147483873" r:id="rId9"/>
    <p:sldLayoutId id="2147483874" r:id="rId10"/>
    <p:sldLayoutId id="2147483875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chemeClr val="tx2"/>
          </a:solidFill>
          <a:latin typeface="Times New Roman" pitchFamily="18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 i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4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75000"/>
        <a:buBlip>
          <a:blip r:embed="rId15"/>
        </a:buBlip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6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2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4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981200"/>
            <a:ext cx="6934200" cy="2209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Chapter 6</a:t>
            </a:r>
            <a:br>
              <a:rPr lang="en-CA" dirty="0" smtClean="0">
                <a:solidFill>
                  <a:schemeClr val="tx2">
                    <a:satMod val="130000"/>
                  </a:schemeClr>
                </a:solidFill>
              </a:rPr>
            </a:br>
            <a:r>
              <a:rPr lang="en-CA" dirty="0" smtClean="0">
                <a:solidFill>
                  <a:schemeClr val="tx2">
                    <a:satMod val="130000"/>
                  </a:schemeClr>
                </a:solidFill>
              </a:rPr>
              <a:t>Interest Rate Futures</a:t>
            </a:r>
            <a:endParaRPr lang="en-US" dirty="0">
              <a:solidFill>
                <a:schemeClr val="tx2">
                  <a:satMod val="130000"/>
                </a:schemeClr>
              </a:solidFill>
            </a:endParaRPr>
          </a:p>
        </p:txBody>
      </p:sp>
      <p:sp>
        <p:nvSpPr>
          <p:cNvPr id="5123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 dirty="0">
              <a:latin typeface="Arial" charset="0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66A1D57C-B5DF-426D-BAF5-5CF2DDCCBA5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Day Count Convention</a:t>
            </a:r>
            <a:endParaRPr lang="en-US" altLang="en-US" smtClean="0"/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Defines: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the period of time to which the interest rate applies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The period of time used to calculate accrued interest (relevant when the instrument is bought of sold</a:t>
            </a:r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614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614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3CFBDA5-5FB3-4F09-A721-970C308EA5F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 smtClean="0"/>
              <a:t>Day Count Conventions </a:t>
            </a:r>
            <a:br>
              <a:rPr lang="en-US" dirty="0" smtClean="0"/>
            </a:br>
            <a:r>
              <a:rPr lang="en-US" dirty="0" smtClean="0"/>
              <a:t>in the U.S. 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1371600" y="2667000"/>
          <a:ext cx="693420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Treasury Bonds: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8" marB="46038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Actual/Actual (in period)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8" marB="46038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4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Corporate Bonds:</a:t>
                      </a:r>
                      <a:endParaRPr kumimoji="0" 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8" marB="46038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30/360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8" marB="46038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40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Money Market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Instruments: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8" marB="46038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US" sz="2400" u="none" strike="noStrike" cap="none" normalizeH="0" baseline="0" dirty="0" smtClean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Actual/360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38" marB="46038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7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717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1E5013A-848B-4ABC-A022-A109ACC4E42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46063" y="685800"/>
            <a:ext cx="7772400" cy="1387475"/>
          </a:xfrm>
        </p:spPr>
        <p:txBody>
          <a:bodyPr/>
          <a:lstStyle/>
          <a:p>
            <a:pPr eaLnBrk="1" hangingPunct="1"/>
            <a:r>
              <a:rPr lang="en-CA" altLang="en-US" smtClean="0"/>
              <a:t>Examples</a:t>
            </a:r>
            <a:endParaRPr lang="en-US" altLang="en-US" smtClean="0"/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85800" y="1828800"/>
            <a:ext cx="7772400" cy="4433888"/>
          </a:xfrm>
        </p:spPr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Bond: 8% Actual/ Actual in period. 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4% is earned between coupon payment dates. Accruals on an Actual basis. When coupons are paid on March 1 and Sept  1, how much interest is earned between March 1 and April 1?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Bond: 8% 30/360</a:t>
            </a:r>
          </a:p>
          <a:p>
            <a:pPr lvl="1" eaLnBrk="1" hangingPunct="1"/>
            <a:r>
              <a:rPr lang="en-CA" altLang="en-US" smtClean="0">
                <a:latin typeface="Arial" charset="0"/>
                <a:cs typeface="Arial" charset="0"/>
              </a:rPr>
              <a:t>Assumes 30 days per month and 360 days per year. When coupons are paid on March 1 and Sept  1, how much interest is earned between March 1 and April 1?</a:t>
            </a:r>
          </a:p>
          <a:p>
            <a:pPr lvl="1" eaLnBrk="1" hangingPunct="1"/>
            <a:endParaRPr lang="en-US" altLang="en-US" smtClean="0">
              <a:latin typeface="Arial" charset="0"/>
              <a:cs typeface="Arial" charset="0"/>
            </a:endParaRPr>
          </a:p>
        </p:txBody>
      </p:sp>
      <p:sp>
        <p:nvSpPr>
          <p:cNvPr id="819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819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503968-A82A-4CF7-B922-20E7C009133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Examples </a:t>
            </a:r>
            <a:r>
              <a:rPr lang="en-CA" altLang="en-US" sz="2400" smtClean="0"/>
              <a:t>continued</a:t>
            </a:r>
            <a:endParaRPr lang="en-US" altLang="en-US" sz="2400" smtClean="0"/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T-Bill: 8% Actual/360:</a:t>
            </a:r>
          </a:p>
          <a:p>
            <a:pPr lvl="1" eaLnBrk="1" hangingPunct="1"/>
            <a:r>
              <a:rPr lang="en-CA" altLang="en-US" dirty="0" smtClean="0">
                <a:latin typeface="Arial" charset="0"/>
                <a:cs typeface="Arial" charset="0"/>
              </a:rPr>
              <a:t>8% is earned in 360 days. Accrual calculated by dividing the actual number of days in the period by 360. How much interest is earned between March 1 and April 1?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922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922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F199EA4-8BE1-49D4-8D9C-1607E10FD7AC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8212137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The February Effect </a:t>
            </a:r>
            <a:r>
              <a:rPr lang="en-CA" altLang="en-US" sz="2400" smtClean="0"/>
              <a:t>(Business Snapshot 6.1)</a:t>
            </a:r>
            <a:endParaRPr lang="en-US" altLang="en-US" sz="2400" smtClean="0"/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How many days of interest are earned between February 28, 2021 and March 1, 2021 when</a:t>
            </a:r>
          </a:p>
          <a:p>
            <a:pPr lvl="1" eaLnBrk="1" hangingPunct="1"/>
            <a:r>
              <a:rPr lang="en-CA" altLang="en-US" dirty="0" smtClean="0">
                <a:latin typeface="Arial" charset="0"/>
                <a:cs typeface="Arial" charset="0"/>
              </a:rPr>
              <a:t>day count is Actual/Actual in period?</a:t>
            </a:r>
          </a:p>
          <a:p>
            <a:pPr lvl="1" eaLnBrk="1" hangingPunct="1"/>
            <a:r>
              <a:rPr lang="en-CA" altLang="en-US" dirty="0" smtClean="0">
                <a:latin typeface="Arial" charset="0"/>
                <a:cs typeface="Arial" charset="0"/>
              </a:rPr>
              <a:t>day count is 30/360?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02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4FCE99A-47C8-4CE4-972E-B136530A0F6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Treasury Bill Prices in the US</a:t>
            </a:r>
            <a:endParaRPr lang="en-US" altLang="en-US" smtClean="0"/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1126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5C13F37-FCDA-48FC-8F8B-C88BDEECA288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11269" name="Content Placeholder 5"/>
          <p:cNvGraphicFramePr>
            <a:graphicFrameLocks noGrp="1" noChangeAspect="1"/>
          </p:cNvGraphicFramePr>
          <p:nvPr>
            <p:ph idx="1"/>
          </p:nvPr>
        </p:nvGraphicFramePr>
        <p:xfrm>
          <a:off x="1295400" y="2133600"/>
          <a:ext cx="4702175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Equation" r:id="rId6" imgW="1485900" imgH="698500" progId="Equation.3">
                  <p:embed/>
                </p:oleObj>
              </mc:Choice>
              <mc:Fallback>
                <p:oleObj name="Equation" r:id="rId6" imgW="1485900" imgH="698500" progId="Equation.3">
                  <p:embed/>
                  <p:pic>
                    <p:nvPicPr>
                      <p:cNvPr id="0" name="Content Placeholder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2133600"/>
                        <a:ext cx="4702175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990600"/>
            <a:ext cx="7881938" cy="1219200"/>
          </a:xfrm>
        </p:spPr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Treasury Bond Price Quotes</a:t>
            </a:r>
            <a:br>
              <a:rPr lang="en-US" dirty="0"/>
            </a:br>
            <a:r>
              <a:rPr lang="en-US" dirty="0"/>
              <a:t>in the U.S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2924175"/>
            <a:ext cx="7883525" cy="2752725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Cash price = Quoted price +  Accrued Interest			</a:t>
            </a:r>
          </a:p>
        </p:txBody>
      </p:sp>
      <p:sp>
        <p:nvSpPr>
          <p:cNvPr id="1229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229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9470914-7C25-408D-BD42-7EC88AEF4A06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990600"/>
            <a:ext cx="7958138" cy="990600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Treasury Bond Futures</a:t>
            </a:r>
            <a:br>
              <a:rPr lang="en-US" altLang="en-US" dirty="0" smtClean="0"/>
            </a:br>
            <a:endParaRPr lang="en-US" altLang="en-US" dirty="0" smtClean="0"/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2043113"/>
            <a:ext cx="7426325" cy="3633787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	Cash price received by party with short position = 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en-US" dirty="0" smtClean="0">
                <a:latin typeface="Arial" charset="0"/>
                <a:cs typeface="Arial" charset="0"/>
              </a:rPr>
              <a:t>   Most recent settlement price × Conversion factor + Accrued interest</a:t>
            </a:r>
          </a:p>
        </p:txBody>
      </p:sp>
      <p:sp>
        <p:nvSpPr>
          <p:cNvPr id="1331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BFC7B380-7997-45C3-8D0B-38232AA45B9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Example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Most recent settlement price = 90.00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Conversion factor of bond delivered = 1.3800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Accrued interest on bond =3.00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Price received for bond is 1.3800×90.00+3.00 = $127.20 per $100 of principal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D41CE79-393F-45D7-87C2-193482A5C22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Conversion Factor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   The conversion factor for a bond is approximately equal to the value of the bond on the assumption that the yield curve is flat at 6% with semiannual compounding </a:t>
            </a:r>
          </a:p>
        </p:txBody>
      </p:sp>
      <p:sp>
        <p:nvSpPr>
          <p:cNvPr id="1536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B31DE51-32E7-41C1-AC83-57FE1BA2E61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CBOT T-Bonds &amp; T-Notes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133600"/>
            <a:ext cx="7645400" cy="3856038"/>
          </a:xfrm>
        </p:spPr>
        <p:txBody>
          <a:bodyPr lIns="92075" tIns="46038" rIns="92075" bIns="46038"/>
          <a:lstStyle/>
          <a:p>
            <a:pPr eaLnBrk="1" hangingPunct="1">
              <a:buFont typeface="Wingdings" pitchFamily="2" charset="2"/>
              <a:buNone/>
            </a:pPr>
            <a:r>
              <a:rPr lang="en-US" altLang="en-US" smtClean="0">
                <a:latin typeface="Arial" charset="0"/>
                <a:cs typeface="Arial" charset="0"/>
              </a:rPr>
              <a:t>Factors that affect the futures price: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Delivery can be made any time during the delivery month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Any of a range of eligible bonds can be delivered</a:t>
            </a:r>
          </a:p>
          <a:p>
            <a:pPr lvl="1" eaLnBrk="1" hangingPunct="1"/>
            <a:r>
              <a:rPr lang="en-US" altLang="en-US" smtClean="0">
                <a:latin typeface="Arial" charset="0"/>
                <a:cs typeface="Arial" charset="0"/>
              </a:rPr>
              <a:t>The wild card play</a:t>
            </a:r>
          </a:p>
        </p:txBody>
      </p:sp>
      <p:sp>
        <p:nvSpPr>
          <p:cNvPr id="1638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4A5A0CF-A9EA-4424-9346-5B1F024C79B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3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/>
              <a:t>Eurodollar Futures</a:t>
            </a:r>
          </a:p>
        </p:txBody>
      </p:sp>
      <p:sp>
        <p:nvSpPr>
          <p:cNvPr id="17411" name="Rectangle 2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Eurodollar futures are futures on the 3-month LIBOR rate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One contract is on the rate earned on $1 million</a:t>
            </a:r>
          </a:p>
          <a:p>
            <a:pPr eaLnBrk="1" hangingPunct="1"/>
            <a:r>
              <a:rPr lang="en-US" altLang="en-US" sz="2400" dirty="0" smtClean="0">
                <a:latin typeface="Arial" charset="0"/>
                <a:cs typeface="Arial" charset="0"/>
              </a:rPr>
              <a:t>A change of one basis point or 0.01 in a Eurodollar futures quote corresponds to a contract price change of $25 </a:t>
            </a:r>
          </a:p>
        </p:txBody>
      </p:sp>
      <p:sp>
        <p:nvSpPr>
          <p:cNvPr id="1741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741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87B0E64A-E6D5-46FF-B763-B426F67B196B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Eurodollar Futures continued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A Eurodollar futures contract is settled in cash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When it expires the final settlement price is 100 minus 3-month LIBOR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The LIBOR rate is observed two days before the third Wednesday of the month</a:t>
            </a:r>
          </a:p>
        </p:txBody>
      </p:sp>
      <p:sp>
        <p:nvSpPr>
          <p:cNvPr id="1843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843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37AAF32C-2C24-4515-885F-78E15D2B64F2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46063" y="930275"/>
            <a:ext cx="7772400" cy="898525"/>
          </a:xfrm>
        </p:spPr>
        <p:txBody>
          <a:bodyPr/>
          <a:lstStyle/>
          <a:p>
            <a:pPr eaLnBrk="1" hangingPunct="1"/>
            <a:r>
              <a:rPr lang="en-CA" altLang="en-US" dirty="0" smtClean="0"/>
              <a:t>Eurodollar Futures Example </a:t>
            </a:r>
            <a:r>
              <a:rPr lang="en-CA" altLang="en-US" sz="2400" dirty="0" smtClean="0"/>
              <a:t>(Table 6.2)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26F774E-97D9-42C4-8164-20B0366F4BA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 dirty="0" smtClean="0">
              <a:latin typeface="Arial" charset="0"/>
            </a:endParaRPr>
          </a:p>
        </p:txBody>
      </p:sp>
      <p:graphicFrame>
        <p:nvGraphicFramePr>
          <p:cNvPr id="118812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9137129"/>
              </p:ext>
            </p:extLst>
          </p:nvPr>
        </p:nvGraphicFramePr>
        <p:xfrm>
          <a:off x="761998" y="2037168"/>
          <a:ext cx="7256465" cy="3830232"/>
        </p:xfrm>
        <a:graphic>
          <a:graphicData uri="http://schemas.openxmlformats.org/drawingml/2006/table">
            <a:tbl>
              <a:tblPr/>
              <a:tblGrid>
                <a:gridCol w="1293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3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9261">
                  <a:extLst>
                    <a:ext uri="{9D8B030D-6E8A-4147-A177-3AD203B41FA5}">
                      <a16:colId xmlns:a16="http://schemas.microsoft.com/office/drawing/2014/main" val="1357020281"/>
                    </a:ext>
                  </a:extLst>
                </a:gridCol>
                <a:gridCol w="1451293">
                  <a:extLst>
                    <a:ext uri="{9D8B030D-6E8A-4147-A177-3AD203B41FA5}">
                      <a16:colId xmlns:a16="http://schemas.microsoft.com/office/drawing/2014/main" val="3600671165"/>
                    </a:ext>
                  </a:extLst>
                </a:gridCol>
                <a:gridCol w="1451293">
                  <a:extLst>
                    <a:ext uri="{9D8B030D-6E8A-4147-A177-3AD203B41FA5}">
                      <a16:colId xmlns:a16="http://schemas.microsoft.com/office/drawing/2014/main" val="1276639783"/>
                    </a:ext>
                  </a:extLst>
                </a:gridCol>
              </a:tblGrid>
              <a:tr h="7459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Date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Trade Price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Settlement futures price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Change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Gain per contract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2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21 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99.720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21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99.715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-0.005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-12.50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May 22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99.665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-0.050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-125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…….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</a:t>
                      </a: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……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655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CA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Sept 14</a:t>
                      </a: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99.810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+0.010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+25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4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+0.090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+225</a:t>
                      </a:r>
                      <a:endParaRPr kumimoji="0" lang="en-CA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2075" marR="92075" marT="46042" marB="4604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93818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Hedging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The contract can be used for hedging in a situation where a 3-month interest rate on $1 million, linked to LIBOR, is due to be received for a 3-month period starting on Sept 14</a:t>
            </a:r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What rate does the contract lock in?</a:t>
            </a:r>
            <a:endParaRPr lang="en-CA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048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29E90E2B-C609-483E-A952-9CF223CF81BA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SOFR Futures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one-month SOFR futures is designed to be as similar as possible to the one-month Fed Fund futures contract and is based on an arithmetic average of overnight rates</a:t>
            </a:r>
          </a:p>
          <a:p>
            <a:r>
              <a:rPr lang="en-US" dirty="0" smtClean="0"/>
              <a:t>The three-month  SOFR futures is designed to be as similar as possible to the three-month Eurodollar futures and is based on the result of compounding overnight rates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D5D0FD-A820-4C34-A07F-BD209526BA2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14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3-Month Eurodollar Futures vs. 3-month SOFR Futures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3-month Eurodollar futures for a contract month is settled on the third Wednesday of the month and equal to the 3-month LIBOR rate  observed two days earlier</a:t>
            </a:r>
          </a:p>
          <a:p>
            <a:r>
              <a:rPr lang="en-US" dirty="0" smtClean="0"/>
              <a:t>The 3-month SOFR futures for the same contract month is settled 3-months later (when all the relevant overnight rates have been observed)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D5D0FD-A820-4C34-A07F-BD209526BA2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75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062" y="930275"/>
            <a:ext cx="8212137" cy="1143000"/>
          </a:xfrm>
        </p:spPr>
        <p:txBody>
          <a:bodyPr/>
          <a:lstStyle/>
          <a:p>
            <a:r>
              <a:rPr lang="en-US" dirty="0" smtClean="0"/>
              <a:t>Using SOFR for Hedging </a:t>
            </a:r>
            <a:r>
              <a:rPr lang="en-US" sz="2400" dirty="0" smtClean="0"/>
              <a:t>(Example 6.3)</a:t>
            </a:r>
            <a:endParaRPr lang="en-CA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company has agreed to pay three month SOFR plus 200 basis points on $100 million for three months starting on December 16, 2021</a:t>
            </a:r>
          </a:p>
          <a:p>
            <a:r>
              <a:rPr lang="en-US" dirty="0" smtClean="0"/>
              <a:t>The December SOFR futures price is 99.990</a:t>
            </a:r>
          </a:p>
          <a:p>
            <a:r>
              <a:rPr lang="en-US" dirty="0" smtClean="0"/>
              <a:t>What rate can the company lock in?</a:t>
            </a: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Options, Futures, and Other Derivatives, 11th Edition,     Copyright © John C. Hull 2021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D5D0FD-A820-4C34-A07F-BD209526BA2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156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Forward </a:t>
            </a:r>
            <a:r>
              <a:rPr lang="en-US" dirty="0" smtClean="0"/>
              <a:t>Rates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590550" y="1828800"/>
            <a:ext cx="8401050" cy="4495800"/>
          </a:xfrm>
        </p:spPr>
        <p:txBody>
          <a:bodyPr lIns="92075" tIns="46038" rIns="92075" bIns="46038"/>
          <a:lstStyle/>
          <a:p>
            <a:pPr marL="0" indent="0" eaLnBrk="1" hangingPunct="1">
              <a:buNone/>
            </a:pPr>
            <a:endParaRPr lang="en-CA" altLang="en-US" dirty="0">
              <a:latin typeface="Arial" charset="0"/>
              <a:cs typeface="Arial" charset="0"/>
            </a:endParaRP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We can usually assume that forward prices equal futures prices</a:t>
            </a:r>
          </a:p>
          <a:p>
            <a:pPr eaLnBrk="1" hangingPunct="1"/>
            <a:r>
              <a:rPr lang="en-US" altLang="en-US" dirty="0" smtClean="0">
                <a:latin typeface="Arial" charset="0"/>
                <a:cs typeface="Arial" charset="0"/>
              </a:rPr>
              <a:t>For interest rate futures that last more than about two years we cannot do this</a:t>
            </a:r>
            <a:endParaRPr lang="en-CA" altLang="en-US" dirty="0">
              <a:latin typeface="Arial" charset="0"/>
              <a:cs typeface="Arial" charset="0"/>
            </a:endParaRPr>
          </a:p>
          <a:p>
            <a:pPr marL="0" indent="0" eaLnBrk="1" hangingPunct="1">
              <a:buNone/>
            </a:pP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355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AB51A0FC-E804-4755-8521-B8A1411E9F9F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There are Two Reasons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566150" cy="4648200"/>
          </a:xfrm>
        </p:spPr>
        <p:txBody>
          <a:bodyPr/>
          <a:lstStyle/>
          <a:p>
            <a:pPr marL="0" indent="0" eaLnBrk="1" hangingPunct="1"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Futures is settled daily whereas FRA is settled once (true for both Eurodollar and SOFR)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Futures is settled at the beginning of the underlying three-month period; FRA is settled at the end of the underlying three- month period (true for Eurodollar)</a:t>
            </a:r>
          </a:p>
        </p:txBody>
      </p:sp>
      <p:sp>
        <p:nvSpPr>
          <p:cNvPr id="2458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92BA9B4D-30E0-4509-AAD7-E82EF21ADF0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 smtClean="0"/>
              <a:t>Convexity adjustment</a:t>
            </a:r>
            <a:endParaRPr lang="en-US" dirty="0"/>
          </a:p>
        </p:txBody>
      </p:sp>
      <p:sp>
        <p:nvSpPr>
          <p:cNvPr id="28675" name="Content Placeholder 2"/>
          <p:cNvSpPr>
            <a:spLocks noGrp="1"/>
          </p:cNvSpPr>
          <p:nvPr>
            <p:ph idx="1"/>
          </p:nvPr>
        </p:nvSpPr>
        <p:spPr>
          <a:xfrm>
            <a:off x="685800" y="2209800"/>
            <a:ext cx="8001000" cy="3810000"/>
          </a:xfrm>
        </p:spPr>
        <p:txBody>
          <a:bodyPr/>
          <a:lstStyle/>
          <a:p>
            <a:pPr algn="ctr" eaLnBrk="1" hangingPunct="1">
              <a:buFontTx/>
              <a:buNone/>
              <a:defRPr/>
            </a:pPr>
            <a:r>
              <a:rPr lang="en-CA" altLang="en-US" dirty="0" smtClean="0">
                <a:latin typeface="Arial" charset="0"/>
                <a:cs typeface="Arial" charset="0"/>
              </a:rPr>
              <a:t>Forward Rate = Futures Rate −</a:t>
            </a:r>
            <a:r>
              <a:rPr lang="en-CA" altLang="en-US" i="1" dirty="0" smtClean="0">
                <a:latin typeface="Arial" charset="0"/>
                <a:cs typeface="Arial" charset="0"/>
              </a:rPr>
              <a:t> c</a:t>
            </a:r>
          </a:p>
          <a:p>
            <a:pPr marL="0" indent="0" eaLnBrk="1" hangingPunct="1">
              <a:buNone/>
              <a:defRPr/>
            </a:pPr>
            <a:r>
              <a:rPr lang="en-US" altLang="en-US" dirty="0">
                <a:latin typeface="Arial" charset="0"/>
                <a:cs typeface="Arial" charset="0"/>
              </a:rPr>
              <a:t>w</a:t>
            </a:r>
            <a:r>
              <a:rPr lang="en-US" altLang="en-US" dirty="0" smtClean="0">
                <a:latin typeface="Arial" charset="0"/>
                <a:cs typeface="Arial" charset="0"/>
              </a:rPr>
              <a:t>here c is referred to as a convexity adjustment</a:t>
            </a:r>
          </a:p>
        </p:txBody>
      </p:sp>
      <p:sp>
        <p:nvSpPr>
          <p:cNvPr id="2560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15C7E12C-7340-4FBC-9F4D-F41D22FAEF77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en-CA" dirty="0"/>
              <a:t>Extending </a:t>
            </a:r>
            <a:r>
              <a:rPr lang="en-CA" dirty="0" smtClean="0"/>
              <a:t>Zero Curves</a:t>
            </a:r>
            <a:endParaRPr lang="en-CA" dirty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514600"/>
            <a:ext cx="7943850" cy="3733800"/>
          </a:xfrm>
        </p:spPr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Forward rates can be used to bootstrap the zero curve</a:t>
            </a:r>
          </a:p>
        </p:txBody>
      </p:sp>
      <p:sp>
        <p:nvSpPr>
          <p:cNvPr id="2765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765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36F28F1-D482-49E4-8A6B-23ACD7342945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dirty="0" smtClean="0"/>
              <a:t>Example </a:t>
            </a:r>
            <a:r>
              <a:rPr lang="en-CA" altLang="en-US" sz="2400" dirty="0" smtClean="0"/>
              <a:t>(equation 6.2)</a:t>
            </a:r>
          </a:p>
        </p:txBody>
      </p:sp>
      <p:sp>
        <p:nvSpPr>
          <p:cNvPr id="28675" name="Rectangle 6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so that</a:t>
            </a:r>
          </a:p>
          <a:p>
            <a:pPr eaLnBrk="1" hangingPunct="1">
              <a:buFont typeface="Wingdings" pitchFamily="2" charset="2"/>
              <a:buNone/>
            </a:pPr>
            <a:endParaRPr lang="en-CA" altLang="en-US" dirty="0" smtClean="0">
              <a:latin typeface="Arial" charset="0"/>
              <a:cs typeface="Arial" charset="0"/>
            </a:endParaRPr>
          </a:p>
          <a:p>
            <a:pPr eaLnBrk="1" hangingPunct="1">
              <a:buFont typeface="Wingdings" pitchFamily="2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</a:t>
            </a:r>
          </a:p>
          <a:p>
            <a:pPr eaLnBrk="1" hangingPunct="1">
              <a:buFont typeface="Wingdings" pitchFamily="2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If the 400-day zero rate has been calculated as 4.80% and the forward rate for the period between 400 and 491 days is 5.30 the 491 day rate is 4.893% </a:t>
            </a:r>
          </a:p>
        </p:txBody>
      </p:sp>
      <p:sp>
        <p:nvSpPr>
          <p:cNvPr id="2867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867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C863E077-B469-4AE3-A21E-3E82356A933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28678" name="Object 4"/>
          <p:cNvGraphicFramePr>
            <a:graphicFrameLocks noChangeAspect="1"/>
          </p:cNvGraphicFramePr>
          <p:nvPr/>
        </p:nvGraphicFramePr>
        <p:xfrm>
          <a:off x="2514600" y="1981200"/>
          <a:ext cx="2373313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6" name="Equation" r:id="rId6" imgW="990170" imgH="431613" progId="Equation.3">
                  <p:embed/>
                </p:oleObj>
              </mc:Choice>
              <mc:Fallback>
                <p:oleObj name="Equation" r:id="rId6" imgW="990170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4600" y="1981200"/>
                        <a:ext cx="2373313" cy="958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2590800" y="3276600"/>
          <a:ext cx="2906713" cy="922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97" name="Equation" r:id="rId8" imgW="1358310" imgH="431613" progId="Equation.3">
                  <p:embed/>
                </p:oleObj>
              </mc:Choice>
              <mc:Fallback>
                <p:oleObj name="Equation" r:id="rId8" imgW="1358310" imgH="4316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0800" y="3276600"/>
                        <a:ext cx="2906713" cy="922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026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Duration Matching</a:t>
            </a:r>
          </a:p>
        </p:txBody>
      </p:sp>
      <p:sp>
        <p:nvSpPr>
          <p:cNvPr id="29699" name="Rectangle 1027"/>
          <p:cNvSpPr>
            <a:spLocks noGrp="1" noChangeArrowheads="1"/>
          </p:cNvSpPr>
          <p:nvPr>
            <p:ph idx="1"/>
          </p:nvPr>
        </p:nvSpPr>
        <p:spPr>
          <a:xfrm>
            <a:off x="1524000" y="2057400"/>
            <a:ext cx="7239000" cy="3762375"/>
          </a:xfrm>
        </p:spPr>
        <p:txBody>
          <a:bodyPr lIns="92075" tIns="46038" rIns="92075" bIns="46038"/>
          <a:lstStyle/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This involves hedging against interest rate risk by matching the durations of assets and liabilities</a:t>
            </a:r>
          </a:p>
          <a:p>
            <a:pPr eaLnBrk="1" hangingPunct="1"/>
            <a:r>
              <a:rPr lang="en-US" altLang="en-US" smtClean="0">
                <a:latin typeface="Arial" charset="0"/>
                <a:cs typeface="Arial" charset="0"/>
              </a:rPr>
              <a:t>It provides protection against small parallel shifts in the zero curve</a:t>
            </a:r>
          </a:p>
        </p:txBody>
      </p:sp>
      <p:sp>
        <p:nvSpPr>
          <p:cNvPr id="2970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2970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5740A82-9E4C-4226-80CB-D9D03F34451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Duration-Based Hedge Ratio </a:t>
            </a:r>
            <a:r>
              <a:rPr lang="en-US" altLang="en-US" sz="2400" dirty="0" smtClean="0"/>
              <a:t>(equation 6.3)</a:t>
            </a:r>
          </a:p>
        </p:txBody>
      </p:sp>
      <p:graphicFrame>
        <p:nvGraphicFramePr>
          <p:cNvPr id="31747" name="Object 4"/>
          <p:cNvGraphicFramePr>
            <a:graphicFrameLocks noGrp="1" noChangeAspect="1"/>
          </p:cNvGraphicFramePr>
          <p:nvPr>
            <p:ph sz="half" idx="1"/>
          </p:nvPr>
        </p:nvGraphicFramePr>
        <p:xfrm>
          <a:off x="3505200" y="1995488"/>
          <a:ext cx="10096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67" name="Equation" r:id="rId4" imgW="418918" imgH="406224" progId="Equation.3">
                  <p:embed/>
                </p:oleObj>
              </mc:Choice>
              <mc:Fallback>
                <p:oleObj name="Equation" r:id="rId4" imgW="418918" imgH="4062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1995488"/>
                        <a:ext cx="10096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83" name="Group 55"/>
          <p:cNvGraphicFramePr>
            <a:graphicFrameLocks noGrp="1"/>
          </p:cNvGraphicFramePr>
          <p:nvPr>
            <p:ph sz="half" idx="2"/>
          </p:nvPr>
        </p:nvGraphicFramePr>
        <p:xfrm>
          <a:off x="1066800" y="3200400"/>
          <a:ext cx="6935788" cy="2935289"/>
        </p:xfrm>
        <a:graphic>
          <a:graphicData uri="http://schemas.openxmlformats.org/drawingml/2006/table">
            <a:tbl>
              <a:tblPr/>
              <a:tblGrid>
                <a:gridCol w="7263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094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V</a:t>
                      </a:r>
                      <a:r>
                        <a:rPr kumimoji="0" lang="en-US" sz="28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Contract price for interest rate futures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096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2800" b="0" i="1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F</a:t>
                      </a:r>
                      <a:endParaRPr kumimoji="0" lang="en-US" sz="2800" b="0" i="1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 of asset underlying futures at maturity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Value of portfolio being hedged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</a:t>
                      </a:r>
                      <a:r>
                        <a:rPr kumimoji="0" lang="en-US" sz="2800" b="0" i="1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</a:t>
                      </a:r>
                      <a:endParaRPr kumimoji="0" lang="en-US" sz="2800" b="0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92075" marR="92075" marT="46038" marB="4603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Duration of portfolio at hedge maturity</a:t>
                      </a:r>
                    </a:p>
                  </a:txBody>
                  <a:tcPr marL="92075" marR="92075" marT="46038" marB="4603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1757" name="Footer Placeholder 5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175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6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7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EEA13CA0-43A6-4452-BBE4-730D6C6127A3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685800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Example 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00200"/>
            <a:ext cx="7772400" cy="4038600"/>
          </a:xfrm>
        </p:spPr>
        <p:txBody>
          <a:bodyPr/>
          <a:lstStyle/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It is August. A fund manager has $10 million invested in a portfolio of government bonds with a duration of 6.80 years and wants to hedge against interest rate moves between August and December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The manager decides to use December T-bond futures. The futures price is 93-02 or 93.0625 and the duration of the cheapest to deliver bond will be 9.2 years at the futures contract maturity</a:t>
            </a:r>
          </a:p>
          <a:p>
            <a:pPr eaLnBrk="1" hangingPunct="1"/>
            <a:r>
              <a:rPr lang="en-CA" altLang="en-US" sz="2400" smtClean="0">
                <a:latin typeface="Arial" charset="0"/>
                <a:cs typeface="Arial" charset="0"/>
              </a:rPr>
              <a:t>The number of contracts that should be shorted is</a:t>
            </a:r>
          </a:p>
        </p:txBody>
      </p:sp>
      <p:sp>
        <p:nvSpPr>
          <p:cNvPr id="3277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277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4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5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9766001-3ACD-43D5-852E-858714CD320D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 smtClean="0">
              <a:latin typeface="Arial" charset="0"/>
            </a:endParaRPr>
          </a:p>
        </p:txBody>
      </p:sp>
      <p:graphicFrame>
        <p:nvGraphicFramePr>
          <p:cNvPr id="32774" name="Object 4"/>
          <p:cNvGraphicFramePr>
            <a:graphicFrameLocks noChangeAspect="1"/>
          </p:cNvGraphicFramePr>
          <p:nvPr/>
        </p:nvGraphicFramePr>
        <p:xfrm>
          <a:off x="2743200" y="5181600"/>
          <a:ext cx="26670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82" name="Equation" r:id="rId6" imgW="1447800" imgH="419100" progId="Equation.3">
                  <p:embed/>
                </p:oleObj>
              </mc:Choice>
              <mc:Fallback>
                <p:oleObj name="Equation" r:id="rId6" imgW="14478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181600"/>
                        <a:ext cx="2667000" cy="771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CA" dirty="0"/>
              <a:t>Limitations of Duration-Based Hedging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990600" y="2362200"/>
            <a:ext cx="7943850" cy="3886200"/>
          </a:xfrm>
        </p:spPr>
        <p:txBody>
          <a:bodyPr/>
          <a:lstStyle/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Assumes that only parallel shift in yield curve take place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Assumes that yield curve changes are small</a:t>
            </a:r>
          </a:p>
          <a:p>
            <a:pPr eaLnBrk="1" hangingPunct="1"/>
            <a:r>
              <a:rPr lang="en-CA" altLang="en-US" smtClean="0">
                <a:latin typeface="Arial" charset="0"/>
                <a:cs typeface="Arial" charset="0"/>
              </a:rPr>
              <a:t>When T-Bond futures is used assumes there will be no change in the cheapest-to-deliver bond</a:t>
            </a:r>
          </a:p>
        </p:txBody>
      </p:sp>
      <p:sp>
        <p:nvSpPr>
          <p:cNvPr id="3379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379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0FD9AB2F-19A8-4433-8CAD-473EB400E0E1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GAP Management </a:t>
            </a:r>
            <a:r>
              <a:rPr lang="en-CA" altLang="en-US" sz="2200" smtClean="0"/>
              <a:t>(Business Snapshot 6.3)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n-CA" altLang="en-US" dirty="0" smtClean="0">
                <a:latin typeface="Arial" charset="0"/>
                <a:cs typeface="Arial" charset="0"/>
              </a:rPr>
              <a:t>	This is a more sophisticated approach used by banks to hedge interest rate. It involves</a:t>
            </a:r>
          </a:p>
          <a:p>
            <a:pPr lvl="1" eaLnBrk="1" hangingPunct="1"/>
            <a:r>
              <a:rPr lang="en-CA" altLang="en-US" dirty="0" smtClean="0">
                <a:latin typeface="Arial" charset="0"/>
                <a:cs typeface="Arial" charset="0"/>
              </a:rPr>
              <a:t>Bucketing the zero curve </a:t>
            </a:r>
          </a:p>
          <a:p>
            <a:pPr lvl="1" eaLnBrk="1" hangingPunct="1"/>
            <a:r>
              <a:rPr lang="en-CA" altLang="en-US" dirty="0" smtClean="0">
                <a:latin typeface="Arial" charset="0"/>
                <a:cs typeface="Arial" charset="0"/>
              </a:rPr>
              <a:t>Hedging exposure to situation where rates corresponding to one bucket change and all other rates stay the same</a:t>
            </a:r>
            <a:r>
              <a:rPr lang="en-CA" altLang="en-US" sz="2000" dirty="0" smtClean="0">
                <a:latin typeface="Arial" charset="0"/>
                <a:cs typeface="Arial" charset="0"/>
              </a:rPr>
              <a:t> </a:t>
            </a:r>
          </a:p>
        </p:txBody>
      </p:sp>
      <p:sp>
        <p:nvSpPr>
          <p:cNvPr id="3482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  <a:cs typeface="Arial" charset="0"/>
            </a:endParaRPr>
          </a:p>
        </p:txBody>
      </p:sp>
      <p:sp>
        <p:nvSpPr>
          <p:cNvPr id="3482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766AA105-915E-4082-BA22-BCA9BFC605B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>
          <a:xfrm>
            <a:off x="304800" y="609600"/>
            <a:ext cx="7772400" cy="1143000"/>
          </a:xfrm>
        </p:spPr>
        <p:txBody>
          <a:bodyPr/>
          <a:lstStyle/>
          <a:p>
            <a:pPr eaLnBrk="1" hangingPunct="1"/>
            <a:r>
              <a:rPr lang="en-CA" altLang="en-US" smtClean="0"/>
              <a:t>Liquidity Risk</a:t>
            </a:r>
            <a:endParaRPr lang="en-US" altLang="en-US" smtClean="0"/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>
          <a:xfrm>
            <a:off x="685800" y="1676400"/>
            <a:ext cx="7772400" cy="4357688"/>
          </a:xfrm>
        </p:spPr>
        <p:txBody>
          <a:bodyPr/>
          <a:lstStyle/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If a bank funds long term assets with short term liabilities such as commercial paper, it can use FRAs, futures, and swaps to hedge its interest rate exposure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But it still has a liquidity exposure. 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It may find it impossible to roll over the commercial paper if the market loses confidence in the bank</a:t>
            </a:r>
          </a:p>
          <a:p>
            <a:pPr eaLnBrk="1" hangingPunct="1"/>
            <a:r>
              <a:rPr lang="en-CA" altLang="en-US" dirty="0" smtClean="0">
                <a:latin typeface="Arial" charset="0"/>
                <a:cs typeface="Arial" charset="0"/>
              </a:rPr>
              <a:t>Northern Rock is an example of this type of liquidity problem</a:t>
            </a:r>
            <a:endParaRPr lang="en-US" altLang="en-US" dirty="0" smtClean="0">
              <a:latin typeface="Arial" charset="0"/>
              <a:cs typeface="Arial" charset="0"/>
            </a:endParaRPr>
          </a:p>
        </p:txBody>
      </p:sp>
      <p:sp>
        <p:nvSpPr>
          <p:cNvPr id="358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400" smtClean="0">
                <a:latin typeface="Arial" charset="0"/>
              </a:rPr>
              <a:t>Options, Futures, and Other Derivatives, 11th Edition,     Copyright © John C. Hull 2021</a:t>
            </a:r>
            <a:endParaRPr lang="en-US" altLang="en-US" sz="1400">
              <a:latin typeface="Arial" charset="0"/>
            </a:endParaRPr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Blip>
                <a:blip r:embed="rId3"/>
              </a:buBlip>
              <a:defRPr sz="3200">
                <a:solidFill>
                  <a:schemeClr val="tx1"/>
                </a:solidFill>
                <a:latin typeface="Tahoma" charset="0"/>
              </a:defRPr>
            </a:lvl1pPr>
            <a:lvl2pPr marL="742950" indent="-285750" eaLnBrk="0" hangingPunct="0">
              <a:spcBef>
                <a:spcPct val="20000"/>
              </a:spcBef>
              <a:buSzPct val="75000"/>
              <a:buBlip>
                <a:blip r:embed="rId4"/>
              </a:buBlip>
              <a:defRPr sz="2800">
                <a:solidFill>
                  <a:schemeClr val="tx1"/>
                </a:solidFill>
                <a:latin typeface="Tahoma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ahoma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sz="2000">
                <a:solidFill>
                  <a:schemeClr val="tx1"/>
                </a:solidFill>
                <a:latin typeface="Tahoma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fld id="{451814B6-3A5D-44E7-9401-C028FD097B34}" type="slidenum">
              <a:rPr lang="en-US" altLang="en-US" sz="1400" smtClean="0">
                <a:latin typeface="Arial" charset="0"/>
              </a:rPr>
              <a:pPr eaLnBrk="1" hangingPunct="1"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 smtClean="0"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lobal">
  <a:themeElements>
    <a:clrScheme name="Custom 5">
      <a:dk1>
        <a:srgbClr val="000000"/>
      </a:dk1>
      <a:lt1>
        <a:srgbClr val="FFFFFF"/>
      </a:lt1>
      <a:dk2>
        <a:srgbClr val="3A3015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E5D093"/>
      </a:hlink>
      <a:folHlink>
        <a:srgbClr val="CCB374"/>
      </a:folHlink>
    </a:clrScheme>
    <a:fontScheme name="Global">
      <a:majorFont>
        <a:latin typeface="Times New Roman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0" ma:contentTypeDescription="Create a new document." ma:contentTypeScope="" ma:versionID="9ec98e71a396c75c5e8fb3166c3ab2c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5A2AC07-5E22-48F3-BD75-5DBB204FED18}"/>
</file>

<file path=customXml/itemProps2.xml><?xml version="1.0" encoding="utf-8"?>
<ds:datastoreItem xmlns:ds="http://schemas.openxmlformats.org/officeDocument/2006/customXml" ds:itemID="{77C6A903-42F2-45AB-881A-8AC5A316B1D4}"/>
</file>

<file path=customXml/itemProps3.xml><?xml version="1.0" encoding="utf-8"?>
<ds:datastoreItem xmlns:ds="http://schemas.openxmlformats.org/officeDocument/2006/customXml" ds:itemID="{1E7949FF-0F6D-4760-8A1B-A0AF6210918F}"/>
</file>

<file path=docProps/app.xml><?xml version="1.0" encoding="utf-8"?>
<Properties xmlns="http://schemas.openxmlformats.org/officeDocument/2006/extended-properties" xmlns:vt="http://schemas.openxmlformats.org/officeDocument/2006/docPropsVTypes">
  <Template>Ch04HullOFOD8thEdition</Template>
  <TotalTime>297</TotalTime>
  <Words>1658</Words>
  <Application>Microsoft Office PowerPoint</Application>
  <PresentationFormat>On-screen Show (4:3)</PresentationFormat>
  <Paragraphs>229</Paragraphs>
  <Slides>30</Slides>
  <Notes>27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Tahoma</vt:lpstr>
      <vt:lpstr>Times New Roman</vt:lpstr>
      <vt:lpstr>Wingdings</vt:lpstr>
      <vt:lpstr>Global</vt:lpstr>
      <vt:lpstr>Equation</vt:lpstr>
      <vt:lpstr>Chapter 6 Interest Rate Futures</vt:lpstr>
      <vt:lpstr>Day Count Convention</vt:lpstr>
      <vt:lpstr>Day Count Conventions  in the U.S. </vt:lpstr>
      <vt:lpstr>Examples</vt:lpstr>
      <vt:lpstr>Examples continued</vt:lpstr>
      <vt:lpstr>The February Effect (Business Snapshot 6.1)</vt:lpstr>
      <vt:lpstr>Treasury Bill Prices in the US</vt:lpstr>
      <vt:lpstr>Treasury Bond Price Quotes in the U.S</vt:lpstr>
      <vt:lpstr> Treasury Bond Futures </vt:lpstr>
      <vt:lpstr>Example</vt:lpstr>
      <vt:lpstr>Conversion Factor</vt:lpstr>
      <vt:lpstr>CBOT T-Bonds &amp; T-Notes</vt:lpstr>
      <vt:lpstr>Eurodollar Futures</vt:lpstr>
      <vt:lpstr>Eurodollar Futures continued</vt:lpstr>
      <vt:lpstr>Eurodollar Futures Example (Table 6.2)</vt:lpstr>
      <vt:lpstr>Hedging</vt:lpstr>
      <vt:lpstr>SOFR Futures</vt:lpstr>
      <vt:lpstr>3-Month Eurodollar Futures vs. 3-month SOFR Futures</vt:lpstr>
      <vt:lpstr>Using SOFR for Hedging (Example 6.3)</vt:lpstr>
      <vt:lpstr>Forward Rates </vt:lpstr>
      <vt:lpstr>There are Two Reasons</vt:lpstr>
      <vt:lpstr>Convexity adjustment</vt:lpstr>
      <vt:lpstr>Extending Zero Curves</vt:lpstr>
      <vt:lpstr>Example (equation 6.2)</vt:lpstr>
      <vt:lpstr>Duration Matching</vt:lpstr>
      <vt:lpstr>Duration-Based Hedge Ratio (equation 6.3)</vt:lpstr>
      <vt:lpstr>Example </vt:lpstr>
      <vt:lpstr>Limitations of Duration-Based Hedging</vt:lpstr>
      <vt:lpstr>GAP Management (Business Snapshot 6.3)</vt:lpstr>
      <vt:lpstr>Liquidity Risk</vt:lpstr>
    </vt:vector>
  </TitlesOfParts>
  <Company>Joseph L. 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Interest Rate Futures</dc:title>
  <dc:subject>Options, Futures, and Other Derivatives, 11e</dc:subject>
  <dc:creator>John C. Hull</dc:creator>
  <cp:keywords>Chapter 6</cp:keywords>
  <dc:description>Copyright 2021 by John C. Hull. All Rights Reserved. Published 2021</dc:description>
  <cp:lastModifiedBy>John Hull</cp:lastModifiedBy>
  <cp:revision>43</cp:revision>
  <dcterms:created xsi:type="dcterms:W3CDTF">2008-05-29T16:38:10Z</dcterms:created>
  <dcterms:modified xsi:type="dcterms:W3CDTF">2020-09-30T15:19:52Z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