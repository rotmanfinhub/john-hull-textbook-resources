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2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2.xml" ContentType="application/vnd.openxmlformats-officedocument.presentationml.slide+xml"/>
  <Override PartName="/ppt/slides/slide34.xml" ContentType="application/vnd.openxmlformats-officedocument.presentationml.slide+xml"/>
  <Override PartName="/ppt/slides/slide30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1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9.xml" ContentType="application/vnd.openxmlformats-officedocument.presentationml.slide+xml"/>
  <Override PartName="/ppt/notesSlides/notesSlide33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Slides/notesSlide32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2.xml" ContentType="application/vnd.openxmlformats-officedocument.presentationml.notesSlide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Override1.xml" ContentType="application/vnd.openxmlformats-officedocument.themeOverride+xml"/>
  <Override PartName="/ppt/charts/chart1.xml" ContentType="application/vnd.openxmlformats-officedocument.drawingml.chart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1"/>
  </p:sldMasterIdLst>
  <p:notesMasterIdLst>
    <p:notesMasterId r:id="rId40"/>
  </p:notesMasterIdLst>
  <p:sldIdLst>
    <p:sldId id="256" r:id="rId2"/>
    <p:sldId id="258" r:id="rId3"/>
    <p:sldId id="259" r:id="rId4"/>
    <p:sldId id="260" r:id="rId5"/>
    <p:sldId id="281" r:id="rId6"/>
    <p:sldId id="294" r:id="rId7"/>
    <p:sldId id="261" r:id="rId8"/>
    <p:sldId id="282" r:id="rId9"/>
    <p:sldId id="262" r:id="rId10"/>
    <p:sldId id="295" r:id="rId11"/>
    <p:sldId id="296" r:id="rId12"/>
    <p:sldId id="263" r:id="rId13"/>
    <p:sldId id="284" r:id="rId14"/>
    <p:sldId id="285" r:id="rId15"/>
    <p:sldId id="265" r:id="rId16"/>
    <p:sldId id="297" r:id="rId17"/>
    <p:sldId id="298" r:id="rId18"/>
    <p:sldId id="266" r:id="rId19"/>
    <p:sldId id="267" r:id="rId20"/>
    <p:sldId id="268" r:id="rId21"/>
    <p:sldId id="299" r:id="rId22"/>
    <p:sldId id="300" r:id="rId23"/>
    <p:sldId id="269" r:id="rId24"/>
    <p:sldId id="270" r:id="rId25"/>
    <p:sldId id="301" r:id="rId26"/>
    <p:sldId id="290" r:id="rId27"/>
    <p:sldId id="289" r:id="rId28"/>
    <p:sldId id="291" r:id="rId29"/>
    <p:sldId id="292" r:id="rId30"/>
    <p:sldId id="272" r:id="rId31"/>
    <p:sldId id="273" r:id="rId32"/>
    <p:sldId id="274" r:id="rId33"/>
    <p:sldId id="279" r:id="rId34"/>
    <p:sldId id="280" r:id="rId35"/>
    <p:sldId id="275" r:id="rId36"/>
    <p:sldId id="276" r:id="rId37"/>
    <p:sldId id="277" r:id="rId38"/>
    <p:sldId id="278" r:id="rId3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1422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47" Type="http://schemas.openxmlformats.org/officeDocument/2006/relationships/customXml" Target="../customXml/item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customXml" Target="../customXml/item2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oleObject" Target="file:///E:\Fundamentals9e\Figures\Figure_17_5.xlsx" TargetMode="External"/><Relationship Id="rId1" Type="http://schemas.openxmlformats.org/officeDocument/2006/relationships/themeOverride" Target="../theme/themeOverrid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9.3057961504811909E-2"/>
          <c:y val="0.11597987751531058"/>
          <c:w val="0.86081714785651797"/>
          <c:h val="0.8326195683872849"/>
        </c:manualLayout>
      </c:layout>
      <c:scatterChart>
        <c:scatterStyle val="smoothMarker"/>
        <c:varyColors val="0"/>
        <c:ser>
          <c:idx val="0"/>
          <c:order val="0"/>
          <c:tx>
            <c:strRef>
              <c:f>Sheet1!$D$5</c:f>
              <c:strCache>
                <c:ptCount val="1"/>
                <c:pt idx="0">
                  <c:v>Call Theta</c:v>
                </c:pt>
              </c:strCache>
            </c:strRef>
          </c:tx>
          <c:spPr>
            <a:ln w="12700">
              <a:solidFill>
                <a:schemeClr val="tx1"/>
              </a:solidFill>
            </a:ln>
          </c:spPr>
          <c:marker>
            <c:symbol val="none"/>
          </c:marker>
          <c:xVal>
            <c:numRef>
              <c:f>Sheet1!$C$6:$C$34</c:f>
              <c:numCache>
                <c:formatCode>General</c:formatCode>
                <c:ptCount val="29"/>
                <c:pt idx="0">
                  <c:v>10</c:v>
                </c:pt>
                <c:pt idx="1">
                  <c:v>15</c:v>
                </c:pt>
                <c:pt idx="2">
                  <c:v>20</c:v>
                </c:pt>
                <c:pt idx="3">
                  <c:v>25</c:v>
                </c:pt>
                <c:pt idx="4">
                  <c:v>30</c:v>
                </c:pt>
                <c:pt idx="5">
                  <c:v>35</c:v>
                </c:pt>
                <c:pt idx="6">
                  <c:v>40</c:v>
                </c:pt>
                <c:pt idx="7">
                  <c:v>45</c:v>
                </c:pt>
                <c:pt idx="8">
                  <c:v>50</c:v>
                </c:pt>
                <c:pt idx="9">
                  <c:v>55</c:v>
                </c:pt>
                <c:pt idx="10">
                  <c:v>60</c:v>
                </c:pt>
                <c:pt idx="11">
                  <c:v>65</c:v>
                </c:pt>
                <c:pt idx="12">
                  <c:v>70</c:v>
                </c:pt>
                <c:pt idx="13">
                  <c:v>75</c:v>
                </c:pt>
                <c:pt idx="14">
                  <c:v>80</c:v>
                </c:pt>
                <c:pt idx="15">
                  <c:v>85</c:v>
                </c:pt>
                <c:pt idx="16">
                  <c:v>90</c:v>
                </c:pt>
                <c:pt idx="17">
                  <c:v>95</c:v>
                </c:pt>
                <c:pt idx="18">
                  <c:v>100</c:v>
                </c:pt>
                <c:pt idx="19">
                  <c:v>105</c:v>
                </c:pt>
                <c:pt idx="20">
                  <c:v>110</c:v>
                </c:pt>
                <c:pt idx="21">
                  <c:v>115</c:v>
                </c:pt>
                <c:pt idx="22">
                  <c:v>120</c:v>
                </c:pt>
                <c:pt idx="23">
                  <c:v>125</c:v>
                </c:pt>
                <c:pt idx="24">
                  <c:v>130</c:v>
                </c:pt>
                <c:pt idx="25">
                  <c:v>135</c:v>
                </c:pt>
                <c:pt idx="26">
                  <c:v>140</c:v>
                </c:pt>
                <c:pt idx="27">
                  <c:v>145</c:v>
                </c:pt>
                <c:pt idx="28">
                  <c:v>150</c:v>
                </c:pt>
              </c:numCache>
            </c:numRef>
          </c:xVal>
          <c:yVal>
            <c:numRef>
              <c:f>Sheet1!$D$6:$D$34</c:f>
              <c:numCache>
                <c:formatCode>General</c:formatCode>
                <c:ptCount val="29"/>
                <c:pt idx="0">
                  <c:v>-2.4558901279215469E-5</c:v>
                </c:pt>
                <c:pt idx="1">
                  <c:v>-2.8835182491054544E-3</c:v>
                </c:pt>
                <c:pt idx="2">
                  <c:v>-3.8194801961023622E-2</c:v>
                </c:pt>
                <c:pt idx="3">
                  <c:v>-0.17961469501066221</c:v>
                </c:pt>
                <c:pt idx="4">
                  <c:v>-0.47343542996598365</c:v>
                </c:pt>
                <c:pt idx="5">
                  <c:v>-0.87305109722680019</c:v>
                </c:pt>
                <c:pt idx="6">
                  <c:v>-1.2721398281078875</c:v>
                </c:pt>
                <c:pt idx="7">
                  <c:v>-1.5751661037197717</c:v>
                </c:pt>
                <c:pt idx="8">
                  <c:v>-1.7357582337447852</c:v>
                </c:pt>
                <c:pt idx="9">
                  <c:v>-1.7555168389107474</c:v>
                </c:pt>
                <c:pt idx="10">
                  <c:v>-1.6646926609460599</c:v>
                </c:pt>
                <c:pt idx="11">
                  <c:v>-1.5027344924243493</c:v>
                </c:pt>
                <c:pt idx="12">
                  <c:v>-1.3058134690521899</c:v>
                </c:pt>
                <c:pt idx="13">
                  <c:v>-1.1013856608553254</c:v>
                </c:pt>
                <c:pt idx="14">
                  <c:v>-0.90740401128140913</c:v>
                </c:pt>
                <c:pt idx="15">
                  <c:v>-0.73380870993079406</c:v>
                </c:pt>
                <c:pt idx="16">
                  <c:v>-0.58471251433249427</c:v>
                </c:pt>
                <c:pt idx="17">
                  <c:v>-0.46045766443186509</c:v>
                </c:pt>
                <c:pt idx="18">
                  <c:v>-0.35922939002132442</c:v>
                </c:pt>
                <c:pt idx="19">
                  <c:v>-0.27818439845425058</c:v>
                </c:pt>
                <c:pt idx="20">
                  <c:v>-0.21416960823954215</c:v>
                </c:pt>
                <c:pt idx="21">
                  <c:v>-0.16413737874414538</c:v>
                </c:pt>
                <c:pt idx="22">
                  <c:v>-0.12535528022704284</c:v>
                </c:pt>
                <c:pt idx="23">
                  <c:v>-9.5487004902559028E-2</c:v>
                </c:pt>
                <c:pt idx="24">
                  <c:v>-7.2598688392303767E-2</c:v>
                </c:pt>
                <c:pt idx="25">
                  <c:v>-5.512642409733931E-2</c:v>
                </c:pt>
                <c:pt idx="26">
                  <c:v>-4.1827112383878554E-2</c:v>
                </c:pt>
                <c:pt idx="27">
                  <c:v>-3.172544923786464E-2</c:v>
                </c:pt>
                <c:pt idx="28">
                  <c:v>-2.4063830892328553E-2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9FC8-4F0D-86DA-05EA42D675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29141544"/>
        <c:axId val="429141936"/>
      </c:scatterChart>
      <c:valAx>
        <c:axId val="429141544"/>
        <c:scaling>
          <c:orientation val="minMax"/>
          <c:max val="150"/>
          <c:min val="0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CA"/>
                  <a:t>Stock Price</a:t>
                </a:r>
              </a:p>
            </c:rich>
          </c:tx>
          <c:layout>
            <c:manualLayout>
              <c:xMode val="edge"/>
              <c:yMode val="edge"/>
              <c:x val="0.51879986876640416"/>
              <c:y val="0.12868037328667253"/>
            </c:manualLayout>
          </c:layout>
          <c:overlay val="0"/>
        </c:title>
        <c:numFmt formatCode="General" sourceLinked="1"/>
        <c:majorTickMark val="in"/>
        <c:minorTickMark val="none"/>
        <c:tickLblPos val="high"/>
        <c:crossAx val="429141936"/>
        <c:crosses val="autoZero"/>
        <c:crossBetween val="midCat"/>
      </c:valAx>
      <c:valAx>
        <c:axId val="429141936"/>
        <c:scaling>
          <c:orientation val="minMax"/>
          <c:max val="0"/>
          <c:min val="-2.5"/>
        </c:scaling>
        <c:delete val="0"/>
        <c:axPos val="l"/>
        <c:numFmt formatCode="General" sourceLinked="1"/>
        <c:majorTickMark val="out"/>
        <c:minorTickMark val="none"/>
        <c:tickLblPos val="nextTo"/>
        <c:crossAx val="429141544"/>
        <c:crosses val="autoZero"/>
        <c:crossBetween val="midCat"/>
      </c:valAx>
    </c:plotArea>
    <c:plotVisOnly val="1"/>
    <c:dispBlanksAs val="gap"/>
    <c:showDLblsOverMax val="0"/>
  </c:chart>
  <c:spPr>
    <a:ln>
      <a:noFill/>
    </a:ln>
  </c:spPr>
  <c:externalData r:id="rId2">
    <c:autoUpdate val="0"/>
  </c:externalData>
</c:chartSpac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3" Type="http://schemas.openxmlformats.org/officeDocument/2006/relationships/image" Target="../media/image16.wmf"/><Relationship Id="rId7" Type="http://schemas.openxmlformats.org/officeDocument/2006/relationships/image" Target="../media/image20.wmf"/><Relationship Id="rId2" Type="http://schemas.openxmlformats.org/officeDocument/2006/relationships/image" Target="../media/image15.wmf"/><Relationship Id="rId1" Type="http://schemas.openxmlformats.org/officeDocument/2006/relationships/image" Target="../media/image14.wmf"/><Relationship Id="rId6" Type="http://schemas.openxmlformats.org/officeDocument/2006/relationships/image" Target="../media/image19.wmf"/><Relationship Id="rId5" Type="http://schemas.openxmlformats.org/officeDocument/2006/relationships/image" Target="../media/image18.wmf"/><Relationship Id="rId4" Type="http://schemas.openxmlformats.org/officeDocument/2006/relationships/image" Target="../media/image17.wmf"/><Relationship Id="rId9" Type="http://schemas.openxmlformats.org/officeDocument/2006/relationships/image" Target="../media/image2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15CAB4C9-7572-46D3-821D-D914110753E7}" type="datetimeFigureOut">
              <a:rPr lang="en-US"/>
              <a:pPr>
                <a:defRPr/>
              </a:pPr>
              <a:t>9/30/2020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295A634F-D228-4484-9A19-B08726FEE61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87168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3379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3B234A3-1ABB-430E-B3AE-8273F23AC25C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923271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6727E61-2B77-4FCE-9C91-4DC404E6C5C5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</a:t>
            </a:fld>
            <a:endParaRPr lang="en-US" smtClean="0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CA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11162665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F4AFE85-03CA-46CD-99B4-F12F569B100C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</a:t>
            </a:fld>
            <a:endParaRPr lang="en-US" smtClean="0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CA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25695037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8CDF4F6-E9CB-4875-891D-56A2952ACFDE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</a:t>
            </a:fld>
            <a:endParaRPr lang="en-US" smtClean="0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CA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18473260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02A9226-07D4-4B70-B47E-05107514BA39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5635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7DAC8C7-224E-4340-B384-DDC3E0C560AE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7</a:t>
            </a:fld>
            <a:endParaRPr lang="en-US" smtClean="0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CA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39114591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6F7E8B5-D739-47DC-B6F6-FFD0DC4E2CF6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2138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55487D7-DA94-4BD0-96B6-AA8F73D63115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9</a:t>
            </a:fld>
            <a:endParaRPr lang="en-US" smtClean="0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CA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8381124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590F902-74EE-45EB-8FED-20B3B4631AD1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12</a:t>
            </a:fld>
            <a:endParaRPr lang="en-US" smtClean="0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CA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21305087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EABE916-33EF-42DA-9CC4-619E0160F67E}" type="slidenum">
              <a:rPr lang="en-US" smtClean="0"/>
              <a:pPr>
                <a:defRPr/>
              </a:pPr>
              <a:t>13</a:t>
            </a:fld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8909929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50180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DBC7F8-FD42-4E62-B70D-337A80651A22}" type="slidenum">
              <a:rPr lang="en-US" smtClean="0"/>
              <a:pPr>
                <a:defRPr/>
              </a:pPr>
              <a:t>14</a:t>
            </a:fld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4583315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F2B61CD-88DE-4C7A-B93A-24C484A80753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15</a:t>
            </a:fld>
            <a:endParaRPr lang="en-US" smtClean="0"/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CA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36051789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/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FEB0B7C6-848C-4317-B0D3-F01437FAB527}" type="slidenum">
              <a:rPr lang="en-US" altLang="en-US" sz="1000"/>
              <a:pPr>
                <a:spcBef>
                  <a:spcPct val="0"/>
                </a:spcBef>
              </a:pPr>
              <a:t>16</a:t>
            </a:fld>
            <a:endParaRPr lang="en-US" altLang="en-US" sz="1000"/>
          </a:p>
        </p:txBody>
      </p:sp>
    </p:spTree>
    <p:extLst>
      <p:ext uri="{BB962C8B-B14F-4D97-AF65-F5344CB8AC3E}">
        <p14:creationId xmlns:p14="http://schemas.microsoft.com/office/powerpoint/2010/main" val="36580727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B56A8F0-C8E8-4A4A-8473-5467D1683D37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18</a:t>
            </a:fld>
            <a:endParaRPr lang="en-US" smtClean="0"/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CA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5038015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C82ECA5-B9D6-486E-A295-78FA9C7EC8D9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19</a:t>
            </a:fld>
            <a:endParaRPr lang="en-US" smtClean="0"/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CA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83677273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F359D9F-BA40-4809-9066-205AA6A21939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20</a:t>
            </a:fld>
            <a:endParaRPr lang="en-US" smtClean="0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CA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8841370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/>
        </p:spPr>
      </p:sp>
      <p:sp>
        <p:nvSpPr>
          <p:cNvPr id="6656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665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86C0D48B-D797-41A5-9DDA-331C8BB1127D}" type="slidenum">
              <a:rPr lang="en-US" altLang="en-US" sz="1000"/>
              <a:pPr>
                <a:spcBef>
                  <a:spcPct val="0"/>
                </a:spcBef>
              </a:pPr>
              <a:t>21</a:t>
            </a:fld>
            <a:endParaRPr lang="en-US" altLang="en-US" sz="1000"/>
          </a:p>
        </p:txBody>
      </p:sp>
    </p:spTree>
    <p:extLst>
      <p:ext uri="{BB962C8B-B14F-4D97-AF65-F5344CB8AC3E}">
        <p14:creationId xmlns:p14="http://schemas.microsoft.com/office/powerpoint/2010/main" val="342069795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CD1158C-3F40-4CA2-A6C0-6A42102FC7C1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23</a:t>
            </a:fld>
            <a:endParaRPr lang="en-US" smtClean="0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CA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186027980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A89C4B7-5046-421C-9F71-E8D5FD618E7C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24</a:t>
            </a:fld>
            <a:endParaRPr lang="en-US" smtClean="0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CA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13557221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/>
        </p:spPr>
      </p:sp>
      <p:sp>
        <p:nvSpPr>
          <p:cNvPr id="7168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716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6392BBCD-C8B0-42AD-BFE0-9DB997DDAE7F}" type="slidenum">
              <a:rPr lang="en-US" altLang="en-US" sz="1000"/>
              <a:pPr>
                <a:spcBef>
                  <a:spcPct val="0"/>
                </a:spcBef>
              </a:pPr>
              <a:t>25</a:t>
            </a:fld>
            <a:endParaRPr lang="en-US" altLang="en-US" sz="1000"/>
          </a:p>
        </p:txBody>
      </p:sp>
    </p:spTree>
    <p:extLst>
      <p:ext uri="{BB962C8B-B14F-4D97-AF65-F5344CB8AC3E}">
        <p14:creationId xmlns:p14="http://schemas.microsoft.com/office/powerpoint/2010/main" val="171059706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BAA5F30-095D-40BD-BA8D-22F09631E9DA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43586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D86243-D3DA-4770-9CBA-417117AA032C}" type="slidenum">
              <a:rPr lang="en-US" smtClean="0"/>
              <a:pPr>
                <a:defRPr/>
              </a:pPr>
              <a:t>27</a:t>
            </a:fld>
            <a:endParaRPr lang="en-US" smtClean="0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75491234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EA72919-F1B1-4DDD-B442-3C108F04A1B9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87751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A1F865D-9465-41F7-9E40-A0647CBC6662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49109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89A42ED-BFC4-4239-B74E-8312F8B0EB26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30</a:t>
            </a:fld>
            <a:endParaRPr lang="en-US" smtClean="0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CA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198016030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B6C7CCF-17BC-47A6-B236-82BB986D5A14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31</a:t>
            </a:fld>
            <a:endParaRPr lang="en-US" smtClean="0"/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57395014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211B4F5-A34D-43DF-9717-32946F898B61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32</a:t>
            </a:fld>
            <a:endParaRPr lang="en-US" smtClean="0"/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CA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146376292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B0D95D9-2CDD-4DF7-8538-84B8F0E83E19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33</a:t>
            </a:fld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96861065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5222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174C1C5-BBC8-4FCB-A8F6-75E18FAA8C4B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34</a:t>
            </a:fld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60965087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F4B95B1-807D-44FF-8F4D-34823C59A9E1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35</a:t>
            </a:fld>
            <a:endParaRPr lang="en-US" smtClean="0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CA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46585221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3B5D6A8-A1EB-49B4-889C-64F5594A42E3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36</a:t>
            </a:fld>
            <a:endParaRPr lang="en-US" smtClean="0"/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CA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3951904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715A812-EECB-4668-A68D-88D6E8931707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37</a:t>
            </a:fld>
            <a:endParaRPr lang="en-US" smtClean="0"/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CA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47392691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FB908DB-3AF0-4914-BA36-1CADF87C641A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38</a:t>
            </a:fld>
            <a:endParaRPr lang="en-US" smtClean="0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CA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39268486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-19050"/>
            <a:ext cx="9144000" cy="6877050"/>
            <a:chOff x="0" y="-12"/>
            <a:chExt cx="5760" cy="4332"/>
          </a:xfrm>
        </p:grpSpPr>
        <p:sp>
          <p:nvSpPr>
            <p:cNvPr id="5" name="Rectangle 3"/>
            <p:cNvSpPr>
              <a:spLocks noChangeArrowheads="1"/>
            </p:cNvSpPr>
            <p:nvPr userDrawn="1"/>
          </p:nvSpPr>
          <p:spPr bwMode="hidden">
            <a:xfrm>
              <a:off x="1104" y="1008"/>
              <a:ext cx="4656" cy="3312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50000">
                  <a:schemeClr val="bg1"/>
                </a:gs>
                <a:gs pos="100000">
                  <a:schemeClr val="bg2"/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grpSp>
          <p:nvGrpSpPr>
            <p:cNvPr id="6" name="Group 4"/>
            <p:cNvGrpSpPr>
              <a:grpSpLocks/>
            </p:cNvGrpSpPr>
            <p:nvPr userDrawn="1"/>
          </p:nvGrpSpPr>
          <p:grpSpPr bwMode="auto">
            <a:xfrm>
              <a:off x="-1261" y="-157"/>
              <a:ext cx="7021" cy="1190"/>
              <a:chOff x="-1261" y="-154"/>
              <a:chExt cx="7021" cy="1190"/>
            </a:xfrm>
          </p:grpSpPr>
          <p:sp>
            <p:nvSpPr>
              <p:cNvPr id="8" name="Freeform 5"/>
              <p:cNvSpPr>
                <a:spLocks/>
              </p:cNvSpPr>
              <p:nvPr userDrawn="1"/>
            </p:nvSpPr>
            <p:spPr bwMode="ltGray">
              <a:xfrm>
                <a:off x="0" y="4"/>
                <a:ext cx="5760" cy="1032"/>
              </a:xfrm>
              <a:custGeom>
                <a:avLst/>
                <a:gdLst>
                  <a:gd name="T0" fmla="*/ 4848 w 4848"/>
                  <a:gd name="T1" fmla="*/ 432 h 432"/>
                  <a:gd name="T2" fmla="*/ 0 w 4848"/>
                  <a:gd name="T3" fmla="*/ 432 h 432"/>
                  <a:gd name="T4" fmla="*/ 0 w 4848"/>
                  <a:gd name="T5" fmla="*/ 0 h 432"/>
                  <a:gd name="T6" fmla="*/ 4848 w 4848"/>
                  <a:gd name="T7" fmla="*/ 0 h 432"/>
                  <a:gd name="T8" fmla="*/ 4848 w 4848"/>
                  <a:gd name="T9" fmla="*/ 432 h 4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848" h="432">
                    <a:moveTo>
                      <a:pt x="4848" y="432"/>
                    </a:moveTo>
                    <a:lnTo>
                      <a:pt x="0" y="432"/>
                    </a:lnTo>
                    <a:lnTo>
                      <a:pt x="0" y="0"/>
                    </a:lnTo>
                    <a:lnTo>
                      <a:pt x="4848" y="0"/>
                    </a:lnTo>
                    <a:lnTo>
                      <a:pt x="4848" y="432"/>
                    </a:lnTo>
                    <a:close/>
                  </a:path>
                </a:pathLst>
              </a:cu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9" name="Group 6"/>
              <p:cNvGrpSpPr>
                <a:grpSpLocks/>
              </p:cNvGrpSpPr>
              <p:nvPr userDrawn="1"/>
            </p:nvGrpSpPr>
            <p:grpSpPr bwMode="auto">
              <a:xfrm>
                <a:off x="333" y="-9"/>
                <a:ext cx="5176" cy="1044"/>
                <a:chOff x="333" y="-9"/>
                <a:chExt cx="5176" cy="1044"/>
              </a:xfrm>
            </p:grpSpPr>
            <p:sp>
              <p:nvSpPr>
                <p:cNvPr id="38" name="Freeform 7"/>
                <p:cNvSpPr>
                  <a:spLocks/>
                </p:cNvSpPr>
                <p:nvPr userDrawn="1"/>
              </p:nvSpPr>
              <p:spPr bwMode="ltGray">
                <a:xfrm>
                  <a:off x="3230" y="949"/>
                  <a:ext cx="17" cy="20"/>
                </a:xfrm>
                <a:custGeom>
                  <a:avLst/>
                  <a:gdLst>
                    <a:gd name="T0" fmla="*/ 5 w 15"/>
                    <a:gd name="T1" fmla="*/ 11 h 23"/>
                    <a:gd name="T2" fmla="*/ 15 w 15"/>
                    <a:gd name="T3" fmla="*/ 5 h 23"/>
                    <a:gd name="T4" fmla="*/ 13 w 15"/>
                    <a:gd name="T5" fmla="*/ 17 h 23"/>
                    <a:gd name="T6" fmla="*/ 5 w 15"/>
                    <a:gd name="T7" fmla="*/ 11 h 23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5" h="23">
                      <a:moveTo>
                        <a:pt x="5" y="11"/>
                      </a:moveTo>
                      <a:cubicBezTo>
                        <a:pt x="2" y="1"/>
                        <a:pt x="7" y="0"/>
                        <a:pt x="15" y="5"/>
                      </a:cubicBezTo>
                      <a:cubicBezTo>
                        <a:pt x="14" y="9"/>
                        <a:pt x="15" y="13"/>
                        <a:pt x="13" y="17"/>
                      </a:cubicBezTo>
                      <a:cubicBezTo>
                        <a:pt x="9" y="23"/>
                        <a:pt x="0" y="16"/>
                        <a:pt x="5" y="1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" name="Freeform 8"/>
                <p:cNvSpPr>
                  <a:spLocks/>
                </p:cNvSpPr>
                <p:nvPr userDrawn="1"/>
              </p:nvSpPr>
              <p:spPr bwMode="ltGray">
                <a:xfrm>
                  <a:off x="3406" y="1015"/>
                  <a:ext cx="21" cy="20"/>
                </a:xfrm>
                <a:custGeom>
                  <a:avLst/>
                  <a:gdLst>
                    <a:gd name="T0" fmla="*/ 3 w 20"/>
                    <a:gd name="T1" fmla="*/ 13 h 23"/>
                    <a:gd name="T2" fmla="*/ 11 w 20"/>
                    <a:gd name="T3" fmla="*/ 3 h 23"/>
                    <a:gd name="T4" fmla="*/ 7 w 20"/>
                    <a:gd name="T5" fmla="*/ 19 h 23"/>
                    <a:gd name="T6" fmla="*/ 3 w 20"/>
                    <a:gd name="T7" fmla="*/ 13 h 23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23">
                      <a:moveTo>
                        <a:pt x="3" y="13"/>
                      </a:moveTo>
                      <a:cubicBezTo>
                        <a:pt x="0" y="5"/>
                        <a:pt x="2" y="0"/>
                        <a:pt x="11" y="3"/>
                      </a:cubicBezTo>
                      <a:cubicBezTo>
                        <a:pt x="16" y="10"/>
                        <a:pt x="20" y="23"/>
                        <a:pt x="7" y="19"/>
                      </a:cubicBezTo>
                      <a:cubicBezTo>
                        <a:pt x="6" y="17"/>
                        <a:pt x="3" y="13"/>
                        <a:pt x="3" y="13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0" name="Freeform 9"/>
                <p:cNvSpPr>
                  <a:spLocks/>
                </p:cNvSpPr>
                <p:nvPr userDrawn="1"/>
              </p:nvSpPr>
              <p:spPr bwMode="ltGray">
                <a:xfrm>
                  <a:off x="2909" y="908"/>
                  <a:ext cx="31" cy="34"/>
                </a:xfrm>
                <a:custGeom>
                  <a:avLst/>
                  <a:gdLst>
                    <a:gd name="T0" fmla="*/ 16 w 30"/>
                    <a:gd name="T1" fmla="*/ 33 h 42"/>
                    <a:gd name="T2" fmla="*/ 8 w 30"/>
                    <a:gd name="T3" fmla="*/ 21 h 42"/>
                    <a:gd name="T4" fmla="*/ 0 w 30"/>
                    <a:gd name="T5" fmla="*/ 9 h 42"/>
                    <a:gd name="T6" fmla="*/ 16 w 30"/>
                    <a:gd name="T7" fmla="*/ 3 h 42"/>
                    <a:gd name="T8" fmla="*/ 30 w 30"/>
                    <a:gd name="T9" fmla="*/ 23 h 42"/>
                    <a:gd name="T10" fmla="*/ 28 w 30"/>
                    <a:gd name="T11" fmla="*/ 31 h 42"/>
                    <a:gd name="T12" fmla="*/ 16 w 30"/>
                    <a:gd name="T13" fmla="*/ 33 h 4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30" h="42">
                      <a:moveTo>
                        <a:pt x="16" y="33"/>
                      </a:moveTo>
                      <a:cubicBezTo>
                        <a:pt x="3" y="20"/>
                        <a:pt x="15" y="34"/>
                        <a:pt x="8" y="21"/>
                      </a:cubicBezTo>
                      <a:cubicBezTo>
                        <a:pt x="6" y="17"/>
                        <a:pt x="0" y="9"/>
                        <a:pt x="0" y="9"/>
                      </a:cubicBezTo>
                      <a:cubicBezTo>
                        <a:pt x="5" y="1"/>
                        <a:pt x="7" y="0"/>
                        <a:pt x="16" y="3"/>
                      </a:cubicBezTo>
                      <a:cubicBezTo>
                        <a:pt x="25" y="16"/>
                        <a:pt x="10" y="16"/>
                        <a:pt x="30" y="23"/>
                      </a:cubicBezTo>
                      <a:cubicBezTo>
                        <a:pt x="29" y="26"/>
                        <a:pt x="30" y="29"/>
                        <a:pt x="28" y="31"/>
                      </a:cubicBezTo>
                      <a:cubicBezTo>
                        <a:pt x="15" y="42"/>
                        <a:pt x="16" y="38"/>
                        <a:pt x="16" y="33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" name="Freeform 10"/>
                <p:cNvSpPr>
                  <a:spLocks/>
                </p:cNvSpPr>
                <p:nvPr userDrawn="1"/>
              </p:nvSpPr>
              <p:spPr bwMode="ltGray">
                <a:xfrm>
                  <a:off x="2551" y="940"/>
                  <a:ext cx="25" cy="12"/>
                </a:xfrm>
                <a:custGeom>
                  <a:avLst/>
                  <a:gdLst>
                    <a:gd name="T0" fmla="*/ 15 w 25"/>
                    <a:gd name="T1" fmla="*/ 16 h 16"/>
                    <a:gd name="T2" fmla="*/ 3 w 25"/>
                    <a:gd name="T3" fmla="*/ 8 h 16"/>
                    <a:gd name="T4" fmla="*/ 15 w 25"/>
                    <a:gd name="T5" fmla="*/ 0 h 16"/>
                    <a:gd name="T6" fmla="*/ 15 w 25"/>
                    <a:gd name="T7" fmla="*/ 16 h 16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5" h="16">
                      <a:moveTo>
                        <a:pt x="15" y="16"/>
                      </a:moveTo>
                      <a:cubicBezTo>
                        <a:pt x="10" y="15"/>
                        <a:pt x="0" y="12"/>
                        <a:pt x="3" y="8"/>
                      </a:cubicBezTo>
                      <a:cubicBezTo>
                        <a:pt x="6" y="4"/>
                        <a:pt x="15" y="0"/>
                        <a:pt x="15" y="0"/>
                      </a:cubicBezTo>
                      <a:cubicBezTo>
                        <a:pt x="17" y="3"/>
                        <a:pt x="25" y="16"/>
                        <a:pt x="15" y="1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2" name="Freeform 11"/>
                <p:cNvSpPr>
                  <a:spLocks/>
                </p:cNvSpPr>
                <p:nvPr userDrawn="1"/>
              </p:nvSpPr>
              <p:spPr bwMode="ltGray">
                <a:xfrm>
                  <a:off x="2443" y="954"/>
                  <a:ext cx="65" cy="39"/>
                </a:xfrm>
                <a:custGeom>
                  <a:avLst/>
                  <a:gdLst>
                    <a:gd name="T0" fmla="*/ 14 w 65"/>
                    <a:gd name="T1" fmla="*/ 24 h 46"/>
                    <a:gd name="T2" fmla="*/ 30 w 65"/>
                    <a:gd name="T3" fmla="*/ 4 h 46"/>
                    <a:gd name="T4" fmla="*/ 42 w 65"/>
                    <a:gd name="T5" fmla="*/ 0 h 46"/>
                    <a:gd name="T6" fmla="*/ 58 w 65"/>
                    <a:gd name="T7" fmla="*/ 12 h 46"/>
                    <a:gd name="T8" fmla="*/ 32 w 65"/>
                    <a:gd name="T9" fmla="*/ 26 h 46"/>
                    <a:gd name="T10" fmla="*/ 12 w 65"/>
                    <a:gd name="T11" fmla="*/ 46 h 46"/>
                    <a:gd name="T12" fmla="*/ 8 w 65"/>
                    <a:gd name="T13" fmla="*/ 20 h 46"/>
                    <a:gd name="T14" fmla="*/ 12 w 65"/>
                    <a:gd name="T15" fmla="*/ 14 h 46"/>
                    <a:gd name="T16" fmla="*/ 14 w 65"/>
                    <a:gd name="T17" fmla="*/ 24 h 4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65" h="46">
                      <a:moveTo>
                        <a:pt x="14" y="24"/>
                      </a:moveTo>
                      <a:cubicBezTo>
                        <a:pt x="18" y="13"/>
                        <a:pt x="16" y="9"/>
                        <a:pt x="30" y="4"/>
                      </a:cubicBezTo>
                      <a:cubicBezTo>
                        <a:pt x="34" y="3"/>
                        <a:pt x="42" y="0"/>
                        <a:pt x="42" y="0"/>
                      </a:cubicBezTo>
                      <a:cubicBezTo>
                        <a:pt x="50" y="1"/>
                        <a:pt x="65" y="0"/>
                        <a:pt x="58" y="12"/>
                      </a:cubicBezTo>
                      <a:cubicBezTo>
                        <a:pt x="53" y="21"/>
                        <a:pt x="40" y="21"/>
                        <a:pt x="32" y="26"/>
                      </a:cubicBezTo>
                      <a:cubicBezTo>
                        <a:pt x="26" y="35"/>
                        <a:pt x="23" y="42"/>
                        <a:pt x="12" y="46"/>
                      </a:cubicBezTo>
                      <a:cubicBezTo>
                        <a:pt x="0" y="42"/>
                        <a:pt x="5" y="30"/>
                        <a:pt x="8" y="20"/>
                      </a:cubicBezTo>
                      <a:cubicBezTo>
                        <a:pt x="9" y="18"/>
                        <a:pt x="10" y="13"/>
                        <a:pt x="12" y="14"/>
                      </a:cubicBezTo>
                      <a:cubicBezTo>
                        <a:pt x="15" y="16"/>
                        <a:pt x="13" y="21"/>
                        <a:pt x="14" y="2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3" name="Freeform 12"/>
                <p:cNvSpPr>
                  <a:spLocks/>
                </p:cNvSpPr>
                <p:nvPr userDrawn="1"/>
              </p:nvSpPr>
              <p:spPr bwMode="ltGray">
                <a:xfrm>
                  <a:off x="2375" y="952"/>
                  <a:ext cx="68" cy="39"/>
                </a:xfrm>
                <a:custGeom>
                  <a:avLst/>
                  <a:gdLst>
                    <a:gd name="T0" fmla="*/ 0 w 69"/>
                    <a:gd name="T1" fmla="*/ 31 h 47"/>
                    <a:gd name="T2" fmla="*/ 18 w 69"/>
                    <a:gd name="T3" fmla="*/ 25 h 47"/>
                    <a:gd name="T4" fmla="*/ 52 w 69"/>
                    <a:gd name="T5" fmla="*/ 1 h 47"/>
                    <a:gd name="T6" fmla="*/ 64 w 69"/>
                    <a:gd name="T7" fmla="*/ 3 h 47"/>
                    <a:gd name="T8" fmla="*/ 50 w 69"/>
                    <a:gd name="T9" fmla="*/ 19 h 47"/>
                    <a:gd name="T10" fmla="*/ 28 w 69"/>
                    <a:gd name="T11" fmla="*/ 33 h 47"/>
                    <a:gd name="T12" fmla="*/ 22 w 69"/>
                    <a:gd name="T13" fmla="*/ 47 h 47"/>
                    <a:gd name="T14" fmla="*/ 16 w 69"/>
                    <a:gd name="T15" fmla="*/ 45 h 47"/>
                    <a:gd name="T16" fmla="*/ 12 w 69"/>
                    <a:gd name="T17" fmla="*/ 39 h 47"/>
                    <a:gd name="T18" fmla="*/ 0 w 69"/>
                    <a:gd name="T19" fmla="*/ 35 h 47"/>
                    <a:gd name="T20" fmla="*/ 0 w 69"/>
                    <a:gd name="T21" fmla="*/ 31 h 47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69" h="47">
                      <a:moveTo>
                        <a:pt x="0" y="31"/>
                      </a:moveTo>
                      <a:cubicBezTo>
                        <a:pt x="7" y="24"/>
                        <a:pt x="9" y="22"/>
                        <a:pt x="18" y="25"/>
                      </a:cubicBezTo>
                      <a:cubicBezTo>
                        <a:pt x="25" y="4"/>
                        <a:pt x="36" y="12"/>
                        <a:pt x="52" y="1"/>
                      </a:cubicBezTo>
                      <a:cubicBezTo>
                        <a:pt x="56" y="2"/>
                        <a:pt x="61" y="0"/>
                        <a:pt x="64" y="3"/>
                      </a:cubicBezTo>
                      <a:cubicBezTo>
                        <a:pt x="69" y="8"/>
                        <a:pt x="50" y="19"/>
                        <a:pt x="50" y="19"/>
                      </a:cubicBezTo>
                      <a:cubicBezTo>
                        <a:pt x="46" y="31"/>
                        <a:pt x="35" y="22"/>
                        <a:pt x="28" y="33"/>
                      </a:cubicBezTo>
                      <a:cubicBezTo>
                        <a:pt x="31" y="41"/>
                        <a:pt x="31" y="44"/>
                        <a:pt x="22" y="47"/>
                      </a:cubicBezTo>
                      <a:cubicBezTo>
                        <a:pt x="20" y="46"/>
                        <a:pt x="18" y="46"/>
                        <a:pt x="16" y="45"/>
                      </a:cubicBezTo>
                      <a:cubicBezTo>
                        <a:pt x="14" y="43"/>
                        <a:pt x="14" y="40"/>
                        <a:pt x="12" y="39"/>
                      </a:cubicBezTo>
                      <a:cubicBezTo>
                        <a:pt x="8" y="37"/>
                        <a:pt x="0" y="35"/>
                        <a:pt x="0" y="35"/>
                      </a:cubicBezTo>
                      <a:cubicBezTo>
                        <a:pt x="2" y="26"/>
                        <a:pt x="3" y="25"/>
                        <a:pt x="0" y="3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4" name="Freeform 13"/>
                <p:cNvSpPr>
                  <a:spLocks/>
                </p:cNvSpPr>
                <p:nvPr userDrawn="1"/>
              </p:nvSpPr>
              <p:spPr bwMode="ltGray">
                <a:xfrm>
                  <a:off x="2007" y="739"/>
                  <a:ext cx="354" cy="228"/>
                </a:xfrm>
                <a:custGeom>
                  <a:avLst/>
                  <a:gdLst>
                    <a:gd name="T0" fmla="*/ 10 w 355"/>
                    <a:gd name="T1" fmla="*/ 4 h 277"/>
                    <a:gd name="T2" fmla="*/ 36 w 355"/>
                    <a:gd name="T3" fmla="*/ 18 h 277"/>
                    <a:gd name="T4" fmla="*/ 46 w 355"/>
                    <a:gd name="T5" fmla="*/ 30 h 277"/>
                    <a:gd name="T6" fmla="*/ 76 w 355"/>
                    <a:gd name="T7" fmla="*/ 52 h 277"/>
                    <a:gd name="T8" fmla="*/ 92 w 355"/>
                    <a:gd name="T9" fmla="*/ 66 h 277"/>
                    <a:gd name="T10" fmla="*/ 122 w 355"/>
                    <a:gd name="T11" fmla="*/ 98 h 277"/>
                    <a:gd name="T12" fmla="*/ 136 w 355"/>
                    <a:gd name="T13" fmla="*/ 128 h 277"/>
                    <a:gd name="T14" fmla="*/ 148 w 355"/>
                    <a:gd name="T15" fmla="*/ 132 h 277"/>
                    <a:gd name="T16" fmla="*/ 154 w 355"/>
                    <a:gd name="T17" fmla="*/ 150 h 277"/>
                    <a:gd name="T18" fmla="*/ 176 w 355"/>
                    <a:gd name="T19" fmla="*/ 152 h 277"/>
                    <a:gd name="T20" fmla="*/ 170 w 355"/>
                    <a:gd name="T21" fmla="*/ 196 h 277"/>
                    <a:gd name="T22" fmla="*/ 180 w 355"/>
                    <a:gd name="T23" fmla="*/ 224 h 277"/>
                    <a:gd name="T24" fmla="*/ 198 w 355"/>
                    <a:gd name="T25" fmla="*/ 232 h 277"/>
                    <a:gd name="T26" fmla="*/ 216 w 355"/>
                    <a:gd name="T27" fmla="*/ 234 h 277"/>
                    <a:gd name="T28" fmla="*/ 236 w 355"/>
                    <a:gd name="T29" fmla="*/ 242 h 277"/>
                    <a:gd name="T30" fmla="*/ 254 w 355"/>
                    <a:gd name="T31" fmla="*/ 236 h 277"/>
                    <a:gd name="T32" fmla="*/ 272 w 355"/>
                    <a:gd name="T33" fmla="*/ 248 h 277"/>
                    <a:gd name="T34" fmla="*/ 296 w 355"/>
                    <a:gd name="T35" fmla="*/ 256 h 277"/>
                    <a:gd name="T36" fmla="*/ 314 w 355"/>
                    <a:gd name="T37" fmla="*/ 264 h 277"/>
                    <a:gd name="T38" fmla="*/ 352 w 355"/>
                    <a:gd name="T39" fmla="*/ 266 h 277"/>
                    <a:gd name="T40" fmla="*/ 342 w 355"/>
                    <a:gd name="T41" fmla="*/ 274 h 277"/>
                    <a:gd name="T42" fmla="*/ 322 w 355"/>
                    <a:gd name="T43" fmla="*/ 272 h 277"/>
                    <a:gd name="T44" fmla="*/ 300 w 355"/>
                    <a:gd name="T45" fmla="*/ 270 h 277"/>
                    <a:gd name="T46" fmla="*/ 288 w 355"/>
                    <a:gd name="T47" fmla="*/ 266 h 277"/>
                    <a:gd name="T48" fmla="*/ 252 w 355"/>
                    <a:gd name="T49" fmla="*/ 264 h 277"/>
                    <a:gd name="T50" fmla="*/ 234 w 355"/>
                    <a:gd name="T51" fmla="*/ 260 h 277"/>
                    <a:gd name="T52" fmla="*/ 172 w 355"/>
                    <a:gd name="T53" fmla="*/ 242 h 277"/>
                    <a:gd name="T54" fmla="*/ 160 w 355"/>
                    <a:gd name="T55" fmla="*/ 216 h 277"/>
                    <a:gd name="T56" fmla="*/ 126 w 355"/>
                    <a:gd name="T57" fmla="*/ 200 h 277"/>
                    <a:gd name="T58" fmla="*/ 108 w 355"/>
                    <a:gd name="T59" fmla="*/ 186 h 277"/>
                    <a:gd name="T60" fmla="*/ 94 w 355"/>
                    <a:gd name="T61" fmla="*/ 158 h 277"/>
                    <a:gd name="T62" fmla="*/ 68 w 355"/>
                    <a:gd name="T63" fmla="*/ 108 h 277"/>
                    <a:gd name="T64" fmla="*/ 64 w 355"/>
                    <a:gd name="T65" fmla="*/ 102 h 277"/>
                    <a:gd name="T66" fmla="*/ 58 w 355"/>
                    <a:gd name="T67" fmla="*/ 100 h 277"/>
                    <a:gd name="T68" fmla="*/ 54 w 355"/>
                    <a:gd name="T69" fmla="*/ 88 h 277"/>
                    <a:gd name="T70" fmla="*/ 38 w 355"/>
                    <a:gd name="T71" fmla="*/ 58 h 277"/>
                    <a:gd name="T72" fmla="*/ 20 w 355"/>
                    <a:gd name="T73" fmla="*/ 40 h 277"/>
                    <a:gd name="T74" fmla="*/ 4 w 355"/>
                    <a:gd name="T75" fmla="*/ 22 h 277"/>
                    <a:gd name="T76" fmla="*/ 10 w 355"/>
                    <a:gd name="T77" fmla="*/ 2 h 277"/>
                    <a:gd name="T78" fmla="*/ 10 w 355"/>
                    <a:gd name="T79" fmla="*/ 4 h 277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</a:gdLst>
                  <a:ahLst/>
                  <a:cxnLst>
                    <a:cxn ang="T80">
                      <a:pos x="T0" y="T1"/>
                    </a:cxn>
                    <a:cxn ang="T81">
                      <a:pos x="T2" y="T3"/>
                    </a:cxn>
                    <a:cxn ang="T82">
                      <a:pos x="T4" y="T5"/>
                    </a:cxn>
                    <a:cxn ang="T83">
                      <a:pos x="T6" y="T7"/>
                    </a:cxn>
                    <a:cxn ang="T84">
                      <a:pos x="T8" y="T9"/>
                    </a:cxn>
                    <a:cxn ang="T85">
                      <a:pos x="T10" y="T11"/>
                    </a:cxn>
                    <a:cxn ang="T86">
                      <a:pos x="T12" y="T13"/>
                    </a:cxn>
                    <a:cxn ang="T87">
                      <a:pos x="T14" y="T15"/>
                    </a:cxn>
                    <a:cxn ang="T88">
                      <a:pos x="T16" y="T17"/>
                    </a:cxn>
                    <a:cxn ang="T89">
                      <a:pos x="T18" y="T19"/>
                    </a:cxn>
                    <a:cxn ang="T90">
                      <a:pos x="T20" y="T21"/>
                    </a:cxn>
                    <a:cxn ang="T91">
                      <a:pos x="T22" y="T23"/>
                    </a:cxn>
                    <a:cxn ang="T92">
                      <a:pos x="T24" y="T25"/>
                    </a:cxn>
                    <a:cxn ang="T93">
                      <a:pos x="T26" y="T27"/>
                    </a:cxn>
                    <a:cxn ang="T94">
                      <a:pos x="T28" y="T29"/>
                    </a:cxn>
                    <a:cxn ang="T95">
                      <a:pos x="T30" y="T31"/>
                    </a:cxn>
                    <a:cxn ang="T96">
                      <a:pos x="T32" y="T33"/>
                    </a:cxn>
                    <a:cxn ang="T97">
                      <a:pos x="T34" y="T35"/>
                    </a:cxn>
                    <a:cxn ang="T98">
                      <a:pos x="T36" y="T37"/>
                    </a:cxn>
                    <a:cxn ang="T99">
                      <a:pos x="T38" y="T39"/>
                    </a:cxn>
                    <a:cxn ang="T100">
                      <a:pos x="T40" y="T41"/>
                    </a:cxn>
                    <a:cxn ang="T101">
                      <a:pos x="T42" y="T43"/>
                    </a:cxn>
                    <a:cxn ang="T102">
                      <a:pos x="T44" y="T45"/>
                    </a:cxn>
                    <a:cxn ang="T103">
                      <a:pos x="T46" y="T47"/>
                    </a:cxn>
                    <a:cxn ang="T104">
                      <a:pos x="T48" y="T49"/>
                    </a:cxn>
                    <a:cxn ang="T105">
                      <a:pos x="T50" y="T51"/>
                    </a:cxn>
                    <a:cxn ang="T106">
                      <a:pos x="T52" y="T53"/>
                    </a:cxn>
                    <a:cxn ang="T107">
                      <a:pos x="T54" y="T55"/>
                    </a:cxn>
                    <a:cxn ang="T108">
                      <a:pos x="T56" y="T57"/>
                    </a:cxn>
                    <a:cxn ang="T109">
                      <a:pos x="T58" y="T59"/>
                    </a:cxn>
                    <a:cxn ang="T110">
                      <a:pos x="T60" y="T61"/>
                    </a:cxn>
                    <a:cxn ang="T111">
                      <a:pos x="T62" y="T63"/>
                    </a:cxn>
                    <a:cxn ang="T112">
                      <a:pos x="T64" y="T65"/>
                    </a:cxn>
                    <a:cxn ang="T113">
                      <a:pos x="T66" y="T67"/>
                    </a:cxn>
                    <a:cxn ang="T114">
                      <a:pos x="T68" y="T69"/>
                    </a:cxn>
                    <a:cxn ang="T115">
                      <a:pos x="T70" y="T71"/>
                    </a:cxn>
                    <a:cxn ang="T116">
                      <a:pos x="T72" y="T73"/>
                    </a:cxn>
                    <a:cxn ang="T117">
                      <a:pos x="T74" y="T75"/>
                    </a:cxn>
                    <a:cxn ang="T118">
                      <a:pos x="T76" y="T77"/>
                    </a:cxn>
                    <a:cxn ang="T119">
                      <a:pos x="T78" y="T79"/>
                    </a:cxn>
                  </a:cxnLst>
                  <a:rect l="0" t="0" r="r" b="b"/>
                  <a:pathLst>
                    <a:path w="355" h="277">
                      <a:moveTo>
                        <a:pt x="10" y="4"/>
                      </a:moveTo>
                      <a:cubicBezTo>
                        <a:pt x="22" y="0"/>
                        <a:pt x="24" y="14"/>
                        <a:pt x="36" y="18"/>
                      </a:cubicBezTo>
                      <a:cubicBezTo>
                        <a:pt x="37" y="19"/>
                        <a:pt x="45" y="29"/>
                        <a:pt x="46" y="30"/>
                      </a:cubicBezTo>
                      <a:cubicBezTo>
                        <a:pt x="56" y="40"/>
                        <a:pt x="67" y="38"/>
                        <a:pt x="76" y="52"/>
                      </a:cubicBezTo>
                      <a:cubicBezTo>
                        <a:pt x="80" y="58"/>
                        <a:pt x="92" y="66"/>
                        <a:pt x="92" y="66"/>
                      </a:cubicBezTo>
                      <a:cubicBezTo>
                        <a:pt x="96" y="79"/>
                        <a:pt x="112" y="88"/>
                        <a:pt x="122" y="98"/>
                      </a:cubicBezTo>
                      <a:cubicBezTo>
                        <a:pt x="124" y="105"/>
                        <a:pt x="130" y="124"/>
                        <a:pt x="136" y="128"/>
                      </a:cubicBezTo>
                      <a:cubicBezTo>
                        <a:pt x="140" y="130"/>
                        <a:pt x="148" y="132"/>
                        <a:pt x="148" y="132"/>
                      </a:cubicBezTo>
                      <a:cubicBezTo>
                        <a:pt x="150" y="138"/>
                        <a:pt x="154" y="150"/>
                        <a:pt x="154" y="150"/>
                      </a:cubicBezTo>
                      <a:cubicBezTo>
                        <a:pt x="161" y="139"/>
                        <a:pt x="168" y="144"/>
                        <a:pt x="176" y="152"/>
                      </a:cubicBezTo>
                      <a:cubicBezTo>
                        <a:pt x="174" y="167"/>
                        <a:pt x="173" y="181"/>
                        <a:pt x="170" y="196"/>
                      </a:cubicBezTo>
                      <a:cubicBezTo>
                        <a:pt x="171" y="202"/>
                        <a:pt x="174" y="220"/>
                        <a:pt x="180" y="224"/>
                      </a:cubicBezTo>
                      <a:cubicBezTo>
                        <a:pt x="185" y="228"/>
                        <a:pt x="193" y="228"/>
                        <a:pt x="198" y="232"/>
                      </a:cubicBezTo>
                      <a:cubicBezTo>
                        <a:pt x="204" y="230"/>
                        <a:pt x="216" y="234"/>
                        <a:pt x="216" y="234"/>
                      </a:cubicBezTo>
                      <a:cubicBezTo>
                        <a:pt x="223" y="241"/>
                        <a:pt x="225" y="245"/>
                        <a:pt x="236" y="242"/>
                      </a:cubicBezTo>
                      <a:cubicBezTo>
                        <a:pt x="242" y="240"/>
                        <a:pt x="254" y="236"/>
                        <a:pt x="254" y="236"/>
                      </a:cubicBezTo>
                      <a:cubicBezTo>
                        <a:pt x="260" y="240"/>
                        <a:pt x="265" y="246"/>
                        <a:pt x="272" y="248"/>
                      </a:cubicBezTo>
                      <a:cubicBezTo>
                        <a:pt x="277" y="250"/>
                        <a:pt x="291" y="252"/>
                        <a:pt x="296" y="256"/>
                      </a:cubicBezTo>
                      <a:cubicBezTo>
                        <a:pt x="301" y="260"/>
                        <a:pt x="314" y="264"/>
                        <a:pt x="314" y="264"/>
                      </a:cubicBezTo>
                      <a:cubicBezTo>
                        <a:pt x="330" y="263"/>
                        <a:pt x="338" y="261"/>
                        <a:pt x="352" y="266"/>
                      </a:cubicBezTo>
                      <a:cubicBezTo>
                        <a:pt x="355" y="275"/>
                        <a:pt x="350" y="277"/>
                        <a:pt x="342" y="274"/>
                      </a:cubicBezTo>
                      <a:cubicBezTo>
                        <a:pt x="336" y="276"/>
                        <a:pt x="322" y="272"/>
                        <a:pt x="322" y="272"/>
                      </a:cubicBezTo>
                      <a:cubicBezTo>
                        <a:pt x="314" y="275"/>
                        <a:pt x="308" y="272"/>
                        <a:pt x="300" y="270"/>
                      </a:cubicBezTo>
                      <a:cubicBezTo>
                        <a:pt x="296" y="269"/>
                        <a:pt x="288" y="266"/>
                        <a:pt x="288" y="266"/>
                      </a:cubicBezTo>
                      <a:cubicBezTo>
                        <a:pt x="276" y="270"/>
                        <a:pt x="264" y="266"/>
                        <a:pt x="252" y="264"/>
                      </a:cubicBezTo>
                      <a:cubicBezTo>
                        <a:pt x="245" y="259"/>
                        <a:pt x="242" y="257"/>
                        <a:pt x="234" y="260"/>
                      </a:cubicBezTo>
                      <a:cubicBezTo>
                        <a:pt x="211" y="252"/>
                        <a:pt x="192" y="256"/>
                        <a:pt x="172" y="242"/>
                      </a:cubicBezTo>
                      <a:cubicBezTo>
                        <a:pt x="165" y="231"/>
                        <a:pt x="176" y="221"/>
                        <a:pt x="160" y="216"/>
                      </a:cubicBezTo>
                      <a:cubicBezTo>
                        <a:pt x="154" y="233"/>
                        <a:pt x="136" y="203"/>
                        <a:pt x="126" y="200"/>
                      </a:cubicBezTo>
                      <a:cubicBezTo>
                        <a:pt x="120" y="196"/>
                        <a:pt x="114" y="190"/>
                        <a:pt x="108" y="186"/>
                      </a:cubicBezTo>
                      <a:cubicBezTo>
                        <a:pt x="104" y="175"/>
                        <a:pt x="104" y="165"/>
                        <a:pt x="94" y="158"/>
                      </a:cubicBezTo>
                      <a:cubicBezTo>
                        <a:pt x="83" y="142"/>
                        <a:pt x="85" y="119"/>
                        <a:pt x="68" y="108"/>
                      </a:cubicBezTo>
                      <a:cubicBezTo>
                        <a:pt x="67" y="106"/>
                        <a:pt x="66" y="104"/>
                        <a:pt x="64" y="102"/>
                      </a:cubicBezTo>
                      <a:cubicBezTo>
                        <a:pt x="62" y="101"/>
                        <a:pt x="59" y="102"/>
                        <a:pt x="58" y="100"/>
                      </a:cubicBezTo>
                      <a:cubicBezTo>
                        <a:pt x="56" y="97"/>
                        <a:pt x="54" y="88"/>
                        <a:pt x="54" y="88"/>
                      </a:cubicBezTo>
                      <a:cubicBezTo>
                        <a:pt x="59" y="73"/>
                        <a:pt x="52" y="61"/>
                        <a:pt x="38" y="58"/>
                      </a:cubicBezTo>
                      <a:cubicBezTo>
                        <a:pt x="32" y="49"/>
                        <a:pt x="31" y="44"/>
                        <a:pt x="20" y="40"/>
                      </a:cubicBezTo>
                      <a:cubicBezTo>
                        <a:pt x="16" y="27"/>
                        <a:pt x="16" y="26"/>
                        <a:pt x="4" y="22"/>
                      </a:cubicBezTo>
                      <a:cubicBezTo>
                        <a:pt x="1" y="13"/>
                        <a:pt x="0" y="5"/>
                        <a:pt x="10" y="2"/>
                      </a:cubicBezTo>
                      <a:cubicBezTo>
                        <a:pt x="18" y="5"/>
                        <a:pt x="18" y="4"/>
                        <a:pt x="10" y="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5" name="Freeform 14"/>
                <p:cNvSpPr>
                  <a:spLocks/>
                </p:cNvSpPr>
                <p:nvPr userDrawn="1"/>
              </p:nvSpPr>
              <p:spPr bwMode="ltGray">
                <a:xfrm>
                  <a:off x="2222" y="724"/>
                  <a:ext cx="157" cy="167"/>
                </a:xfrm>
                <a:custGeom>
                  <a:avLst/>
                  <a:gdLst>
                    <a:gd name="T0" fmla="*/ 54 w 156"/>
                    <a:gd name="T1" fmla="*/ 66 h 206"/>
                    <a:gd name="T2" fmla="*/ 66 w 156"/>
                    <a:gd name="T3" fmla="*/ 58 h 206"/>
                    <a:gd name="T4" fmla="*/ 68 w 156"/>
                    <a:gd name="T5" fmla="*/ 52 h 206"/>
                    <a:gd name="T6" fmla="*/ 80 w 156"/>
                    <a:gd name="T7" fmla="*/ 44 h 206"/>
                    <a:gd name="T8" fmla="*/ 106 w 156"/>
                    <a:gd name="T9" fmla="*/ 22 h 206"/>
                    <a:gd name="T10" fmla="*/ 112 w 156"/>
                    <a:gd name="T11" fmla="*/ 4 h 206"/>
                    <a:gd name="T12" fmla="*/ 124 w 156"/>
                    <a:gd name="T13" fmla="*/ 0 h 206"/>
                    <a:gd name="T14" fmla="*/ 150 w 156"/>
                    <a:gd name="T15" fmla="*/ 28 h 206"/>
                    <a:gd name="T16" fmla="*/ 146 w 156"/>
                    <a:gd name="T17" fmla="*/ 44 h 206"/>
                    <a:gd name="T18" fmla="*/ 126 w 156"/>
                    <a:gd name="T19" fmla="*/ 64 h 206"/>
                    <a:gd name="T20" fmla="*/ 132 w 156"/>
                    <a:gd name="T21" fmla="*/ 94 h 206"/>
                    <a:gd name="T22" fmla="*/ 142 w 156"/>
                    <a:gd name="T23" fmla="*/ 110 h 206"/>
                    <a:gd name="T24" fmla="*/ 146 w 156"/>
                    <a:gd name="T25" fmla="*/ 128 h 206"/>
                    <a:gd name="T26" fmla="*/ 128 w 156"/>
                    <a:gd name="T27" fmla="*/ 128 h 206"/>
                    <a:gd name="T28" fmla="*/ 116 w 156"/>
                    <a:gd name="T29" fmla="*/ 146 h 206"/>
                    <a:gd name="T30" fmla="*/ 104 w 156"/>
                    <a:gd name="T31" fmla="*/ 156 h 206"/>
                    <a:gd name="T32" fmla="*/ 100 w 156"/>
                    <a:gd name="T33" fmla="*/ 198 h 206"/>
                    <a:gd name="T34" fmla="*/ 88 w 156"/>
                    <a:gd name="T35" fmla="*/ 202 h 206"/>
                    <a:gd name="T36" fmla="*/ 82 w 156"/>
                    <a:gd name="T37" fmla="*/ 206 h 206"/>
                    <a:gd name="T38" fmla="*/ 76 w 156"/>
                    <a:gd name="T39" fmla="*/ 202 h 206"/>
                    <a:gd name="T40" fmla="*/ 72 w 156"/>
                    <a:gd name="T41" fmla="*/ 190 h 206"/>
                    <a:gd name="T42" fmla="*/ 60 w 156"/>
                    <a:gd name="T43" fmla="*/ 186 h 206"/>
                    <a:gd name="T44" fmla="*/ 42 w 156"/>
                    <a:gd name="T45" fmla="*/ 194 h 206"/>
                    <a:gd name="T46" fmla="*/ 28 w 156"/>
                    <a:gd name="T47" fmla="*/ 186 h 206"/>
                    <a:gd name="T48" fmla="*/ 10 w 156"/>
                    <a:gd name="T49" fmla="*/ 148 h 206"/>
                    <a:gd name="T50" fmla="*/ 4 w 156"/>
                    <a:gd name="T51" fmla="*/ 130 h 206"/>
                    <a:gd name="T52" fmla="*/ 0 w 156"/>
                    <a:gd name="T53" fmla="*/ 118 h 206"/>
                    <a:gd name="T54" fmla="*/ 20 w 156"/>
                    <a:gd name="T55" fmla="*/ 96 h 206"/>
                    <a:gd name="T56" fmla="*/ 32 w 156"/>
                    <a:gd name="T57" fmla="*/ 104 h 206"/>
                    <a:gd name="T58" fmla="*/ 34 w 156"/>
                    <a:gd name="T59" fmla="*/ 80 h 206"/>
                    <a:gd name="T60" fmla="*/ 52 w 156"/>
                    <a:gd name="T61" fmla="*/ 70 h 206"/>
                    <a:gd name="T62" fmla="*/ 54 w 156"/>
                    <a:gd name="T63" fmla="*/ 66 h 20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</a:gdLst>
                  <a:ahLst/>
                  <a:cxnLst>
                    <a:cxn ang="T64">
                      <a:pos x="T0" y="T1"/>
                    </a:cxn>
                    <a:cxn ang="T65">
                      <a:pos x="T2" y="T3"/>
                    </a:cxn>
                    <a:cxn ang="T66">
                      <a:pos x="T4" y="T5"/>
                    </a:cxn>
                    <a:cxn ang="T67">
                      <a:pos x="T6" y="T7"/>
                    </a:cxn>
                    <a:cxn ang="T68">
                      <a:pos x="T8" y="T9"/>
                    </a:cxn>
                    <a:cxn ang="T69">
                      <a:pos x="T10" y="T11"/>
                    </a:cxn>
                    <a:cxn ang="T70">
                      <a:pos x="T12" y="T13"/>
                    </a:cxn>
                    <a:cxn ang="T71">
                      <a:pos x="T14" y="T15"/>
                    </a:cxn>
                    <a:cxn ang="T72">
                      <a:pos x="T16" y="T17"/>
                    </a:cxn>
                    <a:cxn ang="T73">
                      <a:pos x="T18" y="T19"/>
                    </a:cxn>
                    <a:cxn ang="T74">
                      <a:pos x="T20" y="T21"/>
                    </a:cxn>
                    <a:cxn ang="T75">
                      <a:pos x="T22" y="T23"/>
                    </a:cxn>
                    <a:cxn ang="T76">
                      <a:pos x="T24" y="T25"/>
                    </a:cxn>
                    <a:cxn ang="T77">
                      <a:pos x="T26" y="T27"/>
                    </a:cxn>
                    <a:cxn ang="T78">
                      <a:pos x="T28" y="T29"/>
                    </a:cxn>
                    <a:cxn ang="T79">
                      <a:pos x="T30" y="T31"/>
                    </a:cxn>
                    <a:cxn ang="T80">
                      <a:pos x="T32" y="T33"/>
                    </a:cxn>
                    <a:cxn ang="T81">
                      <a:pos x="T34" y="T35"/>
                    </a:cxn>
                    <a:cxn ang="T82">
                      <a:pos x="T36" y="T37"/>
                    </a:cxn>
                    <a:cxn ang="T83">
                      <a:pos x="T38" y="T39"/>
                    </a:cxn>
                    <a:cxn ang="T84">
                      <a:pos x="T40" y="T41"/>
                    </a:cxn>
                    <a:cxn ang="T85">
                      <a:pos x="T42" y="T43"/>
                    </a:cxn>
                    <a:cxn ang="T86">
                      <a:pos x="T44" y="T45"/>
                    </a:cxn>
                    <a:cxn ang="T87">
                      <a:pos x="T46" y="T47"/>
                    </a:cxn>
                    <a:cxn ang="T88">
                      <a:pos x="T48" y="T49"/>
                    </a:cxn>
                    <a:cxn ang="T89">
                      <a:pos x="T50" y="T51"/>
                    </a:cxn>
                    <a:cxn ang="T90">
                      <a:pos x="T52" y="T53"/>
                    </a:cxn>
                    <a:cxn ang="T91">
                      <a:pos x="T54" y="T55"/>
                    </a:cxn>
                    <a:cxn ang="T92">
                      <a:pos x="T56" y="T57"/>
                    </a:cxn>
                    <a:cxn ang="T93">
                      <a:pos x="T58" y="T59"/>
                    </a:cxn>
                    <a:cxn ang="T94">
                      <a:pos x="T60" y="T61"/>
                    </a:cxn>
                    <a:cxn ang="T95">
                      <a:pos x="T62" y="T63"/>
                    </a:cxn>
                  </a:cxnLst>
                  <a:rect l="0" t="0" r="r" b="b"/>
                  <a:pathLst>
                    <a:path w="156" h="206">
                      <a:moveTo>
                        <a:pt x="54" y="66"/>
                      </a:moveTo>
                      <a:cubicBezTo>
                        <a:pt x="58" y="63"/>
                        <a:pt x="64" y="63"/>
                        <a:pt x="66" y="58"/>
                      </a:cubicBezTo>
                      <a:cubicBezTo>
                        <a:pt x="67" y="56"/>
                        <a:pt x="67" y="53"/>
                        <a:pt x="68" y="52"/>
                      </a:cubicBezTo>
                      <a:cubicBezTo>
                        <a:pt x="71" y="49"/>
                        <a:pt x="80" y="44"/>
                        <a:pt x="80" y="44"/>
                      </a:cubicBezTo>
                      <a:cubicBezTo>
                        <a:pt x="113" y="55"/>
                        <a:pt x="85" y="29"/>
                        <a:pt x="106" y="22"/>
                      </a:cubicBezTo>
                      <a:cubicBezTo>
                        <a:pt x="110" y="17"/>
                        <a:pt x="108" y="9"/>
                        <a:pt x="112" y="4"/>
                      </a:cubicBezTo>
                      <a:cubicBezTo>
                        <a:pt x="115" y="1"/>
                        <a:pt x="124" y="0"/>
                        <a:pt x="124" y="0"/>
                      </a:cubicBezTo>
                      <a:cubicBezTo>
                        <a:pt x="138" y="14"/>
                        <a:pt x="126" y="23"/>
                        <a:pt x="150" y="28"/>
                      </a:cubicBezTo>
                      <a:cubicBezTo>
                        <a:pt x="156" y="36"/>
                        <a:pt x="154" y="39"/>
                        <a:pt x="146" y="44"/>
                      </a:cubicBezTo>
                      <a:cubicBezTo>
                        <a:pt x="141" y="52"/>
                        <a:pt x="135" y="61"/>
                        <a:pt x="126" y="64"/>
                      </a:cubicBezTo>
                      <a:cubicBezTo>
                        <a:pt x="118" y="75"/>
                        <a:pt x="128" y="83"/>
                        <a:pt x="132" y="94"/>
                      </a:cubicBezTo>
                      <a:cubicBezTo>
                        <a:pt x="129" y="103"/>
                        <a:pt x="135" y="105"/>
                        <a:pt x="142" y="110"/>
                      </a:cubicBezTo>
                      <a:cubicBezTo>
                        <a:pt x="145" y="119"/>
                        <a:pt x="141" y="120"/>
                        <a:pt x="146" y="128"/>
                      </a:cubicBezTo>
                      <a:cubicBezTo>
                        <a:pt x="142" y="139"/>
                        <a:pt x="135" y="133"/>
                        <a:pt x="128" y="128"/>
                      </a:cubicBezTo>
                      <a:cubicBezTo>
                        <a:pt x="116" y="132"/>
                        <a:pt x="122" y="136"/>
                        <a:pt x="116" y="146"/>
                      </a:cubicBezTo>
                      <a:cubicBezTo>
                        <a:pt x="113" y="151"/>
                        <a:pt x="108" y="152"/>
                        <a:pt x="104" y="156"/>
                      </a:cubicBezTo>
                      <a:cubicBezTo>
                        <a:pt x="107" y="167"/>
                        <a:pt x="112" y="191"/>
                        <a:pt x="100" y="198"/>
                      </a:cubicBezTo>
                      <a:cubicBezTo>
                        <a:pt x="96" y="200"/>
                        <a:pt x="92" y="200"/>
                        <a:pt x="88" y="202"/>
                      </a:cubicBezTo>
                      <a:cubicBezTo>
                        <a:pt x="86" y="203"/>
                        <a:pt x="84" y="205"/>
                        <a:pt x="82" y="206"/>
                      </a:cubicBezTo>
                      <a:cubicBezTo>
                        <a:pt x="80" y="205"/>
                        <a:pt x="77" y="204"/>
                        <a:pt x="76" y="202"/>
                      </a:cubicBezTo>
                      <a:cubicBezTo>
                        <a:pt x="74" y="198"/>
                        <a:pt x="76" y="191"/>
                        <a:pt x="72" y="190"/>
                      </a:cubicBezTo>
                      <a:cubicBezTo>
                        <a:pt x="68" y="189"/>
                        <a:pt x="60" y="186"/>
                        <a:pt x="60" y="186"/>
                      </a:cubicBezTo>
                      <a:cubicBezTo>
                        <a:pt x="53" y="188"/>
                        <a:pt x="49" y="192"/>
                        <a:pt x="42" y="194"/>
                      </a:cubicBezTo>
                      <a:cubicBezTo>
                        <a:pt x="34" y="189"/>
                        <a:pt x="37" y="183"/>
                        <a:pt x="28" y="186"/>
                      </a:cubicBezTo>
                      <a:cubicBezTo>
                        <a:pt x="12" y="181"/>
                        <a:pt x="19" y="161"/>
                        <a:pt x="10" y="148"/>
                      </a:cubicBezTo>
                      <a:cubicBezTo>
                        <a:pt x="5" y="121"/>
                        <a:pt x="11" y="147"/>
                        <a:pt x="4" y="130"/>
                      </a:cubicBezTo>
                      <a:cubicBezTo>
                        <a:pt x="2" y="126"/>
                        <a:pt x="0" y="118"/>
                        <a:pt x="0" y="118"/>
                      </a:cubicBezTo>
                      <a:cubicBezTo>
                        <a:pt x="2" y="95"/>
                        <a:pt x="0" y="83"/>
                        <a:pt x="20" y="96"/>
                      </a:cubicBezTo>
                      <a:cubicBezTo>
                        <a:pt x="23" y="105"/>
                        <a:pt x="23" y="110"/>
                        <a:pt x="32" y="104"/>
                      </a:cubicBezTo>
                      <a:cubicBezTo>
                        <a:pt x="35" y="95"/>
                        <a:pt x="29" y="88"/>
                        <a:pt x="34" y="80"/>
                      </a:cubicBezTo>
                      <a:cubicBezTo>
                        <a:pt x="36" y="76"/>
                        <a:pt x="48" y="73"/>
                        <a:pt x="52" y="70"/>
                      </a:cubicBezTo>
                      <a:cubicBezTo>
                        <a:pt x="57" y="63"/>
                        <a:pt x="58" y="62"/>
                        <a:pt x="54" y="6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6" name="Freeform 15"/>
                <p:cNvSpPr>
                  <a:spLocks/>
                </p:cNvSpPr>
                <p:nvPr userDrawn="1"/>
              </p:nvSpPr>
              <p:spPr bwMode="ltGray">
                <a:xfrm>
                  <a:off x="2375" y="800"/>
                  <a:ext cx="110" cy="32"/>
                </a:xfrm>
                <a:custGeom>
                  <a:avLst/>
                  <a:gdLst>
                    <a:gd name="T0" fmla="*/ 4 w 109"/>
                    <a:gd name="T1" fmla="*/ 32 h 38"/>
                    <a:gd name="T2" fmla="*/ 18 w 109"/>
                    <a:gd name="T3" fmla="*/ 10 h 38"/>
                    <a:gd name="T4" fmla="*/ 46 w 109"/>
                    <a:gd name="T5" fmla="*/ 20 h 38"/>
                    <a:gd name="T6" fmla="*/ 72 w 109"/>
                    <a:gd name="T7" fmla="*/ 14 h 38"/>
                    <a:gd name="T8" fmla="*/ 90 w 109"/>
                    <a:gd name="T9" fmla="*/ 0 h 38"/>
                    <a:gd name="T10" fmla="*/ 76 w 109"/>
                    <a:gd name="T11" fmla="*/ 26 h 38"/>
                    <a:gd name="T12" fmla="*/ 60 w 109"/>
                    <a:gd name="T13" fmla="*/ 38 h 38"/>
                    <a:gd name="T14" fmla="*/ 42 w 109"/>
                    <a:gd name="T15" fmla="*/ 32 h 38"/>
                    <a:gd name="T16" fmla="*/ 14 w 109"/>
                    <a:gd name="T17" fmla="*/ 30 h 38"/>
                    <a:gd name="T18" fmla="*/ 4 w 109"/>
                    <a:gd name="T19" fmla="*/ 32 h 38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109" h="38">
                      <a:moveTo>
                        <a:pt x="4" y="32"/>
                      </a:moveTo>
                      <a:cubicBezTo>
                        <a:pt x="7" y="22"/>
                        <a:pt x="7" y="14"/>
                        <a:pt x="18" y="10"/>
                      </a:cubicBezTo>
                      <a:cubicBezTo>
                        <a:pt x="28" y="12"/>
                        <a:pt x="37" y="14"/>
                        <a:pt x="46" y="20"/>
                      </a:cubicBezTo>
                      <a:cubicBezTo>
                        <a:pt x="62" y="15"/>
                        <a:pt x="54" y="17"/>
                        <a:pt x="72" y="14"/>
                      </a:cubicBezTo>
                      <a:cubicBezTo>
                        <a:pt x="77" y="9"/>
                        <a:pt x="90" y="0"/>
                        <a:pt x="90" y="0"/>
                      </a:cubicBezTo>
                      <a:cubicBezTo>
                        <a:pt x="109" y="6"/>
                        <a:pt x="85" y="23"/>
                        <a:pt x="76" y="26"/>
                      </a:cubicBezTo>
                      <a:cubicBezTo>
                        <a:pt x="71" y="33"/>
                        <a:pt x="68" y="35"/>
                        <a:pt x="60" y="38"/>
                      </a:cubicBezTo>
                      <a:cubicBezTo>
                        <a:pt x="54" y="36"/>
                        <a:pt x="42" y="32"/>
                        <a:pt x="42" y="32"/>
                      </a:cubicBezTo>
                      <a:cubicBezTo>
                        <a:pt x="33" y="23"/>
                        <a:pt x="26" y="26"/>
                        <a:pt x="14" y="30"/>
                      </a:cubicBezTo>
                      <a:cubicBezTo>
                        <a:pt x="1" y="28"/>
                        <a:pt x="0" y="24"/>
                        <a:pt x="4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7" name="Freeform 16"/>
                <p:cNvSpPr>
                  <a:spLocks/>
                </p:cNvSpPr>
                <p:nvPr userDrawn="1"/>
              </p:nvSpPr>
              <p:spPr bwMode="ltGray">
                <a:xfrm>
                  <a:off x="2370" y="839"/>
                  <a:ext cx="75" cy="84"/>
                </a:xfrm>
                <a:custGeom>
                  <a:avLst/>
                  <a:gdLst>
                    <a:gd name="T0" fmla="*/ 8 w 76"/>
                    <a:gd name="T1" fmla="*/ 18 h 104"/>
                    <a:gd name="T2" fmla="*/ 18 w 76"/>
                    <a:gd name="T3" fmla="*/ 0 h 104"/>
                    <a:gd name="T4" fmla="*/ 34 w 76"/>
                    <a:gd name="T5" fmla="*/ 18 h 104"/>
                    <a:gd name="T6" fmla="*/ 62 w 76"/>
                    <a:gd name="T7" fmla="*/ 4 h 104"/>
                    <a:gd name="T8" fmla="*/ 46 w 76"/>
                    <a:gd name="T9" fmla="*/ 34 h 104"/>
                    <a:gd name="T10" fmla="*/ 54 w 76"/>
                    <a:gd name="T11" fmla="*/ 48 h 104"/>
                    <a:gd name="T12" fmla="*/ 58 w 76"/>
                    <a:gd name="T13" fmla="*/ 60 h 104"/>
                    <a:gd name="T14" fmla="*/ 46 w 76"/>
                    <a:gd name="T15" fmla="*/ 74 h 104"/>
                    <a:gd name="T16" fmla="*/ 34 w 76"/>
                    <a:gd name="T17" fmla="*/ 60 h 104"/>
                    <a:gd name="T18" fmla="*/ 22 w 76"/>
                    <a:gd name="T19" fmla="*/ 48 h 104"/>
                    <a:gd name="T20" fmla="*/ 28 w 76"/>
                    <a:gd name="T21" fmla="*/ 68 h 104"/>
                    <a:gd name="T22" fmla="*/ 30 w 76"/>
                    <a:gd name="T23" fmla="*/ 74 h 104"/>
                    <a:gd name="T24" fmla="*/ 20 w 76"/>
                    <a:gd name="T25" fmla="*/ 104 h 104"/>
                    <a:gd name="T26" fmla="*/ 12 w 76"/>
                    <a:gd name="T27" fmla="*/ 102 h 104"/>
                    <a:gd name="T28" fmla="*/ 8 w 76"/>
                    <a:gd name="T29" fmla="*/ 90 h 104"/>
                    <a:gd name="T30" fmla="*/ 0 w 76"/>
                    <a:gd name="T31" fmla="*/ 54 h 104"/>
                    <a:gd name="T32" fmla="*/ 2 w 76"/>
                    <a:gd name="T33" fmla="*/ 30 h 104"/>
                    <a:gd name="T34" fmla="*/ 8 w 76"/>
                    <a:gd name="T35" fmla="*/ 18 h 104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76" h="104">
                      <a:moveTo>
                        <a:pt x="8" y="18"/>
                      </a:moveTo>
                      <a:cubicBezTo>
                        <a:pt x="10" y="8"/>
                        <a:pt x="9" y="3"/>
                        <a:pt x="18" y="0"/>
                      </a:cubicBezTo>
                      <a:cubicBezTo>
                        <a:pt x="28" y="3"/>
                        <a:pt x="25" y="12"/>
                        <a:pt x="34" y="18"/>
                      </a:cubicBezTo>
                      <a:cubicBezTo>
                        <a:pt x="46" y="16"/>
                        <a:pt x="51" y="8"/>
                        <a:pt x="62" y="4"/>
                      </a:cubicBezTo>
                      <a:cubicBezTo>
                        <a:pt x="76" y="9"/>
                        <a:pt x="56" y="31"/>
                        <a:pt x="46" y="34"/>
                      </a:cubicBezTo>
                      <a:cubicBezTo>
                        <a:pt x="51" y="56"/>
                        <a:pt x="43" y="29"/>
                        <a:pt x="54" y="48"/>
                      </a:cubicBezTo>
                      <a:cubicBezTo>
                        <a:pt x="56" y="52"/>
                        <a:pt x="58" y="60"/>
                        <a:pt x="58" y="60"/>
                      </a:cubicBezTo>
                      <a:cubicBezTo>
                        <a:pt x="55" y="68"/>
                        <a:pt x="54" y="71"/>
                        <a:pt x="46" y="74"/>
                      </a:cubicBezTo>
                      <a:cubicBezTo>
                        <a:pt x="38" y="71"/>
                        <a:pt x="37" y="68"/>
                        <a:pt x="34" y="60"/>
                      </a:cubicBezTo>
                      <a:cubicBezTo>
                        <a:pt x="33" y="50"/>
                        <a:pt x="32" y="33"/>
                        <a:pt x="22" y="48"/>
                      </a:cubicBezTo>
                      <a:cubicBezTo>
                        <a:pt x="25" y="60"/>
                        <a:pt x="23" y="53"/>
                        <a:pt x="28" y="68"/>
                      </a:cubicBezTo>
                      <a:cubicBezTo>
                        <a:pt x="29" y="70"/>
                        <a:pt x="30" y="74"/>
                        <a:pt x="30" y="74"/>
                      </a:cubicBezTo>
                      <a:cubicBezTo>
                        <a:pt x="24" y="84"/>
                        <a:pt x="22" y="93"/>
                        <a:pt x="20" y="104"/>
                      </a:cubicBezTo>
                      <a:cubicBezTo>
                        <a:pt x="17" y="103"/>
                        <a:pt x="14" y="104"/>
                        <a:pt x="12" y="102"/>
                      </a:cubicBezTo>
                      <a:cubicBezTo>
                        <a:pt x="9" y="99"/>
                        <a:pt x="8" y="90"/>
                        <a:pt x="8" y="90"/>
                      </a:cubicBezTo>
                      <a:cubicBezTo>
                        <a:pt x="13" y="75"/>
                        <a:pt x="14" y="64"/>
                        <a:pt x="0" y="54"/>
                      </a:cubicBezTo>
                      <a:cubicBezTo>
                        <a:pt x="1" y="46"/>
                        <a:pt x="1" y="38"/>
                        <a:pt x="2" y="30"/>
                      </a:cubicBezTo>
                      <a:cubicBezTo>
                        <a:pt x="2" y="27"/>
                        <a:pt x="13" y="2"/>
                        <a:pt x="8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8" name="Freeform 17"/>
                <p:cNvSpPr>
                  <a:spLocks/>
                </p:cNvSpPr>
                <p:nvPr userDrawn="1"/>
              </p:nvSpPr>
              <p:spPr bwMode="ltGray">
                <a:xfrm>
                  <a:off x="2497" y="793"/>
                  <a:ext cx="37" cy="49"/>
                </a:xfrm>
                <a:custGeom>
                  <a:avLst/>
                  <a:gdLst>
                    <a:gd name="T0" fmla="*/ 3 w 37"/>
                    <a:gd name="T1" fmla="*/ 28 h 61"/>
                    <a:gd name="T2" fmla="*/ 13 w 37"/>
                    <a:gd name="T3" fmla="*/ 0 h 61"/>
                    <a:gd name="T4" fmla="*/ 15 w 37"/>
                    <a:gd name="T5" fmla="*/ 28 h 61"/>
                    <a:gd name="T6" fmla="*/ 37 w 37"/>
                    <a:gd name="T7" fmla="*/ 38 h 61"/>
                    <a:gd name="T8" fmla="*/ 19 w 37"/>
                    <a:gd name="T9" fmla="*/ 44 h 61"/>
                    <a:gd name="T10" fmla="*/ 5 w 37"/>
                    <a:gd name="T11" fmla="*/ 58 h 61"/>
                    <a:gd name="T12" fmla="*/ 1 w 37"/>
                    <a:gd name="T13" fmla="*/ 34 h 61"/>
                    <a:gd name="T14" fmla="*/ 3 w 37"/>
                    <a:gd name="T15" fmla="*/ 28 h 6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7" h="61">
                      <a:moveTo>
                        <a:pt x="3" y="28"/>
                      </a:moveTo>
                      <a:cubicBezTo>
                        <a:pt x="5" y="14"/>
                        <a:pt x="2" y="7"/>
                        <a:pt x="13" y="0"/>
                      </a:cubicBezTo>
                      <a:cubicBezTo>
                        <a:pt x="26" y="9"/>
                        <a:pt x="23" y="17"/>
                        <a:pt x="15" y="28"/>
                      </a:cubicBezTo>
                      <a:cubicBezTo>
                        <a:pt x="25" y="31"/>
                        <a:pt x="33" y="27"/>
                        <a:pt x="37" y="38"/>
                      </a:cubicBezTo>
                      <a:cubicBezTo>
                        <a:pt x="30" y="45"/>
                        <a:pt x="28" y="47"/>
                        <a:pt x="19" y="44"/>
                      </a:cubicBezTo>
                      <a:cubicBezTo>
                        <a:pt x="13" y="54"/>
                        <a:pt x="18" y="61"/>
                        <a:pt x="5" y="58"/>
                      </a:cubicBezTo>
                      <a:cubicBezTo>
                        <a:pt x="0" y="50"/>
                        <a:pt x="3" y="44"/>
                        <a:pt x="1" y="34"/>
                      </a:cubicBezTo>
                      <a:cubicBezTo>
                        <a:pt x="2" y="32"/>
                        <a:pt x="3" y="28"/>
                        <a:pt x="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9" name="Freeform 18"/>
                <p:cNvSpPr>
                  <a:spLocks/>
                </p:cNvSpPr>
                <p:nvPr userDrawn="1"/>
              </p:nvSpPr>
              <p:spPr bwMode="ltGray">
                <a:xfrm>
                  <a:off x="2506" y="869"/>
                  <a:ext cx="47" cy="24"/>
                </a:xfrm>
                <a:custGeom>
                  <a:avLst/>
                  <a:gdLst>
                    <a:gd name="T0" fmla="*/ 7 w 49"/>
                    <a:gd name="T1" fmla="*/ 0 h 29"/>
                    <a:gd name="T2" fmla="*/ 29 w 49"/>
                    <a:gd name="T3" fmla="*/ 0 h 29"/>
                    <a:gd name="T4" fmla="*/ 49 w 49"/>
                    <a:gd name="T5" fmla="*/ 16 h 29"/>
                    <a:gd name="T6" fmla="*/ 35 w 49"/>
                    <a:gd name="T7" fmla="*/ 14 h 29"/>
                    <a:gd name="T8" fmla="*/ 3 w 49"/>
                    <a:gd name="T9" fmla="*/ 16 h 29"/>
                    <a:gd name="T10" fmla="*/ 7 w 49"/>
                    <a:gd name="T11" fmla="*/ 0 h 29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9" h="29">
                      <a:moveTo>
                        <a:pt x="7" y="0"/>
                      </a:moveTo>
                      <a:cubicBezTo>
                        <a:pt x="15" y="6"/>
                        <a:pt x="19" y="2"/>
                        <a:pt x="29" y="0"/>
                      </a:cubicBezTo>
                      <a:cubicBezTo>
                        <a:pt x="45" y="5"/>
                        <a:pt x="40" y="3"/>
                        <a:pt x="49" y="16"/>
                      </a:cubicBezTo>
                      <a:cubicBezTo>
                        <a:pt x="46" y="29"/>
                        <a:pt x="42" y="21"/>
                        <a:pt x="35" y="14"/>
                      </a:cubicBezTo>
                      <a:cubicBezTo>
                        <a:pt x="26" y="15"/>
                        <a:pt x="12" y="19"/>
                        <a:pt x="3" y="16"/>
                      </a:cubicBezTo>
                      <a:cubicBezTo>
                        <a:pt x="0" y="6"/>
                        <a:pt x="7" y="10"/>
                        <a:pt x="7" y="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0" name="Freeform 19"/>
                <p:cNvSpPr>
                  <a:spLocks/>
                </p:cNvSpPr>
                <p:nvPr userDrawn="1"/>
              </p:nvSpPr>
              <p:spPr bwMode="ltGray">
                <a:xfrm>
                  <a:off x="2555" y="832"/>
                  <a:ext cx="61" cy="42"/>
                </a:xfrm>
                <a:custGeom>
                  <a:avLst/>
                  <a:gdLst>
                    <a:gd name="T0" fmla="*/ 21 w 61"/>
                    <a:gd name="T1" fmla="*/ 38 h 48"/>
                    <a:gd name="T2" fmla="*/ 15 w 61"/>
                    <a:gd name="T3" fmla="*/ 26 h 48"/>
                    <a:gd name="T4" fmla="*/ 3 w 61"/>
                    <a:gd name="T5" fmla="*/ 22 h 48"/>
                    <a:gd name="T6" fmla="*/ 13 w 61"/>
                    <a:gd name="T7" fmla="*/ 8 h 48"/>
                    <a:gd name="T8" fmla="*/ 25 w 61"/>
                    <a:gd name="T9" fmla="*/ 0 h 48"/>
                    <a:gd name="T10" fmla="*/ 49 w 61"/>
                    <a:gd name="T11" fmla="*/ 10 h 48"/>
                    <a:gd name="T12" fmla="*/ 53 w 61"/>
                    <a:gd name="T13" fmla="*/ 20 h 48"/>
                    <a:gd name="T14" fmla="*/ 61 w 61"/>
                    <a:gd name="T15" fmla="*/ 32 h 48"/>
                    <a:gd name="T16" fmla="*/ 41 w 61"/>
                    <a:gd name="T17" fmla="*/ 38 h 48"/>
                    <a:gd name="T18" fmla="*/ 23 w 61"/>
                    <a:gd name="T19" fmla="*/ 44 h 48"/>
                    <a:gd name="T20" fmla="*/ 21 w 61"/>
                    <a:gd name="T21" fmla="*/ 38 h 48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61" h="48">
                      <a:moveTo>
                        <a:pt x="21" y="38"/>
                      </a:moveTo>
                      <a:cubicBezTo>
                        <a:pt x="19" y="34"/>
                        <a:pt x="19" y="29"/>
                        <a:pt x="15" y="26"/>
                      </a:cubicBezTo>
                      <a:cubicBezTo>
                        <a:pt x="12" y="24"/>
                        <a:pt x="3" y="22"/>
                        <a:pt x="3" y="22"/>
                      </a:cubicBezTo>
                      <a:cubicBezTo>
                        <a:pt x="0" y="12"/>
                        <a:pt x="5" y="12"/>
                        <a:pt x="13" y="8"/>
                      </a:cubicBezTo>
                      <a:cubicBezTo>
                        <a:pt x="17" y="6"/>
                        <a:pt x="25" y="0"/>
                        <a:pt x="25" y="0"/>
                      </a:cubicBezTo>
                      <a:cubicBezTo>
                        <a:pt x="37" y="2"/>
                        <a:pt x="41" y="2"/>
                        <a:pt x="49" y="10"/>
                      </a:cubicBezTo>
                      <a:cubicBezTo>
                        <a:pt x="45" y="21"/>
                        <a:pt x="46" y="12"/>
                        <a:pt x="53" y="20"/>
                      </a:cubicBezTo>
                      <a:cubicBezTo>
                        <a:pt x="56" y="24"/>
                        <a:pt x="61" y="32"/>
                        <a:pt x="61" y="32"/>
                      </a:cubicBezTo>
                      <a:cubicBezTo>
                        <a:pt x="56" y="47"/>
                        <a:pt x="53" y="42"/>
                        <a:pt x="41" y="38"/>
                      </a:cubicBezTo>
                      <a:cubicBezTo>
                        <a:pt x="27" y="47"/>
                        <a:pt x="34" y="48"/>
                        <a:pt x="23" y="44"/>
                      </a:cubicBezTo>
                      <a:cubicBezTo>
                        <a:pt x="22" y="42"/>
                        <a:pt x="21" y="38"/>
                        <a:pt x="21" y="3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" name="Freeform 20"/>
                <p:cNvSpPr>
                  <a:spLocks/>
                </p:cNvSpPr>
                <p:nvPr userDrawn="1"/>
              </p:nvSpPr>
              <p:spPr bwMode="ltGray">
                <a:xfrm>
                  <a:off x="2572" y="852"/>
                  <a:ext cx="286" cy="149"/>
                </a:xfrm>
                <a:custGeom>
                  <a:avLst/>
                  <a:gdLst>
                    <a:gd name="T0" fmla="*/ 46 w 286"/>
                    <a:gd name="T1" fmla="*/ 28 h 182"/>
                    <a:gd name="T2" fmla="*/ 36 w 286"/>
                    <a:gd name="T3" fmla="*/ 14 h 182"/>
                    <a:gd name="T4" fmla="*/ 26 w 286"/>
                    <a:gd name="T5" fmla="*/ 30 h 182"/>
                    <a:gd name="T6" fmla="*/ 0 w 286"/>
                    <a:gd name="T7" fmla="*/ 24 h 182"/>
                    <a:gd name="T8" fmla="*/ 10 w 286"/>
                    <a:gd name="T9" fmla="*/ 42 h 182"/>
                    <a:gd name="T10" fmla="*/ 16 w 286"/>
                    <a:gd name="T11" fmla="*/ 62 h 182"/>
                    <a:gd name="T12" fmla="*/ 24 w 286"/>
                    <a:gd name="T13" fmla="*/ 48 h 182"/>
                    <a:gd name="T14" fmla="*/ 30 w 286"/>
                    <a:gd name="T15" fmla="*/ 44 h 182"/>
                    <a:gd name="T16" fmla="*/ 48 w 286"/>
                    <a:gd name="T17" fmla="*/ 56 h 182"/>
                    <a:gd name="T18" fmla="*/ 70 w 286"/>
                    <a:gd name="T19" fmla="*/ 62 h 182"/>
                    <a:gd name="T20" fmla="*/ 88 w 286"/>
                    <a:gd name="T21" fmla="*/ 72 h 182"/>
                    <a:gd name="T22" fmla="*/ 106 w 286"/>
                    <a:gd name="T23" fmla="*/ 102 h 182"/>
                    <a:gd name="T24" fmla="*/ 104 w 286"/>
                    <a:gd name="T25" fmla="*/ 122 h 182"/>
                    <a:gd name="T26" fmla="*/ 98 w 286"/>
                    <a:gd name="T27" fmla="*/ 134 h 182"/>
                    <a:gd name="T28" fmla="*/ 122 w 286"/>
                    <a:gd name="T29" fmla="*/ 128 h 182"/>
                    <a:gd name="T30" fmla="*/ 140 w 286"/>
                    <a:gd name="T31" fmla="*/ 140 h 182"/>
                    <a:gd name="T32" fmla="*/ 168 w 286"/>
                    <a:gd name="T33" fmla="*/ 148 h 182"/>
                    <a:gd name="T34" fmla="*/ 174 w 286"/>
                    <a:gd name="T35" fmla="*/ 146 h 182"/>
                    <a:gd name="T36" fmla="*/ 168 w 286"/>
                    <a:gd name="T37" fmla="*/ 134 h 182"/>
                    <a:gd name="T38" fmla="*/ 178 w 286"/>
                    <a:gd name="T39" fmla="*/ 136 h 182"/>
                    <a:gd name="T40" fmla="*/ 186 w 286"/>
                    <a:gd name="T41" fmla="*/ 118 h 182"/>
                    <a:gd name="T42" fmla="*/ 202 w 286"/>
                    <a:gd name="T43" fmla="*/ 122 h 182"/>
                    <a:gd name="T44" fmla="*/ 214 w 286"/>
                    <a:gd name="T45" fmla="*/ 130 h 182"/>
                    <a:gd name="T46" fmla="*/ 244 w 286"/>
                    <a:gd name="T47" fmla="*/ 168 h 182"/>
                    <a:gd name="T48" fmla="*/ 262 w 286"/>
                    <a:gd name="T49" fmla="*/ 178 h 182"/>
                    <a:gd name="T50" fmla="*/ 284 w 286"/>
                    <a:gd name="T51" fmla="*/ 170 h 182"/>
                    <a:gd name="T52" fmla="*/ 268 w 286"/>
                    <a:gd name="T53" fmla="*/ 160 h 182"/>
                    <a:gd name="T54" fmla="*/ 256 w 286"/>
                    <a:gd name="T55" fmla="*/ 138 h 182"/>
                    <a:gd name="T56" fmla="*/ 250 w 286"/>
                    <a:gd name="T57" fmla="*/ 132 h 182"/>
                    <a:gd name="T58" fmla="*/ 248 w 286"/>
                    <a:gd name="T59" fmla="*/ 122 h 182"/>
                    <a:gd name="T60" fmla="*/ 236 w 286"/>
                    <a:gd name="T61" fmla="*/ 116 h 182"/>
                    <a:gd name="T62" fmla="*/ 240 w 286"/>
                    <a:gd name="T63" fmla="*/ 96 h 182"/>
                    <a:gd name="T64" fmla="*/ 220 w 286"/>
                    <a:gd name="T65" fmla="*/ 86 h 182"/>
                    <a:gd name="T66" fmla="*/ 210 w 286"/>
                    <a:gd name="T67" fmla="*/ 70 h 182"/>
                    <a:gd name="T68" fmla="*/ 190 w 286"/>
                    <a:gd name="T69" fmla="*/ 54 h 182"/>
                    <a:gd name="T70" fmla="*/ 168 w 286"/>
                    <a:gd name="T71" fmla="*/ 38 h 182"/>
                    <a:gd name="T72" fmla="*/ 156 w 286"/>
                    <a:gd name="T73" fmla="*/ 34 h 182"/>
                    <a:gd name="T74" fmla="*/ 120 w 286"/>
                    <a:gd name="T75" fmla="*/ 16 h 182"/>
                    <a:gd name="T76" fmla="*/ 102 w 286"/>
                    <a:gd name="T77" fmla="*/ 4 h 182"/>
                    <a:gd name="T78" fmla="*/ 96 w 286"/>
                    <a:gd name="T79" fmla="*/ 0 h 182"/>
                    <a:gd name="T80" fmla="*/ 70 w 286"/>
                    <a:gd name="T81" fmla="*/ 10 h 182"/>
                    <a:gd name="T82" fmla="*/ 56 w 286"/>
                    <a:gd name="T83" fmla="*/ 32 h 182"/>
                    <a:gd name="T84" fmla="*/ 46 w 286"/>
                    <a:gd name="T85" fmla="*/ 28 h 182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</a:gdLst>
                  <a:ahLst/>
                  <a:cxnLst>
                    <a:cxn ang="T86">
                      <a:pos x="T0" y="T1"/>
                    </a:cxn>
                    <a:cxn ang="T87">
                      <a:pos x="T2" y="T3"/>
                    </a:cxn>
                    <a:cxn ang="T88">
                      <a:pos x="T4" y="T5"/>
                    </a:cxn>
                    <a:cxn ang="T89">
                      <a:pos x="T6" y="T7"/>
                    </a:cxn>
                    <a:cxn ang="T90">
                      <a:pos x="T8" y="T9"/>
                    </a:cxn>
                    <a:cxn ang="T91">
                      <a:pos x="T10" y="T11"/>
                    </a:cxn>
                    <a:cxn ang="T92">
                      <a:pos x="T12" y="T13"/>
                    </a:cxn>
                    <a:cxn ang="T93">
                      <a:pos x="T14" y="T15"/>
                    </a:cxn>
                    <a:cxn ang="T94">
                      <a:pos x="T16" y="T17"/>
                    </a:cxn>
                    <a:cxn ang="T95">
                      <a:pos x="T18" y="T19"/>
                    </a:cxn>
                    <a:cxn ang="T96">
                      <a:pos x="T20" y="T21"/>
                    </a:cxn>
                    <a:cxn ang="T97">
                      <a:pos x="T22" y="T23"/>
                    </a:cxn>
                    <a:cxn ang="T98">
                      <a:pos x="T24" y="T25"/>
                    </a:cxn>
                    <a:cxn ang="T99">
                      <a:pos x="T26" y="T27"/>
                    </a:cxn>
                    <a:cxn ang="T100">
                      <a:pos x="T28" y="T29"/>
                    </a:cxn>
                    <a:cxn ang="T101">
                      <a:pos x="T30" y="T31"/>
                    </a:cxn>
                    <a:cxn ang="T102">
                      <a:pos x="T32" y="T33"/>
                    </a:cxn>
                    <a:cxn ang="T103">
                      <a:pos x="T34" y="T35"/>
                    </a:cxn>
                    <a:cxn ang="T104">
                      <a:pos x="T36" y="T37"/>
                    </a:cxn>
                    <a:cxn ang="T105">
                      <a:pos x="T38" y="T39"/>
                    </a:cxn>
                    <a:cxn ang="T106">
                      <a:pos x="T40" y="T41"/>
                    </a:cxn>
                    <a:cxn ang="T107">
                      <a:pos x="T42" y="T43"/>
                    </a:cxn>
                    <a:cxn ang="T108">
                      <a:pos x="T44" y="T45"/>
                    </a:cxn>
                    <a:cxn ang="T109">
                      <a:pos x="T46" y="T47"/>
                    </a:cxn>
                    <a:cxn ang="T110">
                      <a:pos x="T48" y="T49"/>
                    </a:cxn>
                    <a:cxn ang="T111">
                      <a:pos x="T50" y="T51"/>
                    </a:cxn>
                    <a:cxn ang="T112">
                      <a:pos x="T52" y="T53"/>
                    </a:cxn>
                    <a:cxn ang="T113">
                      <a:pos x="T54" y="T55"/>
                    </a:cxn>
                    <a:cxn ang="T114">
                      <a:pos x="T56" y="T57"/>
                    </a:cxn>
                    <a:cxn ang="T115">
                      <a:pos x="T58" y="T59"/>
                    </a:cxn>
                    <a:cxn ang="T116">
                      <a:pos x="T60" y="T61"/>
                    </a:cxn>
                    <a:cxn ang="T117">
                      <a:pos x="T62" y="T63"/>
                    </a:cxn>
                    <a:cxn ang="T118">
                      <a:pos x="T64" y="T65"/>
                    </a:cxn>
                    <a:cxn ang="T119">
                      <a:pos x="T66" y="T67"/>
                    </a:cxn>
                    <a:cxn ang="T120">
                      <a:pos x="T68" y="T69"/>
                    </a:cxn>
                    <a:cxn ang="T121">
                      <a:pos x="T70" y="T71"/>
                    </a:cxn>
                    <a:cxn ang="T122">
                      <a:pos x="T72" y="T73"/>
                    </a:cxn>
                    <a:cxn ang="T123">
                      <a:pos x="T74" y="T75"/>
                    </a:cxn>
                    <a:cxn ang="T124">
                      <a:pos x="T76" y="T77"/>
                    </a:cxn>
                    <a:cxn ang="T125">
                      <a:pos x="T78" y="T79"/>
                    </a:cxn>
                    <a:cxn ang="T126">
                      <a:pos x="T80" y="T81"/>
                    </a:cxn>
                    <a:cxn ang="T127">
                      <a:pos x="T82" y="T83"/>
                    </a:cxn>
                    <a:cxn ang="T128">
                      <a:pos x="T84" y="T85"/>
                    </a:cxn>
                  </a:cxnLst>
                  <a:rect l="0" t="0" r="r" b="b"/>
                  <a:pathLst>
                    <a:path w="286" h="182">
                      <a:moveTo>
                        <a:pt x="46" y="28"/>
                      </a:moveTo>
                      <a:cubicBezTo>
                        <a:pt x="41" y="14"/>
                        <a:pt x="46" y="17"/>
                        <a:pt x="36" y="14"/>
                      </a:cubicBezTo>
                      <a:cubicBezTo>
                        <a:pt x="31" y="17"/>
                        <a:pt x="26" y="30"/>
                        <a:pt x="26" y="30"/>
                      </a:cubicBezTo>
                      <a:cubicBezTo>
                        <a:pt x="12" y="25"/>
                        <a:pt x="19" y="21"/>
                        <a:pt x="0" y="24"/>
                      </a:cubicBezTo>
                      <a:cubicBezTo>
                        <a:pt x="2" y="33"/>
                        <a:pt x="2" y="37"/>
                        <a:pt x="10" y="42"/>
                      </a:cubicBezTo>
                      <a:cubicBezTo>
                        <a:pt x="12" y="49"/>
                        <a:pt x="14" y="55"/>
                        <a:pt x="16" y="62"/>
                      </a:cubicBezTo>
                      <a:cubicBezTo>
                        <a:pt x="24" y="59"/>
                        <a:pt x="27" y="57"/>
                        <a:pt x="24" y="48"/>
                      </a:cubicBezTo>
                      <a:cubicBezTo>
                        <a:pt x="26" y="47"/>
                        <a:pt x="28" y="43"/>
                        <a:pt x="30" y="44"/>
                      </a:cubicBezTo>
                      <a:cubicBezTo>
                        <a:pt x="48" y="48"/>
                        <a:pt x="36" y="52"/>
                        <a:pt x="48" y="56"/>
                      </a:cubicBezTo>
                      <a:cubicBezTo>
                        <a:pt x="74" y="65"/>
                        <a:pt x="47" y="56"/>
                        <a:pt x="70" y="62"/>
                      </a:cubicBezTo>
                      <a:cubicBezTo>
                        <a:pt x="77" y="64"/>
                        <a:pt x="88" y="72"/>
                        <a:pt x="88" y="72"/>
                      </a:cubicBezTo>
                      <a:cubicBezTo>
                        <a:pt x="96" y="84"/>
                        <a:pt x="102" y="87"/>
                        <a:pt x="106" y="102"/>
                      </a:cubicBezTo>
                      <a:cubicBezTo>
                        <a:pt x="105" y="109"/>
                        <a:pt x="106" y="115"/>
                        <a:pt x="104" y="122"/>
                      </a:cubicBezTo>
                      <a:cubicBezTo>
                        <a:pt x="103" y="126"/>
                        <a:pt x="94" y="132"/>
                        <a:pt x="98" y="134"/>
                      </a:cubicBezTo>
                      <a:cubicBezTo>
                        <a:pt x="106" y="137"/>
                        <a:pt x="122" y="128"/>
                        <a:pt x="122" y="128"/>
                      </a:cubicBezTo>
                      <a:cubicBezTo>
                        <a:pt x="130" y="131"/>
                        <a:pt x="133" y="135"/>
                        <a:pt x="140" y="140"/>
                      </a:cubicBezTo>
                      <a:cubicBezTo>
                        <a:pt x="148" y="145"/>
                        <a:pt x="159" y="145"/>
                        <a:pt x="168" y="148"/>
                      </a:cubicBezTo>
                      <a:cubicBezTo>
                        <a:pt x="170" y="147"/>
                        <a:pt x="173" y="148"/>
                        <a:pt x="174" y="146"/>
                      </a:cubicBezTo>
                      <a:cubicBezTo>
                        <a:pt x="176" y="142"/>
                        <a:pt x="164" y="136"/>
                        <a:pt x="168" y="134"/>
                      </a:cubicBezTo>
                      <a:cubicBezTo>
                        <a:pt x="171" y="132"/>
                        <a:pt x="175" y="135"/>
                        <a:pt x="178" y="136"/>
                      </a:cubicBezTo>
                      <a:cubicBezTo>
                        <a:pt x="182" y="131"/>
                        <a:pt x="186" y="118"/>
                        <a:pt x="186" y="118"/>
                      </a:cubicBezTo>
                      <a:cubicBezTo>
                        <a:pt x="189" y="119"/>
                        <a:pt x="199" y="120"/>
                        <a:pt x="202" y="122"/>
                      </a:cubicBezTo>
                      <a:cubicBezTo>
                        <a:pt x="206" y="124"/>
                        <a:pt x="214" y="130"/>
                        <a:pt x="214" y="130"/>
                      </a:cubicBezTo>
                      <a:cubicBezTo>
                        <a:pt x="224" y="145"/>
                        <a:pt x="228" y="158"/>
                        <a:pt x="244" y="168"/>
                      </a:cubicBezTo>
                      <a:cubicBezTo>
                        <a:pt x="250" y="172"/>
                        <a:pt x="262" y="178"/>
                        <a:pt x="262" y="178"/>
                      </a:cubicBezTo>
                      <a:cubicBezTo>
                        <a:pt x="265" y="178"/>
                        <a:pt x="286" y="182"/>
                        <a:pt x="284" y="170"/>
                      </a:cubicBezTo>
                      <a:cubicBezTo>
                        <a:pt x="283" y="164"/>
                        <a:pt x="268" y="160"/>
                        <a:pt x="268" y="160"/>
                      </a:cubicBezTo>
                      <a:cubicBezTo>
                        <a:pt x="261" y="150"/>
                        <a:pt x="270" y="143"/>
                        <a:pt x="256" y="138"/>
                      </a:cubicBezTo>
                      <a:cubicBezTo>
                        <a:pt x="254" y="136"/>
                        <a:pt x="251" y="135"/>
                        <a:pt x="250" y="132"/>
                      </a:cubicBezTo>
                      <a:cubicBezTo>
                        <a:pt x="248" y="129"/>
                        <a:pt x="250" y="125"/>
                        <a:pt x="248" y="122"/>
                      </a:cubicBezTo>
                      <a:cubicBezTo>
                        <a:pt x="246" y="118"/>
                        <a:pt x="240" y="118"/>
                        <a:pt x="236" y="116"/>
                      </a:cubicBezTo>
                      <a:cubicBezTo>
                        <a:pt x="230" y="107"/>
                        <a:pt x="227" y="100"/>
                        <a:pt x="240" y="96"/>
                      </a:cubicBezTo>
                      <a:cubicBezTo>
                        <a:pt x="236" y="83"/>
                        <a:pt x="236" y="84"/>
                        <a:pt x="220" y="86"/>
                      </a:cubicBezTo>
                      <a:cubicBezTo>
                        <a:pt x="209" y="82"/>
                        <a:pt x="208" y="82"/>
                        <a:pt x="210" y="70"/>
                      </a:cubicBezTo>
                      <a:cubicBezTo>
                        <a:pt x="207" y="60"/>
                        <a:pt x="199" y="57"/>
                        <a:pt x="190" y="54"/>
                      </a:cubicBezTo>
                      <a:cubicBezTo>
                        <a:pt x="181" y="45"/>
                        <a:pt x="181" y="42"/>
                        <a:pt x="168" y="38"/>
                      </a:cubicBezTo>
                      <a:cubicBezTo>
                        <a:pt x="164" y="37"/>
                        <a:pt x="156" y="34"/>
                        <a:pt x="156" y="34"/>
                      </a:cubicBezTo>
                      <a:cubicBezTo>
                        <a:pt x="146" y="24"/>
                        <a:pt x="134" y="21"/>
                        <a:pt x="120" y="16"/>
                      </a:cubicBezTo>
                      <a:cubicBezTo>
                        <a:pt x="113" y="14"/>
                        <a:pt x="108" y="8"/>
                        <a:pt x="102" y="4"/>
                      </a:cubicBezTo>
                      <a:cubicBezTo>
                        <a:pt x="100" y="3"/>
                        <a:pt x="96" y="0"/>
                        <a:pt x="96" y="0"/>
                      </a:cubicBezTo>
                      <a:cubicBezTo>
                        <a:pt x="83" y="2"/>
                        <a:pt x="79" y="1"/>
                        <a:pt x="70" y="10"/>
                      </a:cubicBezTo>
                      <a:cubicBezTo>
                        <a:pt x="67" y="19"/>
                        <a:pt x="63" y="27"/>
                        <a:pt x="56" y="32"/>
                      </a:cubicBezTo>
                      <a:cubicBezTo>
                        <a:pt x="49" y="30"/>
                        <a:pt x="52" y="31"/>
                        <a:pt x="46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2" name="Freeform 21"/>
                <p:cNvSpPr>
                  <a:spLocks/>
                </p:cNvSpPr>
                <p:nvPr userDrawn="1"/>
              </p:nvSpPr>
              <p:spPr bwMode="ltGray">
                <a:xfrm>
                  <a:off x="2820" y="866"/>
                  <a:ext cx="78" cy="64"/>
                </a:xfrm>
                <a:custGeom>
                  <a:avLst/>
                  <a:gdLst>
                    <a:gd name="T0" fmla="*/ 1 w 78"/>
                    <a:gd name="T1" fmla="*/ 58 h 78"/>
                    <a:gd name="T2" fmla="*/ 27 w 78"/>
                    <a:gd name="T3" fmla="*/ 60 h 78"/>
                    <a:gd name="T4" fmla="*/ 45 w 78"/>
                    <a:gd name="T5" fmla="*/ 48 h 78"/>
                    <a:gd name="T6" fmla="*/ 57 w 78"/>
                    <a:gd name="T7" fmla="*/ 30 h 78"/>
                    <a:gd name="T8" fmla="*/ 43 w 78"/>
                    <a:gd name="T9" fmla="*/ 14 h 78"/>
                    <a:gd name="T10" fmla="*/ 43 w 78"/>
                    <a:gd name="T11" fmla="*/ 4 h 78"/>
                    <a:gd name="T12" fmla="*/ 71 w 78"/>
                    <a:gd name="T13" fmla="*/ 26 h 78"/>
                    <a:gd name="T14" fmla="*/ 67 w 78"/>
                    <a:gd name="T15" fmla="*/ 54 h 78"/>
                    <a:gd name="T16" fmla="*/ 33 w 78"/>
                    <a:gd name="T17" fmla="*/ 78 h 78"/>
                    <a:gd name="T18" fmla="*/ 9 w 78"/>
                    <a:gd name="T19" fmla="*/ 66 h 78"/>
                    <a:gd name="T20" fmla="*/ 3 w 78"/>
                    <a:gd name="T21" fmla="*/ 62 h 78"/>
                    <a:gd name="T22" fmla="*/ 1 w 78"/>
                    <a:gd name="T23" fmla="*/ 58 h 78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78" h="78">
                      <a:moveTo>
                        <a:pt x="1" y="58"/>
                      </a:moveTo>
                      <a:cubicBezTo>
                        <a:pt x="6" y="44"/>
                        <a:pt x="18" y="57"/>
                        <a:pt x="27" y="60"/>
                      </a:cubicBezTo>
                      <a:cubicBezTo>
                        <a:pt x="35" y="57"/>
                        <a:pt x="38" y="52"/>
                        <a:pt x="45" y="48"/>
                      </a:cubicBezTo>
                      <a:cubicBezTo>
                        <a:pt x="48" y="40"/>
                        <a:pt x="51" y="36"/>
                        <a:pt x="57" y="30"/>
                      </a:cubicBezTo>
                      <a:cubicBezTo>
                        <a:pt x="55" y="23"/>
                        <a:pt x="43" y="14"/>
                        <a:pt x="43" y="14"/>
                      </a:cubicBezTo>
                      <a:cubicBezTo>
                        <a:pt x="33" y="0"/>
                        <a:pt x="30" y="1"/>
                        <a:pt x="43" y="4"/>
                      </a:cubicBezTo>
                      <a:cubicBezTo>
                        <a:pt x="54" y="11"/>
                        <a:pt x="58" y="22"/>
                        <a:pt x="71" y="26"/>
                      </a:cubicBezTo>
                      <a:cubicBezTo>
                        <a:pt x="78" y="37"/>
                        <a:pt x="78" y="46"/>
                        <a:pt x="67" y="54"/>
                      </a:cubicBezTo>
                      <a:cubicBezTo>
                        <a:pt x="51" y="49"/>
                        <a:pt x="53" y="71"/>
                        <a:pt x="33" y="78"/>
                      </a:cubicBezTo>
                      <a:cubicBezTo>
                        <a:pt x="16" y="72"/>
                        <a:pt x="25" y="76"/>
                        <a:pt x="9" y="66"/>
                      </a:cubicBezTo>
                      <a:cubicBezTo>
                        <a:pt x="7" y="65"/>
                        <a:pt x="3" y="62"/>
                        <a:pt x="3" y="62"/>
                      </a:cubicBezTo>
                      <a:cubicBezTo>
                        <a:pt x="0" y="54"/>
                        <a:pt x="13" y="42"/>
                        <a:pt x="1" y="5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3" name="Freeform 22"/>
                <p:cNvSpPr>
                  <a:spLocks/>
                </p:cNvSpPr>
                <p:nvPr userDrawn="1"/>
              </p:nvSpPr>
              <p:spPr bwMode="ltGray">
                <a:xfrm>
                  <a:off x="2984" y="732"/>
                  <a:ext cx="19" cy="14"/>
                </a:xfrm>
                <a:custGeom>
                  <a:avLst/>
                  <a:gdLst>
                    <a:gd name="T0" fmla="*/ 3 w 17"/>
                    <a:gd name="T1" fmla="*/ 4 h 18"/>
                    <a:gd name="T2" fmla="*/ 3 w 17"/>
                    <a:gd name="T3" fmla="*/ 14 h 18"/>
                    <a:gd name="T4" fmla="*/ 3 w 17"/>
                    <a:gd name="T5" fmla="*/ 4 h 1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7" h="18">
                      <a:moveTo>
                        <a:pt x="3" y="4"/>
                      </a:moveTo>
                      <a:cubicBezTo>
                        <a:pt x="17" y="7"/>
                        <a:pt x="16" y="18"/>
                        <a:pt x="3" y="14"/>
                      </a:cubicBezTo>
                      <a:cubicBezTo>
                        <a:pt x="0" y="6"/>
                        <a:pt x="7" y="0"/>
                        <a:pt x="3" y="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4" name="Freeform 23"/>
                <p:cNvSpPr>
                  <a:spLocks/>
                </p:cNvSpPr>
                <p:nvPr userDrawn="1"/>
              </p:nvSpPr>
              <p:spPr bwMode="ltGray">
                <a:xfrm>
                  <a:off x="3083" y="830"/>
                  <a:ext cx="26" cy="19"/>
                </a:xfrm>
                <a:custGeom>
                  <a:avLst/>
                  <a:gdLst>
                    <a:gd name="T0" fmla="*/ 8 w 26"/>
                    <a:gd name="T1" fmla="*/ 14 h 22"/>
                    <a:gd name="T2" fmla="*/ 14 w 26"/>
                    <a:gd name="T3" fmla="*/ 0 h 22"/>
                    <a:gd name="T4" fmla="*/ 14 w 26"/>
                    <a:gd name="T5" fmla="*/ 22 h 22"/>
                    <a:gd name="T6" fmla="*/ 8 w 26"/>
                    <a:gd name="T7" fmla="*/ 14 h 22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6" h="22">
                      <a:moveTo>
                        <a:pt x="8" y="14"/>
                      </a:moveTo>
                      <a:cubicBezTo>
                        <a:pt x="5" y="6"/>
                        <a:pt x="5" y="3"/>
                        <a:pt x="14" y="0"/>
                      </a:cubicBezTo>
                      <a:cubicBezTo>
                        <a:pt x="26" y="4"/>
                        <a:pt x="23" y="16"/>
                        <a:pt x="14" y="22"/>
                      </a:cubicBezTo>
                      <a:cubicBezTo>
                        <a:pt x="0" y="17"/>
                        <a:pt x="13" y="3"/>
                        <a:pt x="8" y="1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5" name="Freeform 24"/>
                <p:cNvSpPr>
                  <a:spLocks/>
                </p:cNvSpPr>
                <p:nvPr userDrawn="1"/>
              </p:nvSpPr>
              <p:spPr bwMode="ltGray">
                <a:xfrm>
                  <a:off x="2766" y="610"/>
                  <a:ext cx="19" cy="12"/>
                </a:xfrm>
                <a:custGeom>
                  <a:avLst/>
                  <a:gdLst>
                    <a:gd name="T0" fmla="*/ 7 w 20"/>
                    <a:gd name="T1" fmla="*/ 12 h 15"/>
                    <a:gd name="T2" fmla="*/ 17 w 20"/>
                    <a:gd name="T3" fmla="*/ 2 h 15"/>
                    <a:gd name="T4" fmla="*/ 9 w 20"/>
                    <a:gd name="T5" fmla="*/ 12 h 15"/>
                    <a:gd name="T6" fmla="*/ 7 w 20"/>
                    <a:gd name="T7" fmla="*/ 12 h 15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1"/>
                        <a:pt x="6" y="0"/>
                        <a:pt x="17" y="2"/>
                      </a:cubicBezTo>
                      <a:cubicBezTo>
                        <a:pt x="20" y="10"/>
                        <a:pt x="18" y="15"/>
                        <a:pt x="9" y="12"/>
                      </a:cubicBezTo>
                      <a:cubicBezTo>
                        <a:pt x="4" y="4"/>
                        <a:pt x="4" y="4"/>
                        <a:pt x="7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6" name="Freeform 25"/>
                <p:cNvSpPr>
                  <a:spLocks/>
                </p:cNvSpPr>
                <p:nvPr userDrawn="1"/>
              </p:nvSpPr>
              <p:spPr bwMode="ltGray">
                <a:xfrm>
                  <a:off x="2600" y="712"/>
                  <a:ext cx="19" cy="12"/>
                </a:xfrm>
                <a:custGeom>
                  <a:avLst/>
                  <a:gdLst>
                    <a:gd name="T0" fmla="*/ 7 w 20"/>
                    <a:gd name="T1" fmla="*/ 12 h 15"/>
                    <a:gd name="T2" fmla="*/ 15 w 20"/>
                    <a:gd name="T3" fmla="*/ 2 h 15"/>
                    <a:gd name="T4" fmla="*/ 15 w 20"/>
                    <a:gd name="T5" fmla="*/ 14 h 15"/>
                    <a:gd name="T6" fmla="*/ 7 w 20"/>
                    <a:gd name="T7" fmla="*/ 12 h 15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2"/>
                        <a:pt x="3" y="0"/>
                        <a:pt x="15" y="2"/>
                      </a:cubicBezTo>
                      <a:cubicBezTo>
                        <a:pt x="16" y="4"/>
                        <a:pt x="20" y="12"/>
                        <a:pt x="15" y="14"/>
                      </a:cubicBezTo>
                      <a:cubicBezTo>
                        <a:pt x="12" y="15"/>
                        <a:pt x="7" y="12"/>
                        <a:pt x="7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7" name="Freeform 26"/>
                <p:cNvSpPr>
                  <a:spLocks/>
                </p:cNvSpPr>
                <p:nvPr userDrawn="1"/>
              </p:nvSpPr>
              <p:spPr bwMode="ltGray">
                <a:xfrm>
                  <a:off x="2417" y="680"/>
                  <a:ext cx="80" cy="66"/>
                </a:xfrm>
                <a:custGeom>
                  <a:avLst/>
                  <a:gdLst>
                    <a:gd name="T0" fmla="*/ 0 w 80"/>
                    <a:gd name="T1" fmla="*/ 50 h 80"/>
                    <a:gd name="T2" fmla="*/ 14 w 80"/>
                    <a:gd name="T3" fmla="*/ 24 h 80"/>
                    <a:gd name="T4" fmla="*/ 26 w 80"/>
                    <a:gd name="T5" fmla="*/ 20 h 80"/>
                    <a:gd name="T6" fmla="*/ 48 w 80"/>
                    <a:gd name="T7" fmla="*/ 18 h 80"/>
                    <a:gd name="T8" fmla="*/ 58 w 80"/>
                    <a:gd name="T9" fmla="*/ 0 h 80"/>
                    <a:gd name="T10" fmla="*/ 80 w 80"/>
                    <a:gd name="T11" fmla="*/ 40 h 80"/>
                    <a:gd name="T12" fmla="*/ 70 w 80"/>
                    <a:gd name="T13" fmla="*/ 56 h 80"/>
                    <a:gd name="T14" fmla="*/ 54 w 80"/>
                    <a:gd name="T15" fmla="*/ 62 h 80"/>
                    <a:gd name="T16" fmla="*/ 48 w 80"/>
                    <a:gd name="T17" fmla="*/ 80 h 80"/>
                    <a:gd name="T18" fmla="*/ 32 w 80"/>
                    <a:gd name="T19" fmla="*/ 68 h 80"/>
                    <a:gd name="T20" fmla="*/ 38 w 80"/>
                    <a:gd name="T21" fmla="*/ 52 h 80"/>
                    <a:gd name="T22" fmla="*/ 30 w 80"/>
                    <a:gd name="T23" fmla="*/ 28 h 80"/>
                    <a:gd name="T24" fmla="*/ 20 w 80"/>
                    <a:gd name="T25" fmla="*/ 48 h 80"/>
                    <a:gd name="T26" fmla="*/ 8 w 80"/>
                    <a:gd name="T27" fmla="*/ 56 h 80"/>
                    <a:gd name="T28" fmla="*/ 0 w 80"/>
                    <a:gd name="T29" fmla="*/ 50 h 80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0" t="0" r="r" b="b"/>
                  <a:pathLst>
                    <a:path w="80" h="80">
                      <a:moveTo>
                        <a:pt x="0" y="50"/>
                      </a:moveTo>
                      <a:cubicBezTo>
                        <a:pt x="1" y="47"/>
                        <a:pt x="12" y="25"/>
                        <a:pt x="14" y="24"/>
                      </a:cubicBezTo>
                      <a:cubicBezTo>
                        <a:pt x="17" y="22"/>
                        <a:pt x="26" y="20"/>
                        <a:pt x="26" y="20"/>
                      </a:cubicBezTo>
                      <a:cubicBezTo>
                        <a:pt x="34" y="23"/>
                        <a:pt x="40" y="21"/>
                        <a:pt x="48" y="18"/>
                      </a:cubicBezTo>
                      <a:cubicBezTo>
                        <a:pt x="52" y="12"/>
                        <a:pt x="54" y="6"/>
                        <a:pt x="58" y="0"/>
                      </a:cubicBezTo>
                      <a:cubicBezTo>
                        <a:pt x="70" y="4"/>
                        <a:pt x="76" y="28"/>
                        <a:pt x="80" y="40"/>
                      </a:cubicBezTo>
                      <a:cubicBezTo>
                        <a:pt x="75" y="54"/>
                        <a:pt x="80" y="50"/>
                        <a:pt x="70" y="56"/>
                      </a:cubicBezTo>
                      <a:cubicBezTo>
                        <a:pt x="61" y="53"/>
                        <a:pt x="59" y="54"/>
                        <a:pt x="54" y="62"/>
                      </a:cubicBezTo>
                      <a:cubicBezTo>
                        <a:pt x="57" y="71"/>
                        <a:pt x="56" y="75"/>
                        <a:pt x="48" y="80"/>
                      </a:cubicBezTo>
                      <a:cubicBezTo>
                        <a:pt x="40" y="77"/>
                        <a:pt x="39" y="72"/>
                        <a:pt x="32" y="68"/>
                      </a:cubicBezTo>
                      <a:cubicBezTo>
                        <a:pt x="26" y="59"/>
                        <a:pt x="30" y="57"/>
                        <a:pt x="38" y="52"/>
                      </a:cubicBezTo>
                      <a:cubicBezTo>
                        <a:pt x="41" y="42"/>
                        <a:pt x="39" y="34"/>
                        <a:pt x="30" y="28"/>
                      </a:cubicBezTo>
                      <a:cubicBezTo>
                        <a:pt x="20" y="31"/>
                        <a:pt x="30" y="40"/>
                        <a:pt x="20" y="48"/>
                      </a:cubicBezTo>
                      <a:cubicBezTo>
                        <a:pt x="16" y="51"/>
                        <a:pt x="8" y="56"/>
                        <a:pt x="8" y="56"/>
                      </a:cubicBezTo>
                      <a:cubicBezTo>
                        <a:pt x="2" y="50"/>
                        <a:pt x="5" y="50"/>
                        <a:pt x="0" y="5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8" name="Freeform 27"/>
                <p:cNvSpPr>
                  <a:spLocks/>
                </p:cNvSpPr>
                <p:nvPr userDrawn="1"/>
              </p:nvSpPr>
              <p:spPr bwMode="ltGray">
                <a:xfrm>
                  <a:off x="2391" y="541"/>
                  <a:ext cx="94" cy="142"/>
                </a:xfrm>
                <a:custGeom>
                  <a:avLst/>
                  <a:gdLst>
                    <a:gd name="T0" fmla="*/ 14 w 94"/>
                    <a:gd name="T1" fmla="*/ 96 h 174"/>
                    <a:gd name="T2" fmla="*/ 26 w 94"/>
                    <a:gd name="T3" fmla="*/ 128 h 174"/>
                    <a:gd name="T4" fmla="*/ 32 w 94"/>
                    <a:gd name="T5" fmla="*/ 108 h 174"/>
                    <a:gd name="T6" fmla="*/ 52 w 94"/>
                    <a:gd name="T7" fmla="*/ 100 h 174"/>
                    <a:gd name="T8" fmla="*/ 46 w 94"/>
                    <a:gd name="T9" fmla="*/ 124 h 174"/>
                    <a:gd name="T10" fmla="*/ 66 w 94"/>
                    <a:gd name="T11" fmla="*/ 126 h 174"/>
                    <a:gd name="T12" fmla="*/ 76 w 94"/>
                    <a:gd name="T13" fmla="*/ 142 h 174"/>
                    <a:gd name="T14" fmla="*/ 58 w 94"/>
                    <a:gd name="T15" fmla="*/ 148 h 174"/>
                    <a:gd name="T16" fmla="*/ 74 w 94"/>
                    <a:gd name="T17" fmla="*/ 174 h 174"/>
                    <a:gd name="T18" fmla="*/ 84 w 94"/>
                    <a:gd name="T19" fmla="*/ 154 h 174"/>
                    <a:gd name="T20" fmla="*/ 82 w 94"/>
                    <a:gd name="T21" fmla="*/ 112 h 174"/>
                    <a:gd name="T22" fmla="*/ 60 w 94"/>
                    <a:gd name="T23" fmla="*/ 106 h 174"/>
                    <a:gd name="T24" fmla="*/ 50 w 94"/>
                    <a:gd name="T25" fmla="*/ 82 h 174"/>
                    <a:gd name="T26" fmla="*/ 34 w 94"/>
                    <a:gd name="T27" fmla="*/ 82 h 174"/>
                    <a:gd name="T28" fmla="*/ 30 w 94"/>
                    <a:gd name="T29" fmla="*/ 70 h 174"/>
                    <a:gd name="T30" fmla="*/ 42 w 94"/>
                    <a:gd name="T31" fmla="*/ 42 h 174"/>
                    <a:gd name="T32" fmla="*/ 30 w 94"/>
                    <a:gd name="T33" fmla="*/ 0 h 174"/>
                    <a:gd name="T34" fmla="*/ 18 w 94"/>
                    <a:gd name="T35" fmla="*/ 22 h 174"/>
                    <a:gd name="T36" fmla="*/ 4 w 94"/>
                    <a:gd name="T37" fmla="*/ 46 h 174"/>
                    <a:gd name="T38" fmla="*/ 14 w 94"/>
                    <a:gd name="T39" fmla="*/ 76 h 174"/>
                    <a:gd name="T40" fmla="*/ 14 w 94"/>
                    <a:gd name="T41" fmla="*/ 96 h 174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</a:gdLst>
                  <a:ahLst/>
                  <a:cxnLst>
                    <a:cxn ang="T42">
                      <a:pos x="T0" y="T1"/>
                    </a:cxn>
                    <a:cxn ang="T43">
                      <a:pos x="T2" y="T3"/>
                    </a:cxn>
                    <a:cxn ang="T44">
                      <a:pos x="T4" y="T5"/>
                    </a:cxn>
                    <a:cxn ang="T45">
                      <a:pos x="T6" y="T7"/>
                    </a:cxn>
                    <a:cxn ang="T46">
                      <a:pos x="T8" y="T9"/>
                    </a:cxn>
                    <a:cxn ang="T47">
                      <a:pos x="T10" y="T11"/>
                    </a:cxn>
                    <a:cxn ang="T48">
                      <a:pos x="T12" y="T13"/>
                    </a:cxn>
                    <a:cxn ang="T49">
                      <a:pos x="T14" y="T15"/>
                    </a:cxn>
                    <a:cxn ang="T50">
                      <a:pos x="T16" y="T17"/>
                    </a:cxn>
                    <a:cxn ang="T51">
                      <a:pos x="T18" y="T19"/>
                    </a:cxn>
                    <a:cxn ang="T52">
                      <a:pos x="T20" y="T21"/>
                    </a:cxn>
                    <a:cxn ang="T53">
                      <a:pos x="T22" y="T23"/>
                    </a:cxn>
                    <a:cxn ang="T54">
                      <a:pos x="T24" y="T25"/>
                    </a:cxn>
                    <a:cxn ang="T55">
                      <a:pos x="T26" y="T27"/>
                    </a:cxn>
                    <a:cxn ang="T56">
                      <a:pos x="T28" y="T29"/>
                    </a:cxn>
                    <a:cxn ang="T57">
                      <a:pos x="T30" y="T31"/>
                    </a:cxn>
                    <a:cxn ang="T58">
                      <a:pos x="T32" y="T33"/>
                    </a:cxn>
                    <a:cxn ang="T59">
                      <a:pos x="T34" y="T35"/>
                    </a:cxn>
                    <a:cxn ang="T60">
                      <a:pos x="T36" y="T37"/>
                    </a:cxn>
                    <a:cxn ang="T61">
                      <a:pos x="T38" y="T39"/>
                    </a:cxn>
                    <a:cxn ang="T62">
                      <a:pos x="T40" y="T41"/>
                    </a:cxn>
                  </a:cxnLst>
                  <a:rect l="0" t="0" r="r" b="b"/>
                  <a:pathLst>
                    <a:path w="94" h="174">
                      <a:moveTo>
                        <a:pt x="14" y="96"/>
                      </a:moveTo>
                      <a:cubicBezTo>
                        <a:pt x="11" y="109"/>
                        <a:pt x="15" y="120"/>
                        <a:pt x="26" y="128"/>
                      </a:cubicBezTo>
                      <a:cubicBezTo>
                        <a:pt x="34" y="120"/>
                        <a:pt x="35" y="119"/>
                        <a:pt x="32" y="108"/>
                      </a:cubicBezTo>
                      <a:cubicBezTo>
                        <a:pt x="35" y="92"/>
                        <a:pt x="39" y="92"/>
                        <a:pt x="52" y="100"/>
                      </a:cubicBezTo>
                      <a:cubicBezTo>
                        <a:pt x="59" y="110"/>
                        <a:pt x="49" y="114"/>
                        <a:pt x="46" y="124"/>
                      </a:cubicBezTo>
                      <a:cubicBezTo>
                        <a:pt x="50" y="137"/>
                        <a:pt x="57" y="129"/>
                        <a:pt x="66" y="126"/>
                      </a:cubicBezTo>
                      <a:cubicBezTo>
                        <a:pt x="77" y="129"/>
                        <a:pt x="79" y="131"/>
                        <a:pt x="76" y="142"/>
                      </a:cubicBezTo>
                      <a:cubicBezTo>
                        <a:pt x="67" y="139"/>
                        <a:pt x="65" y="141"/>
                        <a:pt x="58" y="148"/>
                      </a:cubicBezTo>
                      <a:cubicBezTo>
                        <a:pt x="60" y="160"/>
                        <a:pt x="62" y="170"/>
                        <a:pt x="74" y="174"/>
                      </a:cubicBezTo>
                      <a:cubicBezTo>
                        <a:pt x="77" y="165"/>
                        <a:pt x="74" y="157"/>
                        <a:pt x="84" y="154"/>
                      </a:cubicBezTo>
                      <a:cubicBezTo>
                        <a:pt x="91" y="143"/>
                        <a:pt x="94" y="122"/>
                        <a:pt x="82" y="112"/>
                      </a:cubicBezTo>
                      <a:cubicBezTo>
                        <a:pt x="77" y="108"/>
                        <a:pt x="66" y="108"/>
                        <a:pt x="60" y="106"/>
                      </a:cubicBezTo>
                      <a:cubicBezTo>
                        <a:pt x="65" y="92"/>
                        <a:pt x="66" y="87"/>
                        <a:pt x="50" y="82"/>
                      </a:cubicBezTo>
                      <a:cubicBezTo>
                        <a:pt x="48" y="82"/>
                        <a:pt x="37" y="86"/>
                        <a:pt x="34" y="82"/>
                      </a:cubicBezTo>
                      <a:cubicBezTo>
                        <a:pt x="32" y="79"/>
                        <a:pt x="30" y="70"/>
                        <a:pt x="30" y="70"/>
                      </a:cubicBezTo>
                      <a:cubicBezTo>
                        <a:pt x="32" y="54"/>
                        <a:pt x="32" y="52"/>
                        <a:pt x="42" y="42"/>
                      </a:cubicBezTo>
                      <a:cubicBezTo>
                        <a:pt x="41" y="30"/>
                        <a:pt x="45" y="5"/>
                        <a:pt x="30" y="0"/>
                      </a:cubicBezTo>
                      <a:cubicBezTo>
                        <a:pt x="14" y="4"/>
                        <a:pt x="16" y="4"/>
                        <a:pt x="18" y="22"/>
                      </a:cubicBezTo>
                      <a:cubicBezTo>
                        <a:pt x="16" y="39"/>
                        <a:pt x="15" y="35"/>
                        <a:pt x="4" y="46"/>
                      </a:cubicBezTo>
                      <a:cubicBezTo>
                        <a:pt x="0" y="59"/>
                        <a:pt x="5" y="67"/>
                        <a:pt x="14" y="76"/>
                      </a:cubicBezTo>
                      <a:cubicBezTo>
                        <a:pt x="15" y="80"/>
                        <a:pt x="17" y="93"/>
                        <a:pt x="14" y="9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9" name="Freeform 28"/>
                <p:cNvSpPr>
                  <a:spLocks/>
                </p:cNvSpPr>
                <p:nvPr userDrawn="1"/>
              </p:nvSpPr>
              <p:spPr bwMode="ltGray">
                <a:xfrm>
                  <a:off x="2415" y="644"/>
                  <a:ext cx="32" cy="41"/>
                </a:xfrm>
                <a:custGeom>
                  <a:avLst/>
                  <a:gdLst>
                    <a:gd name="T0" fmla="*/ 6 w 32"/>
                    <a:gd name="T1" fmla="*/ 24 h 50"/>
                    <a:gd name="T2" fmla="*/ 12 w 32"/>
                    <a:gd name="T3" fmla="*/ 0 h 50"/>
                    <a:gd name="T4" fmla="*/ 20 w 32"/>
                    <a:gd name="T5" fmla="*/ 16 h 50"/>
                    <a:gd name="T6" fmla="*/ 22 w 32"/>
                    <a:gd name="T7" fmla="*/ 24 h 50"/>
                    <a:gd name="T8" fmla="*/ 28 w 32"/>
                    <a:gd name="T9" fmla="*/ 26 h 50"/>
                    <a:gd name="T10" fmla="*/ 32 w 32"/>
                    <a:gd name="T11" fmla="*/ 38 h 50"/>
                    <a:gd name="T12" fmla="*/ 18 w 32"/>
                    <a:gd name="T13" fmla="*/ 50 h 50"/>
                    <a:gd name="T14" fmla="*/ 6 w 32"/>
                    <a:gd name="T15" fmla="*/ 24 h 50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2" h="50">
                      <a:moveTo>
                        <a:pt x="6" y="24"/>
                      </a:moveTo>
                      <a:cubicBezTo>
                        <a:pt x="0" y="15"/>
                        <a:pt x="3" y="6"/>
                        <a:pt x="12" y="0"/>
                      </a:cubicBezTo>
                      <a:cubicBezTo>
                        <a:pt x="23" y="3"/>
                        <a:pt x="23" y="5"/>
                        <a:pt x="20" y="16"/>
                      </a:cubicBezTo>
                      <a:cubicBezTo>
                        <a:pt x="21" y="19"/>
                        <a:pt x="20" y="22"/>
                        <a:pt x="22" y="24"/>
                      </a:cubicBezTo>
                      <a:cubicBezTo>
                        <a:pt x="23" y="26"/>
                        <a:pt x="27" y="24"/>
                        <a:pt x="28" y="26"/>
                      </a:cubicBezTo>
                      <a:cubicBezTo>
                        <a:pt x="30" y="29"/>
                        <a:pt x="32" y="38"/>
                        <a:pt x="32" y="38"/>
                      </a:cubicBezTo>
                      <a:cubicBezTo>
                        <a:pt x="29" y="46"/>
                        <a:pt x="26" y="47"/>
                        <a:pt x="18" y="50"/>
                      </a:cubicBezTo>
                      <a:cubicBezTo>
                        <a:pt x="12" y="41"/>
                        <a:pt x="18" y="24"/>
                        <a:pt x="6" y="2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0" name="Freeform 29"/>
                <p:cNvSpPr>
                  <a:spLocks/>
                </p:cNvSpPr>
                <p:nvPr userDrawn="1"/>
              </p:nvSpPr>
              <p:spPr bwMode="ltGray">
                <a:xfrm>
                  <a:off x="2349" y="654"/>
                  <a:ext cx="45" cy="41"/>
                </a:xfrm>
                <a:custGeom>
                  <a:avLst/>
                  <a:gdLst>
                    <a:gd name="T0" fmla="*/ 0 w 43"/>
                    <a:gd name="T1" fmla="*/ 44 h 50"/>
                    <a:gd name="T2" fmla="*/ 22 w 43"/>
                    <a:gd name="T3" fmla="*/ 20 h 50"/>
                    <a:gd name="T4" fmla="*/ 36 w 43"/>
                    <a:gd name="T5" fmla="*/ 0 h 50"/>
                    <a:gd name="T6" fmla="*/ 24 w 43"/>
                    <a:gd name="T7" fmla="*/ 28 h 50"/>
                    <a:gd name="T8" fmla="*/ 2 w 43"/>
                    <a:gd name="T9" fmla="*/ 50 h 50"/>
                    <a:gd name="T10" fmla="*/ 0 w 43"/>
                    <a:gd name="T11" fmla="*/ 44 h 50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3" h="50">
                      <a:moveTo>
                        <a:pt x="0" y="44"/>
                      </a:moveTo>
                      <a:cubicBezTo>
                        <a:pt x="6" y="38"/>
                        <a:pt x="18" y="29"/>
                        <a:pt x="22" y="20"/>
                      </a:cubicBezTo>
                      <a:cubicBezTo>
                        <a:pt x="27" y="10"/>
                        <a:pt x="25" y="4"/>
                        <a:pt x="36" y="0"/>
                      </a:cubicBezTo>
                      <a:cubicBezTo>
                        <a:pt x="43" y="11"/>
                        <a:pt x="36" y="24"/>
                        <a:pt x="24" y="28"/>
                      </a:cubicBezTo>
                      <a:cubicBezTo>
                        <a:pt x="21" y="38"/>
                        <a:pt x="12" y="47"/>
                        <a:pt x="2" y="50"/>
                      </a:cubicBezTo>
                      <a:cubicBezTo>
                        <a:pt x="1" y="48"/>
                        <a:pt x="0" y="44"/>
                        <a:pt x="0" y="4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1" name="Freeform 30"/>
                <p:cNvSpPr>
                  <a:spLocks/>
                </p:cNvSpPr>
                <p:nvPr userDrawn="1"/>
              </p:nvSpPr>
              <p:spPr bwMode="ltGray">
                <a:xfrm>
                  <a:off x="4808" y="597"/>
                  <a:ext cx="701" cy="438"/>
                </a:xfrm>
                <a:custGeom>
                  <a:avLst/>
                  <a:gdLst>
                    <a:gd name="T0" fmla="*/ 21 w 471"/>
                    <a:gd name="T1" fmla="*/ 280 h 281"/>
                    <a:gd name="T2" fmla="*/ 24 w 471"/>
                    <a:gd name="T3" fmla="*/ 250 h 281"/>
                    <a:gd name="T4" fmla="*/ 22 w 471"/>
                    <a:gd name="T5" fmla="*/ 245 h 281"/>
                    <a:gd name="T6" fmla="*/ 16 w 471"/>
                    <a:gd name="T7" fmla="*/ 218 h 281"/>
                    <a:gd name="T8" fmla="*/ 4 w 471"/>
                    <a:gd name="T9" fmla="*/ 215 h 281"/>
                    <a:gd name="T10" fmla="*/ 0 w 471"/>
                    <a:gd name="T11" fmla="*/ 191 h 281"/>
                    <a:gd name="T12" fmla="*/ 12 w 471"/>
                    <a:gd name="T13" fmla="*/ 180 h 281"/>
                    <a:gd name="T14" fmla="*/ 6 w 471"/>
                    <a:gd name="T15" fmla="*/ 165 h 281"/>
                    <a:gd name="T16" fmla="*/ 2 w 471"/>
                    <a:gd name="T17" fmla="*/ 160 h 281"/>
                    <a:gd name="T18" fmla="*/ 28 w 471"/>
                    <a:gd name="T19" fmla="*/ 120 h 281"/>
                    <a:gd name="T20" fmla="*/ 44 w 471"/>
                    <a:gd name="T21" fmla="*/ 96 h 281"/>
                    <a:gd name="T22" fmla="*/ 42 w 471"/>
                    <a:gd name="T23" fmla="*/ 70 h 281"/>
                    <a:gd name="T24" fmla="*/ 24 w 471"/>
                    <a:gd name="T25" fmla="*/ 43 h 281"/>
                    <a:gd name="T26" fmla="*/ 20 w 471"/>
                    <a:gd name="T27" fmla="*/ 32 h 281"/>
                    <a:gd name="T28" fmla="*/ 26 w 471"/>
                    <a:gd name="T29" fmla="*/ 36 h 281"/>
                    <a:gd name="T30" fmla="*/ 48 w 471"/>
                    <a:gd name="T31" fmla="*/ 35 h 281"/>
                    <a:gd name="T32" fmla="*/ 64 w 471"/>
                    <a:gd name="T33" fmla="*/ 11 h 281"/>
                    <a:gd name="T34" fmla="*/ 82 w 471"/>
                    <a:gd name="T35" fmla="*/ 0 h 281"/>
                    <a:gd name="T36" fmla="*/ 88 w 471"/>
                    <a:gd name="T37" fmla="*/ 2 h 281"/>
                    <a:gd name="T38" fmla="*/ 92 w 471"/>
                    <a:gd name="T39" fmla="*/ 9 h 281"/>
                    <a:gd name="T40" fmla="*/ 98 w 471"/>
                    <a:gd name="T41" fmla="*/ 5 h 281"/>
                    <a:gd name="T42" fmla="*/ 110 w 471"/>
                    <a:gd name="T43" fmla="*/ 8 h 281"/>
                    <a:gd name="T44" fmla="*/ 116 w 471"/>
                    <a:gd name="T45" fmla="*/ 9 h 281"/>
                    <a:gd name="T46" fmla="*/ 141 w 471"/>
                    <a:gd name="T47" fmla="*/ 14 h 281"/>
                    <a:gd name="T48" fmla="*/ 155 w 471"/>
                    <a:gd name="T49" fmla="*/ 24 h 281"/>
                    <a:gd name="T50" fmla="*/ 167 w 471"/>
                    <a:gd name="T51" fmla="*/ 17 h 281"/>
                    <a:gd name="T52" fmla="*/ 173 w 471"/>
                    <a:gd name="T53" fmla="*/ 14 h 281"/>
                    <a:gd name="T54" fmla="*/ 195 w 471"/>
                    <a:gd name="T55" fmla="*/ 14 h 281"/>
                    <a:gd name="T56" fmla="*/ 211 w 471"/>
                    <a:gd name="T57" fmla="*/ 32 h 281"/>
                    <a:gd name="T58" fmla="*/ 231 w 471"/>
                    <a:gd name="T59" fmla="*/ 59 h 281"/>
                    <a:gd name="T60" fmla="*/ 245 w 471"/>
                    <a:gd name="T61" fmla="*/ 70 h 281"/>
                    <a:gd name="T62" fmla="*/ 257 w 471"/>
                    <a:gd name="T63" fmla="*/ 68 h 281"/>
                    <a:gd name="T64" fmla="*/ 270 w 471"/>
                    <a:gd name="T65" fmla="*/ 65 h 281"/>
                    <a:gd name="T66" fmla="*/ 290 w 471"/>
                    <a:gd name="T67" fmla="*/ 71 h 281"/>
                    <a:gd name="T68" fmla="*/ 300 w 471"/>
                    <a:gd name="T69" fmla="*/ 81 h 281"/>
                    <a:gd name="T70" fmla="*/ 308 w 471"/>
                    <a:gd name="T71" fmla="*/ 90 h 281"/>
                    <a:gd name="T72" fmla="*/ 318 w 471"/>
                    <a:gd name="T73" fmla="*/ 111 h 281"/>
                    <a:gd name="T74" fmla="*/ 322 w 471"/>
                    <a:gd name="T75" fmla="*/ 120 h 281"/>
                    <a:gd name="T76" fmla="*/ 324 w 471"/>
                    <a:gd name="T77" fmla="*/ 125 h 281"/>
                    <a:gd name="T78" fmla="*/ 310 w 471"/>
                    <a:gd name="T79" fmla="*/ 142 h 281"/>
                    <a:gd name="T80" fmla="*/ 322 w 471"/>
                    <a:gd name="T81" fmla="*/ 141 h 281"/>
                    <a:gd name="T82" fmla="*/ 342 w 471"/>
                    <a:gd name="T83" fmla="*/ 155 h 281"/>
                    <a:gd name="T84" fmla="*/ 364 w 471"/>
                    <a:gd name="T85" fmla="*/ 157 h 281"/>
                    <a:gd name="T86" fmla="*/ 380 w 471"/>
                    <a:gd name="T87" fmla="*/ 168 h 281"/>
                    <a:gd name="T88" fmla="*/ 382 w 471"/>
                    <a:gd name="T89" fmla="*/ 172 h 281"/>
                    <a:gd name="T90" fmla="*/ 382 w 471"/>
                    <a:gd name="T91" fmla="*/ 176 h 281"/>
                    <a:gd name="T92" fmla="*/ 394 w 471"/>
                    <a:gd name="T93" fmla="*/ 172 h 281"/>
                    <a:gd name="T94" fmla="*/ 400 w 471"/>
                    <a:gd name="T95" fmla="*/ 171 h 281"/>
                    <a:gd name="T96" fmla="*/ 439 w 471"/>
                    <a:gd name="T97" fmla="*/ 185 h 281"/>
                    <a:gd name="T98" fmla="*/ 447 w 471"/>
                    <a:gd name="T99" fmla="*/ 199 h 281"/>
                    <a:gd name="T100" fmla="*/ 465 w 471"/>
                    <a:gd name="T101" fmla="*/ 201 h 281"/>
                    <a:gd name="T102" fmla="*/ 471 w 471"/>
                    <a:gd name="T103" fmla="*/ 215 h 281"/>
                    <a:gd name="T104" fmla="*/ 451 w 471"/>
                    <a:gd name="T105" fmla="*/ 258 h 281"/>
                    <a:gd name="T106" fmla="*/ 435 w 471"/>
                    <a:gd name="T107" fmla="*/ 281 h 281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</a:gdLst>
                  <a:ahLst/>
                  <a:cxnLst>
                    <a:cxn ang="T108">
                      <a:pos x="T0" y="T1"/>
                    </a:cxn>
                    <a:cxn ang="T109">
                      <a:pos x="T2" y="T3"/>
                    </a:cxn>
                    <a:cxn ang="T110">
                      <a:pos x="T4" y="T5"/>
                    </a:cxn>
                    <a:cxn ang="T111">
                      <a:pos x="T6" y="T7"/>
                    </a:cxn>
                    <a:cxn ang="T112">
                      <a:pos x="T8" y="T9"/>
                    </a:cxn>
                    <a:cxn ang="T113">
                      <a:pos x="T10" y="T11"/>
                    </a:cxn>
                    <a:cxn ang="T114">
                      <a:pos x="T12" y="T13"/>
                    </a:cxn>
                    <a:cxn ang="T115">
                      <a:pos x="T14" y="T15"/>
                    </a:cxn>
                    <a:cxn ang="T116">
                      <a:pos x="T16" y="T17"/>
                    </a:cxn>
                    <a:cxn ang="T117">
                      <a:pos x="T18" y="T19"/>
                    </a:cxn>
                    <a:cxn ang="T118">
                      <a:pos x="T20" y="T21"/>
                    </a:cxn>
                    <a:cxn ang="T119">
                      <a:pos x="T22" y="T23"/>
                    </a:cxn>
                    <a:cxn ang="T120">
                      <a:pos x="T24" y="T25"/>
                    </a:cxn>
                    <a:cxn ang="T121">
                      <a:pos x="T26" y="T27"/>
                    </a:cxn>
                    <a:cxn ang="T122">
                      <a:pos x="T28" y="T29"/>
                    </a:cxn>
                    <a:cxn ang="T123">
                      <a:pos x="T30" y="T31"/>
                    </a:cxn>
                    <a:cxn ang="T124">
                      <a:pos x="T32" y="T33"/>
                    </a:cxn>
                    <a:cxn ang="T125">
                      <a:pos x="T34" y="T35"/>
                    </a:cxn>
                    <a:cxn ang="T126">
                      <a:pos x="T36" y="T37"/>
                    </a:cxn>
                    <a:cxn ang="T127">
                      <a:pos x="T38" y="T39"/>
                    </a:cxn>
                    <a:cxn ang="T128">
                      <a:pos x="T40" y="T41"/>
                    </a:cxn>
                    <a:cxn ang="T129">
                      <a:pos x="T42" y="T43"/>
                    </a:cxn>
                    <a:cxn ang="T130">
                      <a:pos x="T44" y="T45"/>
                    </a:cxn>
                    <a:cxn ang="T131">
                      <a:pos x="T46" y="T47"/>
                    </a:cxn>
                    <a:cxn ang="T132">
                      <a:pos x="T48" y="T49"/>
                    </a:cxn>
                    <a:cxn ang="T133">
                      <a:pos x="T50" y="T51"/>
                    </a:cxn>
                    <a:cxn ang="T134">
                      <a:pos x="T52" y="T53"/>
                    </a:cxn>
                    <a:cxn ang="T135">
                      <a:pos x="T54" y="T55"/>
                    </a:cxn>
                    <a:cxn ang="T136">
                      <a:pos x="T56" y="T57"/>
                    </a:cxn>
                    <a:cxn ang="T137">
                      <a:pos x="T58" y="T59"/>
                    </a:cxn>
                    <a:cxn ang="T138">
                      <a:pos x="T60" y="T61"/>
                    </a:cxn>
                    <a:cxn ang="T139">
                      <a:pos x="T62" y="T63"/>
                    </a:cxn>
                    <a:cxn ang="T140">
                      <a:pos x="T64" y="T65"/>
                    </a:cxn>
                    <a:cxn ang="T141">
                      <a:pos x="T66" y="T67"/>
                    </a:cxn>
                    <a:cxn ang="T142">
                      <a:pos x="T68" y="T69"/>
                    </a:cxn>
                    <a:cxn ang="T143">
                      <a:pos x="T70" y="T71"/>
                    </a:cxn>
                    <a:cxn ang="T144">
                      <a:pos x="T72" y="T73"/>
                    </a:cxn>
                    <a:cxn ang="T145">
                      <a:pos x="T74" y="T75"/>
                    </a:cxn>
                    <a:cxn ang="T146">
                      <a:pos x="T76" y="T77"/>
                    </a:cxn>
                    <a:cxn ang="T147">
                      <a:pos x="T78" y="T79"/>
                    </a:cxn>
                    <a:cxn ang="T148">
                      <a:pos x="T80" y="T81"/>
                    </a:cxn>
                    <a:cxn ang="T149">
                      <a:pos x="T82" y="T83"/>
                    </a:cxn>
                    <a:cxn ang="T150">
                      <a:pos x="T84" y="T85"/>
                    </a:cxn>
                    <a:cxn ang="T151">
                      <a:pos x="T86" y="T87"/>
                    </a:cxn>
                    <a:cxn ang="T152">
                      <a:pos x="T88" y="T89"/>
                    </a:cxn>
                    <a:cxn ang="T153">
                      <a:pos x="T90" y="T91"/>
                    </a:cxn>
                    <a:cxn ang="T154">
                      <a:pos x="T92" y="T93"/>
                    </a:cxn>
                    <a:cxn ang="T155">
                      <a:pos x="T94" y="T95"/>
                    </a:cxn>
                    <a:cxn ang="T156">
                      <a:pos x="T96" y="T97"/>
                    </a:cxn>
                    <a:cxn ang="T157">
                      <a:pos x="T98" y="T99"/>
                    </a:cxn>
                    <a:cxn ang="T158">
                      <a:pos x="T100" y="T101"/>
                    </a:cxn>
                    <a:cxn ang="T159">
                      <a:pos x="T102" y="T103"/>
                    </a:cxn>
                    <a:cxn ang="T160">
                      <a:pos x="T104" y="T105"/>
                    </a:cxn>
                    <a:cxn ang="T161">
                      <a:pos x="T106" y="T107"/>
                    </a:cxn>
                  </a:cxnLst>
                  <a:rect l="0" t="0" r="r" b="b"/>
                  <a:pathLst>
                    <a:path w="471" h="281">
                      <a:moveTo>
                        <a:pt x="21" y="280"/>
                      </a:moveTo>
                      <a:cubicBezTo>
                        <a:pt x="32" y="281"/>
                        <a:pt x="25" y="253"/>
                        <a:pt x="24" y="250"/>
                      </a:cubicBezTo>
                      <a:cubicBezTo>
                        <a:pt x="23" y="248"/>
                        <a:pt x="22" y="245"/>
                        <a:pt x="22" y="245"/>
                      </a:cubicBezTo>
                      <a:cubicBezTo>
                        <a:pt x="21" y="243"/>
                        <a:pt x="20" y="221"/>
                        <a:pt x="16" y="218"/>
                      </a:cubicBezTo>
                      <a:cubicBezTo>
                        <a:pt x="13" y="216"/>
                        <a:pt x="4" y="215"/>
                        <a:pt x="4" y="215"/>
                      </a:cubicBezTo>
                      <a:cubicBezTo>
                        <a:pt x="0" y="207"/>
                        <a:pt x="3" y="200"/>
                        <a:pt x="0" y="191"/>
                      </a:cubicBezTo>
                      <a:cubicBezTo>
                        <a:pt x="2" y="185"/>
                        <a:pt x="7" y="186"/>
                        <a:pt x="12" y="180"/>
                      </a:cubicBezTo>
                      <a:cubicBezTo>
                        <a:pt x="14" y="172"/>
                        <a:pt x="14" y="169"/>
                        <a:pt x="6" y="165"/>
                      </a:cubicBezTo>
                      <a:cubicBezTo>
                        <a:pt x="4" y="163"/>
                        <a:pt x="2" y="162"/>
                        <a:pt x="2" y="160"/>
                      </a:cubicBezTo>
                      <a:cubicBezTo>
                        <a:pt x="2" y="150"/>
                        <a:pt x="16" y="123"/>
                        <a:pt x="28" y="120"/>
                      </a:cubicBezTo>
                      <a:cubicBezTo>
                        <a:pt x="32" y="111"/>
                        <a:pt x="40" y="105"/>
                        <a:pt x="44" y="96"/>
                      </a:cubicBezTo>
                      <a:cubicBezTo>
                        <a:pt x="39" y="83"/>
                        <a:pt x="38" y="85"/>
                        <a:pt x="42" y="70"/>
                      </a:cubicBezTo>
                      <a:cubicBezTo>
                        <a:pt x="38" y="60"/>
                        <a:pt x="34" y="48"/>
                        <a:pt x="24" y="43"/>
                      </a:cubicBezTo>
                      <a:cubicBezTo>
                        <a:pt x="18" y="36"/>
                        <a:pt x="10" y="37"/>
                        <a:pt x="20" y="32"/>
                      </a:cubicBezTo>
                      <a:cubicBezTo>
                        <a:pt x="27" y="34"/>
                        <a:pt x="26" y="32"/>
                        <a:pt x="26" y="36"/>
                      </a:cubicBezTo>
                      <a:cubicBezTo>
                        <a:pt x="34" y="41"/>
                        <a:pt x="39" y="39"/>
                        <a:pt x="48" y="35"/>
                      </a:cubicBezTo>
                      <a:cubicBezTo>
                        <a:pt x="45" y="22"/>
                        <a:pt x="48" y="14"/>
                        <a:pt x="64" y="11"/>
                      </a:cubicBezTo>
                      <a:cubicBezTo>
                        <a:pt x="71" y="8"/>
                        <a:pt x="75" y="3"/>
                        <a:pt x="82" y="0"/>
                      </a:cubicBezTo>
                      <a:cubicBezTo>
                        <a:pt x="84" y="1"/>
                        <a:pt x="88" y="0"/>
                        <a:pt x="88" y="2"/>
                      </a:cubicBezTo>
                      <a:cubicBezTo>
                        <a:pt x="90" y="12"/>
                        <a:pt x="75" y="13"/>
                        <a:pt x="92" y="9"/>
                      </a:cubicBezTo>
                      <a:cubicBezTo>
                        <a:pt x="94" y="8"/>
                        <a:pt x="96" y="5"/>
                        <a:pt x="98" y="5"/>
                      </a:cubicBezTo>
                      <a:cubicBezTo>
                        <a:pt x="102" y="4"/>
                        <a:pt x="106" y="7"/>
                        <a:pt x="110" y="8"/>
                      </a:cubicBezTo>
                      <a:cubicBezTo>
                        <a:pt x="112" y="8"/>
                        <a:pt x="116" y="9"/>
                        <a:pt x="116" y="9"/>
                      </a:cubicBezTo>
                      <a:cubicBezTo>
                        <a:pt x="122" y="16"/>
                        <a:pt x="129" y="13"/>
                        <a:pt x="141" y="14"/>
                      </a:cubicBezTo>
                      <a:cubicBezTo>
                        <a:pt x="143" y="21"/>
                        <a:pt x="147" y="22"/>
                        <a:pt x="155" y="24"/>
                      </a:cubicBezTo>
                      <a:cubicBezTo>
                        <a:pt x="159" y="22"/>
                        <a:pt x="163" y="20"/>
                        <a:pt x="167" y="17"/>
                      </a:cubicBezTo>
                      <a:cubicBezTo>
                        <a:pt x="169" y="16"/>
                        <a:pt x="173" y="14"/>
                        <a:pt x="173" y="14"/>
                      </a:cubicBezTo>
                      <a:cubicBezTo>
                        <a:pt x="195" y="26"/>
                        <a:pt x="175" y="20"/>
                        <a:pt x="195" y="14"/>
                      </a:cubicBezTo>
                      <a:cubicBezTo>
                        <a:pt x="207" y="17"/>
                        <a:pt x="201" y="26"/>
                        <a:pt x="211" y="32"/>
                      </a:cubicBezTo>
                      <a:cubicBezTo>
                        <a:pt x="214" y="38"/>
                        <a:pt x="224" y="55"/>
                        <a:pt x="231" y="59"/>
                      </a:cubicBezTo>
                      <a:cubicBezTo>
                        <a:pt x="241" y="70"/>
                        <a:pt x="235" y="67"/>
                        <a:pt x="245" y="70"/>
                      </a:cubicBezTo>
                      <a:cubicBezTo>
                        <a:pt x="249" y="69"/>
                        <a:pt x="253" y="69"/>
                        <a:pt x="257" y="68"/>
                      </a:cubicBezTo>
                      <a:cubicBezTo>
                        <a:pt x="261" y="67"/>
                        <a:pt x="270" y="65"/>
                        <a:pt x="270" y="65"/>
                      </a:cubicBezTo>
                      <a:cubicBezTo>
                        <a:pt x="278" y="66"/>
                        <a:pt x="283" y="67"/>
                        <a:pt x="290" y="71"/>
                      </a:cubicBezTo>
                      <a:cubicBezTo>
                        <a:pt x="304" y="88"/>
                        <a:pt x="282" y="62"/>
                        <a:pt x="300" y="81"/>
                      </a:cubicBezTo>
                      <a:cubicBezTo>
                        <a:pt x="302" y="84"/>
                        <a:pt x="308" y="90"/>
                        <a:pt x="308" y="90"/>
                      </a:cubicBezTo>
                      <a:cubicBezTo>
                        <a:pt x="311" y="98"/>
                        <a:pt x="315" y="103"/>
                        <a:pt x="318" y="111"/>
                      </a:cubicBezTo>
                      <a:cubicBezTo>
                        <a:pt x="319" y="114"/>
                        <a:pt x="321" y="117"/>
                        <a:pt x="322" y="120"/>
                      </a:cubicBezTo>
                      <a:cubicBezTo>
                        <a:pt x="323" y="122"/>
                        <a:pt x="324" y="125"/>
                        <a:pt x="324" y="125"/>
                      </a:cubicBezTo>
                      <a:cubicBezTo>
                        <a:pt x="321" y="132"/>
                        <a:pt x="313" y="134"/>
                        <a:pt x="310" y="142"/>
                      </a:cubicBezTo>
                      <a:cubicBezTo>
                        <a:pt x="313" y="151"/>
                        <a:pt x="317" y="146"/>
                        <a:pt x="322" y="141"/>
                      </a:cubicBezTo>
                      <a:cubicBezTo>
                        <a:pt x="341" y="143"/>
                        <a:pt x="339" y="142"/>
                        <a:pt x="342" y="155"/>
                      </a:cubicBezTo>
                      <a:cubicBezTo>
                        <a:pt x="351" y="150"/>
                        <a:pt x="355" y="152"/>
                        <a:pt x="364" y="157"/>
                      </a:cubicBezTo>
                      <a:cubicBezTo>
                        <a:pt x="369" y="162"/>
                        <a:pt x="372" y="166"/>
                        <a:pt x="380" y="168"/>
                      </a:cubicBezTo>
                      <a:cubicBezTo>
                        <a:pt x="381" y="169"/>
                        <a:pt x="383" y="171"/>
                        <a:pt x="382" y="172"/>
                      </a:cubicBezTo>
                      <a:cubicBezTo>
                        <a:pt x="380" y="176"/>
                        <a:pt x="368" y="172"/>
                        <a:pt x="382" y="176"/>
                      </a:cubicBezTo>
                      <a:cubicBezTo>
                        <a:pt x="386" y="175"/>
                        <a:pt x="390" y="173"/>
                        <a:pt x="394" y="172"/>
                      </a:cubicBezTo>
                      <a:cubicBezTo>
                        <a:pt x="396" y="172"/>
                        <a:pt x="400" y="171"/>
                        <a:pt x="400" y="171"/>
                      </a:cubicBezTo>
                      <a:cubicBezTo>
                        <a:pt x="413" y="177"/>
                        <a:pt x="427" y="179"/>
                        <a:pt x="439" y="185"/>
                      </a:cubicBezTo>
                      <a:cubicBezTo>
                        <a:pt x="441" y="190"/>
                        <a:pt x="445" y="194"/>
                        <a:pt x="447" y="199"/>
                      </a:cubicBezTo>
                      <a:cubicBezTo>
                        <a:pt x="453" y="198"/>
                        <a:pt x="460" y="195"/>
                        <a:pt x="465" y="201"/>
                      </a:cubicBezTo>
                      <a:cubicBezTo>
                        <a:pt x="468" y="205"/>
                        <a:pt x="471" y="215"/>
                        <a:pt x="471" y="215"/>
                      </a:cubicBezTo>
                      <a:cubicBezTo>
                        <a:pt x="468" y="231"/>
                        <a:pt x="469" y="248"/>
                        <a:pt x="451" y="258"/>
                      </a:cubicBezTo>
                      <a:cubicBezTo>
                        <a:pt x="447" y="262"/>
                        <a:pt x="437" y="275"/>
                        <a:pt x="435" y="281"/>
                      </a:cubicBezTo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2" name="Freeform 31"/>
                <p:cNvSpPr>
                  <a:spLocks/>
                </p:cNvSpPr>
                <p:nvPr userDrawn="1"/>
              </p:nvSpPr>
              <p:spPr bwMode="ltGray">
                <a:xfrm>
                  <a:off x="3880" y="-7"/>
                  <a:ext cx="984" cy="692"/>
                </a:xfrm>
                <a:custGeom>
                  <a:avLst/>
                  <a:gdLst>
                    <a:gd name="T0" fmla="*/ 406 w 984"/>
                    <a:gd name="T1" fmla="*/ 6 h 844"/>
                    <a:gd name="T2" fmla="*/ 502 w 984"/>
                    <a:gd name="T3" fmla="*/ 34 h 844"/>
                    <a:gd name="T4" fmla="*/ 550 w 984"/>
                    <a:gd name="T5" fmla="*/ 38 h 844"/>
                    <a:gd name="T6" fmla="*/ 578 w 984"/>
                    <a:gd name="T7" fmla="*/ 130 h 844"/>
                    <a:gd name="T8" fmla="*/ 586 w 984"/>
                    <a:gd name="T9" fmla="*/ 90 h 844"/>
                    <a:gd name="T10" fmla="*/ 606 w 984"/>
                    <a:gd name="T11" fmla="*/ 70 h 844"/>
                    <a:gd name="T12" fmla="*/ 642 w 984"/>
                    <a:gd name="T13" fmla="*/ 126 h 844"/>
                    <a:gd name="T14" fmla="*/ 682 w 984"/>
                    <a:gd name="T15" fmla="*/ 98 h 844"/>
                    <a:gd name="T16" fmla="*/ 706 w 984"/>
                    <a:gd name="T17" fmla="*/ 86 h 844"/>
                    <a:gd name="T18" fmla="*/ 762 w 984"/>
                    <a:gd name="T19" fmla="*/ 2 h 844"/>
                    <a:gd name="T20" fmla="*/ 798 w 984"/>
                    <a:gd name="T21" fmla="*/ 70 h 844"/>
                    <a:gd name="T22" fmla="*/ 798 w 984"/>
                    <a:gd name="T23" fmla="*/ 130 h 844"/>
                    <a:gd name="T24" fmla="*/ 790 w 984"/>
                    <a:gd name="T25" fmla="*/ 158 h 844"/>
                    <a:gd name="T26" fmla="*/ 766 w 984"/>
                    <a:gd name="T27" fmla="*/ 162 h 844"/>
                    <a:gd name="T28" fmla="*/ 762 w 984"/>
                    <a:gd name="T29" fmla="*/ 186 h 844"/>
                    <a:gd name="T30" fmla="*/ 802 w 984"/>
                    <a:gd name="T31" fmla="*/ 226 h 844"/>
                    <a:gd name="T32" fmla="*/ 786 w 984"/>
                    <a:gd name="T33" fmla="*/ 322 h 844"/>
                    <a:gd name="T34" fmla="*/ 830 w 984"/>
                    <a:gd name="T35" fmla="*/ 414 h 844"/>
                    <a:gd name="T36" fmla="*/ 854 w 984"/>
                    <a:gd name="T37" fmla="*/ 450 h 844"/>
                    <a:gd name="T38" fmla="*/ 830 w 984"/>
                    <a:gd name="T39" fmla="*/ 450 h 844"/>
                    <a:gd name="T40" fmla="*/ 746 w 984"/>
                    <a:gd name="T41" fmla="*/ 378 h 844"/>
                    <a:gd name="T42" fmla="*/ 678 w 984"/>
                    <a:gd name="T43" fmla="*/ 402 h 844"/>
                    <a:gd name="T44" fmla="*/ 590 w 984"/>
                    <a:gd name="T45" fmla="*/ 442 h 844"/>
                    <a:gd name="T46" fmla="*/ 642 w 984"/>
                    <a:gd name="T47" fmla="*/ 578 h 844"/>
                    <a:gd name="T48" fmla="*/ 710 w 984"/>
                    <a:gd name="T49" fmla="*/ 610 h 844"/>
                    <a:gd name="T50" fmla="*/ 738 w 984"/>
                    <a:gd name="T51" fmla="*/ 550 h 844"/>
                    <a:gd name="T52" fmla="*/ 774 w 984"/>
                    <a:gd name="T53" fmla="*/ 570 h 844"/>
                    <a:gd name="T54" fmla="*/ 766 w 984"/>
                    <a:gd name="T55" fmla="*/ 630 h 844"/>
                    <a:gd name="T56" fmla="*/ 802 w 984"/>
                    <a:gd name="T57" fmla="*/ 670 h 844"/>
                    <a:gd name="T58" fmla="*/ 838 w 984"/>
                    <a:gd name="T59" fmla="*/ 658 h 844"/>
                    <a:gd name="T60" fmla="*/ 922 w 984"/>
                    <a:gd name="T61" fmla="*/ 806 h 844"/>
                    <a:gd name="T62" fmla="*/ 942 w 984"/>
                    <a:gd name="T63" fmla="*/ 826 h 844"/>
                    <a:gd name="T64" fmla="*/ 874 w 984"/>
                    <a:gd name="T65" fmla="*/ 810 h 844"/>
                    <a:gd name="T66" fmla="*/ 830 w 984"/>
                    <a:gd name="T67" fmla="*/ 758 h 844"/>
                    <a:gd name="T68" fmla="*/ 778 w 984"/>
                    <a:gd name="T69" fmla="*/ 710 h 844"/>
                    <a:gd name="T70" fmla="*/ 702 w 984"/>
                    <a:gd name="T71" fmla="*/ 662 h 844"/>
                    <a:gd name="T72" fmla="*/ 614 w 984"/>
                    <a:gd name="T73" fmla="*/ 646 h 844"/>
                    <a:gd name="T74" fmla="*/ 506 w 984"/>
                    <a:gd name="T75" fmla="*/ 594 h 844"/>
                    <a:gd name="T76" fmla="*/ 462 w 984"/>
                    <a:gd name="T77" fmla="*/ 506 h 844"/>
                    <a:gd name="T78" fmla="*/ 430 w 984"/>
                    <a:gd name="T79" fmla="*/ 462 h 844"/>
                    <a:gd name="T80" fmla="*/ 382 w 984"/>
                    <a:gd name="T81" fmla="*/ 430 h 844"/>
                    <a:gd name="T82" fmla="*/ 342 w 984"/>
                    <a:gd name="T83" fmla="*/ 370 h 844"/>
                    <a:gd name="T84" fmla="*/ 354 w 984"/>
                    <a:gd name="T85" fmla="*/ 414 h 844"/>
                    <a:gd name="T86" fmla="*/ 418 w 984"/>
                    <a:gd name="T87" fmla="*/ 494 h 844"/>
                    <a:gd name="T88" fmla="*/ 422 w 984"/>
                    <a:gd name="T89" fmla="*/ 526 h 844"/>
                    <a:gd name="T90" fmla="*/ 394 w 984"/>
                    <a:gd name="T91" fmla="*/ 498 h 844"/>
                    <a:gd name="T92" fmla="*/ 354 w 984"/>
                    <a:gd name="T93" fmla="*/ 466 h 844"/>
                    <a:gd name="T94" fmla="*/ 314 w 984"/>
                    <a:gd name="T95" fmla="*/ 402 h 844"/>
                    <a:gd name="T96" fmla="*/ 266 w 984"/>
                    <a:gd name="T97" fmla="*/ 346 h 844"/>
                    <a:gd name="T98" fmla="*/ 210 w 984"/>
                    <a:gd name="T99" fmla="*/ 314 h 844"/>
                    <a:gd name="T100" fmla="*/ 154 w 984"/>
                    <a:gd name="T101" fmla="*/ 238 h 844"/>
                    <a:gd name="T102" fmla="*/ 66 w 984"/>
                    <a:gd name="T103" fmla="*/ 66 h 844"/>
                    <a:gd name="T104" fmla="*/ 34 w 984"/>
                    <a:gd name="T105" fmla="*/ 38 h 844"/>
                    <a:gd name="T106" fmla="*/ 46 w 984"/>
                    <a:gd name="T107" fmla="*/ 22 h 844"/>
                    <a:gd name="T108" fmla="*/ 102 w 984"/>
                    <a:gd name="T109" fmla="*/ 70 h 844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</a:gdLst>
                  <a:ahLst/>
                  <a:cxnLst>
                    <a:cxn ang="T110">
                      <a:pos x="T0" y="T1"/>
                    </a:cxn>
                    <a:cxn ang="T111">
                      <a:pos x="T2" y="T3"/>
                    </a:cxn>
                    <a:cxn ang="T112">
                      <a:pos x="T4" y="T5"/>
                    </a:cxn>
                    <a:cxn ang="T113">
                      <a:pos x="T6" y="T7"/>
                    </a:cxn>
                    <a:cxn ang="T114">
                      <a:pos x="T8" y="T9"/>
                    </a:cxn>
                    <a:cxn ang="T115">
                      <a:pos x="T10" y="T11"/>
                    </a:cxn>
                    <a:cxn ang="T116">
                      <a:pos x="T12" y="T13"/>
                    </a:cxn>
                    <a:cxn ang="T117">
                      <a:pos x="T14" y="T15"/>
                    </a:cxn>
                    <a:cxn ang="T118">
                      <a:pos x="T16" y="T17"/>
                    </a:cxn>
                    <a:cxn ang="T119">
                      <a:pos x="T18" y="T19"/>
                    </a:cxn>
                    <a:cxn ang="T120">
                      <a:pos x="T20" y="T21"/>
                    </a:cxn>
                    <a:cxn ang="T121">
                      <a:pos x="T22" y="T23"/>
                    </a:cxn>
                    <a:cxn ang="T122">
                      <a:pos x="T24" y="T25"/>
                    </a:cxn>
                    <a:cxn ang="T123">
                      <a:pos x="T26" y="T27"/>
                    </a:cxn>
                    <a:cxn ang="T124">
                      <a:pos x="T28" y="T29"/>
                    </a:cxn>
                    <a:cxn ang="T125">
                      <a:pos x="T30" y="T31"/>
                    </a:cxn>
                    <a:cxn ang="T126">
                      <a:pos x="T32" y="T33"/>
                    </a:cxn>
                    <a:cxn ang="T127">
                      <a:pos x="T34" y="T35"/>
                    </a:cxn>
                    <a:cxn ang="T128">
                      <a:pos x="T36" y="T37"/>
                    </a:cxn>
                    <a:cxn ang="T129">
                      <a:pos x="T38" y="T39"/>
                    </a:cxn>
                    <a:cxn ang="T130">
                      <a:pos x="T40" y="T41"/>
                    </a:cxn>
                    <a:cxn ang="T131">
                      <a:pos x="T42" y="T43"/>
                    </a:cxn>
                    <a:cxn ang="T132">
                      <a:pos x="T44" y="T45"/>
                    </a:cxn>
                    <a:cxn ang="T133">
                      <a:pos x="T46" y="T47"/>
                    </a:cxn>
                    <a:cxn ang="T134">
                      <a:pos x="T48" y="T49"/>
                    </a:cxn>
                    <a:cxn ang="T135">
                      <a:pos x="T50" y="T51"/>
                    </a:cxn>
                    <a:cxn ang="T136">
                      <a:pos x="T52" y="T53"/>
                    </a:cxn>
                    <a:cxn ang="T137">
                      <a:pos x="T54" y="T55"/>
                    </a:cxn>
                    <a:cxn ang="T138">
                      <a:pos x="T56" y="T57"/>
                    </a:cxn>
                    <a:cxn ang="T139">
                      <a:pos x="T58" y="T59"/>
                    </a:cxn>
                    <a:cxn ang="T140">
                      <a:pos x="T60" y="T61"/>
                    </a:cxn>
                    <a:cxn ang="T141">
                      <a:pos x="T62" y="T63"/>
                    </a:cxn>
                    <a:cxn ang="T142">
                      <a:pos x="T64" y="T65"/>
                    </a:cxn>
                    <a:cxn ang="T143">
                      <a:pos x="T66" y="T67"/>
                    </a:cxn>
                    <a:cxn ang="T144">
                      <a:pos x="T68" y="T69"/>
                    </a:cxn>
                    <a:cxn ang="T145">
                      <a:pos x="T70" y="T71"/>
                    </a:cxn>
                    <a:cxn ang="T146">
                      <a:pos x="T72" y="T73"/>
                    </a:cxn>
                    <a:cxn ang="T147">
                      <a:pos x="T74" y="T75"/>
                    </a:cxn>
                    <a:cxn ang="T148">
                      <a:pos x="T76" y="T77"/>
                    </a:cxn>
                    <a:cxn ang="T149">
                      <a:pos x="T78" y="T79"/>
                    </a:cxn>
                    <a:cxn ang="T150">
                      <a:pos x="T80" y="T81"/>
                    </a:cxn>
                    <a:cxn ang="T151">
                      <a:pos x="T82" y="T83"/>
                    </a:cxn>
                    <a:cxn ang="T152">
                      <a:pos x="T84" y="T85"/>
                    </a:cxn>
                    <a:cxn ang="T153">
                      <a:pos x="T86" y="T87"/>
                    </a:cxn>
                    <a:cxn ang="T154">
                      <a:pos x="T88" y="T89"/>
                    </a:cxn>
                    <a:cxn ang="T155">
                      <a:pos x="T90" y="T91"/>
                    </a:cxn>
                    <a:cxn ang="T156">
                      <a:pos x="T92" y="T93"/>
                    </a:cxn>
                    <a:cxn ang="T157">
                      <a:pos x="T94" y="T95"/>
                    </a:cxn>
                    <a:cxn ang="T158">
                      <a:pos x="T96" y="T97"/>
                    </a:cxn>
                    <a:cxn ang="T159">
                      <a:pos x="T98" y="T99"/>
                    </a:cxn>
                    <a:cxn ang="T160">
                      <a:pos x="T100" y="T101"/>
                    </a:cxn>
                    <a:cxn ang="T161">
                      <a:pos x="T102" y="T103"/>
                    </a:cxn>
                    <a:cxn ang="T162">
                      <a:pos x="T104" y="T105"/>
                    </a:cxn>
                    <a:cxn ang="T163">
                      <a:pos x="T106" y="T107"/>
                    </a:cxn>
                    <a:cxn ang="T164">
                      <a:pos x="T108" y="T109"/>
                    </a:cxn>
                  </a:cxnLst>
                  <a:rect l="0" t="0" r="r" b="b"/>
                  <a:pathLst>
                    <a:path w="984" h="844">
                      <a:moveTo>
                        <a:pt x="82" y="38"/>
                      </a:moveTo>
                      <a:lnTo>
                        <a:pt x="406" y="6"/>
                      </a:lnTo>
                      <a:cubicBezTo>
                        <a:pt x="497" y="22"/>
                        <a:pt x="465" y="0"/>
                        <a:pt x="474" y="54"/>
                      </a:cubicBezTo>
                      <a:cubicBezTo>
                        <a:pt x="492" y="48"/>
                        <a:pt x="484" y="40"/>
                        <a:pt x="502" y="34"/>
                      </a:cubicBezTo>
                      <a:cubicBezTo>
                        <a:pt x="510" y="37"/>
                        <a:pt x="517" y="46"/>
                        <a:pt x="526" y="46"/>
                      </a:cubicBezTo>
                      <a:cubicBezTo>
                        <a:pt x="534" y="46"/>
                        <a:pt x="550" y="38"/>
                        <a:pt x="550" y="38"/>
                      </a:cubicBezTo>
                      <a:cubicBezTo>
                        <a:pt x="556" y="55"/>
                        <a:pt x="552" y="60"/>
                        <a:pt x="542" y="74"/>
                      </a:cubicBezTo>
                      <a:cubicBezTo>
                        <a:pt x="555" y="114"/>
                        <a:pt x="550" y="102"/>
                        <a:pt x="578" y="130"/>
                      </a:cubicBezTo>
                      <a:cubicBezTo>
                        <a:pt x="584" y="148"/>
                        <a:pt x="590" y="148"/>
                        <a:pt x="606" y="138"/>
                      </a:cubicBezTo>
                      <a:cubicBezTo>
                        <a:pt x="600" y="119"/>
                        <a:pt x="594" y="107"/>
                        <a:pt x="586" y="90"/>
                      </a:cubicBezTo>
                      <a:cubicBezTo>
                        <a:pt x="583" y="82"/>
                        <a:pt x="578" y="66"/>
                        <a:pt x="578" y="66"/>
                      </a:cubicBezTo>
                      <a:cubicBezTo>
                        <a:pt x="585" y="44"/>
                        <a:pt x="597" y="56"/>
                        <a:pt x="606" y="70"/>
                      </a:cubicBezTo>
                      <a:cubicBezTo>
                        <a:pt x="609" y="86"/>
                        <a:pt x="608" y="117"/>
                        <a:pt x="626" y="90"/>
                      </a:cubicBezTo>
                      <a:cubicBezTo>
                        <a:pt x="648" y="97"/>
                        <a:pt x="646" y="104"/>
                        <a:pt x="642" y="126"/>
                      </a:cubicBezTo>
                      <a:cubicBezTo>
                        <a:pt x="650" y="150"/>
                        <a:pt x="665" y="141"/>
                        <a:pt x="682" y="130"/>
                      </a:cubicBezTo>
                      <a:cubicBezTo>
                        <a:pt x="689" y="108"/>
                        <a:pt x="673" y="124"/>
                        <a:pt x="682" y="98"/>
                      </a:cubicBezTo>
                      <a:cubicBezTo>
                        <a:pt x="683" y="94"/>
                        <a:pt x="690" y="96"/>
                        <a:pt x="694" y="94"/>
                      </a:cubicBezTo>
                      <a:cubicBezTo>
                        <a:pt x="698" y="92"/>
                        <a:pt x="702" y="89"/>
                        <a:pt x="706" y="86"/>
                      </a:cubicBezTo>
                      <a:cubicBezTo>
                        <a:pt x="717" y="54"/>
                        <a:pt x="688" y="54"/>
                        <a:pt x="742" y="46"/>
                      </a:cubicBezTo>
                      <a:cubicBezTo>
                        <a:pt x="748" y="27"/>
                        <a:pt x="741" y="9"/>
                        <a:pt x="762" y="2"/>
                      </a:cubicBezTo>
                      <a:cubicBezTo>
                        <a:pt x="788" y="11"/>
                        <a:pt x="777" y="38"/>
                        <a:pt x="802" y="46"/>
                      </a:cubicBezTo>
                      <a:cubicBezTo>
                        <a:pt x="831" y="36"/>
                        <a:pt x="805" y="63"/>
                        <a:pt x="798" y="70"/>
                      </a:cubicBezTo>
                      <a:cubicBezTo>
                        <a:pt x="789" y="96"/>
                        <a:pt x="787" y="96"/>
                        <a:pt x="802" y="118"/>
                      </a:cubicBezTo>
                      <a:cubicBezTo>
                        <a:pt x="801" y="122"/>
                        <a:pt x="801" y="127"/>
                        <a:pt x="798" y="130"/>
                      </a:cubicBezTo>
                      <a:cubicBezTo>
                        <a:pt x="794" y="133"/>
                        <a:pt x="784" y="129"/>
                        <a:pt x="782" y="134"/>
                      </a:cubicBezTo>
                      <a:cubicBezTo>
                        <a:pt x="780" y="142"/>
                        <a:pt x="790" y="158"/>
                        <a:pt x="790" y="158"/>
                      </a:cubicBezTo>
                      <a:cubicBezTo>
                        <a:pt x="786" y="161"/>
                        <a:pt x="783" y="165"/>
                        <a:pt x="778" y="166"/>
                      </a:cubicBezTo>
                      <a:cubicBezTo>
                        <a:pt x="774" y="167"/>
                        <a:pt x="769" y="159"/>
                        <a:pt x="766" y="162"/>
                      </a:cubicBezTo>
                      <a:cubicBezTo>
                        <a:pt x="758" y="170"/>
                        <a:pt x="794" y="182"/>
                        <a:pt x="794" y="182"/>
                      </a:cubicBezTo>
                      <a:cubicBezTo>
                        <a:pt x="804" y="211"/>
                        <a:pt x="775" y="190"/>
                        <a:pt x="762" y="186"/>
                      </a:cubicBezTo>
                      <a:cubicBezTo>
                        <a:pt x="767" y="194"/>
                        <a:pt x="773" y="202"/>
                        <a:pt x="778" y="210"/>
                      </a:cubicBezTo>
                      <a:cubicBezTo>
                        <a:pt x="783" y="218"/>
                        <a:pt x="802" y="226"/>
                        <a:pt x="802" y="226"/>
                      </a:cubicBezTo>
                      <a:cubicBezTo>
                        <a:pt x="813" y="242"/>
                        <a:pt x="804" y="245"/>
                        <a:pt x="810" y="262"/>
                      </a:cubicBezTo>
                      <a:cubicBezTo>
                        <a:pt x="803" y="282"/>
                        <a:pt x="793" y="301"/>
                        <a:pt x="786" y="322"/>
                      </a:cubicBezTo>
                      <a:cubicBezTo>
                        <a:pt x="783" y="330"/>
                        <a:pt x="778" y="346"/>
                        <a:pt x="778" y="346"/>
                      </a:cubicBezTo>
                      <a:cubicBezTo>
                        <a:pt x="785" y="366"/>
                        <a:pt x="817" y="394"/>
                        <a:pt x="830" y="414"/>
                      </a:cubicBezTo>
                      <a:cubicBezTo>
                        <a:pt x="835" y="422"/>
                        <a:pt x="841" y="430"/>
                        <a:pt x="846" y="438"/>
                      </a:cubicBezTo>
                      <a:cubicBezTo>
                        <a:pt x="849" y="442"/>
                        <a:pt x="854" y="450"/>
                        <a:pt x="854" y="450"/>
                      </a:cubicBezTo>
                      <a:cubicBezTo>
                        <a:pt x="853" y="457"/>
                        <a:pt x="855" y="466"/>
                        <a:pt x="850" y="470"/>
                      </a:cubicBezTo>
                      <a:cubicBezTo>
                        <a:pt x="844" y="475"/>
                        <a:pt x="831" y="451"/>
                        <a:pt x="830" y="450"/>
                      </a:cubicBezTo>
                      <a:cubicBezTo>
                        <a:pt x="811" y="431"/>
                        <a:pt x="789" y="421"/>
                        <a:pt x="774" y="398"/>
                      </a:cubicBezTo>
                      <a:cubicBezTo>
                        <a:pt x="769" y="379"/>
                        <a:pt x="766" y="371"/>
                        <a:pt x="746" y="378"/>
                      </a:cubicBezTo>
                      <a:cubicBezTo>
                        <a:pt x="717" y="368"/>
                        <a:pt x="730" y="368"/>
                        <a:pt x="706" y="374"/>
                      </a:cubicBezTo>
                      <a:cubicBezTo>
                        <a:pt x="688" y="402"/>
                        <a:pt x="699" y="395"/>
                        <a:pt x="678" y="402"/>
                      </a:cubicBezTo>
                      <a:cubicBezTo>
                        <a:pt x="654" y="386"/>
                        <a:pt x="650" y="390"/>
                        <a:pt x="618" y="394"/>
                      </a:cubicBezTo>
                      <a:cubicBezTo>
                        <a:pt x="607" y="411"/>
                        <a:pt x="601" y="426"/>
                        <a:pt x="590" y="442"/>
                      </a:cubicBezTo>
                      <a:cubicBezTo>
                        <a:pt x="600" y="471"/>
                        <a:pt x="593" y="459"/>
                        <a:pt x="606" y="478"/>
                      </a:cubicBezTo>
                      <a:cubicBezTo>
                        <a:pt x="593" y="518"/>
                        <a:pt x="622" y="548"/>
                        <a:pt x="642" y="578"/>
                      </a:cubicBezTo>
                      <a:cubicBezTo>
                        <a:pt x="651" y="591"/>
                        <a:pt x="651" y="601"/>
                        <a:pt x="666" y="606"/>
                      </a:cubicBezTo>
                      <a:cubicBezTo>
                        <a:pt x="680" y="627"/>
                        <a:pt x="691" y="623"/>
                        <a:pt x="710" y="610"/>
                      </a:cubicBezTo>
                      <a:cubicBezTo>
                        <a:pt x="729" y="616"/>
                        <a:pt x="729" y="606"/>
                        <a:pt x="734" y="590"/>
                      </a:cubicBezTo>
                      <a:cubicBezTo>
                        <a:pt x="735" y="577"/>
                        <a:pt x="731" y="562"/>
                        <a:pt x="738" y="550"/>
                      </a:cubicBezTo>
                      <a:cubicBezTo>
                        <a:pt x="742" y="543"/>
                        <a:pt x="762" y="542"/>
                        <a:pt x="762" y="542"/>
                      </a:cubicBezTo>
                      <a:cubicBezTo>
                        <a:pt x="783" y="547"/>
                        <a:pt x="786" y="552"/>
                        <a:pt x="774" y="570"/>
                      </a:cubicBezTo>
                      <a:cubicBezTo>
                        <a:pt x="779" y="590"/>
                        <a:pt x="790" y="605"/>
                        <a:pt x="770" y="618"/>
                      </a:cubicBezTo>
                      <a:cubicBezTo>
                        <a:pt x="769" y="622"/>
                        <a:pt x="764" y="626"/>
                        <a:pt x="766" y="630"/>
                      </a:cubicBezTo>
                      <a:cubicBezTo>
                        <a:pt x="768" y="634"/>
                        <a:pt x="775" y="634"/>
                        <a:pt x="778" y="638"/>
                      </a:cubicBezTo>
                      <a:cubicBezTo>
                        <a:pt x="788" y="651"/>
                        <a:pt x="786" y="660"/>
                        <a:pt x="802" y="670"/>
                      </a:cubicBezTo>
                      <a:cubicBezTo>
                        <a:pt x="810" y="667"/>
                        <a:pt x="818" y="665"/>
                        <a:pt x="826" y="662"/>
                      </a:cubicBezTo>
                      <a:cubicBezTo>
                        <a:pt x="830" y="661"/>
                        <a:pt x="838" y="658"/>
                        <a:pt x="838" y="658"/>
                      </a:cubicBezTo>
                      <a:cubicBezTo>
                        <a:pt x="857" y="664"/>
                        <a:pt x="864" y="680"/>
                        <a:pt x="870" y="698"/>
                      </a:cubicBezTo>
                      <a:cubicBezTo>
                        <a:pt x="859" y="731"/>
                        <a:pt x="887" y="794"/>
                        <a:pt x="922" y="806"/>
                      </a:cubicBezTo>
                      <a:cubicBezTo>
                        <a:pt x="938" y="801"/>
                        <a:pt x="941" y="792"/>
                        <a:pt x="958" y="798"/>
                      </a:cubicBezTo>
                      <a:cubicBezTo>
                        <a:pt x="984" y="837"/>
                        <a:pt x="928" y="784"/>
                        <a:pt x="942" y="826"/>
                      </a:cubicBezTo>
                      <a:cubicBezTo>
                        <a:pt x="936" y="844"/>
                        <a:pt x="930" y="844"/>
                        <a:pt x="914" y="834"/>
                      </a:cubicBezTo>
                      <a:cubicBezTo>
                        <a:pt x="903" y="817"/>
                        <a:pt x="890" y="821"/>
                        <a:pt x="874" y="810"/>
                      </a:cubicBezTo>
                      <a:cubicBezTo>
                        <a:pt x="851" y="776"/>
                        <a:pt x="882" y="816"/>
                        <a:pt x="854" y="794"/>
                      </a:cubicBezTo>
                      <a:cubicBezTo>
                        <a:pt x="843" y="785"/>
                        <a:pt x="840" y="768"/>
                        <a:pt x="830" y="758"/>
                      </a:cubicBezTo>
                      <a:cubicBezTo>
                        <a:pt x="824" y="739"/>
                        <a:pt x="817" y="724"/>
                        <a:pt x="798" y="718"/>
                      </a:cubicBezTo>
                      <a:cubicBezTo>
                        <a:pt x="791" y="696"/>
                        <a:pt x="800" y="712"/>
                        <a:pt x="778" y="710"/>
                      </a:cubicBezTo>
                      <a:cubicBezTo>
                        <a:pt x="767" y="709"/>
                        <a:pt x="746" y="702"/>
                        <a:pt x="746" y="702"/>
                      </a:cubicBezTo>
                      <a:cubicBezTo>
                        <a:pt x="729" y="691"/>
                        <a:pt x="720" y="674"/>
                        <a:pt x="702" y="662"/>
                      </a:cubicBezTo>
                      <a:cubicBezTo>
                        <a:pt x="694" y="665"/>
                        <a:pt x="687" y="673"/>
                        <a:pt x="678" y="674"/>
                      </a:cubicBezTo>
                      <a:cubicBezTo>
                        <a:pt x="657" y="677"/>
                        <a:pt x="630" y="657"/>
                        <a:pt x="614" y="646"/>
                      </a:cubicBezTo>
                      <a:cubicBezTo>
                        <a:pt x="600" y="637"/>
                        <a:pt x="580" y="639"/>
                        <a:pt x="566" y="630"/>
                      </a:cubicBezTo>
                      <a:cubicBezTo>
                        <a:pt x="546" y="617"/>
                        <a:pt x="525" y="607"/>
                        <a:pt x="506" y="594"/>
                      </a:cubicBezTo>
                      <a:cubicBezTo>
                        <a:pt x="513" y="572"/>
                        <a:pt x="509" y="551"/>
                        <a:pt x="490" y="538"/>
                      </a:cubicBezTo>
                      <a:cubicBezTo>
                        <a:pt x="485" y="522"/>
                        <a:pt x="476" y="515"/>
                        <a:pt x="462" y="506"/>
                      </a:cubicBezTo>
                      <a:cubicBezTo>
                        <a:pt x="441" y="474"/>
                        <a:pt x="469" y="513"/>
                        <a:pt x="442" y="486"/>
                      </a:cubicBezTo>
                      <a:cubicBezTo>
                        <a:pt x="436" y="480"/>
                        <a:pt x="436" y="468"/>
                        <a:pt x="430" y="462"/>
                      </a:cubicBezTo>
                      <a:cubicBezTo>
                        <a:pt x="427" y="459"/>
                        <a:pt x="422" y="459"/>
                        <a:pt x="418" y="458"/>
                      </a:cubicBezTo>
                      <a:cubicBezTo>
                        <a:pt x="407" y="447"/>
                        <a:pt x="382" y="430"/>
                        <a:pt x="382" y="430"/>
                      </a:cubicBezTo>
                      <a:cubicBezTo>
                        <a:pt x="371" y="413"/>
                        <a:pt x="358" y="399"/>
                        <a:pt x="346" y="382"/>
                      </a:cubicBezTo>
                      <a:cubicBezTo>
                        <a:pt x="344" y="378"/>
                        <a:pt x="345" y="373"/>
                        <a:pt x="342" y="370"/>
                      </a:cubicBezTo>
                      <a:cubicBezTo>
                        <a:pt x="339" y="367"/>
                        <a:pt x="334" y="367"/>
                        <a:pt x="330" y="366"/>
                      </a:cubicBezTo>
                      <a:cubicBezTo>
                        <a:pt x="322" y="390"/>
                        <a:pt x="342" y="398"/>
                        <a:pt x="354" y="414"/>
                      </a:cubicBezTo>
                      <a:cubicBezTo>
                        <a:pt x="368" y="432"/>
                        <a:pt x="372" y="446"/>
                        <a:pt x="390" y="458"/>
                      </a:cubicBezTo>
                      <a:cubicBezTo>
                        <a:pt x="409" y="487"/>
                        <a:pt x="399" y="475"/>
                        <a:pt x="418" y="494"/>
                      </a:cubicBezTo>
                      <a:cubicBezTo>
                        <a:pt x="423" y="510"/>
                        <a:pt x="428" y="517"/>
                        <a:pt x="442" y="526"/>
                      </a:cubicBezTo>
                      <a:cubicBezTo>
                        <a:pt x="450" y="550"/>
                        <a:pt x="432" y="533"/>
                        <a:pt x="422" y="526"/>
                      </a:cubicBezTo>
                      <a:cubicBezTo>
                        <a:pt x="399" y="492"/>
                        <a:pt x="430" y="532"/>
                        <a:pt x="402" y="510"/>
                      </a:cubicBezTo>
                      <a:cubicBezTo>
                        <a:pt x="398" y="507"/>
                        <a:pt x="397" y="501"/>
                        <a:pt x="394" y="498"/>
                      </a:cubicBezTo>
                      <a:cubicBezTo>
                        <a:pt x="391" y="495"/>
                        <a:pt x="386" y="493"/>
                        <a:pt x="382" y="490"/>
                      </a:cubicBezTo>
                      <a:cubicBezTo>
                        <a:pt x="377" y="474"/>
                        <a:pt x="370" y="471"/>
                        <a:pt x="354" y="466"/>
                      </a:cubicBezTo>
                      <a:cubicBezTo>
                        <a:pt x="344" y="452"/>
                        <a:pt x="340" y="447"/>
                        <a:pt x="346" y="430"/>
                      </a:cubicBezTo>
                      <a:cubicBezTo>
                        <a:pt x="338" y="418"/>
                        <a:pt x="314" y="402"/>
                        <a:pt x="314" y="402"/>
                      </a:cubicBezTo>
                      <a:cubicBezTo>
                        <a:pt x="306" y="390"/>
                        <a:pt x="298" y="378"/>
                        <a:pt x="290" y="366"/>
                      </a:cubicBezTo>
                      <a:cubicBezTo>
                        <a:pt x="284" y="357"/>
                        <a:pt x="273" y="354"/>
                        <a:pt x="266" y="346"/>
                      </a:cubicBezTo>
                      <a:cubicBezTo>
                        <a:pt x="263" y="342"/>
                        <a:pt x="262" y="337"/>
                        <a:pt x="258" y="334"/>
                      </a:cubicBezTo>
                      <a:cubicBezTo>
                        <a:pt x="243" y="324"/>
                        <a:pt x="225" y="324"/>
                        <a:pt x="210" y="314"/>
                      </a:cubicBezTo>
                      <a:cubicBezTo>
                        <a:pt x="201" y="300"/>
                        <a:pt x="194" y="291"/>
                        <a:pt x="178" y="286"/>
                      </a:cubicBezTo>
                      <a:cubicBezTo>
                        <a:pt x="160" y="260"/>
                        <a:pt x="192" y="247"/>
                        <a:pt x="154" y="238"/>
                      </a:cubicBezTo>
                      <a:cubicBezTo>
                        <a:pt x="111" y="209"/>
                        <a:pt x="106" y="149"/>
                        <a:pt x="90" y="102"/>
                      </a:cubicBezTo>
                      <a:cubicBezTo>
                        <a:pt x="86" y="90"/>
                        <a:pt x="76" y="73"/>
                        <a:pt x="66" y="66"/>
                      </a:cubicBezTo>
                      <a:cubicBezTo>
                        <a:pt x="58" y="60"/>
                        <a:pt x="42" y="50"/>
                        <a:pt x="42" y="50"/>
                      </a:cubicBezTo>
                      <a:cubicBezTo>
                        <a:pt x="39" y="46"/>
                        <a:pt x="38" y="41"/>
                        <a:pt x="34" y="38"/>
                      </a:cubicBezTo>
                      <a:cubicBezTo>
                        <a:pt x="27" y="34"/>
                        <a:pt x="10" y="30"/>
                        <a:pt x="10" y="30"/>
                      </a:cubicBezTo>
                      <a:cubicBezTo>
                        <a:pt x="0" y="1"/>
                        <a:pt x="31" y="17"/>
                        <a:pt x="46" y="22"/>
                      </a:cubicBezTo>
                      <a:cubicBezTo>
                        <a:pt x="65" y="51"/>
                        <a:pt x="61" y="41"/>
                        <a:pt x="86" y="58"/>
                      </a:cubicBezTo>
                      <a:cubicBezTo>
                        <a:pt x="94" y="70"/>
                        <a:pt x="94" y="93"/>
                        <a:pt x="102" y="70"/>
                      </a:cubicBezTo>
                      <a:cubicBezTo>
                        <a:pt x="95" y="49"/>
                        <a:pt x="82" y="62"/>
                        <a:pt x="82" y="3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3" name="Freeform 32"/>
                <p:cNvSpPr>
                  <a:spLocks/>
                </p:cNvSpPr>
                <p:nvPr userDrawn="1"/>
              </p:nvSpPr>
              <p:spPr bwMode="ltGray">
                <a:xfrm>
                  <a:off x="3577" y="490"/>
                  <a:ext cx="36" cy="39"/>
                </a:xfrm>
                <a:custGeom>
                  <a:avLst/>
                  <a:gdLst>
                    <a:gd name="T0" fmla="*/ 6 w 36"/>
                    <a:gd name="T1" fmla="*/ 28 h 48"/>
                    <a:gd name="T2" fmla="*/ 10 w 36"/>
                    <a:gd name="T3" fmla="*/ 48 h 48"/>
                    <a:gd name="T4" fmla="*/ 6 w 36"/>
                    <a:gd name="T5" fmla="*/ 28 h 4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6" h="48">
                      <a:moveTo>
                        <a:pt x="6" y="28"/>
                      </a:moveTo>
                      <a:cubicBezTo>
                        <a:pt x="25" y="0"/>
                        <a:pt x="36" y="31"/>
                        <a:pt x="10" y="48"/>
                      </a:cubicBezTo>
                      <a:cubicBezTo>
                        <a:pt x="0" y="34"/>
                        <a:pt x="0" y="40"/>
                        <a:pt x="6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4" name="Freeform 33"/>
                <p:cNvSpPr>
                  <a:spLocks/>
                </p:cNvSpPr>
                <p:nvPr userDrawn="1"/>
              </p:nvSpPr>
              <p:spPr bwMode="ltGray">
                <a:xfrm>
                  <a:off x="3549" y="475"/>
                  <a:ext cx="38" cy="29"/>
                </a:xfrm>
                <a:custGeom>
                  <a:avLst/>
                  <a:gdLst>
                    <a:gd name="T0" fmla="*/ 0 w 36"/>
                    <a:gd name="T1" fmla="*/ 5 h 37"/>
                    <a:gd name="T2" fmla="*/ 12 w 36"/>
                    <a:gd name="T3" fmla="*/ 1 h 37"/>
                    <a:gd name="T4" fmla="*/ 36 w 36"/>
                    <a:gd name="T5" fmla="*/ 17 h 37"/>
                    <a:gd name="T6" fmla="*/ 8 w 36"/>
                    <a:gd name="T7" fmla="*/ 17 h 37"/>
                    <a:gd name="T8" fmla="*/ 0 w 36"/>
                    <a:gd name="T9" fmla="*/ 5 h 3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6" h="37">
                      <a:moveTo>
                        <a:pt x="0" y="5"/>
                      </a:moveTo>
                      <a:cubicBezTo>
                        <a:pt x="4" y="4"/>
                        <a:pt x="8" y="0"/>
                        <a:pt x="12" y="1"/>
                      </a:cubicBezTo>
                      <a:cubicBezTo>
                        <a:pt x="21" y="4"/>
                        <a:pt x="36" y="17"/>
                        <a:pt x="36" y="17"/>
                      </a:cubicBezTo>
                      <a:cubicBezTo>
                        <a:pt x="29" y="37"/>
                        <a:pt x="22" y="26"/>
                        <a:pt x="8" y="17"/>
                      </a:cubicBezTo>
                      <a:cubicBezTo>
                        <a:pt x="5" y="13"/>
                        <a:pt x="0" y="5"/>
                        <a:pt x="0" y="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5" name="Freeform 34"/>
                <p:cNvSpPr>
                  <a:spLocks/>
                </p:cNvSpPr>
                <p:nvPr userDrawn="1"/>
              </p:nvSpPr>
              <p:spPr bwMode="ltGray">
                <a:xfrm>
                  <a:off x="4686" y="394"/>
                  <a:ext cx="171" cy="81"/>
                </a:xfrm>
                <a:custGeom>
                  <a:avLst/>
                  <a:gdLst>
                    <a:gd name="T0" fmla="*/ 0 w 170"/>
                    <a:gd name="T1" fmla="*/ 49 h 96"/>
                    <a:gd name="T2" fmla="*/ 28 w 170"/>
                    <a:gd name="T3" fmla="*/ 25 h 96"/>
                    <a:gd name="T4" fmla="*/ 56 w 170"/>
                    <a:gd name="T5" fmla="*/ 21 h 96"/>
                    <a:gd name="T6" fmla="*/ 80 w 170"/>
                    <a:gd name="T7" fmla="*/ 9 h 96"/>
                    <a:gd name="T8" fmla="*/ 64 w 170"/>
                    <a:gd name="T9" fmla="*/ 25 h 96"/>
                    <a:gd name="T10" fmla="*/ 124 w 170"/>
                    <a:gd name="T11" fmla="*/ 49 h 96"/>
                    <a:gd name="T12" fmla="*/ 160 w 170"/>
                    <a:gd name="T13" fmla="*/ 65 h 96"/>
                    <a:gd name="T14" fmla="*/ 116 w 170"/>
                    <a:gd name="T15" fmla="*/ 77 h 96"/>
                    <a:gd name="T16" fmla="*/ 88 w 170"/>
                    <a:gd name="T17" fmla="*/ 57 h 96"/>
                    <a:gd name="T18" fmla="*/ 76 w 170"/>
                    <a:gd name="T19" fmla="*/ 53 h 96"/>
                    <a:gd name="T20" fmla="*/ 24 w 170"/>
                    <a:gd name="T21" fmla="*/ 41 h 96"/>
                    <a:gd name="T22" fmla="*/ 0 w 170"/>
                    <a:gd name="T23" fmla="*/ 49 h 9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170" h="96">
                      <a:moveTo>
                        <a:pt x="0" y="49"/>
                      </a:moveTo>
                      <a:cubicBezTo>
                        <a:pt x="5" y="33"/>
                        <a:pt x="12" y="30"/>
                        <a:pt x="28" y="25"/>
                      </a:cubicBezTo>
                      <a:cubicBezTo>
                        <a:pt x="20" y="0"/>
                        <a:pt x="42" y="16"/>
                        <a:pt x="56" y="21"/>
                      </a:cubicBezTo>
                      <a:cubicBezTo>
                        <a:pt x="56" y="21"/>
                        <a:pt x="77" y="6"/>
                        <a:pt x="80" y="9"/>
                      </a:cubicBezTo>
                      <a:cubicBezTo>
                        <a:pt x="85" y="14"/>
                        <a:pt x="71" y="23"/>
                        <a:pt x="64" y="25"/>
                      </a:cubicBezTo>
                      <a:cubicBezTo>
                        <a:pt x="82" y="37"/>
                        <a:pt x="103" y="42"/>
                        <a:pt x="124" y="49"/>
                      </a:cubicBezTo>
                      <a:cubicBezTo>
                        <a:pt x="136" y="53"/>
                        <a:pt x="160" y="65"/>
                        <a:pt x="160" y="65"/>
                      </a:cubicBezTo>
                      <a:cubicBezTo>
                        <a:pt x="170" y="96"/>
                        <a:pt x="134" y="83"/>
                        <a:pt x="116" y="77"/>
                      </a:cubicBezTo>
                      <a:cubicBezTo>
                        <a:pt x="109" y="57"/>
                        <a:pt x="116" y="66"/>
                        <a:pt x="88" y="57"/>
                      </a:cubicBezTo>
                      <a:cubicBezTo>
                        <a:pt x="84" y="56"/>
                        <a:pt x="76" y="53"/>
                        <a:pt x="76" y="53"/>
                      </a:cubicBezTo>
                      <a:cubicBezTo>
                        <a:pt x="57" y="34"/>
                        <a:pt x="53" y="37"/>
                        <a:pt x="24" y="41"/>
                      </a:cubicBezTo>
                      <a:cubicBezTo>
                        <a:pt x="9" y="51"/>
                        <a:pt x="17" y="49"/>
                        <a:pt x="0" y="4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6" name="Freeform 35"/>
                <p:cNvSpPr>
                  <a:spLocks/>
                </p:cNvSpPr>
                <p:nvPr userDrawn="1"/>
              </p:nvSpPr>
              <p:spPr bwMode="ltGray">
                <a:xfrm>
                  <a:off x="4867" y="460"/>
                  <a:ext cx="138" cy="37"/>
                </a:xfrm>
                <a:custGeom>
                  <a:avLst/>
                  <a:gdLst>
                    <a:gd name="T0" fmla="*/ 0 w 138"/>
                    <a:gd name="T1" fmla="*/ 0 h 44"/>
                    <a:gd name="T2" fmla="*/ 52 w 138"/>
                    <a:gd name="T3" fmla="*/ 4 h 44"/>
                    <a:gd name="T4" fmla="*/ 88 w 138"/>
                    <a:gd name="T5" fmla="*/ 24 h 44"/>
                    <a:gd name="T6" fmla="*/ 112 w 138"/>
                    <a:gd name="T7" fmla="*/ 20 h 44"/>
                    <a:gd name="T8" fmla="*/ 108 w 138"/>
                    <a:gd name="T9" fmla="*/ 44 h 44"/>
                    <a:gd name="T10" fmla="*/ 64 w 138"/>
                    <a:gd name="T11" fmla="*/ 40 h 44"/>
                    <a:gd name="T12" fmla="*/ 0 w 138"/>
                    <a:gd name="T13" fmla="*/ 36 h 44"/>
                    <a:gd name="T14" fmla="*/ 28 w 138"/>
                    <a:gd name="T15" fmla="*/ 20 h 44"/>
                    <a:gd name="T16" fmla="*/ 0 w 138"/>
                    <a:gd name="T17" fmla="*/ 0 h 44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138" h="44">
                      <a:moveTo>
                        <a:pt x="0" y="0"/>
                      </a:moveTo>
                      <a:cubicBezTo>
                        <a:pt x="19" y="3"/>
                        <a:pt x="35" y="10"/>
                        <a:pt x="52" y="4"/>
                      </a:cubicBezTo>
                      <a:cubicBezTo>
                        <a:pt x="87" y="11"/>
                        <a:pt x="61" y="15"/>
                        <a:pt x="88" y="24"/>
                      </a:cubicBezTo>
                      <a:cubicBezTo>
                        <a:pt x="96" y="23"/>
                        <a:pt x="104" y="19"/>
                        <a:pt x="112" y="20"/>
                      </a:cubicBezTo>
                      <a:cubicBezTo>
                        <a:pt x="138" y="23"/>
                        <a:pt x="118" y="41"/>
                        <a:pt x="108" y="44"/>
                      </a:cubicBezTo>
                      <a:cubicBezTo>
                        <a:pt x="78" y="34"/>
                        <a:pt x="92" y="34"/>
                        <a:pt x="64" y="40"/>
                      </a:cubicBezTo>
                      <a:cubicBezTo>
                        <a:pt x="41" y="37"/>
                        <a:pt x="22" y="41"/>
                        <a:pt x="0" y="36"/>
                      </a:cubicBezTo>
                      <a:cubicBezTo>
                        <a:pt x="6" y="11"/>
                        <a:pt x="7" y="27"/>
                        <a:pt x="28" y="20"/>
                      </a:cubicBezTo>
                      <a:cubicBezTo>
                        <a:pt x="17" y="13"/>
                        <a:pt x="0" y="13"/>
                        <a:pt x="0" y="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7" name="Freeform 36"/>
                <p:cNvSpPr>
                  <a:spLocks/>
                </p:cNvSpPr>
                <p:nvPr userDrawn="1"/>
              </p:nvSpPr>
              <p:spPr bwMode="ltGray">
                <a:xfrm>
                  <a:off x="4794" y="480"/>
                  <a:ext cx="56" cy="34"/>
                </a:xfrm>
                <a:custGeom>
                  <a:avLst/>
                  <a:gdLst>
                    <a:gd name="T0" fmla="*/ 17 w 57"/>
                    <a:gd name="T1" fmla="*/ 25 h 42"/>
                    <a:gd name="T2" fmla="*/ 37 w 57"/>
                    <a:gd name="T3" fmla="*/ 13 h 42"/>
                    <a:gd name="T4" fmla="*/ 17 w 57"/>
                    <a:gd name="T5" fmla="*/ 25 h 4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7" h="42">
                      <a:moveTo>
                        <a:pt x="17" y="25"/>
                      </a:moveTo>
                      <a:cubicBezTo>
                        <a:pt x="0" y="0"/>
                        <a:pt x="21" y="9"/>
                        <a:pt x="37" y="13"/>
                      </a:cubicBezTo>
                      <a:cubicBezTo>
                        <a:pt x="57" y="42"/>
                        <a:pt x="30" y="25"/>
                        <a:pt x="17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8" name="Freeform 37"/>
                <p:cNvSpPr>
                  <a:spLocks/>
                </p:cNvSpPr>
                <p:nvPr userDrawn="1"/>
              </p:nvSpPr>
              <p:spPr bwMode="ltGray">
                <a:xfrm>
                  <a:off x="4757" y="375"/>
                  <a:ext cx="37" cy="44"/>
                </a:xfrm>
                <a:custGeom>
                  <a:avLst/>
                  <a:gdLst>
                    <a:gd name="T0" fmla="*/ 19 w 39"/>
                    <a:gd name="T1" fmla="*/ 32 h 52"/>
                    <a:gd name="T2" fmla="*/ 19 w 39"/>
                    <a:gd name="T3" fmla="*/ 0 h 52"/>
                    <a:gd name="T4" fmla="*/ 19 w 39"/>
                    <a:gd name="T5" fmla="*/ 32 h 5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9" h="52">
                      <a:moveTo>
                        <a:pt x="19" y="32"/>
                      </a:moveTo>
                      <a:cubicBezTo>
                        <a:pt x="13" y="14"/>
                        <a:pt x="0" y="13"/>
                        <a:pt x="19" y="0"/>
                      </a:cubicBezTo>
                      <a:cubicBezTo>
                        <a:pt x="23" y="5"/>
                        <a:pt x="39" y="52"/>
                        <a:pt x="19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9" name="Freeform 38"/>
                <p:cNvSpPr>
                  <a:spLocks/>
                </p:cNvSpPr>
                <p:nvPr userDrawn="1"/>
              </p:nvSpPr>
              <p:spPr bwMode="ltGray">
                <a:xfrm>
                  <a:off x="5054" y="507"/>
                  <a:ext cx="45" cy="66"/>
                </a:xfrm>
                <a:custGeom>
                  <a:avLst/>
                  <a:gdLst>
                    <a:gd name="T0" fmla="*/ 4 w 44"/>
                    <a:gd name="T1" fmla="*/ 9 h 80"/>
                    <a:gd name="T2" fmla="*/ 20 w 44"/>
                    <a:gd name="T3" fmla="*/ 33 h 80"/>
                    <a:gd name="T4" fmla="*/ 24 w 44"/>
                    <a:gd name="T5" fmla="*/ 49 h 80"/>
                    <a:gd name="T6" fmla="*/ 36 w 44"/>
                    <a:gd name="T7" fmla="*/ 53 h 80"/>
                    <a:gd name="T8" fmla="*/ 24 w 44"/>
                    <a:gd name="T9" fmla="*/ 73 h 80"/>
                    <a:gd name="T10" fmla="*/ 0 w 44"/>
                    <a:gd name="T11" fmla="*/ 21 h 80"/>
                    <a:gd name="T12" fmla="*/ 4 w 44"/>
                    <a:gd name="T13" fmla="*/ 9 h 8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44" h="80">
                      <a:moveTo>
                        <a:pt x="4" y="9"/>
                      </a:moveTo>
                      <a:cubicBezTo>
                        <a:pt x="9" y="17"/>
                        <a:pt x="18" y="24"/>
                        <a:pt x="20" y="33"/>
                      </a:cubicBezTo>
                      <a:cubicBezTo>
                        <a:pt x="21" y="38"/>
                        <a:pt x="21" y="45"/>
                        <a:pt x="24" y="49"/>
                      </a:cubicBezTo>
                      <a:cubicBezTo>
                        <a:pt x="27" y="52"/>
                        <a:pt x="32" y="52"/>
                        <a:pt x="36" y="53"/>
                      </a:cubicBezTo>
                      <a:cubicBezTo>
                        <a:pt x="41" y="68"/>
                        <a:pt x="44" y="80"/>
                        <a:pt x="24" y="73"/>
                      </a:cubicBezTo>
                      <a:cubicBezTo>
                        <a:pt x="19" y="55"/>
                        <a:pt x="11" y="37"/>
                        <a:pt x="0" y="21"/>
                      </a:cubicBezTo>
                      <a:cubicBezTo>
                        <a:pt x="4" y="4"/>
                        <a:pt x="4" y="0"/>
                        <a:pt x="4" y="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0" name="Freeform 39"/>
                <p:cNvSpPr>
                  <a:spLocks/>
                </p:cNvSpPr>
                <p:nvPr userDrawn="1"/>
              </p:nvSpPr>
              <p:spPr bwMode="ltGray">
                <a:xfrm>
                  <a:off x="4260" y="6"/>
                  <a:ext cx="480" cy="100"/>
                </a:xfrm>
                <a:custGeom>
                  <a:avLst/>
                  <a:gdLst>
                    <a:gd name="T0" fmla="*/ 220 w 323"/>
                    <a:gd name="T1" fmla="*/ 1 h 64"/>
                    <a:gd name="T2" fmla="*/ 231 w 323"/>
                    <a:gd name="T3" fmla="*/ 8 h 64"/>
                    <a:gd name="T4" fmla="*/ 235 w 323"/>
                    <a:gd name="T5" fmla="*/ 0 h 64"/>
                    <a:gd name="T6" fmla="*/ 265 w 323"/>
                    <a:gd name="T7" fmla="*/ 0 h 64"/>
                    <a:gd name="T8" fmla="*/ 287 w 323"/>
                    <a:gd name="T9" fmla="*/ 17 h 64"/>
                    <a:gd name="T10" fmla="*/ 319 w 323"/>
                    <a:gd name="T11" fmla="*/ 10 h 64"/>
                    <a:gd name="T12" fmla="*/ 314 w 323"/>
                    <a:gd name="T13" fmla="*/ 29 h 64"/>
                    <a:gd name="T14" fmla="*/ 298 w 323"/>
                    <a:gd name="T15" fmla="*/ 46 h 64"/>
                    <a:gd name="T16" fmla="*/ 295 w 323"/>
                    <a:gd name="T17" fmla="*/ 29 h 64"/>
                    <a:gd name="T18" fmla="*/ 287 w 323"/>
                    <a:gd name="T19" fmla="*/ 31 h 64"/>
                    <a:gd name="T20" fmla="*/ 279 w 323"/>
                    <a:gd name="T21" fmla="*/ 29 h 64"/>
                    <a:gd name="T22" fmla="*/ 263 w 323"/>
                    <a:gd name="T23" fmla="*/ 21 h 64"/>
                    <a:gd name="T24" fmla="*/ 228 w 323"/>
                    <a:gd name="T25" fmla="*/ 38 h 64"/>
                    <a:gd name="T26" fmla="*/ 201 w 323"/>
                    <a:gd name="T27" fmla="*/ 44 h 64"/>
                    <a:gd name="T28" fmla="*/ 212 w 323"/>
                    <a:gd name="T29" fmla="*/ 57 h 64"/>
                    <a:gd name="T30" fmla="*/ 188 w 323"/>
                    <a:gd name="T31" fmla="*/ 63 h 64"/>
                    <a:gd name="T32" fmla="*/ 169 w 323"/>
                    <a:gd name="T33" fmla="*/ 61 h 64"/>
                    <a:gd name="T34" fmla="*/ 177 w 323"/>
                    <a:gd name="T35" fmla="*/ 57 h 64"/>
                    <a:gd name="T36" fmla="*/ 171 w 323"/>
                    <a:gd name="T37" fmla="*/ 40 h 64"/>
                    <a:gd name="T38" fmla="*/ 169 w 323"/>
                    <a:gd name="T39" fmla="*/ 31 h 64"/>
                    <a:gd name="T40" fmla="*/ 158 w 323"/>
                    <a:gd name="T41" fmla="*/ 23 h 64"/>
                    <a:gd name="T42" fmla="*/ 142 w 323"/>
                    <a:gd name="T43" fmla="*/ 27 h 64"/>
                    <a:gd name="T44" fmla="*/ 134 w 323"/>
                    <a:gd name="T45" fmla="*/ 27 h 64"/>
                    <a:gd name="T46" fmla="*/ 123 w 323"/>
                    <a:gd name="T47" fmla="*/ 25 h 64"/>
                    <a:gd name="T48" fmla="*/ 83 w 323"/>
                    <a:gd name="T49" fmla="*/ 2 h 64"/>
                    <a:gd name="T50" fmla="*/ 59 w 323"/>
                    <a:gd name="T51" fmla="*/ 14 h 64"/>
                    <a:gd name="T52" fmla="*/ 1 w 323"/>
                    <a:gd name="T53" fmla="*/ 0 h 64"/>
                    <a:gd name="T54" fmla="*/ 220 w 323"/>
                    <a:gd name="T55" fmla="*/ 1 h 64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</a:gdLst>
                  <a:ahLst/>
                  <a:cxnLst>
                    <a:cxn ang="T56">
                      <a:pos x="T0" y="T1"/>
                    </a:cxn>
                    <a:cxn ang="T57">
                      <a:pos x="T2" y="T3"/>
                    </a:cxn>
                    <a:cxn ang="T58">
                      <a:pos x="T4" y="T5"/>
                    </a:cxn>
                    <a:cxn ang="T59">
                      <a:pos x="T6" y="T7"/>
                    </a:cxn>
                    <a:cxn ang="T60">
                      <a:pos x="T8" y="T9"/>
                    </a:cxn>
                    <a:cxn ang="T61">
                      <a:pos x="T10" y="T11"/>
                    </a:cxn>
                    <a:cxn ang="T62">
                      <a:pos x="T12" y="T13"/>
                    </a:cxn>
                    <a:cxn ang="T63">
                      <a:pos x="T14" y="T15"/>
                    </a:cxn>
                    <a:cxn ang="T64">
                      <a:pos x="T16" y="T17"/>
                    </a:cxn>
                    <a:cxn ang="T65">
                      <a:pos x="T18" y="T19"/>
                    </a:cxn>
                    <a:cxn ang="T66">
                      <a:pos x="T20" y="T21"/>
                    </a:cxn>
                    <a:cxn ang="T67">
                      <a:pos x="T22" y="T23"/>
                    </a:cxn>
                    <a:cxn ang="T68">
                      <a:pos x="T24" y="T25"/>
                    </a:cxn>
                    <a:cxn ang="T69">
                      <a:pos x="T26" y="T27"/>
                    </a:cxn>
                    <a:cxn ang="T70">
                      <a:pos x="T28" y="T29"/>
                    </a:cxn>
                    <a:cxn ang="T71">
                      <a:pos x="T30" y="T31"/>
                    </a:cxn>
                    <a:cxn ang="T72">
                      <a:pos x="T32" y="T33"/>
                    </a:cxn>
                    <a:cxn ang="T73">
                      <a:pos x="T34" y="T35"/>
                    </a:cxn>
                    <a:cxn ang="T74">
                      <a:pos x="T36" y="T37"/>
                    </a:cxn>
                    <a:cxn ang="T75">
                      <a:pos x="T38" y="T39"/>
                    </a:cxn>
                    <a:cxn ang="T76">
                      <a:pos x="T40" y="T41"/>
                    </a:cxn>
                    <a:cxn ang="T77">
                      <a:pos x="T42" y="T43"/>
                    </a:cxn>
                    <a:cxn ang="T78">
                      <a:pos x="T44" y="T45"/>
                    </a:cxn>
                    <a:cxn ang="T79">
                      <a:pos x="T46" y="T47"/>
                    </a:cxn>
                    <a:cxn ang="T80">
                      <a:pos x="T48" y="T49"/>
                    </a:cxn>
                    <a:cxn ang="T81">
                      <a:pos x="T50" y="T51"/>
                    </a:cxn>
                    <a:cxn ang="T82">
                      <a:pos x="T52" y="T53"/>
                    </a:cxn>
                    <a:cxn ang="T83">
                      <a:pos x="T54" y="T55"/>
                    </a:cxn>
                  </a:cxnLst>
                  <a:rect l="0" t="0" r="r" b="b"/>
                  <a:pathLst>
                    <a:path w="323" h="64">
                      <a:moveTo>
                        <a:pt x="220" y="1"/>
                      </a:moveTo>
                      <a:cubicBezTo>
                        <a:pt x="215" y="12"/>
                        <a:pt x="225" y="17"/>
                        <a:pt x="231" y="8"/>
                      </a:cubicBezTo>
                      <a:cubicBezTo>
                        <a:pt x="235" y="0"/>
                        <a:pt x="229" y="7"/>
                        <a:pt x="235" y="0"/>
                      </a:cubicBezTo>
                      <a:lnTo>
                        <a:pt x="265" y="0"/>
                      </a:lnTo>
                      <a:cubicBezTo>
                        <a:pt x="277" y="6"/>
                        <a:pt x="276" y="11"/>
                        <a:pt x="287" y="17"/>
                      </a:cubicBezTo>
                      <a:cubicBezTo>
                        <a:pt x="308" y="11"/>
                        <a:pt x="293" y="7"/>
                        <a:pt x="319" y="10"/>
                      </a:cubicBezTo>
                      <a:cubicBezTo>
                        <a:pt x="323" y="19"/>
                        <a:pt x="321" y="22"/>
                        <a:pt x="314" y="29"/>
                      </a:cubicBezTo>
                      <a:cubicBezTo>
                        <a:pt x="312" y="39"/>
                        <a:pt x="313" y="50"/>
                        <a:pt x="298" y="46"/>
                      </a:cubicBezTo>
                      <a:cubicBezTo>
                        <a:pt x="297" y="40"/>
                        <a:pt x="298" y="34"/>
                        <a:pt x="295" y="29"/>
                      </a:cubicBezTo>
                      <a:cubicBezTo>
                        <a:pt x="294" y="27"/>
                        <a:pt x="290" y="31"/>
                        <a:pt x="287" y="31"/>
                      </a:cubicBezTo>
                      <a:cubicBezTo>
                        <a:pt x="284" y="31"/>
                        <a:pt x="282" y="30"/>
                        <a:pt x="279" y="29"/>
                      </a:cubicBezTo>
                      <a:cubicBezTo>
                        <a:pt x="274" y="27"/>
                        <a:pt x="263" y="21"/>
                        <a:pt x="263" y="21"/>
                      </a:cubicBezTo>
                      <a:cubicBezTo>
                        <a:pt x="249" y="23"/>
                        <a:pt x="241" y="31"/>
                        <a:pt x="228" y="38"/>
                      </a:cubicBezTo>
                      <a:cubicBezTo>
                        <a:pt x="220" y="41"/>
                        <a:pt x="209" y="42"/>
                        <a:pt x="201" y="44"/>
                      </a:cubicBezTo>
                      <a:cubicBezTo>
                        <a:pt x="193" y="54"/>
                        <a:pt x="200" y="53"/>
                        <a:pt x="212" y="57"/>
                      </a:cubicBezTo>
                      <a:cubicBezTo>
                        <a:pt x="200" y="62"/>
                        <a:pt x="199" y="57"/>
                        <a:pt x="188" y="63"/>
                      </a:cubicBezTo>
                      <a:cubicBezTo>
                        <a:pt x="181" y="62"/>
                        <a:pt x="174" y="64"/>
                        <a:pt x="169" y="61"/>
                      </a:cubicBezTo>
                      <a:cubicBezTo>
                        <a:pt x="166" y="59"/>
                        <a:pt x="175" y="59"/>
                        <a:pt x="177" y="57"/>
                      </a:cubicBezTo>
                      <a:cubicBezTo>
                        <a:pt x="181" y="48"/>
                        <a:pt x="149" y="28"/>
                        <a:pt x="171" y="40"/>
                      </a:cubicBezTo>
                      <a:cubicBezTo>
                        <a:pt x="184" y="55"/>
                        <a:pt x="184" y="36"/>
                        <a:pt x="169" y="31"/>
                      </a:cubicBezTo>
                      <a:cubicBezTo>
                        <a:pt x="167" y="27"/>
                        <a:pt x="167" y="22"/>
                        <a:pt x="158" y="23"/>
                      </a:cubicBezTo>
                      <a:cubicBezTo>
                        <a:pt x="153" y="23"/>
                        <a:pt x="142" y="27"/>
                        <a:pt x="142" y="27"/>
                      </a:cubicBezTo>
                      <a:cubicBezTo>
                        <a:pt x="136" y="39"/>
                        <a:pt x="143" y="31"/>
                        <a:pt x="134" y="27"/>
                      </a:cubicBezTo>
                      <a:cubicBezTo>
                        <a:pt x="130" y="25"/>
                        <a:pt x="126" y="25"/>
                        <a:pt x="123" y="25"/>
                      </a:cubicBezTo>
                      <a:cubicBezTo>
                        <a:pt x="117" y="11"/>
                        <a:pt x="100" y="6"/>
                        <a:pt x="83" y="2"/>
                      </a:cubicBezTo>
                      <a:cubicBezTo>
                        <a:pt x="70" y="4"/>
                        <a:pt x="69" y="9"/>
                        <a:pt x="59" y="14"/>
                      </a:cubicBezTo>
                      <a:cubicBezTo>
                        <a:pt x="45" y="14"/>
                        <a:pt x="0" y="12"/>
                        <a:pt x="1" y="0"/>
                      </a:cubicBezTo>
                      <a:lnTo>
                        <a:pt x="220" y="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1" name="Freeform 40"/>
                <p:cNvSpPr>
                  <a:spLocks/>
                </p:cNvSpPr>
                <p:nvPr userDrawn="1"/>
              </p:nvSpPr>
              <p:spPr bwMode="ltGray">
                <a:xfrm>
                  <a:off x="3835" y="3"/>
                  <a:ext cx="446" cy="49"/>
                </a:xfrm>
                <a:custGeom>
                  <a:avLst/>
                  <a:gdLst>
                    <a:gd name="T0" fmla="*/ 105 w 300"/>
                    <a:gd name="T1" fmla="*/ 31 h 31"/>
                    <a:gd name="T2" fmla="*/ 30 w 300"/>
                    <a:gd name="T3" fmla="*/ 1 h 31"/>
                    <a:gd name="T4" fmla="*/ 285 w 300"/>
                    <a:gd name="T5" fmla="*/ 0 h 31"/>
                    <a:gd name="T6" fmla="*/ 296 w 300"/>
                    <a:gd name="T7" fmla="*/ 14 h 31"/>
                    <a:gd name="T8" fmla="*/ 264 w 300"/>
                    <a:gd name="T9" fmla="*/ 16 h 31"/>
                    <a:gd name="T10" fmla="*/ 105 w 300"/>
                    <a:gd name="T11" fmla="*/ 31 h 31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300" h="31">
                      <a:moveTo>
                        <a:pt x="105" y="31"/>
                      </a:moveTo>
                      <a:cubicBezTo>
                        <a:pt x="83" y="19"/>
                        <a:pt x="0" y="6"/>
                        <a:pt x="30" y="1"/>
                      </a:cubicBezTo>
                      <a:lnTo>
                        <a:pt x="285" y="0"/>
                      </a:lnTo>
                      <a:cubicBezTo>
                        <a:pt x="296" y="4"/>
                        <a:pt x="300" y="5"/>
                        <a:pt x="296" y="14"/>
                      </a:cubicBezTo>
                      <a:cubicBezTo>
                        <a:pt x="285" y="11"/>
                        <a:pt x="276" y="16"/>
                        <a:pt x="264" y="16"/>
                      </a:cubicBezTo>
                      <a:lnTo>
                        <a:pt x="105" y="3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2" name="Freeform 41"/>
                <p:cNvSpPr>
                  <a:spLocks/>
                </p:cNvSpPr>
                <p:nvPr userDrawn="1"/>
              </p:nvSpPr>
              <p:spPr bwMode="ltGray">
                <a:xfrm>
                  <a:off x="2853" y="74"/>
                  <a:ext cx="42" cy="25"/>
                </a:xfrm>
                <a:custGeom>
                  <a:avLst/>
                  <a:gdLst>
                    <a:gd name="T0" fmla="*/ 0 w 41"/>
                    <a:gd name="T1" fmla="*/ 25 h 29"/>
                    <a:gd name="T2" fmla="*/ 12 w 41"/>
                    <a:gd name="T3" fmla="*/ 29 h 29"/>
                    <a:gd name="T4" fmla="*/ 0 w 41"/>
                    <a:gd name="T5" fmla="*/ 25 h 29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1" h="29">
                      <a:moveTo>
                        <a:pt x="0" y="25"/>
                      </a:moveTo>
                      <a:cubicBezTo>
                        <a:pt x="10" y="11"/>
                        <a:pt x="41" y="0"/>
                        <a:pt x="12" y="29"/>
                      </a:cubicBezTo>
                      <a:cubicBezTo>
                        <a:pt x="8" y="28"/>
                        <a:pt x="0" y="25"/>
                        <a:pt x="0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3" name="Freeform 42"/>
                <p:cNvSpPr>
                  <a:spLocks/>
                </p:cNvSpPr>
                <p:nvPr userDrawn="1"/>
              </p:nvSpPr>
              <p:spPr bwMode="ltGray">
                <a:xfrm>
                  <a:off x="1704" y="3"/>
                  <a:ext cx="1022" cy="372"/>
                </a:xfrm>
                <a:custGeom>
                  <a:avLst/>
                  <a:gdLst>
                    <a:gd name="T0" fmla="*/ 73 w 436"/>
                    <a:gd name="T1" fmla="*/ 1 h 152"/>
                    <a:gd name="T2" fmla="*/ 436 w 436"/>
                    <a:gd name="T3" fmla="*/ 0 h 152"/>
                    <a:gd name="T4" fmla="*/ 416 w 436"/>
                    <a:gd name="T5" fmla="*/ 54 h 152"/>
                    <a:gd name="T6" fmla="*/ 397 w 436"/>
                    <a:gd name="T7" fmla="*/ 68 h 152"/>
                    <a:gd name="T8" fmla="*/ 392 w 436"/>
                    <a:gd name="T9" fmla="*/ 70 h 152"/>
                    <a:gd name="T10" fmla="*/ 375 w 436"/>
                    <a:gd name="T11" fmla="*/ 73 h 152"/>
                    <a:gd name="T12" fmla="*/ 361 w 436"/>
                    <a:gd name="T13" fmla="*/ 88 h 152"/>
                    <a:gd name="T14" fmla="*/ 362 w 436"/>
                    <a:gd name="T15" fmla="*/ 99 h 152"/>
                    <a:gd name="T16" fmla="*/ 364 w 436"/>
                    <a:gd name="T17" fmla="*/ 107 h 152"/>
                    <a:gd name="T18" fmla="*/ 366 w 436"/>
                    <a:gd name="T19" fmla="*/ 113 h 152"/>
                    <a:gd name="T20" fmla="*/ 362 w 436"/>
                    <a:gd name="T21" fmla="*/ 122 h 152"/>
                    <a:gd name="T22" fmla="*/ 351 w 436"/>
                    <a:gd name="T23" fmla="*/ 120 h 152"/>
                    <a:gd name="T24" fmla="*/ 342 w 436"/>
                    <a:gd name="T25" fmla="*/ 129 h 152"/>
                    <a:gd name="T26" fmla="*/ 347 w 436"/>
                    <a:gd name="T27" fmla="*/ 105 h 152"/>
                    <a:gd name="T28" fmla="*/ 338 w 436"/>
                    <a:gd name="T29" fmla="*/ 100 h 152"/>
                    <a:gd name="T30" fmla="*/ 344 w 436"/>
                    <a:gd name="T31" fmla="*/ 93 h 152"/>
                    <a:gd name="T32" fmla="*/ 342 w 436"/>
                    <a:gd name="T33" fmla="*/ 89 h 152"/>
                    <a:gd name="T34" fmla="*/ 320 w 436"/>
                    <a:gd name="T35" fmla="*/ 94 h 152"/>
                    <a:gd name="T36" fmla="*/ 317 w 436"/>
                    <a:gd name="T37" fmla="*/ 85 h 152"/>
                    <a:gd name="T38" fmla="*/ 297 w 436"/>
                    <a:gd name="T39" fmla="*/ 94 h 152"/>
                    <a:gd name="T40" fmla="*/ 320 w 436"/>
                    <a:gd name="T41" fmla="*/ 103 h 152"/>
                    <a:gd name="T42" fmla="*/ 305 w 436"/>
                    <a:gd name="T43" fmla="*/ 117 h 152"/>
                    <a:gd name="T44" fmla="*/ 311 w 436"/>
                    <a:gd name="T45" fmla="*/ 126 h 152"/>
                    <a:gd name="T46" fmla="*/ 315 w 436"/>
                    <a:gd name="T47" fmla="*/ 138 h 152"/>
                    <a:gd name="T48" fmla="*/ 309 w 436"/>
                    <a:gd name="T49" fmla="*/ 139 h 152"/>
                    <a:gd name="T50" fmla="*/ 314 w 436"/>
                    <a:gd name="T51" fmla="*/ 144 h 152"/>
                    <a:gd name="T52" fmla="*/ 307 w 436"/>
                    <a:gd name="T53" fmla="*/ 152 h 152"/>
                    <a:gd name="T54" fmla="*/ 0 w 436"/>
                    <a:gd name="T55" fmla="*/ 149 h 152"/>
                    <a:gd name="T56" fmla="*/ 73 w 436"/>
                    <a:gd name="T57" fmla="*/ 1 h 152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</a:gdLst>
                  <a:ahLst/>
                  <a:cxnLst>
                    <a:cxn ang="T58">
                      <a:pos x="T0" y="T1"/>
                    </a:cxn>
                    <a:cxn ang="T59">
                      <a:pos x="T2" y="T3"/>
                    </a:cxn>
                    <a:cxn ang="T60">
                      <a:pos x="T4" y="T5"/>
                    </a:cxn>
                    <a:cxn ang="T61">
                      <a:pos x="T6" y="T7"/>
                    </a:cxn>
                    <a:cxn ang="T62">
                      <a:pos x="T8" y="T9"/>
                    </a:cxn>
                    <a:cxn ang="T63">
                      <a:pos x="T10" y="T11"/>
                    </a:cxn>
                    <a:cxn ang="T64">
                      <a:pos x="T12" y="T13"/>
                    </a:cxn>
                    <a:cxn ang="T65">
                      <a:pos x="T14" y="T15"/>
                    </a:cxn>
                    <a:cxn ang="T66">
                      <a:pos x="T16" y="T17"/>
                    </a:cxn>
                    <a:cxn ang="T67">
                      <a:pos x="T18" y="T19"/>
                    </a:cxn>
                    <a:cxn ang="T68">
                      <a:pos x="T20" y="T21"/>
                    </a:cxn>
                    <a:cxn ang="T69">
                      <a:pos x="T22" y="T23"/>
                    </a:cxn>
                    <a:cxn ang="T70">
                      <a:pos x="T24" y="T25"/>
                    </a:cxn>
                    <a:cxn ang="T71">
                      <a:pos x="T26" y="T27"/>
                    </a:cxn>
                    <a:cxn ang="T72">
                      <a:pos x="T28" y="T29"/>
                    </a:cxn>
                    <a:cxn ang="T73">
                      <a:pos x="T30" y="T31"/>
                    </a:cxn>
                    <a:cxn ang="T74">
                      <a:pos x="T32" y="T33"/>
                    </a:cxn>
                    <a:cxn ang="T75">
                      <a:pos x="T34" y="T35"/>
                    </a:cxn>
                    <a:cxn ang="T76">
                      <a:pos x="T36" y="T37"/>
                    </a:cxn>
                    <a:cxn ang="T77">
                      <a:pos x="T38" y="T39"/>
                    </a:cxn>
                    <a:cxn ang="T78">
                      <a:pos x="T40" y="T41"/>
                    </a:cxn>
                    <a:cxn ang="T79">
                      <a:pos x="T42" y="T43"/>
                    </a:cxn>
                    <a:cxn ang="T80">
                      <a:pos x="T44" y="T45"/>
                    </a:cxn>
                    <a:cxn ang="T81">
                      <a:pos x="T46" y="T47"/>
                    </a:cxn>
                    <a:cxn ang="T82">
                      <a:pos x="T48" y="T49"/>
                    </a:cxn>
                    <a:cxn ang="T83">
                      <a:pos x="T50" y="T51"/>
                    </a:cxn>
                    <a:cxn ang="T84">
                      <a:pos x="T52" y="T53"/>
                    </a:cxn>
                    <a:cxn ang="T85">
                      <a:pos x="T54" y="T55"/>
                    </a:cxn>
                    <a:cxn ang="T86">
                      <a:pos x="T56" y="T57"/>
                    </a:cxn>
                  </a:cxnLst>
                  <a:rect l="0" t="0" r="r" b="b"/>
                  <a:pathLst>
                    <a:path w="436" h="152">
                      <a:moveTo>
                        <a:pt x="73" y="1"/>
                      </a:moveTo>
                      <a:lnTo>
                        <a:pt x="436" y="0"/>
                      </a:lnTo>
                      <a:cubicBezTo>
                        <a:pt x="430" y="15"/>
                        <a:pt x="429" y="42"/>
                        <a:pt x="416" y="54"/>
                      </a:cubicBezTo>
                      <a:cubicBezTo>
                        <a:pt x="410" y="60"/>
                        <a:pt x="405" y="63"/>
                        <a:pt x="397" y="68"/>
                      </a:cubicBezTo>
                      <a:cubicBezTo>
                        <a:pt x="396" y="69"/>
                        <a:pt x="392" y="70"/>
                        <a:pt x="392" y="70"/>
                      </a:cubicBezTo>
                      <a:cubicBezTo>
                        <a:pt x="377" y="63"/>
                        <a:pt x="385" y="68"/>
                        <a:pt x="375" y="73"/>
                      </a:cubicBezTo>
                      <a:cubicBezTo>
                        <a:pt x="371" y="82"/>
                        <a:pt x="371" y="83"/>
                        <a:pt x="361" y="88"/>
                      </a:cubicBezTo>
                      <a:cubicBezTo>
                        <a:pt x="359" y="92"/>
                        <a:pt x="364" y="93"/>
                        <a:pt x="362" y="99"/>
                      </a:cubicBezTo>
                      <a:cubicBezTo>
                        <a:pt x="363" y="102"/>
                        <a:pt x="364" y="105"/>
                        <a:pt x="364" y="107"/>
                      </a:cubicBezTo>
                      <a:cubicBezTo>
                        <a:pt x="365" y="109"/>
                        <a:pt x="366" y="111"/>
                        <a:pt x="366" y="113"/>
                      </a:cubicBezTo>
                      <a:cubicBezTo>
                        <a:pt x="365" y="115"/>
                        <a:pt x="364" y="120"/>
                        <a:pt x="362" y="122"/>
                      </a:cubicBezTo>
                      <a:cubicBezTo>
                        <a:pt x="359" y="123"/>
                        <a:pt x="354" y="119"/>
                        <a:pt x="351" y="120"/>
                      </a:cubicBezTo>
                      <a:cubicBezTo>
                        <a:pt x="347" y="129"/>
                        <a:pt x="352" y="127"/>
                        <a:pt x="342" y="129"/>
                      </a:cubicBezTo>
                      <a:cubicBezTo>
                        <a:pt x="340" y="123"/>
                        <a:pt x="345" y="111"/>
                        <a:pt x="347" y="105"/>
                      </a:cubicBezTo>
                      <a:cubicBezTo>
                        <a:pt x="347" y="100"/>
                        <a:pt x="338" y="102"/>
                        <a:pt x="338" y="100"/>
                      </a:cubicBezTo>
                      <a:cubicBezTo>
                        <a:pt x="338" y="98"/>
                        <a:pt x="344" y="95"/>
                        <a:pt x="344" y="93"/>
                      </a:cubicBezTo>
                      <a:cubicBezTo>
                        <a:pt x="344" y="92"/>
                        <a:pt x="344" y="89"/>
                        <a:pt x="342" y="89"/>
                      </a:cubicBezTo>
                      <a:cubicBezTo>
                        <a:pt x="339" y="89"/>
                        <a:pt x="324" y="94"/>
                        <a:pt x="320" y="94"/>
                      </a:cubicBezTo>
                      <a:cubicBezTo>
                        <a:pt x="317" y="86"/>
                        <a:pt x="328" y="88"/>
                        <a:pt x="317" y="85"/>
                      </a:cubicBezTo>
                      <a:cubicBezTo>
                        <a:pt x="311" y="91"/>
                        <a:pt x="306" y="93"/>
                        <a:pt x="297" y="94"/>
                      </a:cubicBezTo>
                      <a:cubicBezTo>
                        <a:pt x="300" y="104"/>
                        <a:pt x="307" y="101"/>
                        <a:pt x="320" y="103"/>
                      </a:cubicBezTo>
                      <a:cubicBezTo>
                        <a:pt x="318" y="109"/>
                        <a:pt x="311" y="111"/>
                        <a:pt x="305" y="117"/>
                      </a:cubicBezTo>
                      <a:lnTo>
                        <a:pt x="311" y="126"/>
                      </a:lnTo>
                      <a:lnTo>
                        <a:pt x="315" y="138"/>
                      </a:lnTo>
                      <a:lnTo>
                        <a:pt x="309" y="139"/>
                      </a:lnTo>
                      <a:lnTo>
                        <a:pt x="314" y="144"/>
                      </a:lnTo>
                      <a:lnTo>
                        <a:pt x="307" y="152"/>
                      </a:lnTo>
                      <a:lnTo>
                        <a:pt x="0" y="149"/>
                      </a:lnTo>
                      <a:lnTo>
                        <a:pt x="73" y="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4" name="Freeform 43"/>
                <p:cNvSpPr>
                  <a:spLocks/>
                </p:cNvSpPr>
                <p:nvPr userDrawn="1"/>
              </p:nvSpPr>
              <p:spPr bwMode="ltGray">
                <a:xfrm>
                  <a:off x="2729" y="-9"/>
                  <a:ext cx="47" cy="134"/>
                </a:xfrm>
                <a:custGeom>
                  <a:avLst/>
                  <a:gdLst>
                    <a:gd name="T0" fmla="*/ 5 w 47"/>
                    <a:gd name="T1" fmla="*/ 156 h 165"/>
                    <a:gd name="T2" fmla="*/ 15 w 47"/>
                    <a:gd name="T3" fmla="*/ 108 h 165"/>
                    <a:gd name="T4" fmla="*/ 17 w 47"/>
                    <a:gd name="T5" fmla="*/ 68 h 165"/>
                    <a:gd name="T6" fmla="*/ 11 w 47"/>
                    <a:gd name="T7" fmla="*/ 40 h 165"/>
                    <a:gd name="T8" fmla="*/ 17 w 47"/>
                    <a:gd name="T9" fmla="*/ 12 h 165"/>
                    <a:gd name="T10" fmla="*/ 21 w 47"/>
                    <a:gd name="T11" fmla="*/ 0 h 165"/>
                    <a:gd name="T12" fmla="*/ 31 w 47"/>
                    <a:gd name="T13" fmla="*/ 30 h 165"/>
                    <a:gd name="T14" fmla="*/ 47 w 47"/>
                    <a:gd name="T15" fmla="*/ 98 h 165"/>
                    <a:gd name="T16" fmla="*/ 31 w 47"/>
                    <a:gd name="T17" fmla="*/ 108 h 165"/>
                    <a:gd name="T18" fmla="*/ 23 w 47"/>
                    <a:gd name="T19" fmla="*/ 126 h 165"/>
                    <a:gd name="T20" fmla="*/ 21 w 47"/>
                    <a:gd name="T21" fmla="*/ 132 h 165"/>
                    <a:gd name="T22" fmla="*/ 27 w 47"/>
                    <a:gd name="T23" fmla="*/ 134 h 165"/>
                    <a:gd name="T24" fmla="*/ 31 w 47"/>
                    <a:gd name="T25" fmla="*/ 146 h 165"/>
                    <a:gd name="T26" fmla="*/ 13 w 47"/>
                    <a:gd name="T27" fmla="*/ 148 h 165"/>
                    <a:gd name="T28" fmla="*/ 7 w 47"/>
                    <a:gd name="T29" fmla="*/ 160 h 165"/>
                    <a:gd name="T30" fmla="*/ 3 w 47"/>
                    <a:gd name="T31" fmla="*/ 154 h 165"/>
                    <a:gd name="T32" fmla="*/ 5 w 47"/>
                    <a:gd name="T33" fmla="*/ 156 h 165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47" h="165">
                      <a:moveTo>
                        <a:pt x="5" y="156"/>
                      </a:moveTo>
                      <a:cubicBezTo>
                        <a:pt x="0" y="141"/>
                        <a:pt x="1" y="118"/>
                        <a:pt x="15" y="108"/>
                      </a:cubicBezTo>
                      <a:cubicBezTo>
                        <a:pt x="16" y="95"/>
                        <a:pt x="17" y="81"/>
                        <a:pt x="17" y="68"/>
                      </a:cubicBezTo>
                      <a:cubicBezTo>
                        <a:pt x="17" y="58"/>
                        <a:pt x="11" y="40"/>
                        <a:pt x="11" y="40"/>
                      </a:cubicBezTo>
                      <a:cubicBezTo>
                        <a:pt x="14" y="20"/>
                        <a:pt x="11" y="29"/>
                        <a:pt x="17" y="12"/>
                      </a:cubicBezTo>
                      <a:cubicBezTo>
                        <a:pt x="18" y="8"/>
                        <a:pt x="21" y="0"/>
                        <a:pt x="21" y="0"/>
                      </a:cubicBezTo>
                      <a:cubicBezTo>
                        <a:pt x="38" y="6"/>
                        <a:pt x="33" y="7"/>
                        <a:pt x="31" y="30"/>
                      </a:cubicBezTo>
                      <a:cubicBezTo>
                        <a:pt x="38" y="52"/>
                        <a:pt x="40" y="76"/>
                        <a:pt x="47" y="98"/>
                      </a:cubicBezTo>
                      <a:cubicBezTo>
                        <a:pt x="44" y="116"/>
                        <a:pt x="45" y="113"/>
                        <a:pt x="31" y="108"/>
                      </a:cubicBezTo>
                      <a:cubicBezTo>
                        <a:pt x="25" y="118"/>
                        <a:pt x="28" y="112"/>
                        <a:pt x="23" y="126"/>
                      </a:cubicBezTo>
                      <a:cubicBezTo>
                        <a:pt x="22" y="128"/>
                        <a:pt x="21" y="132"/>
                        <a:pt x="21" y="132"/>
                      </a:cubicBezTo>
                      <a:cubicBezTo>
                        <a:pt x="23" y="133"/>
                        <a:pt x="26" y="132"/>
                        <a:pt x="27" y="134"/>
                      </a:cubicBezTo>
                      <a:cubicBezTo>
                        <a:pt x="29" y="137"/>
                        <a:pt x="31" y="146"/>
                        <a:pt x="31" y="146"/>
                      </a:cubicBezTo>
                      <a:cubicBezTo>
                        <a:pt x="27" y="165"/>
                        <a:pt x="23" y="155"/>
                        <a:pt x="13" y="148"/>
                      </a:cubicBezTo>
                      <a:cubicBezTo>
                        <a:pt x="11" y="152"/>
                        <a:pt x="11" y="160"/>
                        <a:pt x="7" y="160"/>
                      </a:cubicBezTo>
                      <a:cubicBezTo>
                        <a:pt x="5" y="160"/>
                        <a:pt x="4" y="156"/>
                        <a:pt x="3" y="154"/>
                      </a:cubicBezTo>
                      <a:cubicBezTo>
                        <a:pt x="3" y="153"/>
                        <a:pt x="4" y="155"/>
                        <a:pt x="5" y="15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5" name="Freeform 44"/>
                <p:cNvSpPr>
                  <a:spLocks/>
                </p:cNvSpPr>
                <p:nvPr userDrawn="1"/>
              </p:nvSpPr>
              <p:spPr bwMode="ltGray">
                <a:xfrm>
                  <a:off x="2701" y="103"/>
                  <a:ext cx="138" cy="84"/>
                </a:xfrm>
                <a:custGeom>
                  <a:avLst/>
                  <a:gdLst>
                    <a:gd name="T0" fmla="*/ 26 w 138"/>
                    <a:gd name="T1" fmla="*/ 61 h 103"/>
                    <a:gd name="T2" fmla="*/ 30 w 138"/>
                    <a:gd name="T3" fmla="*/ 43 h 103"/>
                    <a:gd name="T4" fmla="*/ 50 w 138"/>
                    <a:gd name="T5" fmla="*/ 33 h 103"/>
                    <a:gd name="T6" fmla="*/ 54 w 138"/>
                    <a:gd name="T7" fmla="*/ 45 h 103"/>
                    <a:gd name="T8" fmla="*/ 66 w 138"/>
                    <a:gd name="T9" fmla="*/ 49 h 103"/>
                    <a:gd name="T10" fmla="*/ 80 w 138"/>
                    <a:gd name="T11" fmla="*/ 55 h 103"/>
                    <a:gd name="T12" fmla="*/ 116 w 138"/>
                    <a:gd name="T13" fmla="*/ 33 h 103"/>
                    <a:gd name="T14" fmla="*/ 130 w 138"/>
                    <a:gd name="T15" fmla="*/ 17 h 103"/>
                    <a:gd name="T16" fmla="*/ 138 w 138"/>
                    <a:gd name="T17" fmla="*/ 11 h 103"/>
                    <a:gd name="T18" fmla="*/ 106 w 138"/>
                    <a:gd name="T19" fmla="*/ 49 h 103"/>
                    <a:gd name="T20" fmla="*/ 84 w 138"/>
                    <a:gd name="T21" fmla="*/ 67 h 103"/>
                    <a:gd name="T22" fmla="*/ 66 w 138"/>
                    <a:gd name="T23" fmla="*/ 81 h 103"/>
                    <a:gd name="T24" fmla="*/ 48 w 138"/>
                    <a:gd name="T25" fmla="*/ 103 h 103"/>
                    <a:gd name="T26" fmla="*/ 26 w 138"/>
                    <a:gd name="T27" fmla="*/ 89 h 103"/>
                    <a:gd name="T28" fmla="*/ 20 w 138"/>
                    <a:gd name="T29" fmla="*/ 87 h 103"/>
                    <a:gd name="T30" fmla="*/ 22 w 138"/>
                    <a:gd name="T31" fmla="*/ 97 h 103"/>
                    <a:gd name="T32" fmla="*/ 0 w 138"/>
                    <a:gd name="T33" fmla="*/ 97 h 103"/>
                    <a:gd name="T34" fmla="*/ 10 w 138"/>
                    <a:gd name="T35" fmla="*/ 79 h 103"/>
                    <a:gd name="T36" fmla="*/ 26 w 138"/>
                    <a:gd name="T37" fmla="*/ 61 h 103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0" t="0" r="r" b="b"/>
                  <a:pathLst>
                    <a:path w="138" h="103">
                      <a:moveTo>
                        <a:pt x="26" y="61"/>
                      </a:moveTo>
                      <a:cubicBezTo>
                        <a:pt x="29" y="53"/>
                        <a:pt x="33" y="51"/>
                        <a:pt x="30" y="43"/>
                      </a:cubicBezTo>
                      <a:cubicBezTo>
                        <a:pt x="33" y="27"/>
                        <a:pt x="37" y="24"/>
                        <a:pt x="50" y="33"/>
                      </a:cubicBezTo>
                      <a:cubicBezTo>
                        <a:pt x="51" y="37"/>
                        <a:pt x="53" y="41"/>
                        <a:pt x="54" y="45"/>
                      </a:cubicBezTo>
                      <a:cubicBezTo>
                        <a:pt x="55" y="49"/>
                        <a:pt x="66" y="49"/>
                        <a:pt x="66" y="49"/>
                      </a:cubicBezTo>
                      <a:cubicBezTo>
                        <a:pt x="75" y="43"/>
                        <a:pt x="77" y="45"/>
                        <a:pt x="80" y="55"/>
                      </a:cubicBezTo>
                      <a:cubicBezTo>
                        <a:pt x="92" y="47"/>
                        <a:pt x="101" y="37"/>
                        <a:pt x="116" y="33"/>
                      </a:cubicBezTo>
                      <a:cubicBezTo>
                        <a:pt x="125" y="19"/>
                        <a:pt x="120" y="24"/>
                        <a:pt x="130" y="17"/>
                      </a:cubicBezTo>
                      <a:cubicBezTo>
                        <a:pt x="134" y="11"/>
                        <a:pt x="134" y="0"/>
                        <a:pt x="138" y="11"/>
                      </a:cubicBezTo>
                      <a:cubicBezTo>
                        <a:pt x="135" y="31"/>
                        <a:pt x="126" y="45"/>
                        <a:pt x="106" y="49"/>
                      </a:cubicBezTo>
                      <a:cubicBezTo>
                        <a:pt x="97" y="55"/>
                        <a:pt x="93" y="61"/>
                        <a:pt x="84" y="67"/>
                      </a:cubicBezTo>
                      <a:cubicBezTo>
                        <a:pt x="80" y="79"/>
                        <a:pt x="79" y="79"/>
                        <a:pt x="66" y="81"/>
                      </a:cubicBezTo>
                      <a:cubicBezTo>
                        <a:pt x="60" y="90"/>
                        <a:pt x="57" y="97"/>
                        <a:pt x="48" y="103"/>
                      </a:cubicBezTo>
                      <a:cubicBezTo>
                        <a:pt x="42" y="94"/>
                        <a:pt x="37" y="93"/>
                        <a:pt x="26" y="89"/>
                      </a:cubicBezTo>
                      <a:cubicBezTo>
                        <a:pt x="24" y="88"/>
                        <a:pt x="20" y="87"/>
                        <a:pt x="20" y="87"/>
                      </a:cubicBezTo>
                      <a:cubicBezTo>
                        <a:pt x="10" y="90"/>
                        <a:pt x="14" y="94"/>
                        <a:pt x="22" y="97"/>
                      </a:cubicBezTo>
                      <a:cubicBezTo>
                        <a:pt x="14" y="103"/>
                        <a:pt x="9" y="100"/>
                        <a:pt x="0" y="97"/>
                      </a:cubicBezTo>
                      <a:cubicBezTo>
                        <a:pt x="2" y="87"/>
                        <a:pt x="1" y="82"/>
                        <a:pt x="10" y="79"/>
                      </a:cubicBezTo>
                      <a:cubicBezTo>
                        <a:pt x="15" y="63"/>
                        <a:pt x="14" y="69"/>
                        <a:pt x="26" y="6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6" name="Freeform 45"/>
                <p:cNvSpPr>
                  <a:spLocks/>
                </p:cNvSpPr>
                <p:nvPr userDrawn="1"/>
              </p:nvSpPr>
              <p:spPr bwMode="ltGray">
                <a:xfrm>
                  <a:off x="2553" y="182"/>
                  <a:ext cx="187" cy="176"/>
                </a:xfrm>
                <a:custGeom>
                  <a:avLst/>
                  <a:gdLst>
                    <a:gd name="T0" fmla="*/ 158 w 188"/>
                    <a:gd name="T1" fmla="*/ 24 h 214"/>
                    <a:gd name="T2" fmla="*/ 160 w 188"/>
                    <a:gd name="T3" fmla="*/ 6 h 214"/>
                    <a:gd name="T4" fmla="*/ 170 w 188"/>
                    <a:gd name="T5" fmla="*/ 0 h 214"/>
                    <a:gd name="T6" fmla="*/ 182 w 188"/>
                    <a:gd name="T7" fmla="*/ 24 h 214"/>
                    <a:gd name="T8" fmla="*/ 188 w 188"/>
                    <a:gd name="T9" fmla="*/ 42 h 214"/>
                    <a:gd name="T10" fmla="*/ 178 w 188"/>
                    <a:gd name="T11" fmla="*/ 58 h 214"/>
                    <a:gd name="T12" fmla="*/ 170 w 188"/>
                    <a:gd name="T13" fmla="*/ 76 h 214"/>
                    <a:gd name="T14" fmla="*/ 162 w 188"/>
                    <a:gd name="T15" fmla="*/ 126 h 214"/>
                    <a:gd name="T16" fmla="*/ 144 w 188"/>
                    <a:gd name="T17" fmla="*/ 136 h 214"/>
                    <a:gd name="T18" fmla="*/ 120 w 188"/>
                    <a:gd name="T19" fmla="*/ 138 h 214"/>
                    <a:gd name="T20" fmla="*/ 112 w 188"/>
                    <a:gd name="T21" fmla="*/ 124 h 214"/>
                    <a:gd name="T22" fmla="*/ 102 w 188"/>
                    <a:gd name="T23" fmla="*/ 146 h 214"/>
                    <a:gd name="T24" fmla="*/ 90 w 188"/>
                    <a:gd name="T25" fmla="*/ 150 h 214"/>
                    <a:gd name="T26" fmla="*/ 80 w 188"/>
                    <a:gd name="T27" fmla="*/ 132 h 214"/>
                    <a:gd name="T28" fmla="*/ 58 w 188"/>
                    <a:gd name="T29" fmla="*/ 144 h 214"/>
                    <a:gd name="T30" fmla="*/ 76 w 188"/>
                    <a:gd name="T31" fmla="*/ 142 h 214"/>
                    <a:gd name="T32" fmla="*/ 78 w 188"/>
                    <a:gd name="T33" fmla="*/ 160 h 214"/>
                    <a:gd name="T34" fmla="*/ 58 w 188"/>
                    <a:gd name="T35" fmla="*/ 166 h 214"/>
                    <a:gd name="T36" fmla="*/ 34 w 188"/>
                    <a:gd name="T37" fmla="*/ 166 h 214"/>
                    <a:gd name="T38" fmla="*/ 36 w 188"/>
                    <a:gd name="T39" fmla="*/ 154 h 214"/>
                    <a:gd name="T40" fmla="*/ 46 w 188"/>
                    <a:gd name="T41" fmla="*/ 144 h 214"/>
                    <a:gd name="T42" fmla="*/ 34 w 188"/>
                    <a:gd name="T43" fmla="*/ 148 h 214"/>
                    <a:gd name="T44" fmla="*/ 26 w 188"/>
                    <a:gd name="T45" fmla="*/ 166 h 214"/>
                    <a:gd name="T46" fmla="*/ 30 w 188"/>
                    <a:gd name="T47" fmla="*/ 190 h 214"/>
                    <a:gd name="T48" fmla="*/ 14 w 188"/>
                    <a:gd name="T49" fmla="*/ 200 h 214"/>
                    <a:gd name="T50" fmla="*/ 0 w 188"/>
                    <a:gd name="T51" fmla="*/ 214 h 214"/>
                    <a:gd name="T52" fmla="*/ 8 w 188"/>
                    <a:gd name="T53" fmla="*/ 188 h 214"/>
                    <a:gd name="T54" fmla="*/ 0 w 188"/>
                    <a:gd name="T55" fmla="*/ 164 h 214"/>
                    <a:gd name="T56" fmla="*/ 14 w 188"/>
                    <a:gd name="T57" fmla="*/ 152 h 214"/>
                    <a:gd name="T58" fmla="*/ 32 w 188"/>
                    <a:gd name="T59" fmla="*/ 134 h 214"/>
                    <a:gd name="T60" fmla="*/ 44 w 188"/>
                    <a:gd name="T61" fmla="*/ 118 h 214"/>
                    <a:gd name="T62" fmla="*/ 72 w 188"/>
                    <a:gd name="T63" fmla="*/ 116 h 214"/>
                    <a:gd name="T64" fmla="*/ 84 w 188"/>
                    <a:gd name="T65" fmla="*/ 112 h 214"/>
                    <a:gd name="T66" fmla="*/ 114 w 188"/>
                    <a:gd name="T67" fmla="*/ 78 h 214"/>
                    <a:gd name="T68" fmla="*/ 120 w 188"/>
                    <a:gd name="T69" fmla="*/ 92 h 214"/>
                    <a:gd name="T70" fmla="*/ 132 w 188"/>
                    <a:gd name="T71" fmla="*/ 76 h 214"/>
                    <a:gd name="T72" fmla="*/ 150 w 188"/>
                    <a:gd name="T73" fmla="*/ 54 h 214"/>
                    <a:gd name="T74" fmla="*/ 154 w 188"/>
                    <a:gd name="T75" fmla="*/ 42 h 214"/>
                    <a:gd name="T76" fmla="*/ 148 w 188"/>
                    <a:gd name="T77" fmla="*/ 38 h 214"/>
                    <a:gd name="T78" fmla="*/ 152 w 188"/>
                    <a:gd name="T79" fmla="*/ 32 h 214"/>
                    <a:gd name="T80" fmla="*/ 158 w 188"/>
                    <a:gd name="T81" fmla="*/ 24 h 214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0" t="0" r="r" b="b"/>
                  <a:pathLst>
                    <a:path w="188" h="214">
                      <a:moveTo>
                        <a:pt x="158" y="24"/>
                      </a:moveTo>
                      <a:cubicBezTo>
                        <a:pt x="156" y="18"/>
                        <a:pt x="160" y="6"/>
                        <a:pt x="160" y="6"/>
                      </a:cubicBezTo>
                      <a:cubicBezTo>
                        <a:pt x="167" y="16"/>
                        <a:pt x="167" y="8"/>
                        <a:pt x="170" y="0"/>
                      </a:cubicBezTo>
                      <a:cubicBezTo>
                        <a:pt x="181" y="4"/>
                        <a:pt x="179" y="14"/>
                        <a:pt x="182" y="24"/>
                      </a:cubicBezTo>
                      <a:cubicBezTo>
                        <a:pt x="184" y="30"/>
                        <a:pt x="188" y="42"/>
                        <a:pt x="188" y="42"/>
                      </a:cubicBezTo>
                      <a:cubicBezTo>
                        <a:pt x="183" y="56"/>
                        <a:pt x="188" y="52"/>
                        <a:pt x="178" y="58"/>
                      </a:cubicBezTo>
                      <a:cubicBezTo>
                        <a:pt x="174" y="63"/>
                        <a:pt x="170" y="76"/>
                        <a:pt x="170" y="76"/>
                      </a:cubicBezTo>
                      <a:cubicBezTo>
                        <a:pt x="169" y="100"/>
                        <a:pt x="173" y="110"/>
                        <a:pt x="162" y="126"/>
                      </a:cubicBezTo>
                      <a:cubicBezTo>
                        <a:pt x="150" y="118"/>
                        <a:pt x="155" y="132"/>
                        <a:pt x="144" y="136"/>
                      </a:cubicBezTo>
                      <a:cubicBezTo>
                        <a:pt x="135" y="134"/>
                        <a:pt x="129" y="135"/>
                        <a:pt x="120" y="138"/>
                      </a:cubicBezTo>
                      <a:cubicBezTo>
                        <a:pt x="114" y="129"/>
                        <a:pt x="122" y="127"/>
                        <a:pt x="112" y="124"/>
                      </a:cubicBezTo>
                      <a:cubicBezTo>
                        <a:pt x="108" y="130"/>
                        <a:pt x="108" y="142"/>
                        <a:pt x="102" y="146"/>
                      </a:cubicBezTo>
                      <a:cubicBezTo>
                        <a:pt x="98" y="148"/>
                        <a:pt x="90" y="150"/>
                        <a:pt x="90" y="150"/>
                      </a:cubicBezTo>
                      <a:cubicBezTo>
                        <a:pt x="87" y="141"/>
                        <a:pt x="89" y="135"/>
                        <a:pt x="80" y="132"/>
                      </a:cubicBezTo>
                      <a:cubicBezTo>
                        <a:pt x="68" y="134"/>
                        <a:pt x="65" y="134"/>
                        <a:pt x="58" y="144"/>
                      </a:cubicBezTo>
                      <a:cubicBezTo>
                        <a:pt x="66" y="150"/>
                        <a:pt x="68" y="147"/>
                        <a:pt x="76" y="142"/>
                      </a:cubicBezTo>
                      <a:cubicBezTo>
                        <a:pt x="81" y="146"/>
                        <a:pt x="85" y="155"/>
                        <a:pt x="78" y="160"/>
                      </a:cubicBezTo>
                      <a:cubicBezTo>
                        <a:pt x="75" y="162"/>
                        <a:pt x="62" y="165"/>
                        <a:pt x="58" y="166"/>
                      </a:cubicBezTo>
                      <a:cubicBezTo>
                        <a:pt x="48" y="173"/>
                        <a:pt x="44" y="173"/>
                        <a:pt x="34" y="166"/>
                      </a:cubicBezTo>
                      <a:cubicBezTo>
                        <a:pt x="35" y="162"/>
                        <a:pt x="34" y="158"/>
                        <a:pt x="36" y="154"/>
                      </a:cubicBezTo>
                      <a:cubicBezTo>
                        <a:pt x="38" y="150"/>
                        <a:pt x="55" y="146"/>
                        <a:pt x="46" y="144"/>
                      </a:cubicBezTo>
                      <a:cubicBezTo>
                        <a:pt x="42" y="143"/>
                        <a:pt x="34" y="148"/>
                        <a:pt x="34" y="148"/>
                      </a:cubicBezTo>
                      <a:cubicBezTo>
                        <a:pt x="32" y="155"/>
                        <a:pt x="28" y="159"/>
                        <a:pt x="26" y="166"/>
                      </a:cubicBezTo>
                      <a:cubicBezTo>
                        <a:pt x="36" y="182"/>
                        <a:pt x="36" y="173"/>
                        <a:pt x="30" y="190"/>
                      </a:cubicBezTo>
                      <a:cubicBezTo>
                        <a:pt x="28" y="196"/>
                        <a:pt x="14" y="200"/>
                        <a:pt x="14" y="200"/>
                      </a:cubicBezTo>
                      <a:cubicBezTo>
                        <a:pt x="5" y="214"/>
                        <a:pt x="11" y="210"/>
                        <a:pt x="0" y="214"/>
                      </a:cubicBezTo>
                      <a:cubicBezTo>
                        <a:pt x="2" y="202"/>
                        <a:pt x="5" y="198"/>
                        <a:pt x="8" y="188"/>
                      </a:cubicBezTo>
                      <a:cubicBezTo>
                        <a:pt x="6" y="178"/>
                        <a:pt x="3" y="173"/>
                        <a:pt x="0" y="164"/>
                      </a:cubicBezTo>
                      <a:cubicBezTo>
                        <a:pt x="3" y="156"/>
                        <a:pt x="7" y="157"/>
                        <a:pt x="14" y="152"/>
                      </a:cubicBezTo>
                      <a:cubicBezTo>
                        <a:pt x="18" y="141"/>
                        <a:pt x="23" y="140"/>
                        <a:pt x="32" y="134"/>
                      </a:cubicBezTo>
                      <a:cubicBezTo>
                        <a:pt x="37" y="127"/>
                        <a:pt x="37" y="123"/>
                        <a:pt x="44" y="118"/>
                      </a:cubicBezTo>
                      <a:cubicBezTo>
                        <a:pt x="64" y="121"/>
                        <a:pt x="55" y="122"/>
                        <a:pt x="72" y="116"/>
                      </a:cubicBezTo>
                      <a:cubicBezTo>
                        <a:pt x="76" y="115"/>
                        <a:pt x="84" y="112"/>
                        <a:pt x="84" y="112"/>
                      </a:cubicBezTo>
                      <a:cubicBezTo>
                        <a:pt x="105" y="119"/>
                        <a:pt x="97" y="84"/>
                        <a:pt x="114" y="78"/>
                      </a:cubicBezTo>
                      <a:cubicBezTo>
                        <a:pt x="117" y="87"/>
                        <a:pt x="110" y="89"/>
                        <a:pt x="120" y="92"/>
                      </a:cubicBezTo>
                      <a:cubicBezTo>
                        <a:pt x="125" y="85"/>
                        <a:pt x="125" y="81"/>
                        <a:pt x="132" y="76"/>
                      </a:cubicBezTo>
                      <a:cubicBezTo>
                        <a:pt x="138" y="68"/>
                        <a:pt x="146" y="65"/>
                        <a:pt x="150" y="54"/>
                      </a:cubicBezTo>
                      <a:cubicBezTo>
                        <a:pt x="151" y="50"/>
                        <a:pt x="154" y="42"/>
                        <a:pt x="154" y="42"/>
                      </a:cubicBezTo>
                      <a:cubicBezTo>
                        <a:pt x="152" y="41"/>
                        <a:pt x="148" y="40"/>
                        <a:pt x="148" y="38"/>
                      </a:cubicBezTo>
                      <a:cubicBezTo>
                        <a:pt x="148" y="36"/>
                        <a:pt x="161" y="33"/>
                        <a:pt x="152" y="32"/>
                      </a:cubicBezTo>
                      <a:lnTo>
                        <a:pt x="158" y="24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7" name="Freeform 46"/>
                <p:cNvSpPr>
                  <a:spLocks/>
                </p:cNvSpPr>
                <p:nvPr userDrawn="1"/>
              </p:nvSpPr>
              <p:spPr bwMode="ltGray">
                <a:xfrm>
                  <a:off x="2677" y="233"/>
                  <a:ext cx="14" cy="10"/>
                </a:xfrm>
                <a:custGeom>
                  <a:avLst/>
                  <a:gdLst>
                    <a:gd name="T0" fmla="*/ 0 w 13"/>
                    <a:gd name="T1" fmla="*/ 9 h 13"/>
                    <a:gd name="T2" fmla="*/ 4 w 13"/>
                    <a:gd name="T3" fmla="*/ 13 h 13"/>
                    <a:gd name="T4" fmla="*/ 0 w 13"/>
                    <a:gd name="T5" fmla="*/ 9 h 13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3" h="13">
                      <a:moveTo>
                        <a:pt x="0" y="9"/>
                      </a:moveTo>
                      <a:cubicBezTo>
                        <a:pt x="6" y="0"/>
                        <a:pt x="13" y="7"/>
                        <a:pt x="4" y="13"/>
                      </a:cubicBezTo>
                      <a:cubicBezTo>
                        <a:pt x="0" y="6"/>
                        <a:pt x="0" y="5"/>
                        <a:pt x="0" y="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8" name="Freeform 47"/>
                <p:cNvSpPr>
                  <a:spLocks/>
                </p:cNvSpPr>
                <p:nvPr userDrawn="1"/>
              </p:nvSpPr>
              <p:spPr bwMode="ltGray">
                <a:xfrm>
                  <a:off x="1627" y="353"/>
                  <a:ext cx="813" cy="462"/>
                </a:xfrm>
                <a:custGeom>
                  <a:avLst/>
                  <a:gdLst>
                    <a:gd name="T0" fmla="*/ 812 w 812"/>
                    <a:gd name="T1" fmla="*/ 26 h 564"/>
                    <a:gd name="T2" fmla="*/ 778 w 812"/>
                    <a:gd name="T3" fmla="*/ 78 h 564"/>
                    <a:gd name="T4" fmla="*/ 748 w 812"/>
                    <a:gd name="T5" fmla="*/ 122 h 564"/>
                    <a:gd name="T6" fmla="*/ 722 w 812"/>
                    <a:gd name="T7" fmla="*/ 142 h 564"/>
                    <a:gd name="T8" fmla="*/ 634 w 812"/>
                    <a:gd name="T9" fmla="*/ 180 h 564"/>
                    <a:gd name="T10" fmla="*/ 632 w 812"/>
                    <a:gd name="T11" fmla="*/ 210 h 564"/>
                    <a:gd name="T12" fmla="*/ 604 w 812"/>
                    <a:gd name="T13" fmla="*/ 230 h 564"/>
                    <a:gd name="T14" fmla="*/ 620 w 812"/>
                    <a:gd name="T15" fmla="*/ 178 h 564"/>
                    <a:gd name="T16" fmla="*/ 576 w 812"/>
                    <a:gd name="T17" fmla="*/ 188 h 564"/>
                    <a:gd name="T18" fmla="*/ 556 w 812"/>
                    <a:gd name="T19" fmla="*/ 218 h 564"/>
                    <a:gd name="T20" fmla="*/ 596 w 812"/>
                    <a:gd name="T21" fmla="*/ 280 h 564"/>
                    <a:gd name="T22" fmla="*/ 594 w 812"/>
                    <a:gd name="T23" fmla="*/ 368 h 564"/>
                    <a:gd name="T24" fmla="*/ 542 w 812"/>
                    <a:gd name="T25" fmla="*/ 406 h 564"/>
                    <a:gd name="T26" fmla="*/ 522 w 812"/>
                    <a:gd name="T27" fmla="*/ 386 h 564"/>
                    <a:gd name="T28" fmla="*/ 482 w 812"/>
                    <a:gd name="T29" fmla="*/ 348 h 564"/>
                    <a:gd name="T30" fmla="*/ 462 w 812"/>
                    <a:gd name="T31" fmla="*/ 348 h 564"/>
                    <a:gd name="T32" fmla="*/ 450 w 812"/>
                    <a:gd name="T33" fmla="*/ 394 h 564"/>
                    <a:gd name="T34" fmla="*/ 500 w 812"/>
                    <a:gd name="T35" fmla="*/ 464 h 564"/>
                    <a:gd name="T36" fmla="*/ 510 w 812"/>
                    <a:gd name="T37" fmla="*/ 524 h 564"/>
                    <a:gd name="T38" fmla="*/ 526 w 812"/>
                    <a:gd name="T39" fmla="*/ 560 h 564"/>
                    <a:gd name="T40" fmla="*/ 492 w 812"/>
                    <a:gd name="T41" fmla="*/ 544 h 564"/>
                    <a:gd name="T42" fmla="*/ 470 w 812"/>
                    <a:gd name="T43" fmla="*/ 518 h 564"/>
                    <a:gd name="T44" fmla="*/ 422 w 812"/>
                    <a:gd name="T45" fmla="*/ 424 h 564"/>
                    <a:gd name="T46" fmla="*/ 426 w 812"/>
                    <a:gd name="T47" fmla="*/ 310 h 564"/>
                    <a:gd name="T48" fmla="*/ 422 w 812"/>
                    <a:gd name="T49" fmla="*/ 268 h 564"/>
                    <a:gd name="T50" fmla="*/ 412 w 812"/>
                    <a:gd name="T51" fmla="*/ 276 h 564"/>
                    <a:gd name="T52" fmla="*/ 386 w 812"/>
                    <a:gd name="T53" fmla="*/ 266 h 564"/>
                    <a:gd name="T54" fmla="*/ 360 w 812"/>
                    <a:gd name="T55" fmla="*/ 170 h 564"/>
                    <a:gd name="T56" fmla="*/ 330 w 812"/>
                    <a:gd name="T57" fmla="*/ 166 h 564"/>
                    <a:gd name="T58" fmla="*/ 288 w 812"/>
                    <a:gd name="T59" fmla="*/ 172 h 564"/>
                    <a:gd name="T60" fmla="*/ 242 w 812"/>
                    <a:gd name="T61" fmla="*/ 232 h 564"/>
                    <a:gd name="T62" fmla="*/ 196 w 812"/>
                    <a:gd name="T63" fmla="*/ 268 h 564"/>
                    <a:gd name="T64" fmla="*/ 184 w 812"/>
                    <a:gd name="T65" fmla="*/ 274 h 564"/>
                    <a:gd name="T66" fmla="*/ 160 w 812"/>
                    <a:gd name="T67" fmla="*/ 328 h 564"/>
                    <a:gd name="T68" fmla="*/ 152 w 812"/>
                    <a:gd name="T69" fmla="*/ 354 h 564"/>
                    <a:gd name="T70" fmla="*/ 128 w 812"/>
                    <a:gd name="T71" fmla="*/ 404 h 564"/>
                    <a:gd name="T72" fmla="*/ 94 w 812"/>
                    <a:gd name="T73" fmla="*/ 392 h 564"/>
                    <a:gd name="T74" fmla="*/ 66 w 812"/>
                    <a:gd name="T75" fmla="*/ 258 h 564"/>
                    <a:gd name="T76" fmla="*/ 72 w 812"/>
                    <a:gd name="T77" fmla="*/ 156 h 564"/>
                    <a:gd name="T78" fmla="*/ 44 w 812"/>
                    <a:gd name="T79" fmla="*/ 180 h 564"/>
                    <a:gd name="T80" fmla="*/ 20 w 812"/>
                    <a:gd name="T81" fmla="*/ 150 h 564"/>
                    <a:gd name="T82" fmla="*/ 24 w 812"/>
                    <a:gd name="T83" fmla="*/ 138 h 564"/>
                    <a:gd name="T84" fmla="*/ 0 w 812"/>
                    <a:gd name="T85" fmla="*/ 92 h 564"/>
                    <a:gd name="T86" fmla="*/ 798 w 812"/>
                    <a:gd name="T87" fmla="*/ 6 h 564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0" t="0" r="r" b="b"/>
                  <a:pathLst>
                    <a:path w="812" h="564">
                      <a:moveTo>
                        <a:pt x="798" y="6"/>
                      </a:moveTo>
                      <a:cubicBezTo>
                        <a:pt x="801" y="15"/>
                        <a:pt x="809" y="16"/>
                        <a:pt x="812" y="26"/>
                      </a:cubicBezTo>
                      <a:cubicBezTo>
                        <a:pt x="809" y="36"/>
                        <a:pt x="801" y="41"/>
                        <a:pt x="796" y="50"/>
                      </a:cubicBezTo>
                      <a:cubicBezTo>
                        <a:pt x="791" y="61"/>
                        <a:pt x="788" y="71"/>
                        <a:pt x="778" y="78"/>
                      </a:cubicBezTo>
                      <a:cubicBezTo>
                        <a:pt x="773" y="85"/>
                        <a:pt x="771" y="88"/>
                        <a:pt x="774" y="96"/>
                      </a:cubicBezTo>
                      <a:cubicBezTo>
                        <a:pt x="767" y="107"/>
                        <a:pt x="758" y="114"/>
                        <a:pt x="748" y="122"/>
                      </a:cubicBezTo>
                      <a:cubicBezTo>
                        <a:pt x="744" y="125"/>
                        <a:pt x="736" y="130"/>
                        <a:pt x="736" y="130"/>
                      </a:cubicBezTo>
                      <a:cubicBezTo>
                        <a:pt x="740" y="141"/>
                        <a:pt x="731" y="140"/>
                        <a:pt x="722" y="142"/>
                      </a:cubicBezTo>
                      <a:cubicBezTo>
                        <a:pt x="716" y="148"/>
                        <a:pt x="712" y="151"/>
                        <a:pt x="704" y="154"/>
                      </a:cubicBezTo>
                      <a:cubicBezTo>
                        <a:pt x="686" y="150"/>
                        <a:pt x="650" y="169"/>
                        <a:pt x="634" y="180"/>
                      </a:cubicBezTo>
                      <a:cubicBezTo>
                        <a:pt x="636" y="189"/>
                        <a:pt x="631" y="193"/>
                        <a:pt x="640" y="196"/>
                      </a:cubicBezTo>
                      <a:cubicBezTo>
                        <a:pt x="643" y="205"/>
                        <a:pt x="640" y="207"/>
                        <a:pt x="632" y="210"/>
                      </a:cubicBezTo>
                      <a:cubicBezTo>
                        <a:pt x="626" y="219"/>
                        <a:pt x="623" y="226"/>
                        <a:pt x="614" y="232"/>
                      </a:cubicBezTo>
                      <a:cubicBezTo>
                        <a:pt x="611" y="231"/>
                        <a:pt x="606" y="233"/>
                        <a:pt x="604" y="230"/>
                      </a:cubicBezTo>
                      <a:cubicBezTo>
                        <a:pt x="599" y="220"/>
                        <a:pt x="610" y="199"/>
                        <a:pt x="620" y="196"/>
                      </a:cubicBezTo>
                      <a:cubicBezTo>
                        <a:pt x="623" y="187"/>
                        <a:pt x="617" y="187"/>
                        <a:pt x="620" y="178"/>
                      </a:cubicBezTo>
                      <a:cubicBezTo>
                        <a:pt x="617" y="164"/>
                        <a:pt x="609" y="168"/>
                        <a:pt x="598" y="172"/>
                      </a:cubicBezTo>
                      <a:cubicBezTo>
                        <a:pt x="592" y="180"/>
                        <a:pt x="585" y="185"/>
                        <a:pt x="576" y="188"/>
                      </a:cubicBezTo>
                      <a:cubicBezTo>
                        <a:pt x="572" y="194"/>
                        <a:pt x="568" y="200"/>
                        <a:pt x="564" y="206"/>
                      </a:cubicBezTo>
                      <a:cubicBezTo>
                        <a:pt x="561" y="210"/>
                        <a:pt x="556" y="218"/>
                        <a:pt x="556" y="218"/>
                      </a:cubicBezTo>
                      <a:cubicBezTo>
                        <a:pt x="558" y="234"/>
                        <a:pt x="559" y="243"/>
                        <a:pt x="572" y="252"/>
                      </a:cubicBezTo>
                      <a:cubicBezTo>
                        <a:pt x="579" y="262"/>
                        <a:pt x="586" y="273"/>
                        <a:pt x="596" y="280"/>
                      </a:cubicBezTo>
                      <a:cubicBezTo>
                        <a:pt x="598" y="286"/>
                        <a:pt x="602" y="298"/>
                        <a:pt x="602" y="298"/>
                      </a:cubicBezTo>
                      <a:cubicBezTo>
                        <a:pt x="601" y="308"/>
                        <a:pt x="599" y="361"/>
                        <a:pt x="594" y="368"/>
                      </a:cubicBezTo>
                      <a:cubicBezTo>
                        <a:pt x="590" y="374"/>
                        <a:pt x="576" y="378"/>
                        <a:pt x="570" y="382"/>
                      </a:cubicBezTo>
                      <a:cubicBezTo>
                        <a:pt x="563" y="393"/>
                        <a:pt x="550" y="396"/>
                        <a:pt x="542" y="406"/>
                      </a:cubicBezTo>
                      <a:cubicBezTo>
                        <a:pt x="536" y="413"/>
                        <a:pt x="539" y="417"/>
                        <a:pt x="530" y="420"/>
                      </a:cubicBezTo>
                      <a:cubicBezTo>
                        <a:pt x="526" y="408"/>
                        <a:pt x="538" y="391"/>
                        <a:pt x="522" y="386"/>
                      </a:cubicBezTo>
                      <a:cubicBezTo>
                        <a:pt x="516" y="377"/>
                        <a:pt x="510" y="364"/>
                        <a:pt x="502" y="356"/>
                      </a:cubicBezTo>
                      <a:cubicBezTo>
                        <a:pt x="497" y="341"/>
                        <a:pt x="505" y="360"/>
                        <a:pt x="482" y="348"/>
                      </a:cubicBezTo>
                      <a:cubicBezTo>
                        <a:pt x="478" y="346"/>
                        <a:pt x="478" y="339"/>
                        <a:pt x="474" y="336"/>
                      </a:cubicBezTo>
                      <a:cubicBezTo>
                        <a:pt x="470" y="323"/>
                        <a:pt x="466" y="342"/>
                        <a:pt x="462" y="348"/>
                      </a:cubicBezTo>
                      <a:cubicBezTo>
                        <a:pt x="460" y="358"/>
                        <a:pt x="456" y="363"/>
                        <a:pt x="454" y="374"/>
                      </a:cubicBezTo>
                      <a:cubicBezTo>
                        <a:pt x="457" y="383"/>
                        <a:pt x="455" y="387"/>
                        <a:pt x="450" y="394"/>
                      </a:cubicBezTo>
                      <a:cubicBezTo>
                        <a:pt x="454" y="399"/>
                        <a:pt x="464" y="411"/>
                        <a:pt x="466" y="418"/>
                      </a:cubicBezTo>
                      <a:cubicBezTo>
                        <a:pt x="474" y="443"/>
                        <a:pt x="472" y="458"/>
                        <a:pt x="500" y="464"/>
                      </a:cubicBezTo>
                      <a:cubicBezTo>
                        <a:pt x="507" y="469"/>
                        <a:pt x="510" y="474"/>
                        <a:pt x="516" y="480"/>
                      </a:cubicBezTo>
                      <a:cubicBezTo>
                        <a:pt x="511" y="494"/>
                        <a:pt x="513" y="509"/>
                        <a:pt x="510" y="524"/>
                      </a:cubicBezTo>
                      <a:cubicBezTo>
                        <a:pt x="512" y="537"/>
                        <a:pt x="511" y="541"/>
                        <a:pt x="522" y="548"/>
                      </a:cubicBezTo>
                      <a:cubicBezTo>
                        <a:pt x="523" y="552"/>
                        <a:pt x="525" y="556"/>
                        <a:pt x="526" y="560"/>
                      </a:cubicBezTo>
                      <a:cubicBezTo>
                        <a:pt x="527" y="564"/>
                        <a:pt x="514" y="556"/>
                        <a:pt x="514" y="556"/>
                      </a:cubicBezTo>
                      <a:cubicBezTo>
                        <a:pt x="502" y="564"/>
                        <a:pt x="501" y="551"/>
                        <a:pt x="492" y="544"/>
                      </a:cubicBezTo>
                      <a:cubicBezTo>
                        <a:pt x="488" y="541"/>
                        <a:pt x="480" y="536"/>
                        <a:pt x="480" y="536"/>
                      </a:cubicBezTo>
                      <a:cubicBezTo>
                        <a:pt x="471" y="522"/>
                        <a:pt x="474" y="529"/>
                        <a:pt x="470" y="518"/>
                      </a:cubicBezTo>
                      <a:cubicBezTo>
                        <a:pt x="467" y="491"/>
                        <a:pt x="461" y="446"/>
                        <a:pt x="436" y="430"/>
                      </a:cubicBezTo>
                      <a:cubicBezTo>
                        <a:pt x="428" y="433"/>
                        <a:pt x="425" y="433"/>
                        <a:pt x="422" y="424"/>
                      </a:cubicBezTo>
                      <a:cubicBezTo>
                        <a:pt x="427" y="404"/>
                        <a:pt x="432" y="383"/>
                        <a:pt x="438" y="364"/>
                      </a:cubicBezTo>
                      <a:cubicBezTo>
                        <a:pt x="436" y="343"/>
                        <a:pt x="431" y="330"/>
                        <a:pt x="426" y="310"/>
                      </a:cubicBezTo>
                      <a:cubicBezTo>
                        <a:pt x="429" y="302"/>
                        <a:pt x="425" y="300"/>
                        <a:pt x="422" y="292"/>
                      </a:cubicBezTo>
                      <a:cubicBezTo>
                        <a:pt x="424" y="282"/>
                        <a:pt x="428" y="277"/>
                        <a:pt x="422" y="268"/>
                      </a:cubicBezTo>
                      <a:cubicBezTo>
                        <a:pt x="420" y="269"/>
                        <a:pt x="418" y="269"/>
                        <a:pt x="416" y="270"/>
                      </a:cubicBezTo>
                      <a:cubicBezTo>
                        <a:pt x="414" y="272"/>
                        <a:pt x="414" y="275"/>
                        <a:pt x="412" y="276"/>
                      </a:cubicBezTo>
                      <a:cubicBezTo>
                        <a:pt x="408" y="278"/>
                        <a:pt x="400" y="280"/>
                        <a:pt x="400" y="280"/>
                      </a:cubicBezTo>
                      <a:cubicBezTo>
                        <a:pt x="394" y="274"/>
                        <a:pt x="389" y="274"/>
                        <a:pt x="386" y="266"/>
                      </a:cubicBezTo>
                      <a:cubicBezTo>
                        <a:pt x="391" y="251"/>
                        <a:pt x="379" y="206"/>
                        <a:pt x="364" y="196"/>
                      </a:cubicBezTo>
                      <a:cubicBezTo>
                        <a:pt x="357" y="186"/>
                        <a:pt x="358" y="182"/>
                        <a:pt x="360" y="170"/>
                      </a:cubicBezTo>
                      <a:cubicBezTo>
                        <a:pt x="358" y="160"/>
                        <a:pt x="356" y="147"/>
                        <a:pt x="346" y="144"/>
                      </a:cubicBezTo>
                      <a:cubicBezTo>
                        <a:pt x="343" y="154"/>
                        <a:pt x="338" y="160"/>
                        <a:pt x="330" y="166"/>
                      </a:cubicBezTo>
                      <a:cubicBezTo>
                        <a:pt x="323" y="164"/>
                        <a:pt x="308" y="160"/>
                        <a:pt x="308" y="160"/>
                      </a:cubicBezTo>
                      <a:cubicBezTo>
                        <a:pt x="296" y="162"/>
                        <a:pt x="297" y="166"/>
                        <a:pt x="288" y="172"/>
                      </a:cubicBezTo>
                      <a:cubicBezTo>
                        <a:pt x="284" y="185"/>
                        <a:pt x="282" y="191"/>
                        <a:pt x="268" y="196"/>
                      </a:cubicBezTo>
                      <a:cubicBezTo>
                        <a:pt x="264" y="200"/>
                        <a:pt x="243" y="231"/>
                        <a:pt x="242" y="232"/>
                      </a:cubicBezTo>
                      <a:cubicBezTo>
                        <a:pt x="231" y="239"/>
                        <a:pt x="215" y="247"/>
                        <a:pt x="206" y="256"/>
                      </a:cubicBezTo>
                      <a:cubicBezTo>
                        <a:pt x="202" y="260"/>
                        <a:pt x="200" y="265"/>
                        <a:pt x="196" y="268"/>
                      </a:cubicBezTo>
                      <a:cubicBezTo>
                        <a:pt x="194" y="269"/>
                        <a:pt x="192" y="269"/>
                        <a:pt x="190" y="270"/>
                      </a:cubicBezTo>
                      <a:cubicBezTo>
                        <a:pt x="188" y="271"/>
                        <a:pt x="186" y="272"/>
                        <a:pt x="184" y="274"/>
                      </a:cubicBezTo>
                      <a:cubicBezTo>
                        <a:pt x="180" y="278"/>
                        <a:pt x="172" y="286"/>
                        <a:pt x="172" y="286"/>
                      </a:cubicBezTo>
                      <a:cubicBezTo>
                        <a:pt x="167" y="300"/>
                        <a:pt x="165" y="314"/>
                        <a:pt x="160" y="328"/>
                      </a:cubicBezTo>
                      <a:cubicBezTo>
                        <a:pt x="158" y="335"/>
                        <a:pt x="156" y="341"/>
                        <a:pt x="154" y="348"/>
                      </a:cubicBezTo>
                      <a:cubicBezTo>
                        <a:pt x="153" y="350"/>
                        <a:pt x="152" y="354"/>
                        <a:pt x="152" y="354"/>
                      </a:cubicBezTo>
                      <a:cubicBezTo>
                        <a:pt x="152" y="359"/>
                        <a:pt x="156" y="384"/>
                        <a:pt x="146" y="392"/>
                      </a:cubicBezTo>
                      <a:cubicBezTo>
                        <a:pt x="141" y="397"/>
                        <a:pt x="128" y="404"/>
                        <a:pt x="128" y="404"/>
                      </a:cubicBezTo>
                      <a:cubicBezTo>
                        <a:pt x="125" y="412"/>
                        <a:pt x="122" y="421"/>
                        <a:pt x="114" y="424"/>
                      </a:cubicBezTo>
                      <a:cubicBezTo>
                        <a:pt x="100" y="419"/>
                        <a:pt x="97" y="405"/>
                        <a:pt x="94" y="392"/>
                      </a:cubicBezTo>
                      <a:cubicBezTo>
                        <a:pt x="86" y="362"/>
                        <a:pt x="82" y="332"/>
                        <a:pt x="72" y="302"/>
                      </a:cubicBezTo>
                      <a:cubicBezTo>
                        <a:pt x="71" y="281"/>
                        <a:pt x="70" y="275"/>
                        <a:pt x="66" y="258"/>
                      </a:cubicBezTo>
                      <a:cubicBezTo>
                        <a:pt x="66" y="251"/>
                        <a:pt x="68" y="219"/>
                        <a:pt x="64" y="208"/>
                      </a:cubicBezTo>
                      <a:cubicBezTo>
                        <a:pt x="70" y="191"/>
                        <a:pt x="66" y="173"/>
                        <a:pt x="72" y="156"/>
                      </a:cubicBezTo>
                      <a:cubicBezTo>
                        <a:pt x="66" y="139"/>
                        <a:pt x="60" y="168"/>
                        <a:pt x="56" y="172"/>
                      </a:cubicBezTo>
                      <a:cubicBezTo>
                        <a:pt x="53" y="175"/>
                        <a:pt x="44" y="180"/>
                        <a:pt x="44" y="180"/>
                      </a:cubicBezTo>
                      <a:cubicBezTo>
                        <a:pt x="35" y="177"/>
                        <a:pt x="28" y="173"/>
                        <a:pt x="24" y="162"/>
                      </a:cubicBezTo>
                      <a:cubicBezTo>
                        <a:pt x="23" y="158"/>
                        <a:pt x="20" y="150"/>
                        <a:pt x="20" y="150"/>
                      </a:cubicBezTo>
                      <a:cubicBezTo>
                        <a:pt x="30" y="148"/>
                        <a:pt x="30" y="143"/>
                        <a:pt x="38" y="138"/>
                      </a:cubicBezTo>
                      <a:cubicBezTo>
                        <a:pt x="35" y="128"/>
                        <a:pt x="31" y="133"/>
                        <a:pt x="24" y="138"/>
                      </a:cubicBezTo>
                      <a:cubicBezTo>
                        <a:pt x="15" y="135"/>
                        <a:pt x="15" y="132"/>
                        <a:pt x="18" y="124"/>
                      </a:cubicBezTo>
                      <a:cubicBezTo>
                        <a:pt x="11" y="114"/>
                        <a:pt x="9" y="101"/>
                        <a:pt x="0" y="92"/>
                      </a:cubicBezTo>
                      <a:lnTo>
                        <a:pt x="76" y="0"/>
                      </a:lnTo>
                      <a:lnTo>
                        <a:pt x="798" y="6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9" name="Freeform 48"/>
                <p:cNvSpPr>
                  <a:spLocks/>
                </p:cNvSpPr>
                <p:nvPr userDrawn="1"/>
              </p:nvSpPr>
              <p:spPr bwMode="ltGray">
                <a:xfrm>
                  <a:off x="1770" y="671"/>
                  <a:ext cx="45" cy="71"/>
                </a:xfrm>
                <a:custGeom>
                  <a:avLst/>
                  <a:gdLst>
                    <a:gd name="T0" fmla="*/ 7 w 43"/>
                    <a:gd name="T1" fmla="*/ 11 h 85"/>
                    <a:gd name="T2" fmla="*/ 17 w 43"/>
                    <a:gd name="T3" fmla="*/ 3 h 85"/>
                    <a:gd name="T4" fmla="*/ 37 w 43"/>
                    <a:gd name="T5" fmla="*/ 33 h 85"/>
                    <a:gd name="T6" fmla="*/ 19 w 43"/>
                    <a:gd name="T7" fmla="*/ 85 h 85"/>
                    <a:gd name="T8" fmla="*/ 1 w 43"/>
                    <a:gd name="T9" fmla="*/ 69 h 85"/>
                    <a:gd name="T10" fmla="*/ 7 w 43"/>
                    <a:gd name="T11" fmla="*/ 11 h 85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3" h="85">
                      <a:moveTo>
                        <a:pt x="7" y="11"/>
                      </a:moveTo>
                      <a:cubicBezTo>
                        <a:pt x="4" y="2"/>
                        <a:pt x="9" y="0"/>
                        <a:pt x="17" y="3"/>
                      </a:cubicBezTo>
                      <a:cubicBezTo>
                        <a:pt x="24" y="13"/>
                        <a:pt x="28" y="24"/>
                        <a:pt x="37" y="33"/>
                      </a:cubicBezTo>
                      <a:cubicBezTo>
                        <a:pt x="43" y="52"/>
                        <a:pt x="40" y="78"/>
                        <a:pt x="19" y="85"/>
                      </a:cubicBezTo>
                      <a:cubicBezTo>
                        <a:pt x="6" y="81"/>
                        <a:pt x="5" y="81"/>
                        <a:pt x="1" y="69"/>
                      </a:cubicBezTo>
                      <a:cubicBezTo>
                        <a:pt x="2" y="66"/>
                        <a:pt x="0" y="4"/>
                        <a:pt x="7" y="1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0" name="Freeform 49"/>
                <p:cNvSpPr>
                  <a:spLocks/>
                </p:cNvSpPr>
                <p:nvPr userDrawn="1"/>
              </p:nvSpPr>
              <p:spPr bwMode="ltGray">
                <a:xfrm>
                  <a:off x="2394" y="431"/>
                  <a:ext cx="42" cy="59"/>
                </a:xfrm>
                <a:custGeom>
                  <a:avLst/>
                  <a:gdLst>
                    <a:gd name="T0" fmla="*/ 13 w 44"/>
                    <a:gd name="T1" fmla="*/ 28 h 74"/>
                    <a:gd name="T2" fmla="*/ 29 w 44"/>
                    <a:gd name="T3" fmla="*/ 2 h 74"/>
                    <a:gd name="T4" fmla="*/ 43 w 44"/>
                    <a:gd name="T5" fmla="*/ 4 h 74"/>
                    <a:gd name="T6" fmla="*/ 39 w 44"/>
                    <a:gd name="T7" fmla="*/ 26 h 74"/>
                    <a:gd name="T8" fmla="*/ 13 w 44"/>
                    <a:gd name="T9" fmla="*/ 74 h 74"/>
                    <a:gd name="T10" fmla="*/ 7 w 44"/>
                    <a:gd name="T11" fmla="*/ 60 h 74"/>
                    <a:gd name="T12" fmla="*/ 3 w 44"/>
                    <a:gd name="T13" fmla="*/ 36 h 74"/>
                    <a:gd name="T14" fmla="*/ 13 w 44"/>
                    <a:gd name="T15" fmla="*/ 28 h 7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44" h="74">
                      <a:moveTo>
                        <a:pt x="13" y="28"/>
                      </a:moveTo>
                      <a:cubicBezTo>
                        <a:pt x="15" y="13"/>
                        <a:pt x="14" y="7"/>
                        <a:pt x="29" y="2"/>
                      </a:cubicBezTo>
                      <a:cubicBezTo>
                        <a:pt x="34" y="3"/>
                        <a:pt x="40" y="0"/>
                        <a:pt x="43" y="4"/>
                      </a:cubicBezTo>
                      <a:cubicBezTo>
                        <a:pt x="44" y="6"/>
                        <a:pt x="41" y="21"/>
                        <a:pt x="39" y="26"/>
                      </a:cubicBezTo>
                      <a:cubicBezTo>
                        <a:pt x="31" y="43"/>
                        <a:pt x="30" y="63"/>
                        <a:pt x="13" y="74"/>
                      </a:cubicBezTo>
                      <a:cubicBezTo>
                        <a:pt x="4" y="71"/>
                        <a:pt x="4" y="68"/>
                        <a:pt x="7" y="60"/>
                      </a:cubicBezTo>
                      <a:cubicBezTo>
                        <a:pt x="5" y="50"/>
                        <a:pt x="0" y="46"/>
                        <a:pt x="3" y="36"/>
                      </a:cubicBezTo>
                      <a:cubicBezTo>
                        <a:pt x="4" y="32"/>
                        <a:pt x="8" y="23"/>
                        <a:pt x="1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1" name="Freeform 50"/>
                <p:cNvSpPr>
                  <a:spLocks/>
                </p:cNvSpPr>
                <p:nvPr userDrawn="1"/>
              </p:nvSpPr>
              <p:spPr bwMode="ltGray">
                <a:xfrm>
                  <a:off x="2513" y="402"/>
                  <a:ext cx="21" cy="24"/>
                </a:xfrm>
                <a:custGeom>
                  <a:avLst/>
                  <a:gdLst>
                    <a:gd name="T0" fmla="*/ 7 w 20"/>
                    <a:gd name="T1" fmla="*/ 16 h 30"/>
                    <a:gd name="T2" fmla="*/ 5 w 20"/>
                    <a:gd name="T3" fmla="*/ 30 h 30"/>
                    <a:gd name="T4" fmla="*/ 7 w 20"/>
                    <a:gd name="T5" fmla="*/ 16 h 3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0" h="30">
                      <a:moveTo>
                        <a:pt x="7" y="16"/>
                      </a:moveTo>
                      <a:cubicBezTo>
                        <a:pt x="18" y="0"/>
                        <a:pt x="20" y="20"/>
                        <a:pt x="5" y="30"/>
                      </a:cubicBezTo>
                      <a:cubicBezTo>
                        <a:pt x="0" y="23"/>
                        <a:pt x="1" y="22"/>
                        <a:pt x="7" y="1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" name="Freeform 51"/>
                <p:cNvSpPr>
                  <a:spLocks/>
                </p:cNvSpPr>
                <p:nvPr userDrawn="1"/>
              </p:nvSpPr>
              <p:spPr bwMode="ltGray">
                <a:xfrm>
                  <a:off x="333" y="169"/>
                  <a:ext cx="1015" cy="866"/>
                </a:xfrm>
                <a:custGeom>
                  <a:avLst/>
                  <a:gdLst>
                    <a:gd name="T0" fmla="*/ 481 w 682"/>
                    <a:gd name="T1" fmla="*/ 464 h 557"/>
                    <a:gd name="T2" fmla="*/ 486 w 682"/>
                    <a:gd name="T3" fmla="*/ 451 h 557"/>
                    <a:gd name="T4" fmla="*/ 500 w 682"/>
                    <a:gd name="T5" fmla="*/ 413 h 557"/>
                    <a:gd name="T6" fmla="*/ 309 w 682"/>
                    <a:gd name="T7" fmla="*/ 287 h 557"/>
                    <a:gd name="T8" fmla="*/ 282 w 682"/>
                    <a:gd name="T9" fmla="*/ 346 h 557"/>
                    <a:gd name="T10" fmla="*/ 303 w 682"/>
                    <a:gd name="T11" fmla="*/ 556 h 557"/>
                    <a:gd name="T12" fmla="*/ 282 w 682"/>
                    <a:gd name="T13" fmla="*/ 494 h 557"/>
                    <a:gd name="T14" fmla="*/ 242 w 682"/>
                    <a:gd name="T15" fmla="*/ 439 h 557"/>
                    <a:gd name="T16" fmla="*/ 245 w 682"/>
                    <a:gd name="T17" fmla="*/ 413 h 557"/>
                    <a:gd name="T18" fmla="*/ 247 w 682"/>
                    <a:gd name="T19" fmla="*/ 394 h 557"/>
                    <a:gd name="T20" fmla="*/ 220 w 682"/>
                    <a:gd name="T21" fmla="*/ 375 h 557"/>
                    <a:gd name="T22" fmla="*/ 194 w 682"/>
                    <a:gd name="T23" fmla="*/ 346 h 557"/>
                    <a:gd name="T24" fmla="*/ 148 w 682"/>
                    <a:gd name="T25" fmla="*/ 354 h 557"/>
                    <a:gd name="T26" fmla="*/ 126 w 682"/>
                    <a:gd name="T27" fmla="*/ 365 h 557"/>
                    <a:gd name="T28" fmla="*/ 78 w 682"/>
                    <a:gd name="T29" fmla="*/ 365 h 557"/>
                    <a:gd name="T30" fmla="*/ 22 w 682"/>
                    <a:gd name="T31" fmla="*/ 312 h 557"/>
                    <a:gd name="T32" fmla="*/ 11 w 682"/>
                    <a:gd name="T33" fmla="*/ 295 h 557"/>
                    <a:gd name="T34" fmla="*/ 0 w 682"/>
                    <a:gd name="T35" fmla="*/ 264 h 557"/>
                    <a:gd name="T36" fmla="*/ 24 w 682"/>
                    <a:gd name="T37" fmla="*/ 213 h 557"/>
                    <a:gd name="T38" fmla="*/ 32 w 682"/>
                    <a:gd name="T39" fmla="*/ 181 h 557"/>
                    <a:gd name="T40" fmla="*/ 51 w 682"/>
                    <a:gd name="T41" fmla="*/ 143 h 557"/>
                    <a:gd name="T42" fmla="*/ 81 w 682"/>
                    <a:gd name="T43" fmla="*/ 116 h 557"/>
                    <a:gd name="T44" fmla="*/ 167 w 682"/>
                    <a:gd name="T45" fmla="*/ 67 h 557"/>
                    <a:gd name="T46" fmla="*/ 220 w 682"/>
                    <a:gd name="T47" fmla="*/ 30 h 557"/>
                    <a:gd name="T48" fmla="*/ 258 w 682"/>
                    <a:gd name="T49" fmla="*/ 6 h 557"/>
                    <a:gd name="T50" fmla="*/ 363 w 682"/>
                    <a:gd name="T51" fmla="*/ 2 h 557"/>
                    <a:gd name="T52" fmla="*/ 398 w 682"/>
                    <a:gd name="T53" fmla="*/ 0 h 557"/>
                    <a:gd name="T54" fmla="*/ 384 w 682"/>
                    <a:gd name="T55" fmla="*/ 34 h 557"/>
                    <a:gd name="T56" fmla="*/ 443 w 682"/>
                    <a:gd name="T57" fmla="*/ 84 h 557"/>
                    <a:gd name="T58" fmla="*/ 497 w 682"/>
                    <a:gd name="T59" fmla="*/ 74 h 557"/>
                    <a:gd name="T60" fmla="*/ 529 w 682"/>
                    <a:gd name="T61" fmla="*/ 82 h 557"/>
                    <a:gd name="T62" fmla="*/ 559 w 682"/>
                    <a:gd name="T63" fmla="*/ 97 h 557"/>
                    <a:gd name="T64" fmla="*/ 572 w 682"/>
                    <a:gd name="T65" fmla="*/ 188 h 557"/>
                    <a:gd name="T66" fmla="*/ 572 w 682"/>
                    <a:gd name="T67" fmla="*/ 240 h 557"/>
                    <a:gd name="T68" fmla="*/ 599 w 682"/>
                    <a:gd name="T69" fmla="*/ 283 h 557"/>
                    <a:gd name="T70" fmla="*/ 645 w 682"/>
                    <a:gd name="T71" fmla="*/ 300 h 557"/>
                    <a:gd name="T72" fmla="*/ 680 w 682"/>
                    <a:gd name="T73" fmla="*/ 295 h 557"/>
                    <a:gd name="T74" fmla="*/ 664 w 682"/>
                    <a:gd name="T75" fmla="*/ 340 h 557"/>
                    <a:gd name="T76" fmla="*/ 599 w 682"/>
                    <a:gd name="T77" fmla="*/ 407 h 557"/>
                    <a:gd name="T78" fmla="*/ 548 w 682"/>
                    <a:gd name="T79" fmla="*/ 485 h 557"/>
                    <a:gd name="T80" fmla="*/ 556 w 682"/>
                    <a:gd name="T81" fmla="*/ 508 h 557"/>
                    <a:gd name="T82" fmla="*/ 435 w 682"/>
                    <a:gd name="T83" fmla="*/ 556 h 557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</a:gdLst>
                  <a:ahLst/>
                  <a:cxnLst>
                    <a:cxn ang="T84">
                      <a:pos x="T0" y="T1"/>
                    </a:cxn>
                    <a:cxn ang="T85">
                      <a:pos x="T2" y="T3"/>
                    </a:cxn>
                    <a:cxn ang="T86">
                      <a:pos x="T4" y="T5"/>
                    </a:cxn>
                    <a:cxn ang="T87">
                      <a:pos x="T6" y="T7"/>
                    </a:cxn>
                    <a:cxn ang="T88">
                      <a:pos x="T8" y="T9"/>
                    </a:cxn>
                    <a:cxn ang="T89">
                      <a:pos x="T10" y="T11"/>
                    </a:cxn>
                    <a:cxn ang="T90">
                      <a:pos x="T12" y="T13"/>
                    </a:cxn>
                    <a:cxn ang="T91">
                      <a:pos x="T14" y="T15"/>
                    </a:cxn>
                    <a:cxn ang="T92">
                      <a:pos x="T16" y="T17"/>
                    </a:cxn>
                    <a:cxn ang="T93">
                      <a:pos x="T18" y="T19"/>
                    </a:cxn>
                    <a:cxn ang="T94">
                      <a:pos x="T20" y="T21"/>
                    </a:cxn>
                    <a:cxn ang="T95">
                      <a:pos x="T22" y="T23"/>
                    </a:cxn>
                    <a:cxn ang="T96">
                      <a:pos x="T24" y="T25"/>
                    </a:cxn>
                    <a:cxn ang="T97">
                      <a:pos x="T26" y="T27"/>
                    </a:cxn>
                    <a:cxn ang="T98">
                      <a:pos x="T28" y="T29"/>
                    </a:cxn>
                    <a:cxn ang="T99">
                      <a:pos x="T30" y="T31"/>
                    </a:cxn>
                    <a:cxn ang="T100">
                      <a:pos x="T32" y="T33"/>
                    </a:cxn>
                    <a:cxn ang="T101">
                      <a:pos x="T34" y="T35"/>
                    </a:cxn>
                    <a:cxn ang="T102">
                      <a:pos x="T36" y="T37"/>
                    </a:cxn>
                    <a:cxn ang="T103">
                      <a:pos x="T38" y="T39"/>
                    </a:cxn>
                    <a:cxn ang="T104">
                      <a:pos x="T40" y="T41"/>
                    </a:cxn>
                    <a:cxn ang="T105">
                      <a:pos x="T42" y="T43"/>
                    </a:cxn>
                    <a:cxn ang="T106">
                      <a:pos x="T44" y="T45"/>
                    </a:cxn>
                    <a:cxn ang="T107">
                      <a:pos x="T46" y="T47"/>
                    </a:cxn>
                    <a:cxn ang="T108">
                      <a:pos x="T48" y="T49"/>
                    </a:cxn>
                    <a:cxn ang="T109">
                      <a:pos x="T50" y="T51"/>
                    </a:cxn>
                    <a:cxn ang="T110">
                      <a:pos x="T52" y="T53"/>
                    </a:cxn>
                    <a:cxn ang="T111">
                      <a:pos x="T54" y="T55"/>
                    </a:cxn>
                    <a:cxn ang="T112">
                      <a:pos x="T56" y="T57"/>
                    </a:cxn>
                    <a:cxn ang="T113">
                      <a:pos x="T58" y="T59"/>
                    </a:cxn>
                    <a:cxn ang="T114">
                      <a:pos x="T60" y="T61"/>
                    </a:cxn>
                    <a:cxn ang="T115">
                      <a:pos x="T62" y="T63"/>
                    </a:cxn>
                    <a:cxn ang="T116">
                      <a:pos x="T64" y="T65"/>
                    </a:cxn>
                    <a:cxn ang="T117">
                      <a:pos x="T66" y="T67"/>
                    </a:cxn>
                    <a:cxn ang="T118">
                      <a:pos x="T68" y="T69"/>
                    </a:cxn>
                    <a:cxn ang="T119">
                      <a:pos x="T70" y="T71"/>
                    </a:cxn>
                    <a:cxn ang="T120">
                      <a:pos x="T72" y="T73"/>
                    </a:cxn>
                    <a:cxn ang="T121">
                      <a:pos x="T74" y="T75"/>
                    </a:cxn>
                    <a:cxn ang="T122">
                      <a:pos x="T76" y="T77"/>
                    </a:cxn>
                    <a:cxn ang="T123">
                      <a:pos x="T78" y="T79"/>
                    </a:cxn>
                    <a:cxn ang="T124">
                      <a:pos x="T80" y="T81"/>
                    </a:cxn>
                    <a:cxn ang="T125">
                      <a:pos x="T82" y="T83"/>
                    </a:cxn>
                  </a:cxnLst>
                  <a:rect l="0" t="0" r="r" b="b"/>
                  <a:pathLst>
                    <a:path w="682" h="557">
                      <a:moveTo>
                        <a:pt x="435" y="556"/>
                      </a:moveTo>
                      <a:lnTo>
                        <a:pt x="481" y="464"/>
                      </a:lnTo>
                      <a:lnTo>
                        <a:pt x="473" y="449"/>
                      </a:lnTo>
                      <a:lnTo>
                        <a:pt x="486" y="451"/>
                      </a:lnTo>
                      <a:lnTo>
                        <a:pt x="495" y="441"/>
                      </a:lnTo>
                      <a:lnTo>
                        <a:pt x="500" y="413"/>
                      </a:lnTo>
                      <a:lnTo>
                        <a:pt x="500" y="371"/>
                      </a:lnTo>
                      <a:lnTo>
                        <a:pt x="309" y="287"/>
                      </a:lnTo>
                      <a:lnTo>
                        <a:pt x="296" y="308"/>
                      </a:lnTo>
                      <a:lnTo>
                        <a:pt x="282" y="346"/>
                      </a:lnTo>
                      <a:lnTo>
                        <a:pt x="396" y="557"/>
                      </a:lnTo>
                      <a:lnTo>
                        <a:pt x="303" y="556"/>
                      </a:lnTo>
                      <a:lnTo>
                        <a:pt x="304" y="536"/>
                      </a:lnTo>
                      <a:cubicBezTo>
                        <a:pt x="284" y="520"/>
                        <a:pt x="296" y="510"/>
                        <a:pt x="282" y="494"/>
                      </a:cubicBezTo>
                      <a:cubicBezTo>
                        <a:pt x="276" y="475"/>
                        <a:pt x="267" y="468"/>
                        <a:pt x="253" y="451"/>
                      </a:cubicBezTo>
                      <a:cubicBezTo>
                        <a:pt x="249" y="447"/>
                        <a:pt x="245" y="443"/>
                        <a:pt x="242" y="439"/>
                      </a:cubicBezTo>
                      <a:lnTo>
                        <a:pt x="237" y="432"/>
                      </a:lnTo>
                      <a:cubicBezTo>
                        <a:pt x="237" y="432"/>
                        <a:pt x="245" y="413"/>
                        <a:pt x="245" y="413"/>
                      </a:cubicBezTo>
                      <a:cubicBezTo>
                        <a:pt x="247" y="409"/>
                        <a:pt x="250" y="401"/>
                        <a:pt x="250" y="401"/>
                      </a:cubicBezTo>
                      <a:cubicBezTo>
                        <a:pt x="249" y="399"/>
                        <a:pt x="247" y="397"/>
                        <a:pt x="247" y="394"/>
                      </a:cubicBezTo>
                      <a:cubicBezTo>
                        <a:pt x="248" y="390"/>
                        <a:pt x="253" y="382"/>
                        <a:pt x="253" y="382"/>
                      </a:cubicBezTo>
                      <a:cubicBezTo>
                        <a:pt x="243" y="370"/>
                        <a:pt x="237" y="371"/>
                        <a:pt x="220" y="375"/>
                      </a:cubicBezTo>
                      <a:cubicBezTo>
                        <a:pt x="217" y="371"/>
                        <a:pt x="210" y="369"/>
                        <a:pt x="207" y="365"/>
                      </a:cubicBezTo>
                      <a:cubicBezTo>
                        <a:pt x="185" y="337"/>
                        <a:pt x="216" y="363"/>
                        <a:pt x="194" y="346"/>
                      </a:cubicBezTo>
                      <a:cubicBezTo>
                        <a:pt x="167" y="349"/>
                        <a:pt x="179" y="346"/>
                        <a:pt x="156" y="352"/>
                      </a:cubicBezTo>
                      <a:cubicBezTo>
                        <a:pt x="153" y="353"/>
                        <a:pt x="148" y="354"/>
                        <a:pt x="148" y="354"/>
                      </a:cubicBezTo>
                      <a:cubicBezTo>
                        <a:pt x="146" y="356"/>
                        <a:pt x="145" y="359"/>
                        <a:pt x="142" y="361"/>
                      </a:cubicBezTo>
                      <a:cubicBezTo>
                        <a:pt x="138" y="363"/>
                        <a:pt x="126" y="365"/>
                        <a:pt x="126" y="365"/>
                      </a:cubicBezTo>
                      <a:cubicBezTo>
                        <a:pt x="105" y="354"/>
                        <a:pt x="116" y="355"/>
                        <a:pt x="94" y="361"/>
                      </a:cubicBezTo>
                      <a:cubicBezTo>
                        <a:pt x="89" y="362"/>
                        <a:pt x="78" y="365"/>
                        <a:pt x="78" y="365"/>
                      </a:cubicBezTo>
                      <a:cubicBezTo>
                        <a:pt x="62" y="383"/>
                        <a:pt x="46" y="346"/>
                        <a:pt x="35" y="337"/>
                      </a:cubicBezTo>
                      <a:cubicBezTo>
                        <a:pt x="32" y="330"/>
                        <a:pt x="24" y="320"/>
                        <a:pt x="22" y="312"/>
                      </a:cubicBezTo>
                      <a:cubicBezTo>
                        <a:pt x="20" y="308"/>
                        <a:pt x="22" y="303"/>
                        <a:pt x="19" y="300"/>
                      </a:cubicBezTo>
                      <a:cubicBezTo>
                        <a:pt x="17" y="297"/>
                        <a:pt x="13" y="297"/>
                        <a:pt x="11" y="295"/>
                      </a:cubicBezTo>
                      <a:cubicBezTo>
                        <a:pt x="3" y="277"/>
                        <a:pt x="15" y="306"/>
                        <a:pt x="5" y="276"/>
                      </a:cubicBezTo>
                      <a:cubicBezTo>
                        <a:pt x="4" y="272"/>
                        <a:pt x="0" y="264"/>
                        <a:pt x="0" y="264"/>
                      </a:cubicBezTo>
                      <a:cubicBezTo>
                        <a:pt x="3" y="253"/>
                        <a:pt x="2" y="248"/>
                        <a:pt x="13" y="243"/>
                      </a:cubicBezTo>
                      <a:cubicBezTo>
                        <a:pt x="20" y="221"/>
                        <a:pt x="17" y="231"/>
                        <a:pt x="24" y="213"/>
                      </a:cubicBezTo>
                      <a:cubicBezTo>
                        <a:pt x="26" y="209"/>
                        <a:pt x="30" y="200"/>
                        <a:pt x="30" y="200"/>
                      </a:cubicBezTo>
                      <a:cubicBezTo>
                        <a:pt x="26" y="192"/>
                        <a:pt x="24" y="191"/>
                        <a:pt x="32" y="181"/>
                      </a:cubicBezTo>
                      <a:cubicBezTo>
                        <a:pt x="36" y="177"/>
                        <a:pt x="43" y="169"/>
                        <a:pt x="43" y="169"/>
                      </a:cubicBezTo>
                      <a:cubicBezTo>
                        <a:pt x="37" y="155"/>
                        <a:pt x="36" y="153"/>
                        <a:pt x="51" y="143"/>
                      </a:cubicBezTo>
                      <a:cubicBezTo>
                        <a:pt x="56" y="140"/>
                        <a:pt x="67" y="135"/>
                        <a:pt x="67" y="135"/>
                      </a:cubicBezTo>
                      <a:cubicBezTo>
                        <a:pt x="73" y="129"/>
                        <a:pt x="75" y="122"/>
                        <a:pt x="81" y="116"/>
                      </a:cubicBezTo>
                      <a:cubicBezTo>
                        <a:pt x="89" y="107"/>
                        <a:pt x="102" y="105"/>
                        <a:pt x="113" y="99"/>
                      </a:cubicBezTo>
                      <a:cubicBezTo>
                        <a:pt x="125" y="85"/>
                        <a:pt x="149" y="76"/>
                        <a:pt x="167" y="67"/>
                      </a:cubicBezTo>
                      <a:cubicBezTo>
                        <a:pt x="174" y="59"/>
                        <a:pt x="175" y="50"/>
                        <a:pt x="188" y="46"/>
                      </a:cubicBezTo>
                      <a:cubicBezTo>
                        <a:pt x="198" y="39"/>
                        <a:pt x="208" y="36"/>
                        <a:pt x="220" y="30"/>
                      </a:cubicBezTo>
                      <a:cubicBezTo>
                        <a:pt x="223" y="28"/>
                        <a:pt x="228" y="25"/>
                        <a:pt x="228" y="25"/>
                      </a:cubicBezTo>
                      <a:cubicBezTo>
                        <a:pt x="237" y="16"/>
                        <a:pt x="245" y="10"/>
                        <a:pt x="258" y="6"/>
                      </a:cubicBezTo>
                      <a:cubicBezTo>
                        <a:pt x="269" y="31"/>
                        <a:pt x="301" y="6"/>
                        <a:pt x="320" y="4"/>
                      </a:cubicBezTo>
                      <a:cubicBezTo>
                        <a:pt x="334" y="3"/>
                        <a:pt x="349" y="3"/>
                        <a:pt x="363" y="2"/>
                      </a:cubicBezTo>
                      <a:cubicBezTo>
                        <a:pt x="369" y="3"/>
                        <a:pt x="376" y="5"/>
                        <a:pt x="382" y="4"/>
                      </a:cubicBezTo>
                      <a:cubicBezTo>
                        <a:pt x="387" y="4"/>
                        <a:pt x="398" y="0"/>
                        <a:pt x="398" y="0"/>
                      </a:cubicBezTo>
                      <a:cubicBezTo>
                        <a:pt x="415" y="8"/>
                        <a:pt x="406" y="16"/>
                        <a:pt x="400" y="30"/>
                      </a:cubicBezTo>
                      <a:cubicBezTo>
                        <a:pt x="398" y="34"/>
                        <a:pt x="384" y="34"/>
                        <a:pt x="384" y="34"/>
                      </a:cubicBezTo>
                      <a:cubicBezTo>
                        <a:pt x="379" y="47"/>
                        <a:pt x="398" y="51"/>
                        <a:pt x="411" y="55"/>
                      </a:cubicBezTo>
                      <a:cubicBezTo>
                        <a:pt x="419" y="72"/>
                        <a:pt x="421" y="79"/>
                        <a:pt x="443" y="84"/>
                      </a:cubicBezTo>
                      <a:cubicBezTo>
                        <a:pt x="461" y="71"/>
                        <a:pt x="435" y="65"/>
                        <a:pt x="468" y="57"/>
                      </a:cubicBezTo>
                      <a:cubicBezTo>
                        <a:pt x="482" y="61"/>
                        <a:pt x="485" y="70"/>
                        <a:pt x="497" y="74"/>
                      </a:cubicBezTo>
                      <a:cubicBezTo>
                        <a:pt x="505" y="76"/>
                        <a:pt x="513" y="78"/>
                        <a:pt x="521" y="80"/>
                      </a:cubicBezTo>
                      <a:cubicBezTo>
                        <a:pt x="524" y="81"/>
                        <a:pt x="529" y="82"/>
                        <a:pt x="529" y="82"/>
                      </a:cubicBezTo>
                      <a:cubicBezTo>
                        <a:pt x="547" y="78"/>
                        <a:pt x="547" y="76"/>
                        <a:pt x="562" y="84"/>
                      </a:cubicBezTo>
                      <a:cubicBezTo>
                        <a:pt x="566" y="95"/>
                        <a:pt x="565" y="86"/>
                        <a:pt x="559" y="97"/>
                      </a:cubicBezTo>
                      <a:cubicBezTo>
                        <a:pt x="557" y="101"/>
                        <a:pt x="554" y="110"/>
                        <a:pt x="554" y="110"/>
                      </a:cubicBezTo>
                      <a:cubicBezTo>
                        <a:pt x="556" y="132"/>
                        <a:pt x="556" y="168"/>
                        <a:pt x="572" y="188"/>
                      </a:cubicBezTo>
                      <a:cubicBezTo>
                        <a:pt x="568" y="198"/>
                        <a:pt x="564" y="208"/>
                        <a:pt x="562" y="219"/>
                      </a:cubicBezTo>
                      <a:cubicBezTo>
                        <a:pt x="564" y="227"/>
                        <a:pt x="569" y="233"/>
                        <a:pt x="572" y="240"/>
                      </a:cubicBezTo>
                      <a:cubicBezTo>
                        <a:pt x="573" y="247"/>
                        <a:pt x="572" y="254"/>
                        <a:pt x="575" y="259"/>
                      </a:cubicBezTo>
                      <a:cubicBezTo>
                        <a:pt x="577" y="263"/>
                        <a:pt x="595" y="272"/>
                        <a:pt x="599" y="283"/>
                      </a:cubicBezTo>
                      <a:cubicBezTo>
                        <a:pt x="594" y="295"/>
                        <a:pt x="603" y="306"/>
                        <a:pt x="618" y="310"/>
                      </a:cubicBezTo>
                      <a:cubicBezTo>
                        <a:pt x="630" y="307"/>
                        <a:pt x="638" y="308"/>
                        <a:pt x="645" y="300"/>
                      </a:cubicBezTo>
                      <a:cubicBezTo>
                        <a:pt x="660" y="302"/>
                        <a:pt x="663" y="303"/>
                        <a:pt x="672" y="293"/>
                      </a:cubicBezTo>
                      <a:cubicBezTo>
                        <a:pt x="675" y="294"/>
                        <a:pt x="679" y="293"/>
                        <a:pt x="680" y="295"/>
                      </a:cubicBezTo>
                      <a:cubicBezTo>
                        <a:pt x="682" y="301"/>
                        <a:pt x="674" y="321"/>
                        <a:pt x="672" y="327"/>
                      </a:cubicBezTo>
                      <a:cubicBezTo>
                        <a:pt x="668" y="340"/>
                        <a:pt x="671" y="326"/>
                        <a:pt x="664" y="340"/>
                      </a:cubicBezTo>
                      <a:cubicBezTo>
                        <a:pt x="652" y="360"/>
                        <a:pt x="646" y="381"/>
                        <a:pt x="621" y="394"/>
                      </a:cubicBezTo>
                      <a:cubicBezTo>
                        <a:pt x="614" y="402"/>
                        <a:pt x="609" y="402"/>
                        <a:pt x="599" y="407"/>
                      </a:cubicBezTo>
                      <a:cubicBezTo>
                        <a:pt x="590" y="418"/>
                        <a:pt x="579" y="429"/>
                        <a:pt x="567" y="439"/>
                      </a:cubicBezTo>
                      <a:cubicBezTo>
                        <a:pt x="560" y="454"/>
                        <a:pt x="555" y="470"/>
                        <a:pt x="548" y="485"/>
                      </a:cubicBezTo>
                      <a:cubicBezTo>
                        <a:pt x="549" y="489"/>
                        <a:pt x="550" y="492"/>
                        <a:pt x="551" y="496"/>
                      </a:cubicBezTo>
                      <a:cubicBezTo>
                        <a:pt x="552" y="500"/>
                        <a:pt x="556" y="508"/>
                        <a:pt x="556" y="508"/>
                      </a:cubicBezTo>
                      <a:cubicBezTo>
                        <a:pt x="559" y="524"/>
                        <a:pt x="562" y="546"/>
                        <a:pt x="576" y="557"/>
                      </a:cubicBezTo>
                      <a:lnTo>
                        <a:pt x="435" y="556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3" name="Freeform 52"/>
                <p:cNvSpPr>
                  <a:spLocks/>
                </p:cNvSpPr>
                <p:nvPr userDrawn="1"/>
              </p:nvSpPr>
              <p:spPr bwMode="ltGray">
                <a:xfrm>
                  <a:off x="727" y="495"/>
                  <a:ext cx="382" cy="540"/>
                </a:xfrm>
                <a:custGeom>
                  <a:avLst/>
                  <a:gdLst>
                    <a:gd name="T0" fmla="*/ 243 w 257"/>
                    <a:gd name="T1" fmla="*/ 347 h 347"/>
                    <a:gd name="T2" fmla="*/ 233 w 257"/>
                    <a:gd name="T3" fmla="*/ 301 h 347"/>
                    <a:gd name="T4" fmla="*/ 217 w 257"/>
                    <a:gd name="T5" fmla="*/ 288 h 347"/>
                    <a:gd name="T6" fmla="*/ 215 w 257"/>
                    <a:gd name="T7" fmla="*/ 269 h 347"/>
                    <a:gd name="T8" fmla="*/ 209 w 257"/>
                    <a:gd name="T9" fmla="*/ 254 h 347"/>
                    <a:gd name="T10" fmla="*/ 209 w 257"/>
                    <a:gd name="T11" fmla="*/ 229 h 347"/>
                    <a:gd name="T12" fmla="*/ 207 w 257"/>
                    <a:gd name="T13" fmla="*/ 214 h 347"/>
                    <a:gd name="T14" fmla="*/ 228 w 257"/>
                    <a:gd name="T15" fmla="*/ 202 h 347"/>
                    <a:gd name="T16" fmla="*/ 257 w 257"/>
                    <a:gd name="T17" fmla="*/ 197 h 347"/>
                    <a:gd name="T18" fmla="*/ 257 w 257"/>
                    <a:gd name="T19" fmla="*/ 136 h 347"/>
                    <a:gd name="T20" fmla="*/ 54 w 257"/>
                    <a:gd name="T21" fmla="*/ 96 h 347"/>
                    <a:gd name="T22" fmla="*/ 32 w 257"/>
                    <a:gd name="T23" fmla="*/ 98 h 347"/>
                    <a:gd name="T24" fmla="*/ 16 w 257"/>
                    <a:gd name="T25" fmla="*/ 102 h 347"/>
                    <a:gd name="T26" fmla="*/ 0 w 257"/>
                    <a:gd name="T27" fmla="*/ 149 h 347"/>
                    <a:gd name="T28" fmla="*/ 93 w 257"/>
                    <a:gd name="T29" fmla="*/ 346 h 347"/>
                    <a:gd name="T30" fmla="*/ 243 w 257"/>
                    <a:gd name="T31" fmla="*/ 347 h 347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0" t="0" r="r" b="b"/>
                  <a:pathLst>
                    <a:path w="257" h="347">
                      <a:moveTo>
                        <a:pt x="243" y="347"/>
                      </a:moveTo>
                      <a:lnTo>
                        <a:pt x="233" y="301"/>
                      </a:lnTo>
                      <a:lnTo>
                        <a:pt x="217" y="288"/>
                      </a:lnTo>
                      <a:lnTo>
                        <a:pt x="215" y="269"/>
                      </a:lnTo>
                      <a:lnTo>
                        <a:pt x="209" y="254"/>
                      </a:lnTo>
                      <a:lnTo>
                        <a:pt x="209" y="229"/>
                      </a:lnTo>
                      <a:lnTo>
                        <a:pt x="207" y="214"/>
                      </a:lnTo>
                      <a:lnTo>
                        <a:pt x="228" y="202"/>
                      </a:lnTo>
                      <a:lnTo>
                        <a:pt x="257" y="197"/>
                      </a:lnTo>
                      <a:lnTo>
                        <a:pt x="257" y="136"/>
                      </a:lnTo>
                      <a:cubicBezTo>
                        <a:pt x="209" y="119"/>
                        <a:pt x="13" y="0"/>
                        <a:pt x="54" y="96"/>
                      </a:cubicBezTo>
                      <a:cubicBezTo>
                        <a:pt x="36" y="106"/>
                        <a:pt x="57" y="97"/>
                        <a:pt x="32" y="98"/>
                      </a:cubicBezTo>
                      <a:cubicBezTo>
                        <a:pt x="27" y="99"/>
                        <a:pt x="16" y="102"/>
                        <a:pt x="16" y="102"/>
                      </a:cubicBezTo>
                      <a:lnTo>
                        <a:pt x="0" y="149"/>
                      </a:lnTo>
                      <a:lnTo>
                        <a:pt x="93" y="346"/>
                      </a:lnTo>
                      <a:lnTo>
                        <a:pt x="243" y="347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4" name="Freeform 53"/>
                <p:cNvSpPr>
                  <a:spLocks/>
                </p:cNvSpPr>
                <p:nvPr userDrawn="1"/>
              </p:nvSpPr>
              <p:spPr bwMode="ltGray">
                <a:xfrm>
                  <a:off x="1400" y="896"/>
                  <a:ext cx="16" cy="29"/>
                </a:xfrm>
                <a:custGeom>
                  <a:avLst/>
                  <a:gdLst>
                    <a:gd name="T0" fmla="*/ 7 w 19"/>
                    <a:gd name="T1" fmla="*/ 25 h 37"/>
                    <a:gd name="T2" fmla="*/ 19 w 19"/>
                    <a:gd name="T3" fmla="*/ 21 h 37"/>
                    <a:gd name="T4" fmla="*/ 7 w 19"/>
                    <a:gd name="T5" fmla="*/ 25 h 37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9" h="37">
                      <a:moveTo>
                        <a:pt x="7" y="25"/>
                      </a:moveTo>
                      <a:cubicBezTo>
                        <a:pt x="0" y="4"/>
                        <a:pt x="12" y="0"/>
                        <a:pt x="19" y="21"/>
                      </a:cubicBezTo>
                      <a:cubicBezTo>
                        <a:pt x="14" y="37"/>
                        <a:pt x="18" y="36"/>
                        <a:pt x="7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5" name="Freeform 54"/>
                <p:cNvSpPr>
                  <a:spLocks/>
                </p:cNvSpPr>
                <p:nvPr userDrawn="1"/>
              </p:nvSpPr>
              <p:spPr bwMode="ltGray">
                <a:xfrm>
                  <a:off x="1379" y="617"/>
                  <a:ext cx="21" cy="17"/>
                </a:xfrm>
                <a:custGeom>
                  <a:avLst/>
                  <a:gdLst>
                    <a:gd name="T0" fmla="*/ 12 w 22"/>
                    <a:gd name="T1" fmla="*/ 12 h 20"/>
                    <a:gd name="T2" fmla="*/ 16 w 22"/>
                    <a:gd name="T3" fmla="*/ 0 h 20"/>
                    <a:gd name="T4" fmla="*/ 20 w 22"/>
                    <a:gd name="T5" fmla="*/ 12 h 20"/>
                    <a:gd name="T6" fmla="*/ 8 w 22"/>
                    <a:gd name="T7" fmla="*/ 20 h 20"/>
                    <a:gd name="T8" fmla="*/ 12 w 22"/>
                    <a:gd name="T9" fmla="*/ 12 h 2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2" h="20">
                      <a:moveTo>
                        <a:pt x="12" y="12"/>
                      </a:moveTo>
                      <a:cubicBezTo>
                        <a:pt x="13" y="8"/>
                        <a:pt x="12" y="0"/>
                        <a:pt x="16" y="0"/>
                      </a:cubicBezTo>
                      <a:cubicBezTo>
                        <a:pt x="20" y="0"/>
                        <a:pt x="22" y="8"/>
                        <a:pt x="20" y="12"/>
                      </a:cubicBezTo>
                      <a:cubicBezTo>
                        <a:pt x="18" y="16"/>
                        <a:pt x="12" y="17"/>
                        <a:pt x="8" y="20"/>
                      </a:cubicBezTo>
                      <a:cubicBezTo>
                        <a:pt x="3" y="5"/>
                        <a:pt x="0" y="6"/>
                        <a:pt x="12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6" name="Freeform 55"/>
                <p:cNvSpPr>
                  <a:spLocks/>
                </p:cNvSpPr>
                <p:nvPr userDrawn="1"/>
              </p:nvSpPr>
              <p:spPr bwMode="ltGray">
                <a:xfrm>
                  <a:off x="453" y="275"/>
                  <a:ext cx="58" cy="24"/>
                </a:xfrm>
                <a:custGeom>
                  <a:avLst/>
                  <a:gdLst>
                    <a:gd name="T0" fmla="*/ 24 w 57"/>
                    <a:gd name="T1" fmla="*/ 18 h 30"/>
                    <a:gd name="T2" fmla="*/ 32 w 57"/>
                    <a:gd name="T3" fmla="*/ 6 h 30"/>
                    <a:gd name="T4" fmla="*/ 36 w 57"/>
                    <a:gd name="T5" fmla="*/ 30 h 30"/>
                    <a:gd name="T6" fmla="*/ 24 w 57"/>
                    <a:gd name="T7" fmla="*/ 18 h 3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57" h="30">
                      <a:moveTo>
                        <a:pt x="24" y="18"/>
                      </a:moveTo>
                      <a:cubicBezTo>
                        <a:pt x="0" y="10"/>
                        <a:pt x="9" y="0"/>
                        <a:pt x="32" y="6"/>
                      </a:cubicBezTo>
                      <a:cubicBezTo>
                        <a:pt x="46" y="15"/>
                        <a:pt x="57" y="23"/>
                        <a:pt x="36" y="30"/>
                      </a:cubicBezTo>
                      <a:cubicBezTo>
                        <a:pt x="21" y="25"/>
                        <a:pt x="24" y="30"/>
                        <a:pt x="24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7" name="Freeform 56"/>
                <p:cNvSpPr>
                  <a:spLocks/>
                </p:cNvSpPr>
                <p:nvPr userDrawn="1"/>
              </p:nvSpPr>
              <p:spPr bwMode="ltGray">
                <a:xfrm>
                  <a:off x="1161" y="50"/>
                  <a:ext cx="691" cy="569"/>
                </a:xfrm>
                <a:custGeom>
                  <a:avLst/>
                  <a:gdLst>
                    <a:gd name="T0" fmla="*/ 473 w 693"/>
                    <a:gd name="T1" fmla="*/ 464 h 696"/>
                    <a:gd name="T2" fmla="*/ 393 w 693"/>
                    <a:gd name="T3" fmla="*/ 452 h 696"/>
                    <a:gd name="T4" fmla="*/ 325 w 693"/>
                    <a:gd name="T5" fmla="*/ 412 h 696"/>
                    <a:gd name="T6" fmla="*/ 265 w 693"/>
                    <a:gd name="T7" fmla="*/ 400 h 696"/>
                    <a:gd name="T8" fmla="*/ 237 w 693"/>
                    <a:gd name="T9" fmla="*/ 416 h 696"/>
                    <a:gd name="T10" fmla="*/ 261 w 693"/>
                    <a:gd name="T11" fmla="*/ 428 h 696"/>
                    <a:gd name="T12" fmla="*/ 293 w 693"/>
                    <a:gd name="T13" fmla="*/ 468 h 696"/>
                    <a:gd name="T14" fmla="*/ 321 w 693"/>
                    <a:gd name="T15" fmla="*/ 476 h 696"/>
                    <a:gd name="T16" fmla="*/ 333 w 693"/>
                    <a:gd name="T17" fmla="*/ 536 h 696"/>
                    <a:gd name="T18" fmla="*/ 313 w 693"/>
                    <a:gd name="T19" fmla="*/ 552 h 696"/>
                    <a:gd name="T20" fmla="*/ 261 w 693"/>
                    <a:gd name="T21" fmla="*/ 616 h 696"/>
                    <a:gd name="T22" fmla="*/ 225 w 693"/>
                    <a:gd name="T23" fmla="*/ 628 h 696"/>
                    <a:gd name="T24" fmla="*/ 97 w 693"/>
                    <a:gd name="T25" fmla="*/ 696 h 696"/>
                    <a:gd name="T26" fmla="*/ 77 w 693"/>
                    <a:gd name="T27" fmla="*/ 616 h 696"/>
                    <a:gd name="T28" fmla="*/ 45 w 693"/>
                    <a:gd name="T29" fmla="*/ 524 h 696"/>
                    <a:gd name="T30" fmla="*/ 33 w 693"/>
                    <a:gd name="T31" fmla="*/ 448 h 696"/>
                    <a:gd name="T32" fmla="*/ 53 w 693"/>
                    <a:gd name="T33" fmla="*/ 344 h 696"/>
                    <a:gd name="T34" fmla="*/ 17 w 693"/>
                    <a:gd name="T35" fmla="*/ 392 h 696"/>
                    <a:gd name="T36" fmla="*/ 81 w 693"/>
                    <a:gd name="T37" fmla="*/ 280 h 696"/>
                    <a:gd name="T38" fmla="*/ 113 w 693"/>
                    <a:gd name="T39" fmla="*/ 204 h 696"/>
                    <a:gd name="T40" fmla="*/ 37 w 693"/>
                    <a:gd name="T41" fmla="*/ 204 h 696"/>
                    <a:gd name="T42" fmla="*/ 1 w 693"/>
                    <a:gd name="T43" fmla="*/ 196 h 696"/>
                    <a:gd name="T44" fmla="*/ 25 w 693"/>
                    <a:gd name="T45" fmla="*/ 140 h 696"/>
                    <a:gd name="T46" fmla="*/ 97 w 693"/>
                    <a:gd name="T47" fmla="*/ 112 h 696"/>
                    <a:gd name="T48" fmla="*/ 221 w 693"/>
                    <a:gd name="T49" fmla="*/ 124 h 696"/>
                    <a:gd name="T50" fmla="*/ 229 w 693"/>
                    <a:gd name="T51" fmla="*/ 64 h 696"/>
                    <a:gd name="T52" fmla="*/ 261 w 693"/>
                    <a:gd name="T53" fmla="*/ 0 h 696"/>
                    <a:gd name="T54" fmla="*/ 357 w 693"/>
                    <a:gd name="T55" fmla="*/ 44 h 696"/>
                    <a:gd name="T56" fmla="*/ 329 w 693"/>
                    <a:gd name="T57" fmla="*/ 88 h 696"/>
                    <a:gd name="T58" fmla="*/ 301 w 693"/>
                    <a:gd name="T59" fmla="*/ 176 h 696"/>
                    <a:gd name="T60" fmla="*/ 361 w 693"/>
                    <a:gd name="T61" fmla="*/ 192 h 696"/>
                    <a:gd name="T62" fmla="*/ 373 w 693"/>
                    <a:gd name="T63" fmla="*/ 136 h 696"/>
                    <a:gd name="T64" fmla="*/ 417 w 693"/>
                    <a:gd name="T65" fmla="*/ 92 h 696"/>
                    <a:gd name="T66" fmla="*/ 497 w 693"/>
                    <a:gd name="T67" fmla="*/ 88 h 696"/>
                    <a:gd name="T68" fmla="*/ 529 w 693"/>
                    <a:gd name="T69" fmla="*/ 52 h 696"/>
                    <a:gd name="T70" fmla="*/ 541 w 693"/>
                    <a:gd name="T71" fmla="*/ 460 h 69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0" t="0" r="r" b="b"/>
                  <a:pathLst>
                    <a:path w="693" h="696">
                      <a:moveTo>
                        <a:pt x="541" y="460"/>
                      </a:moveTo>
                      <a:lnTo>
                        <a:pt x="473" y="464"/>
                      </a:lnTo>
                      <a:lnTo>
                        <a:pt x="441" y="452"/>
                      </a:lnTo>
                      <a:lnTo>
                        <a:pt x="393" y="452"/>
                      </a:lnTo>
                      <a:cubicBezTo>
                        <a:pt x="365" y="448"/>
                        <a:pt x="360" y="444"/>
                        <a:pt x="337" y="436"/>
                      </a:cubicBezTo>
                      <a:cubicBezTo>
                        <a:pt x="336" y="432"/>
                        <a:pt x="330" y="413"/>
                        <a:pt x="325" y="412"/>
                      </a:cubicBezTo>
                      <a:cubicBezTo>
                        <a:pt x="317" y="411"/>
                        <a:pt x="301" y="420"/>
                        <a:pt x="301" y="420"/>
                      </a:cubicBezTo>
                      <a:cubicBezTo>
                        <a:pt x="289" y="412"/>
                        <a:pt x="277" y="408"/>
                        <a:pt x="265" y="400"/>
                      </a:cubicBezTo>
                      <a:cubicBezTo>
                        <a:pt x="252" y="380"/>
                        <a:pt x="256" y="356"/>
                        <a:pt x="233" y="348"/>
                      </a:cubicBezTo>
                      <a:cubicBezTo>
                        <a:pt x="217" y="372"/>
                        <a:pt x="221" y="392"/>
                        <a:pt x="237" y="416"/>
                      </a:cubicBezTo>
                      <a:cubicBezTo>
                        <a:pt x="234" y="428"/>
                        <a:pt x="228" y="445"/>
                        <a:pt x="237" y="444"/>
                      </a:cubicBezTo>
                      <a:cubicBezTo>
                        <a:pt x="247" y="443"/>
                        <a:pt x="261" y="428"/>
                        <a:pt x="261" y="428"/>
                      </a:cubicBezTo>
                      <a:cubicBezTo>
                        <a:pt x="258" y="450"/>
                        <a:pt x="243" y="475"/>
                        <a:pt x="269" y="484"/>
                      </a:cubicBezTo>
                      <a:cubicBezTo>
                        <a:pt x="277" y="479"/>
                        <a:pt x="288" y="476"/>
                        <a:pt x="293" y="468"/>
                      </a:cubicBezTo>
                      <a:cubicBezTo>
                        <a:pt x="302" y="454"/>
                        <a:pt x="303" y="446"/>
                        <a:pt x="317" y="436"/>
                      </a:cubicBezTo>
                      <a:cubicBezTo>
                        <a:pt x="315" y="448"/>
                        <a:pt x="306" y="467"/>
                        <a:pt x="321" y="476"/>
                      </a:cubicBezTo>
                      <a:cubicBezTo>
                        <a:pt x="328" y="480"/>
                        <a:pt x="345" y="484"/>
                        <a:pt x="345" y="484"/>
                      </a:cubicBezTo>
                      <a:cubicBezTo>
                        <a:pt x="382" y="472"/>
                        <a:pt x="347" y="527"/>
                        <a:pt x="333" y="536"/>
                      </a:cubicBezTo>
                      <a:cubicBezTo>
                        <a:pt x="330" y="540"/>
                        <a:pt x="329" y="545"/>
                        <a:pt x="325" y="548"/>
                      </a:cubicBezTo>
                      <a:cubicBezTo>
                        <a:pt x="322" y="551"/>
                        <a:pt x="316" y="549"/>
                        <a:pt x="313" y="552"/>
                      </a:cubicBezTo>
                      <a:cubicBezTo>
                        <a:pt x="300" y="565"/>
                        <a:pt x="320" y="575"/>
                        <a:pt x="293" y="584"/>
                      </a:cubicBezTo>
                      <a:cubicBezTo>
                        <a:pt x="286" y="595"/>
                        <a:pt x="272" y="610"/>
                        <a:pt x="261" y="616"/>
                      </a:cubicBezTo>
                      <a:cubicBezTo>
                        <a:pt x="254" y="620"/>
                        <a:pt x="245" y="621"/>
                        <a:pt x="237" y="624"/>
                      </a:cubicBezTo>
                      <a:cubicBezTo>
                        <a:pt x="233" y="625"/>
                        <a:pt x="225" y="628"/>
                        <a:pt x="225" y="628"/>
                      </a:cubicBezTo>
                      <a:cubicBezTo>
                        <a:pt x="215" y="659"/>
                        <a:pt x="212" y="652"/>
                        <a:pt x="173" y="656"/>
                      </a:cubicBezTo>
                      <a:cubicBezTo>
                        <a:pt x="140" y="667"/>
                        <a:pt x="132" y="687"/>
                        <a:pt x="97" y="696"/>
                      </a:cubicBezTo>
                      <a:cubicBezTo>
                        <a:pt x="77" y="691"/>
                        <a:pt x="75" y="687"/>
                        <a:pt x="81" y="668"/>
                      </a:cubicBezTo>
                      <a:cubicBezTo>
                        <a:pt x="77" y="646"/>
                        <a:pt x="72" y="639"/>
                        <a:pt x="77" y="616"/>
                      </a:cubicBezTo>
                      <a:cubicBezTo>
                        <a:pt x="73" y="598"/>
                        <a:pt x="71" y="587"/>
                        <a:pt x="61" y="572"/>
                      </a:cubicBezTo>
                      <a:cubicBezTo>
                        <a:pt x="58" y="551"/>
                        <a:pt x="51" y="543"/>
                        <a:pt x="45" y="524"/>
                      </a:cubicBezTo>
                      <a:cubicBezTo>
                        <a:pt x="52" y="502"/>
                        <a:pt x="58" y="496"/>
                        <a:pt x="49" y="472"/>
                      </a:cubicBezTo>
                      <a:cubicBezTo>
                        <a:pt x="46" y="463"/>
                        <a:pt x="33" y="448"/>
                        <a:pt x="33" y="448"/>
                      </a:cubicBezTo>
                      <a:cubicBezTo>
                        <a:pt x="42" y="422"/>
                        <a:pt x="42" y="408"/>
                        <a:pt x="33" y="380"/>
                      </a:cubicBezTo>
                      <a:cubicBezTo>
                        <a:pt x="49" y="369"/>
                        <a:pt x="48" y="362"/>
                        <a:pt x="53" y="344"/>
                      </a:cubicBezTo>
                      <a:cubicBezTo>
                        <a:pt x="47" y="327"/>
                        <a:pt x="49" y="308"/>
                        <a:pt x="33" y="332"/>
                      </a:cubicBezTo>
                      <a:cubicBezTo>
                        <a:pt x="40" y="353"/>
                        <a:pt x="29" y="374"/>
                        <a:pt x="17" y="392"/>
                      </a:cubicBezTo>
                      <a:cubicBezTo>
                        <a:pt x="6" y="360"/>
                        <a:pt x="10" y="340"/>
                        <a:pt x="13" y="304"/>
                      </a:cubicBezTo>
                      <a:cubicBezTo>
                        <a:pt x="44" y="314"/>
                        <a:pt x="54" y="289"/>
                        <a:pt x="81" y="280"/>
                      </a:cubicBezTo>
                      <a:cubicBezTo>
                        <a:pt x="94" y="261"/>
                        <a:pt x="85" y="242"/>
                        <a:pt x="105" y="228"/>
                      </a:cubicBezTo>
                      <a:cubicBezTo>
                        <a:pt x="108" y="220"/>
                        <a:pt x="110" y="212"/>
                        <a:pt x="113" y="204"/>
                      </a:cubicBezTo>
                      <a:cubicBezTo>
                        <a:pt x="116" y="196"/>
                        <a:pt x="89" y="196"/>
                        <a:pt x="89" y="196"/>
                      </a:cubicBezTo>
                      <a:cubicBezTo>
                        <a:pt x="81" y="221"/>
                        <a:pt x="58" y="211"/>
                        <a:pt x="37" y="204"/>
                      </a:cubicBezTo>
                      <a:cubicBezTo>
                        <a:pt x="33" y="207"/>
                        <a:pt x="30" y="213"/>
                        <a:pt x="25" y="212"/>
                      </a:cubicBezTo>
                      <a:cubicBezTo>
                        <a:pt x="16" y="210"/>
                        <a:pt x="1" y="196"/>
                        <a:pt x="1" y="196"/>
                      </a:cubicBezTo>
                      <a:cubicBezTo>
                        <a:pt x="4" y="186"/>
                        <a:pt x="4" y="174"/>
                        <a:pt x="9" y="164"/>
                      </a:cubicBezTo>
                      <a:cubicBezTo>
                        <a:pt x="13" y="155"/>
                        <a:pt x="25" y="140"/>
                        <a:pt x="25" y="140"/>
                      </a:cubicBezTo>
                      <a:cubicBezTo>
                        <a:pt x="0" y="132"/>
                        <a:pt x="25" y="128"/>
                        <a:pt x="37" y="124"/>
                      </a:cubicBezTo>
                      <a:cubicBezTo>
                        <a:pt x="58" y="131"/>
                        <a:pt x="75" y="116"/>
                        <a:pt x="97" y="112"/>
                      </a:cubicBezTo>
                      <a:cubicBezTo>
                        <a:pt x="135" y="87"/>
                        <a:pt x="159" y="122"/>
                        <a:pt x="197" y="132"/>
                      </a:cubicBezTo>
                      <a:cubicBezTo>
                        <a:pt x="205" y="129"/>
                        <a:pt x="213" y="127"/>
                        <a:pt x="221" y="124"/>
                      </a:cubicBezTo>
                      <a:cubicBezTo>
                        <a:pt x="225" y="123"/>
                        <a:pt x="226" y="147"/>
                        <a:pt x="233" y="120"/>
                      </a:cubicBezTo>
                      <a:lnTo>
                        <a:pt x="229" y="64"/>
                      </a:lnTo>
                      <a:lnTo>
                        <a:pt x="209" y="40"/>
                      </a:lnTo>
                      <a:cubicBezTo>
                        <a:pt x="243" y="21"/>
                        <a:pt x="240" y="21"/>
                        <a:pt x="261" y="0"/>
                      </a:cubicBezTo>
                      <a:cubicBezTo>
                        <a:pt x="297" y="16"/>
                        <a:pt x="333" y="32"/>
                        <a:pt x="369" y="48"/>
                      </a:cubicBezTo>
                      <a:cubicBezTo>
                        <a:pt x="373" y="50"/>
                        <a:pt x="361" y="44"/>
                        <a:pt x="357" y="44"/>
                      </a:cubicBezTo>
                      <a:cubicBezTo>
                        <a:pt x="349" y="45"/>
                        <a:pt x="333" y="52"/>
                        <a:pt x="333" y="52"/>
                      </a:cubicBezTo>
                      <a:cubicBezTo>
                        <a:pt x="322" y="68"/>
                        <a:pt x="318" y="71"/>
                        <a:pt x="329" y="88"/>
                      </a:cubicBezTo>
                      <a:cubicBezTo>
                        <a:pt x="308" y="119"/>
                        <a:pt x="323" y="118"/>
                        <a:pt x="333" y="148"/>
                      </a:cubicBezTo>
                      <a:cubicBezTo>
                        <a:pt x="320" y="157"/>
                        <a:pt x="314" y="167"/>
                        <a:pt x="301" y="176"/>
                      </a:cubicBezTo>
                      <a:cubicBezTo>
                        <a:pt x="306" y="213"/>
                        <a:pt x="303" y="213"/>
                        <a:pt x="337" y="220"/>
                      </a:cubicBezTo>
                      <a:cubicBezTo>
                        <a:pt x="358" y="216"/>
                        <a:pt x="368" y="214"/>
                        <a:pt x="361" y="192"/>
                      </a:cubicBezTo>
                      <a:cubicBezTo>
                        <a:pt x="362" y="177"/>
                        <a:pt x="362" y="162"/>
                        <a:pt x="365" y="148"/>
                      </a:cubicBezTo>
                      <a:cubicBezTo>
                        <a:pt x="366" y="143"/>
                        <a:pt x="369" y="133"/>
                        <a:pt x="373" y="136"/>
                      </a:cubicBezTo>
                      <a:cubicBezTo>
                        <a:pt x="379" y="140"/>
                        <a:pt x="376" y="149"/>
                        <a:pt x="377" y="156"/>
                      </a:cubicBezTo>
                      <a:cubicBezTo>
                        <a:pt x="404" y="147"/>
                        <a:pt x="409" y="116"/>
                        <a:pt x="417" y="92"/>
                      </a:cubicBezTo>
                      <a:cubicBezTo>
                        <a:pt x="422" y="76"/>
                        <a:pt x="453" y="74"/>
                        <a:pt x="465" y="72"/>
                      </a:cubicBezTo>
                      <a:cubicBezTo>
                        <a:pt x="472" y="92"/>
                        <a:pt x="477" y="93"/>
                        <a:pt x="497" y="88"/>
                      </a:cubicBezTo>
                      <a:cubicBezTo>
                        <a:pt x="512" y="78"/>
                        <a:pt x="515" y="74"/>
                        <a:pt x="509" y="56"/>
                      </a:cubicBezTo>
                      <a:cubicBezTo>
                        <a:pt x="523" y="46"/>
                        <a:pt x="517" y="46"/>
                        <a:pt x="529" y="52"/>
                      </a:cubicBezTo>
                      <a:lnTo>
                        <a:pt x="693" y="72"/>
                      </a:lnTo>
                      <a:lnTo>
                        <a:pt x="541" y="460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8" name="Freeform 57"/>
                <p:cNvSpPr>
                  <a:spLocks/>
                </p:cNvSpPr>
                <p:nvPr userDrawn="1"/>
              </p:nvSpPr>
              <p:spPr bwMode="ltGray">
                <a:xfrm>
                  <a:off x="689" y="6"/>
                  <a:ext cx="1386" cy="232"/>
                </a:xfrm>
                <a:custGeom>
                  <a:avLst/>
                  <a:gdLst>
                    <a:gd name="T0" fmla="*/ 825 w 931"/>
                    <a:gd name="T1" fmla="*/ 0 h 149"/>
                    <a:gd name="T2" fmla="*/ 143 w 931"/>
                    <a:gd name="T3" fmla="*/ 29 h 149"/>
                    <a:gd name="T4" fmla="*/ 91 w 931"/>
                    <a:gd name="T5" fmla="*/ 42 h 149"/>
                    <a:gd name="T6" fmla="*/ 62 w 931"/>
                    <a:gd name="T7" fmla="*/ 42 h 149"/>
                    <a:gd name="T8" fmla="*/ 22 w 931"/>
                    <a:gd name="T9" fmla="*/ 77 h 149"/>
                    <a:gd name="T10" fmla="*/ 0 w 931"/>
                    <a:gd name="T11" fmla="*/ 105 h 149"/>
                    <a:gd name="T12" fmla="*/ 59 w 931"/>
                    <a:gd name="T13" fmla="*/ 115 h 149"/>
                    <a:gd name="T14" fmla="*/ 97 w 931"/>
                    <a:gd name="T15" fmla="*/ 96 h 149"/>
                    <a:gd name="T16" fmla="*/ 108 w 931"/>
                    <a:gd name="T17" fmla="*/ 84 h 149"/>
                    <a:gd name="T18" fmla="*/ 167 w 931"/>
                    <a:gd name="T19" fmla="*/ 52 h 149"/>
                    <a:gd name="T20" fmla="*/ 215 w 931"/>
                    <a:gd name="T21" fmla="*/ 46 h 149"/>
                    <a:gd name="T22" fmla="*/ 237 w 931"/>
                    <a:gd name="T23" fmla="*/ 94 h 149"/>
                    <a:gd name="T24" fmla="*/ 188 w 931"/>
                    <a:gd name="T25" fmla="*/ 109 h 149"/>
                    <a:gd name="T26" fmla="*/ 231 w 931"/>
                    <a:gd name="T27" fmla="*/ 113 h 149"/>
                    <a:gd name="T28" fmla="*/ 250 w 931"/>
                    <a:gd name="T29" fmla="*/ 90 h 149"/>
                    <a:gd name="T30" fmla="*/ 266 w 931"/>
                    <a:gd name="T31" fmla="*/ 92 h 149"/>
                    <a:gd name="T32" fmla="*/ 253 w 931"/>
                    <a:gd name="T33" fmla="*/ 54 h 149"/>
                    <a:gd name="T34" fmla="*/ 266 w 931"/>
                    <a:gd name="T35" fmla="*/ 44 h 149"/>
                    <a:gd name="T36" fmla="*/ 277 w 931"/>
                    <a:gd name="T37" fmla="*/ 88 h 149"/>
                    <a:gd name="T38" fmla="*/ 266 w 931"/>
                    <a:gd name="T39" fmla="*/ 113 h 149"/>
                    <a:gd name="T40" fmla="*/ 296 w 931"/>
                    <a:gd name="T41" fmla="*/ 130 h 149"/>
                    <a:gd name="T42" fmla="*/ 299 w 931"/>
                    <a:gd name="T43" fmla="*/ 92 h 149"/>
                    <a:gd name="T44" fmla="*/ 331 w 931"/>
                    <a:gd name="T45" fmla="*/ 103 h 149"/>
                    <a:gd name="T46" fmla="*/ 382 w 931"/>
                    <a:gd name="T47" fmla="*/ 73 h 149"/>
                    <a:gd name="T48" fmla="*/ 409 w 931"/>
                    <a:gd name="T49" fmla="*/ 50 h 149"/>
                    <a:gd name="T50" fmla="*/ 439 w 931"/>
                    <a:gd name="T51" fmla="*/ 56 h 149"/>
                    <a:gd name="T52" fmla="*/ 455 w 931"/>
                    <a:gd name="T53" fmla="*/ 50 h 149"/>
                    <a:gd name="T54" fmla="*/ 431 w 931"/>
                    <a:gd name="T55" fmla="*/ 44 h 149"/>
                    <a:gd name="T56" fmla="*/ 474 w 931"/>
                    <a:gd name="T57" fmla="*/ 35 h 149"/>
                    <a:gd name="T58" fmla="*/ 544 w 931"/>
                    <a:gd name="T59" fmla="*/ 54 h 149"/>
                    <a:gd name="T60" fmla="*/ 581 w 931"/>
                    <a:gd name="T61" fmla="*/ 42 h 149"/>
                    <a:gd name="T62" fmla="*/ 584 w 931"/>
                    <a:gd name="T63" fmla="*/ 63 h 149"/>
                    <a:gd name="T64" fmla="*/ 568 w 931"/>
                    <a:gd name="T65" fmla="*/ 101 h 149"/>
                    <a:gd name="T66" fmla="*/ 611 w 931"/>
                    <a:gd name="T67" fmla="*/ 88 h 149"/>
                    <a:gd name="T68" fmla="*/ 624 w 931"/>
                    <a:gd name="T69" fmla="*/ 80 h 149"/>
                    <a:gd name="T70" fmla="*/ 648 w 931"/>
                    <a:gd name="T71" fmla="*/ 61 h 149"/>
                    <a:gd name="T72" fmla="*/ 794 w 931"/>
                    <a:gd name="T73" fmla="*/ 84 h 149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</a:gdLst>
                  <a:ahLst/>
                  <a:cxnLst>
                    <a:cxn ang="T74">
                      <a:pos x="T0" y="T1"/>
                    </a:cxn>
                    <a:cxn ang="T75">
                      <a:pos x="T2" y="T3"/>
                    </a:cxn>
                    <a:cxn ang="T76">
                      <a:pos x="T4" y="T5"/>
                    </a:cxn>
                    <a:cxn ang="T77">
                      <a:pos x="T6" y="T7"/>
                    </a:cxn>
                    <a:cxn ang="T78">
                      <a:pos x="T8" y="T9"/>
                    </a:cxn>
                    <a:cxn ang="T79">
                      <a:pos x="T10" y="T11"/>
                    </a:cxn>
                    <a:cxn ang="T80">
                      <a:pos x="T12" y="T13"/>
                    </a:cxn>
                    <a:cxn ang="T81">
                      <a:pos x="T14" y="T15"/>
                    </a:cxn>
                    <a:cxn ang="T82">
                      <a:pos x="T16" y="T17"/>
                    </a:cxn>
                    <a:cxn ang="T83">
                      <a:pos x="T18" y="T19"/>
                    </a:cxn>
                    <a:cxn ang="T84">
                      <a:pos x="T20" y="T21"/>
                    </a:cxn>
                    <a:cxn ang="T85">
                      <a:pos x="T22" y="T23"/>
                    </a:cxn>
                    <a:cxn ang="T86">
                      <a:pos x="T24" y="T25"/>
                    </a:cxn>
                    <a:cxn ang="T87">
                      <a:pos x="T26" y="T27"/>
                    </a:cxn>
                    <a:cxn ang="T88">
                      <a:pos x="T28" y="T29"/>
                    </a:cxn>
                    <a:cxn ang="T89">
                      <a:pos x="T30" y="T31"/>
                    </a:cxn>
                    <a:cxn ang="T90">
                      <a:pos x="T32" y="T33"/>
                    </a:cxn>
                    <a:cxn ang="T91">
                      <a:pos x="T34" y="T35"/>
                    </a:cxn>
                    <a:cxn ang="T92">
                      <a:pos x="T36" y="T37"/>
                    </a:cxn>
                    <a:cxn ang="T93">
                      <a:pos x="T38" y="T39"/>
                    </a:cxn>
                    <a:cxn ang="T94">
                      <a:pos x="T40" y="T41"/>
                    </a:cxn>
                    <a:cxn ang="T95">
                      <a:pos x="T42" y="T43"/>
                    </a:cxn>
                    <a:cxn ang="T96">
                      <a:pos x="T44" y="T45"/>
                    </a:cxn>
                    <a:cxn ang="T97">
                      <a:pos x="T46" y="T47"/>
                    </a:cxn>
                    <a:cxn ang="T98">
                      <a:pos x="T48" y="T49"/>
                    </a:cxn>
                    <a:cxn ang="T99">
                      <a:pos x="T50" y="T51"/>
                    </a:cxn>
                    <a:cxn ang="T100">
                      <a:pos x="T52" y="T53"/>
                    </a:cxn>
                    <a:cxn ang="T101">
                      <a:pos x="T54" y="T55"/>
                    </a:cxn>
                    <a:cxn ang="T102">
                      <a:pos x="T56" y="T57"/>
                    </a:cxn>
                    <a:cxn ang="T103">
                      <a:pos x="T58" y="T59"/>
                    </a:cxn>
                    <a:cxn ang="T104">
                      <a:pos x="T60" y="T61"/>
                    </a:cxn>
                    <a:cxn ang="T105">
                      <a:pos x="T62" y="T63"/>
                    </a:cxn>
                    <a:cxn ang="T106">
                      <a:pos x="T64" y="T65"/>
                    </a:cxn>
                    <a:cxn ang="T107">
                      <a:pos x="T66" y="T67"/>
                    </a:cxn>
                    <a:cxn ang="T108">
                      <a:pos x="T68" y="T69"/>
                    </a:cxn>
                    <a:cxn ang="T109">
                      <a:pos x="T70" y="T71"/>
                    </a:cxn>
                    <a:cxn ang="T110">
                      <a:pos x="T72" y="T73"/>
                    </a:cxn>
                  </a:cxnLst>
                  <a:rect l="0" t="0" r="r" b="b"/>
                  <a:pathLst>
                    <a:path w="931" h="149">
                      <a:moveTo>
                        <a:pt x="794" y="84"/>
                      </a:moveTo>
                      <a:cubicBezTo>
                        <a:pt x="813" y="72"/>
                        <a:pt x="931" y="14"/>
                        <a:pt x="825" y="0"/>
                      </a:cubicBezTo>
                      <a:lnTo>
                        <a:pt x="159" y="0"/>
                      </a:lnTo>
                      <a:cubicBezTo>
                        <a:pt x="149" y="12"/>
                        <a:pt x="162" y="18"/>
                        <a:pt x="143" y="29"/>
                      </a:cubicBezTo>
                      <a:cubicBezTo>
                        <a:pt x="130" y="44"/>
                        <a:pt x="133" y="39"/>
                        <a:pt x="116" y="48"/>
                      </a:cubicBezTo>
                      <a:cubicBezTo>
                        <a:pt x="108" y="46"/>
                        <a:pt x="100" y="44"/>
                        <a:pt x="91" y="42"/>
                      </a:cubicBezTo>
                      <a:cubicBezTo>
                        <a:pt x="89" y="41"/>
                        <a:pt x="83" y="40"/>
                        <a:pt x="83" y="40"/>
                      </a:cubicBezTo>
                      <a:cubicBezTo>
                        <a:pt x="76" y="40"/>
                        <a:pt x="68" y="39"/>
                        <a:pt x="62" y="42"/>
                      </a:cubicBezTo>
                      <a:cubicBezTo>
                        <a:pt x="54" y="45"/>
                        <a:pt x="46" y="61"/>
                        <a:pt x="38" y="67"/>
                      </a:cubicBezTo>
                      <a:cubicBezTo>
                        <a:pt x="32" y="71"/>
                        <a:pt x="27" y="74"/>
                        <a:pt x="22" y="77"/>
                      </a:cubicBezTo>
                      <a:cubicBezTo>
                        <a:pt x="16" y="81"/>
                        <a:pt x="5" y="86"/>
                        <a:pt x="5" y="86"/>
                      </a:cubicBezTo>
                      <a:cubicBezTo>
                        <a:pt x="9" y="95"/>
                        <a:pt x="7" y="97"/>
                        <a:pt x="0" y="105"/>
                      </a:cubicBezTo>
                      <a:cubicBezTo>
                        <a:pt x="17" y="107"/>
                        <a:pt x="22" y="107"/>
                        <a:pt x="16" y="120"/>
                      </a:cubicBezTo>
                      <a:cubicBezTo>
                        <a:pt x="27" y="122"/>
                        <a:pt x="48" y="116"/>
                        <a:pt x="59" y="115"/>
                      </a:cubicBezTo>
                      <a:cubicBezTo>
                        <a:pt x="71" y="112"/>
                        <a:pt x="73" y="117"/>
                        <a:pt x="83" y="111"/>
                      </a:cubicBezTo>
                      <a:cubicBezTo>
                        <a:pt x="89" y="96"/>
                        <a:pt x="83" y="100"/>
                        <a:pt x="97" y="96"/>
                      </a:cubicBezTo>
                      <a:cubicBezTo>
                        <a:pt x="100" y="94"/>
                        <a:pt x="103" y="93"/>
                        <a:pt x="105" y="90"/>
                      </a:cubicBezTo>
                      <a:cubicBezTo>
                        <a:pt x="106" y="88"/>
                        <a:pt x="106" y="85"/>
                        <a:pt x="108" y="84"/>
                      </a:cubicBezTo>
                      <a:cubicBezTo>
                        <a:pt x="112" y="80"/>
                        <a:pt x="140" y="69"/>
                        <a:pt x="148" y="67"/>
                      </a:cubicBezTo>
                      <a:cubicBezTo>
                        <a:pt x="160" y="52"/>
                        <a:pt x="153" y="56"/>
                        <a:pt x="167" y="52"/>
                      </a:cubicBezTo>
                      <a:cubicBezTo>
                        <a:pt x="178" y="55"/>
                        <a:pt x="179" y="62"/>
                        <a:pt x="191" y="58"/>
                      </a:cubicBezTo>
                      <a:cubicBezTo>
                        <a:pt x="199" y="52"/>
                        <a:pt x="206" y="51"/>
                        <a:pt x="215" y="46"/>
                      </a:cubicBezTo>
                      <a:cubicBezTo>
                        <a:pt x="226" y="58"/>
                        <a:pt x="217" y="46"/>
                        <a:pt x="223" y="69"/>
                      </a:cubicBezTo>
                      <a:cubicBezTo>
                        <a:pt x="226" y="79"/>
                        <a:pt x="233" y="85"/>
                        <a:pt x="237" y="94"/>
                      </a:cubicBezTo>
                      <a:cubicBezTo>
                        <a:pt x="227" y="100"/>
                        <a:pt x="229" y="104"/>
                        <a:pt x="218" y="107"/>
                      </a:cubicBezTo>
                      <a:cubicBezTo>
                        <a:pt x="207" y="120"/>
                        <a:pt x="203" y="113"/>
                        <a:pt x="188" y="109"/>
                      </a:cubicBezTo>
                      <a:cubicBezTo>
                        <a:pt x="191" y="117"/>
                        <a:pt x="200" y="127"/>
                        <a:pt x="210" y="132"/>
                      </a:cubicBezTo>
                      <a:cubicBezTo>
                        <a:pt x="218" y="114"/>
                        <a:pt x="211" y="122"/>
                        <a:pt x="231" y="113"/>
                      </a:cubicBezTo>
                      <a:cubicBezTo>
                        <a:pt x="237" y="111"/>
                        <a:pt x="248" y="105"/>
                        <a:pt x="248" y="105"/>
                      </a:cubicBezTo>
                      <a:cubicBezTo>
                        <a:pt x="248" y="100"/>
                        <a:pt x="246" y="94"/>
                        <a:pt x="250" y="90"/>
                      </a:cubicBezTo>
                      <a:cubicBezTo>
                        <a:pt x="253" y="88"/>
                        <a:pt x="254" y="96"/>
                        <a:pt x="258" y="96"/>
                      </a:cubicBezTo>
                      <a:cubicBezTo>
                        <a:pt x="262" y="97"/>
                        <a:pt x="264" y="94"/>
                        <a:pt x="266" y="92"/>
                      </a:cubicBezTo>
                      <a:cubicBezTo>
                        <a:pt x="262" y="82"/>
                        <a:pt x="252" y="77"/>
                        <a:pt x="248" y="67"/>
                      </a:cubicBezTo>
                      <a:cubicBezTo>
                        <a:pt x="250" y="63"/>
                        <a:pt x="255" y="58"/>
                        <a:pt x="253" y="54"/>
                      </a:cubicBezTo>
                      <a:cubicBezTo>
                        <a:pt x="251" y="50"/>
                        <a:pt x="248" y="42"/>
                        <a:pt x="248" y="42"/>
                      </a:cubicBezTo>
                      <a:cubicBezTo>
                        <a:pt x="256" y="32"/>
                        <a:pt x="259" y="35"/>
                        <a:pt x="266" y="44"/>
                      </a:cubicBezTo>
                      <a:cubicBezTo>
                        <a:pt x="270" y="56"/>
                        <a:pt x="276" y="61"/>
                        <a:pt x="285" y="71"/>
                      </a:cubicBezTo>
                      <a:cubicBezTo>
                        <a:pt x="281" y="81"/>
                        <a:pt x="289" y="82"/>
                        <a:pt x="277" y="88"/>
                      </a:cubicBezTo>
                      <a:cubicBezTo>
                        <a:pt x="262" y="106"/>
                        <a:pt x="278" y="83"/>
                        <a:pt x="274" y="101"/>
                      </a:cubicBezTo>
                      <a:cubicBezTo>
                        <a:pt x="274" y="105"/>
                        <a:pt x="268" y="109"/>
                        <a:pt x="266" y="113"/>
                      </a:cubicBezTo>
                      <a:cubicBezTo>
                        <a:pt x="270" y="122"/>
                        <a:pt x="268" y="125"/>
                        <a:pt x="261" y="132"/>
                      </a:cubicBezTo>
                      <a:cubicBezTo>
                        <a:pt x="268" y="149"/>
                        <a:pt x="282" y="134"/>
                        <a:pt x="296" y="130"/>
                      </a:cubicBezTo>
                      <a:cubicBezTo>
                        <a:pt x="299" y="122"/>
                        <a:pt x="295" y="119"/>
                        <a:pt x="299" y="111"/>
                      </a:cubicBezTo>
                      <a:cubicBezTo>
                        <a:pt x="296" y="105"/>
                        <a:pt x="288" y="97"/>
                        <a:pt x="299" y="92"/>
                      </a:cubicBezTo>
                      <a:cubicBezTo>
                        <a:pt x="303" y="90"/>
                        <a:pt x="315" y="88"/>
                        <a:pt x="315" y="88"/>
                      </a:cubicBezTo>
                      <a:cubicBezTo>
                        <a:pt x="326" y="91"/>
                        <a:pt x="325" y="95"/>
                        <a:pt x="331" y="103"/>
                      </a:cubicBezTo>
                      <a:cubicBezTo>
                        <a:pt x="339" y="84"/>
                        <a:pt x="331" y="90"/>
                        <a:pt x="361" y="92"/>
                      </a:cubicBezTo>
                      <a:cubicBezTo>
                        <a:pt x="355" y="76"/>
                        <a:pt x="365" y="76"/>
                        <a:pt x="382" y="73"/>
                      </a:cubicBezTo>
                      <a:cubicBezTo>
                        <a:pt x="383" y="71"/>
                        <a:pt x="387" y="57"/>
                        <a:pt x="393" y="54"/>
                      </a:cubicBezTo>
                      <a:cubicBezTo>
                        <a:pt x="398" y="52"/>
                        <a:pt x="409" y="50"/>
                        <a:pt x="409" y="50"/>
                      </a:cubicBezTo>
                      <a:cubicBezTo>
                        <a:pt x="430" y="54"/>
                        <a:pt x="413" y="58"/>
                        <a:pt x="431" y="63"/>
                      </a:cubicBezTo>
                      <a:cubicBezTo>
                        <a:pt x="433" y="61"/>
                        <a:pt x="435" y="57"/>
                        <a:pt x="439" y="56"/>
                      </a:cubicBezTo>
                      <a:cubicBezTo>
                        <a:pt x="445" y="55"/>
                        <a:pt x="452" y="61"/>
                        <a:pt x="457" y="58"/>
                      </a:cubicBezTo>
                      <a:cubicBezTo>
                        <a:pt x="461" y="57"/>
                        <a:pt x="457" y="52"/>
                        <a:pt x="455" y="50"/>
                      </a:cubicBezTo>
                      <a:cubicBezTo>
                        <a:pt x="451" y="47"/>
                        <a:pt x="444" y="47"/>
                        <a:pt x="439" y="46"/>
                      </a:cubicBezTo>
                      <a:cubicBezTo>
                        <a:pt x="436" y="45"/>
                        <a:pt x="431" y="44"/>
                        <a:pt x="431" y="44"/>
                      </a:cubicBezTo>
                      <a:cubicBezTo>
                        <a:pt x="440" y="38"/>
                        <a:pt x="443" y="36"/>
                        <a:pt x="455" y="40"/>
                      </a:cubicBezTo>
                      <a:cubicBezTo>
                        <a:pt x="461" y="38"/>
                        <a:pt x="467" y="35"/>
                        <a:pt x="474" y="35"/>
                      </a:cubicBezTo>
                      <a:cubicBezTo>
                        <a:pt x="483" y="36"/>
                        <a:pt x="511" y="43"/>
                        <a:pt x="519" y="46"/>
                      </a:cubicBezTo>
                      <a:cubicBezTo>
                        <a:pt x="527" y="49"/>
                        <a:pt x="544" y="54"/>
                        <a:pt x="544" y="54"/>
                      </a:cubicBezTo>
                      <a:cubicBezTo>
                        <a:pt x="548" y="54"/>
                        <a:pt x="560" y="52"/>
                        <a:pt x="565" y="50"/>
                      </a:cubicBezTo>
                      <a:cubicBezTo>
                        <a:pt x="570" y="47"/>
                        <a:pt x="581" y="42"/>
                        <a:pt x="581" y="42"/>
                      </a:cubicBezTo>
                      <a:cubicBezTo>
                        <a:pt x="585" y="42"/>
                        <a:pt x="598" y="44"/>
                        <a:pt x="600" y="48"/>
                      </a:cubicBezTo>
                      <a:cubicBezTo>
                        <a:pt x="603" y="55"/>
                        <a:pt x="589" y="61"/>
                        <a:pt x="584" y="63"/>
                      </a:cubicBezTo>
                      <a:cubicBezTo>
                        <a:pt x="576" y="69"/>
                        <a:pt x="568" y="69"/>
                        <a:pt x="565" y="77"/>
                      </a:cubicBezTo>
                      <a:cubicBezTo>
                        <a:pt x="568" y="86"/>
                        <a:pt x="564" y="92"/>
                        <a:pt x="568" y="101"/>
                      </a:cubicBezTo>
                      <a:cubicBezTo>
                        <a:pt x="574" y="93"/>
                        <a:pt x="577" y="91"/>
                        <a:pt x="589" y="94"/>
                      </a:cubicBezTo>
                      <a:cubicBezTo>
                        <a:pt x="595" y="108"/>
                        <a:pt x="602" y="93"/>
                        <a:pt x="611" y="88"/>
                      </a:cubicBezTo>
                      <a:cubicBezTo>
                        <a:pt x="613" y="86"/>
                        <a:pt x="613" y="83"/>
                        <a:pt x="616" y="82"/>
                      </a:cubicBezTo>
                      <a:cubicBezTo>
                        <a:pt x="618" y="80"/>
                        <a:pt x="622" y="81"/>
                        <a:pt x="624" y="80"/>
                      </a:cubicBezTo>
                      <a:cubicBezTo>
                        <a:pt x="626" y="78"/>
                        <a:pt x="626" y="75"/>
                        <a:pt x="627" y="73"/>
                      </a:cubicBezTo>
                      <a:cubicBezTo>
                        <a:pt x="632" y="65"/>
                        <a:pt x="638" y="63"/>
                        <a:pt x="648" y="61"/>
                      </a:cubicBezTo>
                      <a:cubicBezTo>
                        <a:pt x="664" y="62"/>
                        <a:pt x="684" y="69"/>
                        <a:pt x="700" y="69"/>
                      </a:cubicBezTo>
                      <a:lnTo>
                        <a:pt x="794" y="84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9" name="Freeform 58"/>
                <p:cNvSpPr>
                  <a:spLocks/>
                </p:cNvSpPr>
                <p:nvPr userDrawn="1"/>
              </p:nvSpPr>
              <p:spPr bwMode="ltGray">
                <a:xfrm>
                  <a:off x="971" y="91"/>
                  <a:ext cx="30" cy="25"/>
                </a:xfrm>
                <a:custGeom>
                  <a:avLst/>
                  <a:gdLst>
                    <a:gd name="T0" fmla="*/ 3 w 31"/>
                    <a:gd name="T1" fmla="*/ 28 h 30"/>
                    <a:gd name="T2" fmla="*/ 31 w 31"/>
                    <a:gd name="T3" fmla="*/ 0 h 30"/>
                    <a:gd name="T4" fmla="*/ 19 w 31"/>
                    <a:gd name="T5" fmla="*/ 24 h 30"/>
                    <a:gd name="T6" fmla="*/ 3 w 31"/>
                    <a:gd name="T7" fmla="*/ 28 h 3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1" h="30">
                      <a:moveTo>
                        <a:pt x="3" y="28"/>
                      </a:moveTo>
                      <a:cubicBezTo>
                        <a:pt x="8" y="8"/>
                        <a:pt x="12" y="6"/>
                        <a:pt x="31" y="0"/>
                      </a:cubicBezTo>
                      <a:cubicBezTo>
                        <a:pt x="29" y="5"/>
                        <a:pt x="25" y="22"/>
                        <a:pt x="19" y="24"/>
                      </a:cubicBezTo>
                      <a:cubicBezTo>
                        <a:pt x="0" y="30"/>
                        <a:pt x="3" y="9"/>
                        <a:pt x="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0" name="Freeform 59"/>
                <p:cNvSpPr>
                  <a:spLocks/>
                </p:cNvSpPr>
                <p:nvPr userDrawn="1"/>
              </p:nvSpPr>
              <p:spPr bwMode="ltGray">
                <a:xfrm>
                  <a:off x="935" y="125"/>
                  <a:ext cx="45" cy="27"/>
                </a:xfrm>
                <a:custGeom>
                  <a:avLst/>
                  <a:gdLst>
                    <a:gd name="T0" fmla="*/ 6 w 44"/>
                    <a:gd name="T1" fmla="*/ 32 h 32"/>
                    <a:gd name="T2" fmla="*/ 22 w 44"/>
                    <a:gd name="T3" fmla="*/ 0 h 32"/>
                    <a:gd name="T4" fmla="*/ 38 w 44"/>
                    <a:gd name="T5" fmla="*/ 4 h 32"/>
                    <a:gd name="T6" fmla="*/ 6 w 44"/>
                    <a:gd name="T7" fmla="*/ 32 h 32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44" h="32">
                      <a:moveTo>
                        <a:pt x="6" y="32"/>
                      </a:moveTo>
                      <a:cubicBezTo>
                        <a:pt x="0" y="14"/>
                        <a:pt x="7" y="10"/>
                        <a:pt x="22" y="0"/>
                      </a:cubicBezTo>
                      <a:cubicBezTo>
                        <a:pt x="27" y="1"/>
                        <a:pt x="35" y="0"/>
                        <a:pt x="38" y="4"/>
                      </a:cubicBezTo>
                      <a:cubicBezTo>
                        <a:pt x="44" y="13"/>
                        <a:pt x="16" y="32"/>
                        <a:pt x="6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1" name="Freeform 60"/>
                <p:cNvSpPr>
                  <a:spLocks/>
                </p:cNvSpPr>
                <p:nvPr userDrawn="1"/>
              </p:nvSpPr>
              <p:spPr bwMode="ltGray">
                <a:xfrm>
                  <a:off x="1081" y="226"/>
                  <a:ext cx="75" cy="14"/>
                </a:xfrm>
                <a:custGeom>
                  <a:avLst/>
                  <a:gdLst>
                    <a:gd name="T0" fmla="*/ 37 w 76"/>
                    <a:gd name="T1" fmla="*/ 18 h 18"/>
                    <a:gd name="T2" fmla="*/ 25 w 76"/>
                    <a:gd name="T3" fmla="*/ 2 h 18"/>
                    <a:gd name="T4" fmla="*/ 37 w 76"/>
                    <a:gd name="T5" fmla="*/ 18 h 1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76" h="18">
                      <a:moveTo>
                        <a:pt x="37" y="18"/>
                      </a:moveTo>
                      <a:cubicBezTo>
                        <a:pt x="25" y="14"/>
                        <a:pt x="0" y="10"/>
                        <a:pt x="25" y="2"/>
                      </a:cubicBezTo>
                      <a:cubicBezTo>
                        <a:pt x="76" y="9"/>
                        <a:pt x="46" y="0"/>
                        <a:pt x="37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2" name="Freeform 61"/>
                <p:cNvSpPr>
                  <a:spLocks/>
                </p:cNvSpPr>
                <p:nvPr userDrawn="1"/>
              </p:nvSpPr>
              <p:spPr bwMode="ltGray">
                <a:xfrm>
                  <a:off x="1210" y="223"/>
                  <a:ext cx="42" cy="37"/>
                </a:xfrm>
                <a:custGeom>
                  <a:avLst/>
                  <a:gdLst>
                    <a:gd name="T0" fmla="*/ 0 w 42"/>
                    <a:gd name="T1" fmla="*/ 21 h 44"/>
                    <a:gd name="T2" fmla="*/ 12 w 42"/>
                    <a:gd name="T3" fmla="*/ 9 h 44"/>
                    <a:gd name="T4" fmla="*/ 0 w 42"/>
                    <a:gd name="T5" fmla="*/ 21 h 4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2" h="44">
                      <a:moveTo>
                        <a:pt x="0" y="21"/>
                      </a:moveTo>
                      <a:cubicBezTo>
                        <a:pt x="4" y="17"/>
                        <a:pt x="7" y="11"/>
                        <a:pt x="12" y="9"/>
                      </a:cubicBezTo>
                      <a:cubicBezTo>
                        <a:pt x="42" y="0"/>
                        <a:pt x="23" y="44"/>
                        <a:pt x="0" y="2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3" name="Freeform 62"/>
                <p:cNvSpPr>
                  <a:spLocks/>
                </p:cNvSpPr>
                <p:nvPr userDrawn="1"/>
              </p:nvSpPr>
              <p:spPr bwMode="ltGray">
                <a:xfrm>
                  <a:off x="865" y="123"/>
                  <a:ext cx="33" cy="24"/>
                </a:xfrm>
                <a:custGeom>
                  <a:avLst/>
                  <a:gdLst>
                    <a:gd name="T0" fmla="*/ 7 w 31"/>
                    <a:gd name="T1" fmla="*/ 22 h 30"/>
                    <a:gd name="T2" fmla="*/ 31 w 31"/>
                    <a:gd name="T3" fmla="*/ 10 h 30"/>
                    <a:gd name="T4" fmla="*/ 7 w 31"/>
                    <a:gd name="T5" fmla="*/ 22 h 3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1" h="30">
                      <a:moveTo>
                        <a:pt x="7" y="22"/>
                      </a:moveTo>
                      <a:cubicBezTo>
                        <a:pt x="0" y="0"/>
                        <a:pt x="15" y="6"/>
                        <a:pt x="31" y="10"/>
                      </a:cubicBezTo>
                      <a:cubicBezTo>
                        <a:pt x="14" y="16"/>
                        <a:pt x="15" y="30"/>
                        <a:pt x="7" y="2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" name="Group 63"/>
              <p:cNvGrpSpPr>
                <a:grpSpLocks/>
              </p:cNvGrpSpPr>
              <p:nvPr userDrawn="1"/>
            </p:nvGrpSpPr>
            <p:grpSpPr bwMode="auto">
              <a:xfrm>
                <a:off x="7" y="-154"/>
                <a:ext cx="5739" cy="418"/>
                <a:chOff x="1056" y="111"/>
                <a:chExt cx="2448" cy="418"/>
              </a:xfrm>
            </p:grpSpPr>
            <p:sp>
              <p:nvSpPr>
                <p:cNvPr id="27" name="Line 64"/>
                <p:cNvSpPr>
                  <a:spLocks noChangeShapeType="1"/>
                </p:cNvSpPr>
                <p:nvPr/>
              </p:nvSpPr>
              <p:spPr bwMode="white">
                <a:xfrm>
                  <a:off x="1056" y="332"/>
                  <a:ext cx="2448" cy="0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8" name="Line 65"/>
                <p:cNvSpPr>
                  <a:spLocks noChangeShapeType="1"/>
                </p:cNvSpPr>
                <p:nvPr/>
              </p:nvSpPr>
              <p:spPr bwMode="white">
                <a:xfrm>
                  <a:off x="1254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9" name="Line 66"/>
                <p:cNvSpPr>
                  <a:spLocks noChangeShapeType="1"/>
                </p:cNvSpPr>
                <p:nvPr/>
              </p:nvSpPr>
              <p:spPr bwMode="white">
                <a:xfrm>
                  <a:off x="1482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0" name="Line 67"/>
                <p:cNvSpPr>
                  <a:spLocks noChangeShapeType="1"/>
                </p:cNvSpPr>
                <p:nvPr/>
              </p:nvSpPr>
              <p:spPr bwMode="white">
                <a:xfrm>
                  <a:off x="1710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1" name="Line 68"/>
                <p:cNvSpPr>
                  <a:spLocks noChangeShapeType="1"/>
                </p:cNvSpPr>
                <p:nvPr/>
              </p:nvSpPr>
              <p:spPr bwMode="white">
                <a:xfrm>
                  <a:off x="1938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2" name="Line 69"/>
                <p:cNvSpPr>
                  <a:spLocks noChangeShapeType="1"/>
                </p:cNvSpPr>
                <p:nvPr/>
              </p:nvSpPr>
              <p:spPr bwMode="white">
                <a:xfrm>
                  <a:off x="2166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" name="Line 70"/>
                <p:cNvSpPr>
                  <a:spLocks noChangeShapeType="1"/>
                </p:cNvSpPr>
                <p:nvPr/>
              </p:nvSpPr>
              <p:spPr bwMode="white">
                <a:xfrm>
                  <a:off x="2394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" name="Line 71"/>
                <p:cNvSpPr>
                  <a:spLocks noChangeShapeType="1"/>
                </p:cNvSpPr>
                <p:nvPr/>
              </p:nvSpPr>
              <p:spPr bwMode="white">
                <a:xfrm>
                  <a:off x="2622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5" name="Line 72"/>
                <p:cNvSpPr>
                  <a:spLocks noChangeShapeType="1"/>
                </p:cNvSpPr>
                <p:nvPr/>
              </p:nvSpPr>
              <p:spPr bwMode="white">
                <a:xfrm>
                  <a:off x="2850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6" name="Line 73"/>
                <p:cNvSpPr>
                  <a:spLocks noChangeShapeType="1"/>
                </p:cNvSpPr>
                <p:nvPr/>
              </p:nvSpPr>
              <p:spPr bwMode="white">
                <a:xfrm>
                  <a:off x="3078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" name="Line 74"/>
                <p:cNvSpPr>
                  <a:spLocks noChangeShapeType="1"/>
                </p:cNvSpPr>
                <p:nvPr/>
              </p:nvSpPr>
              <p:spPr bwMode="white">
                <a:xfrm>
                  <a:off x="3306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1" name="Group 75"/>
              <p:cNvGrpSpPr>
                <a:grpSpLocks/>
              </p:cNvGrpSpPr>
              <p:nvPr userDrawn="1"/>
            </p:nvGrpSpPr>
            <p:grpSpPr bwMode="auto">
              <a:xfrm>
                <a:off x="-1261" y="-1"/>
                <a:ext cx="2098" cy="1030"/>
                <a:chOff x="1208" y="109"/>
                <a:chExt cx="2098" cy="423"/>
              </a:xfrm>
            </p:grpSpPr>
            <p:sp>
              <p:nvSpPr>
                <p:cNvPr id="12" name="Line 76"/>
                <p:cNvSpPr>
                  <a:spLocks noChangeShapeType="1"/>
                </p:cNvSpPr>
                <p:nvPr/>
              </p:nvSpPr>
              <p:spPr bwMode="ltGray">
                <a:xfrm>
                  <a:off x="2850" y="110"/>
                  <a:ext cx="0" cy="14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" name="Line 77"/>
                <p:cNvSpPr>
                  <a:spLocks noChangeShapeType="1"/>
                </p:cNvSpPr>
                <p:nvPr/>
              </p:nvSpPr>
              <p:spPr bwMode="ltGray">
                <a:xfrm>
                  <a:off x="2972" y="332"/>
                  <a:ext cx="7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4" name="Line 78"/>
                <p:cNvSpPr>
                  <a:spLocks noChangeShapeType="1"/>
                </p:cNvSpPr>
                <p:nvPr/>
              </p:nvSpPr>
              <p:spPr bwMode="ltGray">
                <a:xfrm>
                  <a:off x="3078" y="350"/>
                  <a:ext cx="0" cy="2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" name="Line 79"/>
                <p:cNvSpPr>
                  <a:spLocks noChangeShapeType="1"/>
                </p:cNvSpPr>
                <p:nvPr/>
              </p:nvSpPr>
              <p:spPr bwMode="ltGray">
                <a:xfrm>
                  <a:off x="3306" y="450"/>
                  <a:ext cx="0" cy="79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6" name="Line 80"/>
                <p:cNvSpPr>
                  <a:spLocks noChangeShapeType="1"/>
                </p:cNvSpPr>
                <p:nvPr/>
              </p:nvSpPr>
              <p:spPr bwMode="ltGray">
                <a:xfrm>
                  <a:off x="2166" y="114"/>
                  <a:ext cx="0" cy="6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7" name="Line 81"/>
                <p:cNvSpPr>
                  <a:spLocks noChangeShapeType="1"/>
                </p:cNvSpPr>
                <p:nvPr/>
              </p:nvSpPr>
              <p:spPr bwMode="ltGray">
                <a:xfrm>
                  <a:off x="1938" y="111"/>
                  <a:ext cx="0" cy="33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" name="Line 82"/>
                <p:cNvSpPr>
                  <a:spLocks noChangeShapeType="1"/>
                </p:cNvSpPr>
                <p:nvPr/>
              </p:nvSpPr>
              <p:spPr bwMode="ltGray">
                <a:xfrm flipH="1">
                  <a:off x="1912" y="332"/>
                  <a:ext cx="6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9" name="Line 83"/>
                <p:cNvSpPr>
                  <a:spLocks noChangeShapeType="1"/>
                </p:cNvSpPr>
                <p:nvPr/>
              </p:nvSpPr>
              <p:spPr bwMode="ltGray">
                <a:xfrm>
                  <a:off x="1778" y="332"/>
                  <a:ext cx="6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0" name="Line 84"/>
                <p:cNvSpPr>
                  <a:spLocks noChangeShapeType="1"/>
                </p:cNvSpPr>
                <p:nvPr/>
              </p:nvSpPr>
              <p:spPr bwMode="ltGray">
                <a:xfrm flipH="1">
                  <a:off x="1578" y="332"/>
                  <a:ext cx="8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" name="Line 85"/>
                <p:cNvSpPr>
                  <a:spLocks noChangeShapeType="1"/>
                </p:cNvSpPr>
                <p:nvPr/>
              </p:nvSpPr>
              <p:spPr bwMode="ltGray">
                <a:xfrm>
                  <a:off x="1208" y="332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" name="Line 86"/>
                <p:cNvSpPr>
                  <a:spLocks noChangeShapeType="1"/>
                </p:cNvSpPr>
                <p:nvPr/>
              </p:nvSpPr>
              <p:spPr bwMode="ltGray">
                <a:xfrm>
                  <a:off x="1480" y="234"/>
                  <a:ext cx="0" cy="29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" name="Line 87"/>
                <p:cNvSpPr>
                  <a:spLocks noChangeShapeType="1"/>
                </p:cNvSpPr>
                <p:nvPr/>
              </p:nvSpPr>
              <p:spPr bwMode="ltGray">
                <a:xfrm>
                  <a:off x="1254" y="252"/>
                  <a:ext cx="0" cy="15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4" name="Line 88"/>
                <p:cNvSpPr>
                  <a:spLocks noChangeShapeType="1"/>
                </p:cNvSpPr>
                <p:nvPr/>
              </p:nvSpPr>
              <p:spPr bwMode="ltGray">
                <a:xfrm flipH="1" flipV="1">
                  <a:off x="1482" y="109"/>
                  <a:ext cx="0" cy="2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5" name="Line 89"/>
                <p:cNvSpPr>
                  <a:spLocks noChangeShapeType="1"/>
                </p:cNvSpPr>
                <p:nvPr/>
              </p:nvSpPr>
              <p:spPr bwMode="ltGray">
                <a:xfrm>
                  <a:off x="1710" y="18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6" name="Line 90"/>
                <p:cNvSpPr>
                  <a:spLocks noChangeShapeType="1"/>
                </p:cNvSpPr>
                <p:nvPr/>
              </p:nvSpPr>
              <p:spPr bwMode="ltGray">
                <a:xfrm flipV="1">
                  <a:off x="1710" y="111"/>
                  <a:ext cx="0" cy="2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pic>
          <p:nvPicPr>
            <p:cNvPr id="7" name="Picture 91" descr="earth"/>
            <p:cNvPicPr>
              <a:picLocks noChangeAspect="1" noChangeArrowheads="1"/>
            </p:cNvPicPr>
            <p:nvPr userDrawn="1"/>
          </p:nvPicPr>
          <p:blipFill>
            <a:blip r:embed="rId2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gray">
            <a:xfrm>
              <a:off x="336" y="1566"/>
              <a:ext cx="690" cy="6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212" name="Rectangle 92"/>
          <p:cNvSpPr>
            <a:spLocks noGrp="1" noChangeArrowheads="1"/>
          </p:cNvSpPr>
          <p:nvPr>
            <p:ph type="ctrTitle"/>
          </p:nvPr>
        </p:nvSpPr>
        <p:spPr>
          <a:xfrm>
            <a:off x="1828800" y="1828800"/>
            <a:ext cx="6934200" cy="2362200"/>
          </a:xfrm>
        </p:spPr>
        <p:txBody>
          <a:bodyPr/>
          <a:lstStyle>
            <a:lvl1pPr>
              <a:defRPr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213" name="Rectangle 9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4572000"/>
            <a:ext cx="6934200" cy="12954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94" name="Rectangle 94"/>
          <p:cNvSpPr>
            <a:spLocks noGrp="1" noChangeArrowheads="1"/>
          </p:cNvSpPr>
          <p:nvPr>
            <p:ph type="dt" sz="half" idx="10"/>
          </p:nvPr>
        </p:nvSpPr>
        <p:spPr>
          <a:xfrm>
            <a:off x="533400" y="6324600"/>
            <a:ext cx="1905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E59EC48-F65D-4168-ADD0-F8A3452B63F6}" type="datetime1">
              <a:rPr lang="en-US" smtClean="0"/>
              <a:t>9/30/2020</a:t>
            </a:fld>
            <a:endParaRPr lang="en-US"/>
          </a:p>
        </p:txBody>
      </p:sp>
      <p:sp>
        <p:nvSpPr>
          <p:cNvPr id="95" name="Rectangle 95"/>
          <p:cNvSpPr>
            <a:spLocks noGrp="1" noChangeArrowheads="1"/>
          </p:cNvSpPr>
          <p:nvPr>
            <p:ph type="ftr" sz="quarter" idx="11"/>
          </p:nvPr>
        </p:nvSpPr>
        <p:spPr>
          <a:xfrm>
            <a:off x="2057400" y="6324600"/>
            <a:ext cx="43434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smtClean="0"/>
              <a:t>Options, Futures, and Other Derivatives,  11th Edition, Copyright © John  C. Hull 2021</a:t>
            </a:r>
            <a:endParaRPr lang="en-US"/>
          </a:p>
        </p:txBody>
      </p:sp>
      <p:sp>
        <p:nvSpPr>
          <p:cNvPr id="96" name="Rectangle 9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5F5014-D8D7-4590-96C7-FD5688B2A72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3676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>
                <a:latin typeface="Arial" pitchFamily="34" charset="0"/>
                <a:cs typeface="Arial" pitchFamily="34" charset="0"/>
              </a:defRPr>
            </a:lvl1pPr>
            <a:lvl2pPr>
              <a:defRPr sz="24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25CFDE1-267D-429E-83DA-1FA5CED3EBB0}" type="datetime1">
              <a:rPr lang="en-US" smtClean="0"/>
              <a:t>9/30/2020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0200" y="6248400"/>
            <a:ext cx="50292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smtClean="0"/>
              <a:t>Options, Futures, and Other Derivatives,  11th Edition, Copyright © John  C. Hull 2021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9BB4B8-278C-45E0-968A-8816E13BB3E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109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4432F0-80C4-4846-B33E-2DB1F91152EE}" type="datetime1">
              <a:rPr lang="en-US" smtClean="0"/>
              <a:t>9/30/2020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 11th Edition, Copyright © John  C. Hull 2021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AEFA05-2741-47DF-AC47-8FFE2332AFF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60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47888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47888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B3627A-15A0-4E67-80D3-A5B3ABD008F9}" type="datetime1">
              <a:rPr lang="en-US" smtClean="0"/>
              <a:t>9/30/2020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 11th Edition, Copyright © John  C. Hull 2021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1D1FF3-9454-4425-875A-07013CF7537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5162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70C241-F517-4546-85FC-54B38ED5BCAE}" type="datetime1">
              <a:rPr lang="en-US" smtClean="0"/>
              <a:t>9/30/2020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 11th Edition, Copyright © John  C. Hull 2021</a:t>
            </a: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E220CA-9F58-41D4-B3D8-7588A98E6E2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5223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3844A95-4E98-4195-90D2-80D64283CD61}" type="datetime1">
              <a:rPr lang="en-US" smtClean="0"/>
              <a:t>9/30/2020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133600" y="6324600"/>
            <a:ext cx="48006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smtClean="0"/>
              <a:t>Options, Futures, and Other Derivatives,  11th Edition, Copyright © John  C. Hull 2021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E992E6-6347-42F5-A88F-CCC23CC560E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932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1EC4B5-4412-465A-889E-1CDBF83A7146}" type="datetime1">
              <a:rPr lang="en-US" smtClean="0"/>
              <a:t>9/30/2020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 11th Edition, Copyright © John  C. Hull 2021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C9BB4F-0588-4190-9E71-77D7C96EBD4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445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555299-950B-48EF-A317-623048A44D08}" type="datetime1">
              <a:rPr lang="en-US" smtClean="0"/>
              <a:t>9/30/2020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 11th Edition, Copyright © John  C. Hull 2021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4B0FD7-1C5D-43F8-A691-9F9F1B5DC2F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771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BB99A0-82AF-4FBC-AC25-CAB74BCA231C}" type="datetime1">
              <a:rPr lang="en-US" smtClean="0"/>
              <a:t>9/30/2020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 11th Edition, Copyright © John  C. Hull 2021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C61988-5001-4D9E-A747-37B473865C4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538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252433-A715-4164-B483-D0FCA8690AA1}" type="datetime1">
              <a:rPr lang="en-US" smtClean="0"/>
              <a:t>9/30/2020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 11th Edition, Copyright © John  C. Hull 2021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626C03-53DD-4D2A-B8E1-A43F708511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378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05563" y="930275"/>
            <a:ext cx="2052637" cy="533241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6063" y="930275"/>
            <a:ext cx="6007100" cy="533241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54357C-B000-4F38-AEBE-A74D17A598D4}" type="datetime1">
              <a:rPr lang="en-US" smtClean="0"/>
              <a:t>9/30/2020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 11th Edition, Copyright © John  C. Hull 2021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6DA001-D9AD-4F05-A368-B48D33EA545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458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8AAB475-CF0F-488D-A3C8-AD1AFB45E75E}" type="datetime1">
              <a:rPr lang="en-US" altLang="en-US" smtClean="0"/>
              <a:t>9/30/2020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50825" y="6248400"/>
            <a:ext cx="7561263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en-US" smtClean="0"/>
              <a:t>Options, Futures, and Other Derivatives,  11th Edition, Copyright © John  C. Hull 2021</a:t>
            </a:r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E69A69-AA2F-450B-B976-D7C65C272CB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871047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719263"/>
            <a:ext cx="4038600" cy="212883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4000500"/>
            <a:ext cx="4038600" cy="21304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E3D93DED-5402-41B1-8C6C-2B25C2714312}" type="datetime1">
              <a:rPr lang="en-US" smtClean="0"/>
              <a:t>9/30/2020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250825" y="6248400"/>
            <a:ext cx="7561263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smtClean="0"/>
              <a:t>Options, Futures, and Other Derivatives,  11th Edition, Copyright © John  C. Hull 2021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ADABED-5C7E-4582-B97D-5FCF7D9A2CC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823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2"/>
            </a:gs>
            <a:gs pos="50000">
              <a:schemeClr val="bg1"/>
            </a:gs>
            <a:gs pos="100000">
              <a:schemeClr val="bg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46063" y="930275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2147888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fld id="{80816F13-7DFC-4896-B082-3E6E4D245257}" type="datetime1">
              <a:rPr lang="en-US" smtClean="0"/>
              <a:t>9/30/2020</a:t>
            </a:fld>
            <a:endParaRPr lang="en-US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667000" y="6324600"/>
            <a:ext cx="441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smtClean="0"/>
              <a:t>Options, Futures, and Other Derivatives,  11th Edition, Copyright © John  C. Hull 2021</a:t>
            </a:r>
            <a:endParaRPr lang="en-US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47DF96D9-6D10-417F-88D1-F5F07B128B5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grpSp>
        <p:nvGrpSpPr>
          <p:cNvPr id="1031" name="Group 7"/>
          <p:cNvGrpSpPr>
            <a:grpSpLocks/>
          </p:cNvGrpSpPr>
          <p:nvPr/>
        </p:nvGrpSpPr>
        <p:grpSpPr bwMode="auto">
          <a:xfrm>
            <a:off x="261938" y="87313"/>
            <a:ext cx="8488362" cy="831850"/>
            <a:chOff x="165" y="55"/>
            <a:chExt cx="5347" cy="524"/>
          </a:xfrm>
        </p:grpSpPr>
        <p:grpSp>
          <p:nvGrpSpPr>
            <p:cNvPr id="1032" name="Group 8"/>
            <p:cNvGrpSpPr>
              <a:grpSpLocks/>
            </p:cNvGrpSpPr>
            <p:nvPr userDrawn="1"/>
          </p:nvGrpSpPr>
          <p:grpSpPr bwMode="auto">
            <a:xfrm>
              <a:off x="664" y="104"/>
              <a:ext cx="4848" cy="432"/>
              <a:chOff x="664" y="104"/>
              <a:chExt cx="4848" cy="432"/>
            </a:xfrm>
          </p:grpSpPr>
          <p:sp>
            <p:nvSpPr>
              <p:cNvPr id="1034" name="Freeform 9"/>
              <p:cNvSpPr>
                <a:spLocks/>
              </p:cNvSpPr>
              <p:nvPr/>
            </p:nvSpPr>
            <p:spPr bwMode="ltGray">
              <a:xfrm>
                <a:off x="664" y="104"/>
                <a:ext cx="4848" cy="432"/>
              </a:xfrm>
              <a:custGeom>
                <a:avLst/>
                <a:gdLst>
                  <a:gd name="T0" fmla="*/ 4848 w 4848"/>
                  <a:gd name="T1" fmla="*/ 48 h 432"/>
                  <a:gd name="T2" fmla="*/ 4848 w 4848"/>
                  <a:gd name="T3" fmla="*/ 432 h 432"/>
                  <a:gd name="T4" fmla="*/ 0 w 4848"/>
                  <a:gd name="T5" fmla="*/ 432 h 432"/>
                  <a:gd name="T6" fmla="*/ 0 w 4848"/>
                  <a:gd name="T7" fmla="*/ 0 h 432"/>
                  <a:gd name="T8" fmla="*/ 4848 w 4848"/>
                  <a:gd name="T9" fmla="*/ 0 h 432"/>
                  <a:gd name="T10" fmla="*/ 4848 w 4848"/>
                  <a:gd name="T11" fmla="*/ 48 h 43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848" h="432">
                    <a:moveTo>
                      <a:pt x="4848" y="48"/>
                    </a:moveTo>
                    <a:lnTo>
                      <a:pt x="4848" y="432"/>
                    </a:lnTo>
                    <a:cubicBezTo>
                      <a:pt x="4848" y="432"/>
                      <a:pt x="2424" y="432"/>
                      <a:pt x="0" y="432"/>
                    </a:cubicBezTo>
                    <a:cubicBezTo>
                      <a:pt x="161" y="345"/>
                      <a:pt x="169" y="61"/>
                      <a:pt x="0" y="0"/>
                    </a:cubicBezTo>
                    <a:cubicBezTo>
                      <a:pt x="2424" y="0"/>
                      <a:pt x="4848" y="0"/>
                      <a:pt x="4848" y="0"/>
                    </a:cubicBezTo>
                    <a:lnTo>
                      <a:pt x="4848" y="48"/>
                    </a:lnTo>
                    <a:close/>
                  </a:path>
                </a:pathLst>
              </a:custGeom>
              <a:solidFill>
                <a:schemeClr val="hlink"/>
              </a:soli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035" name="Group 10"/>
              <p:cNvGrpSpPr>
                <a:grpSpLocks/>
              </p:cNvGrpSpPr>
              <p:nvPr/>
            </p:nvGrpSpPr>
            <p:grpSpPr bwMode="auto">
              <a:xfrm>
                <a:off x="1195" y="104"/>
                <a:ext cx="3827" cy="429"/>
                <a:chOff x="1021" y="240"/>
                <a:chExt cx="3827" cy="429"/>
              </a:xfrm>
            </p:grpSpPr>
            <p:grpSp>
              <p:nvGrpSpPr>
                <p:cNvPr id="1084" name="Group 11"/>
                <p:cNvGrpSpPr>
                  <a:grpSpLocks/>
                </p:cNvGrpSpPr>
                <p:nvPr/>
              </p:nvGrpSpPr>
              <p:grpSpPr bwMode="auto">
                <a:xfrm>
                  <a:off x="1021" y="241"/>
                  <a:ext cx="2208" cy="427"/>
                  <a:chOff x="1021" y="241"/>
                  <a:chExt cx="2208" cy="427"/>
                </a:xfrm>
              </p:grpSpPr>
              <p:sp>
                <p:nvSpPr>
                  <p:cNvPr id="1128" name="Freeform 12"/>
                  <p:cNvSpPr>
                    <a:spLocks/>
                  </p:cNvSpPr>
                  <p:nvPr/>
                </p:nvSpPr>
                <p:spPr bwMode="ltGray">
                  <a:xfrm>
                    <a:off x="2257" y="633"/>
                    <a:ext cx="7" cy="8"/>
                  </a:xfrm>
                  <a:custGeom>
                    <a:avLst/>
                    <a:gdLst>
                      <a:gd name="T0" fmla="*/ 5 w 15"/>
                      <a:gd name="T1" fmla="*/ 11 h 23"/>
                      <a:gd name="T2" fmla="*/ 15 w 15"/>
                      <a:gd name="T3" fmla="*/ 5 h 23"/>
                      <a:gd name="T4" fmla="*/ 13 w 15"/>
                      <a:gd name="T5" fmla="*/ 17 h 23"/>
                      <a:gd name="T6" fmla="*/ 5 w 15"/>
                      <a:gd name="T7" fmla="*/ 11 h 23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15" h="23">
                        <a:moveTo>
                          <a:pt x="5" y="11"/>
                        </a:moveTo>
                        <a:cubicBezTo>
                          <a:pt x="2" y="1"/>
                          <a:pt x="7" y="0"/>
                          <a:pt x="15" y="5"/>
                        </a:cubicBezTo>
                        <a:cubicBezTo>
                          <a:pt x="14" y="9"/>
                          <a:pt x="15" y="13"/>
                          <a:pt x="13" y="17"/>
                        </a:cubicBezTo>
                        <a:cubicBezTo>
                          <a:pt x="9" y="23"/>
                          <a:pt x="0" y="16"/>
                          <a:pt x="5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9" name="Freeform 13"/>
                  <p:cNvSpPr>
                    <a:spLocks/>
                  </p:cNvSpPr>
                  <p:nvPr/>
                </p:nvSpPr>
                <p:spPr bwMode="ltGray">
                  <a:xfrm>
                    <a:off x="2332" y="660"/>
                    <a:ext cx="9" cy="8"/>
                  </a:xfrm>
                  <a:custGeom>
                    <a:avLst/>
                    <a:gdLst>
                      <a:gd name="T0" fmla="*/ 3 w 20"/>
                      <a:gd name="T1" fmla="*/ 13 h 23"/>
                      <a:gd name="T2" fmla="*/ 11 w 20"/>
                      <a:gd name="T3" fmla="*/ 3 h 23"/>
                      <a:gd name="T4" fmla="*/ 7 w 20"/>
                      <a:gd name="T5" fmla="*/ 19 h 23"/>
                      <a:gd name="T6" fmla="*/ 3 w 20"/>
                      <a:gd name="T7" fmla="*/ 13 h 23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23">
                        <a:moveTo>
                          <a:pt x="3" y="13"/>
                        </a:moveTo>
                        <a:cubicBezTo>
                          <a:pt x="0" y="5"/>
                          <a:pt x="2" y="0"/>
                          <a:pt x="11" y="3"/>
                        </a:cubicBezTo>
                        <a:cubicBezTo>
                          <a:pt x="16" y="10"/>
                          <a:pt x="20" y="23"/>
                          <a:pt x="7" y="19"/>
                        </a:cubicBezTo>
                        <a:cubicBezTo>
                          <a:pt x="6" y="17"/>
                          <a:pt x="3" y="13"/>
                          <a:pt x="3" y="1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0" name="Freeform 14"/>
                  <p:cNvSpPr>
                    <a:spLocks/>
                  </p:cNvSpPr>
                  <p:nvPr/>
                </p:nvSpPr>
                <p:spPr bwMode="ltGray">
                  <a:xfrm>
                    <a:off x="2120" y="616"/>
                    <a:ext cx="13" cy="14"/>
                  </a:xfrm>
                  <a:custGeom>
                    <a:avLst/>
                    <a:gdLst>
                      <a:gd name="T0" fmla="*/ 16 w 30"/>
                      <a:gd name="T1" fmla="*/ 33 h 42"/>
                      <a:gd name="T2" fmla="*/ 8 w 30"/>
                      <a:gd name="T3" fmla="*/ 21 h 42"/>
                      <a:gd name="T4" fmla="*/ 0 w 30"/>
                      <a:gd name="T5" fmla="*/ 9 h 42"/>
                      <a:gd name="T6" fmla="*/ 16 w 30"/>
                      <a:gd name="T7" fmla="*/ 3 h 42"/>
                      <a:gd name="T8" fmla="*/ 30 w 30"/>
                      <a:gd name="T9" fmla="*/ 23 h 42"/>
                      <a:gd name="T10" fmla="*/ 28 w 30"/>
                      <a:gd name="T11" fmla="*/ 31 h 42"/>
                      <a:gd name="T12" fmla="*/ 16 w 30"/>
                      <a:gd name="T13" fmla="*/ 33 h 42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30" h="42">
                        <a:moveTo>
                          <a:pt x="16" y="33"/>
                        </a:moveTo>
                        <a:cubicBezTo>
                          <a:pt x="3" y="20"/>
                          <a:pt x="15" y="34"/>
                          <a:pt x="8" y="21"/>
                        </a:cubicBezTo>
                        <a:cubicBezTo>
                          <a:pt x="6" y="17"/>
                          <a:pt x="0" y="9"/>
                          <a:pt x="0" y="9"/>
                        </a:cubicBezTo>
                        <a:cubicBezTo>
                          <a:pt x="5" y="1"/>
                          <a:pt x="7" y="0"/>
                          <a:pt x="16" y="3"/>
                        </a:cubicBezTo>
                        <a:cubicBezTo>
                          <a:pt x="25" y="16"/>
                          <a:pt x="10" y="16"/>
                          <a:pt x="30" y="23"/>
                        </a:cubicBezTo>
                        <a:cubicBezTo>
                          <a:pt x="29" y="26"/>
                          <a:pt x="30" y="29"/>
                          <a:pt x="28" y="31"/>
                        </a:cubicBezTo>
                        <a:cubicBezTo>
                          <a:pt x="15" y="42"/>
                          <a:pt x="16" y="38"/>
                          <a:pt x="16" y="3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1" name="Freeform 15"/>
                  <p:cNvSpPr>
                    <a:spLocks/>
                  </p:cNvSpPr>
                  <p:nvPr/>
                </p:nvSpPr>
                <p:spPr bwMode="ltGray">
                  <a:xfrm>
                    <a:off x="1967" y="629"/>
                    <a:ext cx="11" cy="5"/>
                  </a:xfrm>
                  <a:custGeom>
                    <a:avLst/>
                    <a:gdLst>
                      <a:gd name="T0" fmla="*/ 15 w 25"/>
                      <a:gd name="T1" fmla="*/ 16 h 16"/>
                      <a:gd name="T2" fmla="*/ 3 w 25"/>
                      <a:gd name="T3" fmla="*/ 8 h 16"/>
                      <a:gd name="T4" fmla="*/ 15 w 25"/>
                      <a:gd name="T5" fmla="*/ 0 h 16"/>
                      <a:gd name="T6" fmla="*/ 15 w 25"/>
                      <a:gd name="T7" fmla="*/ 16 h 1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5" h="16">
                        <a:moveTo>
                          <a:pt x="15" y="16"/>
                        </a:moveTo>
                        <a:cubicBezTo>
                          <a:pt x="10" y="15"/>
                          <a:pt x="0" y="12"/>
                          <a:pt x="3" y="8"/>
                        </a:cubicBezTo>
                        <a:cubicBezTo>
                          <a:pt x="6" y="4"/>
                          <a:pt x="15" y="0"/>
                          <a:pt x="15" y="0"/>
                        </a:cubicBezTo>
                        <a:cubicBezTo>
                          <a:pt x="17" y="3"/>
                          <a:pt x="25" y="16"/>
                          <a:pt x="15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2" name="Freeform 16"/>
                  <p:cNvSpPr>
                    <a:spLocks/>
                  </p:cNvSpPr>
                  <p:nvPr/>
                </p:nvSpPr>
                <p:spPr bwMode="ltGray">
                  <a:xfrm>
                    <a:off x="1921" y="635"/>
                    <a:ext cx="28" cy="16"/>
                  </a:xfrm>
                  <a:custGeom>
                    <a:avLst/>
                    <a:gdLst>
                      <a:gd name="T0" fmla="*/ 14 w 65"/>
                      <a:gd name="T1" fmla="*/ 24 h 46"/>
                      <a:gd name="T2" fmla="*/ 30 w 65"/>
                      <a:gd name="T3" fmla="*/ 4 h 46"/>
                      <a:gd name="T4" fmla="*/ 42 w 65"/>
                      <a:gd name="T5" fmla="*/ 0 h 46"/>
                      <a:gd name="T6" fmla="*/ 58 w 65"/>
                      <a:gd name="T7" fmla="*/ 12 h 46"/>
                      <a:gd name="T8" fmla="*/ 32 w 65"/>
                      <a:gd name="T9" fmla="*/ 26 h 46"/>
                      <a:gd name="T10" fmla="*/ 12 w 65"/>
                      <a:gd name="T11" fmla="*/ 46 h 46"/>
                      <a:gd name="T12" fmla="*/ 8 w 65"/>
                      <a:gd name="T13" fmla="*/ 20 h 46"/>
                      <a:gd name="T14" fmla="*/ 12 w 65"/>
                      <a:gd name="T15" fmla="*/ 14 h 46"/>
                      <a:gd name="T16" fmla="*/ 14 w 65"/>
                      <a:gd name="T17" fmla="*/ 24 h 4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65" h="46">
                        <a:moveTo>
                          <a:pt x="14" y="24"/>
                        </a:moveTo>
                        <a:cubicBezTo>
                          <a:pt x="18" y="13"/>
                          <a:pt x="16" y="9"/>
                          <a:pt x="30" y="4"/>
                        </a:cubicBezTo>
                        <a:cubicBezTo>
                          <a:pt x="34" y="3"/>
                          <a:pt x="42" y="0"/>
                          <a:pt x="42" y="0"/>
                        </a:cubicBezTo>
                        <a:cubicBezTo>
                          <a:pt x="50" y="1"/>
                          <a:pt x="65" y="0"/>
                          <a:pt x="58" y="12"/>
                        </a:cubicBezTo>
                        <a:cubicBezTo>
                          <a:pt x="53" y="21"/>
                          <a:pt x="40" y="21"/>
                          <a:pt x="32" y="26"/>
                        </a:cubicBezTo>
                        <a:cubicBezTo>
                          <a:pt x="26" y="35"/>
                          <a:pt x="23" y="42"/>
                          <a:pt x="12" y="46"/>
                        </a:cubicBezTo>
                        <a:cubicBezTo>
                          <a:pt x="0" y="42"/>
                          <a:pt x="5" y="30"/>
                          <a:pt x="8" y="20"/>
                        </a:cubicBezTo>
                        <a:cubicBezTo>
                          <a:pt x="9" y="18"/>
                          <a:pt x="10" y="13"/>
                          <a:pt x="12" y="14"/>
                        </a:cubicBezTo>
                        <a:cubicBezTo>
                          <a:pt x="15" y="16"/>
                          <a:pt x="13" y="21"/>
                          <a:pt x="14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3" name="Freeform 17"/>
                  <p:cNvSpPr>
                    <a:spLocks/>
                  </p:cNvSpPr>
                  <p:nvPr/>
                </p:nvSpPr>
                <p:spPr bwMode="ltGray">
                  <a:xfrm>
                    <a:off x="1892" y="634"/>
                    <a:ext cx="29" cy="16"/>
                  </a:xfrm>
                  <a:custGeom>
                    <a:avLst/>
                    <a:gdLst>
                      <a:gd name="T0" fmla="*/ 0 w 69"/>
                      <a:gd name="T1" fmla="*/ 31 h 47"/>
                      <a:gd name="T2" fmla="*/ 18 w 69"/>
                      <a:gd name="T3" fmla="*/ 25 h 47"/>
                      <a:gd name="T4" fmla="*/ 52 w 69"/>
                      <a:gd name="T5" fmla="*/ 1 h 47"/>
                      <a:gd name="T6" fmla="*/ 64 w 69"/>
                      <a:gd name="T7" fmla="*/ 3 h 47"/>
                      <a:gd name="T8" fmla="*/ 50 w 69"/>
                      <a:gd name="T9" fmla="*/ 19 h 47"/>
                      <a:gd name="T10" fmla="*/ 28 w 69"/>
                      <a:gd name="T11" fmla="*/ 33 h 47"/>
                      <a:gd name="T12" fmla="*/ 22 w 69"/>
                      <a:gd name="T13" fmla="*/ 47 h 47"/>
                      <a:gd name="T14" fmla="*/ 16 w 69"/>
                      <a:gd name="T15" fmla="*/ 45 h 47"/>
                      <a:gd name="T16" fmla="*/ 12 w 69"/>
                      <a:gd name="T17" fmla="*/ 39 h 47"/>
                      <a:gd name="T18" fmla="*/ 0 w 69"/>
                      <a:gd name="T19" fmla="*/ 35 h 47"/>
                      <a:gd name="T20" fmla="*/ 0 w 69"/>
                      <a:gd name="T21" fmla="*/ 31 h 47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9" h="47">
                        <a:moveTo>
                          <a:pt x="0" y="31"/>
                        </a:moveTo>
                        <a:cubicBezTo>
                          <a:pt x="7" y="24"/>
                          <a:pt x="9" y="22"/>
                          <a:pt x="18" y="25"/>
                        </a:cubicBezTo>
                        <a:cubicBezTo>
                          <a:pt x="25" y="4"/>
                          <a:pt x="36" y="12"/>
                          <a:pt x="52" y="1"/>
                        </a:cubicBezTo>
                        <a:cubicBezTo>
                          <a:pt x="56" y="2"/>
                          <a:pt x="61" y="0"/>
                          <a:pt x="64" y="3"/>
                        </a:cubicBezTo>
                        <a:cubicBezTo>
                          <a:pt x="69" y="8"/>
                          <a:pt x="50" y="19"/>
                          <a:pt x="50" y="19"/>
                        </a:cubicBezTo>
                        <a:cubicBezTo>
                          <a:pt x="46" y="31"/>
                          <a:pt x="35" y="22"/>
                          <a:pt x="28" y="33"/>
                        </a:cubicBezTo>
                        <a:cubicBezTo>
                          <a:pt x="31" y="41"/>
                          <a:pt x="31" y="44"/>
                          <a:pt x="22" y="47"/>
                        </a:cubicBezTo>
                        <a:cubicBezTo>
                          <a:pt x="20" y="46"/>
                          <a:pt x="18" y="46"/>
                          <a:pt x="16" y="45"/>
                        </a:cubicBezTo>
                        <a:cubicBezTo>
                          <a:pt x="14" y="43"/>
                          <a:pt x="14" y="40"/>
                          <a:pt x="12" y="39"/>
                        </a:cubicBezTo>
                        <a:cubicBezTo>
                          <a:pt x="8" y="37"/>
                          <a:pt x="0" y="35"/>
                          <a:pt x="0" y="35"/>
                        </a:cubicBezTo>
                        <a:cubicBezTo>
                          <a:pt x="2" y="26"/>
                          <a:pt x="3" y="25"/>
                          <a:pt x="0" y="3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4" name="Freeform 18"/>
                  <p:cNvSpPr>
                    <a:spLocks/>
                  </p:cNvSpPr>
                  <p:nvPr/>
                </p:nvSpPr>
                <p:spPr bwMode="ltGray">
                  <a:xfrm>
                    <a:off x="1735" y="547"/>
                    <a:ext cx="151" cy="93"/>
                  </a:xfrm>
                  <a:custGeom>
                    <a:avLst/>
                    <a:gdLst>
                      <a:gd name="T0" fmla="*/ 10 w 355"/>
                      <a:gd name="T1" fmla="*/ 4 h 277"/>
                      <a:gd name="T2" fmla="*/ 36 w 355"/>
                      <a:gd name="T3" fmla="*/ 18 h 277"/>
                      <a:gd name="T4" fmla="*/ 46 w 355"/>
                      <a:gd name="T5" fmla="*/ 30 h 277"/>
                      <a:gd name="T6" fmla="*/ 76 w 355"/>
                      <a:gd name="T7" fmla="*/ 52 h 277"/>
                      <a:gd name="T8" fmla="*/ 92 w 355"/>
                      <a:gd name="T9" fmla="*/ 66 h 277"/>
                      <a:gd name="T10" fmla="*/ 122 w 355"/>
                      <a:gd name="T11" fmla="*/ 98 h 277"/>
                      <a:gd name="T12" fmla="*/ 136 w 355"/>
                      <a:gd name="T13" fmla="*/ 128 h 277"/>
                      <a:gd name="T14" fmla="*/ 148 w 355"/>
                      <a:gd name="T15" fmla="*/ 132 h 277"/>
                      <a:gd name="T16" fmla="*/ 154 w 355"/>
                      <a:gd name="T17" fmla="*/ 150 h 277"/>
                      <a:gd name="T18" fmla="*/ 176 w 355"/>
                      <a:gd name="T19" fmla="*/ 152 h 277"/>
                      <a:gd name="T20" fmla="*/ 170 w 355"/>
                      <a:gd name="T21" fmla="*/ 196 h 277"/>
                      <a:gd name="T22" fmla="*/ 180 w 355"/>
                      <a:gd name="T23" fmla="*/ 224 h 277"/>
                      <a:gd name="T24" fmla="*/ 198 w 355"/>
                      <a:gd name="T25" fmla="*/ 232 h 277"/>
                      <a:gd name="T26" fmla="*/ 216 w 355"/>
                      <a:gd name="T27" fmla="*/ 234 h 277"/>
                      <a:gd name="T28" fmla="*/ 236 w 355"/>
                      <a:gd name="T29" fmla="*/ 242 h 277"/>
                      <a:gd name="T30" fmla="*/ 254 w 355"/>
                      <a:gd name="T31" fmla="*/ 236 h 277"/>
                      <a:gd name="T32" fmla="*/ 272 w 355"/>
                      <a:gd name="T33" fmla="*/ 248 h 277"/>
                      <a:gd name="T34" fmla="*/ 296 w 355"/>
                      <a:gd name="T35" fmla="*/ 256 h 277"/>
                      <a:gd name="T36" fmla="*/ 314 w 355"/>
                      <a:gd name="T37" fmla="*/ 264 h 277"/>
                      <a:gd name="T38" fmla="*/ 352 w 355"/>
                      <a:gd name="T39" fmla="*/ 266 h 277"/>
                      <a:gd name="T40" fmla="*/ 342 w 355"/>
                      <a:gd name="T41" fmla="*/ 274 h 277"/>
                      <a:gd name="T42" fmla="*/ 322 w 355"/>
                      <a:gd name="T43" fmla="*/ 272 h 277"/>
                      <a:gd name="T44" fmla="*/ 300 w 355"/>
                      <a:gd name="T45" fmla="*/ 270 h 277"/>
                      <a:gd name="T46" fmla="*/ 288 w 355"/>
                      <a:gd name="T47" fmla="*/ 266 h 277"/>
                      <a:gd name="T48" fmla="*/ 252 w 355"/>
                      <a:gd name="T49" fmla="*/ 264 h 277"/>
                      <a:gd name="T50" fmla="*/ 234 w 355"/>
                      <a:gd name="T51" fmla="*/ 260 h 277"/>
                      <a:gd name="T52" fmla="*/ 172 w 355"/>
                      <a:gd name="T53" fmla="*/ 242 h 277"/>
                      <a:gd name="T54" fmla="*/ 160 w 355"/>
                      <a:gd name="T55" fmla="*/ 216 h 277"/>
                      <a:gd name="T56" fmla="*/ 126 w 355"/>
                      <a:gd name="T57" fmla="*/ 200 h 277"/>
                      <a:gd name="T58" fmla="*/ 108 w 355"/>
                      <a:gd name="T59" fmla="*/ 186 h 277"/>
                      <a:gd name="T60" fmla="*/ 94 w 355"/>
                      <a:gd name="T61" fmla="*/ 158 h 277"/>
                      <a:gd name="T62" fmla="*/ 68 w 355"/>
                      <a:gd name="T63" fmla="*/ 108 h 277"/>
                      <a:gd name="T64" fmla="*/ 64 w 355"/>
                      <a:gd name="T65" fmla="*/ 102 h 277"/>
                      <a:gd name="T66" fmla="*/ 58 w 355"/>
                      <a:gd name="T67" fmla="*/ 100 h 277"/>
                      <a:gd name="T68" fmla="*/ 54 w 355"/>
                      <a:gd name="T69" fmla="*/ 88 h 277"/>
                      <a:gd name="T70" fmla="*/ 38 w 355"/>
                      <a:gd name="T71" fmla="*/ 58 h 277"/>
                      <a:gd name="T72" fmla="*/ 20 w 355"/>
                      <a:gd name="T73" fmla="*/ 40 h 277"/>
                      <a:gd name="T74" fmla="*/ 4 w 355"/>
                      <a:gd name="T75" fmla="*/ 22 h 277"/>
                      <a:gd name="T76" fmla="*/ 10 w 355"/>
                      <a:gd name="T77" fmla="*/ 2 h 277"/>
                      <a:gd name="T78" fmla="*/ 10 w 355"/>
                      <a:gd name="T79" fmla="*/ 4 h 277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</a:gdLst>
                    <a:ahLst/>
                    <a:cxnLst>
                      <a:cxn ang="T80">
                        <a:pos x="T0" y="T1"/>
                      </a:cxn>
                      <a:cxn ang="T81">
                        <a:pos x="T2" y="T3"/>
                      </a:cxn>
                      <a:cxn ang="T82">
                        <a:pos x="T4" y="T5"/>
                      </a:cxn>
                      <a:cxn ang="T83">
                        <a:pos x="T6" y="T7"/>
                      </a:cxn>
                      <a:cxn ang="T84">
                        <a:pos x="T8" y="T9"/>
                      </a:cxn>
                      <a:cxn ang="T85">
                        <a:pos x="T10" y="T11"/>
                      </a:cxn>
                      <a:cxn ang="T86">
                        <a:pos x="T12" y="T13"/>
                      </a:cxn>
                      <a:cxn ang="T87">
                        <a:pos x="T14" y="T15"/>
                      </a:cxn>
                      <a:cxn ang="T88">
                        <a:pos x="T16" y="T17"/>
                      </a:cxn>
                      <a:cxn ang="T89">
                        <a:pos x="T18" y="T19"/>
                      </a:cxn>
                      <a:cxn ang="T90">
                        <a:pos x="T20" y="T21"/>
                      </a:cxn>
                      <a:cxn ang="T91">
                        <a:pos x="T22" y="T23"/>
                      </a:cxn>
                      <a:cxn ang="T92">
                        <a:pos x="T24" y="T25"/>
                      </a:cxn>
                      <a:cxn ang="T93">
                        <a:pos x="T26" y="T27"/>
                      </a:cxn>
                      <a:cxn ang="T94">
                        <a:pos x="T28" y="T29"/>
                      </a:cxn>
                      <a:cxn ang="T95">
                        <a:pos x="T30" y="T31"/>
                      </a:cxn>
                      <a:cxn ang="T96">
                        <a:pos x="T32" y="T33"/>
                      </a:cxn>
                      <a:cxn ang="T97">
                        <a:pos x="T34" y="T35"/>
                      </a:cxn>
                      <a:cxn ang="T98">
                        <a:pos x="T36" y="T37"/>
                      </a:cxn>
                      <a:cxn ang="T99">
                        <a:pos x="T38" y="T39"/>
                      </a:cxn>
                      <a:cxn ang="T100">
                        <a:pos x="T40" y="T41"/>
                      </a:cxn>
                      <a:cxn ang="T101">
                        <a:pos x="T42" y="T43"/>
                      </a:cxn>
                      <a:cxn ang="T102">
                        <a:pos x="T44" y="T45"/>
                      </a:cxn>
                      <a:cxn ang="T103">
                        <a:pos x="T46" y="T47"/>
                      </a:cxn>
                      <a:cxn ang="T104">
                        <a:pos x="T48" y="T49"/>
                      </a:cxn>
                      <a:cxn ang="T105">
                        <a:pos x="T50" y="T51"/>
                      </a:cxn>
                      <a:cxn ang="T106">
                        <a:pos x="T52" y="T53"/>
                      </a:cxn>
                      <a:cxn ang="T107">
                        <a:pos x="T54" y="T55"/>
                      </a:cxn>
                      <a:cxn ang="T108">
                        <a:pos x="T56" y="T57"/>
                      </a:cxn>
                      <a:cxn ang="T109">
                        <a:pos x="T58" y="T59"/>
                      </a:cxn>
                      <a:cxn ang="T110">
                        <a:pos x="T60" y="T61"/>
                      </a:cxn>
                      <a:cxn ang="T111">
                        <a:pos x="T62" y="T63"/>
                      </a:cxn>
                      <a:cxn ang="T112">
                        <a:pos x="T64" y="T65"/>
                      </a:cxn>
                      <a:cxn ang="T113">
                        <a:pos x="T66" y="T67"/>
                      </a:cxn>
                      <a:cxn ang="T114">
                        <a:pos x="T68" y="T69"/>
                      </a:cxn>
                      <a:cxn ang="T115">
                        <a:pos x="T70" y="T71"/>
                      </a:cxn>
                      <a:cxn ang="T116">
                        <a:pos x="T72" y="T73"/>
                      </a:cxn>
                      <a:cxn ang="T117">
                        <a:pos x="T74" y="T75"/>
                      </a:cxn>
                      <a:cxn ang="T118">
                        <a:pos x="T76" y="T77"/>
                      </a:cxn>
                      <a:cxn ang="T119">
                        <a:pos x="T78" y="T79"/>
                      </a:cxn>
                    </a:cxnLst>
                    <a:rect l="0" t="0" r="r" b="b"/>
                    <a:pathLst>
                      <a:path w="355" h="277">
                        <a:moveTo>
                          <a:pt x="10" y="4"/>
                        </a:moveTo>
                        <a:cubicBezTo>
                          <a:pt x="22" y="0"/>
                          <a:pt x="24" y="14"/>
                          <a:pt x="36" y="18"/>
                        </a:cubicBezTo>
                        <a:cubicBezTo>
                          <a:pt x="37" y="19"/>
                          <a:pt x="45" y="29"/>
                          <a:pt x="46" y="30"/>
                        </a:cubicBezTo>
                        <a:cubicBezTo>
                          <a:pt x="56" y="40"/>
                          <a:pt x="67" y="38"/>
                          <a:pt x="76" y="52"/>
                        </a:cubicBezTo>
                        <a:cubicBezTo>
                          <a:pt x="80" y="58"/>
                          <a:pt x="92" y="66"/>
                          <a:pt x="92" y="66"/>
                        </a:cubicBezTo>
                        <a:cubicBezTo>
                          <a:pt x="96" y="79"/>
                          <a:pt x="112" y="88"/>
                          <a:pt x="122" y="98"/>
                        </a:cubicBezTo>
                        <a:cubicBezTo>
                          <a:pt x="124" y="105"/>
                          <a:pt x="130" y="124"/>
                          <a:pt x="136" y="128"/>
                        </a:cubicBezTo>
                        <a:cubicBezTo>
                          <a:pt x="140" y="130"/>
                          <a:pt x="148" y="132"/>
                          <a:pt x="148" y="132"/>
                        </a:cubicBezTo>
                        <a:cubicBezTo>
                          <a:pt x="150" y="138"/>
                          <a:pt x="154" y="150"/>
                          <a:pt x="154" y="150"/>
                        </a:cubicBezTo>
                        <a:cubicBezTo>
                          <a:pt x="161" y="139"/>
                          <a:pt x="168" y="144"/>
                          <a:pt x="176" y="152"/>
                        </a:cubicBezTo>
                        <a:cubicBezTo>
                          <a:pt x="174" y="167"/>
                          <a:pt x="173" y="181"/>
                          <a:pt x="170" y="196"/>
                        </a:cubicBezTo>
                        <a:cubicBezTo>
                          <a:pt x="171" y="202"/>
                          <a:pt x="174" y="220"/>
                          <a:pt x="180" y="224"/>
                        </a:cubicBezTo>
                        <a:cubicBezTo>
                          <a:pt x="185" y="228"/>
                          <a:pt x="193" y="228"/>
                          <a:pt x="198" y="232"/>
                        </a:cubicBezTo>
                        <a:cubicBezTo>
                          <a:pt x="204" y="230"/>
                          <a:pt x="216" y="234"/>
                          <a:pt x="216" y="234"/>
                        </a:cubicBezTo>
                        <a:cubicBezTo>
                          <a:pt x="223" y="241"/>
                          <a:pt x="225" y="245"/>
                          <a:pt x="236" y="242"/>
                        </a:cubicBezTo>
                        <a:cubicBezTo>
                          <a:pt x="242" y="240"/>
                          <a:pt x="254" y="236"/>
                          <a:pt x="254" y="236"/>
                        </a:cubicBezTo>
                        <a:cubicBezTo>
                          <a:pt x="260" y="240"/>
                          <a:pt x="265" y="246"/>
                          <a:pt x="272" y="248"/>
                        </a:cubicBezTo>
                        <a:cubicBezTo>
                          <a:pt x="277" y="250"/>
                          <a:pt x="291" y="252"/>
                          <a:pt x="296" y="256"/>
                        </a:cubicBezTo>
                        <a:cubicBezTo>
                          <a:pt x="301" y="260"/>
                          <a:pt x="314" y="264"/>
                          <a:pt x="314" y="264"/>
                        </a:cubicBezTo>
                        <a:cubicBezTo>
                          <a:pt x="330" y="263"/>
                          <a:pt x="338" y="261"/>
                          <a:pt x="352" y="266"/>
                        </a:cubicBezTo>
                        <a:cubicBezTo>
                          <a:pt x="355" y="275"/>
                          <a:pt x="350" y="277"/>
                          <a:pt x="342" y="274"/>
                        </a:cubicBezTo>
                        <a:cubicBezTo>
                          <a:pt x="336" y="276"/>
                          <a:pt x="322" y="272"/>
                          <a:pt x="322" y="272"/>
                        </a:cubicBezTo>
                        <a:cubicBezTo>
                          <a:pt x="314" y="275"/>
                          <a:pt x="308" y="272"/>
                          <a:pt x="300" y="270"/>
                        </a:cubicBezTo>
                        <a:cubicBezTo>
                          <a:pt x="296" y="269"/>
                          <a:pt x="288" y="266"/>
                          <a:pt x="288" y="266"/>
                        </a:cubicBezTo>
                        <a:cubicBezTo>
                          <a:pt x="276" y="270"/>
                          <a:pt x="264" y="266"/>
                          <a:pt x="252" y="264"/>
                        </a:cubicBezTo>
                        <a:cubicBezTo>
                          <a:pt x="245" y="259"/>
                          <a:pt x="242" y="257"/>
                          <a:pt x="234" y="260"/>
                        </a:cubicBezTo>
                        <a:cubicBezTo>
                          <a:pt x="211" y="252"/>
                          <a:pt x="192" y="256"/>
                          <a:pt x="172" y="242"/>
                        </a:cubicBezTo>
                        <a:cubicBezTo>
                          <a:pt x="165" y="231"/>
                          <a:pt x="176" y="221"/>
                          <a:pt x="160" y="216"/>
                        </a:cubicBezTo>
                        <a:cubicBezTo>
                          <a:pt x="154" y="233"/>
                          <a:pt x="136" y="203"/>
                          <a:pt x="126" y="200"/>
                        </a:cubicBezTo>
                        <a:cubicBezTo>
                          <a:pt x="120" y="196"/>
                          <a:pt x="114" y="190"/>
                          <a:pt x="108" y="186"/>
                        </a:cubicBezTo>
                        <a:cubicBezTo>
                          <a:pt x="104" y="175"/>
                          <a:pt x="104" y="165"/>
                          <a:pt x="94" y="158"/>
                        </a:cubicBezTo>
                        <a:cubicBezTo>
                          <a:pt x="83" y="142"/>
                          <a:pt x="85" y="119"/>
                          <a:pt x="68" y="108"/>
                        </a:cubicBezTo>
                        <a:cubicBezTo>
                          <a:pt x="67" y="106"/>
                          <a:pt x="66" y="104"/>
                          <a:pt x="64" y="102"/>
                        </a:cubicBezTo>
                        <a:cubicBezTo>
                          <a:pt x="62" y="101"/>
                          <a:pt x="59" y="102"/>
                          <a:pt x="58" y="100"/>
                        </a:cubicBezTo>
                        <a:cubicBezTo>
                          <a:pt x="56" y="97"/>
                          <a:pt x="54" y="88"/>
                          <a:pt x="54" y="88"/>
                        </a:cubicBezTo>
                        <a:cubicBezTo>
                          <a:pt x="59" y="73"/>
                          <a:pt x="52" y="61"/>
                          <a:pt x="38" y="58"/>
                        </a:cubicBezTo>
                        <a:cubicBezTo>
                          <a:pt x="32" y="49"/>
                          <a:pt x="31" y="44"/>
                          <a:pt x="20" y="40"/>
                        </a:cubicBezTo>
                        <a:cubicBezTo>
                          <a:pt x="16" y="27"/>
                          <a:pt x="16" y="26"/>
                          <a:pt x="4" y="22"/>
                        </a:cubicBezTo>
                        <a:cubicBezTo>
                          <a:pt x="1" y="13"/>
                          <a:pt x="0" y="5"/>
                          <a:pt x="10" y="2"/>
                        </a:cubicBezTo>
                        <a:cubicBezTo>
                          <a:pt x="18" y="5"/>
                          <a:pt x="18" y="4"/>
                          <a:pt x="10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5" name="Freeform 19"/>
                  <p:cNvSpPr>
                    <a:spLocks/>
                  </p:cNvSpPr>
                  <p:nvPr/>
                </p:nvSpPr>
                <p:spPr bwMode="ltGray">
                  <a:xfrm>
                    <a:off x="1827" y="541"/>
                    <a:ext cx="67" cy="68"/>
                  </a:xfrm>
                  <a:custGeom>
                    <a:avLst/>
                    <a:gdLst>
                      <a:gd name="T0" fmla="*/ 54 w 156"/>
                      <a:gd name="T1" fmla="*/ 66 h 206"/>
                      <a:gd name="T2" fmla="*/ 66 w 156"/>
                      <a:gd name="T3" fmla="*/ 58 h 206"/>
                      <a:gd name="T4" fmla="*/ 68 w 156"/>
                      <a:gd name="T5" fmla="*/ 52 h 206"/>
                      <a:gd name="T6" fmla="*/ 80 w 156"/>
                      <a:gd name="T7" fmla="*/ 44 h 206"/>
                      <a:gd name="T8" fmla="*/ 106 w 156"/>
                      <a:gd name="T9" fmla="*/ 22 h 206"/>
                      <a:gd name="T10" fmla="*/ 112 w 156"/>
                      <a:gd name="T11" fmla="*/ 4 h 206"/>
                      <a:gd name="T12" fmla="*/ 124 w 156"/>
                      <a:gd name="T13" fmla="*/ 0 h 206"/>
                      <a:gd name="T14" fmla="*/ 150 w 156"/>
                      <a:gd name="T15" fmla="*/ 28 h 206"/>
                      <a:gd name="T16" fmla="*/ 146 w 156"/>
                      <a:gd name="T17" fmla="*/ 44 h 206"/>
                      <a:gd name="T18" fmla="*/ 126 w 156"/>
                      <a:gd name="T19" fmla="*/ 64 h 206"/>
                      <a:gd name="T20" fmla="*/ 132 w 156"/>
                      <a:gd name="T21" fmla="*/ 94 h 206"/>
                      <a:gd name="T22" fmla="*/ 142 w 156"/>
                      <a:gd name="T23" fmla="*/ 110 h 206"/>
                      <a:gd name="T24" fmla="*/ 146 w 156"/>
                      <a:gd name="T25" fmla="*/ 128 h 206"/>
                      <a:gd name="T26" fmla="*/ 128 w 156"/>
                      <a:gd name="T27" fmla="*/ 128 h 206"/>
                      <a:gd name="T28" fmla="*/ 116 w 156"/>
                      <a:gd name="T29" fmla="*/ 146 h 206"/>
                      <a:gd name="T30" fmla="*/ 104 w 156"/>
                      <a:gd name="T31" fmla="*/ 156 h 206"/>
                      <a:gd name="T32" fmla="*/ 100 w 156"/>
                      <a:gd name="T33" fmla="*/ 198 h 206"/>
                      <a:gd name="T34" fmla="*/ 88 w 156"/>
                      <a:gd name="T35" fmla="*/ 202 h 206"/>
                      <a:gd name="T36" fmla="*/ 82 w 156"/>
                      <a:gd name="T37" fmla="*/ 206 h 206"/>
                      <a:gd name="T38" fmla="*/ 76 w 156"/>
                      <a:gd name="T39" fmla="*/ 202 h 206"/>
                      <a:gd name="T40" fmla="*/ 72 w 156"/>
                      <a:gd name="T41" fmla="*/ 190 h 206"/>
                      <a:gd name="T42" fmla="*/ 60 w 156"/>
                      <a:gd name="T43" fmla="*/ 186 h 206"/>
                      <a:gd name="T44" fmla="*/ 42 w 156"/>
                      <a:gd name="T45" fmla="*/ 194 h 206"/>
                      <a:gd name="T46" fmla="*/ 28 w 156"/>
                      <a:gd name="T47" fmla="*/ 186 h 206"/>
                      <a:gd name="T48" fmla="*/ 10 w 156"/>
                      <a:gd name="T49" fmla="*/ 148 h 206"/>
                      <a:gd name="T50" fmla="*/ 4 w 156"/>
                      <a:gd name="T51" fmla="*/ 130 h 206"/>
                      <a:gd name="T52" fmla="*/ 0 w 156"/>
                      <a:gd name="T53" fmla="*/ 118 h 206"/>
                      <a:gd name="T54" fmla="*/ 20 w 156"/>
                      <a:gd name="T55" fmla="*/ 96 h 206"/>
                      <a:gd name="T56" fmla="*/ 32 w 156"/>
                      <a:gd name="T57" fmla="*/ 104 h 206"/>
                      <a:gd name="T58" fmla="*/ 34 w 156"/>
                      <a:gd name="T59" fmla="*/ 80 h 206"/>
                      <a:gd name="T60" fmla="*/ 52 w 156"/>
                      <a:gd name="T61" fmla="*/ 70 h 206"/>
                      <a:gd name="T62" fmla="*/ 54 w 156"/>
                      <a:gd name="T63" fmla="*/ 66 h 20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</a:gdLst>
                    <a:ahLst/>
                    <a:cxnLst>
                      <a:cxn ang="T64">
                        <a:pos x="T0" y="T1"/>
                      </a:cxn>
                      <a:cxn ang="T65">
                        <a:pos x="T2" y="T3"/>
                      </a:cxn>
                      <a:cxn ang="T66">
                        <a:pos x="T4" y="T5"/>
                      </a:cxn>
                      <a:cxn ang="T67">
                        <a:pos x="T6" y="T7"/>
                      </a:cxn>
                      <a:cxn ang="T68">
                        <a:pos x="T8" y="T9"/>
                      </a:cxn>
                      <a:cxn ang="T69">
                        <a:pos x="T10" y="T11"/>
                      </a:cxn>
                      <a:cxn ang="T70">
                        <a:pos x="T12" y="T13"/>
                      </a:cxn>
                      <a:cxn ang="T71">
                        <a:pos x="T14" y="T15"/>
                      </a:cxn>
                      <a:cxn ang="T72">
                        <a:pos x="T16" y="T17"/>
                      </a:cxn>
                      <a:cxn ang="T73">
                        <a:pos x="T18" y="T19"/>
                      </a:cxn>
                      <a:cxn ang="T74">
                        <a:pos x="T20" y="T21"/>
                      </a:cxn>
                      <a:cxn ang="T75">
                        <a:pos x="T22" y="T23"/>
                      </a:cxn>
                      <a:cxn ang="T76">
                        <a:pos x="T24" y="T25"/>
                      </a:cxn>
                      <a:cxn ang="T77">
                        <a:pos x="T26" y="T27"/>
                      </a:cxn>
                      <a:cxn ang="T78">
                        <a:pos x="T28" y="T29"/>
                      </a:cxn>
                      <a:cxn ang="T79">
                        <a:pos x="T30" y="T31"/>
                      </a:cxn>
                      <a:cxn ang="T80">
                        <a:pos x="T32" y="T33"/>
                      </a:cxn>
                      <a:cxn ang="T81">
                        <a:pos x="T34" y="T35"/>
                      </a:cxn>
                      <a:cxn ang="T82">
                        <a:pos x="T36" y="T37"/>
                      </a:cxn>
                      <a:cxn ang="T83">
                        <a:pos x="T38" y="T39"/>
                      </a:cxn>
                      <a:cxn ang="T84">
                        <a:pos x="T40" y="T41"/>
                      </a:cxn>
                      <a:cxn ang="T85">
                        <a:pos x="T42" y="T43"/>
                      </a:cxn>
                      <a:cxn ang="T86">
                        <a:pos x="T44" y="T45"/>
                      </a:cxn>
                      <a:cxn ang="T87">
                        <a:pos x="T46" y="T47"/>
                      </a:cxn>
                      <a:cxn ang="T88">
                        <a:pos x="T48" y="T49"/>
                      </a:cxn>
                      <a:cxn ang="T89">
                        <a:pos x="T50" y="T51"/>
                      </a:cxn>
                      <a:cxn ang="T90">
                        <a:pos x="T52" y="T53"/>
                      </a:cxn>
                      <a:cxn ang="T91">
                        <a:pos x="T54" y="T55"/>
                      </a:cxn>
                      <a:cxn ang="T92">
                        <a:pos x="T56" y="T57"/>
                      </a:cxn>
                      <a:cxn ang="T93">
                        <a:pos x="T58" y="T59"/>
                      </a:cxn>
                      <a:cxn ang="T94">
                        <a:pos x="T60" y="T61"/>
                      </a:cxn>
                      <a:cxn ang="T95">
                        <a:pos x="T62" y="T63"/>
                      </a:cxn>
                    </a:cxnLst>
                    <a:rect l="0" t="0" r="r" b="b"/>
                    <a:pathLst>
                      <a:path w="156" h="206">
                        <a:moveTo>
                          <a:pt x="54" y="66"/>
                        </a:moveTo>
                        <a:cubicBezTo>
                          <a:pt x="58" y="63"/>
                          <a:pt x="64" y="63"/>
                          <a:pt x="66" y="58"/>
                        </a:cubicBezTo>
                        <a:cubicBezTo>
                          <a:pt x="67" y="56"/>
                          <a:pt x="67" y="53"/>
                          <a:pt x="68" y="52"/>
                        </a:cubicBezTo>
                        <a:cubicBezTo>
                          <a:pt x="71" y="49"/>
                          <a:pt x="80" y="44"/>
                          <a:pt x="80" y="44"/>
                        </a:cubicBezTo>
                        <a:cubicBezTo>
                          <a:pt x="113" y="55"/>
                          <a:pt x="85" y="29"/>
                          <a:pt x="106" y="22"/>
                        </a:cubicBezTo>
                        <a:cubicBezTo>
                          <a:pt x="110" y="17"/>
                          <a:pt x="108" y="9"/>
                          <a:pt x="112" y="4"/>
                        </a:cubicBezTo>
                        <a:cubicBezTo>
                          <a:pt x="115" y="1"/>
                          <a:pt x="124" y="0"/>
                          <a:pt x="124" y="0"/>
                        </a:cubicBezTo>
                        <a:cubicBezTo>
                          <a:pt x="138" y="14"/>
                          <a:pt x="126" y="23"/>
                          <a:pt x="150" y="28"/>
                        </a:cubicBezTo>
                        <a:cubicBezTo>
                          <a:pt x="156" y="36"/>
                          <a:pt x="154" y="39"/>
                          <a:pt x="146" y="44"/>
                        </a:cubicBezTo>
                        <a:cubicBezTo>
                          <a:pt x="141" y="52"/>
                          <a:pt x="135" y="61"/>
                          <a:pt x="126" y="64"/>
                        </a:cubicBezTo>
                        <a:cubicBezTo>
                          <a:pt x="118" y="75"/>
                          <a:pt x="128" y="83"/>
                          <a:pt x="132" y="94"/>
                        </a:cubicBezTo>
                        <a:cubicBezTo>
                          <a:pt x="129" y="103"/>
                          <a:pt x="135" y="105"/>
                          <a:pt x="142" y="110"/>
                        </a:cubicBezTo>
                        <a:cubicBezTo>
                          <a:pt x="145" y="119"/>
                          <a:pt x="141" y="120"/>
                          <a:pt x="146" y="128"/>
                        </a:cubicBezTo>
                        <a:cubicBezTo>
                          <a:pt x="142" y="139"/>
                          <a:pt x="135" y="133"/>
                          <a:pt x="128" y="128"/>
                        </a:cubicBezTo>
                        <a:cubicBezTo>
                          <a:pt x="116" y="132"/>
                          <a:pt x="122" y="136"/>
                          <a:pt x="116" y="146"/>
                        </a:cubicBezTo>
                        <a:cubicBezTo>
                          <a:pt x="113" y="151"/>
                          <a:pt x="108" y="152"/>
                          <a:pt x="104" y="156"/>
                        </a:cubicBezTo>
                        <a:cubicBezTo>
                          <a:pt x="107" y="167"/>
                          <a:pt x="112" y="191"/>
                          <a:pt x="100" y="198"/>
                        </a:cubicBezTo>
                        <a:cubicBezTo>
                          <a:pt x="96" y="200"/>
                          <a:pt x="92" y="200"/>
                          <a:pt x="88" y="202"/>
                        </a:cubicBezTo>
                        <a:cubicBezTo>
                          <a:pt x="86" y="203"/>
                          <a:pt x="84" y="205"/>
                          <a:pt x="82" y="206"/>
                        </a:cubicBezTo>
                        <a:cubicBezTo>
                          <a:pt x="80" y="205"/>
                          <a:pt x="77" y="204"/>
                          <a:pt x="76" y="202"/>
                        </a:cubicBezTo>
                        <a:cubicBezTo>
                          <a:pt x="74" y="198"/>
                          <a:pt x="76" y="191"/>
                          <a:pt x="72" y="190"/>
                        </a:cubicBezTo>
                        <a:cubicBezTo>
                          <a:pt x="68" y="189"/>
                          <a:pt x="60" y="186"/>
                          <a:pt x="60" y="186"/>
                        </a:cubicBezTo>
                        <a:cubicBezTo>
                          <a:pt x="53" y="188"/>
                          <a:pt x="49" y="192"/>
                          <a:pt x="42" y="194"/>
                        </a:cubicBezTo>
                        <a:cubicBezTo>
                          <a:pt x="34" y="189"/>
                          <a:pt x="37" y="183"/>
                          <a:pt x="28" y="186"/>
                        </a:cubicBezTo>
                        <a:cubicBezTo>
                          <a:pt x="12" y="181"/>
                          <a:pt x="19" y="161"/>
                          <a:pt x="10" y="148"/>
                        </a:cubicBezTo>
                        <a:cubicBezTo>
                          <a:pt x="5" y="121"/>
                          <a:pt x="11" y="147"/>
                          <a:pt x="4" y="130"/>
                        </a:cubicBezTo>
                        <a:cubicBezTo>
                          <a:pt x="2" y="126"/>
                          <a:pt x="0" y="118"/>
                          <a:pt x="0" y="118"/>
                        </a:cubicBezTo>
                        <a:cubicBezTo>
                          <a:pt x="2" y="95"/>
                          <a:pt x="0" y="83"/>
                          <a:pt x="20" y="96"/>
                        </a:cubicBezTo>
                        <a:cubicBezTo>
                          <a:pt x="23" y="105"/>
                          <a:pt x="23" y="110"/>
                          <a:pt x="32" y="104"/>
                        </a:cubicBezTo>
                        <a:cubicBezTo>
                          <a:pt x="35" y="95"/>
                          <a:pt x="29" y="88"/>
                          <a:pt x="34" y="80"/>
                        </a:cubicBezTo>
                        <a:cubicBezTo>
                          <a:pt x="36" y="76"/>
                          <a:pt x="48" y="73"/>
                          <a:pt x="52" y="70"/>
                        </a:cubicBezTo>
                        <a:cubicBezTo>
                          <a:pt x="57" y="63"/>
                          <a:pt x="58" y="62"/>
                          <a:pt x="54" y="6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6" name="Freeform 20"/>
                  <p:cNvSpPr>
                    <a:spLocks/>
                  </p:cNvSpPr>
                  <p:nvPr/>
                </p:nvSpPr>
                <p:spPr bwMode="ltGray">
                  <a:xfrm>
                    <a:off x="1892" y="572"/>
                    <a:ext cx="47" cy="13"/>
                  </a:xfrm>
                  <a:custGeom>
                    <a:avLst/>
                    <a:gdLst>
                      <a:gd name="T0" fmla="*/ 4 w 109"/>
                      <a:gd name="T1" fmla="*/ 32 h 38"/>
                      <a:gd name="T2" fmla="*/ 18 w 109"/>
                      <a:gd name="T3" fmla="*/ 10 h 38"/>
                      <a:gd name="T4" fmla="*/ 46 w 109"/>
                      <a:gd name="T5" fmla="*/ 20 h 38"/>
                      <a:gd name="T6" fmla="*/ 72 w 109"/>
                      <a:gd name="T7" fmla="*/ 14 h 38"/>
                      <a:gd name="T8" fmla="*/ 90 w 109"/>
                      <a:gd name="T9" fmla="*/ 0 h 38"/>
                      <a:gd name="T10" fmla="*/ 76 w 109"/>
                      <a:gd name="T11" fmla="*/ 26 h 38"/>
                      <a:gd name="T12" fmla="*/ 60 w 109"/>
                      <a:gd name="T13" fmla="*/ 38 h 38"/>
                      <a:gd name="T14" fmla="*/ 42 w 109"/>
                      <a:gd name="T15" fmla="*/ 32 h 38"/>
                      <a:gd name="T16" fmla="*/ 14 w 109"/>
                      <a:gd name="T17" fmla="*/ 30 h 38"/>
                      <a:gd name="T18" fmla="*/ 4 w 109"/>
                      <a:gd name="T19" fmla="*/ 32 h 38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109" h="38">
                        <a:moveTo>
                          <a:pt x="4" y="32"/>
                        </a:moveTo>
                        <a:cubicBezTo>
                          <a:pt x="7" y="22"/>
                          <a:pt x="7" y="14"/>
                          <a:pt x="18" y="10"/>
                        </a:cubicBezTo>
                        <a:cubicBezTo>
                          <a:pt x="28" y="12"/>
                          <a:pt x="37" y="14"/>
                          <a:pt x="46" y="20"/>
                        </a:cubicBezTo>
                        <a:cubicBezTo>
                          <a:pt x="62" y="15"/>
                          <a:pt x="54" y="17"/>
                          <a:pt x="72" y="14"/>
                        </a:cubicBezTo>
                        <a:cubicBezTo>
                          <a:pt x="77" y="9"/>
                          <a:pt x="90" y="0"/>
                          <a:pt x="90" y="0"/>
                        </a:cubicBezTo>
                        <a:cubicBezTo>
                          <a:pt x="109" y="6"/>
                          <a:pt x="85" y="23"/>
                          <a:pt x="76" y="26"/>
                        </a:cubicBezTo>
                        <a:cubicBezTo>
                          <a:pt x="71" y="33"/>
                          <a:pt x="68" y="35"/>
                          <a:pt x="60" y="38"/>
                        </a:cubicBezTo>
                        <a:cubicBezTo>
                          <a:pt x="54" y="36"/>
                          <a:pt x="42" y="32"/>
                          <a:pt x="42" y="32"/>
                        </a:cubicBezTo>
                        <a:cubicBezTo>
                          <a:pt x="33" y="23"/>
                          <a:pt x="26" y="26"/>
                          <a:pt x="14" y="30"/>
                        </a:cubicBezTo>
                        <a:cubicBezTo>
                          <a:pt x="1" y="28"/>
                          <a:pt x="0" y="24"/>
                          <a:pt x="4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7" name="Freeform 21"/>
                  <p:cNvSpPr>
                    <a:spLocks/>
                  </p:cNvSpPr>
                  <p:nvPr/>
                </p:nvSpPr>
                <p:spPr bwMode="ltGray">
                  <a:xfrm>
                    <a:off x="1890" y="588"/>
                    <a:ext cx="32" cy="34"/>
                  </a:xfrm>
                  <a:custGeom>
                    <a:avLst/>
                    <a:gdLst>
                      <a:gd name="T0" fmla="*/ 8 w 76"/>
                      <a:gd name="T1" fmla="*/ 18 h 104"/>
                      <a:gd name="T2" fmla="*/ 18 w 76"/>
                      <a:gd name="T3" fmla="*/ 0 h 104"/>
                      <a:gd name="T4" fmla="*/ 34 w 76"/>
                      <a:gd name="T5" fmla="*/ 18 h 104"/>
                      <a:gd name="T6" fmla="*/ 62 w 76"/>
                      <a:gd name="T7" fmla="*/ 4 h 104"/>
                      <a:gd name="T8" fmla="*/ 46 w 76"/>
                      <a:gd name="T9" fmla="*/ 34 h 104"/>
                      <a:gd name="T10" fmla="*/ 54 w 76"/>
                      <a:gd name="T11" fmla="*/ 48 h 104"/>
                      <a:gd name="T12" fmla="*/ 58 w 76"/>
                      <a:gd name="T13" fmla="*/ 60 h 104"/>
                      <a:gd name="T14" fmla="*/ 46 w 76"/>
                      <a:gd name="T15" fmla="*/ 74 h 104"/>
                      <a:gd name="T16" fmla="*/ 34 w 76"/>
                      <a:gd name="T17" fmla="*/ 60 h 104"/>
                      <a:gd name="T18" fmla="*/ 22 w 76"/>
                      <a:gd name="T19" fmla="*/ 48 h 104"/>
                      <a:gd name="T20" fmla="*/ 28 w 76"/>
                      <a:gd name="T21" fmla="*/ 68 h 104"/>
                      <a:gd name="T22" fmla="*/ 30 w 76"/>
                      <a:gd name="T23" fmla="*/ 74 h 104"/>
                      <a:gd name="T24" fmla="*/ 20 w 76"/>
                      <a:gd name="T25" fmla="*/ 104 h 104"/>
                      <a:gd name="T26" fmla="*/ 12 w 76"/>
                      <a:gd name="T27" fmla="*/ 102 h 104"/>
                      <a:gd name="T28" fmla="*/ 8 w 76"/>
                      <a:gd name="T29" fmla="*/ 90 h 104"/>
                      <a:gd name="T30" fmla="*/ 0 w 76"/>
                      <a:gd name="T31" fmla="*/ 54 h 104"/>
                      <a:gd name="T32" fmla="*/ 2 w 76"/>
                      <a:gd name="T33" fmla="*/ 30 h 104"/>
                      <a:gd name="T34" fmla="*/ 8 w 76"/>
                      <a:gd name="T35" fmla="*/ 18 h 104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0" t="0" r="r" b="b"/>
                    <a:pathLst>
                      <a:path w="76" h="104">
                        <a:moveTo>
                          <a:pt x="8" y="18"/>
                        </a:moveTo>
                        <a:cubicBezTo>
                          <a:pt x="10" y="8"/>
                          <a:pt x="9" y="3"/>
                          <a:pt x="18" y="0"/>
                        </a:cubicBezTo>
                        <a:cubicBezTo>
                          <a:pt x="28" y="3"/>
                          <a:pt x="25" y="12"/>
                          <a:pt x="34" y="18"/>
                        </a:cubicBezTo>
                        <a:cubicBezTo>
                          <a:pt x="46" y="16"/>
                          <a:pt x="51" y="8"/>
                          <a:pt x="62" y="4"/>
                        </a:cubicBezTo>
                        <a:cubicBezTo>
                          <a:pt x="76" y="9"/>
                          <a:pt x="56" y="31"/>
                          <a:pt x="46" y="34"/>
                        </a:cubicBezTo>
                        <a:cubicBezTo>
                          <a:pt x="51" y="56"/>
                          <a:pt x="43" y="29"/>
                          <a:pt x="54" y="48"/>
                        </a:cubicBezTo>
                        <a:cubicBezTo>
                          <a:pt x="56" y="52"/>
                          <a:pt x="58" y="60"/>
                          <a:pt x="58" y="60"/>
                        </a:cubicBezTo>
                        <a:cubicBezTo>
                          <a:pt x="55" y="68"/>
                          <a:pt x="54" y="71"/>
                          <a:pt x="46" y="74"/>
                        </a:cubicBezTo>
                        <a:cubicBezTo>
                          <a:pt x="38" y="71"/>
                          <a:pt x="37" y="68"/>
                          <a:pt x="34" y="60"/>
                        </a:cubicBezTo>
                        <a:cubicBezTo>
                          <a:pt x="33" y="50"/>
                          <a:pt x="32" y="33"/>
                          <a:pt x="22" y="48"/>
                        </a:cubicBezTo>
                        <a:cubicBezTo>
                          <a:pt x="25" y="60"/>
                          <a:pt x="23" y="53"/>
                          <a:pt x="28" y="68"/>
                        </a:cubicBezTo>
                        <a:cubicBezTo>
                          <a:pt x="29" y="70"/>
                          <a:pt x="30" y="74"/>
                          <a:pt x="30" y="74"/>
                        </a:cubicBezTo>
                        <a:cubicBezTo>
                          <a:pt x="24" y="84"/>
                          <a:pt x="22" y="93"/>
                          <a:pt x="20" y="104"/>
                        </a:cubicBezTo>
                        <a:cubicBezTo>
                          <a:pt x="17" y="103"/>
                          <a:pt x="14" y="104"/>
                          <a:pt x="12" y="102"/>
                        </a:cubicBezTo>
                        <a:cubicBezTo>
                          <a:pt x="9" y="99"/>
                          <a:pt x="8" y="90"/>
                          <a:pt x="8" y="90"/>
                        </a:cubicBezTo>
                        <a:cubicBezTo>
                          <a:pt x="13" y="75"/>
                          <a:pt x="14" y="64"/>
                          <a:pt x="0" y="54"/>
                        </a:cubicBezTo>
                        <a:cubicBezTo>
                          <a:pt x="1" y="46"/>
                          <a:pt x="1" y="38"/>
                          <a:pt x="2" y="30"/>
                        </a:cubicBezTo>
                        <a:cubicBezTo>
                          <a:pt x="2" y="27"/>
                          <a:pt x="13" y="2"/>
                          <a:pt x="8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8" name="Freeform 22"/>
                  <p:cNvSpPr>
                    <a:spLocks/>
                  </p:cNvSpPr>
                  <p:nvPr/>
                </p:nvSpPr>
                <p:spPr bwMode="ltGray">
                  <a:xfrm>
                    <a:off x="1944" y="569"/>
                    <a:ext cx="16" cy="20"/>
                  </a:xfrm>
                  <a:custGeom>
                    <a:avLst/>
                    <a:gdLst>
                      <a:gd name="T0" fmla="*/ 3 w 37"/>
                      <a:gd name="T1" fmla="*/ 28 h 61"/>
                      <a:gd name="T2" fmla="*/ 13 w 37"/>
                      <a:gd name="T3" fmla="*/ 0 h 61"/>
                      <a:gd name="T4" fmla="*/ 15 w 37"/>
                      <a:gd name="T5" fmla="*/ 28 h 61"/>
                      <a:gd name="T6" fmla="*/ 37 w 37"/>
                      <a:gd name="T7" fmla="*/ 38 h 61"/>
                      <a:gd name="T8" fmla="*/ 19 w 37"/>
                      <a:gd name="T9" fmla="*/ 44 h 61"/>
                      <a:gd name="T10" fmla="*/ 5 w 37"/>
                      <a:gd name="T11" fmla="*/ 58 h 61"/>
                      <a:gd name="T12" fmla="*/ 1 w 37"/>
                      <a:gd name="T13" fmla="*/ 34 h 61"/>
                      <a:gd name="T14" fmla="*/ 3 w 37"/>
                      <a:gd name="T15" fmla="*/ 28 h 6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7" h="61">
                        <a:moveTo>
                          <a:pt x="3" y="28"/>
                        </a:moveTo>
                        <a:cubicBezTo>
                          <a:pt x="5" y="14"/>
                          <a:pt x="2" y="7"/>
                          <a:pt x="13" y="0"/>
                        </a:cubicBezTo>
                        <a:cubicBezTo>
                          <a:pt x="26" y="9"/>
                          <a:pt x="23" y="17"/>
                          <a:pt x="15" y="28"/>
                        </a:cubicBezTo>
                        <a:cubicBezTo>
                          <a:pt x="25" y="31"/>
                          <a:pt x="33" y="27"/>
                          <a:pt x="37" y="38"/>
                        </a:cubicBezTo>
                        <a:cubicBezTo>
                          <a:pt x="30" y="45"/>
                          <a:pt x="28" y="47"/>
                          <a:pt x="19" y="44"/>
                        </a:cubicBezTo>
                        <a:cubicBezTo>
                          <a:pt x="13" y="54"/>
                          <a:pt x="18" y="61"/>
                          <a:pt x="5" y="58"/>
                        </a:cubicBezTo>
                        <a:cubicBezTo>
                          <a:pt x="0" y="50"/>
                          <a:pt x="3" y="44"/>
                          <a:pt x="1" y="34"/>
                        </a:cubicBezTo>
                        <a:cubicBezTo>
                          <a:pt x="2" y="32"/>
                          <a:pt x="3" y="28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9" name="Freeform 23"/>
                  <p:cNvSpPr>
                    <a:spLocks/>
                  </p:cNvSpPr>
                  <p:nvPr/>
                </p:nvSpPr>
                <p:spPr bwMode="ltGray">
                  <a:xfrm>
                    <a:off x="1948" y="600"/>
                    <a:ext cx="20" cy="10"/>
                  </a:xfrm>
                  <a:custGeom>
                    <a:avLst/>
                    <a:gdLst>
                      <a:gd name="T0" fmla="*/ 7 w 49"/>
                      <a:gd name="T1" fmla="*/ 0 h 29"/>
                      <a:gd name="T2" fmla="*/ 29 w 49"/>
                      <a:gd name="T3" fmla="*/ 0 h 29"/>
                      <a:gd name="T4" fmla="*/ 49 w 49"/>
                      <a:gd name="T5" fmla="*/ 16 h 29"/>
                      <a:gd name="T6" fmla="*/ 35 w 49"/>
                      <a:gd name="T7" fmla="*/ 14 h 29"/>
                      <a:gd name="T8" fmla="*/ 3 w 49"/>
                      <a:gd name="T9" fmla="*/ 16 h 29"/>
                      <a:gd name="T10" fmla="*/ 7 w 49"/>
                      <a:gd name="T11" fmla="*/ 0 h 29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9" h="29">
                        <a:moveTo>
                          <a:pt x="7" y="0"/>
                        </a:moveTo>
                        <a:cubicBezTo>
                          <a:pt x="15" y="6"/>
                          <a:pt x="19" y="2"/>
                          <a:pt x="29" y="0"/>
                        </a:cubicBezTo>
                        <a:cubicBezTo>
                          <a:pt x="45" y="5"/>
                          <a:pt x="40" y="3"/>
                          <a:pt x="49" y="16"/>
                        </a:cubicBezTo>
                        <a:cubicBezTo>
                          <a:pt x="46" y="29"/>
                          <a:pt x="42" y="21"/>
                          <a:pt x="35" y="14"/>
                        </a:cubicBezTo>
                        <a:cubicBezTo>
                          <a:pt x="26" y="15"/>
                          <a:pt x="12" y="19"/>
                          <a:pt x="3" y="16"/>
                        </a:cubicBezTo>
                        <a:cubicBezTo>
                          <a:pt x="0" y="6"/>
                          <a:pt x="7" y="10"/>
                          <a:pt x="7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0" name="Freeform 24"/>
                  <p:cNvSpPr>
                    <a:spLocks/>
                  </p:cNvSpPr>
                  <p:nvPr/>
                </p:nvSpPr>
                <p:spPr bwMode="ltGray">
                  <a:xfrm>
                    <a:off x="1969" y="585"/>
                    <a:ext cx="26" cy="17"/>
                  </a:xfrm>
                  <a:custGeom>
                    <a:avLst/>
                    <a:gdLst>
                      <a:gd name="T0" fmla="*/ 21 w 61"/>
                      <a:gd name="T1" fmla="*/ 38 h 48"/>
                      <a:gd name="T2" fmla="*/ 15 w 61"/>
                      <a:gd name="T3" fmla="*/ 26 h 48"/>
                      <a:gd name="T4" fmla="*/ 3 w 61"/>
                      <a:gd name="T5" fmla="*/ 22 h 48"/>
                      <a:gd name="T6" fmla="*/ 13 w 61"/>
                      <a:gd name="T7" fmla="*/ 8 h 48"/>
                      <a:gd name="T8" fmla="*/ 25 w 61"/>
                      <a:gd name="T9" fmla="*/ 0 h 48"/>
                      <a:gd name="T10" fmla="*/ 49 w 61"/>
                      <a:gd name="T11" fmla="*/ 10 h 48"/>
                      <a:gd name="T12" fmla="*/ 53 w 61"/>
                      <a:gd name="T13" fmla="*/ 20 h 48"/>
                      <a:gd name="T14" fmla="*/ 61 w 61"/>
                      <a:gd name="T15" fmla="*/ 32 h 48"/>
                      <a:gd name="T16" fmla="*/ 41 w 61"/>
                      <a:gd name="T17" fmla="*/ 38 h 48"/>
                      <a:gd name="T18" fmla="*/ 23 w 61"/>
                      <a:gd name="T19" fmla="*/ 44 h 48"/>
                      <a:gd name="T20" fmla="*/ 21 w 61"/>
                      <a:gd name="T21" fmla="*/ 38 h 48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1" h="48">
                        <a:moveTo>
                          <a:pt x="21" y="38"/>
                        </a:moveTo>
                        <a:cubicBezTo>
                          <a:pt x="19" y="34"/>
                          <a:pt x="19" y="29"/>
                          <a:pt x="15" y="26"/>
                        </a:cubicBezTo>
                        <a:cubicBezTo>
                          <a:pt x="12" y="24"/>
                          <a:pt x="3" y="22"/>
                          <a:pt x="3" y="22"/>
                        </a:cubicBezTo>
                        <a:cubicBezTo>
                          <a:pt x="0" y="12"/>
                          <a:pt x="5" y="12"/>
                          <a:pt x="13" y="8"/>
                        </a:cubicBezTo>
                        <a:cubicBezTo>
                          <a:pt x="17" y="6"/>
                          <a:pt x="25" y="0"/>
                          <a:pt x="25" y="0"/>
                        </a:cubicBezTo>
                        <a:cubicBezTo>
                          <a:pt x="37" y="2"/>
                          <a:pt x="41" y="2"/>
                          <a:pt x="49" y="10"/>
                        </a:cubicBezTo>
                        <a:cubicBezTo>
                          <a:pt x="45" y="21"/>
                          <a:pt x="46" y="12"/>
                          <a:pt x="53" y="20"/>
                        </a:cubicBezTo>
                        <a:cubicBezTo>
                          <a:pt x="56" y="24"/>
                          <a:pt x="61" y="32"/>
                          <a:pt x="61" y="32"/>
                        </a:cubicBezTo>
                        <a:cubicBezTo>
                          <a:pt x="56" y="47"/>
                          <a:pt x="53" y="42"/>
                          <a:pt x="41" y="38"/>
                        </a:cubicBezTo>
                        <a:cubicBezTo>
                          <a:pt x="27" y="47"/>
                          <a:pt x="34" y="48"/>
                          <a:pt x="23" y="44"/>
                        </a:cubicBezTo>
                        <a:cubicBezTo>
                          <a:pt x="22" y="42"/>
                          <a:pt x="21" y="38"/>
                          <a:pt x="21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1" name="Freeform 25"/>
                  <p:cNvSpPr>
                    <a:spLocks/>
                  </p:cNvSpPr>
                  <p:nvPr/>
                </p:nvSpPr>
                <p:spPr bwMode="ltGray">
                  <a:xfrm>
                    <a:off x="1976" y="593"/>
                    <a:ext cx="122" cy="61"/>
                  </a:xfrm>
                  <a:custGeom>
                    <a:avLst/>
                    <a:gdLst>
                      <a:gd name="T0" fmla="*/ 46 w 286"/>
                      <a:gd name="T1" fmla="*/ 28 h 182"/>
                      <a:gd name="T2" fmla="*/ 36 w 286"/>
                      <a:gd name="T3" fmla="*/ 14 h 182"/>
                      <a:gd name="T4" fmla="*/ 26 w 286"/>
                      <a:gd name="T5" fmla="*/ 30 h 182"/>
                      <a:gd name="T6" fmla="*/ 0 w 286"/>
                      <a:gd name="T7" fmla="*/ 24 h 182"/>
                      <a:gd name="T8" fmla="*/ 10 w 286"/>
                      <a:gd name="T9" fmla="*/ 42 h 182"/>
                      <a:gd name="T10" fmla="*/ 16 w 286"/>
                      <a:gd name="T11" fmla="*/ 62 h 182"/>
                      <a:gd name="T12" fmla="*/ 24 w 286"/>
                      <a:gd name="T13" fmla="*/ 48 h 182"/>
                      <a:gd name="T14" fmla="*/ 30 w 286"/>
                      <a:gd name="T15" fmla="*/ 44 h 182"/>
                      <a:gd name="T16" fmla="*/ 48 w 286"/>
                      <a:gd name="T17" fmla="*/ 56 h 182"/>
                      <a:gd name="T18" fmla="*/ 70 w 286"/>
                      <a:gd name="T19" fmla="*/ 62 h 182"/>
                      <a:gd name="T20" fmla="*/ 88 w 286"/>
                      <a:gd name="T21" fmla="*/ 72 h 182"/>
                      <a:gd name="T22" fmla="*/ 106 w 286"/>
                      <a:gd name="T23" fmla="*/ 102 h 182"/>
                      <a:gd name="T24" fmla="*/ 104 w 286"/>
                      <a:gd name="T25" fmla="*/ 122 h 182"/>
                      <a:gd name="T26" fmla="*/ 98 w 286"/>
                      <a:gd name="T27" fmla="*/ 134 h 182"/>
                      <a:gd name="T28" fmla="*/ 122 w 286"/>
                      <a:gd name="T29" fmla="*/ 128 h 182"/>
                      <a:gd name="T30" fmla="*/ 140 w 286"/>
                      <a:gd name="T31" fmla="*/ 140 h 182"/>
                      <a:gd name="T32" fmla="*/ 168 w 286"/>
                      <a:gd name="T33" fmla="*/ 148 h 182"/>
                      <a:gd name="T34" fmla="*/ 174 w 286"/>
                      <a:gd name="T35" fmla="*/ 146 h 182"/>
                      <a:gd name="T36" fmla="*/ 168 w 286"/>
                      <a:gd name="T37" fmla="*/ 134 h 182"/>
                      <a:gd name="T38" fmla="*/ 178 w 286"/>
                      <a:gd name="T39" fmla="*/ 136 h 182"/>
                      <a:gd name="T40" fmla="*/ 186 w 286"/>
                      <a:gd name="T41" fmla="*/ 118 h 182"/>
                      <a:gd name="T42" fmla="*/ 202 w 286"/>
                      <a:gd name="T43" fmla="*/ 122 h 182"/>
                      <a:gd name="T44" fmla="*/ 214 w 286"/>
                      <a:gd name="T45" fmla="*/ 130 h 182"/>
                      <a:gd name="T46" fmla="*/ 244 w 286"/>
                      <a:gd name="T47" fmla="*/ 168 h 182"/>
                      <a:gd name="T48" fmla="*/ 262 w 286"/>
                      <a:gd name="T49" fmla="*/ 178 h 182"/>
                      <a:gd name="T50" fmla="*/ 284 w 286"/>
                      <a:gd name="T51" fmla="*/ 170 h 182"/>
                      <a:gd name="T52" fmla="*/ 268 w 286"/>
                      <a:gd name="T53" fmla="*/ 160 h 182"/>
                      <a:gd name="T54" fmla="*/ 256 w 286"/>
                      <a:gd name="T55" fmla="*/ 138 h 182"/>
                      <a:gd name="T56" fmla="*/ 250 w 286"/>
                      <a:gd name="T57" fmla="*/ 132 h 182"/>
                      <a:gd name="T58" fmla="*/ 248 w 286"/>
                      <a:gd name="T59" fmla="*/ 122 h 182"/>
                      <a:gd name="T60" fmla="*/ 236 w 286"/>
                      <a:gd name="T61" fmla="*/ 116 h 182"/>
                      <a:gd name="T62" fmla="*/ 240 w 286"/>
                      <a:gd name="T63" fmla="*/ 96 h 182"/>
                      <a:gd name="T64" fmla="*/ 220 w 286"/>
                      <a:gd name="T65" fmla="*/ 86 h 182"/>
                      <a:gd name="T66" fmla="*/ 210 w 286"/>
                      <a:gd name="T67" fmla="*/ 70 h 182"/>
                      <a:gd name="T68" fmla="*/ 190 w 286"/>
                      <a:gd name="T69" fmla="*/ 54 h 182"/>
                      <a:gd name="T70" fmla="*/ 168 w 286"/>
                      <a:gd name="T71" fmla="*/ 38 h 182"/>
                      <a:gd name="T72" fmla="*/ 156 w 286"/>
                      <a:gd name="T73" fmla="*/ 34 h 182"/>
                      <a:gd name="T74" fmla="*/ 120 w 286"/>
                      <a:gd name="T75" fmla="*/ 16 h 182"/>
                      <a:gd name="T76" fmla="*/ 102 w 286"/>
                      <a:gd name="T77" fmla="*/ 4 h 182"/>
                      <a:gd name="T78" fmla="*/ 96 w 286"/>
                      <a:gd name="T79" fmla="*/ 0 h 182"/>
                      <a:gd name="T80" fmla="*/ 70 w 286"/>
                      <a:gd name="T81" fmla="*/ 10 h 182"/>
                      <a:gd name="T82" fmla="*/ 56 w 286"/>
                      <a:gd name="T83" fmla="*/ 32 h 182"/>
                      <a:gd name="T84" fmla="*/ 46 w 286"/>
                      <a:gd name="T85" fmla="*/ 28 h 182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</a:gdLst>
                    <a:ahLst/>
                    <a:cxnLst>
                      <a:cxn ang="T86">
                        <a:pos x="T0" y="T1"/>
                      </a:cxn>
                      <a:cxn ang="T87">
                        <a:pos x="T2" y="T3"/>
                      </a:cxn>
                      <a:cxn ang="T88">
                        <a:pos x="T4" y="T5"/>
                      </a:cxn>
                      <a:cxn ang="T89">
                        <a:pos x="T6" y="T7"/>
                      </a:cxn>
                      <a:cxn ang="T90">
                        <a:pos x="T8" y="T9"/>
                      </a:cxn>
                      <a:cxn ang="T91">
                        <a:pos x="T10" y="T11"/>
                      </a:cxn>
                      <a:cxn ang="T92">
                        <a:pos x="T12" y="T13"/>
                      </a:cxn>
                      <a:cxn ang="T93">
                        <a:pos x="T14" y="T15"/>
                      </a:cxn>
                      <a:cxn ang="T94">
                        <a:pos x="T16" y="T17"/>
                      </a:cxn>
                      <a:cxn ang="T95">
                        <a:pos x="T18" y="T19"/>
                      </a:cxn>
                      <a:cxn ang="T96">
                        <a:pos x="T20" y="T21"/>
                      </a:cxn>
                      <a:cxn ang="T97">
                        <a:pos x="T22" y="T23"/>
                      </a:cxn>
                      <a:cxn ang="T98">
                        <a:pos x="T24" y="T25"/>
                      </a:cxn>
                      <a:cxn ang="T99">
                        <a:pos x="T26" y="T27"/>
                      </a:cxn>
                      <a:cxn ang="T100">
                        <a:pos x="T28" y="T29"/>
                      </a:cxn>
                      <a:cxn ang="T101">
                        <a:pos x="T30" y="T31"/>
                      </a:cxn>
                      <a:cxn ang="T102">
                        <a:pos x="T32" y="T33"/>
                      </a:cxn>
                      <a:cxn ang="T103">
                        <a:pos x="T34" y="T35"/>
                      </a:cxn>
                      <a:cxn ang="T104">
                        <a:pos x="T36" y="T37"/>
                      </a:cxn>
                      <a:cxn ang="T105">
                        <a:pos x="T38" y="T39"/>
                      </a:cxn>
                      <a:cxn ang="T106">
                        <a:pos x="T40" y="T41"/>
                      </a:cxn>
                      <a:cxn ang="T107">
                        <a:pos x="T42" y="T43"/>
                      </a:cxn>
                      <a:cxn ang="T108">
                        <a:pos x="T44" y="T45"/>
                      </a:cxn>
                      <a:cxn ang="T109">
                        <a:pos x="T46" y="T47"/>
                      </a:cxn>
                      <a:cxn ang="T110">
                        <a:pos x="T48" y="T49"/>
                      </a:cxn>
                      <a:cxn ang="T111">
                        <a:pos x="T50" y="T51"/>
                      </a:cxn>
                      <a:cxn ang="T112">
                        <a:pos x="T52" y="T53"/>
                      </a:cxn>
                      <a:cxn ang="T113">
                        <a:pos x="T54" y="T55"/>
                      </a:cxn>
                      <a:cxn ang="T114">
                        <a:pos x="T56" y="T57"/>
                      </a:cxn>
                      <a:cxn ang="T115">
                        <a:pos x="T58" y="T59"/>
                      </a:cxn>
                      <a:cxn ang="T116">
                        <a:pos x="T60" y="T61"/>
                      </a:cxn>
                      <a:cxn ang="T117">
                        <a:pos x="T62" y="T63"/>
                      </a:cxn>
                      <a:cxn ang="T118">
                        <a:pos x="T64" y="T65"/>
                      </a:cxn>
                      <a:cxn ang="T119">
                        <a:pos x="T66" y="T67"/>
                      </a:cxn>
                      <a:cxn ang="T120">
                        <a:pos x="T68" y="T69"/>
                      </a:cxn>
                      <a:cxn ang="T121">
                        <a:pos x="T70" y="T71"/>
                      </a:cxn>
                      <a:cxn ang="T122">
                        <a:pos x="T72" y="T73"/>
                      </a:cxn>
                      <a:cxn ang="T123">
                        <a:pos x="T74" y="T75"/>
                      </a:cxn>
                      <a:cxn ang="T124">
                        <a:pos x="T76" y="T77"/>
                      </a:cxn>
                      <a:cxn ang="T125">
                        <a:pos x="T78" y="T79"/>
                      </a:cxn>
                      <a:cxn ang="T126">
                        <a:pos x="T80" y="T81"/>
                      </a:cxn>
                      <a:cxn ang="T127">
                        <a:pos x="T82" y="T83"/>
                      </a:cxn>
                      <a:cxn ang="T128">
                        <a:pos x="T84" y="T85"/>
                      </a:cxn>
                    </a:cxnLst>
                    <a:rect l="0" t="0" r="r" b="b"/>
                    <a:pathLst>
                      <a:path w="286" h="182">
                        <a:moveTo>
                          <a:pt x="46" y="28"/>
                        </a:moveTo>
                        <a:cubicBezTo>
                          <a:pt x="41" y="14"/>
                          <a:pt x="46" y="17"/>
                          <a:pt x="36" y="14"/>
                        </a:cubicBezTo>
                        <a:cubicBezTo>
                          <a:pt x="31" y="17"/>
                          <a:pt x="26" y="30"/>
                          <a:pt x="26" y="30"/>
                        </a:cubicBezTo>
                        <a:cubicBezTo>
                          <a:pt x="12" y="25"/>
                          <a:pt x="19" y="21"/>
                          <a:pt x="0" y="24"/>
                        </a:cubicBezTo>
                        <a:cubicBezTo>
                          <a:pt x="2" y="33"/>
                          <a:pt x="2" y="37"/>
                          <a:pt x="10" y="42"/>
                        </a:cubicBezTo>
                        <a:cubicBezTo>
                          <a:pt x="12" y="49"/>
                          <a:pt x="14" y="55"/>
                          <a:pt x="16" y="62"/>
                        </a:cubicBezTo>
                        <a:cubicBezTo>
                          <a:pt x="24" y="59"/>
                          <a:pt x="27" y="57"/>
                          <a:pt x="24" y="48"/>
                        </a:cubicBezTo>
                        <a:cubicBezTo>
                          <a:pt x="26" y="47"/>
                          <a:pt x="28" y="43"/>
                          <a:pt x="30" y="44"/>
                        </a:cubicBezTo>
                        <a:cubicBezTo>
                          <a:pt x="48" y="48"/>
                          <a:pt x="36" y="52"/>
                          <a:pt x="48" y="56"/>
                        </a:cubicBezTo>
                        <a:cubicBezTo>
                          <a:pt x="74" y="65"/>
                          <a:pt x="47" y="56"/>
                          <a:pt x="70" y="62"/>
                        </a:cubicBezTo>
                        <a:cubicBezTo>
                          <a:pt x="77" y="64"/>
                          <a:pt x="88" y="72"/>
                          <a:pt x="88" y="72"/>
                        </a:cubicBezTo>
                        <a:cubicBezTo>
                          <a:pt x="96" y="84"/>
                          <a:pt x="102" y="87"/>
                          <a:pt x="106" y="102"/>
                        </a:cubicBezTo>
                        <a:cubicBezTo>
                          <a:pt x="105" y="109"/>
                          <a:pt x="106" y="115"/>
                          <a:pt x="104" y="122"/>
                        </a:cubicBezTo>
                        <a:cubicBezTo>
                          <a:pt x="103" y="126"/>
                          <a:pt x="94" y="132"/>
                          <a:pt x="98" y="134"/>
                        </a:cubicBezTo>
                        <a:cubicBezTo>
                          <a:pt x="106" y="137"/>
                          <a:pt x="122" y="128"/>
                          <a:pt x="122" y="128"/>
                        </a:cubicBezTo>
                        <a:cubicBezTo>
                          <a:pt x="130" y="131"/>
                          <a:pt x="133" y="135"/>
                          <a:pt x="140" y="140"/>
                        </a:cubicBezTo>
                        <a:cubicBezTo>
                          <a:pt x="148" y="145"/>
                          <a:pt x="159" y="145"/>
                          <a:pt x="168" y="148"/>
                        </a:cubicBezTo>
                        <a:cubicBezTo>
                          <a:pt x="170" y="147"/>
                          <a:pt x="173" y="148"/>
                          <a:pt x="174" y="146"/>
                        </a:cubicBezTo>
                        <a:cubicBezTo>
                          <a:pt x="176" y="142"/>
                          <a:pt x="164" y="136"/>
                          <a:pt x="168" y="134"/>
                        </a:cubicBezTo>
                        <a:cubicBezTo>
                          <a:pt x="171" y="132"/>
                          <a:pt x="175" y="135"/>
                          <a:pt x="178" y="136"/>
                        </a:cubicBezTo>
                        <a:cubicBezTo>
                          <a:pt x="182" y="131"/>
                          <a:pt x="186" y="118"/>
                          <a:pt x="186" y="118"/>
                        </a:cubicBezTo>
                        <a:cubicBezTo>
                          <a:pt x="189" y="119"/>
                          <a:pt x="199" y="120"/>
                          <a:pt x="202" y="122"/>
                        </a:cubicBezTo>
                        <a:cubicBezTo>
                          <a:pt x="206" y="124"/>
                          <a:pt x="214" y="130"/>
                          <a:pt x="214" y="130"/>
                        </a:cubicBezTo>
                        <a:cubicBezTo>
                          <a:pt x="224" y="145"/>
                          <a:pt x="228" y="158"/>
                          <a:pt x="244" y="168"/>
                        </a:cubicBezTo>
                        <a:cubicBezTo>
                          <a:pt x="250" y="172"/>
                          <a:pt x="262" y="178"/>
                          <a:pt x="262" y="178"/>
                        </a:cubicBezTo>
                        <a:cubicBezTo>
                          <a:pt x="265" y="178"/>
                          <a:pt x="286" y="182"/>
                          <a:pt x="284" y="170"/>
                        </a:cubicBezTo>
                        <a:cubicBezTo>
                          <a:pt x="283" y="164"/>
                          <a:pt x="268" y="160"/>
                          <a:pt x="268" y="160"/>
                        </a:cubicBezTo>
                        <a:cubicBezTo>
                          <a:pt x="261" y="150"/>
                          <a:pt x="270" y="143"/>
                          <a:pt x="256" y="138"/>
                        </a:cubicBezTo>
                        <a:cubicBezTo>
                          <a:pt x="254" y="136"/>
                          <a:pt x="251" y="135"/>
                          <a:pt x="250" y="132"/>
                        </a:cubicBezTo>
                        <a:cubicBezTo>
                          <a:pt x="248" y="129"/>
                          <a:pt x="250" y="125"/>
                          <a:pt x="248" y="122"/>
                        </a:cubicBezTo>
                        <a:cubicBezTo>
                          <a:pt x="246" y="118"/>
                          <a:pt x="240" y="118"/>
                          <a:pt x="236" y="116"/>
                        </a:cubicBezTo>
                        <a:cubicBezTo>
                          <a:pt x="230" y="107"/>
                          <a:pt x="227" y="100"/>
                          <a:pt x="240" y="96"/>
                        </a:cubicBezTo>
                        <a:cubicBezTo>
                          <a:pt x="236" y="83"/>
                          <a:pt x="236" y="84"/>
                          <a:pt x="220" y="86"/>
                        </a:cubicBezTo>
                        <a:cubicBezTo>
                          <a:pt x="209" y="82"/>
                          <a:pt x="208" y="82"/>
                          <a:pt x="210" y="70"/>
                        </a:cubicBezTo>
                        <a:cubicBezTo>
                          <a:pt x="207" y="60"/>
                          <a:pt x="199" y="57"/>
                          <a:pt x="190" y="54"/>
                        </a:cubicBezTo>
                        <a:cubicBezTo>
                          <a:pt x="181" y="45"/>
                          <a:pt x="181" y="42"/>
                          <a:pt x="168" y="38"/>
                        </a:cubicBezTo>
                        <a:cubicBezTo>
                          <a:pt x="164" y="37"/>
                          <a:pt x="156" y="34"/>
                          <a:pt x="156" y="34"/>
                        </a:cubicBezTo>
                        <a:cubicBezTo>
                          <a:pt x="146" y="24"/>
                          <a:pt x="134" y="21"/>
                          <a:pt x="120" y="16"/>
                        </a:cubicBezTo>
                        <a:cubicBezTo>
                          <a:pt x="113" y="14"/>
                          <a:pt x="108" y="8"/>
                          <a:pt x="102" y="4"/>
                        </a:cubicBezTo>
                        <a:cubicBezTo>
                          <a:pt x="100" y="3"/>
                          <a:pt x="96" y="0"/>
                          <a:pt x="96" y="0"/>
                        </a:cubicBezTo>
                        <a:cubicBezTo>
                          <a:pt x="83" y="2"/>
                          <a:pt x="79" y="1"/>
                          <a:pt x="70" y="10"/>
                        </a:cubicBezTo>
                        <a:cubicBezTo>
                          <a:pt x="67" y="19"/>
                          <a:pt x="63" y="27"/>
                          <a:pt x="56" y="32"/>
                        </a:cubicBezTo>
                        <a:cubicBezTo>
                          <a:pt x="49" y="30"/>
                          <a:pt x="52" y="31"/>
                          <a:pt x="4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2" name="Freeform 26"/>
                  <p:cNvSpPr>
                    <a:spLocks/>
                  </p:cNvSpPr>
                  <p:nvPr/>
                </p:nvSpPr>
                <p:spPr bwMode="ltGray">
                  <a:xfrm>
                    <a:off x="2082" y="599"/>
                    <a:ext cx="33" cy="26"/>
                  </a:xfrm>
                  <a:custGeom>
                    <a:avLst/>
                    <a:gdLst>
                      <a:gd name="T0" fmla="*/ 1 w 78"/>
                      <a:gd name="T1" fmla="*/ 58 h 78"/>
                      <a:gd name="T2" fmla="*/ 27 w 78"/>
                      <a:gd name="T3" fmla="*/ 60 h 78"/>
                      <a:gd name="T4" fmla="*/ 45 w 78"/>
                      <a:gd name="T5" fmla="*/ 48 h 78"/>
                      <a:gd name="T6" fmla="*/ 57 w 78"/>
                      <a:gd name="T7" fmla="*/ 30 h 78"/>
                      <a:gd name="T8" fmla="*/ 43 w 78"/>
                      <a:gd name="T9" fmla="*/ 14 h 78"/>
                      <a:gd name="T10" fmla="*/ 43 w 78"/>
                      <a:gd name="T11" fmla="*/ 4 h 78"/>
                      <a:gd name="T12" fmla="*/ 71 w 78"/>
                      <a:gd name="T13" fmla="*/ 26 h 78"/>
                      <a:gd name="T14" fmla="*/ 67 w 78"/>
                      <a:gd name="T15" fmla="*/ 54 h 78"/>
                      <a:gd name="T16" fmla="*/ 33 w 78"/>
                      <a:gd name="T17" fmla="*/ 78 h 78"/>
                      <a:gd name="T18" fmla="*/ 9 w 78"/>
                      <a:gd name="T19" fmla="*/ 66 h 78"/>
                      <a:gd name="T20" fmla="*/ 3 w 78"/>
                      <a:gd name="T21" fmla="*/ 62 h 78"/>
                      <a:gd name="T22" fmla="*/ 1 w 78"/>
                      <a:gd name="T23" fmla="*/ 58 h 78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78" h="78">
                        <a:moveTo>
                          <a:pt x="1" y="58"/>
                        </a:moveTo>
                        <a:cubicBezTo>
                          <a:pt x="6" y="44"/>
                          <a:pt x="18" y="57"/>
                          <a:pt x="27" y="60"/>
                        </a:cubicBezTo>
                        <a:cubicBezTo>
                          <a:pt x="35" y="57"/>
                          <a:pt x="38" y="52"/>
                          <a:pt x="45" y="48"/>
                        </a:cubicBezTo>
                        <a:cubicBezTo>
                          <a:pt x="48" y="40"/>
                          <a:pt x="51" y="36"/>
                          <a:pt x="57" y="30"/>
                        </a:cubicBezTo>
                        <a:cubicBezTo>
                          <a:pt x="55" y="23"/>
                          <a:pt x="43" y="14"/>
                          <a:pt x="43" y="14"/>
                        </a:cubicBezTo>
                        <a:cubicBezTo>
                          <a:pt x="33" y="0"/>
                          <a:pt x="30" y="1"/>
                          <a:pt x="43" y="4"/>
                        </a:cubicBezTo>
                        <a:cubicBezTo>
                          <a:pt x="54" y="11"/>
                          <a:pt x="58" y="22"/>
                          <a:pt x="71" y="26"/>
                        </a:cubicBezTo>
                        <a:cubicBezTo>
                          <a:pt x="78" y="37"/>
                          <a:pt x="78" y="46"/>
                          <a:pt x="67" y="54"/>
                        </a:cubicBezTo>
                        <a:cubicBezTo>
                          <a:pt x="51" y="49"/>
                          <a:pt x="53" y="71"/>
                          <a:pt x="33" y="78"/>
                        </a:cubicBezTo>
                        <a:cubicBezTo>
                          <a:pt x="16" y="72"/>
                          <a:pt x="25" y="76"/>
                          <a:pt x="9" y="66"/>
                        </a:cubicBezTo>
                        <a:cubicBezTo>
                          <a:pt x="7" y="65"/>
                          <a:pt x="3" y="62"/>
                          <a:pt x="3" y="62"/>
                        </a:cubicBezTo>
                        <a:cubicBezTo>
                          <a:pt x="0" y="54"/>
                          <a:pt x="13" y="42"/>
                          <a:pt x="1" y="5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3" name="Freeform 27"/>
                  <p:cNvSpPr>
                    <a:spLocks/>
                  </p:cNvSpPr>
                  <p:nvPr/>
                </p:nvSpPr>
                <p:spPr bwMode="ltGray">
                  <a:xfrm>
                    <a:off x="2152" y="544"/>
                    <a:ext cx="8" cy="6"/>
                  </a:xfrm>
                  <a:custGeom>
                    <a:avLst/>
                    <a:gdLst>
                      <a:gd name="T0" fmla="*/ 3 w 17"/>
                      <a:gd name="T1" fmla="*/ 4 h 18"/>
                      <a:gd name="T2" fmla="*/ 3 w 17"/>
                      <a:gd name="T3" fmla="*/ 14 h 18"/>
                      <a:gd name="T4" fmla="*/ 3 w 17"/>
                      <a:gd name="T5" fmla="*/ 4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7" h="18">
                        <a:moveTo>
                          <a:pt x="3" y="4"/>
                        </a:moveTo>
                        <a:cubicBezTo>
                          <a:pt x="17" y="7"/>
                          <a:pt x="16" y="18"/>
                          <a:pt x="3" y="14"/>
                        </a:cubicBezTo>
                        <a:cubicBezTo>
                          <a:pt x="0" y="6"/>
                          <a:pt x="7" y="0"/>
                          <a:pt x="3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4" name="Freeform 28"/>
                  <p:cNvSpPr>
                    <a:spLocks/>
                  </p:cNvSpPr>
                  <p:nvPr/>
                </p:nvSpPr>
                <p:spPr bwMode="ltGray">
                  <a:xfrm>
                    <a:off x="2194" y="584"/>
                    <a:ext cx="11" cy="8"/>
                  </a:xfrm>
                  <a:custGeom>
                    <a:avLst/>
                    <a:gdLst>
                      <a:gd name="T0" fmla="*/ 8 w 26"/>
                      <a:gd name="T1" fmla="*/ 14 h 22"/>
                      <a:gd name="T2" fmla="*/ 14 w 26"/>
                      <a:gd name="T3" fmla="*/ 0 h 22"/>
                      <a:gd name="T4" fmla="*/ 14 w 26"/>
                      <a:gd name="T5" fmla="*/ 22 h 22"/>
                      <a:gd name="T6" fmla="*/ 8 w 26"/>
                      <a:gd name="T7" fmla="*/ 14 h 2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6" h="22">
                        <a:moveTo>
                          <a:pt x="8" y="14"/>
                        </a:moveTo>
                        <a:cubicBezTo>
                          <a:pt x="5" y="6"/>
                          <a:pt x="5" y="3"/>
                          <a:pt x="14" y="0"/>
                        </a:cubicBezTo>
                        <a:cubicBezTo>
                          <a:pt x="26" y="4"/>
                          <a:pt x="23" y="16"/>
                          <a:pt x="14" y="22"/>
                        </a:cubicBezTo>
                        <a:cubicBezTo>
                          <a:pt x="0" y="17"/>
                          <a:pt x="13" y="3"/>
                          <a:pt x="8" y="1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5" name="Freeform 29"/>
                  <p:cNvSpPr>
                    <a:spLocks/>
                  </p:cNvSpPr>
                  <p:nvPr/>
                </p:nvSpPr>
                <p:spPr bwMode="ltGray">
                  <a:xfrm>
                    <a:off x="2059" y="494"/>
                    <a:ext cx="8" cy="5"/>
                  </a:xfrm>
                  <a:custGeom>
                    <a:avLst/>
                    <a:gdLst>
                      <a:gd name="T0" fmla="*/ 7 w 20"/>
                      <a:gd name="T1" fmla="*/ 12 h 15"/>
                      <a:gd name="T2" fmla="*/ 17 w 20"/>
                      <a:gd name="T3" fmla="*/ 2 h 15"/>
                      <a:gd name="T4" fmla="*/ 9 w 20"/>
                      <a:gd name="T5" fmla="*/ 12 h 15"/>
                      <a:gd name="T6" fmla="*/ 7 w 20"/>
                      <a:gd name="T7" fmla="*/ 12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1"/>
                          <a:pt x="6" y="0"/>
                          <a:pt x="17" y="2"/>
                        </a:cubicBezTo>
                        <a:cubicBezTo>
                          <a:pt x="20" y="10"/>
                          <a:pt x="18" y="15"/>
                          <a:pt x="9" y="12"/>
                        </a:cubicBezTo>
                        <a:cubicBezTo>
                          <a:pt x="4" y="4"/>
                          <a:pt x="4" y="4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6" name="Freeform 30"/>
                  <p:cNvSpPr>
                    <a:spLocks/>
                  </p:cNvSpPr>
                  <p:nvPr/>
                </p:nvSpPr>
                <p:spPr bwMode="ltGray">
                  <a:xfrm>
                    <a:off x="1988" y="536"/>
                    <a:ext cx="8" cy="5"/>
                  </a:xfrm>
                  <a:custGeom>
                    <a:avLst/>
                    <a:gdLst>
                      <a:gd name="T0" fmla="*/ 7 w 20"/>
                      <a:gd name="T1" fmla="*/ 12 h 15"/>
                      <a:gd name="T2" fmla="*/ 15 w 20"/>
                      <a:gd name="T3" fmla="*/ 2 h 15"/>
                      <a:gd name="T4" fmla="*/ 15 w 20"/>
                      <a:gd name="T5" fmla="*/ 14 h 15"/>
                      <a:gd name="T6" fmla="*/ 7 w 20"/>
                      <a:gd name="T7" fmla="*/ 12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2"/>
                          <a:pt x="3" y="0"/>
                          <a:pt x="15" y="2"/>
                        </a:cubicBezTo>
                        <a:cubicBezTo>
                          <a:pt x="16" y="4"/>
                          <a:pt x="20" y="12"/>
                          <a:pt x="15" y="14"/>
                        </a:cubicBezTo>
                        <a:cubicBezTo>
                          <a:pt x="12" y="15"/>
                          <a:pt x="7" y="12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7" name="Freeform 31"/>
                  <p:cNvSpPr>
                    <a:spLocks/>
                  </p:cNvSpPr>
                  <p:nvPr/>
                </p:nvSpPr>
                <p:spPr bwMode="ltGray">
                  <a:xfrm>
                    <a:off x="1910" y="523"/>
                    <a:ext cx="34" cy="27"/>
                  </a:xfrm>
                  <a:custGeom>
                    <a:avLst/>
                    <a:gdLst>
                      <a:gd name="T0" fmla="*/ 0 w 80"/>
                      <a:gd name="T1" fmla="*/ 50 h 80"/>
                      <a:gd name="T2" fmla="*/ 14 w 80"/>
                      <a:gd name="T3" fmla="*/ 24 h 80"/>
                      <a:gd name="T4" fmla="*/ 26 w 80"/>
                      <a:gd name="T5" fmla="*/ 20 h 80"/>
                      <a:gd name="T6" fmla="*/ 48 w 80"/>
                      <a:gd name="T7" fmla="*/ 18 h 80"/>
                      <a:gd name="T8" fmla="*/ 58 w 80"/>
                      <a:gd name="T9" fmla="*/ 0 h 80"/>
                      <a:gd name="T10" fmla="*/ 80 w 80"/>
                      <a:gd name="T11" fmla="*/ 40 h 80"/>
                      <a:gd name="T12" fmla="*/ 70 w 80"/>
                      <a:gd name="T13" fmla="*/ 56 h 80"/>
                      <a:gd name="T14" fmla="*/ 54 w 80"/>
                      <a:gd name="T15" fmla="*/ 62 h 80"/>
                      <a:gd name="T16" fmla="*/ 48 w 80"/>
                      <a:gd name="T17" fmla="*/ 80 h 80"/>
                      <a:gd name="T18" fmla="*/ 32 w 80"/>
                      <a:gd name="T19" fmla="*/ 68 h 80"/>
                      <a:gd name="T20" fmla="*/ 38 w 80"/>
                      <a:gd name="T21" fmla="*/ 52 h 80"/>
                      <a:gd name="T22" fmla="*/ 30 w 80"/>
                      <a:gd name="T23" fmla="*/ 28 h 80"/>
                      <a:gd name="T24" fmla="*/ 20 w 80"/>
                      <a:gd name="T25" fmla="*/ 48 h 80"/>
                      <a:gd name="T26" fmla="*/ 8 w 80"/>
                      <a:gd name="T27" fmla="*/ 56 h 80"/>
                      <a:gd name="T28" fmla="*/ 0 w 80"/>
                      <a:gd name="T29" fmla="*/ 50 h 80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0" t="0" r="r" b="b"/>
                    <a:pathLst>
                      <a:path w="80" h="80">
                        <a:moveTo>
                          <a:pt x="0" y="50"/>
                        </a:moveTo>
                        <a:cubicBezTo>
                          <a:pt x="1" y="47"/>
                          <a:pt x="12" y="25"/>
                          <a:pt x="14" y="24"/>
                        </a:cubicBezTo>
                        <a:cubicBezTo>
                          <a:pt x="17" y="22"/>
                          <a:pt x="26" y="20"/>
                          <a:pt x="26" y="20"/>
                        </a:cubicBezTo>
                        <a:cubicBezTo>
                          <a:pt x="34" y="23"/>
                          <a:pt x="40" y="21"/>
                          <a:pt x="48" y="18"/>
                        </a:cubicBezTo>
                        <a:cubicBezTo>
                          <a:pt x="52" y="12"/>
                          <a:pt x="54" y="6"/>
                          <a:pt x="58" y="0"/>
                        </a:cubicBezTo>
                        <a:cubicBezTo>
                          <a:pt x="70" y="4"/>
                          <a:pt x="76" y="28"/>
                          <a:pt x="80" y="40"/>
                        </a:cubicBezTo>
                        <a:cubicBezTo>
                          <a:pt x="75" y="54"/>
                          <a:pt x="80" y="50"/>
                          <a:pt x="70" y="56"/>
                        </a:cubicBezTo>
                        <a:cubicBezTo>
                          <a:pt x="61" y="53"/>
                          <a:pt x="59" y="54"/>
                          <a:pt x="54" y="62"/>
                        </a:cubicBezTo>
                        <a:cubicBezTo>
                          <a:pt x="57" y="71"/>
                          <a:pt x="56" y="75"/>
                          <a:pt x="48" y="80"/>
                        </a:cubicBezTo>
                        <a:cubicBezTo>
                          <a:pt x="40" y="77"/>
                          <a:pt x="39" y="72"/>
                          <a:pt x="32" y="68"/>
                        </a:cubicBezTo>
                        <a:cubicBezTo>
                          <a:pt x="26" y="59"/>
                          <a:pt x="30" y="57"/>
                          <a:pt x="38" y="52"/>
                        </a:cubicBezTo>
                        <a:cubicBezTo>
                          <a:pt x="41" y="42"/>
                          <a:pt x="39" y="34"/>
                          <a:pt x="30" y="28"/>
                        </a:cubicBezTo>
                        <a:cubicBezTo>
                          <a:pt x="20" y="31"/>
                          <a:pt x="30" y="40"/>
                          <a:pt x="20" y="48"/>
                        </a:cubicBezTo>
                        <a:cubicBezTo>
                          <a:pt x="16" y="51"/>
                          <a:pt x="8" y="56"/>
                          <a:pt x="8" y="56"/>
                        </a:cubicBezTo>
                        <a:cubicBezTo>
                          <a:pt x="2" y="50"/>
                          <a:pt x="5" y="50"/>
                          <a:pt x="0" y="5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8" name="Freeform 32"/>
                  <p:cNvSpPr>
                    <a:spLocks/>
                  </p:cNvSpPr>
                  <p:nvPr/>
                </p:nvSpPr>
                <p:spPr bwMode="ltGray">
                  <a:xfrm>
                    <a:off x="1899" y="466"/>
                    <a:ext cx="40" cy="58"/>
                  </a:xfrm>
                  <a:custGeom>
                    <a:avLst/>
                    <a:gdLst>
                      <a:gd name="T0" fmla="*/ 14 w 94"/>
                      <a:gd name="T1" fmla="*/ 96 h 174"/>
                      <a:gd name="T2" fmla="*/ 26 w 94"/>
                      <a:gd name="T3" fmla="*/ 128 h 174"/>
                      <a:gd name="T4" fmla="*/ 32 w 94"/>
                      <a:gd name="T5" fmla="*/ 108 h 174"/>
                      <a:gd name="T6" fmla="*/ 52 w 94"/>
                      <a:gd name="T7" fmla="*/ 100 h 174"/>
                      <a:gd name="T8" fmla="*/ 46 w 94"/>
                      <a:gd name="T9" fmla="*/ 124 h 174"/>
                      <a:gd name="T10" fmla="*/ 66 w 94"/>
                      <a:gd name="T11" fmla="*/ 126 h 174"/>
                      <a:gd name="T12" fmla="*/ 76 w 94"/>
                      <a:gd name="T13" fmla="*/ 142 h 174"/>
                      <a:gd name="T14" fmla="*/ 58 w 94"/>
                      <a:gd name="T15" fmla="*/ 148 h 174"/>
                      <a:gd name="T16" fmla="*/ 74 w 94"/>
                      <a:gd name="T17" fmla="*/ 174 h 174"/>
                      <a:gd name="T18" fmla="*/ 84 w 94"/>
                      <a:gd name="T19" fmla="*/ 154 h 174"/>
                      <a:gd name="T20" fmla="*/ 82 w 94"/>
                      <a:gd name="T21" fmla="*/ 112 h 174"/>
                      <a:gd name="T22" fmla="*/ 60 w 94"/>
                      <a:gd name="T23" fmla="*/ 106 h 174"/>
                      <a:gd name="T24" fmla="*/ 50 w 94"/>
                      <a:gd name="T25" fmla="*/ 82 h 174"/>
                      <a:gd name="T26" fmla="*/ 34 w 94"/>
                      <a:gd name="T27" fmla="*/ 82 h 174"/>
                      <a:gd name="T28" fmla="*/ 30 w 94"/>
                      <a:gd name="T29" fmla="*/ 70 h 174"/>
                      <a:gd name="T30" fmla="*/ 42 w 94"/>
                      <a:gd name="T31" fmla="*/ 42 h 174"/>
                      <a:gd name="T32" fmla="*/ 30 w 94"/>
                      <a:gd name="T33" fmla="*/ 0 h 174"/>
                      <a:gd name="T34" fmla="*/ 18 w 94"/>
                      <a:gd name="T35" fmla="*/ 22 h 174"/>
                      <a:gd name="T36" fmla="*/ 4 w 94"/>
                      <a:gd name="T37" fmla="*/ 46 h 174"/>
                      <a:gd name="T38" fmla="*/ 14 w 94"/>
                      <a:gd name="T39" fmla="*/ 76 h 174"/>
                      <a:gd name="T40" fmla="*/ 14 w 94"/>
                      <a:gd name="T41" fmla="*/ 96 h 174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0" t="0" r="r" b="b"/>
                    <a:pathLst>
                      <a:path w="94" h="174">
                        <a:moveTo>
                          <a:pt x="14" y="96"/>
                        </a:moveTo>
                        <a:cubicBezTo>
                          <a:pt x="11" y="109"/>
                          <a:pt x="15" y="120"/>
                          <a:pt x="26" y="128"/>
                        </a:cubicBezTo>
                        <a:cubicBezTo>
                          <a:pt x="34" y="120"/>
                          <a:pt x="35" y="119"/>
                          <a:pt x="32" y="108"/>
                        </a:cubicBezTo>
                        <a:cubicBezTo>
                          <a:pt x="35" y="92"/>
                          <a:pt x="39" y="92"/>
                          <a:pt x="52" y="100"/>
                        </a:cubicBezTo>
                        <a:cubicBezTo>
                          <a:pt x="59" y="110"/>
                          <a:pt x="49" y="114"/>
                          <a:pt x="46" y="124"/>
                        </a:cubicBezTo>
                        <a:cubicBezTo>
                          <a:pt x="50" y="137"/>
                          <a:pt x="57" y="129"/>
                          <a:pt x="66" y="126"/>
                        </a:cubicBezTo>
                        <a:cubicBezTo>
                          <a:pt x="77" y="129"/>
                          <a:pt x="79" y="131"/>
                          <a:pt x="76" y="142"/>
                        </a:cubicBezTo>
                        <a:cubicBezTo>
                          <a:pt x="67" y="139"/>
                          <a:pt x="65" y="141"/>
                          <a:pt x="58" y="148"/>
                        </a:cubicBezTo>
                        <a:cubicBezTo>
                          <a:pt x="60" y="160"/>
                          <a:pt x="62" y="170"/>
                          <a:pt x="74" y="174"/>
                        </a:cubicBezTo>
                        <a:cubicBezTo>
                          <a:pt x="77" y="165"/>
                          <a:pt x="74" y="157"/>
                          <a:pt x="84" y="154"/>
                        </a:cubicBezTo>
                        <a:cubicBezTo>
                          <a:pt x="91" y="143"/>
                          <a:pt x="94" y="122"/>
                          <a:pt x="82" y="112"/>
                        </a:cubicBezTo>
                        <a:cubicBezTo>
                          <a:pt x="77" y="108"/>
                          <a:pt x="66" y="108"/>
                          <a:pt x="60" y="106"/>
                        </a:cubicBezTo>
                        <a:cubicBezTo>
                          <a:pt x="65" y="92"/>
                          <a:pt x="66" y="87"/>
                          <a:pt x="50" y="82"/>
                        </a:cubicBezTo>
                        <a:cubicBezTo>
                          <a:pt x="48" y="82"/>
                          <a:pt x="37" y="86"/>
                          <a:pt x="34" y="82"/>
                        </a:cubicBezTo>
                        <a:cubicBezTo>
                          <a:pt x="32" y="79"/>
                          <a:pt x="30" y="70"/>
                          <a:pt x="30" y="70"/>
                        </a:cubicBezTo>
                        <a:cubicBezTo>
                          <a:pt x="32" y="54"/>
                          <a:pt x="32" y="52"/>
                          <a:pt x="42" y="42"/>
                        </a:cubicBezTo>
                        <a:cubicBezTo>
                          <a:pt x="41" y="30"/>
                          <a:pt x="45" y="5"/>
                          <a:pt x="30" y="0"/>
                        </a:cubicBezTo>
                        <a:cubicBezTo>
                          <a:pt x="14" y="4"/>
                          <a:pt x="16" y="4"/>
                          <a:pt x="18" y="22"/>
                        </a:cubicBezTo>
                        <a:cubicBezTo>
                          <a:pt x="16" y="39"/>
                          <a:pt x="15" y="35"/>
                          <a:pt x="4" y="46"/>
                        </a:cubicBezTo>
                        <a:cubicBezTo>
                          <a:pt x="0" y="59"/>
                          <a:pt x="5" y="67"/>
                          <a:pt x="14" y="76"/>
                        </a:cubicBezTo>
                        <a:cubicBezTo>
                          <a:pt x="15" y="80"/>
                          <a:pt x="17" y="93"/>
                          <a:pt x="14" y="9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9" name="Freeform 33"/>
                  <p:cNvSpPr>
                    <a:spLocks/>
                  </p:cNvSpPr>
                  <p:nvPr/>
                </p:nvSpPr>
                <p:spPr bwMode="ltGray">
                  <a:xfrm>
                    <a:off x="1909" y="508"/>
                    <a:ext cx="14" cy="17"/>
                  </a:xfrm>
                  <a:custGeom>
                    <a:avLst/>
                    <a:gdLst>
                      <a:gd name="T0" fmla="*/ 6 w 32"/>
                      <a:gd name="T1" fmla="*/ 24 h 50"/>
                      <a:gd name="T2" fmla="*/ 12 w 32"/>
                      <a:gd name="T3" fmla="*/ 0 h 50"/>
                      <a:gd name="T4" fmla="*/ 20 w 32"/>
                      <a:gd name="T5" fmla="*/ 16 h 50"/>
                      <a:gd name="T6" fmla="*/ 22 w 32"/>
                      <a:gd name="T7" fmla="*/ 24 h 50"/>
                      <a:gd name="T8" fmla="*/ 28 w 32"/>
                      <a:gd name="T9" fmla="*/ 26 h 50"/>
                      <a:gd name="T10" fmla="*/ 32 w 32"/>
                      <a:gd name="T11" fmla="*/ 38 h 50"/>
                      <a:gd name="T12" fmla="*/ 18 w 32"/>
                      <a:gd name="T13" fmla="*/ 50 h 50"/>
                      <a:gd name="T14" fmla="*/ 6 w 32"/>
                      <a:gd name="T15" fmla="*/ 24 h 50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2" h="50">
                        <a:moveTo>
                          <a:pt x="6" y="24"/>
                        </a:moveTo>
                        <a:cubicBezTo>
                          <a:pt x="0" y="15"/>
                          <a:pt x="3" y="6"/>
                          <a:pt x="12" y="0"/>
                        </a:cubicBezTo>
                        <a:cubicBezTo>
                          <a:pt x="23" y="3"/>
                          <a:pt x="23" y="5"/>
                          <a:pt x="20" y="16"/>
                        </a:cubicBezTo>
                        <a:cubicBezTo>
                          <a:pt x="21" y="19"/>
                          <a:pt x="20" y="22"/>
                          <a:pt x="22" y="24"/>
                        </a:cubicBezTo>
                        <a:cubicBezTo>
                          <a:pt x="23" y="26"/>
                          <a:pt x="27" y="24"/>
                          <a:pt x="28" y="26"/>
                        </a:cubicBezTo>
                        <a:cubicBezTo>
                          <a:pt x="30" y="29"/>
                          <a:pt x="32" y="38"/>
                          <a:pt x="32" y="38"/>
                        </a:cubicBezTo>
                        <a:cubicBezTo>
                          <a:pt x="29" y="46"/>
                          <a:pt x="26" y="47"/>
                          <a:pt x="18" y="50"/>
                        </a:cubicBezTo>
                        <a:cubicBezTo>
                          <a:pt x="12" y="41"/>
                          <a:pt x="18" y="24"/>
                          <a:pt x="6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0" name="Freeform 34"/>
                  <p:cNvSpPr>
                    <a:spLocks/>
                  </p:cNvSpPr>
                  <p:nvPr/>
                </p:nvSpPr>
                <p:spPr bwMode="ltGray">
                  <a:xfrm>
                    <a:off x="1881" y="512"/>
                    <a:ext cx="19" cy="17"/>
                  </a:xfrm>
                  <a:custGeom>
                    <a:avLst/>
                    <a:gdLst>
                      <a:gd name="T0" fmla="*/ 0 w 43"/>
                      <a:gd name="T1" fmla="*/ 44 h 50"/>
                      <a:gd name="T2" fmla="*/ 22 w 43"/>
                      <a:gd name="T3" fmla="*/ 20 h 50"/>
                      <a:gd name="T4" fmla="*/ 36 w 43"/>
                      <a:gd name="T5" fmla="*/ 0 h 50"/>
                      <a:gd name="T6" fmla="*/ 24 w 43"/>
                      <a:gd name="T7" fmla="*/ 28 h 50"/>
                      <a:gd name="T8" fmla="*/ 2 w 43"/>
                      <a:gd name="T9" fmla="*/ 50 h 50"/>
                      <a:gd name="T10" fmla="*/ 0 w 43"/>
                      <a:gd name="T11" fmla="*/ 44 h 50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50">
                        <a:moveTo>
                          <a:pt x="0" y="44"/>
                        </a:moveTo>
                        <a:cubicBezTo>
                          <a:pt x="6" y="38"/>
                          <a:pt x="18" y="29"/>
                          <a:pt x="22" y="20"/>
                        </a:cubicBezTo>
                        <a:cubicBezTo>
                          <a:pt x="27" y="10"/>
                          <a:pt x="25" y="4"/>
                          <a:pt x="36" y="0"/>
                        </a:cubicBezTo>
                        <a:cubicBezTo>
                          <a:pt x="43" y="11"/>
                          <a:pt x="36" y="24"/>
                          <a:pt x="24" y="28"/>
                        </a:cubicBezTo>
                        <a:cubicBezTo>
                          <a:pt x="21" y="38"/>
                          <a:pt x="12" y="47"/>
                          <a:pt x="2" y="50"/>
                        </a:cubicBezTo>
                        <a:cubicBezTo>
                          <a:pt x="1" y="48"/>
                          <a:pt x="0" y="44"/>
                          <a:pt x="0" y="4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1" name="Freeform 35"/>
                  <p:cNvSpPr>
                    <a:spLocks/>
                  </p:cNvSpPr>
                  <p:nvPr/>
                </p:nvSpPr>
                <p:spPr bwMode="ltGray">
                  <a:xfrm>
                    <a:off x="2930" y="489"/>
                    <a:ext cx="299" cy="179"/>
                  </a:xfrm>
                  <a:custGeom>
                    <a:avLst/>
                    <a:gdLst>
                      <a:gd name="T0" fmla="*/ 21 w 471"/>
                      <a:gd name="T1" fmla="*/ 280 h 281"/>
                      <a:gd name="T2" fmla="*/ 24 w 471"/>
                      <a:gd name="T3" fmla="*/ 250 h 281"/>
                      <a:gd name="T4" fmla="*/ 22 w 471"/>
                      <a:gd name="T5" fmla="*/ 245 h 281"/>
                      <a:gd name="T6" fmla="*/ 16 w 471"/>
                      <a:gd name="T7" fmla="*/ 218 h 281"/>
                      <a:gd name="T8" fmla="*/ 4 w 471"/>
                      <a:gd name="T9" fmla="*/ 215 h 281"/>
                      <a:gd name="T10" fmla="*/ 0 w 471"/>
                      <a:gd name="T11" fmla="*/ 191 h 281"/>
                      <a:gd name="T12" fmla="*/ 12 w 471"/>
                      <a:gd name="T13" fmla="*/ 180 h 281"/>
                      <a:gd name="T14" fmla="*/ 6 w 471"/>
                      <a:gd name="T15" fmla="*/ 165 h 281"/>
                      <a:gd name="T16" fmla="*/ 2 w 471"/>
                      <a:gd name="T17" fmla="*/ 160 h 281"/>
                      <a:gd name="T18" fmla="*/ 28 w 471"/>
                      <a:gd name="T19" fmla="*/ 120 h 281"/>
                      <a:gd name="T20" fmla="*/ 44 w 471"/>
                      <a:gd name="T21" fmla="*/ 96 h 281"/>
                      <a:gd name="T22" fmla="*/ 42 w 471"/>
                      <a:gd name="T23" fmla="*/ 70 h 281"/>
                      <a:gd name="T24" fmla="*/ 24 w 471"/>
                      <a:gd name="T25" fmla="*/ 43 h 281"/>
                      <a:gd name="T26" fmla="*/ 20 w 471"/>
                      <a:gd name="T27" fmla="*/ 32 h 281"/>
                      <a:gd name="T28" fmla="*/ 26 w 471"/>
                      <a:gd name="T29" fmla="*/ 36 h 281"/>
                      <a:gd name="T30" fmla="*/ 48 w 471"/>
                      <a:gd name="T31" fmla="*/ 35 h 281"/>
                      <a:gd name="T32" fmla="*/ 64 w 471"/>
                      <a:gd name="T33" fmla="*/ 11 h 281"/>
                      <a:gd name="T34" fmla="*/ 82 w 471"/>
                      <a:gd name="T35" fmla="*/ 0 h 281"/>
                      <a:gd name="T36" fmla="*/ 88 w 471"/>
                      <a:gd name="T37" fmla="*/ 2 h 281"/>
                      <a:gd name="T38" fmla="*/ 92 w 471"/>
                      <a:gd name="T39" fmla="*/ 9 h 281"/>
                      <a:gd name="T40" fmla="*/ 98 w 471"/>
                      <a:gd name="T41" fmla="*/ 5 h 281"/>
                      <a:gd name="T42" fmla="*/ 110 w 471"/>
                      <a:gd name="T43" fmla="*/ 8 h 281"/>
                      <a:gd name="T44" fmla="*/ 116 w 471"/>
                      <a:gd name="T45" fmla="*/ 9 h 281"/>
                      <a:gd name="T46" fmla="*/ 141 w 471"/>
                      <a:gd name="T47" fmla="*/ 14 h 281"/>
                      <a:gd name="T48" fmla="*/ 155 w 471"/>
                      <a:gd name="T49" fmla="*/ 24 h 281"/>
                      <a:gd name="T50" fmla="*/ 167 w 471"/>
                      <a:gd name="T51" fmla="*/ 17 h 281"/>
                      <a:gd name="T52" fmla="*/ 173 w 471"/>
                      <a:gd name="T53" fmla="*/ 14 h 281"/>
                      <a:gd name="T54" fmla="*/ 195 w 471"/>
                      <a:gd name="T55" fmla="*/ 14 h 281"/>
                      <a:gd name="T56" fmla="*/ 211 w 471"/>
                      <a:gd name="T57" fmla="*/ 32 h 281"/>
                      <a:gd name="T58" fmla="*/ 231 w 471"/>
                      <a:gd name="T59" fmla="*/ 59 h 281"/>
                      <a:gd name="T60" fmla="*/ 245 w 471"/>
                      <a:gd name="T61" fmla="*/ 70 h 281"/>
                      <a:gd name="T62" fmla="*/ 257 w 471"/>
                      <a:gd name="T63" fmla="*/ 68 h 281"/>
                      <a:gd name="T64" fmla="*/ 270 w 471"/>
                      <a:gd name="T65" fmla="*/ 65 h 281"/>
                      <a:gd name="T66" fmla="*/ 290 w 471"/>
                      <a:gd name="T67" fmla="*/ 71 h 281"/>
                      <a:gd name="T68" fmla="*/ 300 w 471"/>
                      <a:gd name="T69" fmla="*/ 81 h 281"/>
                      <a:gd name="T70" fmla="*/ 308 w 471"/>
                      <a:gd name="T71" fmla="*/ 90 h 281"/>
                      <a:gd name="T72" fmla="*/ 318 w 471"/>
                      <a:gd name="T73" fmla="*/ 111 h 281"/>
                      <a:gd name="T74" fmla="*/ 322 w 471"/>
                      <a:gd name="T75" fmla="*/ 120 h 281"/>
                      <a:gd name="T76" fmla="*/ 324 w 471"/>
                      <a:gd name="T77" fmla="*/ 125 h 281"/>
                      <a:gd name="T78" fmla="*/ 310 w 471"/>
                      <a:gd name="T79" fmla="*/ 142 h 281"/>
                      <a:gd name="T80" fmla="*/ 322 w 471"/>
                      <a:gd name="T81" fmla="*/ 141 h 281"/>
                      <a:gd name="T82" fmla="*/ 342 w 471"/>
                      <a:gd name="T83" fmla="*/ 155 h 281"/>
                      <a:gd name="T84" fmla="*/ 364 w 471"/>
                      <a:gd name="T85" fmla="*/ 157 h 281"/>
                      <a:gd name="T86" fmla="*/ 380 w 471"/>
                      <a:gd name="T87" fmla="*/ 168 h 281"/>
                      <a:gd name="T88" fmla="*/ 382 w 471"/>
                      <a:gd name="T89" fmla="*/ 172 h 281"/>
                      <a:gd name="T90" fmla="*/ 382 w 471"/>
                      <a:gd name="T91" fmla="*/ 176 h 281"/>
                      <a:gd name="T92" fmla="*/ 394 w 471"/>
                      <a:gd name="T93" fmla="*/ 172 h 281"/>
                      <a:gd name="T94" fmla="*/ 400 w 471"/>
                      <a:gd name="T95" fmla="*/ 171 h 281"/>
                      <a:gd name="T96" fmla="*/ 439 w 471"/>
                      <a:gd name="T97" fmla="*/ 185 h 281"/>
                      <a:gd name="T98" fmla="*/ 447 w 471"/>
                      <a:gd name="T99" fmla="*/ 199 h 281"/>
                      <a:gd name="T100" fmla="*/ 465 w 471"/>
                      <a:gd name="T101" fmla="*/ 201 h 281"/>
                      <a:gd name="T102" fmla="*/ 471 w 471"/>
                      <a:gd name="T103" fmla="*/ 215 h 281"/>
                      <a:gd name="T104" fmla="*/ 451 w 471"/>
                      <a:gd name="T105" fmla="*/ 258 h 281"/>
                      <a:gd name="T106" fmla="*/ 435 w 471"/>
                      <a:gd name="T107" fmla="*/ 281 h 281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</a:gdLst>
                    <a:ahLst/>
                    <a:cxnLst>
                      <a:cxn ang="T108">
                        <a:pos x="T0" y="T1"/>
                      </a:cxn>
                      <a:cxn ang="T109">
                        <a:pos x="T2" y="T3"/>
                      </a:cxn>
                      <a:cxn ang="T110">
                        <a:pos x="T4" y="T5"/>
                      </a:cxn>
                      <a:cxn ang="T111">
                        <a:pos x="T6" y="T7"/>
                      </a:cxn>
                      <a:cxn ang="T112">
                        <a:pos x="T8" y="T9"/>
                      </a:cxn>
                      <a:cxn ang="T113">
                        <a:pos x="T10" y="T11"/>
                      </a:cxn>
                      <a:cxn ang="T114">
                        <a:pos x="T12" y="T13"/>
                      </a:cxn>
                      <a:cxn ang="T115">
                        <a:pos x="T14" y="T15"/>
                      </a:cxn>
                      <a:cxn ang="T116">
                        <a:pos x="T16" y="T17"/>
                      </a:cxn>
                      <a:cxn ang="T117">
                        <a:pos x="T18" y="T19"/>
                      </a:cxn>
                      <a:cxn ang="T118">
                        <a:pos x="T20" y="T21"/>
                      </a:cxn>
                      <a:cxn ang="T119">
                        <a:pos x="T22" y="T23"/>
                      </a:cxn>
                      <a:cxn ang="T120">
                        <a:pos x="T24" y="T25"/>
                      </a:cxn>
                      <a:cxn ang="T121">
                        <a:pos x="T26" y="T27"/>
                      </a:cxn>
                      <a:cxn ang="T122">
                        <a:pos x="T28" y="T29"/>
                      </a:cxn>
                      <a:cxn ang="T123">
                        <a:pos x="T30" y="T31"/>
                      </a:cxn>
                      <a:cxn ang="T124">
                        <a:pos x="T32" y="T33"/>
                      </a:cxn>
                      <a:cxn ang="T125">
                        <a:pos x="T34" y="T35"/>
                      </a:cxn>
                      <a:cxn ang="T126">
                        <a:pos x="T36" y="T37"/>
                      </a:cxn>
                      <a:cxn ang="T127">
                        <a:pos x="T38" y="T39"/>
                      </a:cxn>
                      <a:cxn ang="T128">
                        <a:pos x="T40" y="T41"/>
                      </a:cxn>
                      <a:cxn ang="T129">
                        <a:pos x="T42" y="T43"/>
                      </a:cxn>
                      <a:cxn ang="T130">
                        <a:pos x="T44" y="T45"/>
                      </a:cxn>
                      <a:cxn ang="T131">
                        <a:pos x="T46" y="T47"/>
                      </a:cxn>
                      <a:cxn ang="T132">
                        <a:pos x="T48" y="T49"/>
                      </a:cxn>
                      <a:cxn ang="T133">
                        <a:pos x="T50" y="T51"/>
                      </a:cxn>
                      <a:cxn ang="T134">
                        <a:pos x="T52" y="T53"/>
                      </a:cxn>
                      <a:cxn ang="T135">
                        <a:pos x="T54" y="T55"/>
                      </a:cxn>
                      <a:cxn ang="T136">
                        <a:pos x="T56" y="T57"/>
                      </a:cxn>
                      <a:cxn ang="T137">
                        <a:pos x="T58" y="T59"/>
                      </a:cxn>
                      <a:cxn ang="T138">
                        <a:pos x="T60" y="T61"/>
                      </a:cxn>
                      <a:cxn ang="T139">
                        <a:pos x="T62" y="T63"/>
                      </a:cxn>
                      <a:cxn ang="T140">
                        <a:pos x="T64" y="T65"/>
                      </a:cxn>
                      <a:cxn ang="T141">
                        <a:pos x="T66" y="T67"/>
                      </a:cxn>
                      <a:cxn ang="T142">
                        <a:pos x="T68" y="T69"/>
                      </a:cxn>
                      <a:cxn ang="T143">
                        <a:pos x="T70" y="T71"/>
                      </a:cxn>
                      <a:cxn ang="T144">
                        <a:pos x="T72" y="T73"/>
                      </a:cxn>
                      <a:cxn ang="T145">
                        <a:pos x="T74" y="T75"/>
                      </a:cxn>
                      <a:cxn ang="T146">
                        <a:pos x="T76" y="T77"/>
                      </a:cxn>
                      <a:cxn ang="T147">
                        <a:pos x="T78" y="T79"/>
                      </a:cxn>
                      <a:cxn ang="T148">
                        <a:pos x="T80" y="T81"/>
                      </a:cxn>
                      <a:cxn ang="T149">
                        <a:pos x="T82" y="T83"/>
                      </a:cxn>
                      <a:cxn ang="T150">
                        <a:pos x="T84" y="T85"/>
                      </a:cxn>
                      <a:cxn ang="T151">
                        <a:pos x="T86" y="T87"/>
                      </a:cxn>
                      <a:cxn ang="T152">
                        <a:pos x="T88" y="T89"/>
                      </a:cxn>
                      <a:cxn ang="T153">
                        <a:pos x="T90" y="T91"/>
                      </a:cxn>
                      <a:cxn ang="T154">
                        <a:pos x="T92" y="T93"/>
                      </a:cxn>
                      <a:cxn ang="T155">
                        <a:pos x="T94" y="T95"/>
                      </a:cxn>
                      <a:cxn ang="T156">
                        <a:pos x="T96" y="T97"/>
                      </a:cxn>
                      <a:cxn ang="T157">
                        <a:pos x="T98" y="T99"/>
                      </a:cxn>
                      <a:cxn ang="T158">
                        <a:pos x="T100" y="T101"/>
                      </a:cxn>
                      <a:cxn ang="T159">
                        <a:pos x="T102" y="T103"/>
                      </a:cxn>
                      <a:cxn ang="T160">
                        <a:pos x="T104" y="T105"/>
                      </a:cxn>
                      <a:cxn ang="T161">
                        <a:pos x="T106" y="T107"/>
                      </a:cxn>
                    </a:cxnLst>
                    <a:rect l="0" t="0" r="r" b="b"/>
                    <a:pathLst>
                      <a:path w="471" h="281">
                        <a:moveTo>
                          <a:pt x="21" y="280"/>
                        </a:moveTo>
                        <a:cubicBezTo>
                          <a:pt x="32" y="281"/>
                          <a:pt x="25" y="253"/>
                          <a:pt x="24" y="250"/>
                        </a:cubicBezTo>
                        <a:cubicBezTo>
                          <a:pt x="23" y="248"/>
                          <a:pt x="22" y="245"/>
                          <a:pt x="22" y="245"/>
                        </a:cubicBezTo>
                        <a:cubicBezTo>
                          <a:pt x="21" y="243"/>
                          <a:pt x="20" y="221"/>
                          <a:pt x="16" y="218"/>
                        </a:cubicBezTo>
                        <a:cubicBezTo>
                          <a:pt x="13" y="216"/>
                          <a:pt x="4" y="215"/>
                          <a:pt x="4" y="215"/>
                        </a:cubicBezTo>
                        <a:cubicBezTo>
                          <a:pt x="0" y="207"/>
                          <a:pt x="3" y="200"/>
                          <a:pt x="0" y="191"/>
                        </a:cubicBezTo>
                        <a:cubicBezTo>
                          <a:pt x="2" y="185"/>
                          <a:pt x="7" y="186"/>
                          <a:pt x="12" y="180"/>
                        </a:cubicBezTo>
                        <a:cubicBezTo>
                          <a:pt x="14" y="172"/>
                          <a:pt x="14" y="169"/>
                          <a:pt x="6" y="165"/>
                        </a:cubicBezTo>
                        <a:cubicBezTo>
                          <a:pt x="4" y="163"/>
                          <a:pt x="2" y="162"/>
                          <a:pt x="2" y="160"/>
                        </a:cubicBezTo>
                        <a:cubicBezTo>
                          <a:pt x="2" y="150"/>
                          <a:pt x="16" y="123"/>
                          <a:pt x="28" y="120"/>
                        </a:cubicBezTo>
                        <a:cubicBezTo>
                          <a:pt x="32" y="111"/>
                          <a:pt x="40" y="105"/>
                          <a:pt x="44" y="96"/>
                        </a:cubicBezTo>
                        <a:cubicBezTo>
                          <a:pt x="39" y="83"/>
                          <a:pt x="38" y="85"/>
                          <a:pt x="42" y="70"/>
                        </a:cubicBezTo>
                        <a:cubicBezTo>
                          <a:pt x="38" y="60"/>
                          <a:pt x="34" y="48"/>
                          <a:pt x="24" y="43"/>
                        </a:cubicBezTo>
                        <a:cubicBezTo>
                          <a:pt x="18" y="36"/>
                          <a:pt x="10" y="37"/>
                          <a:pt x="20" y="32"/>
                        </a:cubicBezTo>
                        <a:cubicBezTo>
                          <a:pt x="27" y="34"/>
                          <a:pt x="26" y="32"/>
                          <a:pt x="26" y="36"/>
                        </a:cubicBezTo>
                        <a:cubicBezTo>
                          <a:pt x="34" y="41"/>
                          <a:pt x="39" y="39"/>
                          <a:pt x="48" y="35"/>
                        </a:cubicBezTo>
                        <a:cubicBezTo>
                          <a:pt x="45" y="22"/>
                          <a:pt x="48" y="14"/>
                          <a:pt x="64" y="11"/>
                        </a:cubicBezTo>
                        <a:cubicBezTo>
                          <a:pt x="71" y="8"/>
                          <a:pt x="75" y="3"/>
                          <a:pt x="82" y="0"/>
                        </a:cubicBezTo>
                        <a:cubicBezTo>
                          <a:pt x="84" y="1"/>
                          <a:pt x="88" y="0"/>
                          <a:pt x="88" y="2"/>
                        </a:cubicBezTo>
                        <a:cubicBezTo>
                          <a:pt x="90" y="12"/>
                          <a:pt x="75" y="13"/>
                          <a:pt x="92" y="9"/>
                        </a:cubicBezTo>
                        <a:cubicBezTo>
                          <a:pt x="94" y="8"/>
                          <a:pt x="96" y="5"/>
                          <a:pt x="98" y="5"/>
                        </a:cubicBezTo>
                        <a:cubicBezTo>
                          <a:pt x="102" y="4"/>
                          <a:pt x="106" y="7"/>
                          <a:pt x="110" y="8"/>
                        </a:cubicBezTo>
                        <a:cubicBezTo>
                          <a:pt x="112" y="8"/>
                          <a:pt x="116" y="9"/>
                          <a:pt x="116" y="9"/>
                        </a:cubicBezTo>
                        <a:cubicBezTo>
                          <a:pt x="122" y="16"/>
                          <a:pt x="129" y="13"/>
                          <a:pt x="141" y="14"/>
                        </a:cubicBezTo>
                        <a:cubicBezTo>
                          <a:pt x="143" y="21"/>
                          <a:pt x="147" y="22"/>
                          <a:pt x="155" y="24"/>
                        </a:cubicBezTo>
                        <a:cubicBezTo>
                          <a:pt x="159" y="22"/>
                          <a:pt x="163" y="20"/>
                          <a:pt x="167" y="17"/>
                        </a:cubicBezTo>
                        <a:cubicBezTo>
                          <a:pt x="169" y="16"/>
                          <a:pt x="173" y="14"/>
                          <a:pt x="173" y="14"/>
                        </a:cubicBezTo>
                        <a:cubicBezTo>
                          <a:pt x="195" y="26"/>
                          <a:pt x="175" y="20"/>
                          <a:pt x="195" y="14"/>
                        </a:cubicBezTo>
                        <a:cubicBezTo>
                          <a:pt x="207" y="17"/>
                          <a:pt x="201" y="26"/>
                          <a:pt x="211" y="32"/>
                        </a:cubicBezTo>
                        <a:cubicBezTo>
                          <a:pt x="214" y="38"/>
                          <a:pt x="224" y="55"/>
                          <a:pt x="231" y="59"/>
                        </a:cubicBezTo>
                        <a:cubicBezTo>
                          <a:pt x="241" y="70"/>
                          <a:pt x="235" y="67"/>
                          <a:pt x="245" y="70"/>
                        </a:cubicBezTo>
                        <a:cubicBezTo>
                          <a:pt x="249" y="69"/>
                          <a:pt x="253" y="69"/>
                          <a:pt x="257" y="68"/>
                        </a:cubicBezTo>
                        <a:cubicBezTo>
                          <a:pt x="261" y="67"/>
                          <a:pt x="270" y="65"/>
                          <a:pt x="270" y="65"/>
                        </a:cubicBezTo>
                        <a:cubicBezTo>
                          <a:pt x="278" y="66"/>
                          <a:pt x="283" y="67"/>
                          <a:pt x="290" y="71"/>
                        </a:cubicBezTo>
                        <a:cubicBezTo>
                          <a:pt x="304" y="88"/>
                          <a:pt x="282" y="62"/>
                          <a:pt x="300" y="81"/>
                        </a:cubicBezTo>
                        <a:cubicBezTo>
                          <a:pt x="302" y="84"/>
                          <a:pt x="308" y="90"/>
                          <a:pt x="308" y="90"/>
                        </a:cubicBezTo>
                        <a:cubicBezTo>
                          <a:pt x="311" y="98"/>
                          <a:pt x="315" y="103"/>
                          <a:pt x="318" y="111"/>
                        </a:cubicBezTo>
                        <a:cubicBezTo>
                          <a:pt x="319" y="114"/>
                          <a:pt x="321" y="117"/>
                          <a:pt x="322" y="120"/>
                        </a:cubicBezTo>
                        <a:cubicBezTo>
                          <a:pt x="323" y="122"/>
                          <a:pt x="324" y="125"/>
                          <a:pt x="324" y="125"/>
                        </a:cubicBezTo>
                        <a:cubicBezTo>
                          <a:pt x="321" y="132"/>
                          <a:pt x="313" y="134"/>
                          <a:pt x="310" y="142"/>
                        </a:cubicBezTo>
                        <a:cubicBezTo>
                          <a:pt x="313" y="151"/>
                          <a:pt x="317" y="146"/>
                          <a:pt x="322" y="141"/>
                        </a:cubicBezTo>
                        <a:cubicBezTo>
                          <a:pt x="341" y="143"/>
                          <a:pt x="339" y="142"/>
                          <a:pt x="342" y="155"/>
                        </a:cubicBezTo>
                        <a:cubicBezTo>
                          <a:pt x="351" y="150"/>
                          <a:pt x="355" y="152"/>
                          <a:pt x="364" y="157"/>
                        </a:cubicBezTo>
                        <a:cubicBezTo>
                          <a:pt x="369" y="162"/>
                          <a:pt x="372" y="166"/>
                          <a:pt x="380" y="168"/>
                        </a:cubicBezTo>
                        <a:cubicBezTo>
                          <a:pt x="381" y="169"/>
                          <a:pt x="383" y="171"/>
                          <a:pt x="382" y="172"/>
                        </a:cubicBezTo>
                        <a:cubicBezTo>
                          <a:pt x="380" y="176"/>
                          <a:pt x="368" y="172"/>
                          <a:pt x="382" y="176"/>
                        </a:cubicBezTo>
                        <a:cubicBezTo>
                          <a:pt x="386" y="175"/>
                          <a:pt x="390" y="173"/>
                          <a:pt x="394" y="172"/>
                        </a:cubicBezTo>
                        <a:cubicBezTo>
                          <a:pt x="396" y="172"/>
                          <a:pt x="400" y="171"/>
                          <a:pt x="400" y="171"/>
                        </a:cubicBezTo>
                        <a:cubicBezTo>
                          <a:pt x="413" y="177"/>
                          <a:pt x="427" y="179"/>
                          <a:pt x="439" y="185"/>
                        </a:cubicBezTo>
                        <a:cubicBezTo>
                          <a:pt x="441" y="190"/>
                          <a:pt x="445" y="194"/>
                          <a:pt x="447" y="199"/>
                        </a:cubicBezTo>
                        <a:cubicBezTo>
                          <a:pt x="453" y="198"/>
                          <a:pt x="460" y="195"/>
                          <a:pt x="465" y="201"/>
                        </a:cubicBezTo>
                        <a:cubicBezTo>
                          <a:pt x="468" y="205"/>
                          <a:pt x="471" y="215"/>
                          <a:pt x="471" y="215"/>
                        </a:cubicBezTo>
                        <a:cubicBezTo>
                          <a:pt x="468" y="231"/>
                          <a:pt x="469" y="248"/>
                          <a:pt x="451" y="258"/>
                        </a:cubicBezTo>
                        <a:cubicBezTo>
                          <a:pt x="447" y="262"/>
                          <a:pt x="437" y="275"/>
                          <a:pt x="435" y="281"/>
                        </a:cubicBezTo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2" name="Freeform 36"/>
                  <p:cNvSpPr>
                    <a:spLocks/>
                  </p:cNvSpPr>
                  <p:nvPr/>
                </p:nvSpPr>
                <p:spPr bwMode="ltGray">
                  <a:xfrm>
                    <a:off x="2534" y="242"/>
                    <a:ext cx="420" cy="283"/>
                  </a:xfrm>
                  <a:custGeom>
                    <a:avLst/>
                    <a:gdLst>
                      <a:gd name="T0" fmla="*/ 406 w 984"/>
                      <a:gd name="T1" fmla="*/ 6 h 844"/>
                      <a:gd name="T2" fmla="*/ 502 w 984"/>
                      <a:gd name="T3" fmla="*/ 34 h 844"/>
                      <a:gd name="T4" fmla="*/ 550 w 984"/>
                      <a:gd name="T5" fmla="*/ 38 h 844"/>
                      <a:gd name="T6" fmla="*/ 578 w 984"/>
                      <a:gd name="T7" fmla="*/ 130 h 844"/>
                      <a:gd name="T8" fmla="*/ 586 w 984"/>
                      <a:gd name="T9" fmla="*/ 90 h 844"/>
                      <a:gd name="T10" fmla="*/ 606 w 984"/>
                      <a:gd name="T11" fmla="*/ 70 h 844"/>
                      <a:gd name="T12" fmla="*/ 642 w 984"/>
                      <a:gd name="T13" fmla="*/ 126 h 844"/>
                      <a:gd name="T14" fmla="*/ 682 w 984"/>
                      <a:gd name="T15" fmla="*/ 98 h 844"/>
                      <a:gd name="T16" fmla="*/ 706 w 984"/>
                      <a:gd name="T17" fmla="*/ 86 h 844"/>
                      <a:gd name="T18" fmla="*/ 762 w 984"/>
                      <a:gd name="T19" fmla="*/ 2 h 844"/>
                      <a:gd name="T20" fmla="*/ 798 w 984"/>
                      <a:gd name="T21" fmla="*/ 70 h 844"/>
                      <a:gd name="T22" fmla="*/ 798 w 984"/>
                      <a:gd name="T23" fmla="*/ 130 h 844"/>
                      <a:gd name="T24" fmla="*/ 790 w 984"/>
                      <a:gd name="T25" fmla="*/ 158 h 844"/>
                      <a:gd name="T26" fmla="*/ 766 w 984"/>
                      <a:gd name="T27" fmla="*/ 162 h 844"/>
                      <a:gd name="T28" fmla="*/ 762 w 984"/>
                      <a:gd name="T29" fmla="*/ 186 h 844"/>
                      <a:gd name="T30" fmla="*/ 802 w 984"/>
                      <a:gd name="T31" fmla="*/ 226 h 844"/>
                      <a:gd name="T32" fmla="*/ 786 w 984"/>
                      <a:gd name="T33" fmla="*/ 322 h 844"/>
                      <a:gd name="T34" fmla="*/ 830 w 984"/>
                      <a:gd name="T35" fmla="*/ 414 h 844"/>
                      <a:gd name="T36" fmla="*/ 854 w 984"/>
                      <a:gd name="T37" fmla="*/ 450 h 844"/>
                      <a:gd name="T38" fmla="*/ 830 w 984"/>
                      <a:gd name="T39" fmla="*/ 450 h 844"/>
                      <a:gd name="T40" fmla="*/ 746 w 984"/>
                      <a:gd name="T41" fmla="*/ 378 h 844"/>
                      <a:gd name="T42" fmla="*/ 678 w 984"/>
                      <a:gd name="T43" fmla="*/ 402 h 844"/>
                      <a:gd name="T44" fmla="*/ 590 w 984"/>
                      <a:gd name="T45" fmla="*/ 442 h 844"/>
                      <a:gd name="T46" fmla="*/ 642 w 984"/>
                      <a:gd name="T47" fmla="*/ 578 h 844"/>
                      <a:gd name="T48" fmla="*/ 710 w 984"/>
                      <a:gd name="T49" fmla="*/ 610 h 844"/>
                      <a:gd name="T50" fmla="*/ 738 w 984"/>
                      <a:gd name="T51" fmla="*/ 550 h 844"/>
                      <a:gd name="T52" fmla="*/ 774 w 984"/>
                      <a:gd name="T53" fmla="*/ 570 h 844"/>
                      <a:gd name="T54" fmla="*/ 766 w 984"/>
                      <a:gd name="T55" fmla="*/ 630 h 844"/>
                      <a:gd name="T56" fmla="*/ 802 w 984"/>
                      <a:gd name="T57" fmla="*/ 670 h 844"/>
                      <a:gd name="T58" fmla="*/ 838 w 984"/>
                      <a:gd name="T59" fmla="*/ 658 h 844"/>
                      <a:gd name="T60" fmla="*/ 922 w 984"/>
                      <a:gd name="T61" fmla="*/ 806 h 844"/>
                      <a:gd name="T62" fmla="*/ 942 w 984"/>
                      <a:gd name="T63" fmla="*/ 826 h 844"/>
                      <a:gd name="T64" fmla="*/ 874 w 984"/>
                      <a:gd name="T65" fmla="*/ 810 h 844"/>
                      <a:gd name="T66" fmla="*/ 830 w 984"/>
                      <a:gd name="T67" fmla="*/ 758 h 844"/>
                      <a:gd name="T68" fmla="*/ 778 w 984"/>
                      <a:gd name="T69" fmla="*/ 710 h 844"/>
                      <a:gd name="T70" fmla="*/ 702 w 984"/>
                      <a:gd name="T71" fmla="*/ 662 h 844"/>
                      <a:gd name="T72" fmla="*/ 614 w 984"/>
                      <a:gd name="T73" fmla="*/ 646 h 844"/>
                      <a:gd name="T74" fmla="*/ 506 w 984"/>
                      <a:gd name="T75" fmla="*/ 594 h 844"/>
                      <a:gd name="T76" fmla="*/ 462 w 984"/>
                      <a:gd name="T77" fmla="*/ 506 h 844"/>
                      <a:gd name="T78" fmla="*/ 430 w 984"/>
                      <a:gd name="T79" fmla="*/ 462 h 844"/>
                      <a:gd name="T80" fmla="*/ 382 w 984"/>
                      <a:gd name="T81" fmla="*/ 430 h 844"/>
                      <a:gd name="T82" fmla="*/ 342 w 984"/>
                      <a:gd name="T83" fmla="*/ 370 h 844"/>
                      <a:gd name="T84" fmla="*/ 354 w 984"/>
                      <a:gd name="T85" fmla="*/ 414 h 844"/>
                      <a:gd name="T86" fmla="*/ 418 w 984"/>
                      <a:gd name="T87" fmla="*/ 494 h 844"/>
                      <a:gd name="T88" fmla="*/ 422 w 984"/>
                      <a:gd name="T89" fmla="*/ 526 h 844"/>
                      <a:gd name="T90" fmla="*/ 394 w 984"/>
                      <a:gd name="T91" fmla="*/ 498 h 844"/>
                      <a:gd name="T92" fmla="*/ 354 w 984"/>
                      <a:gd name="T93" fmla="*/ 466 h 844"/>
                      <a:gd name="T94" fmla="*/ 314 w 984"/>
                      <a:gd name="T95" fmla="*/ 402 h 844"/>
                      <a:gd name="T96" fmla="*/ 266 w 984"/>
                      <a:gd name="T97" fmla="*/ 346 h 844"/>
                      <a:gd name="T98" fmla="*/ 210 w 984"/>
                      <a:gd name="T99" fmla="*/ 314 h 844"/>
                      <a:gd name="T100" fmla="*/ 154 w 984"/>
                      <a:gd name="T101" fmla="*/ 238 h 844"/>
                      <a:gd name="T102" fmla="*/ 66 w 984"/>
                      <a:gd name="T103" fmla="*/ 66 h 844"/>
                      <a:gd name="T104" fmla="*/ 34 w 984"/>
                      <a:gd name="T105" fmla="*/ 38 h 844"/>
                      <a:gd name="T106" fmla="*/ 46 w 984"/>
                      <a:gd name="T107" fmla="*/ 22 h 844"/>
                      <a:gd name="T108" fmla="*/ 102 w 984"/>
                      <a:gd name="T109" fmla="*/ 70 h 844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  <a:gd name="T162" fmla="*/ 0 60000 65536"/>
                      <a:gd name="T163" fmla="*/ 0 60000 65536"/>
                      <a:gd name="T164" fmla="*/ 0 60000 65536"/>
                    </a:gdLst>
                    <a:ahLst/>
                    <a:cxnLst>
                      <a:cxn ang="T110">
                        <a:pos x="T0" y="T1"/>
                      </a:cxn>
                      <a:cxn ang="T111">
                        <a:pos x="T2" y="T3"/>
                      </a:cxn>
                      <a:cxn ang="T112">
                        <a:pos x="T4" y="T5"/>
                      </a:cxn>
                      <a:cxn ang="T113">
                        <a:pos x="T6" y="T7"/>
                      </a:cxn>
                      <a:cxn ang="T114">
                        <a:pos x="T8" y="T9"/>
                      </a:cxn>
                      <a:cxn ang="T115">
                        <a:pos x="T10" y="T11"/>
                      </a:cxn>
                      <a:cxn ang="T116">
                        <a:pos x="T12" y="T13"/>
                      </a:cxn>
                      <a:cxn ang="T117">
                        <a:pos x="T14" y="T15"/>
                      </a:cxn>
                      <a:cxn ang="T118">
                        <a:pos x="T16" y="T17"/>
                      </a:cxn>
                      <a:cxn ang="T119">
                        <a:pos x="T18" y="T19"/>
                      </a:cxn>
                      <a:cxn ang="T120">
                        <a:pos x="T20" y="T21"/>
                      </a:cxn>
                      <a:cxn ang="T121">
                        <a:pos x="T22" y="T23"/>
                      </a:cxn>
                      <a:cxn ang="T122">
                        <a:pos x="T24" y="T25"/>
                      </a:cxn>
                      <a:cxn ang="T123">
                        <a:pos x="T26" y="T27"/>
                      </a:cxn>
                      <a:cxn ang="T124">
                        <a:pos x="T28" y="T29"/>
                      </a:cxn>
                      <a:cxn ang="T125">
                        <a:pos x="T30" y="T31"/>
                      </a:cxn>
                      <a:cxn ang="T126">
                        <a:pos x="T32" y="T33"/>
                      </a:cxn>
                      <a:cxn ang="T127">
                        <a:pos x="T34" y="T35"/>
                      </a:cxn>
                      <a:cxn ang="T128">
                        <a:pos x="T36" y="T37"/>
                      </a:cxn>
                      <a:cxn ang="T129">
                        <a:pos x="T38" y="T39"/>
                      </a:cxn>
                      <a:cxn ang="T130">
                        <a:pos x="T40" y="T41"/>
                      </a:cxn>
                      <a:cxn ang="T131">
                        <a:pos x="T42" y="T43"/>
                      </a:cxn>
                      <a:cxn ang="T132">
                        <a:pos x="T44" y="T45"/>
                      </a:cxn>
                      <a:cxn ang="T133">
                        <a:pos x="T46" y="T47"/>
                      </a:cxn>
                      <a:cxn ang="T134">
                        <a:pos x="T48" y="T49"/>
                      </a:cxn>
                      <a:cxn ang="T135">
                        <a:pos x="T50" y="T51"/>
                      </a:cxn>
                      <a:cxn ang="T136">
                        <a:pos x="T52" y="T53"/>
                      </a:cxn>
                      <a:cxn ang="T137">
                        <a:pos x="T54" y="T55"/>
                      </a:cxn>
                      <a:cxn ang="T138">
                        <a:pos x="T56" y="T57"/>
                      </a:cxn>
                      <a:cxn ang="T139">
                        <a:pos x="T58" y="T59"/>
                      </a:cxn>
                      <a:cxn ang="T140">
                        <a:pos x="T60" y="T61"/>
                      </a:cxn>
                      <a:cxn ang="T141">
                        <a:pos x="T62" y="T63"/>
                      </a:cxn>
                      <a:cxn ang="T142">
                        <a:pos x="T64" y="T65"/>
                      </a:cxn>
                      <a:cxn ang="T143">
                        <a:pos x="T66" y="T67"/>
                      </a:cxn>
                      <a:cxn ang="T144">
                        <a:pos x="T68" y="T69"/>
                      </a:cxn>
                      <a:cxn ang="T145">
                        <a:pos x="T70" y="T71"/>
                      </a:cxn>
                      <a:cxn ang="T146">
                        <a:pos x="T72" y="T73"/>
                      </a:cxn>
                      <a:cxn ang="T147">
                        <a:pos x="T74" y="T75"/>
                      </a:cxn>
                      <a:cxn ang="T148">
                        <a:pos x="T76" y="T77"/>
                      </a:cxn>
                      <a:cxn ang="T149">
                        <a:pos x="T78" y="T79"/>
                      </a:cxn>
                      <a:cxn ang="T150">
                        <a:pos x="T80" y="T81"/>
                      </a:cxn>
                      <a:cxn ang="T151">
                        <a:pos x="T82" y="T83"/>
                      </a:cxn>
                      <a:cxn ang="T152">
                        <a:pos x="T84" y="T85"/>
                      </a:cxn>
                      <a:cxn ang="T153">
                        <a:pos x="T86" y="T87"/>
                      </a:cxn>
                      <a:cxn ang="T154">
                        <a:pos x="T88" y="T89"/>
                      </a:cxn>
                      <a:cxn ang="T155">
                        <a:pos x="T90" y="T91"/>
                      </a:cxn>
                      <a:cxn ang="T156">
                        <a:pos x="T92" y="T93"/>
                      </a:cxn>
                      <a:cxn ang="T157">
                        <a:pos x="T94" y="T95"/>
                      </a:cxn>
                      <a:cxn ang="T158">
                        <a:pos x="T96" y="T97"/>
                      </a:cxn>
                      <a:cxn ang="T159">
                        <a:pos x="T98" y="T99"/>
                      </a:cxn>
                      <a:cxn ang="T160">
                        <a:pos x="T100" y="T101"/>
                      </a:cxn>
                      <a:cxn ang="T161">
                        <a:pos x="T102" y="T103"/>
                      </a:cxn>
                      <a:cxn ang="T162">
                        <a:pos x="T104" y="T105"/>
                      </a:cxn>
                      <a:cxn ang="T163">
                        <a:pos x="T106" y="T107"/>
                      </a:cxn>
                      <a:cxn ang="T164">
                        <a:pos x="T108" y="T109"/>
                      </a:cxn>
                    </a:cxnLst>
                    <a:rect l="0" t="0" r="r" b="b"/>
                    <a:pathLst>
                      <a:path w="984" h="844">
                        <a:moveTo>
                          <a:pt x="82" y="38"/>
                        </a:moveTo>
                        <a:lnTo>
                          <a:pt x="406" y="6"/>
                        </a:lnTo>
                        <a:cubicBezTo>
                          <a:pt x="497" y="22"/>
                          <a:pt x="465" y="0"/>
                          <a:pt x="474" y="54"/>
                        </a:cubicBezTo>
                        <a:cubicBezTo>
                          <a:pt x="492" y="48"/>
                          <a:pt x="484" y="40"/>
                          <a:pt x="502" y="34"/>
                        </a:cubicBezTo>
                        <a:cubicBezTo>
                          <a:pt x="510" y="37"/>
                          <a:pt x="517" y="46"/>
                          <a:pt x="526" y="46"/>
                        </a:cubicBezTo>
                        <a:cubicBezTo>
                          <a:pt x="534" y="46"/>
                          <a:pt x="550" y="38"/>
                          <a:pt x="550" y="38"/>
                        </a:cubicBezTo>
                        <a:cubicBezTo>
                          <a:pt x="556" y="55"/>
                          <a:pt x="552" y="60"/>
                          <a:pt x="542" y="74"/>
                        </a:cubicBezTo>
                        <a:cubicBezTo>
                          <a:pt x="555" y="114"/>
                          <a:pt x="550" y="102"/>
                          <a:pt x="578" y="130"/>
                        </a:cubicBezTo>
                        <a:cubicBezTo>
                          <a:pt x="584" y="148"/>
                          <a:pt x="590" y="148"/>
                          <a:pt x="606" y="138"/>
                        </a:cubicBezTo>
                        <a:cubicBezTo>
                          <a:pt x="600" y="119"/>
                          <a:pt x="594" y="107"/>
                          <a:pt x="586" y="90"/>
                        </a:cubicBezTo>
                        <a:cubicBezTo>
                          <a:pt x="583" y="82"/>
                          <a:pt x="578" y="66"/>
                          <a:pt x="578" y="66"/>
                        </a:cubicBezTo>
                        <a:cubicBezTo>
                          <a:pt x="585" y="44"/>
                          <a:pt x="597" y="56"/>
                          <a:pt x="606" y="70"/>
                        </a:cubicBezTo>
                        <a:cubicBezTo>
                          <a:pt x="609" y="86"/>
                          <a:pt x="608" y="117"/>
                          <a:pt x="626" y="90"/>
                        </a:cubicBezTo>
                        <a:cubicBezTo>
                          <a:pt x="648" y="97"/>
                          <a:pt x="646" y="104"/>
                          <a:pt x="642" y="126"/>
                        </a:cubicBezTo>
                        <a:cubicBezTo>
                          <a:pt x="650" y="150"/>
                          <a:pt x="665" y="141"/>
                          <a:pt x="682" y="130"/>
                        </a:cubicBezTo>
                        <a:cubicBezTo>
                          <a:pt x="689" y="108"/>
                          <a:pt x="673" y="124"/>
                          <a:pt x="682" y="98"/>
                        </a:cubicBezTo>
                        <a:cubicBezTo>
                          <a:pt x="683" y="94"/>
                          <a:pt x="690" y="96"/>
                          <a:pt x="694" y="94"/>
                        </a:cubicBezTo>
                        <a:cubicBezTo>
                          <a:pt x="698" y="92"/>
                          <a:pt x="702" y="89"/>
                          <a:pt x="706" y="86"/>
                        </a:cubicBezTo>
                        <a:cubicBezTo>
                          <a:pt x="717" y="54"/>
                          <a:pt x="688" y="54"/>
                          <a:pt x="742" y="46"/>
                        </a:cubicBezTo>
                        <a:cubicBezTo>
                          <a:pt x="748" y="27"/>
                          <a:pt x="741" y="9"/>
                          <a:pt x="762" y="2"/>
                        </a:cubicBezTo>
                        <a:cubicBezTo>
                          <a:pt x="788" y="11"/>
                          <a:pt x="777" y="38"/>
                          <a:pt x="802" y="46"/>
                        </a:cubicBezTo>
                        <a:cubicBezTo>
                          <a:pt x="831" y="36"/>
                          <a:pt x="805" y="63"/>
                          <a:pt x="798" y="70"/>
                        </a:cubicBezTo>
                        <a:cubicBezTo>
                          <a:pt x="789" y="96"/>
                          <a:pt x="787" y="96"/>
                          <a:pt x="802" y="118"/>
                        </a:cubicBezTo>
                        <a:cubicBezTo>
                          <a:pt x="801" y="122"/>
                          <a:pt x="801" y="127"/>
                          <a:pt x="798" y="130"/>
                        </a:cubicBezTo>
                        <a:cubicBezTo>
                          <a:pt x="794" y="133"/>
                          <a:pt x="784" y="129"/>
                          <a:pt x="782" y="134"/>
                        </a:cubicBezTo>
                        <a:cubicBezTo>
                          <a:pt x="780" y="142"/>
                          <a:pt x="790" y="158"/>
                          <a:pt x="790" y="158"/>
                        </a:cubicBezTo>
                        <a:cubicBezTo>
                          <a:pt x="786" y="161"/>
                          <a:pt x="783" y="165"/>
                          <a:pt x="778" y="166"/>
                        </a:cubicBezTo>
                        <a:cubicBezTo>
                          <a:pt x="774" y="167"/>
                          <a:pt x="769" y="159"/>
                          <a:pt x="766" y="162"/>
                        </a:cubicBezTo>
                        <a:cubicBezTo>
                          <a:pt x="758" y="170"/>
                          <a:pt x="794" y="182"/>
                          <a:pt x="794" y="182"/>
                        </a:cubicBezTo>
                        <a:cubicBezTo>
                          <a:pt x="804" y="211"/>
                          <a:pt x="775" y="190"/>
                          <a:pt x="762" y="186"/>
                        </a:cubicBezTo>
                        <a:cubicBezTo>
                          <a:pt x="767" y="194"/>
                          <a:pt x="773" y="202"/>
                          <a:pt x="778" y="210"/>
                        </a:cubicBezTo>
                        <a:cubicBezTo>
                          <a:pt x="783" y="218"/>
                          <a:pt x="802" y="226"/>
                          <a:pt x="802" y="226"/>
                        </a:cubicBezTo>
                        <a:cubicBezTo>
                          <a:pt x="813" y="242"/>
                          <a:pt x="804" y="245"/>
                          <a:pt x="810" y="262"/>
                        </a:cubicBezTo>
                        <a:cubicBezTo>
                          <a:pt x="803" y="282"/>
                          <a:pt x="793" y="301"/>
                          <a:pt x="786" y="322"/>
                        </a:cubicBezTo>
                        <a:cubicBezTo>
                          <a:pt x="783" y="330"/>
                          <a:pt x="778" y="346"/>
                          <a:pt x="778" y="346"/>
                        </a:cubicBezTo>
                        <a:cubicBezTo>
                          <a:pt x="785" y="366"/>
                          <a:pt x="817" y="394"/>
                          <a:pt x="830" y="414"/>
                        </a:cubicBezTo>
                        <a:cubicBezTo>
                          <a:pt x="835" y="422"/>
                          <a:pt x="841" y="430"/>
                          <a:pt x="846" y="438"/>
                        </a:cubicBezTo>
                        <a:cubicBezTo>
                          <a:pt x="849" y="442"/>
                          <a:pt x="854" y="450"/>
                          <a:pt x="854" y="450"/>
                        </a:cubicBezTo>
                        <a:cubicBezTo>
                          <a:pt x="853" y="457"/>
                          <a:pt x="855" y="466"/>
                          <a:pt x="850" y="470"/>
                        </a:cubicBezTo>
                        <a:cubicBezTo>
                          <a:pt x="844" y="475"/>
                          <a:pt x="831" y="451"/>
                          <a:pt x="830" y="450"/>
                        </a:cubicBezTo>
                        <a:cubicBezTo>
                          <a:pt x="811" y="431"/>
                          <a:pt x="789" y="421"/>
                          <a:pt x="774" y="398"/>
                        </a:cubicBezTo>
                        <a:cubicBezTo>
                          <a:pt x="769" y="379"/>
                          <a:pt x="766" y="371"/>
                          <a:pt x="746" y="378"/>
                        </a:cubicBezTo>
                        <a:cubicBezTo>
                          <a:pt x="717" y="368"/>
                          <a:pt x="730" y="368"/>
                          <a:pt x="706" y="374"/>
                        </a:cubicBezTo>
                        <a:cubicBezTo>
                          <a:pt x="688" y="402"/>
                          <a:pt x="699" y="395"/>
                          <a:pt x="678" y="402"/>
                        </a:cubicBezTo>
                        <a:cubicBezTo>
                          <a:pt x="654" y="386"/>
                          <a:pt x="650" y="390"/>
                          <a:pt x="618" y="394"/>
                        </a:cubicBezTo>
                        <a:cubicBezTo>
                          <a:pt x="607" y="411"/>
                          <a:pt x="601" y="426"/>
                          <a:pt x="590" y="442"/>
                        </a:cubicBezTo>
                        <a:cubicBezTo>
                          <a:pt x="600" y="471"/>
                          <a:pt x="593" y="459"/>
                          <a:pt x="606" y="478"/>
                        </a:cubicBezTo>
                        <a:cubicBezTo>
                          <a:pt x="593" y="518"/>
                          <a:pt x="622" y="548"/>
                          <a:pt x="642" y="578"/>
                        </a:cubicBezTo>
                        <a:cubicBezTo>
                          <a:pt x="651" y="591"/>
                          <a:pt x="651" y="601"/>
                          <a:pt x="666" y="606"/>
                        </a:cubicBezTo>
                        <a:cubicBezTo>
                          <a:pt x="680" y="627"/>
                          <a:pt x="691" y="623"/>
                          <a:pt x="710" y="610"/>
                        </a:cubicBezTo>
                        <a:cubicBezTo>
                          <a:pt x="729" y="616"/>
                          <a:pt x="729" y="606"/>
                          <a:pt x="734" y="590"/>
                        </a:cubicBezTo>
                        <a:cubicBezTo>
                          <a:pt x="735" y="577"/>
                          <a:pt x="731" y="562"/>
                          <a:pt x="738" y="550"/>
                        </a:cubicBezTo>
                        <a:cubicBezTo>
                          <a:pt x="742" y="543"/>
                          <a:pt x="762" y="542"/>
                          <a:pt x="762" y="542"/>
                        </a:cubicBezTo>
                        <a:cubicBezTo>
                          <a:pt x="783" y="547"/>
                          <a:pt x="786" y="552"/>
                          <a:pt x="774" y="570"/>
                        </a:cubicBezTo>
                        <a:cubicBezTo>
                          <a:pt x="779" y="590"/>
                          <a:pt x="790" y="605"/>
                          <a:pt x="770" y="618"/>
                        </a:cubicBezTo>
                        <a:cubicBezTo>
                          <a:pt x="769" y="622"/>
                          <a:pt x="764" y="626"/>
                          <a:pt x="766" y="630"/>
                        </a:cubicBezTo>
                        <a:cubicBezTo>
                          <a:pt x="768" y="634"/>
                          <a:pt x="775" y="634"/>
                          <a:pt x="778" y="638"/>
                        </a:cubicBezTo>
                        <a:cubicBezTo>
                          <a:pt x="788" y="651"/>
                          <a:pt x="786" y="660"/>
                          <a:pt x="802" y="670"/>
                        </a:cubicBezTo>
                        <a:cubicBezTo>
                          <a:pt x="810" y="667"/>
                          <a:pt x="818" y="665"/>
                          <a:pt x="826" y="662"/>
                        </a:cubicBezTo>
                        <a:cubicBezTo>
                          <a:pt x="830" y="661"/>
                          <a:pt x="838" y="658"/>
                          <a:pt x="838" y="658"/>
                        </a:cubicBezTo>
                        <a:cubicBezTo>
                          <a:pt x="857" y="664"/>
                          <a:pt x="864" y="680"/>
                          <a:pt x="870" y="698"/>
                        </a:cubicBezTo>
                        <a:cubicBezTo>
                          <a:pt x="859" y="731"/>
                          <a:pt x="887" y="794"/>
                          <a:pt x="922" y="806"/>
                        </a:cubicBezTo>
                        <a:cubicBezTo>
                          <a:pt x="938" y="801"/>
                          <a:pt x="941" y="792"/>
                          <a:pt x="958" y="798"/>
                        </a:cubicBezTo>
                        <a:cubicBezTo>
                          <a:pt x="984" y="837"/>
                          <a:pt x="928" y="784"/>
                          <a:pt x="942" y="826"/>
                        </a:cubicBezTo>
                        <a:cubicBezTo>
                          <a:pt x="936" y="844"/>
                          <a:pt x="930" y="844"/>
                          <a:pt x="914" y="834"/>
                        </a:cubicBezTo>
                        <a:cubicBezTo>
                          <a:pt x="903" y="817"/>
                          <a:pt x="890" y="821"/>
                          <a:pt x="874" y="810"/>
                        </a:cubicBezTo>
                        <a:cubicBezTo>
                          <a:pt x="851" y="776"/>
                          <a:pt x="882" y="816"/>
                          <a:pt x="854" y="794"/>
                        </a:cubicBezTo>
                        <a:cubicBezTo>
                          <a:pt x="843" y="785"/>
                          <a:pt x="840" y="768"/>
                          <a:pt x="830" y="758"/>
                        </a:cubicBezTo>
                        <a:cubicBezTo>
                          <a:pt x="824" y="739"/>
                          <a:pt x="817" y="724"/>
                          <a:pt x="798" y="718"/>
                        </a:cubicBezTo>
                        <a:cubicBezTo>
                          <a:pt x="791" y="696"/>
                          <a:pt x="800" y="712"/>
                          <a:pt x="778" y="710"/>
                        </a:cubicBezTo>
                        <a:cubicBezTo>
                          <a:pt x="767" y="709"/>
                          <a:pt x="746" y="702"/>
                          <a:pt x="746" y="702"/>
                        </a:cubicBezTo>
                        <a:cubicBezTo>
                          <a:pt x="729" y="691"/>
                          <a:pt x="720" y="674"/>
                          <a:pt x="702" y="662"/>
                        </a:cubicBezTo>
                        <a:cubicBezTo>
                          <a:pt x="694" y="665"/>
                          <a:pt x="687" y="673"/>
                          <a:pt x="678" y="674"/>
                        </a:cubicBezTo>
                        <a:cubicBezTo>
                          <a:pt x="657" y="677"/>
                          <a:pt x="630" y="657"/>
                          <a:pt x="614" y="646"/>
                        </a:cubicBezTo>
                        <a:cubicBezTo>
                          <a:pt x="600" y="637"/>
                          <a:pt x="580" y="639"/>
                          <a:pt x="566" y="630"/>
                        </a:cubicBezTo>
                        <a:cubicBezTo>
                          <a:pt x="546" y="617"/>
                          <a:pt x="525" y="607"/>
                          <a:pt x="506" y="594"/>
                        </a:cubicBezTo>
                        <a:cubicBezTo>
                          <a:pt x="513" y="572"/>
                          <a:pt x="509" y="551"/>
                          <a:pt x="490" y="538"/>
                        </a:cubicBezTo>
                        <a:cubicBezTo>
                          <a:pt x="485" y="522"/>
                          <a:pt x="476" y="515"/>
                          <a:pt x="462" y="506"/>
                        </a:cubicBezTo>
                        <a:cubicBezTo>
                          <a:pt x="441" y="474"/>
                          <a:pt x="469" y="513"/>
                          <a:pt x="442" y="486"/>
                        </a:cubicBezTo>
                        <a:cubicBezTo>
                          <a:pt x="436" y="480"/>
                          <a:pt x="436" y="468"/>
                          <a:pt x="430" y="462"/>
                        </a:cubicBezTo>
                        <a:cubicBezTo>
                          <a:pt x="427" y="459"/>
                          <a:pt x="422" y="459"/>
                          <a:pt x="418" y="458"/>
                        </a:cubicBezTo>
                        <a:cubicBezTo>
                          <a:pt x="407" y="447"/>
                          <a:pt x="382" y="430"/>
                          <a:pt x="382" y="430"/>
                        </a:cubicBezTo>
                        <a:cubicBezTo>
                          <a:pt x="371" y="413"/>
                          <a:pt x="358" y="399"/>
                          <a:pt x="346" y="382"/>
                        </a:cubicBezTo>
                        <a:cubicBezTo>
                          <a:pt x="344" y="378"/>
                          <a:pt x="345" y="373"/>
                          <a:pt x="342" y="370"/>
                        </a:cubicBezTo>
                        <a:cubicBezTo>
                          <a:pt x="339" y="367"/>
                          <a:pt x="334" y="367"/>
                          <a:pt x="330" y="366"/>
                        </a:cubicBezTo>
                        <a:cubicBezTo>
                          <a:pt x="322" y="390"/>
                          <a:pt x="342" y="398"/>
                          <a:pt x="354" y="414"/>
                        </a:cubicBezTo>
                        <a:cubicBezTo>
                          <a:pt x="368" y="432"/>
                          <a:pt x="372" y="446"/>
                          <a:pt x="390" y="458"/>
                        </a:cubicBezTo>
                        <a:cubicBezTo>
                          <a:pt x="409" y="487"/>
                          <a:pt x="399" y="475"/>
                          <a:pt x="418" y="494"/>
                        </a:cubicBezTo>
                        <a:cubicBezTo>
                          <a:pt x="423" y="510"/>
                          <a:pt x="428" y="517"/>
                          <a:pt x="442" y="526"/>
                        </a:cubicBezTo>
                        <a:cubicBezTo>
                          <a:pt x="450" y="550"/>
                          <a:pt x="432" y="533"/>
                          <a:pt x="422" y="526"/>
                        </a:cubicBezTo>
                        <a:cubicBezTo>
                          <a:pt x="399" y="492"/>
                          <a:pt x="430" y="532"/>
                          <a:pt x="402" y="510"/>
                        </a:cubicBezTo>
                        <a:cubicBezTo>
                          <a:pt x="398" y="507"/>
                          <a:pt x="397" y="501"/>
                          <a:pt x="394" y="498"/>
                        </a:cubicBezTo>
                        <a:cubicBezTo>
                          <a:pt x="391" y="495"/>
                          <a:pt x="386" y="493"/>
                          <a:pt x="382" y="490"/>
                        </a:cubicBezTo>
                        <a:cubicBezTo>
                          <a:pt x="377" y="474"/>
                          <a:pt x="370" y="471"/>
                          <a:pt x="354" y="466"/>
                        </a:cubicBezTo>
                        <a:cubicBezTo>
                          <a:pt x="344" y="452"/>
                          <a:pt x="340" y="447"/>
                          <a:pt x="346" y="430"/>
                        </a:cubicBezTo>
                        <a:cubicBezTo>
                          <a:pt x="338" y="418"/>
                          <a:pt x="314" y="402"/>
                          <a:pt x="314" y="402"/>
                        </a:cubicBezTo>
                        <a:cubicBezTo>
                          <a:pt x="306" y="390"/>
                          <a:pt x="298" y="378"/>
                          <a:pt x="290" y="366"/>
                        </a:cubicBezTo>
                        <a:cubicBezTo>
                          <a:pt x="284" y="357"/>
                          <a:pt x="273" y="354"/>
                          <a:pt x="266" y="346"/>
                        </a:cubicBezTo>
                        <a:cubicBezTo>
                          <a:pt x="263" y="342"/>
                          <a:pt x="262" y="337"/>
                          <a:pt x="258" y="334"/>
                        </a:cubicBezTo>
                        <a:cubicBezTo>
                          <a:pt x="243" y="324"/>
                          <a:pt x="225" y="324"/>
                          <a:pt x="210" y="314"/>
                        </a:cubicBezTo>
                        <a:cubicBezTo>
                          <a:pt x="201" y="300"/>
                          <a:pt x="194" y="291"/>
                          <a:pt x="178" y="286"/>
                        </a:cubicBezTo>
                        <a:cubicBezTo>
                          <a:pt x="160" y="260"/>
                          <a:pt x="192" y="247"/>
                          <a:pt x="154" y="238"/>
                        </a:cubicBezTo>
                        <a:cubicBezTo>
                          <a:pt x="111" y="209"/>
                          <a:pt x="106" y="149"/>
                          <a:pt x="90" y="102"/>
                        </a:cubicBezTo>
                        <a:cubicBezTo>
                          <a:pt x="86" y="90"/>
                          <a:pt x="76" y="73"/>
                          <a:pt x="66" y="66"/>
                        </a:cubicBezTo>
                        <a:cubicBezTo>
                          <a:pt x="58" y="60"/>
                          <a:pt x="42" y="50"/>
                          <a:pt x="42" y="50"/>
                        </a:cubicBezTo>
                        <a:cubicBezTo>
                          <a:pt x="39" y="46"/>
                          <a:pt x="38" y="41"/>
                          <a:pt x="34" y="38"/>
                        </a:cubicBezTo>
                        <a:cubicBezTo>
                          <a:pt x="27" y="34"/>
                          <a:pt x="10" y="30"/>
                          <a:pt x="10" y="30"/>
                        </a:cubicBezTo>
                        <a:cubicBezTo>
                          <a:pt x="0" y="1"/>
                          <a:pt x="31" y="17"/>
                          <a:pt x="46" y="22"/>
                        </a:cubicBezTo>
                        <a:cubicBezTo>
                          <a:pt x="65" y="51"/>
                          <a:pt x="61" y="41"/>
                          <a:pt x="86" y="58"/>
                        </a:cubicBezTo>
                        <a:cubicBezTo>
                          <a:pt x="94" y="70"/>
                          <a:pt x="94" y="93"/>
                          <a:pt x="102" y="70"/>
                        </a:cubicBezTo>
                        <a:cubicBezTo>
                          <a:pt x="95" y="49"/>
                          <a:pt x="82" y="62"/>
                          <a:pt x="82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3" name="Freeform 37"/>
                  <p:cNvSpPr>
                    <a:spLocks/>
                  </p:cNvSpPr>
                  <p:nvPr/>
                </p:nvSpPr>
                <p:spPr bwMode="ltGray">
                  <a:xfrm>
                    <a:off x="2405" y="445"/>
                    <a:ext cx="15" cy="16"/>
                  </a:xfrm>
                  <a:custGeom>
                    <a:avLst/>
                    <a:gdLst>
                      <a:gd name="T0" fmla="*/ 6 w 36"/>
                      <a:gd name="T1" fmla="*/ 28 h 48"/>
                      <a:gd name="T2" fmla="*/ 10 w 36"/>
                      <a:gd name="T3" fmla="*/ 48 h 48"/>
                      <a:gd name="T4" fmla="*/ 6 w 36"/>
                      <a:gd name="T5" fmla="*/ 28 h 4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6" h="48">
                        <a:moveTo>
                          <a:pt x="6" y="28"/>
                        </a:moveTo>
                        <a:cubicBezTo>
                          <a:pt x="25" y="0"/>
                          <a:pt x="36" y="31"/>
                          <a:pt x="10" y="48"/>
                        </a:cubicBezTo>
                        <a:cubicBezTo>
                          <a:pt x="0" y="34"/>
                          <a:pt x="0" y="40"/>
                          <a:pt x="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4" name="Freeform 38"/>
                  <p:cNvSpPr>
                    <a:spLocks/>
                  </p:cNvSpPr>
                  <p:nvPr/>
                </p:nvSpPr>
                <p:spPr bwMode="ltGray">
                  <a:xfrm>
                    <a:off x="2393" y="439"/>
                    <a:ext cx="16" cy="12"/>
                  </a:xfrm>
                  <a:custGeom>
                    <a:avLst/>
                    <a:gdLst>
                      <a:gd name="T0" fmla="*/ 0 w 36"/>
                      <a:gd name="T1" fmla="*/ 5 h 37"/>
                      <a:gd name="T2" fmla="*/ 12 w 36"/>
                      <a:gd name="T3" fmla="*/ 1 h 37"/>
                      <a:gd name="T4" fmla="*/ 36 w 36"/>
                      <a:gd name="T5" fmla="*/ 17 h 37"/>
                      <a:gd name="T6" fmla="*/ 8 w 36"/>
                      <a:gd name="T7" fmla="*/ 17 h 37"/>
                      <a:gd name="T8" fmla="*/ 0 w 36"/>
                      <a:gd name="T9" fmla="*/ 5 h 3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6" h="37">
                        <a:moveTo>
                          <a:pt x="0" y="5"/>
                        </a:moveTo>
                        <a:cubicBezTo>
                          <a:pt x="4" y="4"/>
                          <a:pt x="8" y="0"/>
                          <a:pt x="12" y="1"/>
                        </a:cubicBezTo>
                        <a:cubicBezTo>
                          <a:pt x="21" y="4"/>
                          <a:pt x="36" y="17"/>
                          <a:pt x="36" y="17"/>
                        </a:cubicBezTo>
                        <a:cubicBezTo>
                          <a:pt x="29" y="37"/>
                          <a:pt x="22" y="26"/>
                          <a:pt x="8" y="17"/>
                        </a:cubicBezTo>
                        <a:cubicBezTo>
                          <a:pt x="5" y="13"/>
                          <a:pt x="0" y="5"/>
                          <a:pt x="0" y="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5" name="Freeform 39"/>
                  <p:cNvSpPr>
                    <a:spLocks/>
                  </p:cNvSpPr>
                  <p:nvPr/>
                </p:nvSpPr>
                <p:spPr bwMode="ltGray">
                  <a:xfrm>
                    <a:off x="2878" y="406"/>
                    <a:ext cx="73" cy="33"/>
                  </a:xfrm>
                  <a:custGeom>
                    <a:avLst/>
                    <a:gdLst>
                      <a:gd name="T0" fmla="*/ 0 w 170"/>
                      <a:gd name="T1" fmla="*/ 49 h 96"/>
                      <a:gd name="T2" fmla="*/ 28 w 170"/>
                      <a:gd name="T3" fmla="*/ 25 h 96"/>
                      <a:gd name="T4" fmla="*/ 56 w 170"/>
                      <a:gd name="T5" fmla="*/ 21 h 96"/>
                      <a:gd name="T6" fmla="*/ 80 w 170"/>
                      <a:gd name="T7" fmla="*/ 9 h 96"/>
                      <a:gd name="T8" fmla="*/ 64 w 170"/>
                      <a:gd name="T9" fmla="*/ 25 h 96"/>
                      <a:gd name="T10" fmla="*/ 124 w 170"/>
                      <a:gd name="T11" fmla="*/ 49 h 96"/>
                      <a:gd name="T12" fmla="*/ 160 w 170"/>
                      <a:gd name="T13" fmla="*/ 65 h 96"/>
                      <a:gd name="T14" fmla="*/ 116 w 170"/>
                      <a:gd name="T15" fmla="*/ 77 h 96"/>
                      <a:gd name="T16" fmla="*/ 88 w 170"/>
                      <a:gd name="T17" fmla="*/ 57 h 96"/>
                      <a:gd name="T18" fmla="*/ 76 w 170"/>
                      <a:gd name="T19" fmla="*/ 53 h 96"/>
                      <a:gd name="T20" fmla="*/ 24 w 170"/>
                      <a:gd name="T21" fmla="*/ 41 h 96"/>
                      <a:gd name="T22" fmla="*/ 0 w 170"/>
                      <a:gd name="T23" fmla="*/ 49 h 9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170" h="96">
                        <a:moveTo>
                          <a:pt x="0" y="49"/>
                        </a:moveTo>
                        <a:cubicBezTo>
                          <a:pt x="5" y="33"/>
                          <a:pt x="12" y="30"/>
                          <a:pt x="28" y="25"/>
                        </a:cubicBezTo>
                        <a:cubicBezTo>
                          <a:pt x="20" y="0"/>
                          <a:pt x="42" y="16"/>
                          <a:pt x="56" y="21"/>
                        </a:cubicBezTo>
                        <a:cubicBezTo>
                          <a:pt x="56" y="21"/>
                          <a:pt x="77" y="6"/>
                          <a:pt x="80" y="9"/>
                        </a:cubicBezTo>
                        <a:cubicBezTo>
                          <a:pt x="85" y="14"/>
                          <a:pt x="71" y="23"/>
                          <a:pt x="64" y="25"/>
                        </a:cubicBezTo>
                        <a:cubicBezTo>
                          <a:pt x="82" y="37"/>
                          <a:pt x="103" y="42"/>
                          <a:pt x="124" y="49"/>
                        </a:cubicBezTo>
                        <a:cubicBezTo>
                          <a:pt x="136" y="53"/>
                          <a:pt x="160" y="65"/>
                          <a:pt x="160" y="65"/>
                        </a:cubicBezTo>
                        <a:cubicBezTo>
                          <a:pt x="170" y="96"/>
                          <a:pt x="134" y="83"/>
                          <a:pt x="116" y="77"/>
                        </a:cubicBezTo>
                        <a:cubicBezTo>
                          <a:pt x="109" y="57"/>
                          <a:pt x="116" y="66"/>
                          <a:pt x="88" y="57"/>
                        </a:cubicBezTo>
                        <a:cubicBezTo>
                          <a:pt x="84" y="56"/>
                          <a:pt x="76" y="53"/>
                          <a:pt x="76" y="53"/>
                        </a:cubicBezTo>
                        <a:cubicBezTo>
                          <a:pt x="57" y="34"/>
                          <a:pt x="53" y="37"/>
                          <a:pt x="24" y="41"/>
                        </a:cubicBezTo>
                        <a:cubicBezTo>
                          <a:pt x="9" y="51"/>
                          <a:pt x="17" y="49"/>
                          <a:pt x="0" y="4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6" name="Freeform 40"/>
                  <p:cNvSpPr>
                    <a:spLocks/>
                  </p:cNvSpPr>
                  <p:nvPr/>
                </p:nvSpPr>
                <p:spPr bwMode="ltGray">
                  <a:xfrm>
                    <a:off x="2955" y="433"/>
                    <a:ext cx="59" cy="15"/>
                  </a:xfrm>
                  <a:custGeom>
                    <a:avLst/>
                    <a:gdLst>
                      <a:gd name="T0" fmla="*/ 0 w 138"/>
                      <a:gd name="T1" fmla="*/ 0 h 44"/>
                      <a:gd name="T2" fmla="*/ 52 w 138"/>
                      <a:gd name="T3" fmla="*/ 4 h 44"/>
                      <a:gd name="T4" fmla="*/ 88 w 138"/>
                      <a:gd name="T5" fmla="*/ 24 h 44"/>
                      <a:gd name="T6" fmla="*/ 112 w 138"/>
                      <a:gd name="T7" fmla="*/ 20 h 44"/>
                      <a:gd name="T8" fmla="*/ 108 w 138"/>
                      <a:gd name="T9" fmla="*/ 44 h 44"/>
                      <a:gd name="T10" fmla="*/ 64 w 138"/>
                      <a:gd name="T11" fmla="*/ 40 h 44"/>
                      <a:gd name="T12" fmla="*/ 0 w 138"/>
                      <a:gd name="T13" fmla="*/ 36 h 44"/>
                      <a:gd name="T14" fmla="*/ 28 w 138"/>
                      <a:gd name="T15" fmla="*/ 20 h 44"/>
                      <a:gd name="T16" fmla="*/ 0 w 138"/>
                      <a:gd name="T17" fmla="*/ 0 h 44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138" h="44">
                        <a:moveTo>
                          <a:pt x="0" y="0"/>
                        </a:moveTo>
                        <a:cubicBezTo>
                          <a:pt x="19" y="3"/>
                          <a:pt x="35" y="10"/>
                          <a:pt x="52" y="4"/>
                        </a:cubicBezTo>
                        <a:cubicBezTo>
                          <a:pt x="87" y="11"/>
                          <a:pt x="61" y="15"/>
                          <a:pt x="88" y="24"/>
                        </a:cubicBezTo>
                        <a:cubicBezTo>
                          <a:pt x="96" y="23"/>
                          <a:pt x="104" y="19"/>
                          <a:pt x="112" y="20"/>
                        </a:cubicBezTo>
                        <a:cubicBezTo>
                          <a:pt x="138" y="23"/>
                          <a:pt x="118" y="41"/>
                          <a:pt x="108" y="44"/>
                        </a:cubicBezTo>
                        <a:cubicBezTo>
                          <a:pt x="78" y="34"/>
                          <a:pt x="92" y="34"/>
                          <a:pt x="64" y="40"/>
                        </a:cubicBezTo>
                        <a:cubicBezTo>
                          <a:pt x="41" y="37"/>
                          <a:pt x="22" y="41"/>
                          <a:pt x="0" y="36"/>
                        </a:cubicBezTo>
                        <a:cubicBezTo>
                          <a:pt x="6" y="11"/>
                          <a:pt x="7" y="27"/>
                          <a:pt x="28" y="20"/>
                        </a:cubicBezTo>
                        <a:cubicBezTo>
                          <a:pt x="17" y="13"/>
                          <a:pt x="0" y="13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7" name="Freeform 41"/>
                  <p:cNvSpPr>
                    <a:spLocks/>
                  </p:cNvSpPr>
                  <p:nvPr/>
                </p:nvSpPr>
                <p:spPr bwMode="ltGray">
                  <a:xfrm>
                    <a:off x="2924" y="441"/>
                    <a:ext cx="24" cy="14"/>
                  </a:xfrm>
                  <a:custGeom>
                    <a:avLst/>
                    <a:gdLst>
                      <a:gd name="T0" fmla="*/ 17 w 57"/>
                      <a:gd name="T1" fmla="*/ 25 h 42"/>
                      <a:gd name="T2" fmla="*/ 37 w 57"/>
                      <a:gd name="T3" fmla="*/ 13 h 42"/>
                      <a:gd name="T4" fmla="*/ 17 w 57"/>
                      <a:gd name="T5" fmla="*/ 25 h 42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7" h="42">
                        <a:moveTo>
                          <a:pt x="17" y="25"/>
                        </a:moveTo>
                        <a:cubicBezTo>
                          <a:pt x="0" y="0"/>
                          <a:pt x="21" y="9"/>
                          <a:pt x="37" y="13"/>
                        </a:cubicBezTo>
                        <a:cubicBezTo>
                          <a:pt x="57" y="42"/>
                          <a:pt x="30" y="25"/>
                          <a:pt x="1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8" name="Freeform 42"/>
                  <p:cNvSpPr>
                    <a:spLocks/>
                  </p:cNvSpPr>
                  <p:nvPr/>
                </p:nvSpPr>
                <p:spPr bwMode="ltGray">
                  <a:xfrm>
                    <a:off x="2908" y="398"/>
                    <a:ext cx="16" cy="18"/>
                  </a:xfrm>
                  <a:custGeom>
                    <a:avLst/>
                    <a:gdLst>
                      <a:gd name="T0" fmla="*/ 19 w 39"/>
                      <a:gd name="T1" fmla="*/ 32 h 52"/>
                      <a:gd name="T2" fmla="*/ 19 w 39"/>
                      <a:gd name="T3" fmla="*/ 0 h 52"/>
                      <a:gd name="T4" fmla="*/ 19 w 39"/>
                      <a:gd name="T5" fmla="*/ 32 h 52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9" h="52">
                        <a:moveTo>
                          <a:pt x="19" y="32"/>
                        </a:moveTo>
                        <a:cubicBezTo>
                          <a:pt x="13" y="14"/>
                          <a:pt x="0" y="13"/>
                          <a:pt x="19" y="0"/>
                        </a:cubicBezTo>
                        <a:cubicBezTo>
                          <a:pt x="23" y="5"/>
                          <a:pt x="39" y="52"/>
                          <a:pt x="19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9" name="Freeform 43"/>
                  <p:cNvSpPr>
                    <a:spLocks/>
                  </p:cNvSpPr>
                  <p:nvPr/>
                </p:nvSpPr>
                <p:spPr bwMode="ltGray">
                  <a:xfrm>
                    <a:off x="3035" y="452"/>
                    <a:ext cx="19" cy="27"/>
                  </a:xfrm>
                  <a:custGeom>
                    <a:avLst/>
                    <a:gdLst>
                      <a:gd name="T0" fmla="*/ 4 w 44"/>
                      <a:gd name="T1" fmla="*/ 9 h 80"/>
                      <a:gd name="T2" fmla="*/ 20 w 44"/>
                      <a:gd name="T3" fmla="*/ 33 h 80"/>
                      <a:gd name="T4" fmla="*/ 24 w 44"/>
                      <a:gd name="T5" fmla="*/ 49 h 80"/>
                      <a:gd name="T6" fmla="*/ 36 w 44"/>
                      <a:gd name="T7" fmla="*/ 53 h 80"/>
                      <a:gd name="T8" fmla="*/ 24 w 44"/>
                      <a:gd name="T9" fmla="*/ 73 h 80"/>
                      <a:gd name="T10" fmla="*/ 0 w 44"/>
                      <a:gd name="T11" fmla="*/ 21 h 80"/>
                      <a:gd name="T12" fmla="*/ 4 w 44"/>
                      <a:gd name="T13" fmla="*/ 9 h 80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44" h="80">
                        <a:moveTo>
                          <a:pt x="4" y="9"/>
                        </a:moveTo>
                        <a:cubicBezTo>
                          <a:pt x="9" y="17"/>
                          <a:pt x="18" y="24"/>
                          <a:pt x="20" y="33"/>
                        </a:cubicBezTo>
                        <a:cubicBezTo>
                          <a:pt x="21" y="38"/>
                          <a:pt x="21" y="45"/>
                          <a:pt x="24" y="49"/>
                        </a:cubicBezTo>
                        <a:cubicBezTo>
                          <a:pt x="27" y="52"/>
                          <a:pt x="32" y="52"/>
                          <a:pt x="36" y="53"/>
                        </a:cubicBezTo>
                        <a:cubicBezTo>
                          <a:pt x="41" y="68"/>
                          <a:pt x="44" y="80"/>
                          <a:pt x="24" y="73"/>
                        </a:cubicBezTo>
                        <a:cubicBezTo>
                          <a:pt x="19" y="55"/>
                          <a:pt x="11" y="37"/>
                          <a:pt x="0" y="21"/>
                        </a:cubicBezTo>
                        <a:cubicBezTo>
                          <a:pt x="4" y="4"/>
                          <a:pt x="4" y="0"/>
                          <a:pt x="4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0" name="Freeform 44"/>
                  <p:cNvSpPr>
                    <a:spLocks/>
                  </p:cNvSpPr>
                  <p:nvPr/>
                </p:nvSpPr>
                <p:spPr bwMode="ltGray">
                  <a:xfrm>
                    <a:off x="2696" y="247"/>
                    <a:ext cx="205" cy="41"/>
                  </a:xfrm>
                  <a:custGeom>
                    <a:avLst/>
                    <a:gdLst>
                      <a:gd name="T0" fmla="*/ 220 w 323"/>
                      <a:gd name="T1" fmla="*/ 1 h 64"/>
                      <a:gd name="T2" fmla="*/ 231 w 323"/>
                      <a:gd name="T3" fmla="*/ 8 h 64"/>
                      <a:gd name="T4" fmla="*/ 235 w 323"/>
                      <a:gd name="T5" fmla="*/ 0 h 64"/>
                      <a:gd name="T6" fmla="*/ 265 w 323"/>
                      <a:gd name="T7" fmla="*/ 0 h 64"/>
                      <a:gd name="T8" fmla="*/ 287 w 323"/>
                      <a:gd name="T9" fmla="*/ 17 h 64"/>
                      <a:gd name="T10" fmla="*/ 319 w 323"/>
                      <a:gd name="T11" fmla="*/ 10 h 64"/>
                      <a:gd name="T12" fmla="*/ 314 w 323"/>
                      <a:gd name="T13" fmla="*/ 29 h 64"/>
                      <a:gd name="T14" fmla="*/ 298 w 323"/>
                      <a:gd name="T15" fmla="*/ 46 h 64"/>
                      <a:gd name="T16" fmla="*/ 295 w 323"/>
                      <a:gd name="T17" fmla="*/ 29 h 64"/>
                      <a:gd name="T18" fmla="*/ 287 w 323"/>
                      <a:gd name="T19" fmla="*/ 31 h 64"/>
                      <a:gd name="T20" fmla="*/ 279 w 323"/>
                      <a:gd name="T21" fmla="*/ 29 h 64"/>
                      <a:gd name="T22" fmla="*/ 263 w 323"/>
                      <a:gd name="T23" fmla="*/ 21 h 64"/>
                      <a:gd name="T24" fmla="*/ 228 w 323"/>
                      <a:gd name="T25" fmla="*/ 38 h 64"/>
                      <a:gd name="T26" fmla="*/ 201 w 323"/>
                      <a:gd name="T27" fmla="*/ 44 h 64"/>
                      <a:gd name="T28" fmla="*/ 212 w 323"/>
                      <a:gd name="T29" fmla="*/ 57 h 64"/>
                      <a:gd name="T30" fmla="*/ 188 w 323"/>
                      <a:gd name="T31" fmla="*/ 63 h 64"/>
                      <a:gd name="T32" fmla="*/ 169 w 323"/>
                      <a:gd name="T33" fmla="*/ 61 h 64"/>
                      <a:gd name="T34" fmla="*/ 177 w 323"/>
                      <a:gd name="T35" fmla="*/ 57 h 64"/>
                      <a:gd name="T36" fmla="*/ 171 w 323"/>
                      <a:gd name="T37" fmla="*/ 40 h 64"/>
                      <a:gd name="T38" fmla="*/ 169 w 323"/>
                      <a:gd name="T39" fmla="*/ 31 h 64"/>
                      <a:gd name="T40" fmla="*/ 158 w 323"/>
                      <a:gd name="T41" fmla="*/ 23 h 64"/>
                      <a:gd name="T42" fmla="*/ 142 w 323"/>
                      <a:gd name="T43" fmla="*/ 27 h 64"/>
                      <a:gd name="T44" fmla="*/ 134 w 323"/>
                      <a:gd name="T45" fmla="*/ 27 h 64"/>
                      <a:gd name="T46" fmla="*/ 123 w 323"/>
                      <a:gd name="T47" fmla="*/ 25 h 64"/>
                      <a:gd name="T48" fmla="*/ 83 w 323"/>
                      <a:gd name="T49" fmla="*/ 2 h 64"/>
                      <a:gd name="T50" fmla="*/ 59 w 323"/>
                      <a:gd name="T51" fmla="*/ 14 h 64"/>
                      <a:gd name="T52" fmla="*/ 1 w 323"/>
                      <a:gd name="T53" fmla="*/ 0 h 64"/>
                      <a:gd name="T54" fmla="*/ 220 w 323"/>
                      <a:gd name="T55" fmla="*/ 1 h 64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</a:gdLst>
                    <a:ahLst/>
                    <a:cxnLst>
                      <a:cxn ang="T56">
                        <a:pos x="T0" y="T1"/>
                      </a:cxn>
                      <a:cxn ang="T57">
                        <a:pos x="T2" y="T3"/>
                      </a:cxn>
                      <a:cxn ang="T58">
                        <a:pos x="T4" y="T5"/>
                      </a:cxn>
                      <a:cxn ang="T59">
                        <a:pos x="T6" y="T7"/>
                      </a:cxn>
                      <a:cxn ang="T60">
                        <a:pos x="T8" y="T9"/>
                      </a:cxn>
                      <a:cxn ang="T61">
                        <a:pos x="T10" y="T11"/>
                      </a:cxn>
                      <a:cxn ang="T62">
                        <a:pos x="T12" y="T13"/>
                      </a:cxn>
                      <a:cxn ang="T63">
                        <a:pos x="T14" y="T15"/>
                      </a:cxn>
                      <a:cxn ang="T64">
                        <a:pos x="T16" y="T17"/>
                      </a:cxn>
                      <a:cxn ang="T65">
                        <a:pos x="T18" y="T19"/>
                      </a:cxn>
                      <a:cxn ang="T66">
                        <a:pos x="T20" y="T21"/>
                      </a:cxn>
                      <a:cxn ang="T67">
                        <a:pos x="T22" y="T23"/>
                      </a:cxn>
                      <a:cxn ang="T68">
                        <a:pos x="T24" y="T25"/>
                      </a:cxn>
                      <a:cxn ang="T69">
                        <a:pos x="T26" y="T27"/>
                      </a:cxn>
                      <a:cxn ang="T70">
                        <a:pos x="T28" y="T29"/>
                      </a:cxn>
                      <a:cxn ang="T71">
                        <a:pos x="T30" y="T31"/>
                      </a:cxn>
                      <a:cxn ang="T72">
                        <a:pos x="T32" y="T33"/>
                      </a:cxn>
                      <a:cxn ang="T73">
                        <a:pos x="T34" y="T35"/>
                      </a:cxn>
                      <a:cxn ang="T74">
                        <a:pos x="T36" y="T37"/>
                      </a:cxn>
                      <a:cxn ang="T75">
                        <a:pos x="T38" y="T39"/>
                      </a:cxn>
                      <a:cxn ang="T76">
                        <a:pos x="T40" y="T41"/>
                      </a:cxn>
                      <a:cxn ang="T77">
                        <a:pos x="T42" y="T43"/>
                      </a:cxn>
                      <a:cxn ang="T78">
                        <a:pos x="T44" y="T45"/>
                      </a:cxn>
                      <a:cxn ang="T79">
                        <a:pos x="T46" y="T47"/>
                      </a:cxn>
                      <a:cxn ang="T80">
                        <a:pos x="T48" y="T49"/>
                      </a:cxn>
                      <a:cxn ang="T81">
                        <a:pos x="T50" y="T51"/>
                      </a:cxn>
                      <a:cxn ang="T82">
                        <a:pos x="T52" y="T53"/>
                      </a:cxn>
                      <a:cxn ang="T83">
                        <a:pos x="T54" y="T55"/>
                      </a:cxn>
                    </a:cxnLst>
                    <a:rect l="0" t="0" r="r" b="b"/>
                    <a:pathLst>
                      <a:path w="323" h="64">
                        <a:moveTo>
                          <a:pt x="220" y="1"/>
                        </a:moveTo>
                        <a:cubicBezTo>
                          <a:pt x="215" y="12"/>
                          <a:pt x="225" y="17"/>
                          <a:pt x="231" y="8"/>
                        </a:cubicBezTo>
                        <a:cubicBezTo>
                          <a:pt x="235" y="0"/>
                          <a:pt x="229" y="7"/>
                          <a:pt x="235" y="0"/>
                        </a:cubicBezTo>
                        <a:lnTo>
                          <a:pt x="265" y="0"/>
                        </a:lnTo>
                        <a:cubicBezTo>
                          <a:pt x="277" y="6"/>
                          <a:pt x="276" y="11"/>
                          <a:pt x="287" y="17"/>
                        </a:cubicBezTo>
                        <a:cubicBezTo>
                          <a:pt x="308" y="11"/>
                          <a:pt x="293" y="7"/>
                          <a:pt x="319" y="10"/>
                        </a:cubicBezTo>
                        <a:cubicBezTo>
                          <a:pt x="323" y="19"/>
                          <a:pt x="321" y="22"/>
                          <a:pt x="314" y="29"/>
                        </a:cubicBezTo>
                        <a:cubicBezTo>
                          <a:pt x="312" y="39"/>
                          <a:pt x="313" y="50"/>
                          <a:pt x="298" y="46"/>
                        </a:cubicBezTo>
                        <a:cubicBezTo>
                          <a:pt x="297" y="40"/>
                          <a:pt x="298" y="34"/>
                          <a:pt x="295" y="29"/>
                        </a:cubicBezTo>
                        <a:cubicBezTo>
                          <a:pt x="294" y="27"/>
                          <a:pt x="290" y="31"/>
                          <a:pt x="287" y="31"/>
                        </a:cubicBezTo>
                        <a:cubicBezTo>
                          <a:pt x="284" y="31"/>
                          <a:pt x="282" y="30"/>
                          <a:pt x="279" y="29"/>
                        </a:cubicBezTo>
                        <a:cubicBezTo>
                          <a:pt x="274" y="27"/>
                          <a:pt x="263" y="21"/>
                          <a:pt x="263" y="21"/>
                        </a:cubicBezTo>
                        <a:cubicBezTo>
                          <a:pt x="249" y="23"/>
                          <a:pt x="241" y="31"/>
                          <a:pt x="228" y="38"/>
                        </a:cubicBezTo>
                        <a:cubicBezTo>
                          <a:pt x="220" y="41"/>
                          <a:pt x="209" y="42"/>
                          <a:pt x="201" y="44"/>
                        </a:cubicBezTo>
                        <a:cubicBezTo>
                          <a:pt x="193" y="54"/>
                          <a:pt x="200" y="53"/>
                          <a:pt x="212" y="57"/>
                        </a:cubicBezTo>
                        <a:cubicBezTo>
                          <a:pt x="200" y="62"/>
                          <a:pt x="199" y="57"/>
                          <a:pt x="188" y="63"/>
                        </a:cubicBezTo>
                        <a:cubicBezTo>
                          <a:pt x="181" y="62"/>
                          <a:pt x="174" y="64"/>
                          <a:pt x="169" y="61"/>
                        </a:cubicBezTo>
                        <a:cubicBezTo>
                          <a:pt x="166" y="59"/>
                          <a:pt x="175" y="59"/>
                          <a:pt x="177" y="57"/>
                        </a:cubicBezTo>
                        <a:cubicBezTo>
                          <a:pt x="181" y="48"/>
                          <a:pt x="149" y="28"/>
                          <a:pt x="171" y="40"/>
                        </a:cubicBezTo>
                        <a:cubicBezTo>
                          <a:pt x="184" y="55"/>
                          <a:pt x="184" y="36"/>
                          <a:pt x="169" y="31"/>
                        </a:cubicBezTo>
                        <a:cubicBezTo>
                          <a:pt x="167" y="27"/>
                          <a:pt x="167" y="22"/>
                          <a:pt x="158" y="23"/>
                        </a:cubicBezTo>
                        <a:cubicBezTo>
                          <a:pt x="153" y="23"/>
                          <a:pt x="142" y="27"/>
                          <a:pt x="142" y="27"/>
                        </a:cubicBezTo>
                        <a:cubicBezTo>
                          <a:pt x="136" y="39"/>
                          <a:pt x="143" y="31"/>
                          <a:pt x="134" y="27"/>
                        </a:cubicBezTo>
                        <a:cubicBezTo>
                          <a:pt x="130" y="25"/>
                          <a:pt x="126" y="25"/>
                          <a:pt x="123" y="25"/>
                        </a:cubicBezTo>
                        <a:cubicBezTo>
                          <a:pt x="117" y="11"/>
                          <a:pt x="100" y="6"/>
                          <a:pt x="83" y="2"/>
                        </a:cubicBezTo>
                        <a:cubicBezTo>
                          <a:pt x="70" y="4"/>
                          <a:pt x="69" y="9"/>
                          <a:pt x="59" y="14"/>
                        </a:cubicBezTo>
                        <a:cubicBezTo>
                          <a:pt x="45" y="14"/>
                          <a:pt x="0" y="12"/>
                          <a:pt x="1" y="0"/>
                        </a:cubicBezTo>
                        <a:lnTo>
                          <a:pt x="220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1" name="Freeform 45"/>
                  <p:cNvSpPr>
                    <a:spLocks/>
                  </p:cNvSpPr>
                  <p:nvPr/>
                </p:nvSpPr>
                <p:spPr bwMode="ltGray">
                  <a:xfrm>
                    <a:off x="2515" y="246"/>
                    <a:ext cx="190" cy="20"/>
                  </a:xfrm>
                  <a:custGeom>
                    <a:avLst/>
                    <a:gdLst>
                      <a:gd name="T0" fmla="*/ 105 w 300"/>
                      <a:gd name="T1" fmla="*/ 31 h 31"/>
                      <a:gd name="T2" fmla="*/ 30 w 300"/>
                      <a:gd name="T3" fmla="*/ 1 h 31"/>
                      <a:gd name="T4" fmla="*/ 285 w 300"/>
                      <a:gd name="T5" fmla="*/ 0 h 31"/>
                      <a:gd name="T6" fmla="*/ 296 w 300"/>
                      <a:gd name="T7" fmla="*/ 14 h 31"/>
                      <a:gd name="T8" fmla="*/ 264 w 300"/>
                      <a:gd name="T9" fmla="*/ 16 h 31"/>
                      <a:gd name="T10" fmla="*/ 105 w 300"/>
                      <a:gd name="T11" fmla="*/ 31 h 31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300" h="31">
                        <a:moveTo>
                          <a:pt x="105" y="31"/>
                        </a:moveTo>
                        <a:cubicBezTo>
                          <a:pt x="83" y="19"/>
                          <a:pt x="0" y="6"/>
                          <a:pt x="30" y="1"/>
                        </a:cubicBezTo>
                        <a:lnTo>
                          <a:pt x="285" y="0"/>
                        </a:lnTo>
                        <a:cubicBezTo>
                          <a:pt x="296" y="4"/>
                          <a:pt x="300" y="5"/>
                          <a:pt x="296" y="14"/>
                        </a:cubicBezTo>
                        <a:cubicBezTo>
                          <a:pt x="285" y="11"/>
                          <a:pt x="276" y="16"/>
                          <a:pt x="264" y="16"/>
                        </a:cubicBezTo>
                        <a:lnTo>
                          <a:pt x="105" y="3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2" name="Freeform 46"/>
                  <p:cNvSpPr>
                    <a:spLocks/>
                  </p:cNvSpPr>
                  <p:nvPr/>
                </p:nvSpPr>
                <p:spPr bwMode="ltGray">
                  <a:xfrm>
                    <a:off x="2096" y="275"/>
                    <a:ext cx="18" cy="10"/>
                  </a:xfrm>
                  <a:custGeom>
                    <a:avLst/>
                    <a:gdLst>
                      <a:gd name="T0" fmla="*/ 0 w 41"/>
                      <a:gd name="T1" fmla="*/ 25 h 29"/>
                      <a:gd name="T2" fmla="*/ 12 w 41"/>
                      <a:gd name="T3" fmla="*/ 29 h 29"/>
                      <a:gd name="T4" fmla="*/ 0 w 41"/>
                      <a:gd name="T5" fmla="*/ 25 h 2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1" h="29">
                        <a:moveTo>
                          <a:pt x="0" y="25"/>
                        </a:moveTo>
                        <a:cubicBezTo>
                          <a:pt x="10" y="11"/>
                          <a:pt x="41" y="0"/>
                          <a:pt x="12" y="29"/>
                        </a:cubicBezTo>
                        <a:cubicBezTo>
                          <a:pt x="8" y="28"/>
                          <a:pt x="0" y="25"/>
                          <a:pt x="0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3" name="Freeform 47"/>
                  <p:cNvSpPr>
                    <a:spLocks/>
                  </p:cNvSpPr>
                  <p:nvPr/>
                </p:nvSpPr>
                <p:spPr bwMode="ltGray">
                  <a:xfrm>
                    <a:off x="1606" y="246"/>
                    <a:ext cx="436" cy="152"/>
                  </a:xfrm>
                  <a:custGeom>
                    <a:avLst/>
                    <a:gdLst>
                      <a:gd name="T0" fmla="*/ 73 w 436"/>
                      <a:gd name="T1" fmla="*/ 1 h 152"/>
                      <a:gd name="T2" fmla="*/ 436 w 436"/>
                      <a:gd name="T3" fmla="*/ 0 h 152"/>
                      <a:gd name="T4" fmla="*/ 416 w 436"/>
                      <a:gd name="T5" fmla="*/ 54 h 152"/>
                      <a:gd name="T6" fmla="*/ 397 w 436"/>
                      <a:gd name="T7" fmla="*/ 68 h 152"/>
                      <a:gd name="T8" fmla="*/ 392 w 436"/>
                      <a:gd name="T9" fmla="*/ 70 h 152"/>
                      <a:gd name="T10" fmla="*/ 375 w 436"/>
                      <a:gd name="T11" fmla="*/ 73 h 152"/>
                      <a:gd name="T12" fmla="*/ 361 w 436"/>
                      <a:gd name="T13" fmla="*/ 88 h 152"/>
                      <a:gd name="T14" fmla="*/ 362 w 436"/>
                      <a:gd name="T15" fmla="*/ 99 h 152"/>
                      <a:gd name="T16" fmla="*/ 364 w 436"/>
                      <a:gd name="T17" fmla="*/ 107 h 152"/>
                      <a:gd name="T18" fmla="*/ 366 w 436"/>
                      <a:gd name="T19" fmla="*/ 113 h 152"/>
                      <a:gd name="T20" fmla="*/ 362 w 436"/>
                      <a:gd name="T21" fmla="*/ 122 h 152"/>
                      <a:gd name="T22" fmla="*/ 351 w 436"/>
                      <a:gd name="T23" fmla="*/ 120 h 152"/>
                      <a:gd name="T24" fmla="*/ 342 w 436"/>
                      <a:gd name="T25" fmla="*/ 129 h 152"/>
                      <a:gd name="T26" fmla="*/ 347 w 436"/>
                      <a:gd name="T27" fmla="*/ 105 h 152"/>
                      <a:gd name="T28" fmla="*/ 338 w 436"/>
                      <a:gd name="T29" fmla="*/ 100 h 152"/>
                      <a:gd name="T30" fmla="*/ 344 w 436"/>
                      <a:gd name="T31" fmla="*/ 93 h 152"/>
                      <a:gd name="T32" fmla="*/ 342 w 436"/>
                      <a:gd name="T33" fmla="*/ 89 h 152"/>
                      <a:gd name="T34" fmla="*/ 320 w 436"/>
                      <a:gd name="T35" fmla="*/ 94 h 152"/>
                      <a:gd name="T36" fmla="*/ 317 w 436"/>
                      <a:gd name="T37" fmla="*/ 85 h 152"/>
                      <a:gd name="T38" fmla="*/ 297 w 436"/>
                      <a:gd name="T39" fmla="*/ 94 h 152"/>
                      <a:gd name="T40" fmla="*/ 320 w 436"/>
                      <a:gd name="T41" fmla="*/ 103 h 152"/>
                      <a:gd name="T42" fmla="*/ 305 w 436"/>
                      <a:gd name="T43" fmla="*/ 117 h 152"/>
                      <a:gd name="T44" fmla="*/ 311 w 436"/>
                      <a:gd name="T45" fmla="*/ 126 h 152"/>
                      <a:gd name="T46" fmla="*/ 315 w 436"/>
                      <a:gd name="T47" fmla="*/ 138 h 152"/>
                      <a:gd name="T48" fmla="*/ 309 w 436"/>
                      <a:gd name="T49" fmla="*/ 139 h 152"/>
                      <a:gd name="T50" fmla="*/ 314 w 436"/>
                      <a:gd name="T51" fmla="*/ 144 h 152"/>
                      <a:gd name="T52" fmla="*/ 307 w 436"/>
                      <a:gd name="T53" fmla="*/ 152 h 152"/>
                      <a:gd name="T54" fmla="*/ 0 w 436"/>
                      <a:gd name="T55" fmla="*/ 149 h 152"/>
                      <a:gd name="T56" fmla="*/ 73 w 436"/>
                      <a:gd name="T57" fmla="*/ 1 h 152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</a:gdLst>
                    <a:ahLst/>
                    <a:cxnLst>
                      <a:cxn ang="T58">
                        <a:pos x="T0" y="T1"/>
                      </a:cxn>
                      <a:cxn ang="T59">
                        <a:pos x="T2" y="T3"/>
                      </a:cxn>
                      <a:cxn ang="T60">
                        <a:pos x="T4" y="T5"/>
                      </a:cxn>
                      <a:cxn ang="T61">
                        <a:pos x="T6" y="T7"/>
                      </a:cxn>
                      <a:cxn ang="T62">
                        <a:pos x="T8" y="T9"/>
                      </a:cxn>
                      <a:cxn ang="T63">
                        <a:pos x="T10" y="T11"/>
                      </a:cxn>
                      <a:cxn ang="T64">
                        <a:pos x="T12" y="T13"/>
                      </a:cxn>
                      <a:cxn ang="T65">
                        <a:pos x="T14" y="T15"/>
                      </a:cxn>
                      <a:cxn ang="T66">
                        <a:pos x="T16" y="T17"/>
                      </a:cxn>
                      <a:cxn ang="T67">
                        <a:pos x="T18" y="T19"/>
                      </a:cxn>
                      <a:cxn ang="T68">
                        <a:pos x="T20" y="T21"/>
                      </a:cxn>
                      <a:cxn ang="T69">
                        <a:pos x="T22" y="T23"/>
                      </a:cxn>
                      <a:cxn ang="T70">
                        <a:pos x="T24" y="T25"/>
                      </a:cxn>
                      <a:cxn ang="T71">
                        <a:pos x="T26" y="T27"/>
                      </a:cxn>
                      <a:cxn ang="T72">
                        <a:pos x="T28" y="T29"/>
                      </a:cxn>
                      <a:cxn ang="T73">
                        <a:pos x="T30" y="T31"/>
                      </a:cxn>
                      <a:cxn ang="T74">
                        <a:pos x="T32" y="T33"/>
                      </a:cxn>
                      <a:cxn ang="T75">
                        <a:pos x="T34" y="T35"/>
                      </a:cxn>
                      <a:cxn ang="T76">
                        <a:pos x="T36" y="T37"/>
                      </a:cxn>
                      <a:cxn ang="T77">
                        <a:pos x="T38" y="T39"/>
                      </a:cxn>
                      <a:cxn ang="T78">
                        <a:pos x="T40" y="T41"/>
                      </a:cxn>
                      <a:cxn ang="T79">
                        <a:pos x="T42" y="T43"/>
                      </a:cxn>
                      <a:cxn ang="T80">
                        <a:pos x="T44" y="T45"/>
                      </a:cxn>
                      <a:cxn ang="T81">
                        <a:pos x="T46" y="T47"/>
                      </a:cxn>
                      <a:cxn ang="T82">
                        <a:pos x="T48" y="T49"/>
                      </a:cxn>
                      <a:cxn ang="T83">
                        <a:pos x="T50" y="T51"/>
                      </a:cxn>
                      <a:cxn ang="T84">
                        <a:pos x="T52" y="T53"/>
                      </a:cxn>
                      <a:cxn ang="T85">
                        <a:pos x="T54" y="T55"/>
                      </a:cxn>
                      <a:cxn ang="T86">
                        <a:pos x="T56" y="T57"/>
                      </a:cxn>
                    </a:cxnLst>
                    <a:rect l="0" t="0" r="r" b="b"/>
                    <a:pathLst>
                      <a:path w="436" h="152">
                        <a:moveTo>
                          <a:pt x="73" y="1"/>
                        </a:moveTo>
                        <a:lnTo>
                          <a:pt x="436" y="0"/>
                        </a:lnTo>
                        <a:cubicBezTo>
                          <a:pt x="430" y="15"/>
                          <a:pt x="429" y="42"/>
                          <a:pt x="416" y="54"/>
                        </a:cubicBezTo>
                        <a:cubicBezTo>
                          <a:pt x="410" y="60"/>
                          <a:pt x="405" y="63"/>
                          <a:pt x="397" y="68"/>
                        </a:cubicBezTo>
                        <a:cubicBezTo>
                          <a:pt x="396" y="69"/>
                          <a:pt x="392" y="70"/>
                          <a:pt x="392" y="70"/>
                        </a:cubicBezTo>
                        <a:cubicBezTo>
                          <a:pt x="377" y="63"/>
                          <a:pt x="385" y="68"/>
                          <a:pt x="375" y="73"/>
                        </a:cubicBezTo>
                        <a:cubicBezTo>
                          <a:pt x="371" y="82"/>
                          <a:pt x="371" y="83"/>
                          <a:pt x="361" y="88"/>
                        </a:cubicBezTo>
                        <a:cubicBezTo>
                          <a:pt x="359" y="92"/>
                          <a:pt x="364" y="93"/>
                          <a:pt x="362" y="99"/>
                        </a:cubicBezTo>
                        <a:cubicBezTo>
                          <a:pt x="363" y="102"/>
                          <a:pt x="364" y="105"/>
                          <a:pt x="364" y="107"/>
                        </a:cubicBezTo>
                        <a:cubicBezTo>
                          <a:pt x="365" y="109"/>
                          <a:pt x="366" y="111"/>
                          <a:pt x="366" y="113"/>
                        </a:cubicBezTo>
                        <a:cubicBezTo>
                          <a:pt x="365" y="115"/>
                          <a:pt x="364" y="120"/>
                          <a:pt x="362" y="122"/>
                        </a:cubicBezTo>
                        <a:cubicBezTo>
                          <a:pt x="359" y="123"/>
                          <a:pt x="354" y="119"/>
                          <a:pt x="351" y="120"/>
                        </a:cubicBezTo>
                        <a:cubicBezTo>
                          <a:pt x="347" y="129"/>
                          <a:pt x="352" y="127"/>
                          <a:pt x="342" y="129"/>
                        </a:cubicBezTo>
                        <a:cubicBezTo>
                          <a:pt x="340" y="123"/>
                          <a:pt x="345" y="111"/>
                          <a:pt x="347" y="105"/>
                        </a:cubicBezTo>
                        <a:cubicBezTo>
                          <a:pt x="347" y="100"/>
                          <a:pt x="338" y="102"/>
                          <a:pt x="338" y="100"/>
                        </a:cubicBezTo>
                        <a:cubicBezTo>
                          <a:pt x="338" y="98"/>
                          <a:pt x="344" y="95"/>
                          <a:pt x="344" y="93"/>
                        </a:cubicBezTo>
                        <a:cubicBezTo>
                          <a:pt x="344" y="92"/>
                          <a:pt x="344" y="89"/>
                          <a:pt x="342" y="89"/>
                        </a:cubicBezTo>
                        <a:cubicBezTo>
                          <a:pt x="339" y="89"/>
                          <a:pt x="324" y="94"/>
                          <a:pt x="320" y="94"/>
                        </a:cubicBezTo>
                        <a:cubicBezTo>
                          <a:pt x="317" y="86"/>
                          <a:pt x="328" y="88"/>
                          <a:pt x="317" y="85"/>
                        </a:cubicBezTo>
                        <a:cubicBezTo>
                          <a:pt x="311" y="91"/>
                          <a:pt x="306" y="93"/>
                          <a:pt x="297" y="94"/>
                        </a:cubicBezTo>
                        <a:cubicBezTo>
                          <a:pt x="300" y="104"/>
                          <a:pt x="307" y="101"/>
                          <a:pt x="320" y="103"/>
                        </a:cubicBezTo>
                        <a:cubicBezTo>
                          <a:pt x="318" y="109"/>
                          <a:pt x="311" y="111"/>
                          <a:pt x="305" y="117"/>
                        </a:cubicBezTo>
                        <a:lnTo>
                          <a:pt x="311" y="126"/>
                        </a:lnTo>
                        <a:lnTo>
                          <a:pt x="315" y="138"/>
                        </a:lnTo>
                        <a:lnTo>
                          <a:pt x="309" y="139"/>
                        </a:lnTo>
                        <a:lnTo>
                          <a:pt x="314" y="144"/>
                        </a:lnTo>
                        <a:lnTo>
                          <a:pt x="307" y="152"/>
                        </a:lnTo>
                        <a:lnTo>
                          <a:pt x="0" y="149"/>
                        </a:lnTo>
                        <a:lnTo>
                          <a:pt x="73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4" name="Freeform 48"/>
                  <p:cNvSpPr>
                    <a:spLocks/>
                  </p:cNvSpPr>
                  <p:nvPr/>
                </p:nvSpPr>
                <p:spPr bwMode="ltGray">
                  <a:xfrm>
                    <a:off x="2043" y="241"/>
                    <a:ext cx="20" cy="55"/>
                  </a:xfrm>
                  <a:custGeom>
                    <a:avLst/>
                    <a:gdLst>
                      <a:gd name="T0" fmla="*/ 5 w 47"/>
                      <a:gd name="T1" fmla="*/ 156 h 165"/>
                      <a:gd name="T2" fmla="*/ 15 w 47"/>
                      <a:gd name="T3" fmla="*/ 108 h 165"/>
                      <a:gd name="T4" fmla="*/ 17 w 47"/>
                      <a:gd name="T5" fmla="*/ 68 h 165"/>
                      <a:gd name="T6" fmla="*/ 11 w 47"/>
                      <a:gd name="T7" fmla="*/ 40 h 165"/>
                      <a:gd name="T8" fmla="*/ 17 w 47"/>
                      <a:gd name="T9" fmla="*/ 12 h 165"/>
                      <a:gd name="T10" fmla="*/ 21 w 47"/>
                      <a:gd name="T11" fmla="*/ 0 h 165"/>
                      <a:gd name="T12" fmla="*/ 31 w 47"/>
                      <a:gd name="T13" fmla="*/ 30 h 165"/>
                      <a:gd name="T14" fmla="*/ 47 w 47"/>
                      <a:gd name="T15" fmla="*/ 98 h 165"/>
                      <a:gd name="T16" fmla="*/ 31 w 47"/>
                      <a:gd name="T17" fmla="*/ 108 h 165"/>
                      <a:gd name="T18" fmla="*/ 23 w 47"/>
                      <a:gd name="T19" fmla="*/ 126 h 165"/>
                      <a:gd name="T20" fmla="*/ 21 w 47"/>
                      <a:gd name="T21" fmla="*/ 132 h 165"/>
                      <a:gd name="T22" fmla="*/ 27 w 47"/>
                      <a:gd name="T23" fmla="*/ 134 h 165"/>
                      <a:gd name="T24" fmla="*/ 31 w 47"/>
                      <a:gd name="T25" fmla="*/ 146 h 165"/>
                      <a:gd name="T26" fmla="*/ 13 w 47"/>
                      <a:gd name="T27" fmla="*/ 148 h 165"/>
                      <a:gd name="T28" fmla="*/ 7 w 47"/>
                      <a:gd name="T29" fmla="*/ 160 h 165"/>
                      <a:gd name="T30" fmla="*/ 3 w 47"/>
                      <a:gd name="T31" fmla="*/ 154 h 165"/>
                      <a:gd name="T32" fmla="*/ 5 w 47"/>
                      <a:gd name="T33" fmla="*/ 156 h 165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0" t="0" r="r" b="b"/>
                    <a:pathLst>
                      <a:path w="47" h="165">
                        <a:moveTo>
                          <a:pt x="5" y="156"/>
                        </a:moveTo>
                        <a:cubicBezTo>
                          <a:pt x="0" y="141"/>
                          <a:pt x="1" y="118"/>
                          <a:pt x="15" y="108"/>
                        </a:cubicBezTo>
                        <a:cubicBezTo>
                          <a:pt x="16" y="95"/>
                          <a:pt x="17" y="81"/>
                          <a:pt x="17" y="68"/>
                        </a:cubicBezTo>
                        <a:cubicBezTo>
                          <a:pt x="17" y="58"/>
                          <a:pt x="11" y="40"/>
                          <a:pt x="11" y="40"/>
                        </a:cubicBezTo>
                        <a:cubicBezTo>
                          <a:pt x="14" y="20"/>
                          <a:pt x="11" y="29"/>
                          <a:pt x="17" y="12"/>
                        </a:cubicBezTo>
                        <a:cubicBezTo>
                          <a:pt x="18" y="8"/>
                          <a:pt x="21" y="0"/>
                          <a:pt x="21" y="0"/>
                        </a:cubicBezTo>
                        <a:cubicBezTo>
                          <a:pt x="38" y="6"/>
                          <a:pt x="33" y="7"/>
                          <a:pt x="31" y="30"/>
                        </a:cubicBezTo>
                        <a:cubicBezTo>
                          <a:pt x="38" y="52"/>
                          <a:pt x="40" y="76"/>
                          <a:pt x="47" y="98"/>
                        </a:cubicBezTo>
                        <a:cubicBezTo>
                          <a:pt x="44" y="116"/>
                          <a:pt x="45" y="113"/>
                          <a:pt x="31" y="108"/>
                        </a:cubicBezTo>
                        <a:cubicBezTo>
                          <a:pt x="25" y="118"/>
                          <a:pt x="28" y="112"/>
                          <a:pt x="23" y="126"/>
                        </a:cubicBezTo>
                        <a:cubicBezTo>
                          <a:pt x="22" y="128"/>
                          <a:pt x="21" y="132"/>
                          <a:pt x="21" y="132"/>
                        </a:cubicBezTo>
                        <a:cubicBezTo>
                          <a:pt x="23" y="133"/>
                          <a:pt x="26" y="132"/>
                          <a:pt x="27" y="134"/>
                        </a:cubicBezTo>
                        <a:cubicBezTo>
                          <a:pt x="29" y="137"/>
                          <a:pt x="31" y="146"/>
                          <a:pt x="31" y="146"/>
                        </a:cubicBezTo>
                        <a:cubicBezTo>
                          <a:pt x="27" y="165"/>
                          <a:pt x="23" y="155"/>
                          <a:pt x="13" y="148"/>
                        </a:cubicBezTo>
                        <a:cubicBezTo>
                          <a:pt x="11" y="152"/>
                          <a:pt x="11" y="160"/>
                          <a:pt x="7" y="160"/>
                        </a:cubicBezTo>
                        <a:cubicBezTo>
                          <a:pt x="5" y="160"/>
                          <a:pt x="4" y="156"/>
                          <a:pt x="3" y="154"/>
                        </a:cubicBezTo>
                        <a:cubicBezTo>
                          <a:pt x="3" y="153"/>
                          <a:pt x="4" y="155"/>
                          <a:pt x="5" y="15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5" name="Freeform 49"/>
                  <p:cNvSpPr>
                    <a:spLocks/>
                  </p:cNvSpPr>
                  <p:nvPr/>
                </p:nvSpPr>
                <p:spPr bwMode="ltGray">
                  <a:xfrm>
                    <a:off x="2031" y="287"/>
                    <a:ext cx="59" cy="34"/>
                  </a:xfrm>
                  <a:custGeom>
                    <a:avLst/>
                    <a:gdLst>
                      <a:gd name="T0" fmla="*/ 26 w 138"/>
                      <a:gd name="T1" fmla="*/ 61 h 103"/>
                      <a:gd name="T2" fmla="*/ 30 w 138"/>
                      <a:gd name="T3" fmla="*/ 43 h 103"/>
                      <a:gd name="T4" fmla="*/ 50 w 138"/>
                      <a:gd name="T5" fmla="*/ 33 h 103"/>
                      <a:gd name="T6" fmla="*/ 54 w 138"/>
                      <a:gd name="T7" fmla="*/ 45 h 103"/>
                      <a:gd name="T8" fmla="*/ 66 w 138"/>
                      <a:gd name="T9" fmla="*/ 49 h 103"/>
                      <a:gd name="T10" fmla="*/ 80 w 138"/>
                      <a:gd name="T11" fmla="*/ 55 h 103"/>
                      <a:gd name="T12" fmla="*/ 116 w 138"/>
                      <a:gd name="T13" fmla="*/ 33 h 103"/>
                      <a:gd name="T14" fmla="*/ 130 w 138"/>
                      <a:gd name="T15" fmla="*/ 17 h 103"/>
                      <a:gd name="T16" fmla="*/ 138 w 138"/>
                      <a:gd name="T17" fmla="*/ 11 h 103"/>
                      <a:gd name="T18" fmla="*/ 106 w 138"/>
                      <a:gd name="T19" fmla="*/ 49 h 103"/>
                      <a:gd name="T20" fmla="*/ 84 w 138"/>
                      <a:gd name="T21" fmla="*/ 67 h 103"/>
                      <a:gd name="T22" fmla="*/ 66 w 138"/>
                      <a:gd name="T23" fmla="*/ 81 h 103"/>
                      <a:gd name="T24" fmla="*/ 48 w 138"/>
                      <a:gd name="T25" fmla="*/ 103 h 103"/>
                      <a:gd name="T26" fmla="*/ 26 w 138"/>
                      <a:gd name="T27" fmla="*/ 89 h 103"/>
                      <a:gd name="T28" fmla="*/ 20 w 138"/>
                      <a:gd name="T29" fmla="*/ 87 h 103"/>
                      <a:gd name="T30" fmla="*/ 22 w 138"/>
                      <a:gd name="T31" fmla="*/ 97 h 103"/>
                      <a:gd name="T32" fmla="*/ 0 w 138"/>
                      <a:gd name="T33" fmla="*/ 97 h 103"/>
                      <a:gd name="T34" fmla="*/ 10 w 138"/>
                      <a:gd name="T35" fmla="*/ 79 h 103"/>
                      <a:gd name="T36" fmla="*/ 26 w 138"/>
                      <a:gd name="T37" fmla="*/ 61 h 103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0" t="0" r="r" b="b"/>
                    <a:pathLst>
                      <a:path w="138" h="103">
                        <a:moveTo>
                          <a:pt x="26" y="61"/>
                        </a:moveTo>
                        <a:cubicBezTo>
                          <a:pt x="29" y="53"/>
                          <a:pt x="33" y="51"/>
                          <a:pt x="30" y="43"/>
                        </a:cubicBezTo>
                        <a:cubicBezTo>
                          <a:pt x="33" y="27"/>
                          <a:pt x="37" y="24"/>
                          <a:pt x="50" y="33"/>
                        </a:cubicBezTo>
                        <a:cubicBezTo>
                          <a:pt x="51" y="37"/>
                          <a:pt x="53" y="41"/>
                          <a:pt x="54" y="45"/>
                        </a:cubicBezTo>
                        <a:cubicBezTo>
                          <a:pt x="55" y="49"/>
                          <a:pt x="66" y="49"/>
                          <a:pt x="66" y="49"/>
                        </a:cubicBezTo>
                        <a:cubicBezTo>
                          <a:pt x="75" y="43"/>
                          <a:pt x="77" y="45"/>
                          <a:pt x="80" y="55"/>
                        </a:cubicBezTo>
                        <a:cubicBezTo>
                          <a:pt x="92" y="47"/>
                          <a:pt x="101" y="37"/>
                          <a:pt x="116" y="33"/>
                        </a:cubicBezTo>
                        <a:cubicBezTo>
                          <a:pt x="125" y="19"/>
                          <a:pt x="120" y="24"/>
                          <a:pt x="130" y="17"/>
                        </a:cubicBezTo>
                        <a:cubicBezTo>
                          <a:pt x="134" y="11"/>
                          <a:pt x="134" y="0"/>
                          <a:pt x="138" y="11"/>
                        </a:cubicBezTo>
                        <a:cubicBezTo>
                          <a:pt x="135" y="31"/>
                          <a:pt x="126" y="45"/>
                          <a:pt x="106" y="49"/>
                        </a:cubicBezTo>
                        <a:cubicBezTo>
                          <a:pt x="97" y="55"/>
                          <a:pt x="93" y="61"/>
                          <a:pt x="84" y="67"/>
                        </a:cubicBezTo>
                        <a:cubicBezTo>
                          <a:pt x="80" y="79"/>
                          <a:pt x="79" y="79"/>
                          <a:pt x="66" y="81"/>
                        </a:cubicBezTo>
                        <a:cubicBezTo>
                          <a:pt x="60" y="90"/>
                          <a:pt x="57" y="97"/>
                          <a:pt x="48" y="103"/>
                        </a:cubicBezTo>
                        <a:cubicBezTo>
                          <a:pt x="42" y="94"/>
                          <a:pt x="37" y="93"/>
                          <a:pt x="26" y="89"/>
                        </a:cubicBezTo>
                        <a:cubicBezTo>
                          <a:pt x="24" y="88"/>
                          <a:pt x="20" y="87"/>
                          <a:pt x="20" y="87"/>
                        </a:cubicBezTo>
                        <a:cubicBezTo>
                          <a:pt x="10" y="90"/>
                          <a:pt x="14" y="94"/>
                          <a:pt x="22" y="97"/>
                        </a:cubicBezTo>
                        <a:cubicBezTo>
                          <a:pt x="14" y="103"/>
                          <a:pt x="9" y="100"/>
                          <a:pt x="0" y="97"/>
                        </a:cubicBezTo>
                        <a:cubicBezTo>
                          <a:pt x="2" y="87"/>
                          <a:pt x="1" y="82"/>
                          <a:pt x="10" y="79"/>
                        </a:cubicBezTo>
                        <a:cubicBezTo>
                          <a:pt x="15" y="63"/>
                          <a:pt x="14" y="69"/>
                          <a:pt x="26" y="6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6" name="Freeform 50"/>
                  <p:cNvSpPr>
                    <a:spLocks/>
                  </p:cNvSpPr>
                  <p:nvPr/>
                </p:nvSpPr>
                <p:spPr bwMode="ltGray">
                  <a:xfrm>
                    <a:off x="1968" y="319"/>
                    <a:ext cx="80" cy="72"/>
                  </a:xfrm>
                  <a:custGeom>
                    <a:avLst/>
                    <a:gdLst>
                      <a:gd name="T0" fmla="*/ 158 w 188"/>
                      <a:gd name="T1" fmla="*/ 24 h 214"/>
                      <a:gd name="T2" fmla="*/ 160 w 188"/>
                      <a:gd name="T3" fmla="*/ 6 h 214"/>
                      <a:gd name="T4" fmla="*/ 170 w 188"/>
                      <a:gd name="T5" fmla="*/ 0 h 214"/>
                      <a:gd name="T6" fmla="*/ 182 w 188"/>
                      <a:gd name="T7" fmla="*/ 24 h 214"/>
                      <a:gd name="T8" fmla="*/ 188 w 188"/>
                      <a:gd name="T9" fmla="*/ 42 h 214"/>
                      <a:gd name="T10" fmla="*/ 178 w 188"/>
                      <a:gd name="T11" fmla="*/ 58 h 214"/>
                      <a:gd name="T12" fmla="*/ 170 w 188"/>
                      <a:gd name="T13" fmla="*/ 76 h 214"/>
                      <a:gd name="T14" fmla="*/ 162 w 188"/>
                      <a:gd name="T15" fmla="*/ 126 h 214"/>
                      <a:gd name="T16" fmla="*/ 144 w 188"/>
                      <a:gd name="T17" fmla="*/ 136 h 214"/>
                      <a:gd name="T18" fmla="*/ 120 w 188"/>
                      <a:gd name="T19" fmla="*/ 138 h 214"/>
                      <a:gd name="T20" fmla="*/ 112 w 188"/>
                      <a:gd name="T21" fmla="*/ 124 h 214"/>
                      <a:gd name="T22" fmla="*/ 102 w 188"/>
                      <a:gd name="T23" fmla="*/ 146 h 214"/>
                      <a:gd name="T24" fmla="*/ 90 w 188"/>
                      <a:gd name="T25" fmla="*/ 150 h 214"/>
                      <a:gd name="T26" fmla="*/ 80 w 188"/>
                      <a:gd name="T27" fmla="*/ 132 h 214"/>
                      <a:gd name="T28" fmla="*/ 58 w 188"/>
                      <a:gd name="T29" fmla="*/ 144 h 214"/>
                      <a:gd name="T30" fmla="*/ 76 w 188"/>
                      <a:gd name="T31" fmla="*/ 142 h 214"/>
                      <a:gd name="T32" fmla="*/ 78 w 188"/>
                      <a:gd name="T33" fmla="*/ 160 h 214"/>
                      <a:gd name="T34" fmla="*/ 58 w 188"/>
                      <a:gd name="T35" fmla="*/ 166 h 214"/>
                      <a:gd name="T36" fmla="*/ 34 w 188"/>
                      <a:gd name="T37" fmla="*/ 166 h 214"/>
                      <a:gd name="T38" fmla="*/ 36 w 188"/>
                      <a:gd name="T39" fmla="*/ 154 h 214"/>
                      <a:gd name="T40" fmla="*/ 46 w 188"/>
                      <a:gd name="T41" fmla="*/ 144 h 214"/>
                      <a:gd name="T42" fmla="*/ 34 w 188"/>
                      <a:gd name="T43" fmla="*/ 148 h 214"/>
                      <a:gd name="T44" fmla="*/ 26 w 188"/>
                      <a:gd name="T45" fmla="*/ 166 h 214"/>
                      <a:gd name="T46" fmla="*/ 30 w 188"/>
                      <a:gd name="T47" fmla="*/ 190 h 214"/>
                      <a:gd name="T48" fmla="*/ 14 w 188"/>
                      <a:gd name="T49" fmla="*/ 200 h 214"/>
                      <a:gd name="T50" fmla="*/ 0 w 188"/>
                      <a:gd name="T51" fmla="*/ 214 h 214"/>
                      <a:gd name="T52" fmla="*/ 8 w 188"/>
                      <a:gd name="T53" fmla="*/ 188 h 214"/>
                      <a:gd name="T54" fmla="*/ 0 w 188"/>
                      <a:gd name="T55" fmla="*/ 164 h 214"/>
                      <a:gd name="T56" fmla="*/ 14 w 188"/>
                      <a:gd name="T57" fmla="*/ 152 h 214"/>
                      <a:gd name="T58" fmla="*/ 32 w 188"/>
                      <a:gd name="T59" fmla="*/ 134 h 214"/>
                      <a:gd name="T60" fmla="*/ 44 w 188"/>
                      <a:gd name="T61" fmla="*/ 118 h 214"/>
                      <a:gd name="T62" fmla="*/ 72 w 188"/>
                      <a:gd name="T63" fmla="*/ 116 h 214"/>
                      <a:gd name="T64" fmla="*/ 84 w 188"/>
                      <a:gd name="T65" fmla="*/ 112 h 214"/>
                      <a:gd name="T66" fmla="*/ 114 w 188"/>
                      <a:gd name="T67" fmla="*/ 78 h 214"/>
                      <a:gd name="T68" fmla="*/ 120 w 188"/>
                      <a:gd name="T69" fmla="*/ 92 h 214"/>
                      <a:gd name="T70" fmla="*/ 132 w 188"/>
                      <a:gd name="T71" fmla="*/ 76 h 214"/>
                      <a:gd name="T72" fmla="*/ 150 w 188"/>
                      <a:gd name="T73" fmla="*/ 54 h 214"/>
                      <a:gd name="T74" fmla="*/ 154 w 188"/>
                      <a:gd name="T75" fmla="*/ 42 h 214"/>
                      <a:gd name="T76" fmla="*/ 148 w 188"/>
                      <a:gd name="T77" fmla="*/ 38 h 214"/>
                      <a:gd name="T78" fmla="*/ 152 w 188"/>
                      <a:gd name="T79" fmla="*/ 32 h 214"/>
                      <a:gd name="T80" fmla="*/ 158 w 188"/>
                      <a:gd name="T81" fmla="*/ 24 h 214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0" t="0" r="r" b="b"/>
                    <a:pathLst>
                      <a:path w="188" h="214">
                        <a:moveTo>
                          <a:pt x="158" y="24"/>
                        </a:moveTo>
                        <a:cubicBezTo>
                          <a:pt x="156" y="18"/>
                          <a:pt x="160" y="6"/>
                          <a:pt x="160" y="6"/>
                        </a:cubicBezTo>
                        <a:cubicBezTo>
                          <a:pt x="167" y="16"/>
                          <a:pt x="167" y="8"/>
                          <a:pt x="170" y="0"/>
                        </a:cubicBezTo>
                        <a:cubicBezTo>
                          <a:pt x="181" y="4"/>
                          <a:pt x="179" y="14"/>
                          <a:pt x="182" y="24"/>
                        </a:cubicBezTo>
                        <a:cubicBezTo>
                          <a:pt x="184" y="30"/>
                          <a:pt x="188" y="42"/>
                          <a:pt x="188" y="42"/>
                        </a:cubicBezTo>
                        <a:cubicBezTo>
                          <a:pt x="183" y="56"/>
                          <a:pt x="188" y="52"/>
                          <a:pt x="178" y="58"/>
                        </a:cubicBezTo>
                        <a:cubicBezTo>
                          <a:pt x="174" y="63"/>
                          <a:pt x="170" y="76"/>
                          <a:pt x="170" y="76"/>
                        </a:cubicBezTo>
                        <a:cubicBezTo>
                          <a:pt x="169" y="100"/>
                          <a:pt x="173" y="110"/>
                          <a:pt x="162" y="126"/>
                        </a:cubicBezTo>
                        <a:cubicBezTo>
                          <a:pt x="150" y="118"/>
                          <a:pt x="155" y="132"/>
                          <a:pt x="144" y="136"/>
                        </a:cubicBezTo>
                        <a:cubicBezTo>
                          <a:pt x="135" y="134"/>
                          <a:pt x="129" y="135"/>
                          <a:pt x="120" y="138"/>
                        </a:cubicBezTo>
                        <a:cubicBezTo>
                          <a:pt x="114" y="129"/>
                          <a:pt x="122" y="127"/>
                          <a:pt x="112" y="124"/>
                        </a:cubicBezTo>
                        <a:cubicBezTo>
                          <a:pt x="108" y="130"/>
                          <a:pt x="108" y="142"/>
                          <a:pt x="102" y="146"/>
                        </a:cubicBezTo>
                        <a:cubicBezTo>
                          <a:pt x="98" y="148"/>
                          <a:pt x="90" y="150"/>
                          <a:pt x="90" y="150"/>
                        </a:cubicBezTo>
                        <a:cubicBezTo>
                          <a:pt x="87" y="141"/>
                          <a:pt x="89" y="135"/>
                          <a:pt x="80" y="132"/>
                        </a:cubicBezTo>
                        <a:cubicBezTo>
                          <a:pt x="68" y="134"/>
                          <a:pt x="65" y="134"/>
                          <a:pt x="58" y="144"/>
                        </a:cubicBezTo>
                        <a:cubicBezTo>
                          <a:pt x="66" y="150"/>
                          <a:pt x="68" y="147"/>
                          <a:pt x="76" y="142"/>
                        </a:cubicBezTo>
                        <a:cubicBezTo>
                          <a:pt x="81" y="146"/>
                          <a:pt x="85" y="155"/>
                          <a:pt x="78" y="160"/>
                        </a:cubicBezTo>
                        <a:cubicBezTo>
                          <a:pt x="75" y="162"/>
                          <a:pt x="62" y="165"/>
                          <a:pt x="58" y="166"/>
                        </a:cubicBezTo>
                        <a:cubicBezTo>
                          <a:pt x="48" y="173"/>
                          <a:pt x="44" y="173"/>
                          <a:pt x="34" y="166"/>
                        </a:cubicBezTo>
                        <a:cubicBezTo>
                          <a:pt x="35" y="162"/>
                          <a:pt x="34" y="158"/>
                          <a:pt x="36" y="154"/>
                        </a:cubicBezTo>
                        <a:cubicBezTo>
                          <a:pt x="38" y="150"/>
                          <a:pt x="55" y="146"/>
                          <a:pt x="46" y="144"/>
                        </a:cubicBezTo>
                        <a:cubicBezTo>
                          <a:pt x="42" y="143"/>
                          <a:pt x="34" y="148"/>
                          <a:pt x="34" y="148"/>
                        </a:cubicBezTo>
                        <a:cubicBezTo>
                          <a:pt x="32" y="155"/>
                          <a:pt x="28" y="159"/>
                          <a:pt x="26" y="166"/>
                        </a:cubicBezTo>
                        <a:cubicBezTo>
                          <a:pt x="36" y="182"/>
                          <a:pt x="36" y="173"/>
                          <a:pt x="30" y="190"/>
                        </a:cubicBezTo>
                        <a:cubicBezTo>
                          <a:pt x="28" y="196"/>
                          <a:pt x="14" y="200"/>
                          <a:pt x="14" y="200"/>
                        </a:cubicBezTo>
                        <a:cubicBezTo>
                          <a:pt x="5" y="214"/>
                          <a:pt x="11" y="210"/>
                          <a:pt x="0" y="214"/>
                        </a:cubicBezTo>
                        <a:cubicBezTo>
                          <a:pt x="2" y="202"/>
                          <a:pt x="5" y="198"/>
                          <a:pt x="8" y="188"/>
                        </a:cubicBezTo>
                        <a:cubicBezTo>
                          <a:pt x="6" y="178"/>
                          <a:pt x="3" y="173"/>
                          <a:pt x="0" y="164"/>
                        </a:cubicBezTo>
                        <a:cubicBezTo>
                          <a:pt x="3" y="156"/>
                          <a:pt x="7" y="157"/>
                          <a:pt x="14" y="152"/>
                        </a:cubicBezTo>
                        <a:cubicBezTo>
                          <a:pt x="18" y="141"/>
                          <a:pt x="23" y="140"/>
                          <a:pt x="32" y="134"/>
                        </a:cubicBezTo>
                        <a:cubicBezTo>
                          <a:pt x="37" y="127"/>
                          <a:pt x="37" y="123"/>
                          <a:pt x="44" y="118"/>
                        </a:cubicBezTo>
                        <a:cubicBezTo>
                          <a:pt x="64" y="121"/>
                          <a:pt x="55" y="122"/>
                          <a:pt x="72" y="116"/>
                        </a:cubicBezTo>
                        <a:cubicBezTo>
                          <a:pt x="76" y="115"/>
                          <a:pt x="84" y="112"/>
                          <a:pt x="84" y="112"/>
                        </a:cubicBezTo>
                        <a:cubicBezTo>
                          <a:pt x="105" y="119"/>
                          <a:pt x="97" y="84"/>
                          <a:pt x="114" y="78"/>
                        </a:cubicBezTo>
                        <a:cubicBezTo>
                          <a:pt x="117" y="87"/>
                          <a:pt x="110" y="89"/>
                          <a:pt x="120" y="92"/>
                        </a:cubicBezTo>
                        <a:cubicBezTo>
                          <a:pt x="125" y="85"/>
                          <a:pt x="125" y="81"/>
                          <a:pt x="132" y="76"/>
                        </a:cubicBezTo>
                        <a:cubicBezTo>
                          <a:pt x="138" y="68"/>
                          <a:pt x="146" y="65"/>
                          <a:pt x="150" y="54"/>
                        </a:cubicBezTo>
                        <a:cubicBezTo>
                          <a:pt x="151" y="50"/>
                          <a:pt x="154" y="42"/>
                          <a:pt x="154" y="42"/>
                        </a:cubicBezTo>
                        <a:cubicBezTo>
                          <a:pt x="152" y="41"/>
                          <a:pt x="148" y="40"/>
                          <a:pt x="148" y="38"/>
                        </a:cubicBezTo>
                        <a:cubicBezTo>
                          <a:pt x="148" y="36"/>
                          <a:pt x="161" y="33"/>
                          <a:pt x="152" y="32"/>
                        </a:cubicBezTo>
                        <a:lnTo>
                          <a:pt x="158" y="2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7" name="Freeform 51"/>
                  <p:cNvSpPr>
                    <a:spLocks/>
                  </p:cNvSpPr>
                  <p:nvPr/>
                </p:nvSpPr>
                <p:spPr bwMode="ltGray">
                  <a:xfrm>
                    <a:off x="2021" y="340"/>
                    <a:ext cx="6" cy="4"/>
                  </a:xfrm>
                  <a:custGeom>
                    <a:avLst/>
                    <a:gdLst>
                      <a:gd name="T0" fmla="*/ 0 w 13"/>
                      <a:gd name="T1" fmla="*/ 9 h 13"/>
                      <a:gd name="T2" fmla="*/ 4 w 13"/>
                      <a:gd name="T3" fmla="*/ 13 h 13"/>
                      <a:gd name="T4" fmla="*/ 0 w 13"/>
                      <a:gd name="T5" fmla="*/ 9 h 13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3" h="13">
                        <a:moveTo>
                          <a:pt x="0" y="9"/>
                        </a:moveTo>
                        <a:cubicBezTo>
                          <a:pt x="6" y="0"/>
                          <a:pt x="13" y="7"/>
                          <a:pt x="4" y="13"/>
                        </a:cubicBezTo>
                        <a:cubicBezTo>
                          <a:pt x="0" y="6"/>
                          <a:pt x="0" y="5"/>
                          <a:pt x="0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8" name="Freeform 52"/>
                  <p:cNvSpPr>
                    <a:spLocks/>
                  </p:cNvSpPr>
                  <p:nvPr/>
                </p:nvSpPr>
                <p:spPr bwMode="ltGray">
                  <a:xfrm>
                    <a:off x="1573" y="389"/>
                    <a:ext cx="347" cy="189"/>
                  </a:xfrm>
                  <a:custGeom>
                    <a:avLst/>
                    <a:gdLst>
                      <a:gd name="T0" fmla="*/ 812 w 812"/>
                      <a:gd name="T1" fmla="*/ 26 h 564"/>
                      <a:gd name="T2" fmla="*/ 778 w 812"/>
                      <a:gd name="T3" fmla="*/ 78 h 564"/>
                      <a:gd name="T4" fmla="*/ 748 w 812"/>
                      <a:gd name="T5" fmla="*/ 122 h 564"/>
                      <a:gd name="T6" fmla="*/ 722 w 812"/>
                      <a:gd name="T7" fmla="*/ 142 h 564"/>
                      <a:gd name="T8" fmla="*/ 634 w 812"/>
                      <a:gd name="T9" fmla="*/ 180 h 564"/>
                      <a:gd name="T10" fmla="*/ 632 w 812"/>
                      <a:gd name="T11" fmla="*/ 210 h 564"/>
                      <a:gd name="T12" fmla="*/ 604 w 812"/>
                      <a:gd name="T13" fmla="*/ 230 h 564"/>
                      <a:gd name="T14" fmla="*/ 620 w 812"/>
                      <a:gd name="T15" fmla="*/ 178 h 564"/>
                      <a:gd name="T16" fmla="*/ 576 w 812"/>
                      <a:gd name="T17" fmla="*/ 188 h 564"/>
                      <a:gd name="T18" fmla="*/ 556 w 812"/>
                      <a:gd name="T19" fmla="*/ 218 h 564"/>
                      <a:gd name="T20" fmla="*/ 596 w 812"/>
                      <a:gd name="T21" fmla="*/ 280 h 564"/>
                      <a:gd name="T22" fmla="*/ 594 w 812"/>
                      <a:gd name="T23" fmla="*/ 368 h 564"/>
                      <a:gd name="T24" fmla="*/ 542 w 812"/>
                      <a:gd name="T25" fmla="*/ 406 h 564"/>
                      <a:gd name="T26" fmla="*/ 522 w 812"/>
                      <a:gd name="T27" fmla="*/ 386 h 564"/>
                      <a:gd name="T28" fmla="*/ 482 w 812"/>
                      <a:gd name="T29" fmla="*/ 348 h 564"/>
                      <a:gd name="T30" fmla="*/ 462 w 812"/>
                      <a:gd name="T31" fmla="*/ 348 h 564"/>
                      <a:gd name="T32" fmla="*/ 450 w 812"/>
                      <a:gd name="T33" fmla="*/ 394 h 564"/>
                      <a:gd name="T34" fmla="*/ 500 w 812"/>
                      <a:gd name="T35" fmla="*/ 464 h 564"/>
                      <a:gd name="T36" fmla="*/ 510 w 812"/>
                      <a:gd name="T37" fmla="*/ 524 h 564"/>
                      <a:gd name="T38" fmla="*/ 526 w 812"/>
                      <a:gd name="T39" fmla="*/ 560 h 564"/>
                      <a:gd name="T40" fmla="*/ 492 w 812"/>
                      <a:gd name="T41" fmla="*/ 544 h 564"/>
                      <a:gd name="T42" fmla="*/ 470 w 812"/>
                      <a:gd name="T43" fmla="*/ 518 h 564"/>
                      <a:gd name="T44" fmla="*/ 422 w 812"/>
                      <a:gd name="T45" fmla="*/ 424 h 564"/>
                      <a:gd name="T46" fmla="*/ 426 w 812"/>
                      <a:gd name="T47" fmla="*/ 310 h 564"/>
                      <a:gd name="T48" fmla="*/ 422 w 812"/>
                      <a:gd name="T49" fmla="*/ 268 h 564"/>
                      <a:gd name="T50" fmla="*/ 412 w 812"/>
                      <a:gd name="T51" fmla="*/ 276 h 564"/>
                      <a:gd name="T52" fmla="*/ 386 w 812"/>
                      <a:gd name="T53" fmla="*/ 266 h 564"/>
                      <a:gd name="T54" fmla="*/ 360 w 812"/>
                      <a:gd name="T55" fmla="*/ 170 h 564"/>
                      <a:gd name="T56" fmla="*/ 330 w 812"/>
                      <a:gd name="T57" fmla="*/ 166 h 564"/>
                      <a:gd name="T58" fmla="*/ 288 w 812"/>
                      <a:gd name="T59" fmla="*/ 172 h 564"/>
                      <a:gd name="T60" fmla="*/ 242 w 812"/>
                      <a:gd name="T61" fmla="*/ 232 h 564"/>
                      <a:gd name="T62" fmla="*/ 196 w 812"/>
                      <a:gd name="T63" fmla="*/ 268 h 564"/>
                      <a:gd name="T64" fmla="*/ 184 w 812"/>
                      <a:gd name="T65" fmla="*/ 274 h 564"/>
                      <a:gd name="T66" fmla="*/ 160 w 812"/>
                      <a:gd name="T67" fmla="*/ 328 h 564"/>
                      <a:gd name="T68" fmla="*/ 152 w 812"/>
                      <a:gd name="T69" fmla="*/ 354 h 564"/>
                      <a:gd name="T70" fmla="*/ 128 w 812"/>
                      <a:gd name="T71" fmla="*/ 404 h 564"/>
                      <a:gd name="T72" fmla="*/ 94 w 812"/>
                      <a:gd name="T73" fmla="*/ 392 h 564"/>
                      <a:gd name="T74" fmla="*/ 66 w 812"/>
                      <a:gd name="T75" fmla="*/ 258 h 564"/>
                      <a:gd name="T76" fmla="*/ 72 w 812"/>
                      <a:gd name="T77" fmla="*/ 156 h 564"/>
                      <a:gd name="T78" fmla="*/ 44 w 812"/>
                      <a:gd name="T79" fmla="*/ 180 h 564"/>
                      <a:gd name="T80" fmla="*/ 20 w 812"/>
                      <a:gd name="T81" fmla="*/ 150 h 564"/>
                      <a:gd name="T82" fmla="*/ 24 w 812"/>
                      <a:gd name="T83" fmla="*/ 138 h 564"/>
                      <a:gd name="T84" fmla="*/ 0 w 812"/>
                      <a:gd name="T85" fmla="*/ 92 h 564"/>
                      <a:gd name="T86" fmla="*/ 798 w 812"/>
                      <a:gd name="T87" fmla="*/ 6 h 564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</a:gdLst>
                    <a:ahLst/>
                    <a:cxnLst>
                      <a:cxn ang="T88">
                        <a:pos x="T0" y="T1"/>
                      </a:cxn>
                      <a:cxn ang="T89">
                        <a:pos x="T2" y="T3"/>
                      </a:cxn>
                      <a:cxn ang="T90">
                        <a:pos x="T4" y="T5"/>
                      </a:cxn>
                      <a:cxn ang="T91">
                        <a:pos x="T6" y="T7"/>
                      </a:cxn>
                      <a:cxn ang="T92">
                        <a:pos x="T8" y="T9"/>
                      </a:cxn>
                      <a:cxn ang="T93">
                        <a:pos x="T10" y="T11"/>
                      </a:cxn>
                      <a:cxn ang="T94">
                        <a:pos x="T12" y="T13"/>
                      </a:cxn>
                      <a:cxn ang="T95">
                        <a:pos x="T14" y="T15"/>
                      </a:cxn>
                      <a:cxn ang="T96">
                        <a:pos x="T16" y="T17"/>
                      </a:cxn>
                      <a:cxn ang="T97">
                        <a:pos x="T18" y="T19"/>
                      </a:cxn>
                      <a:cxn ang="T98">
                        <a:pos x="T20" y="T21"/>
                      </a:cxn>
                      <a:cxn ang="T99">
                        <a:pos x="T22" y="T23"/>
                      </a:cxn>
                      <a:cxn ang="T100">
                        <a:pos x="T24" y="T25"/>
                      </a:cxn>
                      <a:cxn ang="T101">
                        <a:pos x="T26" y="T27"/>
                      </a:cxn>
                      <a:cxn ang="T102">
                        <a:pos x="T28" y="T29"/>
                      </a:cxn>
                      <a:cxn ang="T103">
                        <a:pos x="T30" y="T31"/>
                      </a:cxn>
                      <a:cxn ang="T104">
                        <a:pos x="T32" y="T33"/>
                      </a:cxn>
                      <a:cxn ang="T105">
                        <a:pos x="T34" y="T35"/>
                      </a:cxn>
                      <a:cxn ang="T106">
                        <a:pos x="T36" y="T37"/>
                      </a:cxn>
                      <a:cxn ang="T107">
                        <a:pos x="T38" y="T39"/>
                      </a:cxn>
                      <a:cxn ang="T108">
                        <a:pos x="T40" y="T41"/>
                      </a:cxn>
                      <a:cxn ang="T109">
                        <a:pos x="T42" y="T43"/>
                      </a:cxn>
                      <a:cxn ang="T110">
                        <a:pos x="T44" y="T45"/>
                      </a:cxn>
                      <a:cxn ang="T111">
                        <a:pos x="T46" y="T47"/>
                      </a:cxn>
                      <a:cxn ang="T112">
                        <a:pos x="T48" y="T49"/>
                      </a:cxn>
                      <a:cxn ang="T113">
                        <a:pos x="T50" y="T51"/>
                      </a:cxn>
                      <a:cxn ang="T114">
                        <a:pos x="T52" y="T53"/>
                      </a:cxn>
                      <a:cxn ang="T115">
                        <a:pos x="T54" y="T55"/>
                      </a:cxn>
                      <a:cxn ang="T116">
                        <a:pos x="T56" y="T57"/>
                      </a:cxn>
                      <a:cxn ang="T117">
                        <a:pos x="T58" y="T59"/>
                      </a:cxn>
                      <a:cxn ang="T118">
                        <a:pos x="T60" y="T61"/>
                      </a:cxn>
                      <a:cxn ang="T119">
                        <a:pos x="T62" y="T63"/>
                      </a:cxn>
                      <a:cxn ang="T120">
                        <a:pos x="T64" y="T65"/>
                      </a:cxn>
                      <a:cxn ang="T121">
                        <a:pos x="T66" y="T67"/>
                      </a:cxn>
                      <a:cxn ang="T122">
                        <a:pos x="T68" y="T69"/>
                      </a:cxn>
                      <a:cxn ang="T123">
                        <a:pos x="T70" y="T71"/>
                      </a:cxn>
                      <a:cxn ang="T124">
                        <a:pos x="T72" y="T73"/>
                      </a:cxn>
                      <a:cxn ang="T125">
                        <a:pos x="T74" y="T75"/>
                      </a:cxn>
                      <a:cxn ang="T126">
                        <a:pos x="T76" y="T77"/>
                      </a:cxn>
                      <a:cxn ang="T127">
                        <a:pos x="T78" y="T79"/>
                      </a:cxn>
                      <a:cxn ang="T128">
                        <a:pos x="T80" y="T81"/>
                      </a:cxn>
                      <a:cxn ang="T129">
                        <a:pos x="T82" y="T83"/>
                      </a:cxn>
                      <a:cxn ang="T130">
                        <a:pos x="T84" y="T85"/>
                      </a:cxn>
                      <a:cxn ang="T131">
                        <a:pos x="T86" y="T87"/>
                      </a:cxn>
                    </a:cxnLst>
                    <a:rect l="0" t="0" r="r" b="b"/>
                    <a:pathLst>
                      <a:path w="812" h="564">
                        <a:moveTo>
                          <a:pt x="798" y="6"/>
                        </a:moveTo>
                        <a:cubicBezTo>
                          <a:pt x="801" y="15"/>
                          <a:pt x="809" y="16"/>
                          <a:pt x="812" y="26"/>
                        </a:cubicBezTo>
                        <a:cubicBezTo>
                          <a:pt x="809" y="36"/>
                          <a:pt x="801" y="41"/>
                          <a:pt x="796" y="50"/>
                        </a:cubicBezTo>
                        <a:cubicBezTo>
                          <a:pt x="791" y="61"/>
                          <a:pt x="788" y="71"/>
                          <a:pt x="778" y="78"/>
                        </a:cubicBezTo>
                        <a:cubicBezTo>
                          <a:pt x="773" y="85"/>
                          <a:pt x="771" y="88"/>
                          <a:pt x="774" y="96"/>
                        </a:cubicBezTo>
                        <a:cubicBezTo>
                          <a:pt x="767" y="107"/>
                          <a:pt x="758" y="114"/>
                          <a:pt x="748" y="122"/>
                        </a:cubicBezTo>
                        <a:cubicBezTo>
                          <a:pt x="744" y="125"/>
                          <a:pt x="736" y="130"/>
                          <a:pt x="736" y="130"/>
                        </a:cubicBezTo>
                        <a:cubicBezTo>
                          <a:pt x="740" y="141"/>
                          <a:pt x="731" y="140"/>
                          <a:pt x="722" y="142"/>
                        </a:cubicBezTo>
                        <a:cubicBezTo>
                          <a:pt x="716" y="148"/>
                          <a:pt x="712" y="151"/>
                          <a:pt x="704" y="154"/>
                        </a:cubicBezTo>
                        <a:cubicBezTo>
                          <a:pt x="686" y="150"/>
                          <a:pt x="650" y="169"/>
                          <a:pt x="634" y="180"/>
                        </a:cubicBezTo>
                        <a:cubicBezTo>
                          <a:pt x="636" y="189"/>
                          <a:pt x="631" y="193"/>
                          <a:pt x="640" y="196"/>
                        </a:cubicBezTo>
                        <a:cubicBezTo>
                          <a:pt x="643" y="205"/>
                          <a:pt x="640" y="207"/>
                          <a:pt x="632" y="210"/>
                        </a:cubicBezTo>
                        <a:cubicBezTo>
                          <a:pt x="626" y="219"/>
                          <a:pt x="623" y="226"/>
                          <a:pt x="614" y="232"/>
                        </a:cubicBezTo>
                        <a:cubicBezTo>
                          <a:pt x="611" y="231"/>
                          <a:pt x="606" y="233"/>
                          <a:pt x="604" y="230"/>
                        </a:cubicBezTo>
                        <a:cubicBezTo>
                          <a:pt x="599" y="220"/>
                          <a:pt x="610" y="199"/>
                          <a:pt x="620" y="196"/>
                        </a:cubicBezTo>
                        <a:cubicBezTo>
                          <a:pt x="623" y="187"/>
                          <a:pt x="617" y="187"/>
                          <a:pt x="620" y="178"/>
                        </a:cubicBezTo>
                        <a:cubicBezTo>
                          <a:pt x="617" y="164"/>
                          <a:pt x="609" y="168"/>
                          <a:pt x="598" y="172"/>
                        </a:cubicBezTo>
                        <a:cubicBezTo>
                          <a:pt x="592" y="180"/>
                          <a:pt x="585" y="185"/>
                          <a:pt x="576" y="188"/>
                        </a:cubicBezTo>
                        <a:cubicBezTo>
                          <a:pt x="572" y="194"/>
                          <a:pt x="568" y="200"/>
                          <a:pt x="564" y="206"/>
                        </a:cubicBezTo>
                        <a:cubicBezTo>
                          <a:pt x="561" y="210"/>
                          <a:pt x="556" y="218"/>
                          <a:pt x="556" y="218"/>
                        </a:cubicBezTo>
                        <a:cubicBezTo>
                          <a:pt x="558" y="234"/>
                          <a:pt x="559" y="243"/>
                          <a:pt x="572" y="252"/>
                        </a:cubicBezTo>
                        <a:cubicBezTo>
                          <a:pt x="579" y="262"/>
                          <a:pt x="586" y="273"/>
                          <a:pt x="596" y="280"/>
                        </a:cubicBezTo>
                        <a:cubicBezTo>
                          <a:pt x="598" y="286"/>
                          <a:pt x="602" y="298"/>
                          <a:pt x="602" y="298"/>
                        </a:cubicBezTo>
                        <a:cubicBezTo>
                          <a:pt x="601" y="308"/>
                          <a:pt x="599" y="361"/>
                          <a:pt x="594" y="368"/>
                        </a:cubicBezTo>
                        <a:cubicBezTo>
                          <a:pt x="590" y="374"/>
                          <a:pt x="576" y="378"/>
                          <a:pt x="570" y="382"/>
                        </a:cubicBezTo>
                        <a:cubicBezTo>
                          <a:pt x="563" y="393"/>
                          <a:pt x="550" y="396"/>
                          <a:pt x="542" y="406"/>
                        </a:cubicBezTo>
                        <a:cubicBezTo>
                          <a:pt x="536" y="413"/>
                          <a:pt x="539" y="417"/>
                          <a:pt x="530" y="420"/>
                        </a:cubicBezTo>
                        <a:cubicBezTo>
                          <a:pt x="526" y="408"/>
                          <a:pt x="538" y="391"/>
                          <a:pt x="522" y="386"/>
                        </a:cubicBezTo>
                        <a:cubicBezTo>
                          <a:pt x="516" y="377"/>
                          <a:pt x="510" y="364"/>
                          <a:pt x="502" y="356"/>
                        </a:cubicBezTo>
                        <a:cubicBezTo>
                          <a:pt x="497" y="341"/>
                          <a:pt x="505" y="360"/>
                          <a:pt x="482" y="348"/>
                        </a:cubicBezTo>
                        <a:cubicBezTo>
                          <a:pt x="478" y="346"/>
                          <a:pt x="478" y="339"/>
                          <a:pt x="474" y="336"/>
                        </a:cubicBezTo>
                        <a:cubicBezTo>
                          <a:pt x="470" y="323"/>
                          <a:pt x="466" y="342"/>
                          <a:pt x="462" y="348"/>
                        </a:cubicBezTo>
                        <a:cubicBezTo>
                          <a:pt x="460" y="358"/>
                          <a:pt x="456" y="363"/>
                          <a:pt x="454" y="374"/>
                        </a:cubicBezTo>
                        <a:cubicBezTo>
                          <a:pt x="457" y="383"/>
                          <a:pt x="455" y="387"/>
                          <a:pt x="450" y="394"/>
                        </a:cubicBezTo>
                        <a:cubicBezTo>
                          <a:pt x="454" y="399"/>
                          <a:pt x="464" y="411"/>
                          <a:pt x="466" y="418"/>
                        </a:cubicBezTo>
                        <a:cubicBezTo>
                          <a:pt x="474" y="443"/>
                          <a:pt x="472" y="458"/>
                          <a:pt x="500" y="464"/>
                        </a:cubicBezTo>
                        <a:cubicBezTo>
                          <a:pt x="507" y="469"/>
                          <a:pt x="510" y="474"/>
                          <a:pt x="516" y="480"/>
                        </a:cubicBezTo>
                        <a:cubicBezTo>
                          <a:pt x="511" y="494"/>
                          <a:pt x="513" y="509"/>
                          <a:pt x="510" y="524"/>
                        </a:cubicBezTo>
                        <a:cubicBezTo>
                          <a:pt x="512" y="537"/>
                          <a:pt x="511" y="541"/>
                          <a:pt x="522" y="548"/>
                        </a:cubicBezTo>
                        <a:cubicBezTo>
                          <a:pt x="523" y="552"/>
                          <a:pt x="525" y="556"/>
                          <a:pt x="526" y="560"/>
                        </a:cubicBezTo>
                        <a:cubicBezTo>
                          <a:pt x="527" y="564"/>
                          <a:pt x="514" y="556"/>
                          <a:pt x="514" y="556"/>
                        </a:cubicBezTo>
                        <a:cubicBezTo>
                          <a:pt x="502" y="564"/>
                          <a:pt x="501" y="551"/>
                          <a:pt x="492" y="544"/>
                        </a:cubicBezTo>
                        <a:cubicBezTo>
                          <a:pt x="488" y="541"/>
                          <a:pt x="480" y="536"/>
                          <a:pt x="480" y="536"/>
                        </a:cubicBezTo>
                        <a:cubicBezTo>
                          <a:pt x="471" y="522"/>
                          <a:pt x="474" y="529"/>
                          <a:pt x="470" y="518"/>
                        </a:cubicBezTo>
                        <a:cubicBezTo>
                          <a:pt x="467" y="491"/>
                          <a:pt x="461" y="446"/>
                          <a:pt x="436" y="430"/>
                        </a:cubicBezTo>
                        <a:cubicBezTo>
                          <a:pt x="428" y="433"/>
                          <a:pt x="425" y="433"/>
                          <a:pt x="422" y="424"/>
                        </a:cubicBezTo>
                        <a:cubicBezTo>
                          <a:pt x="427" y="404"/>
                          <a:pt x="432" y="383"/>
                          <a:pt x="438" y="364"/>
                        </a:cubicBezTo>
                        <a:cubicBezTo>
                          <a:pt x="436" y="343"/>
                          <a:pt x="431" y="330"/>
                          <a:pt x="426" y="310"/>
                        </a:cubicBezTo>
                        <a:cubicBezTo>
                          <a:pt x="429" y="302"/>
                          <a:pt x="425" y="300"/>
                          <a:pt x="422" y="292"/>
                        </a:cubicBezTo>
                        <a:cubicBezTo>
                          <a:pt x="424" y="282"/>
                          <a:pt x="428" y="277"/>
                          <a:pt x="422" y="268"/>
                        </a:cubicBezTo>
                        <a:cubicBezTo>
                          <a:pt x="420" y="269"/>
                          <a:pt x="418" y="269"/>
                          <a:pt x="416" y="270"/>
                        </a:cubicBezTo>
                        <a:cubicBezTo>
                          <a:pt x="414" y="272"/>
                          <a:pt x="414" y="275"/>
                          <a:pt x="412" y="276"/>
                        </a:cubicBezTo>
                        <a:cubicBezTo>
                          <a:pt x="408" y="278"/>
                          <a:pt x="400" y="280"/>
                          <a:pt x="400" y="280"/>
                        </a:cubicBezTo>
                        <a:cubicBezTo>
                          <a:pt x="394" y="274"/>
                          <a:pt x="389" y="274"/>
                          <a:pt x="386" y="266"/>
                        </a:cubicBezTo>
                        <a:cubicBezTo>
                          <a:pt x="391" y="251"/>
                          <a:pt x="379" y="206"/>
                          <a:pt x="364" y="196"/>
                        </a:cubicBezTo>
                        <a:cubicBezTo>
                          <a:pt x="357" y="186"/>
                          <a:pt x="358" y="182"/>
                          <a:pt x="360" y="170"/>
                        </a:cubicBezTo>
                        <a:cubicBezTo>
                          <a:pt x="358" y="160"/>
                          <a:pt x="356" y="147"/>
                          <a:pt x="346" y="144"/>
                        </a:cubicBezTo>
                        <a:cubicBezTo>
                          <a:pt x="343" y="154"/>
                          <a:pt x="338" y="160"/>
                          <a:pt x="330" y="166"/>
                        </a:cubicBezTo>
                        <a:cubicBezTo>
                          <a:pt x="323" y="164"/>
                          <a:pt x="308" y="160"/>
                          <a:pt x="308" y="160"/>
                        </a:cubicBezTo>
                        <a:cubicBezTo>
                          <a:pt x="296" y="162"/>
                          <a:pt x="297" y="166"/>
                          <a:pt x="288" y="172"/>
                        </a:cubicBezTo>
                        <a:cubicBezTo>
                          <a:pt x="284" y="185"/>
                          <a:pt x="282" y="191"/>
                          <a:pt x="268" y="196"/>
                        </a:cubicBezTo>
                        <a:cubicBezTo>
                          <a:pt x="264" y="200"/>
                          <a:pt x="243" y="231"/>
                          <a:pt x="242" y="232"/>
                        </a:cubicBezTo>
                        <a:cubicBezTo>
                          <a:pt x="231" y="239"/>
                          <a:pt x="215" y="247"/>
                          <a:pt x="206" y="256"/>
                        </a:cubicBezTo>
                        <a:cubicBezTo>
                          <a:pt x="202" y="260"/>
                          <a:pt x="200" y="265"/>
                          <a:pt x="196" y="268"/>
                        </a:cubicBezTo>
                        <a:cubicBezTo>
                          <a:pt x="194" y="269"/>
                          <a:pt x="192" y="269"/>
                          <a:pt x="190" y="270"/>
                        </a:cubicBezTo>
                        <a:cubicBezTo>
                          <a:pt x="188" y="271"/>
                          <a:pt x="186" y="272"/>
                          <a:pt x="184" y="274"/>
                        </a:cubicBezTo>
                        <a:cubicBezTo>
                          <a:pt x="180" y="278"/>
                          <a:pt x="172" y="286"/>
                          <a:pt x="172" y="286"/>
                        </a:cubicBezTo>
                        <a:cubicBezTo>
                          <a:pt x="167" y="300"/>
                          <a:pt x="165" y="314"/>
                          <a:pt x="160" y="328"/>
                        </a:cubicBezTo>
                        <a:cubicBezTo>
                          <a:pt x="158" y="335"/>
                          <a:pt x="156" y="341"/>
                          <a:pt x="154" y="348"/>
                        </a:cubicBezTo>
                        <a:cubicBezTo>
                          <a:pt x="153" y="350"/>
                          <a:pt x="152" y="354"/>
                          <a:pt x="152" y="354"/>
                        </a:cubicBezTo>
                        <a:cubicBezTo>
                          <a:pt x="152" y="359"/>
                          <a:pt x="156" y="384"/>
                          <a:pt x="146" y="392"/>
                        </a:cubicBezTo>
                        <a:cubicBezTo>
                          <a:pt x="141" y="397"/>
                          <a:pt x="128" y="404"/>
                          <a:pt x="128" y="404"/>
                        </a:cubicBezTo>
                        <a:cubicBezTo>
                          <a:pt x="125" y="412"/>
                          <a:pt x="122" y="421"/>
                          <a:pt x="114" y="424"/>
                        </a:cubicBezTo>
                        <a:cubicBezTo>
                          <a:pt x="100" y="419"/>
                          <a:pt x="97" y="405"/>
                          <a:pt x="94" y="392"/>
                        </a:cubicBezTo>
                        <a:cubicBezTo>
                          <a:pt x="86" y="362"/>
                          <a:pt x="82" y="332"/>
                          <a:pt x="72" y="302"/>
                        </a:cubicBezTo>
                        <a:cubicBezTo>
                          <a:pt x="71" y="281"/>
                          <a:pt x="70" y="275"/>
                          <a:pt x="66" y="258"/>
                        </a:cubicBezTo>
                        <a:cubicBezTo>
                          <a:pt x="66" y="251"/>
                          <a:pt x="68" y="219"/>
                          <a:pt x="64" y="208"/>
                        </a:cubicBezTo>
                        <a:cubicBezTo>
                          <a:pt x="70" y="191"/>
                          <a:pt x="66" y="173"/>
                          <a:pt x="72" y="156"/>
                        </a:cubicBezTo>
                        <a:cubicBezTo>
                          <a:pt x="66" y="139"/>
                          <a:pt x="60" y="168"/>
                          <a:pt x="56" y="172"/>
                        </a:cubicBezTo>
                        <a:cubicBezTo>
                          <a:pt x="53" y="175"/>
                          <a:pt x="44" y="180"/>
                          <a:pt x="44" y="180"/>
                        </a:cubicBezTo>
                        <a:cubicBezTo>
                          <a:pt x="35" y="177"/>
                          <a:pt x="28" y="173"/>
                          <a:pt x="24" y="162"/>
                        </a:cubicBezTo>
                        <a:cubicBezTo>
                          <a:pt x="23" y="158"/>
                          <a:pt x="20" y="150"/>
                          <a:pt x="20" y="150"/>
                        </a:cubicBezTo>
                        <a:cubicBezTo>
                          <a:pt x="30" y="148"/>
                          <a:pt x="30" y="143"/>
                          <a:pt x="38" y="138"/>
                        </a:cubicBezTo>
                        <a:cubicBezTo>
                          <a:pt x="35" y="128"/>
                          <a:pt x="31" y="133"/>
                          <a:pt x="24" y="138"/>
                        </a:cubicBezTo>
                        <a:cubicBezTo>
                          <a:pt x="15" y="135"/>
                          <a:pt x="15" y="132"/>
                          <a:pt x="18" y="124"/>
                        </a:cubicBezTo>
                        <a:cubicBezTo>
                          <a:pt x="11" y="114"/>
                          <a:pt x="9" y="101"/>
                          <a:pt x="0" y="92"/>
                        </a:cubicBezTo>
                        <a:lnTo>
                          <a:pt x="76" y="0"/>
                        </a:lnTo>
                        <a:lnTo>
                          <a:pt x="798" y="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9" name="Freeform 53"/>
                  <p:cNvSpPr>
                    <a:spLocks/>
                  </p:cNvSpPr>
                  <p:nvPr/>
                </p:nvSpPr>
                <p:spPr bwMode="ltGray">
                  <a:xfrm>
                    <a:off x="1634" y="519"/>
                    <a:ext cx="19" cy="29"/>
                  </a:xfrm>
                  <a:custGeom>
                    <a:avLst/>
                    <a:gdLst>
                      <a:gd name="T0" fmla="*/ 7 w 43"/>
                      <a:gd name="T1" fmla="*/ 11 h 85"/>
                      <a:gd name="T2" fmla="*/ 17 w 43"/>
                      <a:gd name="T3" fmla="*/ 3 h 85"/>
                      <a:gd name="T4" fmla="*/ 37 w 43"/>
                      <a:gd name="T5" fmla="*/ 33 h 85"/>
                      <a:gd name="T6" fmla="*/ 19 w 43"/>
                      <a:gd name="T7" fmla="*/ 85 h 85"/>
                      <a:gd name="T8" fmla="*/ 1 w 43"/>
                      <a:gd name="T9" fmla="*/ 69 h 85"/>
                      <a:gd name="T10" fmla="*/ 7 w 43"/>
                      <a:gd name="T11" fmla="*/ 11 h 85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85">
                        <a:moveTo>
                          <a:pt x="7" y="11"/>
                        </a:moveTo>
                        <a:cubicBezTo>
                          <a:pt x="4" y="2"/>
                          <a:pt x="9" y="0"/>
                          <a:pt x="17" y="3"/>
                        </a:cubicBezTo>
                        <a:cubicBezTo>
                          <a:pt x="24" y="13"/>
                          <a:pt x="28" y="24"/>
                          <a:pt x="37" y="33"/>
                        </a:cubicBezTo>
                        <a:cubicBezTo>
                          <a:pt x="43" y="52"/>
                          <a:pt x="40" y="78"/>
                          <a:pt x="19" y="85"/>
                        </a:cubicBezTo>
                        <a:cubicBezTo>
                          <a:pt x="6" y="81"/>
                          <a:pt x="5" y="81"/>
                          <a:pt x="1" y="69"/>
                        </a:cubicBezTo>
                        <a:cubicBezTo>
                          <a:pt x="2" y="66"/>
                          <a:pt x="0" y="4"/>
                          <a:pt x="7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0" name="Freeform 54"/>
                  <p:cNvSpPr>
                    <a:spLocks/>
                  </p:cNvSpPr>
                  <p:nvPr/>
                </p:nvSpPr>
                <p:spPr bwMode="ltGray">
                  <a:xfrm>
                    <a:off x="1900" y="421"/>
                    <a:ext cx="18" cy="24"/>
                  </a:xfrm>
                  <a:custGeom>
                    <a:avLst/>
                    <a:gdLst>
                      <a:gd name="T0" fmla="*/ 13 w 44"/>
                      <a:gd name="T1" fmla="*/ 28 h 74"/>
                      <a:gd name="T2" fmla="*/ 29 w 44"/>
                      <a:gd name="T3" fmla="*/ 2 h 74"/>
                      <a:gd name="T4" fmla="*/ 43 w 44"/>
                      <a:gd name="T5" fmla="*/ 4 h 74"/>
                      <a:gd name="T6" fmla="*/ 39 w 44"/>
                      <a:gd name="T7" fmla="*/ 26 h 74"/>
                      <a:gd name="T8" fmla="*/ 13 w 44"/>
                      <a:gd name="T9" fmla="*/ 74 h 74"/>
                      <a:gd name="T10" fmla="*/ 7 w 44"/>
                      <a:gd name="T11" fmla="*/ 60 h 74"/>
                      <a:gd name="T12" fmla="*/ 3 w 44"/>
                      <a:gd name="T13" fmla="*/ 36 h 74"/>
                      <a:gd name="T14" fmla="*/ 13 w 44"/>
                      <a:gd name="T15" fmla="*/ 28 h 7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44" h="74">
                        <a:moveTo>
                          <a:pt x="13" y="28"/>
                        </a:moveTo>
                        <a:cubicBezTo>
                          <a:pt x="15" y="13"/>
                          <a:pt x="14" y="7"/>
                          <a:pt x="29" y="2"/>
                        </a:cubicBezTo>
                        <a:cubicBezTo>
                          <a:pt x="34" y="3"/>
                          <a:pt x="40" y="0"/>
                          <a:pt x="43" y="4"/>
                        </a:cubicBezTo>
                        <a:cubicBezTo>
                          <a:pt x="44" y="6"/>
                          <a:pt x="41" y="21"/>
                          <a:pt x="39" y="26"/>
                        </a:cubicBezTo>
                        <a:cubicBezTo>
                          <a:pt x="31" y="43"/>
                          <a:pt x="30" y="63"/>
                          <a:pt x="13" y="74"/>
                        </a:cubicBezTo>
                        <a:cubicBezTo>
                          <a:pt x="4" y="71"/>
                          <a:pt x="4" y="68"/>
                          <a:pt x="7" y="60"/>
                        </a:cubicBezTo>
                        <a:cubicBezTo>
                          <a:pt x="5" y="50"/>
                          <a:pt x="0" y="46"/>
                          <a:pt x="3" y="36"/>
                        </a:cubicBezTo>
                        <a:cubicBezTo>
                          <a:pt x="4" y="32"/>
                          <a:pt x="8" y="23"/>
                          <a:pt x="1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1" name="Freeform 55"/>
                  <p:cNvSpPr>
                    <a:spLocks/>
                  </p:cNvSpPr>
                  <p:nvPr/>
                </p:nvSpPr>
                <p:spPr bwMode="ltGray">
                  <a:xfrm>
                    <a:off x="1951" y="409"/>
                    <a:ext cx="9" cy="10"/>
                  </a:xfrm>
                  <a:custGeom>
                    <a:avLst/>
                    <a:gdLst>
                      <a:gd name="T0" fmla="*/ 7 w 20"/>
                      <a:gd name="T1" fmla="*/ 16 h 30"/>
                      <a:gd name="T2" fmla="*/ 5 w 20"/>
                      <a:gd name="T3" fmla="*/ 30 h 30"/>
                      <a:gd name="T4" fmla="*/ 7 w 20"/>
                      <a:gd name="T5" fmla="*/ 16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0" h="30">
                        <a:moveTo>
                          <a:pt x="7" y="16"/>
                        </a:moveTo>
                        <a:cubicBezTo>
                          <a:pt x="18" y="0"/>
                          <a:pt x="20" y="20"/>
                          <a:pt x="5" y="30"/>
                        </a:cubicBezTo>
                        <a:cubicBezTo>
                          <a:pt x="0" y="23"/>
                          <a:pt x="1" y="22"/>
                          <a:pt x="7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2" name="Freeform 56"/>
                  <p:cNvSpPr>
                    <a:spLocks/>
                  </p:cNvSpPr>
                  <p:nvPr/>
                </p:nvSpPr>
                <p:spPr bwMode="ltGray">
                  <a:xfrm>
                    <a:off x="1021" y="314"/>
                    <a:ext cx="433" cy="354"/>
                  </a:xfrm>
                  <a:custGeom>
                    <a:avLst/>
                    <a:gdLst>
                      <a:gd name="T0" fmla="*/ 481 w 682"/>
                      <a:gd name="T1" fmla="*/ 464 h 557"/>
                      <a:gd name="T2" fmla="*/ 486 w 682"/>
                      <a:gd name="T3" fmla="*/ 451 h 557"/>
                      <a:gd name="T4" fmla="*/ 500 w 682"/>
                      <a:gd name="T5" fmla="*/ 413 h 557"/>
                      <a:gd name="T6" fmla="*/ 309 w 682"/>
                      <a:gd name="T7" fmla="*/ 287 h 557"/>
                      <a:gd name="T8" fmla="*/ 282 w 682"/>
                      <a:gd name="T9" fmla="*/ 346 h 557"/>
                      <a:gd name="T10" fmla="*/ 303 w 682"/>
                      <a:gd name="T11" fmla="*/ 556 h 557"/>
                      <a:gd name="T12" fmla="*/ 282 w 682"/>
                      <a:gd name="T13" fmla="*/ 494 h 557"/>
                      <a:gd name="T14" fmla="*/ 242 w 682"/>
                      <a:gd name="T15" fmla="*/ 439 h 557"/>
                      <a:gd name="T16" fmla="*/ 245 w 682"/>
                      <a:gd name="T17" fmla="*/ 413 h 557"/>
                      <a:gd name="T18" fmla="*/ 247 w 682"/>
                      <a:gd name="T19" fmla="*/ 394 h 557"/>
                      <a:gd name="T20" fmla="*/ 220 w 682"/>
                      <a:gd name="T21" fmla="*/ 375 h 557"/>
                      <a:gd name="T22" fmla="*/ 194 w 682"/>
                      <a:gd name="T23" fmla="*/ 346 h 557"/>
                      <a:gd name="T24" fmla="*/ 148 w 682"/>
                      <a:gd name="T25" fmla="*/ 354 h 557"/>
                      <a:gd name="T26" fmla="*/ 126 w 682"/>
                      <a:gd name="T27" fmla="*/ 365 h 557"/>
                      <a:gd name="T28" fmla="*/ 78 w 682"/>
                      <a:gd name="T29" fmla="*/ 365 h 557"/>
                      <a:gd name="T30" fmla="*/ 22 w 682"/>
                      <a:gd name="T31" fmla="*/ 312 h 557"/>
                      <a:gd name="T32" fmla="*/ 11 w 682"/>
                      <a:gd name="T33" fmla="*/ 295 h 557"/>
                      <a:gd name="T34" fmla="*/ 0 w 682"/>
                      <a:gd name="T35" fmla="*/ 264 h 557"/>
                      <a:gd name="T36" fmla="*/ 24 w 682"/>
                      <a:gd name="T37" fmla="*/ 213 h 557"/>
                      <a:gd name="T38" fmla="*/ 32 w 682"/>
                      <a:gd name="T39" fmla="*/ 181 h 557"/>
                      <a:gd name="T40" fmla="*/ 51 w 682"/>
                      <a:gd name="T41" fmla="*/ 143 h 557"/>
                      <a:gd name="T42" fmla="*/ 81 w 682"/>
                      <a:gd name="T43" fmla="*/ 116 h 557"/>
                      <a:gd name="T44" fmla="*/ 167 w 682"/>
                      <a:gd name="T45" fmla="*/ 67 h 557"/>
                      <a:gd name="T46" fmla="*/ 220 w 682"/>
                      <a:gd name="T47" fmla="*/ 30 h 557"/>
                      <a:gd name="T48" fmla="*/ 258 w 682"/>
                      <a:gd name="T49" fmla="*/ 6 h 557"/>
                      <a:gd name="T50" fmla="*/ 363 w 682"/>
                      <a:gd name="T51" fmla="*/ 2 h 557"/>
                      <a:gd name="T52" fmla="*/ 398 w 682"/>
                      <a:gd name="T53" fmla="*/ 0 h 557"/>
                      <a:gd name="T54" fmla="*/ 384 w 682"/>
                      <a:gd name="T55" fmla="*/ 34 h 557"/>
                      <a:gd name="T56" fmla="*/ 443 w 682"/>
                      <a:gd name="T57" fmla="*/ 84 h 557"/>
                      <a:gd name="T58" fmla="*/ 497 w 682"/>
                      <a:gd name="T59" fmla="*/ 74 h 557"/>
                      <a:gd name="T60" fmla="*/ 529 w 682"/>
                      <a:gd name="T61" fmla="*/ 82 h 557"/>
                      <a:gd name="T62" fmla="*/ 559 w 682"/>
                      <a:gd name="T63" fmla="*/ 97 h 557"/>
                      <a:gd name="T64" fmla="*/ 572 w 682"/>
                      <a:gd name="T65" fmla="*/ 188 h 557"/>
                      <a:gd name="T66" fmla="*/ 572 w 682"/>
                      <a:gd name="T67" fmla="*/ 240 h 557"/>
                      <a:gd name="T68" fmla="*/ 599 w 682"/>
                      <a:gd name="T69" fmla="*/ 283 h 557"/>
                      <a:gd name="T70" fmla="*/ 645 w 682"/>
                      <a:gd name="T71" fmla="*/ 300 h 557"/>
                      <a:gd name="T72" fmla="*/ 680 w 682"/>
                      <a:gd name="T73" fmla="*/ 295 h 557"/>
                      <a:gd name="T74" fmla="*/ 664 w 682"/>
                      <a:gd name="T75" fmla="*/ 340 h 557"/>
                      <a:gd name="T76" fmla="*/ 599 w 682"/>
                      <a:gd name="T77" fmla="*/ 407 h 557"/>
                      <a:gd name="T78" fmla="*/ 548 w 682"/>
                      <a:gd name="T79" fmla="*/ 485 h 557"/>
                      <a:gd name="T80" fmla="*/ 556 w 682"/>
                      <a:gd name="T81" fmla="*/ 508 h 557"/>
                      <a:gd name="T82" fmla="*/ 435 w 682"/>
                      <a:gd name="T83" fmla="*/ 556 h 557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</a:gdLst>
                    <a:ahLst/>
                    <a:cxnLst>
                      <a:cxn ang="T84">
                        <a:pos x="T0" y="T1"/>
                      </a:cxn>
                      <a:cxn ang="T85">
                        <a:pos x="T2" y="T3"/>
                      </a:cxn>
                      <a:cxn ang="T86">
                        <a:pos x="T4" y="T5"/>
                      </a:cxn>
                      <a:cxn ang="T87">
                        <a:pos x="T6" y="T7"/>
                      </a:cxn>
                      <a:cxn ang="T88">
                        <a:pos x="T8" y="T9"/>
                      </a:cxn>
                      <a:cxn ang="T89">
                        <a:pos x="T10" y="T11"/>
                      </a:cxn>
                      <a:cxn ang="T90">
                        <a:pos x="T12" y="T13"/>
                      </a:cxn>
                      <a:cxn ang="T91">
                        <a:pos x="T14" y="T15"/>
                      </a:cxn>
                      <a:cxn ang="T92">
                        <a:pos x="T16" y="T17"/>
                      </a:cxn>
                      <a:cxn ang="T93">
                        <a:pos x="T18" y="T19"/>
                      </a:cxn>
                      <a:cxn ang="T94">
                        <a:pos x="T20" y="T21"/>
                      </a:cxn>
                      <a:cxn ang="T95">
                        <a:pos x="T22" y="T23"/>
                      </a:cxn>
                      <a:cxn ang="T96">
                        <a:pos x="T24" y="T25"/>
                      </a:cxn>
                      <a:cxn ang="T97">
                        <a:pos x="T26" y="T27"/>
                      </a:cxn>
                      <a:cxn ang="T98">
                        <a:pos x="T28" y="T29"/>
                      </a:cxn>
                      <a:cxn ang="T99">
                        <a:pos x="T30" y="T31"/>
                      </a:cxn>
                      <a:cxn ang="T100">
                        <a:pos x="T32" y="T33"/>
                      </a:cxn>
                      <a:cxn ang="T101">
                        <a:pos x="T34" y="T35"/>
                      </a:cxn>
                      <a:cxn ang="T102">
                        <a:pos x="T36" y="T37"/>
                      </a:cxn>
                      <a:cxn ang="T103">
                        <a:pos x="T38" y="T39"/>
                      </a:cxn>
                      <a:cxn ang="T104">
                        <a:pos x="T40" y="T41"/>
                      </a:cxn>
                      <a:cxn ang="T105">
                        <a:pos x="T42" y="T43"/>
                      </a:cxn>
                      <a:cxn ang="T106">
                        <a:pos x="T44" y="T45"/>
                      </a:cxn>
                      <a:cxn ang="T107">
                        <a:pos x="T46" y="T47"/>
                      </a:cxn>
                      <a:cxn ang="T108">
                        <a:pos x="T48" y="T49"/>
                      </a:cxn>
                      <a:cxn ang="T109">
                        <a:pos x="T50" y="T51"/>
                      </a:cxn>
                      <a:cxn ang="T110">
                        <a:pos x="T52" y="T53"/>
                      </a:cxn>
                      <a:cxn ang="T111">
                        <a:pos x="T54" y="T55"/>
                      </a:cxn>
                      <a:cxn ang="T112">
                        <a:pos x="T56" y="T57"/>
                      </a:cxn>
                      <a:cxn ang="T113">
                        <a:pos x="T58" y="T59"/>
                      </a:cxn>
                      <a:cxn ang="T114">
                        <a:pos x="T60" y="T61"/>
                      </a:cxn>
                      <a:cxn ang="T115">
                        <a:pos x="T62" y="T63"/>
                      </a:cxn>
                      <a:cxn ang="T116">
                        <a:pos x="T64" y="T65"/>
                      </a:cxn>
                      <a:cxn ang="T117">
                        <a:pos x="T66" y="T67"/>
                      </a:cxn>
                      <a:cxn ang="T118">
                        <a:pos x="T68" y="T69"/>
                      </a:cxn>
                      <a:cxn ang="T119">
                        <a:pos x="T70" y="T71"/>
                      </a:cxn>
                      <a:cxn ang="T120">
                        <a:pos x="T72" y="T73"/>
                      </a:cxn>
                      <a:cxn ang="T121">
                        <a:pos x="T74" y="T75"/>
                      </a:cxn>
                      <a:cxn ang="T122">
                        <a:pos x="T76" y="T77"/>
                      </a:cxn>
                      <a:cxn ang="T123">
                        <a:pos x="T78" y="T79"/>
                      </a:cxn>
                      <a:cxn ang="T124">
                        <a:pos x="T80" y="T81"/>
                      </a:cxn>
                      <a:cxn ang="T125">
                        <a:pos x="T82" y="T83"/>
                      </a:cxn>
                    </a:cxnLst>
                    <a:rect l="0" t="0" r="r" b="b"/>
                    <a:pathLst>
                      <a:path w="682" h="557">
                        <a:moveTo>
                          <a:pt x="435" y="556"/>
                        </a:moveTo>
                        <a:lnTo>
                          <a:pt x="481" y="464"/>
                        </a:lnTo>
                        <a:lnTo>
                          <a:pt x="473" y="449"/>
                        </a:lnTo>
                        <a:lnTo>
                          <a:pt x="486" y="451"/>
                        </a:lnTo>
                        <a:lnTo>
                          <a:pt x="495" y="441"/>
                        </a:lnTo>
                        <a:lnTo>
                          <a:pt x="500" y="413"/>
                        </a:lnTo>
                        <a:lnTo>
                          <a:pt x="500" y="371"/>
                        </a:lnTo>
                        <a:lnTo>
                          <a:pt x="309" y="287"/>
                        </a:lnTo>
                        <a:lnTo>
                          <a:pt x="296" y="308"/>
                        </a:lnTo>
                        <a:lnTo>
                          <a:pt x="282" y="346"/>
                        </a:lnTo>
                        <a:lnTo>
                          <a:pt x="396" y="557"/>
                        </a:lnTo>
                        <a:lnTo>
                          <a:pt x="303" y="556"/>
                        </a:lnTo>
                        <a:lnTo>
                          <a:pt x="304" y="536"/>
                        </a:lnTo>
                        <a:cubicBezTo>
                          <a:pt x="284" y="520"/>
                          <a:pt x="296" y="510"/>
                          <a:pt x="282" y="494"/>
                        </a:cubicBezTo>
                        <a:cubicBezTo>
                          <a:pt x="276" y="475"/>
                          <a:pt x="267" y="468"/>
                          <a:pt x="253" y="451"/>
                        </a:cubicBezTo>
                        <a:cubicBezTo>
                          <a:pt x="249" y="447"/>
                          <a:pt x="245" y="443"/>
                          <a:pt x="242" y="439"/>
                        </a:cubicBezTo>
                        <a:lnTo>
                          <a:pt x="237" y="432"/>
                        </a:lnTo>
                        <a:cubicBezTo>
                          <a:pt x="237" y="432"/>
                          <a:pt x="245" y="413"/>
                          <a:pt x="245" y="413"/>
                        </a:cubicBezTo>
                        <a:cubicBezTo>
                          <a:pt x="247" y="409"/>
                          <a:pt x="250" y="401"/>
                          <a:pt x="250" y="401"/>
                        </a:cubicBezTo>
                        <a:cubicBezTo>
                          <a:pt x="249" y="399"/>
                          <a:pt x="247" y="397"/>
                          <a:pt x="247" y="394"/>
                        </a:cubicBezTo>
                        <a:cubicBezTo>
                          <a:pt x="248" y="390"/>
                          <a:pt x="253" y="382"/>
                          <a:pt x="253" y="382"/>
                        </a:cubicBezTo>
                        <a:cubicBezTo>
                          <a:pt x="243" y="370"/>
                          <a:pt x="237" y="371"/>
                          <a:pt x="220" y="375"/>
                        </a:cubicBezTo>
                        <a:cubicBezTo>
                          <a:pt x="217" y="371"/>
                          <a:pt x="210" y="369"/>
                          <a:pt x="207" y="365"/>
                        </a:cubicBezTo>
                        <a:cubicBezTo>
                          <a:pt x="185" y="337"/>
                          <a:pt x="216" y="363"/>
                          <a:pt x="194" y="346"/>
                        </a:cubicBezTo>
                        <a:cubicBezTo>
                          <a:pt x="167" y="349"/>
                          <a:pt x="179" y="346"/>
                          <a:pt x="156" y="352"/>
                        </a:cubicBezTo>
                        <a:cubicBezTo>
                          <a:pt x="153" y="353"/>
                          <a:pt x="148" y="354"/>
                          <a:pt x="148" y="354"/>
                        </a:cubicBezTo>
                        <a:cubicBezTo>
                          <a:pt x="146" y="356"/>
                          <a:pt x="145" y="359"/>
                          <a:pt x="142" y="361"/>
                        </a:cubicBezTo>
                        <a:cubicBezTo>
                          <a:pt x="138" y="363"/>
                          <a:pt x="126" y="365"/>
                          <a:pt x="126" y="365"/>
                        </a:cubicBezTo>
                        <a:cubicBezTo>
                          <a:pt x="105" y="354"/>
                          <a:pt x="116" y="355"/>
                          <a:pt x="94" y="361"/>
                        </a:cubicBezTo>
                        <a:cubicBezTo>
                          <a:pt x="89" y="362"/>
                          <a:pt x="78" y="365"/>
                          <a:pt x="78" y="365"/>
                        </a:cubicBezTo>
                        <a:cubicBezTo>
                          <a:pt x="62" y="383"/>
                          <a:pt x="46" y="346"/>
                          <a:pt x="35" y="337"/>
                        </a:cubicBezTo>
                        <a:cubicBezTo>
                          <a:pt x="32" y="330"/>
                          <a:pt x="24" y="320"/>
                          <a:pt x="22" y="312"/>
                        </a:cubicBezTo>
                        <a:cubicBezTo>
                          <a:pt x="20" y="308"/>
                          <a:pt x="22" y="303"/>
                          <a:pt x="19" y="300"/>
                        </a:cubicBezTo>
                        <a:cubicBezTo>
                          <a:pt x="17" y="297"/>
                          <a:pt x="13" y="297"/>
                          <a:pt x="11" y="295"/>
                        </a:cubicBezTo>
                        <a:cubicBezTo>
                          <a:pt x="3" y="277"/>
                          <a:pt x="15" y="306"/>
                          <a:pt x="5" y="276"/>
                        </a:cubicBezTo>
                        <a:cubicBezTo>
                          <a:pt x="4" y="272"/>
                          <a:pt x="0" y="264"/>
                          <a:pt x="0" y="264"/>
                        </a:cubicBezTo>
                        <a:cubicBezTo>
                          <a:pt x="3" y="253"/>
                          <a:pt x="2" y="248"/>
                          <a:pt x="13" y="243"/>
                        </a:cubicBezTo>
                        <a:cubicBezTo>
                          <a:pt x="20" y="221"/>
                          <a:pt x="17" y="231"/>
                          <a:pt x="24" y="213"/>
                        </a:cubicBezTo>
                        <a:cubicBezTo>
                          <a:pt x="26" y="209"/>
                          <a:pt x="30" y="200"/>
                          <a:pt x="30" y="200"/>
                        </a:cubicBezTo>
                        <a:cubicBezTo>
                          <a:pt x="26" y="192"/>
                          <a:pt x="24" y="191"/>
                          <a:pt x="32" y="181"/>
                        </a:cubicBezTo>
                        <a:cubicBezTo>
                          <a:pt x="36" y="177"/>
                          <a:pt x="43" y="169"/>
                          <a:pt x="43" y="169"/>
                        </a:cubicBezTo>
                        <a:cubicBezTo>
                          <a:pt x="37" y="155"/>
                          <a:pt x="36" y="153"/>
                          <a:pt x="51" y="143"/>
                        </a:cubicBezTo>
                        <a:cubicBezTo>
                          <a:pt x="56" y="140"/>
                          <a:pt x="67" y="135"/>
                          <a:pt x="67" y="135"/>
                        </a:cubicBezTo>
                        <a:cubicBezTo>
                          <a:pt x="73" y="129"/>
                          <a:pt x="75" y="122"/>
                          <a:pt x="81" y="116"/>
                        </a:cubicBezTo>
                        <a:cubicBezTo>
                          <a:pt x="89" y="107"/>
                          <a:pt x="102" y="105"/>
                          <a:pt x="113" y="99"/>
                        </a:cubicBezTo>
                        <a:cubicBezTo>
                          <a:pt x="125" y="85"/>
                          <a:pt x="149" y="76"/>
                          <a:pt x="167" y="67"/>
                        </a:cubicBezTo>
                        <a:cubicBezTo>
                          <a:pt x="174" y="59"/>
                          <a:pt x="175" y="50"/>
                          <a:pt x="188" y="46"/>
                        </a:cubicBezTo>
                        <a:cubicBezTo>
                          <a:pt x="198" y="39"/>
                          <a:pt x="208" y="36"/>
                          <a:pt x="220" y="30"/>
                        </a:cubicBezTo>
                        <a:cubicBezTo>
                          <a:pt x="223" y="28"/>
                          <a:pt x="228" y="25"/>
                          <a:pt x="228" y="25"/>
                        </a:cubicBezTo>
                        <a:cubicBezTo>
                          <a:pt x="237" y="16"/>
                          <a:pt x="245" y="10"/>
                          <a:pt x="258" y="6"/>
                        </a:cubicBezTo>
                        <a:cubicBezTo>
                          <a:pt x="269" y="31"/>
                          <a:pt x="301" y="6"/>
                          <a:pt x="320" y="4"/>
                        </a:cubicBezTo>
                        <a:cubicBezTo>
                          <a:pt x="334" y="3"/>
                          <a:pt x="349" y="3"/>
                          <a:pt x="363" y="2"/>
                        </a:cubicBezTo>
                        <a:cubicBezTo>
                          <a:pt x="369" y="3"/>
                          <a:pt x="376" y="5"/>
                          <a:pt x="382" y="4"/>
                        </a:cubicBezTo>
                        <a:cubicBezTo>
                          <a:pt x="387" y="4"/>
                          <a:pt x="398" y="0"/>
                          <a:pt x="398" y="0"/>
                        </a:cubicBezTo>
                        <a:cubicBezTo>
                          <a:pt x="415" y="8"/>
                          <a:pt x="406" y="16"/>
                          <a:pt x="400" y="30"/>
                        </a:cubicBezTo>
                        <a:cubicBezTo>
                          <a:pt x="398" y="34"/>
                          <a:pt x="384" y="34"/>
                          <a:pt x="384" y="34"/>
                        </a:cubicBezTo>
                        <a:cubicBezTo>
                          <a:pt x="379" y="47"/>
                          <a:pt x="398" y="51"/>
                          <a:pt x="411" y="55"/>
                        </a:cubicBezTo>
                        <a:cubicBezTo>
                          <a:pt x="419" y="72"/>
                          <a:pt x="421" y="79"/>
                          <a:pt x="443" y="84"/>
                        </a:cubicBezTo>
                        <a:cubicBezTo>
                          <a:pt x="461" y="71"/>
                          <a:pt x="435" y="65"/>
                          <a:pt x="468" y="57"/>
                        </a:cubicBezTo>
                        <a:cubicBezTo>
                          <a:pt x="482" y="61"/>
                          <a:pt x="485" y="70"/>
                          <a:pt x="497" y="74"/>
                        </a:cubicBezTo>
                        <a:cubicBezTo>
                          <a:pt x="505" y="76"/>
                          <a:pt x="513" y="78"/>
                          <a:pt x="521" y="80"/>
                        </a:cubicBezTo>
                        <a:cubicBezTo>
                          <a:pt x="524" y="81"/>
                          <a:pt x="529" y="82"/>
                          <a:pt x="529" y="82"/>
                        </a:cubicBezTo>
                        <a:cubicBezTo>
                          <a:pt x="547" y="78"/>
                          <a:pt x="547" y="76"/>
                          <a:pt x="562" y="84"/>
                        </a:cubicBezTo>
                        <a:cubicBezTo>
                          <a:pt x="566" y="95"/>
                          <a:pt x="565" y="86"/>
                          <a:pt x="559" y="97"/>
                        </a:cubicBezTo>
                        <a:cubicBezTo>
                          <a:pt x="557" y="101"/>
                          <a:pt x="554" y="110"/>
                          <a:pt x="554" y="110"/>
                        </a:cubicBezTo>
                        <a:cubicBezTo>
                          <a:pt x="556" y="132"/>
                          <a:pt x="556" y="168"/>
                          <a:pt x="572" y="188"/>
                        </a:cubicBezTo>
                        <a:cubicBezTo>
                          <a:pt x="568" y="198"/>
                          <a:pt x="564" y="208"/>
                          <a:pt x="562" y="219"/>
                        </a:cubicBezTo>
                        <a:cubicBezTo>
                          <a:pt x="564" y="227"/>
                          <a:pt x="569" y="233"/>
                          <a:pt x="572" y="240"/>
                        </a:cubicBezTo>
                        <a:cubicBezTo>
                          <a:pt x="573" y="247"/>
                          <a:pt x="572" y="254"/>
                          <a:pt x="575" y="259"/>
                        </a:cubicBezTo>
                        <a:cubicBezTo>
                          <a:pt x="577" y="263"/>
                          <a:pt x="595" y="272"/>
                          <a:pt x="599" y="283"/>
                        </a:cubicBezTo>
                        <a:cubicBezTo>
                          <a:pt x="594" y="295"/>
                          <a:pt x="603" y="306"/>
                          <a:pt x="618" y="310"/>
                        </a:cubicBezTo>
                        <a:cubicBezTo>
                          <a:pt x="630" y="307"/>
                          <a:pt x="638" y="308"/>
                          <a:pt x="645" y="300"/>
                        </a:cubicBezTo>
                        <a:cubicBezTo>
                          <a:pt x="660" y="302"/>
                          <a:pt x="663" y="303"/>
                          <a:pt x="672" y="293"/>
                        </a:cubicBezTo>
                        <a:cubicBezTo>
                          <a:pt x="675" y="294"/>
                          <a:pt x="679" y="293"/>
                          <a:pt x="680" y="295"/>
                        </a:cubicBezTo>
                        <a:cubicBezTo>
                          <a:pt x="682" y="301"/>
                          <a:pt x="674" y="321"/>
                          <a:pt x="672" y="327"/>
                        </a:cubicBezTo>
                        <a:cubicBezTo>
                          <a:pt x="668" y="340"/>
                          <a:pt x="671" y="326"/>
                          <a:pt x="664" y="340"/>
                        </a:cubicBezTo>
                        <a:cubicBezTo>
                          <a:pt x="652" y="360"/>
                          <a:pt x="646" y="381"/>
                          <a:pt x="621" y="394"/>
                        </a:cubicBezTo>
                        <a:cubicBezTo>
                          <a:pt x="614" y="402"/>
                          <a:pt x="609" y="402"/>
                          <a:pt x="599" y="407"/>
                        </a:cubicBezTo>
                        <a:cubicBezTo>
                          <a:pt x="590" y="418"/>
                          <a:pt x="579" y="429"/>
                          <a:pt x="567" y="439"/>
                        </a:cubicBezTo>
                        <a:cubicBezTo>
                          <a:pt x="560" y="454"/>
                          <a:pt x="555" y="470"/>
                          <a:pt x="548" y="485"/>
                        </a:cubicBezTo>
                        <a:cubicBezTo>
                          <a:pt x="549" y="489"/>
                          <a:pt x="550" y="492"/>
                          <a:pt x="551" y="496"/>
                        </a:cubicBezTo>
                        <a:cubicBezTo>
                          <a:pt x="552" y="500"/>
                          <a:pt x="556" y="508"/>
                          <a:pt x="556" y="508"/>
                        </a:cubicBezTo>
                        <a:cubicBezTo>
                          <a:pt x="559" y="524"/>
                          <a:pt x="562" y="546"/>
                          <a:pt x="576" y="557"/>
                        </a:cubicBezTo>
                        <a:lnTo>
                          <a:pt x="435" y="55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3" name="Freeform 57"/>
                  <p:cNvSpPr>
                    <a:spLocks/>
                  </p:cNvSpPr>
                  <p:nvPr/>
                </p:nvSpPr>
                <p:spPr bwMode="ltGray">
                  <a:xfrm>
                    <a:off x="1189" y="447"/>
                    <a:ext cx="163" cy="221"/>
                  </a:xfrm>
                  <a:custGeom>
                    <a:avLst/>
                    <a:gdLst>
                      <a:gd name="T0" fmla="*/ 243 w 257"/>
                      <a:gd name="T1" fmla="*/ 347 h 347"/>
                      <a:gd name="T2" fmla="*/ 233 w 257"/>
                      <a:gd name="T3" fmla="*/ 301 h 347"/>
                      <a:gd name="T4" fmla="*/ 217 w 257"/>
                      <a:gd name="T5" fmla="*/ 288 h 347"/>
                      <a:gd name="T6" fmla="*/ 215 w 257"/>
                      <a:gd name="T7" fmla="*/ 269 h 347"/>
                      <a:gd name="T8" fmla="*/ 209 w 257"/>
                      <a:gd name="T9" fmla="*/ 254 h 347"/>
                      <a:gd name="T10" fmla="*/ 209 w 257"/>
                      <a:gd name="T11" fmla="*/ 229 h 347"/>
                      <a:gd name="T12" fmla="*/ 207 w 257"/>
                      <a:gd name="T13" fmla="*/ 214 h 347"/>
                      <a:gd name="T14" fmla="*/ 228 w 257"/>
                      <a:gd name="T15" fmla="*/ 202 h 347"/>
                      <a:gd name="T16" fmla="*/ 257 w 257"/>
                      <a:gd name="T17" fmla="*/ 197 h 347"/>
                      <a:gd name="T18" fmla="*/ 257 w 257"/>
                      <a:gd name="T19" fmla="*/ 136 h 347"/>
                      <a:gd name="T20" fmla="*/ 54 w 257"/>
                      <a:gd name="T21" fmla="*/ 96 h 347"/>
                      <a:gd name="T22" fmla="*/ 32 w 257"/>
                      <a:gd name="T23" fmla="*/ 98 h 347"/>
                      <a:gd name="T24" fmla="*/ 16 w 257"/>
                      <a:gd name="T25" fmla="*/ 102 h 347"/>
                      <a:gd name="T26" fmla="*/ 0 w 257"/>
                      <a:gd name="T27" fmla="*/ 149 h 347"/>
                      <a:gd name="T28" fmla="*/ 93 w 257"/>
                      <a:gd name="T29" fmla="*/ 346 h 347"/>
                      <a:gd name="T30" fmla="*/ 243 w 257"/>
                      <a:gd name="T31" fmla="*/ 347 h 347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0" t="0" r="r" b="b"/>
                    <a:pathLst>
                      <a:path w="257" h="347">
                        <a:moveTo>
                          <a:pt x="243" y="347"/>
                        </a:moveTo>
                        <a:lnTo>
                          <a:pt x="233" y="301"/>
                        </a:lnTo>
                        <a:lnTo>
                          <a:pt x="217" y="288"/>
                        </a:lnTo>
                        <a:lnTo>
                          <a:pt x="215" y="269"/>
                        </a:lnTo>
                        <a:lnTo>
                          <a:pt x="209" y="254"/>
                        </a:lnTo>
                        <a:lnTo>
                          <a:pt x="209" y="229"/>
                        </a:lnTo>
                        <a:lnTo>
                          <a:pt x="207" y="214"/>
                        </a:lnTo>
                        <a:lnTo>
                          <a:pt x="228" y="202"/>
                        </a:lnTo>
                        <a:lnTo>
                          <a:pt x="257" y="197"/>
                        </a:lnTo>
                        <a:lnTo>
                          <a:pt x="257" y="136"/>
                        </a:lnTo>
                        <a:cubicBezTo>
                          <a:pt x="209" y="119"/>
                          <a:pt x="13" y="0"/>
                          <a:pt x="54" y="96"/>
                        </a:cubicBezTo>
                        <a:cubicBezTo>
                          <a:pt x="36" y="106"/>
                          <a:pt x="57" y="97"/>
                          <a:pt x="32" y="98"/>
                        </a:cubicBezTo>
                        <a:cubicBezTo>
                          <a:pt x="27" y="99"/>
                          <a:pt x="16" y="102"/>
                          <a:pt x="16" y="102"/>
                        </a:cubicBezTo>
                        <a:lnTo>
                          <a:pt x="0" y="149"/>
                        </a:lnTo>
                        <a:lnTo>
                          <a:pt x="93" y="346"/>
                        </a:lnTo>
                        <a:lnTo>
                          <a:pt x="243" y="347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4" name="Freeform 58"/>
                  <p:cNvSpPr>
                    <a:spLocks/>
                  </p:cNvSpPr>
                  <p:nvPr/>
                </p:nvSpPr>
                <p:spPr bwMode="ltGray">
                  <a:xfrm>
                    <a:off x="1476" y="611"/>
                    <a:ext cx="7" cy="12"/>
                  </a:xfrm>
                  <a:custGeom>
                    <a:avLst/>
                    <a:gdLst>
                      <a:gd name="T0" fmla="*/ 7 w 19"/>
                      <a:gd name="T1" fmla="*/ 25 h 37"/>
                      <a:gd name="T2" fmla="*/ 19 w 19"/>
                      <a:gd name="T3" fmla="*/ 21 h 37"/>
                      <a:gd name="T4" fmla="*/ 7 w 19"/>
                      <a:gd name="T5" fmla="*/ 25 h 37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9" h="37">
                        <a:moveTo>
                          <a:pt x="7" y="25"/>
                        </a:moveTo>
                        <a:cubicBezTo>
                          <a:pt x="0" y="4"/>
                          <a:pt x="12" y="0"/>
                          <a:pt x="19" y="21"/>
                        </a:cubicBezTo>
                        <a:cubicBezTo>
                          <a:pt x="14" y="37"/>
                          <a:pt x="18" y="36"/>
                          <a:pt x="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5" name="Freeform 59"/>
                  <p:cNvSpPr>
                    <a:spLocks/>
                  </p:cNvSpPr>
                  <p:nvPr/>
                </p:nvSpPr>
                <p:spPr bwMode="ltGray">
                  <a:xfrm>
                    <a:off x="1467" y="497"/>
                    <a:ext cx="9" cy="7"/>
                  </a:xfrm>
                  <a:custGeom>
                    <a:avLst/>
                    <a:gdLst>
                      <a:gd name="T0" fmla="*/ 12 w 22"/>
                      <a:gd name="T1" fmla="*/ 12 h 20"/>
                      <a:gd name="T2" fmla="*/ 16 w 22"/>
                      <a:gd name="T3" fmla="*/ 0 h 20"/>
                      <a:gd name="T4" fmla="*/ 20 w 22"/>
                      <a:gd name="T5" fmla="*/ 12 h 20"/>
                      <a:gd name="T6" fmla="*/ 8 w 22"/>
                      <a:gd name="T7" fmla="*/ 20 h 20"/>
                      <a:gd name="T8" fmla="*/ 12 w 22"/>
                      <a:gd name="T9" fmla="*/ 12 h 2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2" h="20">
                        <a:moveTo>
                          <a:pt x="12" y="12"/>
                        </a:moveTo>
                        <a:cubicBezTo>
                          <a:pt x="13" y="8"/>
                          <a:pt x="12" y="0"/>
                          <a:pt x="16" y="0"/>
                        </a:cubicBezTo>
                        <a:cubicBezTo>
                          <a:pt x="20" y="0"/>
                          <a:pt x="22" y="8"/>
                          <a:pt x="20" y="12"/>
                        </a:cubicBezTo>
                        <a:cubicBezTo>
                          <a:pt x="18" y="16"/>
                          <a:pt x="12" y="17"/>
                          <a:pt x="8" y="20"/>
                        </a:cubicBezTo>
                        <a:cubicBezTo>
                          <a:pt x="3" y="5"/>
                          <a:pt x="0" y="6"/>
                          <a:pt x="12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6" name="Freeform 60"/>
                  <p:cNvSpPr>
                    <a:spLocks/>
                  </p:cNvSpPr>
                  <p:nvPr/>
                </p:nvSpPr>
                <p:spPr bwMode="ltGray">
                  <a:xfrm>
                    <a:off x="1072" y="357"/>
                    <a:ext cx="25" cy="10"/>
                  </a:xfrm>
                  <a:custGeom>
                    <a:avLst/>
                    <a:gdLst>
                      <a:gd name="T0" fmla="*/ 24 w 57"/>
                      <a:gd name="T1" fmla="*/ 18 h 30"/>
                      <a:gd name="T2" fmla="*/ 32 w 57"/>
                      <a:gd name="T3" fmla="*/ 6 h 30"/>
                      <a:gd name="T4" fmla="*/ 36 w 57"/>
                      <a:gd name="T5" fmla="*/ 30 h 30"/>
                      <a:gd name="T6" fmla="*/ 24 w 57"/>
                      <a:gd name="T7" fmla="*/ 18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57" h="30">
                        <a:moveTo>
                          <a:pt x="24" y="18"/>
                        </a:moveTo>
                        <a:cubicBezTo>
                          <a:pt x="0" y="10"/>
                          <a:pt x="9" y="0"/>
                          <a:pt x="32" y="6"/>
                        </a:cubicBezTo>
                        <a:cubicBezTo>
                          <a:pt x="46" y="15"/>
                          <a:pt x="57" y="23"/>
                          <a:pt x="36" y="30"/>
                        </a:cubicBezTo>
                        <a:cubicBezTo>
                          <a:pt x="21" y="25"/>
                          <a:pt x="24" y="30"/>
                          <a:pt x="24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7" name="Freeform 61"/>
                  <p:cNvSpPr>
                    <a:spLocks/>
                  </p:cNvSpPr>
                  <p:nvPr/>
                </p:nvSpPr>
                <p:spPr bwMode="ltGray">
                  <a:xfrm>
                    <a:off x="1374" y="265"/>
                    <a:ext cx="295" cy="233"/>
                  </a:xfrm>
                  <a:custGeom>
                    <a:avLst/>
                    <a:gdLst>
                      <a:gd name="T0" fmla="*/ 473 w 693"/>
                      <a:gd name="T1" fmla="*/ 464 h 696"/>
                      <a:gd name="T2" fmla="*/ 393 w 693"/>
                      <a:gd name="T3" fmla="*/ 452 h 696"/>
                      <a:gd name="T4" fmla="*/ 325 w 693"/>
                      <a:gd name="T5" fmla="*/ 412 h 696"/>
                      <a:gd name="T6" fmla="*/ 265 w 693"/>
                      <a:gd name="T7" fmla="*/ 400 h 696"/>
                      <a:gd name="T8" fmla="*/ 237 w 693"/>
                      <a:gd name="T9" fmla="*/ 416 h 696"/>
                      <a:gd name="T10" fmla="*/ 261 w 693"/>
                      <a:gd name="T11" fmla="*/ 428 h 696"/>
                      <a:gd name="T12" fmla="*/ 293 w 693"/>
                      <a:gd name="T13" fmla="*/ 468 h 696"/>
                      <a:gd name="T14" fmla="*/ 321 w 693"/>
                      <a:gd name="T15" fmla="*/ 476 h 696"/>
                      <a:gd name="T16" fmla="*/ 333 w 693"/>
                      <a:gd name="T17" fmla="*/ 536 h 696"/>
                      <a:gd name="T18" fmla="*/ 313 w 693"/>
                      <a:gd name="T19" fmla="*/ 552 h 696"/>
                      <a:gd name="T20" fmla="*/ 261 w 693"/>
                      <a:gd name="T21" fmla="*/ 616 h 696"/>
                      <a:gd name="T22" fmla="*/ 225 w 693"/>
                      <a:gd name="T23" fmla="*/ 628 h 696"/>
                      <a:gd name="T24" fmla="*/ 97 w 693"/>
                      <a:gd name="T25" fmla="*/ 696 h 696"/>
                      <a:gd name="T26" fmla="*/ 77 w 693"/>
                      <a:gd name="T27" fmla="*/ 616 h 696"/>
                      <a:gd name="T28" fmla="*/ 45 w 693"/>
                      <a:gd name="T29" fmla="*/ 524 h 696"/>
                      <a:gd name="T30" fmla="*/ 33 w 693"/>
                      <a:gd name="T31" fmla="*/ 448 h 696"/>
                      <a:gd name="T32" fmla="*/ 53 w 693"/>
                      <a:gd name="T33" fmla="*/ 344 h 696"/>
                      <a:gd name="T34" fmla="*/ 17 w 693"/>
                      <a:gd name="T35" fmla="*/ 392 h 696"/>
                      <a:gd name="T36" fmla="*/ 81 w 693"/>
                      <a:gd name="T37" fmla="*/ 280 h 696"/>
                      <a:gd name="T38" fmla="*/ 113 w 693"/>
                      <a:gd name="T39" fmla="*/ 204 h 696"/>
                      <a:gd name="T40" fmla="*/ 37 w 693"/>
                      <a:gd name="T41" fmla="*/ 204 h 696"/>
                      <a:gd name="T42" fmla="*/ 1 w 693"/>
                      <a:gd name="T43" fmla="*/ 196 h 696"/>
                      <a:gd name="T44" fmla="*/ 25 w 693"/>
                      <a:gd name="T45" fmla="*/ 140 h 696"/>
                      <a:gd name="T46" fmla="*/ 97 w 693"/>
                      <a:gd name="T47" fmla="*/ 112 h 696"/>
                      <a:gd name="T48" fmla="*/ 221 w 693"/>
                      <a:gd name="T49" fmla="*/ 124 h 696"/>
                      <a:gd name="T50" fmla="*/ 229 w 693"/>
                      <a:gd name="T51" fmla="*/ 64 h 696"/>
                      <a:gd name="T52" fmla="*/ 261 w 693"/>
                      <a:gd name="T53" fmla="*/ 0 h 696"/>
                      <a:gd name="T54" fmla="*/ 357 w 693"/>
                      <a:gd name="T55" fmla="*/ 44 h 696"/>
                      <a:gd name="T56" fmla="*/ 329 w 693"/>
                      <a:gd name="T57" fmla="*/ 88 h 696"/>
                      <a:gd name="T58" fmla="*/ 301 w 693"/>
                      <a:gd name="T59" fmla="*/ 176 h 696"/>
                      <a:gd name="T60" fmla="*/ 361 w 693"/>
                      <a:gd name="T61" fmla="*/ 192 h 696"/>
                      <a:gd name="T62" fmla="*/ 373 w 693"/>
                      <a:gd name="T63" fmla="*/ 136 h 696"/>
                      <a:gd name="T64" fmla="*/ 417 w 693"/>
                      <a:gd name="T65" fmla="*/ 92 h 696"/>
                      <a:gd name="T66" fmla="*/ 497 w 693"/>
                      <a:gd name="T67" fmla="*/ 88 h 696"/>
                      <a:gd name="T68" fmla="*/ 529 w 693"/>
                      <a:gd name="T69" fmla="*/ 52 h 696"/>
                      <a:gd name="T70" fmla="*/ 541 w 693"/>
                      <a:gd name="T71" fmla="*/ 460 h 69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0" t="0" r="r" b="b"/>
                    <a:pathLst>
                      <a:path w="693" h="696">
                        <a:moveTo>
                          <a:pt x="541" y="460"/>
                        </a:moveTo>
                        <a:lnTo>
                          <a:pt x="473" y="464"/>
                        </a:lnTo>
                        <a:lnTo>
                          <a:pt x="441" y="452"/>
                        </a:lnTo>
                        <a:lnTo>
                          <a:pt x="393" y="452"/>
                        </a:lnTo>
                        <a:cubicBezTo>
                          <a:pt x="365" y="448"/>
                          <a:pt x="360" y="444"/>
                          <a:pt x="337" y="436"/>
                        </a:cubicBezTo>
                        <a:cubicBezTo>
                          <a:pt x="336" y="432"/>
                          <a:pt x="330" y="413"/>
                          <a:pt x="325" y="412"/>
                        </a:cubicBezTo>
                        <a:cubicBezTo>
                          <a:pt x="317" y="411"/>
                          <a:pt x="301" y="420"/>
                          <a:pt x="301" y="420"/>
                        </a:cubicBezTo>
                        <a:cubicBezTo>
                          <a:pt x="289" y="412"/>
                          <a:pt x="277" y="408"/>
                          <a:pt x="265" y="400"/>
                        </a:cubicBezTo>
                        <a:cubicBezTo>
                          <a:pt x="252" y="380"/>
                          <a:pt x="256" y="356"/>
                          <a:pt x="233" y="348"/>
                        </a:cubicBezTo>
                        <a:cubicBezTo>
                          <a:pt x="217" y="372"/>
                          <a:pt x="221" y="392"/>
                          <a:pt x="237" y="416"/>
                        </a:cubicBezTo>
                        <a:cubicBezTo>
                          <a:pt x="234" y="428"/>
                          <a:pt x="228" y="445"/>
                          <a:pt x="237" y="444"/>
                        </a:cubicBezTo>
                        <a:cubicBezTo>
                          <a:pt x="247" y="443"/>
                          <a:pt x="261" y="428"/>
                          <a:pt x="261" y="428"/>
                        </a:cubicBezTo>
                        <a:cubicBezTo>
                          <a:pt x="258" y="450"/>
                          <a:pt x="243" y="475"/>
                          <a:pt x="269" y="484"/>
                        </a:cubicBezTo>
                        <a:cubicBezTo>
                          <a:pt x="277" y="479"/>
                          <a:pt x="288" y="476"/>
                          <a:pt x="293" y="468"/>
                        </a:cubicBezTo>
                        <a:cubicBezTo>
                          <a:pt x="302" y="454"/>
                          <a:pt x="303" y="446"/>
                          <a:pt x="317" y="436"/>
                        </a:cubicBezTo>
                        <a:cubicBezTo>
                          <a:pt x="315" y="448"/>
                          <a:pt x="306" y="467"/>
                          <a:pt x="321" y="476"/>
                        </a:cubicBezTo>
                        <a:cubicBezTo>
                          <a:pt x="328" y="480"/>
                          <a:pt x="345" y="484"/>
                          <a:pt x="345" y="484"/>
                        </a:cubicBezTo>
                        <a:cubicBezTo>
                          <a:pt x="382" y="472"/>
                          <a:pt x="347" y="527"/>
                          <a:pt x="333" y="536"/>
                        </a:cubicBezTo>
                        <a:cubicBezTo>
                          <a:pt x="330" y="540"/>
                          <a:pt x="329" y="545"/>
                          <a:pt x="325" y="548"/>
                        </a:cubicBezTo>
                        <a:cubicBezTo>
                          <a:pt x="322" y="551"/>
                          <a:pt x="316" y="549"/>
                          <a:pt x="313" y="552"/>
                        </a:cubicBezTo>
                        <a:cubicBezTo>
                          <a:pt x="300" y="565"/>
                          <a:pt x="320" y="575"/>
                          <a:pt x="293" y="584"/>
                        </a:cubicBezTo>
                        <a:cubicBezTo>
                          <a:pt x="286" y="595"/>
                          <a:pt x="272" y="610"/>
                          <a:pt x="261" y="616"/>
                        </a:cubicBezTo>
                        <a:cubicBezTo>
                          <a:pt x="254" y="620"/>
                          <a:pt x="245" y="621"/>
                          <a:pt x="237" y="624"/>
                        </a:cubicBezTo>
                        <a:cubicBezTo>
                          <a:pt x="233" y="625"/>
                          <a:pt x="225" y="628"/>
                          <a:pt x="225" y="628"/>
                        </a:cubicBezTo>
                        <a:cubicBezTo>
                          <a:pt x="215" y="659"/>
                          <a:pt x="212" y="652"/>
                          <a:pt x="173" y="656"/>
                        </a:cubicBezTo>
                        <a:cubicBezTo>
                          <a:pt x="140" y="667"/>
                          <a:pt x="132" y="687"/>
                          <a:pt x="97" y="696"/>
                        </a:cubicBezTo>
                        <a:cubicBezTo>
                          <a:pt x="77" y="691"/>
                          <a:pt x="75" y="687"/>
                          <a:pt x="81" y="668"/>
                        </a:cubicBezTo>
                        <a:cubicBezTo>
                          <a:pt x="77" y="646"/>
                          <a:pt x="72" y="639"/>
                          <a:pt x="77" y="616"/>
                        </a:cubicBezTo>
                        <a:cubicBezTo>
                          <a:pt x="73" y="598"/>
                          <a:pt x="71" y="587"/>
                          <a:pt x="61" y="572"/>
                        </a:cubicBezTo>
                        <a:cubicBezTo>
                          <a:pt x="58" y="551"/>
                          <a:pt x="51" y="543"/>
                          <a:pt x="45" y="524"/>
                        </a:cubicBezTo>
                        <a:cubicBezTo>
                          <a:pt x="52" y="502"/>
                          <a:pt x="58" y="496"/>
                          <a:pt x="49" y="472"/>
                        </a:cubicBezTo>
                        <a:cubicBezTo>
                          <a:pt x="46" y="463"/>
                          <a:pt x="33" y="448"/>
                          <a:pt x="33" y="448"/>
                        </a:cubicBezTo>
                        <a:cubicBezTo>
                          <a:pt x="42" y="422"/>
                          <a:pt x="42" y="408"/>
                          <a:pt x="33" y="380"/>
                        </a:cubicBezTo>
                        <a:cubicBezTo>
                          <a:pt x="49" y="369"/>
                          <a:pt x="48" y="362"/>
                          <a:pt x="53" y="344"/>
                        </a:cubicBezTo>
                        <a:cubicBezTo>
                          <a:pt x="47" y="327"/>
                          <a:pt x="49" y="308"/>
                          <a:pt x="33" y="332"/>
                        </a:cubicBezTo>
                        <a:cubicBezTo>
                          <a:pt x="40" y="353"/>
                          <a:pt x="29" y="374"/>
                          <a:pt x="17" y="392"/>
                        </a:cubicBezTo>
                        <a:cubicBezTo>
                          <a:pt x="6" y="360"/>
                          <a:pt x="10" y="340"/>
                          <a:pt x="13" y="304"/>
                        </a:cubicBezTo>
                        <a:cubicBezTo>
                          <a:pt x="44" y="314"/>
                          <a:pt x="54" y="289"/>
                          <a:pt x="81" y="280"/>
                        </a:cubicBezTo>
                        <a:cubicBezTo>
                          <a:pt x="94" y="261"/>
                          <a:pt x="85" y="242"/>
                          <a:pt x="105" y="228"/>
                        </a:cubicBezTo>
                        <a:cubicBezTo>
                          <a:pt x="108" y="220"/>
                          <a:pt x="110" y="212"/>
                          <a:pt x="113" y="204"/>
                        </a:cubicBezTo>
                        <a:cubicBezTo>
                          <a:pt x="116" y="196"/>
                          <a:pt x="89" y="196"/>
                          <a:pt x="89" y="196"/>
                        </a:cubicBezTo>
                        <a:cubicBezTo>
                          <a:pt x="81" y="221"/>
                          <a:pt x="58" y="211"/>
                          <a:pt x="37" y="204"/>
                        </a:cubicBezTo>
                        <a:cubicBezTo>
                          <a:pt x="33" y="207"/>
                          <a:pt x="30" y="213"/>
                          <a:pt x="25" y="212"/>
                        </a:cubicBezTo>
                        <a:cubicBezTo>
                          <a:pt x="16" y="210"/>
                          <a:pt x="1" y="196"/>
                          <a:pt x="1" y="196"/>
                        </a:cubicBezTo>
                        <a:cubicBezTo>
                          <a:pt x="4" y="186"/>
                          <a:pt x="4" y="174"/>
                          <a:pt x="9" y="164"/>
                        </a:cubicBezTo>
                        <a:cubicBezTo>
                          <a:pt x="13" y="155"/>
                          <a:pt x="25" y="140"/>
                          <a:pt x="25" y="140"/>
                        </a:cubicBezTo>
                        <a:cubicBezTo>
                          <a:pt x="0" y="132"/>
                          <a:pt x="25" y="128"/>
                          <a:pt x="37" y="124"/>
                        </a:cubicBezTo>
                        <a:cubicBezTo>
                          <a:pt x="58" y="131"/>
                          <a:pt x="75" y="116"/>
                          <a:pt x="97" y="112"/>
                        </a:cubicBezTo>
                        <a:cubicBezTo>
                          <a:pt x="135" y="87"/>
                          <a:pt x="159" y="122"/>
                          <a:pt x="197" y="132"/>
                        </a:cubicBezTo>
                        <a:cubicBezTo>
                          <a:pt x="205" y="129"/>
                          <a:pt x="213" y="127"/>
                          <a:pt x="221" y="124"/>
                        </a:cubicBezTo>
                        <a:cubicBezTo>
                          <a:pt x="225" y="123"/>
                          <a:pt x="226" y="147"/>
                          <a:pt x="233" y="120"/>
                        </a:cubicBezTo>
                        <a:lnTo>
                          <a:pt x="229" y="64"/>
                        </a:lnTo>
                        <a:lnTo>
                          <a:pt x="209" y="40"/>
                        </a:lnTo>
                        <a:cubicBezTo>
                          <a:pt x="243" y="21"/>
                          <a:pt x="240" y="21"/>
                          <a:pt x="261" y="0"/>
                        </a:cubicBezTo>
                        <a:cubicBezTo>
                          <a:pt x="297" y="16"/>
                          <a:pt x="333" y="32"/>
                          <a:pt x="369" y="48"/>
                        </a:cubicBezTo>
                        <a:cubicBezTo>
                          <a:pt x="373" y="50"/>
                          <a:pt x="361" y="44"/>
                          <a:pt x="357" y="44"/>
                        </a:cubicBezTo>
                        <a:cubicBezTo>
                          <a:pt x="349" y="45"/>
                          <a:pt x="333" y="52"/>
                          <a:pt x="333" y="52"/>
                        </a:cubicBezTo>
                        <a:cubicBezTo>
                          <a:pt x="322" y="68"/>
                          <a:pt x="318" y="71"/>
                          <a:pt x="329" y="88"/>
                        </a:cubicBezTo>
                        <a:cubicBezTo>
                          <a:pt x="308" y="119"/>
                          <a:pt x="323" y="118"/>
                          <a:pt x="333" y="148"/>
                        </a:cubicBezTo>
                        <a:cubicBezTo>
                          <a:pt x="320" y="157"/>
                          <a:pt x="314" y="167"/>
                          <a:pt x="301" y="176"/>
                        </a:cubicBezTo>
                        <a:cubicBezTo>
                          <a:pt x="306" y="213"/>
                          <a:pt x="303" y="213"/>
                          <a:pt x="337" y="220"/>
                        </a:cubicBezTo>
                        <a:cubicBezTo>
                          <a:pt x="358" y="216"/>
                          <a:pt x="368" y="214"/>
                          <a:pt x="361" y="192"/>
                        </a:cubicBezTo>
                        <a:cubicBezTo>
                          <a:pt x="362" y="177"/>
                          <a:pt x="362" y="162"/>
                          <a:pt x="365" y="148"/>
                        </a:cubicBezTo>
                        <a:cubicBezTo>
                          <a:pt x="366" y="143"/>
                          <a:pt x="369" y="133"/>
                          <a:pt x="373" y="136"/>
                        </a:cubicBezTo>
                        <a:cubicBezTo>
                          <a:pt x="379" y="140"/>
                          <a:pt x="376" y="149"/>
                          <a:pt x="377" y="156"/>
                        </a:cubicBezTo>
                        <a:cubicBezTo>
                          <a:pt x="404" y="147"/>
                          <a:pt x="409" y="116"/>
                          <a:pt x="417" y="92"/>
                        </a:cubicBezTo>
                        <a:cubicBezTo>
                          <a:pt x="422" y="76"/>
                          <a:pt x="453" y="74"/>
                          <a:pt x="465" y="72"/>
                        </a:cubicBezTo>
                        <a:cubicBezTo>
                          <a:pt x="472" y="92"/>
                          <a:pt x="477" y="93"/>
                          <a:pt x="497" y="88"/>
                        </a:cubicBezTo>
                        <a:cubicBezTo>
                          <a:pt x="512" y="78"/>
                          <a:pt x="515" y="74"/>
                          <a:pt x="509" y="56"/>
                        </a:cubicBezTo>
                        <a:cubicBezTo>
                          <a:pt x="523" y="46"/>
                          <a:pt x="517" y="46"/>
                          <a:pt x="529" y="52"/>
                        </a:cubicBezTo>
                        <a:lnTo>
                          <a:pt x="693" y="72"/>
                        </a:lnTo>
                        <a:lnTo>
                          <a:pt x="541" y="460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8" name="Freeform 62"/>
                  <p:cNvSpPr>
                    <a:spLocks/>
                  </p:cNvSpPr>
                  <p:nvPr/>
                </p:nvSpPr>
                <p:spPr bwMode="ltGray">
                  <a:xfrm>
                    <a:off x="1173" y="247"/>
                    <a:ext cx="591" cy="95"/>
                  </a:xfrm>
                  <a:custGeom>
                    <a:avLst/>
                    <a:gdLst>
                      <a:gd name="T0" fmla="*/ 825 w 931"/>
                      <a:gd name="T1" fmla="*/ 0 h 149"/>
                      <a:gd name="T2" fmla="*/ 143 w 931"/>
                      <a:gd name="T3" fmla="*/ 29 h 149"/>
                      <a:gd name="T4" fmla="*/ 91 w 931"/>
                      <a:gd name="T5" fmla="*/ 42 h 149"/>
                      <a:gd name="T6" fmla="*/ 62 w 931"/>
                      <a:gd name="T7" fmla="*/ 42 h 149"/>
                      <a:gd name="T8" fmla="*/ 22 w 931"/>
                      <a:gd name="T9" fmla="*/ 77 h 149"/>
                      <a:gd name="T10" fmla="*/ 0 w 931"/>
                      <a:gd name="T11" fmla="*/ 105 h 149"/>
                      <a:gd name="T12" fmla="*/ 59 w 931"/>
                      <a:gd name="T13" fmla="*/ 115 h 149"/>
                      <a:gd name="T14" fmla="*/ 97 w 931"/>
                      <a:gd name="T15" fmla="*/ 96 h 149"/>
                      <a:gd name="T16" fmla="*/ 108 w 931"/>
                      <a:gd name="T17" fmla="*/ 84 h 149"/>
                      <a:gd name="T18" fmla="*/ 167 w 931"/>
                      <a:gd name="T19" fmla="*/ 52 h 149"/>
                      <a:gd name="T20" fmla="*/ 215 w 931"/>
                      <a:gd name="T21" fmla="*/ 46 h 149"/>
                      <a:gd name="T22" fmla="*/ 237 w 931"/>
                      <a:gd name="T23" fmla="*/ 94 h 149"/>
                      <a:gd name="T24" fmla="*/ 188 w 931"/>
                      <a:gd name="T25" fmla="*/ 109 h 149"/>
                      <a:gd name="T26" fmla="*/ 231 w 931"/>
                      <a:gd name="T27" fmla="*/ 113 h 149"/>
                      <a:gd name="T28" fmla="*/ 250 w 931"/>
                      <a:gd name="T29" fmla="*/ 90 h 149"/>
                      <a:gd name="T30" fmla="*/ 266 w 931"/>
                      <a:gd name="T31" fmla="*/ 92 h 149"/>
                      <a:gd name="T32" fmla="*/ 253 w 931"/>
                      <a:gd name="T33" fmla="*/ 54 h 149"/>
                      <a:gd name="T34" fmla="*/ 266 w 931"/>
                      <a:gd name="T35" fmla="*/ 44 h 149"/>
                      <a:gd name="T36" fmla="*/ 277 w 931"/>
                      <a:gd name="T37" fmla="*/ 88 h 149"/>
                      <a:gd name="T38" fmla="*/ 266 w 931"/>
                      <a:gd name="T39" fmla="*/ 113 h 149"/>
                      <a:gd name="T40" fmla="*/ 296 w 931"/>
                      <a:gd name="T41" fmla="*/ 130 h 149"/>
                      <a:gd name="T42" fmla="*/ 299 w 931"/>
                      <a:gd name="T43" fmla="*/ 92 h 149"/>
                      <a:gd name="T44" fmla="*/ 331 w 931"/>
                      <a:gd name="T45" fmla="*/ 103 h 149"/>
                      <a:gd name="T46" fmla="*/ 382 w 931"/>
                      <a:gd name="T47" fmla="*/ 73 h 149"/>
                      <a:gd name="T48" fmla="*/ 409 w 931"/>
                      <a:gd name="T49" fmla="*/ 50 h 149"/>
                      <a:gd name="T50" fmla="*/ 439 w 931"/>
                      <a:gd name="T51" fmla="*/ 56 h 149"/>
                      <a:gd name="T52" fmla="*/ 455 w 931"/>
                      <a:gd name="T53" fmla="*/ 50 h 149"/>
                      <a:gd name="T54" fmla="*/ 431 w 931"/>
                      <a:gd name="T55" fmla="*/ 44 h 149"/>
                      <a:gd name="T56" fmla="*/ 474 w 931"/>
                      <a:gd name="T57" fmla="*/ 35 h 149"/>
                      <a:gd name="T58" fmla="*/ 544 w 931"/>
                      <a:gd name="T59" fmla="*/ 54 h 149"/>
                      <a:gd name="T60" fmla="*/ 581 w 931"/>
                      <a:gd name="T61" fmla="*/ 42 h 149"/>
                      <a:gd name="T62" fmla="*/ 584 w 931"/>
                      <a:gd name="T63" fmla="*/ 63 h 149"/>
                      <a:gd name="T64" fmla="*/ 568 w 931"/>
                      <a:gd name="T65" fmla="*/ 101 h 149"/>
                      <a:gd name="T66" fmla="*/ 611 w 931"/>
                      <a:gd name="T67" fmla="*/ 88 h 149"/>
                      <a:gd name="T68" fmla="*/ 624 w 931"/>
                      <a:gd name="T69" fmla="*/ 80 h 149"/>
                      <a:gd name="T70" fmla="*/ 648 w 931"/>
                      <a:gd name="T71" fmla="*/ 61 h 149"/>
                      <a:gd name="T72" fmla="*/ 794 w 931"/>
                      <a:gd name="T73" fmla="*/ 84 h 149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0" t="0" r="r" b="b"/>
                    <a:pathLst>
                      <a:path w="931" h="149">
                        <a:moveTo>
                          <a:pt x="794" y="84"/>
                        </a:moveTo>
                        <a:cubicBezTo>
                          <a:pt x="813" y="72"/>
                          <a:pt x="931" y="14"/>
                          <a:pt x="825" y="0"/>
                        </a:cubicBezTo>
                        <a:lnTo>
                          <a:pt x="159" y="0"/>
                        </a:lnTo>
                        <a:cubicBezTo>
                          <a:pt x="149" y="12"/>
                          <a:pt x="162" y="18"/>
                          <a:pt x="143" y="29"/>
                        </a:cubicBezTo>
                        <a:cubicBezTo>
                          <a:pt x="130" y="44"/>
                          <a:pt x="133" y="39"/>
                          <a:pt x="116" y="48"/>
                        </a:cubicBezTo>
                        <a:cubicBezTo>
                          <a:pt x="108" y="46"/>
                          <a:pt x="100" y="44"/>
                          <a:pt x="91" y="42"/>
                        </a:cubicBezTo>
                        <a:cubicBezTo>
                          <a:pt x="89" y="41"/>
                          <a:pt x="83" y="40"/>
                          <a:pt x="83" y="40"/>
                        </a:cubicBezTo>
                        <a:cubicBezTo>
                          <a:pt x="76" y="40"/>
                          <a:pt x="68" y="39"/>
                          <a:pt x="62" y="42"/>
                        </a:cubicBezTo>
                        <a:cubicBezTo>
                          <a:pt x="54" y="45"/>
                          <a:pt x="46" y="61"/>
                          <a:pt x="38" y="67"/>
                        </a:cubicBezTo>
                        <a:cubicBezTo>
                          <a:pt x="32" y="71"/>
                          <a:pt x="27" y="74"/>
                          <a:pt x="22" y="77"/>
                        </a:cubicBezTo>
                        <a:cubicBezTo>
                          <a:pt x="16" y="81"/>
                          <a:pt x="5" y="86"/>
                          <a:pt x="5" y="86"/>
                        </a:cubicBezTo>
                        <a:cubicBezTo>
                          <a:pt x="9" y="95"/>
                          <a:pt x="7" y="97"/>
                          <a:pt x="0" y="105"/>
                        </a:cubicBezTo>
                        <a:cubicBezTo>
                          <a:pt x="17" y="107"/>
                          <a:pt x="22" y="107"/>
                          <a:pt x="16" y="120"/>
                        </a:cubicBezTo>
                        <a:cubicBezTo>
                          <a:pt x="27" y="122"/>
                          <a:pt x="48" y="116"/>
                          <a:pt x="59" y="115"/>
                        </a:cubicBezTo>
                        <a:cubicBezTo>
                          <a:pt x="71" y="112"/>
                          <a:pt x="73" y="117"/>
                          <a:pt x="83" y="111"/>
                        </a:cubicBezTo>
                        <a:cubicBezTo>
                          <a:pt x="89" y="96"/>
                          <a:pt x="83" y="100"/>
                          <a:pt x="97" y="96"/>
                        </a:cubicBezTo>
                        <a:cubicBezTo>
                          <a:pt x="100" y="94"/>
                          <a:pt x="103" y="93"/>
                          <a:pt x="105" y="90"/>
                        </a:cubicBezTo>
                        <a:cubicBezTo>
                          <a:pt x="106" y="88"/>
                          <a:pt x="106" y="85"/>
                          <a:pt x="108" y="84"/>
                        </a:cubicBezTo>
                        <a:cubicBezTo>
                          <a:pt x="112" y="80"/>
                          <a:pt x="140" y="69"/>
                          <a:pt x="148" y="67"/>
                        </a:cubicBezTo>
                        <a:cubicBezTo>
                          <a:pt x="160" y="52"/>
                          <a:pt x="153" y="56"/>
                          <a:pt x="167" y="52"/>
                        </a:cubicBezTo>
                        <a:cubicBezTo>
                          <a:pt x="178" y="55"/>
                          <a:pt x="179" y="62"/>
                          <a:pt x="191" y="58"/>
                        </a:cubicBezTo>
                        <a:cubicBezTo>
                          <a:pt x="199" y="52"/>
                          <a:pt x="206" y="51"/>
                          <a:pt x="215" y="46"/>
                        </a:cubicBezTo>
                        <a:cubicBezTo>
                          <a:pt x="226" y="58"/>
                          <a:pt x="217" y="46"/>
                          <a:pt x="223" y="69"/>
                        </a:cubicBezTo>
                        <a:cubicBezTo>
                          <a:pt x="226" y="79"/>
                          <a:pt x="233" y="85"/>
                          <a:pt x="237" y="94"/>
                        </a:cubicBezTo>
                        <a:cubicBezTo>
                          <a:pt x="227" y="100"/>
                          <a:pt x="229" y="104"/>
                          <a:pt x="218" y="107"/>
                        </a:cubicBezTo>
                        <a:cubicBezTo>
                          <a:pt x="207" y="120"/>
                          <a:pt x="203" y="113"/>
                          <a:pt x="188" y="109"/>
                        </a:cubicBezTo>
                        <a:cubicBezTo>
                          <a:pt x="191" y="117"/>
                          <a:pt x="200" y="127"/>
                          <a:pt x="210" y="132"/>
                        </a:cubicBezTo>
                        <a:cubicBezTo>
                          <a:pt x="218" y="114"/>
                          <a:pt x="211" y="122"/>
                          <a:pt x="231" y="113"/>
                        </a:cubicBezTo>
                        <a:cubicBezTo>
                          <a:pt x="237" y="111"/>
                          <a:pt x="248" y="105"/>
                          <a:pt x="248" y="105"/>
                        </a:cubicBezTo>
                        <a:cubicBezTo>
                          <a:pt x="248" y="100"/>
                          <a:pt x="246" y="94"/>
                          <a:pt x="250" y="90"/>
                        </a:cubicBezTo>
                        <a:cubicBezTo>
                          <a:pt x="253" y="88"/>
                          <a:pt x="254" y="96"/>
                          <a:pt x="258" y="96"/>
                        </a:cubicBezTo>
                        <a:cubicBezTo>
                          <a:pt x="262" y="97"/>
                          <a:pt x="264" y="94"/>
                          <a:pt x="266" y="92"/>
                        </a:cubicBezTo>
                        <a:cubicBezTo>
                          <a:pt x="262" y="82"/>
                          <a:pt x="252" y="77"/>
                          <a:pt x="248" y="67"/>
                        </a:cubicBezTo>
                        <a:cubicBezTo>
                          <a:pt x="250" y="63"/>
                          <a:pt x="255" y="58"/>
                          <a:pt x="253" y="54"/>
                        </a:cubicBezTo>
                        <a:cubicBezTo>
                          <a:pt x="251" y="50"/>
                          <a:pt x="248" y="42"/>
                          <a:pt x="248" y="42"/>
                        </a:cubicBezTo>
                        <a:cubicBezTo>
                          <a:pt x="256" y="32"/>
                          <a:pt x="259" y="35"/>
                          <a:pt x="266" y="44"/>
                        </a:cubicBezTo>
                        <a:cubicBezTo>
                          <a:pt x="270" y="56"/>
                          <a:pt x="276" y="61"/>
                          <a:pt x="285" y="71"/>
                        </a:cubicBezTo>
                        <a:cubicBezTo>
                          <a:pt x="281" y="81"/>
                          <a:pt x="289" y="82"/>
                          <a:pt x="277" y="88"/>
                        </a:cubicBezTo>
                        <a:cubicBezTo>
                          <a:pt x="262" y="106"/>
                          <a:pt x="278" y="83"/>
                          <a:pt x="274" y="101"/>
                        </a:cubicBezTo>
                        <a:cubicBezTo>
                          <a:pt x="274" y="105"/>
                          <a:pt x="268" y="109"/>
                          <a:pt x="266" y="113"/>
                        </a:cubicBezTo>
                        <a:cubicBezTo>
                          <a:pt x="270" y="122"/>
                          <a:pt x="268" y="125"/>
                          <a:pt x="261" y="132"/>
                        </a:cubicBezTo>
                        <a:cubicBezTo>
                          <a:pt x="268" y="149"/>
                          <a:pt x="282" y="134"/>
                          <a:pt x="296" y="130"/>
                        </a:cubicBezTo>
                        <a:cubicBezTo>
                          <a:pt x="299" y="122"/>
                          <a:pt x="295" y="119"/>
                          <a:pt x="299" y="111"/>
                        </a:cubicBezTo>
                        <a:cubicBezTo>
                          <a:pt x="296" y="105"/>
                          <a:pt x="288" y="97"/>
                          <a:pt x="299" y="92"/>
                        </a:cubicBezTo>
                        <a:cubicBezTo>
                          <a:pt x="303" y="90"/>
                          <a:pt x="315" y="88"/>
                          <a:pt x="315" y="88"/>
                        </a:cubicBezTo>
                        <a:cubicBezTo>
                          <a:pt x="326" y="91"/>
                          <a:pt x="325" y="95"/>
                          <a:pt x="331" y="103"/>
                        </a:cubicBezTo>
                        <a:cubicBezTo>
                          <a:pt x="339" y="84"/>
                          <a:pt x="331" y="90"/>
                          <a:pt x="361" y="92"/>
                        </a:cubicBezTo>
                        <a:cubicBezTo>
                          <a:pt x="355" y="76"/>
                          <a:pt x="365" y="76"/>
                          <a:pt x="382" y="73"/>
                        </a:cubicBezTo>
                        <a:cubicBezTo>
                          <a:pt x="383" y="71"/>
                          <a:pt x="387" y="57"/>
                          <a:pt x="393" y="54"/>
                        </a:cubicBezTo>
                        <a:cubicBezTo>
                          <a:pt x="398" y="52"/>
                          <a:pt x="409" y="50"/>
                          <a:pt x="409" y="50"/>
                        </a:cubicBezTo>
                        <a:cubicBezTo>
                          <a:pt x="430" y="54"/>
                          <a:pt x="413" y="58"/>
                          <a:pt x="431" y="63"/>
                        </a:cubicBezTo>
                        <a:cubicBezTo>
                          <a:pt x="433" y="61"/>
                          <a:pt x="435" y="57"/>
                          <a:pt x="439" y="56"/>
                        </a:cubicBezTo>
                        <a:cubicBezTo>
                          <a:pt x="445" y="55"/>
                          <a:pt x="452" y="61"/>
                          <a:pt x="457" y="58"/>
                        </a:cubicBezTo>
                        <a:cubicBezTo>
                          <a:pt x="461" y="57"/>
                          <a:pt x="457" y="52"/>
                          <a:pt x="455" y="50"/>
                        </a:cubicBezTo>
                        <a:cubicBezTo>
                          <a:pt x="451" y="47"/>
                          <a:pt x="444" y="47"/>
                          <a:pt x="439" y="46"/>
                        </a:cubicBezTo>
                        <a:cubicBezTo>
                          <a:pt x="436" y="45"/>
                          <a:pt x="431" y="44"/>
                          <a:pt x="431" y="44"/>
                        </a:cubicBezTo>
                        <a:cubicBezTo>
                          <a:pt x="440" y="38"/>
                          <a:pt x="443" y="36"/>
                          <a:pt x="455" y="40"/>
                        </a:cubicBezTo>
                        <a:cubicBezTo>
                          <a:pt x="461" y="38"/>
                          <a:pt x="467" y="35"/>
                          <a:pt x="474" y="35"/>
                        </a:cubicBezTo>
                        <a:cubicBezTo>
                          <a:pt x="483" y="36"/>
                          <a:pt x="511" y="43"/>
                          <a:pt x="519" y="46"/>
                        </a:cubicBezTo>
                        <a:cubicBezTo>
                          <a:pt x="527" y="49"/>
                          <a:pt x="544" y="54"/>
                          <a:pt x="544" y="54"/>
                        </a:cubicBezTo>
                        <a:cubicBezTo>
                          <a:pt x="548" y="54"/>
                          <a:pt x="560" y="52"/>
                          <a:pt x="565" y="50"/>
                        </a:cubicBezTo>
                        <a:cubicBezTo>
                          <a:pt x="570" y="47"/>
                          <a:pt x="581" y="42"/>
                          <a:pt x="581" y="42"/>
                        </a:cubicBezTo>
                        <a:cubicBezTo>
                          <a:pt x="585" y="42"/>
                          <a:pt x="598" y="44"/>
                          <a:pt x="600" y="48"/>
                        </a:cubicBezTo>
                        <a:cubicBezTo>
                          <a:pt x="603" y="55"/>
                          <a:pt x="589" y="61"/>
                          <a:pt x="584" y="63"/>
                        </a:cubicBezTo>
                        <a:cubicBezTo>
                          <a:pt x="576" y="69"/>
                          <a:pt x="568" y="69"/>
                          <a:pt x="565" y="77"/>
                        </a:cubicBezTo>
                        <a:cubicBezTo>
                          <a:pt x="568" y="86"/>
                          <a:pt x="564" y="92"/>
                          <a:pt x="568" y="101"/>
                        </a:cubicBezTo>
                        <a:cubicBezTo>
                          <a:pt x="574" y="93"/>
                          <a:pt x="577" y="91"/>
                          <a:pt x="589" y="94"/>
                        </a:cubicBezTo>
                        <a:cubicBezTo>
                          <a:pt x="595" y="108"/>
                          <a:pt x="602" y="93"/>
                          <a:pt x="611" y="88"/>
                        </a:cubicBezTo>
                        <a:cubicBezTo>
                          <a:pt x="613" y="86"/>
                          <a:pt x="613" y="83"/>
                          <a:pt x="616" y="82"/>
                        </a:cubicBezTo>
                        <a:cubicBezTo>
                          <a:pt x="618" y="80"/>
                          <a:pt x="622" y="81"/>
                          <a:pt x="624" y="80"/>
                        </a:cubicBezTo>
                        <a:cubicBezTo>
                          <a:pt x="626" y="78"/>
                          <a:pt x="626" y="75"/>
                          <a:pt x="627" y="73"/>
                        </a:cubicBezTo>
                        <a:cubicBezTo>
                          <a:pt x="632" y="65"/>
                          <a:pt x="638" y="63"/>
                          <a:pt x="648" y="61"/>
                        </a:cubicBezTo>
                        <a:cubicBezTo>
                          <a:pt x="664" y="62"/>
                          <a:pt x="684" y="69"/>
                          <a:pt x="700" y="69"/>
                        </a:cubicBezTo>
                        <a:lnTo>
                          <a:pt x="794" y="8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9" name="Freeform 63"/>
                  <p:cNvSpPr>
                    <a:spLocks/>
                  </p:cNvSpPr>
                  <p:nvPr/>
                </p:nvSpPr>
                <p:spPr bwMode="ltGray">
                  <a:xfrm>
                    <a:off x="1293" y="282"/>
                    <a:ext cx="13" cy="10"/>
                  </a:xfrm>
                  <a:custGeom>
                    <a:avLst/>
                    <a:gdLst>
                      <a:gd name="T0" fmla="*/ 3 w 31"/>
                      <a:gd name="T1" fmla="*/ 28 h 30"/>
                      <a:gd name="T2" fmla="*/ 31 w 31"/>
                      <a:gd name="T3" fmla="*/ 0 h 30"/>
                      <a:gd name="T4" fmla="*/ 19 w 31"/>
                      <a:gd name="T5" fmla="*/ 24 h 30"/>
                      <a:gd name="T6" fmla="*/ 3 w 31"/>
                      <a:gd name="T7" fmla="*/ 28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" h="30">
                        <a:moveTo>
                          <a:pt x="3" y="28"/>
                        </a:moveTo>
                        <a:cubicBezTo>
                          <a:pt x="8" y="8"/>
                          <a:pt x="12" y="6"/>
                          <a:pt x="31" y="0"/>
                        </a:cubicBezTo>
                        <a:cubicBezTo>
                          <a:pt x="29" y="5"/>
                          <a:pt x="25" y="22"/>
                          <a:pt x="19" y="24"/>
                        </a:cubicBezTo>
                        <a:cubicBezTo>
                          <a:pt x="0" y="30"/>
                          <a:pt x="3" y="9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0" name="Freeform 64"/>
                  <p:cNvSpPr>
                    <a:spLocks/>
                  </p:cNvSpPr>
                  <p:nvPr/>
                </p:nvSpPr>
                <p:spPr bwMode="ltGray">
                  <a:xfrm>
                    <a:off x="1278" y="296"/>
                    <a:ext cx="19" cy="11"/>
                  </a:xfrm>
                  <a:custGeom>
                    <a:avLst/>
                    <a:gdLst>
                      <a:gd name="T0" fmla="*/ 6 w 44"/>
                      <a:gd name="T1" fmla="*/ 32 h 32"/>
                      <a:gd name="T2" fmla="*/ 22 w 44"/>
                      <a:gd name="T3" fmla="*/ 0 h 32"/>
                      <a:gd name="T4" fmla="*/ 38 w 44"/>
                      <a:gd name="T5" fmla="*/ 4 h 32"/>
                      <a:gd name="T6" fmla="*/ 6 w 44"/>
                      <a:gd name="T7" fmla="*/ 32 h 3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44" h="32">
                        <a:moveTo>
                          <a:pt x="6" y="32"/>
                        </a:moveTo>
                        <a:cubicBezTo>
                          <a:pt x="0" y="14"/>
                          <a:pt x="7" y="10"/>
                          <a:pt x="22" y="0"/>
                        </a:cubicBezTo>
                        <a:cubicBezTo>
                          <a:pt x="27" y="1"/>
                          <a:pt x="35" y="0"/>
                          <a:pt x="38" y="4"/>
                        </a:cubicBezTo>
                        <a:cubicBezTo>
                          <a:pt x="44" y="13"/>
                          <a:pt x="16" y="32"/>
                          <a:pt x="6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1" name="Freeform 65"/>
                  <p:cNvSpPr>
                    <a:spLocks/>
                  </p:cNvSpPr>
                  <p:nvPr/>
                </p:nvSpPr>
                <p:spPr bwMode="ltGray">
                  <a:xfrm>
                    <a:off x="1340" y="337"/>
                    <a:ext cx="32" cy="6"/>
                  </a:xfrm>
                  <a:custGeom>
                    <a:avLst/>
                    <a:gdLst>
                      <a:gd name="T0" fmla="*/ 37 w 76"/>
                      <a:gd name="T1" fmla="*/ 18 h 18"/>
                      <a:gd name="T2" fmla="*/ 25 w 76"/>
                      <a:gd name="T3" fmla="*/ 2 h 18"/>
                      <a:gd name="T4" fmla="*/ 37 w 76"/>
                      <a:gd name="T5" fmla="*/ 18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76" h="18">
                        <a:moveTo>
                          <a:pt x="37" y="18"/>
                        </a:moveTo>
                        <a:cubicBezTo>
                          <a:pt x="25" y="14"/>
                          <a:pt x="0" y="10"/>
                          <a:pt x="25" y="2"/>
                        </a:cubicBezTo>
                        <a:cubicBezTo>
                          <a:pt x="76" y="9"/>
                          <a:pt x="46" y="0"/>
                          <a:pt x="37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2" name="Freeform 66"/>
                  <p:cNvSpPr>
                    <a:spLocks/>
                  </p:cNvSpPr>
                  <p:nvPr/>
                </p:nvSpPr>
                <p:spPr bwMode="ltGray">
                  <a:xfrm>
                    <a:off x="1395" y="336"/>
                    <a:ext cx="18" cy="15"/>
                  </a:xfrm>
                  <a:custGeom>
                    <a:avLst/>
                    <a:gdLst>
                      <a:gd name="T0" fmla="*/ 0 w 42"/>
                      <a:gd name="T1" fmla="*/ 21 h 44"/>
                      <a:gd name="T2" fmla="*/ 12 w 42"/>
                      <a:gd name="T3" fmla="*/ 9 h 44"/>
                      <a:gd name="T4" fmla="*/ 0 w 42"/>
                      <a:gd name="T5" fmla="*/ 21 h 44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2" h="44">
                        <a:moveTo>
                          <a:pt x="0" y="21"/>
                        </a:moveTo>
                        <a:cubicBezTo>
                          <a:pt x="4" y="17"/>
                          <a:pt x="7" y="11"/>
                          <a:pt x="12" y="9"/>
                        </a:cubicBezTo>
                        <a:cubicBezTo>
                          <a:pt x="42" y="0"/>
                          <a:pt x="23" y="44"/>
                          <a:pt x="0" y="2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3" name="Freeform 67"/>
                  <p:cNvSpPr>
                    <a:spLocks/>
                  </p:cNvSpPr>
                  <p:nvPr/>
                </p:nvSpPr>
                <p:spPr bwMode="ltGray">
                  <a:xfrm>
                    <a:off x="1248" y="295"/>
                    <a:ext cx="14" cy="10"/>
                  </a:xfrm>
                  <a:custGeom>
                    <a:avLst/>
                    <a:gdLst>
                      <a:gd name="T0" fmla="*/ 7 w 31"/>
                      <a:gd name="T1" fmla="*/ 22 h 30"/>
                      <a:gd name="T2" fmla="*/ 31 w 31"/>
                      <a:gd name="T3" fmla="*/ 10 h 30"/>
                      <a:gd name="T4" fmla="*/ 7 w 31"/>
                      <a:gd name="T5" fmla="*/ 22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1" h="30">
                        <a:moveTo>
                          <a:pt x="7" y="22"/>
                        </a:moveTo>
                        <a:cubicBezTo>
                          <a:pt x="0" y="0"/>
                          <a:pt x="15" y="6"/>
                          <a:pt x="31" y="10"/>
                        </a:cubicBezTo>
                        <a:cubicBezTo>
                          <a:pt x="14" y="16"/>
                          <a:pt x="15" y="30"/>
                          <a:pt x="7" y="2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085" name="Group 68"/>
                <p:cNvGrpSpPr>
                  <a:grpSpLocks/>
                </p:cNvGrpSpPr>
                <p:nvPr/>
              </p:nvGrpSpPr>
              <p:grpSpPr bwMode="auto">
                <a:xfrm>
                  <a:off x="3709" y="240"/>
                  <a:ext cx="1139" cy="429"/>
                  <a:chOff x="3709" y="240"/>
                  <a:chExt cx="1139" cy="429"/>
                </a:xfrm>
              </p:grpSpPr>
              <p:sp>
                <p:nvSpPr>
                  <p:cNvPr id="1086" name="Freeform 69"/>
                  <p:cNvSpPr>
                    <a:spLocks/>
                  </p:cNvSpPr>
                  <p:nvPr/>
                </p:nvSpPr>
                <p:spPr bwMode="ltGray">
                  <a:xfrm>
                    <a:off x="4808" y="616"/>
                    <a:ext cx="13" cy="14"/>
                  </a:xfrm>
                  <a:custGeom>
                    <a:avLst/>
                    <a:gdLst>
                      <a:gd name="T0" fmla="*/ 16 w 30"/>
                      <a:gd name="T1" fmla="*/ 33 h 42"/>
                      <a:gd name="T2" fmla="*/ 8 w 30"/>
                      <a:gd name="T3" fmla="*/ 21 h 42"/>
                      <a:gd name="T4" fmla="*/ 0 w 30"/>
                      <a:gd name="T5" fmla="*/ 9 h 42"/>
                      <a:gd name="T6" fmla="*/ 16 w 30"/>
                      <a:gd name="T7" fmla="*/ 3 h 42"/>
                      <a:gd name="T8" fmla="*/ 30 w 30"/>
                      <a:gd name="T9" fmla="*/ 23 h 42"/>
                      <a:gd name="T10" fmla="*/ 28 w 30"/>
                      <a:gd name="T11" fmla="*/ 31 h 42"/>
                      <a:gd name="T12" fmla="*/ 16 w 30"/>
                      <a:gd name="T13" fmla="*/ 33 h 42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30" h="42">
                        <a:moveTo>
                          <a:pt x="16" y="33"/>
                        </a:moveTo>
                        <a:cubicBezTo>
                          <a:pt x="3" y="20"/>
                          <a:pt x="15" y="34"/>
                          <a:pt x="8" y="21"/>
                        </a:cubicBezTo>
                        <a:cubicBezTo>
                          <a:pt x="6" y="17"/>
                          <a:pt x="0" y="9"/>
                          <a:pt x="0" y="9"/>
                        </a:cubicBezTo>
                        <a:cubicBezTo>
                          <a:pt x="5" y="1"/>
                          <a:pt x="7" y="0"/>
                          <a:pt x="16" y="3"/>
                        </a:cubicBezTo>
                        <a:cubicBezTo>
                          <a:pt x="25" y="16"/>
                          <a:pt x="10" y="16"/>
                          <a:pt x="30" y="23"/>
                        </a:cubicBezTo>
                        <a:cubicBezTo>
                          <a:pt x="29" y="26"/>
                          <a:pt x="30" y="29"/>
                          <a:pt x="28" y="31"/>
                        </a:cubicBezTo>
                        <a:cubicBezTo>
                          <a:pt x="15" y="42"/>
                          <a:pt x="16" y="38"/>
                          <a:pt x="16" y="3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87" name="Freeform 70"/>
                  <p:cNvSpPr>
                    <a:spLocks/>
                  </p:cNvSpPr>
                  <p:nvPr/>
                </p:nvSpPr>
                <p:spPr bwMode="ltGray">
                  <a:xfrm>
                    <a:off x="4655" y="629"/>
                    <a:ext cx="11" cy="5"/>
                  </a:xfrm>
                  <a:custGeom>
                    <a:avLst/>
                    <a:gdLst>
                      <a:gd name="T0" fmla="*/ 15 w 25"/>
                      <a:gd name="T1" fmla="*/ 16 h 16"/>
                      <a:gd name="T2" fmla="*/ 3 w 25"/>
                      <a:gd name="T3" fmla="*/ 8 h 16"/>
                      <a:gd name="T4" fmla="*/ 15 w 25"/>
                      <a:gd name="T5" fmla="*/ 0 h 16"/>
                      <a:gd name="T6" fmla="*/ 15 w 25"/>
                      <a:gd name="T7" fmla="*/ 16 h 1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5" h="16">
                        <a:moveTo>
                          <a:pt x="15" y="16"/>
                        </a:moveTo>
                        <a:cubicBezTo>
                          <a:pt x="10" y="15"/>
                          <a:pt x="0" y="12"/>
                          <a:pt x="3" y="8"/>
                        </a:cubicBezTo>
                        <a:cubicBezTo>
                          <a:pt x="6" y="4"/>
                          <a:pt x="15" y="0"/>
                          <a:pt x="15" y="0"/>
                        </a:cubicBezTo>
                        <a:cubicBezTo>
                          <a:pt x="17" y="3"/>
                          <a:pt x="25" y="16"/>
                          <a:pt x="15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88" name="Freeform 71"/>
                  <p:cNvSpPr>
                    <a:spLocks/>
                  </p:cNvSpPr>
                  <p:nvPr/>
                </p:nvSpPr>
                <p:spPr bwMode="ltGray">
                  <a:xfrm>
                    <a:off x="4609" y="635"/>
                    <a:ext cx="28" cy="16"/>
                  </a:xfrm>
                  <a:custGeom>
                    <a:avLst/>
                    <a:gdLst>
                      <a:gd name="T0" fmla="*/ 14 w 65"/>
                      <a:gd name="T1" fmla="*/ 24 h 46"/>
                      <a:gd name="T2" fmla="*/ 30 w 65"/>
                      <a:gd name="T3" fmla="*/ 4 h 46"/>
                      <a:gd name="T4" fmla="*/ 42 w 65"/>
                      <a:gd name="T5" fmla="*/ 0 h 46"/>
                      <a:gd name="T6" fmla="*/ 58 w 65"/>
                      <a:gd name="T7" fmla="*/ 12 h 46"/>
                      <a:gd name="T8" fmla="*/ 32 w 65"/>
                      <a:gd name="T9" fmla="*/ 26 h 46"/>
                      <a:gd name="T10" fmla="*/ 12 w 65"/>
                      <a:gd name="T11" fmla="*/ 46 h 46"/>
                      <a:gd name="T12" fmla="*/ 8 w 65"/>
                      <a:gd name="T13" fmla="*/ 20 h 46"/>
                      <a:gd name="T14" fmla="*/ 12 w 65"/>
                      <a:gd name="T15" fmla="*/ 14 h 46"/>
                      <a:gd name="T16" fmla="*/ 14 w 65"/>
                      <a:gd name="T17" fmla="*/ 24 h 4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65" h="46">
                        <a:moveTo>
                          <a:pt x="14" y="24"/>
                        </a:moveTo>
                        <a:cubicBezTo>
                          <a:pt x="18" y="13"/>
                          <a:pt x="16" y="9"/>
                          <a:pt x="30" y="4"/>
                        </a:cubicBezTo>
                        <a:cubicBezTo>
                          <a:pt x="34" y="3"/>
                          <a:pt x="42" y="0"/>
                          <a:pt x="42" y="0"/>
                        </a:cubicBezTo>
                        <a:cubicBezTo>
                          <a:pt x="50" y="1"/>
                          <a:pt x="65" y="0"/>
                          <a:pt x="58" y="12"/>
                        </a:cubicBezTo>
                        <a:cubicBezTo>
                          <a:pt x="53" y="21"/>
                          <a:pt x="40" y="21"/>
                          <a:pt x="32" y="26"/>
                        </a:cubicBezTo>
                        <a:cubicBezTo>
                          <a:pt x="26" y="35"/>
                          <a:pt x="23" y="42"/>
                          <a:pt x="12" y="46"/>
                        </a:cubicBezTo>
                        <a:cubicBezTo>
                          <a:pt x="0" y="42"/>
                          <a:pt x="5" y="30"/>
                          <a:pt x="8" y="20"/>
                        </a:cubicBezTo>
                        <a:cubicBezTo>
                          <a:pt x="9" y="18"/>
                          <a:pt x="10" y="13"/>
                          <a:pt x="12" y="14"/>
                        </a:cubicBezTo>
                        <a:cubicBezTo>
                          <a:pt x="15" y="16"/>
                          <a:pt x="13" y="21"/>
                          <a:pt x="14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89" name="Freeform 72"/>
                  <p:cNvSpPr>
                    <a:spLocks/>
                  </p:cNvSpPr>
                  <p:nvPr/>
                </p:nvSpPr>
                <p:spPr bwMode="ltGray">
                  <a:xfrm>
                    <a:off x="4580" y="634"/>
                    <a:ext cx="29" cy="16"/>
                  </a:xfrm>
                  <a:custGeom>
                    <a:avLst/>
                    <a:gdLst>
                      <a:gd name="T0" fmla="*/ 0 w 69"/>
                      <a:gd name="T1" fmla="*/ 31 h 47"/>
                      <a:gd name="T2" fmla="*/ 18 w 69"/>
                      <a:gd name="T3" fmla="*/ 25 h 47"/>
                      <a:gd name="T4" fmla="*/ 52 w 69"/>
                      <a:gd name="T5" fmla="*/ 1 h 47"/>
                      <a:gd name="T6" fmla="*/ 64 w 69"/>
                      <a:gd name="T7" fmla="*/ 3 h 47"/>
                      <a:gd name="T8" fmla="*/ 50 w 69"/>
                      <a:gd name="T9" fmla="*/ 19 h 47"/>
                      <a:gd name="T10" fmla="*/ 28 w 69"/>
                      <a:gd name="T11" fmla="*/ 33 h 47"/>
                      <a:gd name="T12" fmla="*/ 22 w 69"/>
                      <a:gd name="T13" fmla="*/ 47 h 47"/>
                      <a:gd name="T14" fmla="*/ 16 w 69"/>
                      <a:gd name="T15" fmla="*/ 45 h 47"/>
                      <a:gd name="T16" fmla="*/ 12 w 69"/>
                      <a:gd name="T17" fmla="*/ 39 h 47"/>
                      <a:gd name="T18" fmla="*/ 0 w 69"/>
                      <a:gd name="T19" fmla="*/ 35 h 47"/>
                      <a:gd name="T20" fmla="*/ 0 w 69"/>
                      <a:gd name="T21" fmla="*/ 31 h 47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9" h="47">
                        <a:moveTo>
                          <a:pt x="0" y="31"/>
                        </a:moveTo>
                        <a:cubicBezTo>
                          <a:pt x="7" y="24"/>
                          <a:pt x="9" y="22"/>
                          <a:pt x="18" y="25"/>
                        </a:cubicBezTo>
                        <a:cubicBezTo>
                          <a:pt x="25" y="4"/>
                          <a:pt x="36" y="12"/>
                          <a:pt x="52" y="1"/>
                        </a:cubicBezTo>
                        <a:cubicBezTo>
                          <a:pt x="56" y="2"/>
                          <a:pt x="61" y="0"/>
                          <a:pt x="64" y="3"/>
                        </a:cubicBezTo>
                        <a:cubicBezTo>
                          <a:pt x="69" y="8"/>
                          <a:pt x="50" y="19"/>
                          <a:pt x="50" y="19"/>
                        </a:cubicBezTo>
                        <a:cubicBezTo>
                          <a:pt x="46" y="31"/>
                          <a:pt x="35" y="22"/>
                          <a:pt x="28" y="33"/>
                        </a:cubicBezTo>
                        <a:cubicBezTo>
                          <a:pt x="31" y="41"/>
                          <a:pt x="31" y="44"/>
                          <a:pt x="22" y="47"/>
                        </a:cubicBezTo>
                        <a:cubicBezTo>
                          <a:pt x="20" y="46"/>
                          <a:pt x="18" y="46"/>
                          <a:pt x="16" y="45"/>
                        </a:cubicBezTo>
                        <a:cubicBezTo>
                          <a:pt x="14" y="43"/>
                          <a:pt x="14" y="40"/>
                          <a:pt x="12" y="39"/>
                        </a:cubicBezTo>
                        <a:cubicBezTo>
                          <a:pt x="8" y="37"/>
                          <a:pt x="0" y="35"/>
                          <a:pt x="0" y="35"/>
                        </a:cubicBezTo>
                        <a:cubicBezTo>
                          <a:pt x="2" y="26"/>
                          <a:pt x="3" y="25"/>
                          <a:pt x="0" y="3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0" name="Freeform 73"/>
                  <p:cNvSpPr>
                    <a:spLocks/>
                  </p:cNvSpPr>
                  <p:nvPr/>
                </p:nvSpPr>
                <p:spPr bwMode="ltGray">
                  <a:xfrm>
                    <a:off x="4423" y="547"/>
                    <a:ext cx="151" cy="93"/>
                  </a:xfrm>
                  <a:custGeom>
                    <a:avLst/>
                    <a:gdLst>
                      <a:gd name="T0" fmla="*/ 10 w 355"/>
                      <a:gd name="T1" fmla="*/ 4 h 277"/>
                      <a:gd name="T2" fmla="*/ 36 w 355"/>
                      <a:gd name="T3" fmla="*/ 18 h 277"/>
                      <a:gd name="T4" fmla="*/ 46 w 355"/>
                      <a:gd name="T5" fmla="*/ 30 h 277"/>
                      <a:gd name="T6" fmla="*/ 76 w 355"/>
                      <a:gd name="T7" fmla="*/ 52 h 277"/>
                      <a:gd name="T8" fmla="*/ 92 w 355"/>
                      <a:gd name="T9" fmla="*/ 66 h 277"/>
                      <a:gd name="T10" fmla="*/ 122 w 355"/>
                      <a:gd name="T11" fmla="*/ 98 h 277"/>
                      <a:gd name="T12" fmla="*/ 136 w 355"/>
                      <a:gd name="T13" fmla="*/ 128 h 277"/>
                      <a:gd name="T14" fmla="*/ 148 w 355"/>
                      <a:gd name="T15" fmla="*/ 132 h 277"/>
                      <a:gd name="T16" fmla="*/ 154 w 355"/>
                      <a:gd name="T17" fmla="*/ 150 h 277"/>
                      <a:gd name="T18" fmla="*/ 176 w 355"/>
                      <a:gd name="T19" fmla="*/ 152 h 277"/>
                      <a:gd name="T20" fmla="*/ 170 w 355"/>
                      <a:gd name="T21" fmla="*/ 196 h 277"/>
                      <a:gd name="T22" fmla="*/ 180 w 355"/>
                      <a:gd name="T23" fmla="*/ 224 h 277"/>
                      <a:gd name="T24" fmla="*/ 198 w 355"/>
                      <a:gd name="T25" fmla="*/ 232 h 277"/>
                      <a:gd name="T26" fmla="*/ 216 w 355"/>
                      <a:gd name="T27" fmla="*/ 234 h 277"/>
                      <a:gd name="T28" fmla="*/ 236 w 355"/>
                      <a:gd name="T29" fmla="*/ 242 h 277"/>
                      <a:gd name="T30" fmla="*/ 254 w 355"/>
                      <a:gd name="T31" fmla="*/ 236 h 277"/>
                      <a:gd name="T32" fmla="*/ 272 w 355"/>
                      <a:gd name="T33" fmla="*/ 248 h 277"/>
                      <a:gd name="T34" fmla="*/ 296 w 355"/>
                      <a:gd name="T35" fmla="*/ 256 h 277"/>
                      <a:gd name="T36" fmla="*/ 314 w 355"/>
                      <a:gd name="T37" fmla="*/ 264 h 277"/>
                      <a:gd name="T38" fmla="*/ 352 w 355"/>
                      <a:gd name="T39" fmla="*/ 266 h 277"/>
                      <a:gd name="T40" fmla="*/ 342 w 355"/>
                      <a:gd name="T41" fmla="*/ 274 h 277"/>
                      <a:gd name="T42" fmla="*/ 322 w 355"/>
                      <a:gd name="T43" fmla="*/ 272 h 277"/>
                      <a:gd name="T44" fmla="*/ 300 w 355"/>
                      <a:gd name="T45" fmla="*/ 270 h 277"/>
                      <a:gd name="T46" fmla="*/ 288 w 355"/>
                      <a:gd name="T47" fmla="*/ 266 h 277"/>
                      <a:gd name="T48" fmla="*/ 252 w 355"/>
                      <a:gd name="T49" fmla="*/ 264 h 277"/>
                      <a:gd name="T50" fmla="*/ 234 w 355"/>
                      <a:gd name="T51" fmla="*/ 260 h 277"/>
                      <a:gd name="T52" fmla="*/ 172 w 355"/>
                      <a:gd name="T53" fmla="*/ 242 h 277"/>
                      <a:gd name="T54" fmla="*/ 160 w 355"/>
                      <a:gd name="T55" fmla="*/ 216 h 277"/>
                      <a:gd name="T56" fmla="*/ 126 w 355"/>
                      <a:gd name="T57" fmla="*/ 200 h 277"/>
                      <a:gd name="T58" fmla="*/ 108 w 355"/>
                      <a:gd name="T59" fmla="*/ 186 h 277"/>
                      <a:gd name="T60" fmla="*/ 94 w 355"/>
                      <a:gd name="T61" fmla="*/ 158 h 277"/>
                      <a:gd name="T62" fmla="*/ 68 w 355"/>
                      <a:gd name="T63" fmla="*/ 108 h 277"/>
                      <a:gd name="T64" fmla="*/ 64 w 355"/>
                      <a:gd name="T65" fmla="*/ 102 h 277"/>
                      <a:gd name="T66" fmla="*/ 58 w 355"/>
                      <a:gd name="T67" fmla="*/ 100 h 277"/>
                      <a:gd name="T68" fmla="*/ 54 w 355"/>
                      <a:gd name="T69" fmla="*/ 88 h 277"/>
                      <a:gd name="T70" fmla="*/ 38 w 355"/>
                      <a:gd name="T71" fmla="*/ 58 h 277"/>
                      <a:gd name="T72" fmla="*/ 20 w 355"/>
                      <a:gd name="T73" fmla="*/ 40 h 277"/>
                      <a:gd name="T74" fmla="*/ 4 w 355"/>
                      <a:gd name="T75" fmla="*/ 22 h 277"/>
                      <a:gd name="T76" fmla="*/ 10 w 355"/>
                      <a:gd name="T77" fmla="*/ 2 h 277"/>
                      <a:gd name="T78" fmla="*/ 10 w 355"/>
                      <a:gd name="T79" fmla="*/ 4 h 277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</a:gdLst>
                    <a:ahLst/>
                    <a:cxnLst>
                      <a:cxn ang="T80">
                        <a:pos x="T0" y="T1"/>
                      </a:cxn>
                      <a:cxn ang="T81">
                        <a:pos x="T2" y="T3"/>
                      </a:cxn>
                      <a:cxn ang="T82">
                        <a:pos x="T4" y="T5"/>
                      </a:cxn>
                      <a:cxn ang="T83">
                        <a:pos x="T6" y="T7"/>
                      </a:cxn>
                      <a:cxn ang="T84">
                        <a:pos x="T8" y="T9"/>
                      </a:cxn>
                      <a:cxn ang="T85">
                        <a:pos x="T10" y="T11"/>
                      </a:cxn>
                      <a:cxn ang="T86">
                        <a:pos x="T12" y="T13"/>
                      </a:cxn>
                      <a:cxn ang="T87">
                        <a:pos x="T14" y="T15"/>
                      </a:cxn>
                      <a:cxn ang="T88">
                        <a:pos x="T16" y="T17"/>
                      </a:cxn>
                      <a:cxn ang="T89">
                        <a:pos x="T18" y="T19"/>
                      </a:cxn>
                      <a:cxn ang="T90">
                        <a:pos x="T20" y="T21"/>
                      </a:cxn>
                      <a:cxn ang="T91">
                        <a:pos x="T22" y="T23"/>
                      </a:cxn>
                      <a:cxn ang="T92">
                        <a:pos x="T24" y="T25"/>
                      </a:cxn>
                      <a:cxn ang="T93">
                        <a:pos x="T26" y="T27"/>
                      </a:cxn>
                      <a:cxn ang="T94">
                        <a:pos x="T28" y="T29"/>
                      </a:cxn>
                      <a:cxn ang="T95">
                        <a:pos x="T30" y="T31"/>
                      </a:cxn>
                      <a:cxn ang="T96">
                        <a:pos x="T32" y="T33"/>
                      </a:cxn>
                      <a:cxn ang="T97">
                        <a:pos x="T34" y="T35"/>
                      </a:cxn>
                      <a:cxn ang="T98">
                        <a:pos x="T36" y="T37"/>
                      </a:cxn>
                      <a:cxn ang="T99">
                        <a:pos x="T38" y="T39"/>
                      </a:cxn>
                      <a:cxn ang="T100">
                        <a:pos x="T40" y="T41"/>
                      </a:cxn>
                      <a:cxn ang="T101">
                        <a:pos x="T42" y="T43"/>
                      </a:cxn>
                      <a:cxn ang="T102">
                        <a:pos x="T44" y="T45"/>
                      </a:cxn>
                      <a:cxn ang="T103">
                        <a:pos x="T46" y="T47"/>
                      </a:cxn>
                      <a:cxn ang="T104">
                        <a:pos x="T48" y="T49"/>
                      </a:cxn>
                      <a:cxn ang="T105">
                        <a:pos x="T50" y="T51"/>
                      </a:cxn>
                      <a:cxn ang="T106">
                        <a:pos x="T52" y="T53"/>
                      </a:cxn>
                      <a:cxn ang="T107">
                        <a:pos x="T54" y="T55"/>
                      </a:cxn>
                      <a:cxn ang="T108">
                        <a:pos x="T56" y="T57"/>
                      </a:cxn>
                      <a:cxn ang="T109">
                        <a:pos x="T58" y="T59"/>
                      </a:cxn>
                      <a:cxn ang="T110">
                        <a:pos x="T60" y="T61"/>
                      </a:cxn>
                      <a:cxn ang="T111">
                        <a:pos x="T62" y="T63"/>
                      </a:cxn>
                      <a:cxn ang="T112">
                        <a:pos x="T64" y="T65"/>
                      </a:cxn>
                      <a:cxn ang="T113">
                        <a:pos x="T66" y="T67"/>
                      </a:cxn>
                      <a:cxn ang="T114">
                        <a:pos x="T68" y="T69"/>
                      </a:cxn>
                      <a:cxn ang="T115">
                        <a:pos x="T70" y="T71"/>
                      </a:cxn>
                      <a:cxn ang="T116">
                        <a:pos x="T72" y="T73"/>
                      </a:cxn>
                      <a:cxn ang="T117">
                        <a:pos x="T74" y="T75"/>
                      </a:cxn>
                      <a:cxn ang="T118">
                        <a:pos x="T76" y="T77"/>
                      </a:cxn>
                      <a:cxn ang="T119">
                        <a:pos x="T78" y="T79"/>
                      </a:cxn>
                    </a:cxnLst>
                    <a:rect l="0" t="0" r="r" b="b"/>
                    <a:pathLst>
                      <a:path w="355" h="277">
                        <a:moveTo>
                          <a:pt x="10" y="4"/>
                        </a:moveTo>
                        <a:cubicBezTo>
                          <a:pt x="22" y="0"/>
                          <a:pt x="24" y="14"/>
                          <a:pt x="36" y="18"/>
                        </a:cubicBezTo>
                        <a:cubicBezTo>
                          <a:pt x="37" y="19"/>
                          <a:pt x="45" y="29"/>
                          <a:pt x="46" y="30"/>
                        </a:cubicBezTo>
                        <a:cubicBezTo>
                          <a:pt x="56" y="40"/>
                          <a:pt x="67" y="38"/>
                          <a:pt x="76" y="52"/>
                        </a:cubicBezTo>
                        <a:cubicBezTo>
                          <a:pt x="80" y="58"/>
                          <a:pt x="92" y="66"/>
                          <a:pt x="92" y="66"/>
                        </a:cubicBezTo>
                        <a:cubicBezTo>
                          <a:pt x="96" y="79"/>
                          <a:pt x="112" y="88"/>
                          <a:pt x="122" y="98"/>
                        </a:cubicBezTo>
                        <a:cubicBezTo>
                          <a:pt x="124" y="105"/>
                          <a:pt x="130" y="124"/>
                          <a:pt x="136" y="128"/>
                        </a:cubicBezTo>
                        <a:cubicBezTo>
                          <a:pt x="140" y="130"/>
                          <a:pt x="148" y="132"/>
                          <a:pt x="148" y="132"/>
                        </a:cubicBezTo>
                        <a:cubicBezTo>
                          <a:pt x="150" y="138"/>
                          <a:pt x="154" y="150"/>
                          <a:pt x="154" y="150"/>
                        </a:cubicBezTo>
                        <a:cubicBezTo>
                          <a:pt x="161" y="139"/>
                          <a:pt x="168" y="144"/>
                          <a:pt x="176" y="152"/>
                        </a:cubicBezTo>
                        <a:cubicBezTo>
                          <a:pt x="174" y="167"/>
                          <a:pt x="173" y="181"/>
                          <a:pt x="170" y="196"/>
                        </a:cubicBezTo>
                        <a:cubicBezTo>
                          <a:pt x="171" y="202"/>
                          <a:pt x="174" y="220"/>
                          <a:pt x="180" y="224"/>
                        </a:cubicBezTo>
                        <a:cubicBezTo>
                          <a:pt x="185" y="228"/>
                          <a:pt x="193" y="228"/>
                          <a:pt x="198" y="232"/>
                        </a:cubicBezTo>
                        <a:cubicBezTo>
                          <a:pt x="204" y="230"/>
                          <a:pt x="216" y="234"/>
                          <a:pt x="216" y="234"/>
                        </a:cubicBezTo>
                        <a:cubicBezTo>
                          <a:pt x="223" y="241"/>
                          <a:pt x="225" y="245"/>
                          <a:pt x="236" y="242"/>
                        </a:cubicBezTo>
                        <a:cubicBezTo>
                          <a:pt x="242" y="240"/>
                          <a:pt x="254" y="236"/>
                          <a:pt x="254" y="236"/>
                        </a:cubicBezTo>
                        <a:cubicBezTo>
                          <a:pt x="260" y="240"/>
                          <a:pt x="265" y="246"/>
                          <a:pt x="272" y="248"/>
                        </a:cubicBezTo>
                        <a:cubicBezTo>
                          <a:pt x="277" y="250"/>
                          <a:pt x="291" y="252"/>
                          <a:pt x="296" y="256"/>
                        </a:cubicBezTo>
                        <a:cubicBezTo>
                          <a:pt x="301" y="260"/>
                          <a:pt x="314" y="264"/>
                          <a:pt x="314" y="264"/>
                        </a:cubicBezTo>
                        <a:cubicBezTo>
                          <a:pt x="330" y="263"/>
                          <a:pt x="338" y="261"/>
                          <a:pt x="352" y="266"/>
                        </a:cubicBezTo>
                        <a:cubicBezTo>
                          <a:pt x="355" y="275"/>
                          <a:pt x="350" y="277"/>
                          <a:pt x="342" y="274"/>
                        </a:cubicBezTo>
                        <a:cubicBezTo>
                          <a:pt x="336" y="276"/>
                          <a:pt x="322" y="272"/>
                          <a:pt x="322" y="272"/>
                        </a:cubicBezTo>
                        <a:cubicBezTo>
                          <a:pt x="314" y="275"/>
                          <a:pt x="308" y="272"/>
                          <a:pt x="300" y="270"/>
                        </a:cubicBezTo>
                        <a:cubicBezTo>
                          <a:pt x="296" y="269"/>
                          <a:pt x="288" y="266"/>
                          <a:pt x="288" y="266"/>
                        </a:cubicBezTo>
                        <a:cubicBezTo>
                          <a:pt x="276" y="270"/>
                          <a:pt x="264" y="266"/>
                          <a:pt x="252" y="264"/>
                        </a:cubicBezTo>
                        <a:cubicBezTo>
                          <a:pt x="245" y="259"/>
                          <a:pt x="242" y="257"/>
                          <a:pt x="234" y="260"/>
                        </a:cubicBezTo>
                        <a:cubicBezTo>
                          <a:pt x="211" y="252"/>
                          <a:pt x="192" y="256"/>
                          <a:pt x="172" y="242"/>
                        </a:cubicBezTo>
                        <a:cubicBezTo>
                          <a:pt x="165" y="231"/>
                          <a:pt x="176" y="221"/>
                          <a:pt x="160" y="216"/>
                        </a:cubicBezTo>
                        <a:cubicBezTo>
                          <a:pt x="154" y="233"/>
                          <a:pt x="136" y="203"/>
                          <a:pt x="126" y="200"/>
                        </a:cubicBezTo>
                        <a:cubicBezTo>
                          <a:pt x="120" y="196"/>
                          <a:pt x="114" y="190"/>
                          <a:pt x="108" y="186"/>
                        </a:cubicBezTo>
                        <a:cubicBezTo>
                          <a:pt x="104" y="175"/>
                          <a:pt x="104" y="165"/>
                          <a:pt x="94" y="158"/>
                        </a:cubicBezTo>
                        <a:cubicBezTo>
                          <a:pt x="83" y="142"/>
                          <a:pt x="85" y="119"/>
                          <a:pt x="68" y="108"/>
                        </a:cubicBezTo>
                        <a:cubicBezTo>
                          <a:pt x="67" y="106"/>
                          <a:pt x="66" y="104"/>
                          <a:pt x="64" y="102"/>
                        </a:cubicBezTo>
                        <a:cubicBezTo>
                          <a:pt x="62" y="101"/>
                          <a:pt x="59" y="102"/>
                          <a:pt x="58" y="100"/>
                        </a:cubicBezTo>
                        <a:cubicBezTo>
                          <a:pt x="56" y="97"/>
                          <a:pt x="54" y="88"/>
                          <a:pt x="54" y="88"/>
                        </a:cubicBezTo>
                        <a:cubicBezTo>
                          <a:pt x="59" y="73"/>
                          <a:pt x="52" y="61"/>
                          <a:pt x="38" y="58"/>
                        </a:cubicBezTo>
                        <a:cubicBezTo>
                          <a:pt x="32" y="49"/>
                          <a:pt x="31" y="44"/>
                          <a:pt x="20" y="40"/>
                        </a:cubicBezTo>
                        <a:cubicBezTo>
                          <a:pt x="16" y="27"/>
                          <a:pt x="16" y="26"/>
                          <a:pt x="4" y="22"/>
                        </a:cubicBezTo>
                        <a:cubicBezTo>
                          <a:pt x="1" y="13"/>
                          <a:pt x="0" y="5"/>
                          <a:pt x="10" y="2"/>
                        </a:cubicBezTo>
                        <a:cubicBezTo>
                          <a:pt x="18" y="5"/>
                          <a:pt x="18" y="4"/>
                          <a:pt x="10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1" name="Freeform 74"/>
                  <p:cNvSpPr>
                    <a:spLocks/>
                  </p:cNvSpPr>
                  <p:nvPr/>
                </p:nvSpPr>
                <p:spPr bwMode="ltGray">
                  <a:xfrm>
                    <a:off x="4515" y="541"/>
                    <a:ext cx="67" cy="68"/>
                  </a:xfrm>
                  <a:custGeom>
                    <a:avLst/>
                    <a:gdLst>
                      <a:gd name="T0" fmla="*/ 54 w 156"/>
                      <a:gd name="T1" fmla="*/ 66 h 206"/>
                      <a:gd name="T2" fmla="*/ 66 w 156"/>
                      <a:gd name="T3" fmla="*/ 58 h 206"/>
                      <a:gd name="T4" fmla="*/ 68 w 156"/>
                      <a:gd name="T5" fmla="*/ 52 h 206"/>
                      <a:gd name="T6" fmla="*/ 80 w 156"/>
                      <a:gd name="T7" fmla="*/ 44 h 206"/>
                      <a:gd name="T8" fmla="*/ 106 w 156"/>
                      <a:gd name="T9" fmla="*/ 22 h 206"/>
                      <a:gd name="T10" fmla="*/ 112 w 156"/>
                      <a:gd name="T11" fmla="*/ 4 h 206"/>
                      <a:gd name="T12" fmla="*/ 124 w 156"/>
                      <a:gd name="T13" fmla="*/ 0 h 206"/>
                      <a:gd name="T14" fmla="*/ 150 w 156"/>
                      <a:gd name="T15" fmla="*/ 28 h 206"/>
                      <a:gd name="T16" fmla="*/ 146 w 156"/>
                      <a:gd name="T17" fmla="*/ 44 h 206"/>
                      <a:gd name="T18" fmla="*/ 126 w 156"/>
                      <a:gd name="T19" fmla="*/ 64 h 206"/>
                      <a:gd name="T20" fmla="*/ 132 w 156"/>
                      <a:gd name="T21" fmla="*/ 94 h 206"/>
                      <a:gd name="T22" fmla="*/ 142 w 156"/>
                      <a:gd name="T23" fmla="*/ 110 h 206"/>
                      <a:gd name="T24" fmla="*/ 146 w 156"/>
                      <a:gd name="T25" fmla="*/ 128 h 206"/>
                      <a:gd name="T26" fmla="*/ 128 w 156"/>
                      <a:gd name="T27" fmla="*/ 128 h 206"/>
                      <a:gd name="T28" fmla="*/ 116 w 156"/>
                      <a:gd name="T29" fmla="*/ 146 h 206"/>
                      <a:gd name="T30" fmla="*/ 104 w 156"/>
                      <a:gd name="T31" fmla="*/ 156 h 206"/>
                      <a:gd name="T32" fmla="*/ 100 w 156"/>
                      <a:gd name="T33" fmla="*/ 198 h 206"/>
                      <a:gd name="T34" fmla="*/ 88 w 156"/>
                      <a:gd name="T35" fmla="*/ 202 h 206"/>
                      <a:gd name="T36" fmla="*/ 82 w 156"/>
                      <a:gd name="T37" fmla="*/ 206 h 206"/>
                      <a:gd name="T38" fmla="*/ 76 w 156"/>
                      <a:gd name="T39" fmla="*/ 202 h 206"/>
                      <a:gd name="T40" fmla="*/ 72 w 156"/>
                      <a:gd name="T41" fmla="*/ 190 h 206"/>
                      <a:gd name="T42" fmla="*/ 60 w 156"/>
                      <a:gd name="T43" fmla="*/ 186 h 206"/>
                      <a:gd name="T44" fmla="*/ 42 w 156"/>
                      <a:gd name="T45" fmla="*/ 194 h 206"/>
                      <a:gd name="T46" fmla="*/ 28 w 156"/>
                      <a:gd name="T47" fmla="*/ 186 h 206"/>
                      <a:gd name="T48" fmla="*/ 10 w 156"/>
                      <a:gd name="T49" fmla="*/ 148 h 206"/>
                      <a:gd name="T50" fmla="*/ 4 w 156"/>
                      <a:gd name="T51" fmla="*/ 130 h 206"/>
                      <a:gd name="T52" fmla="*/ 0 w 156"/>
                      <a:gd name="T53" fmla="*/ 118 h 206"/>
                      <a:gd name="T54" fmla="*/ 20 w 156"/>
                      <a:gd name="T55" fmla="*/ 96 h 206"/>
                      <a:gd name="T56" fmla="*/ 32 w 156"/>
                      <a:gd name="T57" fmla="*/ 104 h 206"/>
                      <a:gd name="T58" fmla="*/ 34 w 156"/>
                      <a:gd name="T59" fmla="*/ 80 h 206"/>
                      <a:gd name="T60" fmla="*/ 52 w 156"/>
                      <a:gd name="T61" fmla="*/ 70 h 206"/>
                      <a:gd name="T62" fmla="*/ 54 w 156"/>
                      <a:gd name="T63" fmla="*/ 66 h 20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</a:gdLst>
                    <a:ahLst/>
                    <a:cxnLst>
                      <a:cxn ang="T64">
                        <a:pos x="T0" y="T1"/>
                      </a:cxn>
                      <a:cxn ang="T65">
                        <a:pos x="T2" y="T3"/>
                      </a:cxn>
                      <a:cxn ang="T66">
                        <a:pos x="T4" y="T5"/>
                      </a:cxn>
                      <a:cxn ang="T67">
                        <a:pos x="T6" y="T7"/>
                      </a:cxn>
                      <a:cxn ang="T68">
                        <a:pos x="T8" y="T9"/>
                      </a:cxn>
                      <a:cxn ang="T69">
                        <a:pos x="T10" y="T11"/>
                      </a:cxn>
                      <a:cxn ang="T70">
                        <a:pos x="T12" y="T13"/>
                      </a:cxn>
                      <a:cxn ang="T71">
                        <a:pos x="T14" y="T15"/>
                      </a:cxn>
                      <a:cxn ang="T72">
                        <a:pos x="T16" y="T17"/>
                      </a:cxn>
                      <a:cxn ang="T73">
                        <a:pos x="T18" y="T19"/>
                      </a:cxn>
                      <a:cxn ang="T74">
                        <a:pos x="T20" y="T21"/>
                      </a:cxn>
                      <a:cxn ang="T75">
                        <a:pos x="T22" y="T23"/>
                      </a:cxn>
                      <a:cxn ang="T76">
                        <a:pos x="T24" y="T25"/>
                      </a:cxn>
                      <a:cxn ang="T77">
                        <a:pos x="T26" y="T27"/>
                      </a:cxn>
                      <a:cxn ang="T78">
                        <a:pos x="T28" y="T29"/>
                      </a:cxn>
                      <a:cxn ang="T79">
                        <a:pos x="T30" y="T31"/>
                      </a:cxn>
                      <a:cxn ang="T80">
                        <a:pos x="T32" y="T33"/>
                      </a:cxn>
                      <a:cxn ang="T81">
                        <a:pos x="T34" y="T35"/>
                      </a:cxn>
                      <a:cxn ang="T82">
                        <a:pos x="T36" y="T37"/>
                      </a:cxn>
                      <a:cxn ang="T83">
                        <a:pos x="T38" y="T39"/>
                      </a:cxn>
                      <a:cxn ang="T84">
                        <a:pos x="T40" y="T41"/>
                      </a:cxn>
                      <a:cxn ang="T85">
                        <a:pos x="T42" y="T43"/>
                      </a:cxn>
                      <a:cxn ang="T86">
                        <a:pos x="T44" y="T45"/>
                      </a:cxn>
                      <a:cxn ang="T87">
                        <a:pos x="T46" y="T47"/>
                      </a:cxn>
                      <a:cxn ang="T88">
                        <a:pos x="T48" y="T49"/>
                      </a:cxn>
                      <a:cxn ang="T89">
                        <a:pos x="T50" y="T51"/>
                      </a:cxn>
                      <a:cxn ang="T90">
                        <a:pos x="T52" y="T53"/>
                      </a:cxn>
                      <a:cxn ang="T91">
                        <a:pos x="T54" y="T55"/>
                      </a:cxn>
                      <a:cxn ang="T92">
                        <a:pos x="T56" y="T57"/>
                      </a:cxn>
                      <a:cxn ang="T93">
                        <a:pos x="T58" y="T59"/>
                      </a:cxn>
                      <a:cxn ang="T94">
                        <a:pos x="T60" y="T61"/>
                      </a:cxn>
                      <a:cxn ang="T95">
                        <a:pos x="T62" y="T63"/>
                      </a:cxn>
                    </a:cxnLst>
                    <a:rect l="0" t="0" r="r" b="b"/>
                    <a:pathLst>
                      <a:path w="156" h="206">
                        <a:moveTo>
                          <a:pt x="54" y="66"/>
                        </a:moveTo>
                        <a:cubicBezTo>
                          <a:pt x="58" y="63"/>
                          <a:pt x="64" y="63"/>
                          <a:pt x="66" y="58"/>
                        </a:cubicBezTo>
                        <a:cubicBezTo>
                          <a:pt x="67" y="56"/>
                          <a:pt x="67" y="53"/>
                          <a:pt x="68" y="52"/>
                        </a:cubicBezTo>
                        <a:cubicBezTo>
                          <a:pt x="71" y="49"/>
                          <a:pt x="80" y="44"/>
                          <a:pt x="80" y="44"/>
                        </a:cubicBezTo>
                        <a:cubicBezTo>
                          <a:pt x="113" y="55"/>
                          <a:pt x="85" y="29"/>
                          <a:pt x="106" y="22"/>
                        </a:cubicBezTo>
                        <a:cubicBezTo>
                          <a:pt x="110" y="17"/>
                          <a:pt x="108" y="9"/>
                          <a:pt x="112" y="4"/>
                        </a:cubicBezTo>
                        <a:cubicBezTo>
                          <a:pt x="115" y="1"/>
                          <a:pt x="124" y="0"/>
                          <a:pt x="124" y="0"/>
                        </a:cubicBezTo>
                        <a:cubicBezTo>
                          <a:pt x="138" y="14"/>
                          <a:pt x="126" y="23"/>
                          <a:pt x="150" y="28"/>
                        </a:cubicBezTo>
                        <a:cubicBezTo>
                          <a:pt x="156" y="36"/>
                          <a:pt x="154" y="39"/>
                          <a:pt x="146" y="44"/>
                        </a:cubicBezTo>
                        <a:cubicBezTo>
                          <a:pt x="141" y="52"/>
                          <a:pt x="135" y="61"/>
                          <a:pt x="126" y="64"/>
                        </a:cubicBezTo>
                        <a:cubicBezTo>
                          <a:pt x="118" y="75"/>
                          <a:pt x="128" y="83"/>
                          <a:pt x="132" y="94"/>
                        </a:cubicBezTo>
                        <a:cubicBezTo>
                          <a:pt x="129" y="103"/>
                          <a:pt x="135" y="105"/>
                          <a:pt x="142" y="110"/>
                        </a:cubicBezTo>
                        <a:cubicBezTo>
                          <a:pt x="145" y="119"/>
                          <a:pt x="141" y="120"/>
                          <a:pt x="146" y="128"/>
                        </a:cubicBezTo>
                        <a:cubicBezTo>
                          <a:pt x="142" y="139"/>
                          <a:pt x="135" y="133"/>
                          <a:pt x="128" y="128"/>
                        </a:cubicBezTo>
                        <a:cubicBezTo>
                          <a:pt x="116" y="132"/>
                          <a:pt x="122" y="136"/>
                          <a:pt x="116" y="146"/>
                        </a:cubicBezTo>
                        <a:cubicBezTo>
                          <a:pt x="113" y="151"/>
                          <a:pt x="108" y="152"/>
                          <a:pt x="104" y="156"/>
                        </a:cubicBezTo>
                        <a:cubicBezTo>
                          <a:pt x="107" y="167"/>
                          <a:pt x="112" y="191"/>
                          <a:pt x="100" y="198"/>
                        </a:cubicBezTo>
                        <a:cubicBezTo>
                          <a:pt x="96" y="200"/>
                          <a:pt x="92" y="200"/>
                          <a:pt x="88" y="202"/>
                        </a:cubicBezTo>
                        <a:cubicBezTo>
                          <a:pt x="86" y="203"/>
                          <a:pt x="84" y="205"/>
                          <a:pt x="82" y="206"/>
                        </a:cubicBezTo>
                        <a:cubicBezTo>
                          <a:pt x="80" y="205"/>
                          <a:pt x="77" y="204"/>
                          <a:pt x="76" y="202"/>
                        </a:cubicBezTo>
                        <a:cubicBezTo>
                          <a:pt x="74" y="198"/>
                          <a:pt x="76" y="191"/>
                          <a:pt x="72" y="190"/>
                        </a:cubicBezTo>
                        <a:cubicBezTo>
                          <a:pt x="68" y="189"/>
                          <a:pt x="60" y="186"/>
                          <a:pt x="60" y="186"/>
                        </a:cubicBezTo>
                        <a:cubicBezTo>
                          <a:pt x="53" y="188"/>
                          <a:pt x="49" y="192"/>
                          <a:pt x="42" y="194"/>
                        </a:cubicBezTo>
                        <a:cubicBezTo>
                          <a:pt x="34" y="189"/>
                          <a:pt x="37" y="183"/>
                          <a:pt x="28" y="186"/>
                        </a:cubicBezTo>
                        <a:cubicBezTo>
                          <a:pt x="12" y="181"/>
                          <a:pt x="19" y="161"/>
                          <a:pt x="10" y="148"/>
                        </a:cubicBezTo>
                        <a:cubicBezTo>
                          <a:pt x="5" y="121"/>
                          <a:pt x="11" y="147"/>
                          <a:pt x="4" y="130"/>
                        </a:cubicBezTo>
                        <a:cubicBezTo>
                          <a:pt x="2" y="126"/>
                          <a:pt x="0" y="118"/>
                          <a:pt x="0" y="118"/>
                        </a:cubicBezTo>
                        <a:cubicBezTo>
                          <a:pt x="2" y="95"/>
                          <a:pt x="0" y="83"/>
                          <a:pt x="20" y="96"/>
                        </a:cubicBezTo>
                        <a:cubicBezTo>
                          <a:pt x="23" y="105"/>
                          <a:pt x="23" y="110"/>
                          <a:pt x="32" y="104"/>
                        </a:cubicBezTo>
                        <a:cubicBezTo>
                          <a:pt x="35" y="95"/>
                          <a:pt x="29" y="88"/>
                          <a:pt x="34" y="80"/>
                        </a:cubicBezTo>
                        <a:cubicBezTo>
                          <a:pt x="36" y="76"/>
                          <a:pt x="48" y="73"/>
                          <a:pt x="52" y="70"/>
                        </a:cubicBezTo>
                        <a:cubicBezTo>
                          <a:pt x="57" y="63"/>
                          <a:pt x="58" y="62"/>
                          <a:pt x="54" y="6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2" name="Freeform 75"/>
                  <p:cNvSpPr>
                    <a:spLocks/>
                  </p:cNvSpPr>
                  <p:nvPr/>
                </p:nvSpPr>
                <p:spPr bwMode="ltGray">
                  <a:xfrm>
                    <a:off x="4580" y="572"/>
                    <a:ext cx="47" cy="13"/>
                  </a:xfrm>
                  <a:custGeom>
                    <a:avLst/>
                    <a:gdLst>
                      <a:gd name="T0" fmla="*/ 4 w 109"/>
                      <a:gd name="T1" fmla="*/ 32 h 38"/>
                      <a:gd name="T2" fmla="*/ 18 w 109"/>
                      <a:gd name="T3" fmla="*/ 10 h 38"/>
                      <a:gd name="T4" fmla="*/ 46 w 109"/>
                      <a:gd name="T5" fmla="*/ 20 h 38"/>
                      <a:gd name="T6" fmla="*/ 72 w 109"/>
                      <a:gd name="T7" fmla="*/ 14 h 38"/>
                      <a:gd name="T8" fmla="*/ 90 w 109"/>
                      <a:gd name="T9" fmla="*/ 0 h 38"/>
                      <a:gd name="T10" fmla="*/ 76 w 109"/>
                      <a:gd name="T11" fmla="*/ 26 h 38"/>
                      <a:gd name="T12" fmla="*/ 60 w 109"/>
                      <a:gd name="T13" fmla="*/ 38 h 38"/>
                      <a:gd name="T14" fmla="*/ 42 w 109"/>
                      <a:gd name="T15" fmla="*/ 32 h 38"/>
                      <a:gd name="T16" fmla="*/ 14 w 109"/>
                      <a:gd name="T17" fmla="*/ 30 h 38"/>
                      <a:gd name="T18" fmla="*/ 4 w 109"/>
                      <a:gd name="T19" fmla="*/ 32 h 38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109" h="38">
                        <a:moveTo>
                          <a:pt x="4" y="32"/>
                        </a:moveTo>
                        <a:cubicBezTo>
                          <a:pt x="7" y="22"/>
                          <a:pt x="7" y="14"/>
                          <a:pt x="18" y="10"/>
                        </a:cubicBezTo>
                        <a:cubicBezTo>
                          <a:pt x="28" y="12"/>
                          <a:pt x="37" y="14"/>
                          <a:pt x="46" y="20"/>
                        </a:cubicBezTo>
                        <a:cubicBezTo>
                          <a:pt x="62" y="15"/>
                          <a:pt x="54" y="17"/>
                          <a:pt x="72" y="14"/>
                        </a:cubicBezTo>
                        <a:cubicBezTo>
                          <a:pt x="77" y="9"/>
                          <a:pt x="90" y="0"/>
                          <a:pt x="90" y="0"/>
                        </a:cubicBezTo>
                        <a:cubicBezTo>
                          <a:pt x="109" y="6"/>
                          <a:pt x="85" y="23"/>
                          <a:pt x="76" y="26"/>
                        </a:cubicBezTo>
                        <a:cubicBezTo>
                          <a:pt x="71" y="33"/>
                          <a:pt x="68" y="35"/>
                          <a:pt x="60" y="38"/>
                        </a:cubicBezTo>
                        <a:cubicBezTo>
                          <a:pt x="54" y="36"/>
                          <a:pt x="42" y="32"/>
                          <a:pt x="42" y="32"/>
                        </a:cubicBezTo>
                        <a:cubicBezTo>
                          <a:pt x="33" y="23"/>
                          <a:pt x="26" y="26"/>
                          <a:pt x="14" y="30"/>
                        </a:cubicBezTo>
                        <a:cubicBezTo>
                          <a:pt x="1" y="28"/>
                          <a:pt x="0" y="24"/>
                          <a:pt x="4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3" name="Freeform 76"/>
                  <p:cNvSpPr>
                    <a:spLocks/>
                  </p:cNvSpPr>
                  <p:nvPr/>
                </p:nvSpPr>
                <p:spPr bwMode="ltGray">
                  <a:xfrm>
                    <a:off x="4578" y="588"/>
                    <a:ext cx="32" cy="34"/>
                  </a:xfrm>
                  <a:custGeom>
                    <a:avLst/>
                    <a:gdLst>
                      <a:gd name="T0" fmla="*/ 8 w 76"/>
                      <a:gd name="T1" fmla="*/ 18 h 104"/>
                      <a:gd name="T2" fmla="*/ 18 w 76"/>
                      <a:gd name="T3" fmla="*/ 0 h 104"/>
                      <a:gd name="T4" fmla="*/ 34 w 76"/>
                      <a:gd name="T5" fmla="*/ 18 h 104"/>
                      <a:gd name="T6" fmla="*/ 62 w 76"/>
                      <a:gd name="T7" fmla="*/ 4 h 104"/>
                      <a:gd name="T8" fmla="*/ 46 w 76"/>
                      <a:gd name="T9" fmla="*/ 34 h 104"/>
                      <a:gd name="T10" fmla="*/ 54 w 76"/>
                      <a:gd name="T11" fmla="*/ 48 h 104"/>
                      <a:gd name="T12" fmla="*/ 58 w 76"/>
                      <a:gd name="T13" fmla="*/ 60 h 104"/>
                      <a:gd name="T14" fmla="*/ 46 w 76"/>
                      <a:gd name="T15" fmla="*/ 74 h 104"/>
                      <a:gd name="T16" fmla="*/ 34 w 76"/>
                      <a:gd name="T17" fmla="*/ 60 h 104"/>
                      <a:gd name="T18" fmla="*/ 22 w 76"/>
                      <a:gd name="T19" fmla="*/ 48 h 104"/>
                      <a:gd name="T20" fmla="*/ 28 w 76"/>
                      <a:gd name="T21" fmla="*/ 68 h 104"/>
                      <a:gd name="T22" fmla="*/ 30 w 76"/>
                      <a:gd name="T23" fmla="*/ 74 h 104"/>
                      <a:gd name="T24" fmla="*/ 20 w 76"/>
                      <a:gd name="T25" fmla="*/ 104 h 104"/>
                      <a:gd name="T26" fmla="*/ 12 w 76"/>
                      <a:gd name="T27" fmla="*/ 102 h 104"/>
                      <a:gd name="T28" fmla="*/ 8 w 76"/>
                      <a:gd name="T29" fmla="*/ 90 h 104"/>
                      <a:gd name="T30" fmla="*/ 0 w 76"/>
                      <a:gd name="T31" fmla="*/ 54 h 104"/>
                      <a:gd name="T32" fmla="*/ 2 w 76"/>
                      <a:gd name="T33" fmla="*/ 30 h 104"/>
                      <a:gd name="T34" fmla="*/ 8 w 76"/>
                      <a:gd name="T35" fmla="*/ 18 h 104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0" t="0" r="r" b="b"/>
                    <a:pathLst>
                      <a:path w="76" h="104">
                        <a:moveTo>
                          <a:pt x="8" y="18"/>
                        </a:moveTo>
                        <a:cubicBezTo>
                          <a:pt x="10" y="8"/>
                          <a:pt x="9" y="3"/>
                          <a:pt x="18" y="0"/>
                        </a:cubicBezTo>
                        <a:cubicBezTo>
                          <a:pt x="28" y="3"/>
                          <a:pt x="25" y="12"/>
                          <a:pt x="34" y="18"/>
                        </a:cubicBezTo>
                        <a:cubicBezTo>
                          <a:pt x="46" y="16"/>
                          <a:pt x="51" y="8"/>
                          <a:pt x="62" y="4"/>
                        </a:cubicBezTo>
                        <a:cubicBezTo>
                          <a:pt x="76" y="9"/>
                          <a:pt x="56" y="31"/>
                          <a:pt x="46" y="34"/>
                        </a:cubicBezTo>
                        <a:cubicBezTo>
                          <a:pt x="51" y="56"/>
                          <a:pt x="43" y="29"/>
                          <a:pt x="54" y="48"/>
                        </a:cubicBezTo>
                        <a:cubicBezTo>
                          <a:pt x="56" y="52"/>
                          <a:pt x="58" y="60"/>
                          <a:pt x="58" y="60"/>
                        </a:cubicBezTo>
                        <a:cubicBezTo>
                          <a:pt x="55" y="68"/>
                          <a:pt x="54" y="71"/>
                          <a:pt x="46" y="74"/>
                        </a:cubicBezTo>
                        <a:cubicBezTo>
                          <a:pt x="38" y="71"/>
                          <a:pt x="37" y="68"/>
                          <a:pt x="34" y="60"/>
                        </a:cubicBezTo>
                        <a:cubicBezTo>
                          <a:pt x="33" y="50"/>
                          <a:pt x="32" y="33"/>
                          <a:pt x="22" y="48"/>
                        </a:cubicBezTo>
                        <a:cubicBezTo>
                          <a:pt x="25" y="60"/>
                          <a:pt x="23" y="53"/>
                          <a:pt x="28" y="68"/>
                        </a:cubicBezTo>
                        <a:cubicBezTo>
                          <a:pt x="29" y="70"/>
                          <a:pt x="30" y="74"/>
                          <a:pt x="30" y="74"/>
                        </a:cubicBezTo>
                        <a:cubicBezTo>
                          <a:pt x="24" y="84"/>
                          <a:pt x="22" y="93"/>
                          <a:pt x="20" y="104"/>
                        </a:cubicBezTo>
                        <a:cubicBezTo>
                          <a:pt x="17" y="103"/>
                          <a:pt x="14" y="104"/>
                          <a:pt x="12" y="102"/>
                        </a:cubicBezTo>
                        <a:cubicBezTo>
                          <a:pt x="9" y="99"/>
                          <a:pt x="8" y="90"/>
                          <a:pt x="8" y="90"/>
                        </a:cubicBezTo>
                        <a:cubicBezTo>
                          <a:pt x="13" y="75"/>
                          <a:pt x="14" y="64"/>
                          <a:pt x="0" y="54"/>
                        </a:cubicBezTo>
                        <a:cubicBezTo>
                          <a:pt x="1" y="46"/>
                          <a:pt x="1" y="38"/>
                          <a:pt x="2" y="30"/>
                        </a:cubicBezTo>
                        <a:cubicBezTo>
                          <a:pt x="2" y="27"/>
                          <a:pt x="13" y="2"/>
                          <a:pt x="8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4" name="Freeform 77"/>
                  <p:cNvSpPr>
                    <a:spLocks/>
                  </p:cNvSpPr>
                  <p:nvPr/>
                </p:nvSpPr>
                <p:spPr bwMode="ltGray">
                  <a:xfrm>
                    <a:off x="4632" y="569"/>
                    <a:ext cx="16" cy="20"/>
                  </a:xfrm>
                  <a:custGeom>
                    <a:avLst/>
                    <a:gdLst>
                      <a:gd name="T0" fmla="*/ 3 w 37"/>
                      <a:gd name="T1" fmla="*/ 28 h 61"/>
                      <a:gd name="T2" fmla="*/ 13 w 37"/>
                      <a:gd name="T3" fmla="*/ 0 h 61"/>
                      <a:gd name="T4" fmla="*/ 15 w 37"/>
                      <a:gd name="T5" fmla="*/ 28 h 61"/>
                      <a:gd name="T6" fmla="*/ 37 w 37"/>
                      <a:gd name="T7" fmla="*/ 38 h 61"/>
                      <a:gd name="T8" fmla="*/ 19 w 37"/>
                      <a:gd name="T9" fmla="*/ 44 h 61"/>
                      <a:gd name="T10" fmla="*/ 5 w 37"/>
                      <a:gd name="T11" fmla="*/ 58 h 61"/>
                      <a:gd name="T12" fmla="*/ 1 w 37"/>
                      <a:gd name="T13" fmla="*/ 34 h 61"/>
                      <a:gd name="T14" fmla="*/ 3 w 37"/>
                      <a:gd name="T15" fmla="*/ 28 h 6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7" h="61">
                        <a:moveTo>
                          <a:pt x="3" y="28"/>
                        </a:moveTo>
                        <a:cubicBezTo>
                          <a:pt x="5" y="14"/>
                          <a:pt x="2" y="7"/>
                          <a:pt x="13" y="0"/>
                        </a:cubicBezTo>
                        <a:cubicBezTo>
                          <a:pt x="26" y="9"/>
                          <a:pt x="23" y="17"/>
                          <a:pt x="15" y="28"/>
                        </a:cubicBezTo>
                        <a:cubicBezTo>
                          <a:pt x="25" y="31"/>
                          <a:pt x="33" y="27"/>
                          <a:pt x="37" y="38"/>
                        </a:cubicBezTo>
                        <a:cubicBezTo>
                          <a:pt x="30" y="45"/>
                          <a:pt x="28" y="47"/>
                          <a:pt x="19" y="44"/>
                        </a:cubicBezTo>
                        <a:cubicBezTo>
                          <a:pt x="13" y="54"/>
                          <a:pt x="18" y="61"/>
                          <a:pt x="5" y="58"/>
                        </a:cubicBezTo>
                        <a:cubicBezTo>
                          <a:pt x="0" y="50"/>
                          <a:pt x="3" y="44"/>
                          <a:pt x="1" y="34"/>
                        </a:cubicBezTo>
                        <a:cubicBezTo>
                          <a:pt x="2" y="32"/>
                          <a:pt x="3" y="28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5" name="Freeform 78"/>
                  <p:cNvSpPr>
                    <a:spLocks/>
                  </p:cNvSpPr>
                  <p:nvPr/>
                </p:nvSpPr>
                <p:spPr bwMode="ltGray">
                  <a:xfrm>
                    <a:off x="4636" y="600"/>
                    <a:ext cx="20" cy="10"/>
                  </a:xfrm>
                  <a:custGeom>
                    <a:avLst/>
                    <a:gdLst>
                      <a:gd name="T0" fmla="*/ 7 w 49"/>
                      <a:gd name="T1" fmla="*/ 0 h 29"/>
                      <a:gd name="T2" fmla="*/ 29 w 49"/>
                      <a:gd name="T3" fmla="*/ 0 h 29"/>
                      <a:gd name="T4" fmla="*/ 49 w 49"/>
                      <a:gd name="T5" fmla="*/ 16 h 29"/>
                      <a:gd name="T6" fmla="*/ 35 w 49"/>
                      <a:gd name="T7" fmla="*/ 14 h 29"/>
                      <a:gd name="T8" fmla="*/ 3 w 49"/>
                      <a:gd name="T9" fmla="*/ 16 h 29"/>
                      <a:gd name="T10" fmla="*/ 7 w 49"/>
                      <a:gd name="T11" fmla="*/ 0 h 29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9" h="29">
                        <a:moveTo>
                          <a:pt x="7" y="0"/>
                        </a:moveTo>
                        <a:cubicBezTo>
                          <a:pt x="15" y="6"/>
                          <a:pt x="19" y="2"/>
                          <a:pt x="29" y="0"/>
                        </a:cubicBezTo>
                        <a:cubicBezTo>
                          <a:pt x="45" y="5"/>
                          <a:pt x="40" y="3"/>
                          <a:pt x="49" y="16"/>
                        </a:cubicBezTo>
                        <a:cubicBezTo>
                          <a:pt x="46" y="29"/>
                          <a:pt x="42" y="21"/>
                          <a:pt x="35" y="14"/>
                        </a:cubicBezTo>
                        <a:cubicBezTo>
                          <a:pt x="26" y="15"/>
                          <a:pt x="12" y="19"/>
                          <a:pt x="3" y="16"/>
                        </a:cubicBezTo>
                        <a:cubicBezTo>
                          <a:pt x="0" y="6"/>
                          <a:pt x="7" y="10"/>
                          <a:pt x="7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6" name="Freeform 79"/>
                  <p:cNvSpPr>
                    <a:spLocks/>
                  </p:cNvSpPr>
                  <p:nvPr/>
                </p:nvSpPr>
                <p:spPr bwMode="ltGray">
                  <a:xfrm>
                    <a:off x="4657" y="585"/>
                    <a:ext cx="26" cy="17"/>
                  </a:xfrm>
                  <a:custGeom>
                    <a:avLst/>
                    <a:gdLst>
                      <a:gd name="T0" fmla="*/ 21 w 61"/>
                      <a:gd name="T1" fmla="*/ 38 h 48"/>
                      <a:gd name="T2" fmla="*/ 15 w 61"/>
                      <a:gd name="T3" fmla="*/ 26 h 48"/>
                      <a:gd name="T4" fmla="*/ 3 w 61"/>
                      <a:gd name="T5" fmla="*/ 22 h 48"/>
                      <a:gd name="T6" fmla="*/ 13 w 61"/>
                      <a:gd name="T7" fmla="*/ 8 h 48"/>
                      <a:gd name="T8" fmla="*/ 25 w 61"/>
                      <a:gd name="T9" fmla="*/ 0 h 48"/>
                      <a:gd name="T10" fmla="*/ 49 w 61"/>
                      <a:gd name="T11" fmla="*/ 10 h 48"/>
                      <a:gd name="T12" fmla="*/ 53 w 61"/>
                      <a:gd name="T13" fmla="*/ 20 h 48"/>
                      <a:gd name="T14" fmla="*/ 61 w 61"/>
                      <a:gd name="T15" fmla="*/ 32 h 48"/>
                      <a:gd name="T16" fmla="*/ 41 w 61"/>
                      <a:gd name="T17" fmla="*/ 38 h 48"/>
                      <a:gd name="T18" fmla="*/ 23 w 61"/>
                      <a:gd name="T19" fmla="*/ 44 h 48"/>
                      <a:gd name="T20" fmla="*/ 21 w 61"/>
                      <a:gd name="T21" fmla="*/ 38 h 48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1" h="48">
                        <a:moveTo>
                          <a:pt x="21" y="38"/>
                        </a:moveTo>
                        <a:cubicBezTo>
                          <a:pt x="19" y="34"/>
                          <a:pt x="19" y="29"/>
                          <a:pt x="15" y="26"/>
                        </a:cubicBezTo>
                        <a:cubicBezTo>
                          <a:pt x="12" y="24"/>
                          <a:pt x="3" y="22"/>
                          <a:pt x="3" y="22"/>
                        </a:cubicBezTo>
                        <a:cubicBezTo>
                          <a:pt x="0" y="12"/>
                          <a:pt x="5" y="12"/>
                          <a:pt x="13" y="8"/>
                        </a:cubicBezTo>
                        <a:cubicBezTo>
                          <a:pt x="17" y="6"/>
                          <a:pt x="25" y="0"/>
                          <a:pt x="25" y="0"/>
                        </a:cubicBezTo>
                        <a:cubicBezTo>
                          <a:pt x="37" y="2"/>
                          <a:pt x="41" y="2"/>
                          <a:pt x="49" y="10"/>
                        </a:cubicBezTo>
                        <a:cubicBezTo>
                          <a:pt x="45" y="21"/>
                          <a:pt x="46" y="12"/>
                          <a:pt x="53" y="20"/>
                        </a:cubicBezTo>
                        <a:cubicBezTo>
                          <a:pt x="56" y="24"/>
                          <a:pt x="61" y="32"/>
                          <a:pt x="61" y="32"/>
                        </a:cubicBezTo>
                        <a:cubicBezTo>
                          <a:pt x="56" y="47"/>
                          <a:pt x="53" y="42"/>
                          <a:pt x="41" y="38"/>
                        </a:cubicBezTo>
                        <a:cubicBezTo>
                          <a:pt x="27" y="47"/>
                          <a:pt x="34" y="48"/>
                          <a:pt x="23" y="44"/>
                        </a:cubicBezTo>
                        <a:cubicBezTo>
                          <a:pt x="22" y="42"/>
                          <a:pt x="21" y="38"/>
                          <a:pt x="21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7" name="Freeform 80"/>
                  <p:cNvSpPr>
                    <a:spLocks/>
                  </p:cNvSpPr>
                  <p:nvPr/>
                </p:nvSpPr>
                <p:spPr bwMode="ltGray">
                  <a:xfrm>
                    <a:off x="4664" y="593"/>
                    <a:ext cx="122" cy="61"/>
                  </a:xfrm>
                  <a:custGeom>
                    <a:avLst/>
                    <a:gdLst>
                      <a:gd name="T0" fmla="*/ 46 w 286"/>
                      <a:gd name="T1" fmla="*/ 28 h 182"/>
                      <a:gd name="T2" fmla="*/ 36 w 286"/>
                      <a:gd name="T3" fmla="*/ 14 h 182"/>
                      <a:gd name="T4" fmla="*/ 26 w 286"/>
                      <a:gd name="T5" fmla="*/ 30 h 182"/>
                      <a:gd name="T6" fmla="*/ 0 w 286"/>
                      <a:gd name="T7" fmla="*/ 24 h 182"/>
                      <a:gd name="T8" fmla="*/ 10 w 286"/>
                      <a:gd name="T9" fmla="*/ 42 h 182"/>
                      <a:gd name="T10" fmla="*/ 16 w 286"/>
                      <a:gd name="T11" fmla="*/ 62 h 182"/>
                      <a:gd name="T12" fmla="*/ 24 w 286"/>
                      <a:gd name="T13" fmla="*/ 48 h 182"/>
                      <a:gd name="T14" fmla="*/ 30 w 286"/>
                      <a:gd name="T15" fmla="*/ 44 h 182"/>
                      <a:gd name="T16" fmla="*/ 48 w 286"/>
                      <a:gd name="T17" fmla="*/ 56 h 182"/>
                      <a:gd name="T18" fmla="*/ 70 w 286"/>
                      <a:gd name="T19" fmla="*/ 62 h 182"/>
                      <a:gd name="T20" fmla="*/ 88 w 286"/>
                      <a:gd name="T21" fmla="*/ 72 h 182"/>
                      <a:gd name="T22" fmla="*/ 106 w 286"/>
                      <a:gd name="T23" fmla="*/ 102 h 182"/>
                      <a:gd name="T24" fmla="*/ 104 w 286"/>
                      <a:gd name="T25" fmla="*/ 122 h 182"/>
                      <a:gd name="T26" fmla="*/ 98 w 286"/>
                      <a:gd name="T27" fmla="*/ 134 h 182"/>
                      <a:gd name="T28" fmla="*/ 122 w 286"/>
                      <a:gd name="T29" fmla="*/ 128 h 182"/>
                      <a:gd name="T30" fmla="*/ 140 w 286"/>
                      <a:gd name="T31" fmla="*/ 140 h 182"/>
                      <a:gd name="T32" fmla="*/ 168 w 286"/>
                      <a:gd name="T33" fmla="*/ 148 h 182"/>
                      <a:gd name="T34" fmla="*/ 174 w 286"/>
                      <a:gd name="T35" fmla="*/ 146 h 182"/>
                      <a:gd name="T36" fmla="*/ 168 w 286"/>
                      <a:gd name="T37" fmla="*/ 134 h 182"/>
                      <a:gd name="T38" fmla="*/ 178 w 286"/>
                      <a:gd name="T39" fmla="*/ 136 h 182"/>
                      <a:gd name="T40" fmla="*/ 186 w 286"/>
                      <a:gd name="T41" fmla="*/ 118 h 182"/>
                      <a:gd name="T42" fmla="*/ 202 w 286"/>
                      <a:gd name="T43" fmla="*/ 122 h 182"/>
                      <a:gd name="T44" fmla="*/ 214 w 286"/>
                      <a:gd name="T45" fmla="*/ 130 h 182"/>
                      <a:gd name="T46" fmla="*/ 244 w 286"/>
                      <a:gd name="T47" fmla="*/ 168 h 182"/>
                      <a:gd name="T48" fmla="*/ 262 w 286"/>
                      <a:gd name="T49" fmla="*/ 178 h 182"/>
                      <a:gd name="T50" fmla="*/ 284 w 286"/>
                      <a:gd name="T51" fmla="*/ 170 h 182"/>
                      <a:gd name="T52" fmla="*/ 268 w 286"/>
                      <a:gd name="T53" fmla="*/ 160 h 182"/>
                      <a:gd name="T54" fmla="*/ 256 w 286"/>
                      <a:gd name="T55" fmla="*/ 138 h 182"/>
                      <a:gd name="T56" fmla="*/ 250 w 286"/>
                      <a:gd name="T57" fmla="*/ 132 h 182"/>
                      <a:gd name="T58" fmla="*/ 248 w 286"/>
                      <a:gd name="T59" fmla="*/ 122 h 182"/>
                      <a:gd name="T60" fmla="*/ 236 w 286"/>
                      <a:gd name="T61" fmla="*/ 116 h 182"/>
                      <a:gd name="T62" fmla="*/ 240 w 286"/>
                      <a:gd name="T63" fmla="*/ 96 h 182"/>
                      <a:gd name="T64" fmla="*/ 220 w 286"/>
                      <a:gd name="T65" fmla="*/ 86 h 182"/>
                      <a:gd name="T66" fmla="*/ 210 w 286"/>
                      <a:gd name="T67" fmla="*/ 70 h 182"/>
                      <a:gd name="T68" fmla="*/ 190 w 286"/>
                      <a:gd name="T69" fmla="*/ 54 h 182"/>
                      <a:gd name="T70" fmla="*/ 168 w 286"/>
                      <a:gd name="T71" fmla="*/ 38 h 182"/>
                      <a:gd name="T72" fmla="*/ 156 w 286"/>
                      <a:gd name="T73" fmla="*/ 34 h 182"/>
                      <a:gd name="T74" fmla="*/ 120 w 286"/>
                      <a:gd name="T75" fmla="*/ 16 h 182"/>
                      <a:gd name="T76" fmla="*/ 102 w 286"/>
                      <a:gd name="T77" fmla="*/ 4 h 182"/>
                      <a:gd name="T78" fmla="*/ 96 w 286"/>
                      <a:gd name="T79" fmla="*/ 0 h 182"/>
                      <a:gd name="T80" fmla="*/ 70 w 286"/>
                      <a:gd name="T81" fmla="*/ 10 h 182"/>
                      <a:gd name="T82" fmla="*/ 56 w 286"/>
                      <a:gd name="T83" fmla="*/ 32 h 182"/>
                      <a:gd name="T84" fmla="*/ 46 w 286"/>
                      <a:gd name="T85" fmla="*/ 28 h 182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</a:gdLst>
                    <a:ahLst/>
                    <a:cxnLst>
                      <a:cxn ang="T86">
                        <a:pos x="T0" y="T1"/>
                      </a:cxn>
                      <a:cxn ang="T87">
                        <a:pos x="T2" y="T3"/>
                      </a:cxn>
                      <a:cxn ang="T88">
                        <a:pos x="T4" y="T5"/>
                      </a:cxn>
                      <a:cxn ang="T89">
                        <a:pos x="T6" y="T7"/>
                      </a:cxn>
                      <a:cxn ang="T90">
                        <a:pos x="T8" y="T9"/>
                      </a:cxn>
                      <a:cxn ang="T91">
                        <a:pos x="T10" y="T11"/>
                      </a:cxn>
                      <a:cxn ang="T92">
                        <a:pos x="T12" y="T13"/>
                      </a:cxn>
                      <a:cxn ang="T93">
                        <a:pos x="T14" y="T15"/>
                      </a:cxn>
                      <a:cxn ang="T94">
                        <a:pos x="T16" y="T17"/>
                      </a:cxn>
                      <a:cxn ang="T95">
                        <a:pos x="T18" y="T19"/>
                      </a:cxn>
                      <a:cxn ang="T96">
                        <a:pos x="T20" y="T21"/>
                      </a:cxn>
                      <a:cxn ang="T97">
                        <a:pos x="T22" y="T23"/>
                      </a:cxn>
                      <a:cxn ang="T98">
                        <a:pos x="T24" y="T25"/>
                      </a:cxn>
                      <a:cxn ang="T99">
                        <a:pos x="T26" y="T27"/>
                      </a:cxn>
                      <a:cxn ang="T100">
                        <a:pos x="T28" y="T29"/>
                      </a:cxn>
                      <a:cxn ang="T101">
                        <a:pos x="T30" y="T31"/>
                      </a:cxn>
                      <a:cxn ang="T102">
                        <a:pos x="T32" y="T33"/>
                      </a:cxn>
                      <a:cxn ang="T103">
                        <a:pos x="T34" y="T35"/>
                      </a:cxn>
                      <a:cxn ang="T104">
                        <a:pos x="T36" y="T37"/>
                      </a:cxn>
                      <a:cxn ang="T105">
                        <a:pos x="T38" y="T39"/>
                      </a:cxn>
                      <a:cxn ang="T106">
                        <a:pos x="T40" y="T41"/>
                      </a:cxn>
                      <a:cxn ang="T107">
                        <a:pos x="T42" y="T43"/>
                      </a:cxn>
                      <a:cxn ang="T108">
                        <a:pos x="T44" y="T45"/>
                      </a:cxn>
                      <a:cxn ang="T109">
                        <a:pos x="T46" y="T47"/>
                      </a:cxn>
                      <a:cxn ang="T110">
                        <a:pos x="T48" y="T49"/>
                      </a:cxn>
                      <a:cxn ang="T111">
                        <a:pos x="T50" y="T51"/>
                      </a:cxn>
                      <a:cxn ang="T112">
                        <a:pos x="T52" y="T53"/>
                      </a:cxn>
                      <a:cxn ang="T113">
                        <a:pos x="T54" y="T55"/>
                      </a:cxn>
                      <a:cxn ang="T114">
                        <a:pos x="T56" y="T57"/>
                      </a:cxn>
                      <a:cxn ang="T115">
                        <a:pos x="T58" y="T59"/>
                      </a:cxn>
                      <a:cxn ang="T116">
                        <a:pos x="T60" y="T61"/>
                      </a:cxn>
                      <a:cxn ang="T117">
                        <a:pos x="T62" y="T63"/>
                      </a:cxn>
                      <a:cxn ang="T118">
                        <a:pos x="T64" y="T65"/>
                      </a:cxn>
                      <a:cxn ang="T119">
                        <a:pos x="T66" y="T67"/>
                      </a:cxn>
                      <a:cxn ang="T120">
                        <a:pos x="T68" y="T69"/>
                      </a:cxn>
                      <a:cxn ang="T121">
                        <a:pos x="T70" y="T71"/>
                      </a:cxn>
                      <a:cxn ang="T122">
                        <a:pos x="T72" y="T73"/>
                      </a:cxn>
                      <a:cxn ang="T123">
                        <a:pos x="T74" y="T75"/>
                      </a:cxn>
                      <a:cxn ang="T124">
                        <a:pos x="T76" y="T77"/>
                      </a:cxn>
                      <a:cxn ang="T125">
                        <a:pos x="T78" y="T79"/>
                      </a:cxn>
                      <a:cxn ang="T126">
                        <a:pos x="T80" y="T81"/>
                      </a:cxn>
                      <a:cxn ang="T127">
                        <a:pos x="T82" y="T83"/>
                      </a:cxn>
                      <a:cxn ang="T128">
                        <a:pos x="T84" y="T85"/>
                      </a:cxn>
                    </a:cxnLst>
                    <a:rect l="0" t="0" r="r" b="b"/>
                    <a:pathLst>
                      <a:path w="286" h="182">
                        <a:moveTo>
                          <a:pt x="46" y="28"/>
                        </a:moveTo>
                        <a:cubicBezTo>
                          <a:pt x="41" y="14"/>
                          <a:pt x="46" y="17"/>
                          <a:pt x="36" y="14"/>
                        </a:cubicBezTo>
                        <a:cubicBezTo>
                          <a:pt x="31" y="17"/>
                          <a:pt x="26" y="30"/>
                          <a:pt x="26" y="30"/>
                        </a:cubicBezTo>
                        <a:cubicBezTo>
                          <a:pt x="12" y="25"/>
                          <a:pt x="19" y="21"/>
                          <a:pt x="0" y="24"/>
                        </a:cubicBezTo>
                        <a:cubicBezTo>
                          <a:pt x="2" y="33"/>
                          <a:pt x="2" y="37"/>
                          <a:pt x="10" y="42"/>
                        </a:cubicBezTo>
                        <a:cubicBezTo>
                          <a:pt x="12" y="49"/>
                          <a:pt x="14" y="55"/>
                          <a:pt x="16" y="62"/>
                        </a:cubicBezTo>
                        <a:cubicBezTo>
                          <a:pt x="24" y="59"/>
                          <a:pt x="27" y="57"/>
                          <a:pt x="24" y="48"/>
                        </a:cubicBezTo>
                        <a:cubicBezTo>
                          <a:pt x="26" y="47"/>
                          <a:pt x="28" y="43"/>
                          <a:pt x="30" y="44"/>
                        </a:cubicBezTo>
                        <a:cubicBezTo>
                          <a:pt x="48" y="48"/>
                          <a:pt x="36" y="52"/>
                          <a:pt x="48" y="56"/>
                        </a:cubicBezTo>
                        <a:cubicBezTo>
                          <a:pt x="74" y="65"/>
                          <a:pt x="47" y="56"/>
                          <a:pt x="70" y="62"/>
                        </a:cubicBezTo>
                        <a:cubicBezTo>
                          <a:pt x="77" y="64"/>
                          <a:pt x="88" y="72"/>
                          <a:pt x="88" y="72"/>
                        </a:cubicBezTo>
                        <a:cubicBezTo>
                          <a:pt x="96" y="84"/>
                          <a:pt x="102" y="87"/>
                          <a:pt x="106" y="102"/>
                        </a:cubicBezTo>
                        <a:cubicBezTo>
                          <a:pt x="105" y="109"/>
                          <a:pt x="106" y="115"/>
                          <a:pt x="104" y="122"/>
                        </a:cubicBezTo>
                        <a:cubicBezTo>
                          <a:pt x="103" y="126"/>
                          <a:pt x="94" y="132"/>
                          <a:pt x="98" y="134"/>
                        </a:cubicBezTo>
                        <a:cubicBezTo>
                          <a:pt x="106" y="137"/>
                          <a:pt x="122" y="128"/>
                          <a:pt x="122" y="128"/>
                        </a:cubicBezTo>
                        <a:cubicBezTo>
                          <a:pt x="130" y="131"/>
                          <a:pt x="133" y="135"/>
                          <a:pt x="140" y="140"/>
                        </a:cubicBezTo>
                        <a:cubicBezTo>
                          <a:pt x="148" y="145"/>
                          <a:pt x="159" y="145"/>
                          <a:pt x="168" y="148"/>
                        </a:cubicBezTo>
                        <a:cubicBezTo>
                          <a:pt x="170" y="147"/>
                          <a:pt x="173" y="148"/>
                          <a:pt x="174" y="146"/>
                        </a:cubicBezTo>
                        <a:cubicBezTo>
                          <a:pt x="176" y="142"/>
                          <a:pt x="164" y="136"/>
                          <a:pt x="168" y="134"/>
                        </a:cubicBezTo>
                        <a:cubicBezTo>
                          <a:pt x="171" y="132"/>
                          <a:pt x="175" y="135"/>
                          <a:pt x="178" y="136"/>
                        </a:cubicBezTo>
                        <a:cubicBezTo>
                          <a:pt x="182" y="131"/>
                          <a:pt x="186" y="118"/>
                          <a:pt x="186" y="118"/>
                        </a:cubicBezTo>
                        <a:cubicBezTo>
                          <a:pt x="189" y="119"/>
                          <a:pt x="199" y="120"/>
                          <a:pt x="202" y="122"/>
                        </a:cubicBezTo>
                        <a:cubicBezTo>
                          <a:pt x="206" y="124"/>
                          <a:pt x="214" y="130"/>
                          <a:pt x="214" y="130"/>
                        </a:cubicBezTo>
                        <a:cubicBezTo>
                          <a:pt x="224" y="145"/>
                          <a:pt x="228" y="158"/>
                          <a:pt x="244" y="168"/>
                        </a:cubicBezTo>
                        <a:cubicBezTo>
                          <a:pt x="250" y="172"/>
                          <a:pt x="262" y="178"/>
                          <a:pt x="262" y="178"/>
                        </a:cubicBezTo>
                        <a:cubicBezTo>
                          <a:pt x="265" y="178"/>
                          <a:pt x="286" y="182"/>
                          <a:pt x="284" y="170"/>
                        </a:cubicBezTo>
                        <a:cubicBezTo>
                          <a:pt x="283" y="164"/>
                          <a:pt x="268" y="160"/>
                          <a:pt x="268" y="160"/>
                        </a:cubicBezTo>
                        <a:cubicBezTo>
                          <a:pt x="261" y="150"/>
                          <a:pt x="270" y="143"/>
                          <a:pt x="256" y="138"/>
                        </a:cubicBezTo>
                        <a:cubicBezTo>
                          <a:pt x="254" y="136"/>
                          <a:pt x="251" y="135"/>
                          <a:pt x="250" y="132"/>
                        </a:cubicBezTo>
                        <a:cubicBezTo>
                          <a:pt x="248" y="129"/>
                          <a:pt x="250" y="125"/>
                          <a:pt x="248" y="122"/>
                        </a:cubicBezTo>
                        <a:cubicBezTo>
                          <a:pt x="246" y="118"/>
                          <a:pt x="240" y="118"/>
                          <a:pt x="236" y="116"/>
                        </a:cubicBezTo>
                        <a:cubicBezTo>
                          <a:pt x="230" y="107"/>
                          <a:pt x="227" y="100"/>
                          <a:pt x="240" y="96"/>
                        </a:cubicBezTo>
                        <a:cubicBezTo>
                          <a:pt x="236" y="83"/>
                          <a:pt x="236" y="84"/>
                          <a:pt x="220" y="86"/>
                        </a:cubicBezTo>
                        <a:cubicBezTo>
                          <a:pt x="209" y="82"/>
                          <a:pt x="208" y="82"/>
                          <a:pt x="210" y="70"/>
                        </a:cubicBezTo>
                        <a:cubicBezTo>
                          <a:pt x="207" y="60"/>
                          <a:pt x="199" y="57"/>
                          <a:pt x="190" y="54"/>
                        </a:cubicBezTo>
                        <a:cubicBezTo>
                          <a:pt x="181" y="45"/>
                          <a:pt x="181" y="42"/>
                          <a:pt x="168" y="38"/>
                        </a:cubicBezTo>
                        <a:cubicBezTo>
                          <a:pt x="164" y="37"/>
                          <a:pt x="156" y="34"/>
                          <a:pt x="156" y="34"/>
                        </a:cubicBezTo>
                        <a:cubicBezTo>
                          <a:pt x="146" y="24"/>
                          <a:pt x="134" y="21"/>
                          <a:pt x="120" y="16"/>
                        </a:cubicBezTo>
                        <a:cubicBezTo>
                          <a:pt x="113" y="14"/>
                          <a:pt x="108" y="8"/>
                          <a:pt x="102" y="4"/>
                        </a:cubicBezTo>
                        <a:cubicBezTo>
                          <a:pt x="100" y="3"/>
                          <a:pt x="96" y="0"/>
                          <a:pt x="96" y="0"/>
                        </a:cubicBezTo>
                        <a:cubicBezTo>
                          <a:pt x="83" y="2"/>
                          <a:pt x="79" y="1"/>
                          <a:pt x="70" y="10"/>
                        </a:cubicBezTo>
                        <a:cubicBezTo>
                          <a:pt x="67" y="19"/>
                          <a:pt x="63" y="27"/>
                          <a:pt x="56" y="32"/>
                        </a:cubicBezTo>
                        <a:cubicBezTo>
                          <a:pt x="49" y="30"/>
                          <a:pt x="52" y="31"/>
                          <a:pt x="4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8" name="Freeform 81"/>
                  <p:cNvSpPr>
                    <a:spLocks/>
                  </p:cNvSpPr>
                  <p:nvPr/>
                </p:nvSpPr>
                <p:spPr bwMode="ltGray">
                  <a:xfrm>
                    <a:off x="4770" y="599"/>
                    <a:ext cx="33" cy="26"/>
                  </a:xfrm>
                  <a:custGeom>
                    <a:avLst/>
                    <a:gdLst>
                      <a:gd name="T0" fmla="*/ 1 w 78"/>
                      <a:gd name="T1" fmla="*/ 58 h 78"/>
                      <a:gd name="T2" fmla="*/ 27 w 78"/>
                      <a:gd name="T3" fmla="*/ 60 h 78"/>
                      <a:gd name="T4" fmla="*/ 45 w 78"/>
                      <a:gd name="T5" fmla="*/ 48 h 78"/>
                      <a:gd name="T6" fmla="*/ 57 w 78"/>
                      <a:gd name="T7" fmla="*/ 30 h 78"/>
                      <a:gd name="T8" fmla="*/ 43 w 78"/>
                      <a:gd name="T9" fmla="*/ 14 h 78"/>
                      <a:gd name="T10" fmla="*/ 43 w 78"/>
                      <a:gd name="T11" fmla="*/ 4 h 78"/>
                      <a:gd name="T12" fmla="*/ 71 w 78"/>
                      <a:gd name="T13" fmla="*/ 26 h 78"/>
                      <a:gd name="T14" fmla="*/ 67 w 78"/>
                      <a:gd name="T15" fmla="*/ 54 h 78"/>
                      <a:gd name="T16" fmla="*/ 33 w 78"/>
                      <a:gd name="T17" fmla="*/ 78 h 78"/>
                      <a:gd name="T18" fmla="*/ 9 w 78"/>
                      <a:gd name="T19" fmla="*/ 66 h 78"/>
                      <a:gd name="T20" fmla="*/ 3 w 78"/>
                      <a:gd name="T21" fmla="*/ 62 h 78"/>
                      <a:gd name="T22" fmla="*/ 1 w 78"/>
                      <a:gd name="T23" fmla="*/ 58 h 78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78" h="78">
                        <a:moveTo>
                          <a:pt x="1" y="58"/>
                        </a:moveTo>
                        <a:cubicBezTo>
                          <a:pt x="6" y="44"/>
                          <a:pt x="18" y="57"/>
                          <a:pt x="27" y="60"/>
                        </a:cubicBezTo>
                        <a:cubicBezTo>
                          <a:pt x="35" y="57"/>
                          <a:pt x="38" y="52"/>
                          <a:pt x="45" y="48"/>
                        </a:cubicBezTo>
                        <a:cubicBezTo>
                          <a:pt x="48" y="40"/>
                          <a:pt x="51" y="36"/>
                          <a:pt x="57" y="30"/>
                        </a:cubicBezTo>
                        <a:cubicBezTo>
                          <a:pt x="55" y="23"/>
                          <a:pt x="43" y="14"/>
                          <a:pt x="43" y="14"/>
                        </a:cubicBezTo>
                        <a:cubicBezTo>
                          <a:pt x="33" y="0"/>
                          <a:pt x="30" y="1"/>
                          <a:pt x="43" y="4"/>
                        </a:cubicBezTo>
                        <a:cubicBezTo>
                          <a:pt x="54" y="11"/>
                          <a:pt x="58" y="22"/>
                          <a:pt x="71" y="26"/>
                        </a:cubicBezTo>
                        <a:cubicBezTo>
                          <a:pt x="78" y="37"/>
                          <a:pt x="78" y="46"/>
                          <a:pt x="67" y="54"/>
                        </a:cubicBezTo>
                        <a:cubicBezTo>
                          <a:pt x="51" y="49"/>
                          <a:pt x="53" y="71"/>
                          <a:pt x="33" y="78"/>
                        </a:cubicBezTo>
                        <a:cubicBezTo>
                          <a:pt x="16" y="72"/>
                          <a:pt x="25" y="76"/>
                          <a:pt x="9" y="66"/>
                        </a:cubicBezTo>
                        <a:cubicBezTo>
                          <a:pt x="7" y="65"/>
                          <a:pt x="3" y="62"/>
                          <a:pt x="3" y="62"/>
                        </a:cubicBezTo>
                        <a:cubicBezTo>
                          <a:pt x="0" y="54"/>
                          <a:pt x="13" y="42"/>
                          <a:pt x="1" y="5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9" name="Freeform 82"/>
                  <p:cNvSpPr>
                    <a:spLocks/>
                  </p:cNvSpPr>
                  <p:nvPr/>
                </p:nvSpPr>
                <p:spPr bwMode="ltGray">
                  <a:xfrm>
                    <a:off x="4840" y="544"/>
                    <a:ext cx="8" cy="6"/>
                  </a:xfrm>
                  <a:custGeom>
                    <a:avLst/>
                    <a:gdLst>
                      <a:gd name="T0" fmla="*/ 3 w 17"/>
                      <a:gd name="T1" fmla="*/ 4 h 18"/>
                      <a:gd name="T2" fmla="*/ 3 w 17"/>
                      <a:gd name="T3" fmla="*/ 14 h 18"/>
                      <a:gd name="T4" fmla="*/ 3 w 17"/>
                      <a:gd name="T5" fmla="*/ 4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7" h="18">
                        <a:moveTo>
                          <a:pt x="3" y="4"/>
                        </a:moveTo>
                        <a:cubicBezTo>
                          <a:pt x="17" y="7"/>
                          <a:pt x="16" y="18"/>
                          <a:pt x="3" y="14"/>
                        </a:cubicBezTo>
                        <a:cubicBezTo>
                          <a:pt x="0" y="6"/>
                          <a:pt x="7" y="0"/>
                          <a:pt x="3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0" name="Freeform 83"/>
                  <p:cNvSpPr>
                    <a:spLocks/>
                  </p:cNvSpPr>
                  <p:nvPr/>
                </p:nvSpPr>
                <p:spPr bwMode="ltGray">
                  <a:xfrm>
                    <a:off x="4747" y="494"/>
                    <a:ext cx="8" cy="5"/>
                  </a:xfrm>
                  <a:custGeom>
                    <a:avLst/>
                    <a:gdLst>
                      <a:gd name="T0" fmla="*/ 7 w 20"/>
                      <a:gd name="T1" fmla="*/ 12 h 15"/>
                      <a:gd name="T2" fmla="*/ 17 w 20"/>
                      <a:gd name="T3" fmla="*/ 2 h 15"/>
                      <a:gd name="T4" fmla="*/ 9 w 20"/>
                      <a:gd name="T5" fmla="*/ 12 h 15"/>
                      <a:gd name="T6" fmla="*/ 7 w 20"/>
                      <a:gd name="T7" fmla="*/ 12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1"/>
                          <a:pt x="6" y="0"/>
                          <a:pt x="17" y="2"/>
                        </a:cubicBezTo>
                        <a:cubicBezTo>
                          <a:pt x="20" y="10"/>
                          <a:pt x="18" y="15"/>
                          <a:pt x="9" y="12"/>
                        </a:cubicBezTo>
                        <a:cubicBezTo>
                          <a:pt x="4" y="4"/>
                          <a:pt x="4" y="4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1" name="Freeform 84"/>
                  <p:cNvSpPr>
                    <a:spLocks/>
                  </p:cNvSpPr>
                  <p:nvPr/>
                </p:nvSpPr>
                <p:spPr bwMode="ltGray">
                  <a:xfrm>
                    <a:off x="4676" y="536"/>
                    <a:ext cx="8" cy="5"/>
                  </a:xfrm>
                  <a:custGeom>
                    <a:avLst/>
                    <a:gdLst>
                      <a:gd name="T0" fmla="*/ 7 w 20"/>
                      <a:gd name="T1" fmla="*/ 12 h 15"/>
                      <a:gd name="T2" fmla="*/ 15 w 20"/>
                      <a:gd name="T3" fmla="*/ 2 h 15"/>
                      <a:gd name="T4" fmla="*/ 15 w 20"/>
                      <a:gd name="T5" fmla="*/ 14 h 15"/>
                      <a:gd name="T6" fmla="*/ 7 w 20"/>
                      <a:gd name="T7" fmla="*/ 12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2"/>
                          <a:pt x="3" y="0"/>
                          <a:pt x="15" y="2"/>
                        </a:cubicBezTo>
                        <a:cubicBezTo>
                          <a:pt x="16" y="4"/>
                          <a:pt x="20" y="12"/>
                          <a:pt x="15" y="14"/>
                        </a:cubicBezTo>
                        <a:cubicBezTo>
                          <a:pt x="12" y="15"/>
                          <a:pt x="7" y="12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2" name="Freeform 85"/>
                  <p:cNvSpPr>
                    <a:spLocks/>
                  </p:cNvSpPr>
                  <p:nvPr/>
                </p:nvSpPr>
                <p:spPr bwMode="ltGray">
                  <a:xfrm>
                    <a:off x="4598" y="523"/>
                    <a:ext cx="34" cy="27"/>
                  </a:xfrm>
                  <a:custGeom>
                    <a:avLst/>
                    <a:gdLst>
                      <a:gd name="T0" fmla="*/ 0 w 80"/>
                      <a:gd name="T1" fmla="*/ 50 h 80"/>
                      <a:gd name="T2" fmla="*/ 14 w 80"/>
                      <a:gd name="T3" fmla="*/ 24 h 80"/>
                      <a:gd name="T4" fmla="*/ 26 w 80"/>
                      <a:gd name="T5" fmla="*/ 20 h 80"/>
                      <a:gd name="T6" fmla="*/ 48 w 80"/>
                      <a:gd name="T7" fmla="*/ 18 h 80"/>
                      <a:gd name="T8" fmla="*/ 58 w 80"/>
                      <a:gd name="T9" fmla="*/ 0 h 80"/>
                      <a:gd name="T10" fmla="*/ 80 w 80"/>
                      <a:gd name="T11" fmla="*/ 40 h 80"/>
                      <a:gd name="T12" fmla="*/ 70 w 80"/>
                      <a:gd name="T13" fmla="*/ 56 h 80"/>
                      <a:gd name="T14" fmla="*/ 54 w 80"/>
                      <a:gd name="T15" fmla="*/ 62 h 80"/>
                      <a:gd name="T16" fmla="*/ 48 w 80"/>
                      <a:gd name="T17" fmla="*/ 80 h 80"/>
                      <a:gd name="T18" fmla="*/ 32 w 80"/>
                      <a:gd name="T19" fmla="*/ 68 h 80"/>
                      <a:gd name="T20" fmla="*/ 38 w 80"/>
                      <a:gd name="T21" fmla="*/ 52 h 80"/>
                      <a:gd name="T22" fmla="*/ 30 w 80"/>
                      <a:gd name="T23" fmla="*/ 28 h 80"/>
                      <a:gd name="T24" fmla="*/ 20 w 80"/>
                      <a:gd name="T25" fmla="*/ 48 h 80"/>
                      <a:gd name="T26" fmla="*/ 8 w 80"/>
                      <a:gd name="T27" fmla="*/ 56 h 80"/>
                      <a:gd name="T28" fmla="*/ 0 w 80"/>
                      <a:gd name="T29" fmla="*/ 50 h 80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0" t="0" r="r" b="b"/>
                    <a:pathLst>
                      <a:path w="80" h="80">
                        <a:moveTo>
                          <a:pt x="0" y="50"/>
                        </a:moveTo>
                        <a:cubicBezTo>
                          <a:pt x="1" y="47"/>
                          <a:pt x="12" y="25"/>
                          <a:pt x="14" y="24"/>
                        </a:cubicBezTo>
                        <a:cubicBezTo>
                          <a:pt x="17" y="22"/>
                          <a:pt x="26" y="20"/>
                          <a:pt x="26" y="20"/>
                        </a:cubicBezTo>
                        <a:cubicBezTo>
                          <a:pt x="34" y="23"/>
                          <a:pt x="40" y="21"/>
                          <a:pt x="48" y="18"/>
                        </a:cubicBezTo>
                        <a:cubicBezTo>
                          <a:pt x="52" y="12"/>
                          <a:pt x="54" y="6"/>
                          <a:pt x="58" y="0"/>
                        </a:cubicBezTo>
                        <a:cubicBezTo>
                          <a:pt x="70" y="4"/>
                          <a:pt x="76" y="28"/>
                          <a:pt x="80" y="40"/>
                        </a:cubicBezTo>
                        <a:cubicBezTo>
                          <a:pt x="75" y="54"/>
                          <a:pt x="80" y="50"/>
                          <a:pt x="70" y="56"/>
                        </a:cubicBezTo>
                        <a:cubicBezTo>
                          <a:pt x="61" y="53"/>
                          <a:pt x="59" y="54"/>
                          <a:pt x="54" y="62"/>
                        </a:cubicBezTo>
                        <a:cubicBezTo>
                          <a:pt x="57" y="71"/>
                          <a:pt x="56" y="75"/>
                          <a:pt x="48" y="80"/>
                        </a:cubicBezTo>
                        <a:cubicBezTo>
                          <a:pt x="40" y="77"/>
                          <a:pt x="39" y="72"/>
                          <a:pt x="32" y="68"/>
                        </a:cubicBezTo>
                        <a:cubicBezTo>
                          <a:pt x="26" y="59"/>
                          <a:pt x="30" y="57"/>
                          <a:pt x="38" y="52"/>
                        </a:cubicBezTo>
                        <a:cubicBezTo>
                          <a:pt x="41" y="42"/>
                          <a:pt x="39" y="34"/>
                          <a:pt x="30" y="28"/>
                        </a:cubicBezTo>
                        <a:cubicBezTo>
                          <a:pt x="20" y="31"/>
                          <a:pt x="30" y="40"/>
                          <a:pt x="20" y="48"/>
                        </a:cubicBezTo>
                        <a:cubicBezTo>
                          <a:pt x="16" y="51"/>
                          <a:pt x="8" y="56"/>
                          <a:pt x="8" y="56"/>
                        </a:cubicBezTo>
                        <a:cubicBezTo>
                          <a:pt x="2" y="50"/>
                          <a:pt x="5" y="50"/>
                          <a:pt x="0" y="5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3" name="Freeform 86"/>
                  <p:cNvSpPr>
                    <a:spLocks/>
                  </p:cNvSpPr>
                  <p:nvPr/>
                </p:nvSpPr>
                <p:spPr bwMode="ltGray">
                  <a:xfrm>
                    <a:off x="4587" y="466"/>
                    <a:ext cx="40" cy="58"/>
                  </a:xfrm>
                  <a:custGeom>
                    <a:avLst/>
                    <a:gdLst>
                      <a:gd name="T0" fmla="*/ 14 w 94"/>
                      <a:gd name="T1" fmla="*/ 96 h 174"/>
                      <a:gd name="T2" fmla="*/ 26 w 94"/>
                      <a:gd name="T3" fmla="*/ 128 h 174"/>
                      <a:gd name="T4" fmla="*/ 32 w 94"/>
                      <a:gd name="T5" fmla="*/ 108 h 174"/>
                      <a:gd name="T6" fmla="*/ 52 w 94"/>
                      <a:gd name="T7" fmla="*/ 100 h 174"/>
                      <a:gd name="T8" fmla="*/ 46 w 94"/>
                      <a:gd name="T9" fmla="*/ 124 h 174"/>
                      <a:gd name="T10" fmla="*/ 66 w 94"/>
                      <a:gd name="T11" fmla="*/ 126 h 174"/>
                      <a:gd name="T12" fmla="*/ 76 w 94"/>
                      <a:gd name="T13" fmla="*/ 142 h 174"/>
                      <a:gd name="T14" fmla="*/ 58 w 94"/>
                      <a:gd name="T15" fmla="*/ 148 h 174"/>
                      <a:gd name="T16" fmla="*/ 74 w 94"/>
                      <a:gd name="T17" fmla="*/ 174 h 174"/>
                      <a:gd name="T18" fmla="*/ 84 w 94"/>
                      <a:gd name="T19" fmla="*/ 154 h 174"/>
                      <a:gd name="T20" fmla="*/ 82 w 94"/>
                      <a:gd name="T21" fmla="*/ 112 h 174"/>
                      <a:gd name="T22" fmla="*/ 60 w 94"/>
                      <a:gd name="T23" fmla="*/ 106 h 174"/>
                      <a:gd name="T24" fmla="*/ 50 w 94"/>
                      <a:gd name="T25" fmla="*/ 82 h 174"/>
                      <a:gd name="T26" fmla="*/ 34 w 94"/>
                      <a:gd name="T27" fmla="*/ 82 h 174"/>
                      <a:gd name="T28" fmla="*/ 30 w 94"/>
                      <a:gd name="T29" fmla="*/ 70 h 174"/>
                      <a:gd name="T30" fmla="*/ 42 w 94"/>
                      <a:gd name="T31" fmla="*/ 42 h 174"/>
                      <a:gd name="T32" fmla="*/ 30 w 94"/>
                      <a:gd name="T33" fmla="*/ 0 h 174"/>
                      <a:gd name="T34" fmla="*/ 18 w 94"/>
                      <a:gd name="T35" fmla="*/ 22 h 174"/>
                      <a:gd name="T36" fmla="*/ 4 w 94"/>
                      <a:gd name="T37" fmla="*/ 46 h 174"/>
                      <a:gd name="T38" fmla="*/ 14 w 94"/>
                      <a:gd name="T39" fmla="*/ 76 h 174"/>
                      <a:gd name="T40" fmla="*/ 14 w 94"/>
                      <a:gd name="T41" fmla="*/ 96 h 174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0" t="0" r="r" b="b"/>
                    <a:pathLst>
                      <a:path w="94" h="174">
                        <a:moveTo>
                          <a:pt x="14" y="96"/>
                        </a:moveTo>
                        <a:cubicBezTo>
                          <a:pt x="11" y="109"/>
                          <a:pt x="15" y="120"/>
                          <a:pt x="26" y="128"/>
                        </a:cubicBezTo>
                        <a:cubicBezTo>
                          <a:pt x="34" y="120"/>
                          <a:pt x="35" y="119"/>
                          <a:pt x="32" y="108"/>
                        </a:cubicBezTo>
                        <a:cubicBezTo>
                          <a:pt x="35" y="92"/>
                          <a:pt x="39" y="92"/>
                          <a:pt x="52" y="100"/>
                        </a:cubicBezTo>
                        <a:cubicBezTo>
                          <a:pt x="59" y="110"/>
                          <a:pt x="49" y="114"/>
                          <a:pt x="46" y="124"/>
                        </a:cubicBezTo>
                        <a:cubicBezTo>
                          <a:pt x="50" y="137"/>
                          <a:pt x="57" y="129"/>
                          <a:pt x="66" y="126"/>
                        </a:cubicBezTo>
                        <a:cubicBezTo>
                          <a:pt x="77" y="129"/>
                          <a:pt x="79" y="131"/>
                          <a:pt x="76" y="142"/>
                        </a:cubicBezTo>
                        <a:cubicBezTo>
                          <a:pt x="67" y="139"/>
                          <a:pt x="65" y="141"/>
                          <a:pt x="58" y="148"/>
                        </a:cubicBezTo>
                        <a:cubicBezTo>
                          <a:pt x="60" y="160"/>
                          <a:pt x="62" y="170"/>
                          <a:pt x="74" y="174"/>
                        </a:cubicBezTo>
                        <a:cubicBezTo>
                          <a:pt x="77" y="165"/>
                          <a:pt x="74" y="157"/>
                          <a:pt x="84" y="154"/>
                        </a:cubicBezTo>
                        <a:cubicBezTo>
                          <a:pt x="91" y="143"/>
                          <a:pt x="94" y="122"/>
                          <a:pt x="82" y="112"/>
                        </a:cubicBezTo>
                        <a:cubicBezTo>
                          <a:pt x="77" y="108"/>
                          <a:pt x="66" y="108"/>
                          <a:pt x="60" y="106"/>
                        </a:cubicBezTo>
                        <a:cubicBezTo>
                          <a:pt x="65" y="92"/>
                          <a:pt x="66" y="87"/>
                          <a:pt x="50" y="82"/>
                        </a:cubicBezTo>
                        <a:cubicBezTo>
                          <a:pt x="48" y="82"/>
                          <a:pt x="37" y="86"/>
                          <a:pt x="34" y="82"/>
                        </a:cubicBezTo>
                        <a:cubicBezTo>
                          <a:pt x="32" y="79"/>
                          <a:pt x="30" y="70"/>
                          <a:pt x="30" y="70"/>
                        </a:cubicBezTo>
                        <a:cubicBezTo>
                          <a:pt x="32" y="54"/>
                          <a:pt x="32" y="52"/>
                          <a:pt x="42" y="42"/>
                        </a:cubicBezTo>
                        <a:cubicBezTo>
                          <a:pt x="41" y="30"/>
                          <a:pt x="45" y="5"/>
                          <a:pt x="30" y="0"/>
                        </a:cubicBezTo>
                        <a:cubicBezTo>
                          <a:pt x="14" y="4"/>
                          <a:pt x="16" y="4"/>
                          <a:pt x="18" y="22"/>
                        </a:cubicBezTo>
                        <a:cubicBezTo>
                          <a:pt x="16" y="39"/>
                          <a:pt x="15" y="35"/>
                          <a:pt x="4" y="46"/>
                        </a:cubicBezTo>
                        <a:cubicBezTo>
                          <a:pt x="0" y="59"/>
                          <a:pt x="5" y="67"/>
                          <a:pt x="14" y="76"/>
                        </a:cubicBezTo>
                        <a:cubicBezTo>
                          <a:pt x="15" y="80"/>
                          <a:pt x="17" y="93"/>
                          <a:pt x="14" y="9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4" name="Freeform 87"/>
                  <p:cNvSpPr>
                    <a:spLocks/>
                  </p:cNvSpPr>
                  <p:nvPr/>
                </p:nvSpPr>
                <p:spPr bwMode="ltGray">
                  <a:xfrm>
                    <a:off x="4597" y="508"/>
                    <a:ext cx="14" cy="17"/>
                  </a:xfrm>
                  <a:custGeom>
                    <a:avLst/>
                    <a:gdLst>
                      <a:gd name="T0" fmla="*/ 6 w 32"/>
                      <a:gd name="T1" fmla="*/ 24 h 50"/>
                      <a:gd name="T2" fmla="*/ 12 w 32"/>
                      <a:gd name="T3" fmla="*/ 0 h 50"/>
                      <a:gd name="T4" fmla="*/ 20 w 32"/>
                      <a:gd name="T5" fmla="*/ 16 h 50"/>
                      <a:gd name="T6" fmla="*/ 22 w 32"/>
                      <a:gd name="T7" fmla="*/ 24 h 50"/>
                      <a:gd name="T8" fmla="*/ 28 w 32"/>
                      <a:gd name="T9" fmla="*/ 26 h 50"/>
                      <a:gd name="T10" fmla="*/ 32 w 32"/>
                      <a:gd name="T11" fmla="*/ 38 h 50"/>
                      <a:gd name="T12" fmla="*/ 18 w 32"/>
                      <a:gd name="T13" fmla="*/ 50 h 50"/>
                      <a:gd name="T14" fmla="*/ 6 w 32"/>
                      <a:gd name="T15" fmla="*/ 24 h 50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2" h="50">
                        <a:moveTo>
                          <a:pt x="6" y="24"/>
                        </a:moveTo>
                        <a:cubicBezTo>
                          <a:pt x="0" y="15"/>
                          <a:pt x="3" y="6"/>
                          <a:pt x="12" y="0"/>
                        </a:cubicBezTo>
                        <a:cubicBezTo>
                          <a:pt x="23" y="3"/>
                          <a:pt x="23" y="5"/>
                          <a:pt x="20" y="16"/>
                        </a:cubicBezTo>
                        <a:cubicBezTo>
                          <a:pt x="21" y="19"/>
                          <a:pt x="20" y="22"/>
                          <a:pt x="22" y="24"/>
                        </a:cubicBezTo>
                        <a:cubicBezTo>
                          <a:pt x="23" y="26"/>
                          <a:pt x="27" y="24"/>
                          <a:pt x="28" y="26"/>
                        </a:cubicBezTo>
                        <a:cubicBezTo>
                          <a:pt x="30" y="29"/>
                          <a:pt x="32" y="38"/>
                          <a:pt x="32" y="38"/>
                        </a:cubicBezTo>
                        <a:cubicBezTo>
                          <a:pt x="29" y="46"/>
                          <a:pt x="26" y="47"/>
                          <a:pt x="18" y="50"/>
                        </a:cubicBezTo>
                        <a:cubicBezTo>
                          <a:pt x="12" y="41"/>
                          <a:pt x="18" y="24"/>
                          <a:pt x="6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5" name="Freeform 88"/>
                  <p:cNvSpPr>
                    <a:spLocks/>
                  </p:cNvSpPr>
                  <p:nvPr/>
                </p:nvSpPr>
                <p:spPr bwMode="ltGray">
                  <a:xfrm>
                    <a:off x="4569" y="512"/>
                    <a:ext cx="19" cy="17"/>
                  </a:xfrm>
                  <a:custGeom>
                    <a:avLst/>
                    <a:gdLst>
                      <a:gd name="T0" fmla="*/ 0 w 43"/>
                      <a:gd name="T1" fmla="*/ 44 h 50"/>
                      <a:gd name="T2" fmla="*/ 22 w 43"/>
                      <a:gd name="T3" fmla="*/ 20 h 50"/>
                      <a:gd name="T4" fmla="*/ 36 w 43"/>
                      <a:gd name="T5" fmla="*/ 0 h 50"/>
                      <a:gd name="T6" fmla="*/ 24 w 43"/>
                      <a:gd name="T7" fmla="*/ 28 h 50"/>
                      <a:gd name="T8" fmla="*/ 2 w 43"/>
                      <a:gd name="T9" fmla="*/ 50 h 50"/>
                      <a:gd name="T10" fmla="*/ 0 w 43"/>
                      <a:gd name="T11" fmla="*/ 44 h 50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50">
                        <a:moveTo>
                          <a:pt x="0" y="44"/>
                        </a:moveTo>
                        <a:cubicBezTo>
                          <a:pt x="6" y="38"/>
                          <a:pt x="18" y="29"/>
                          <a:pt x="22" y="20"/>
                        </a:cubicBezTo>
                        <a:cubicBezTo>
                          <a:pt x="27" y="10"/>
                          <a:pt x="25" y="4"/>
                          <a:pt x="36" y="0"/>
                        </a:cubicBezTo>
                        <a:cubicBezTo>
                          <a:pt x="43" y="11"/>
                          <a:pt x="36" y="24"/>
                          <a:pt x="24" y="28"/>
                        </a:cubicBezTo>
                        <a:cubicBezTo>
                          <a:pt x="21" y="38"/>
                          <a:pt x="12" y="47"/>
                          <a:pt x="2" y="50"/>
                        </a:cubicBezTo>
                        <a:cubicBezTo>
                          <a:pt x="1" y="48"/>
                          <a:pt x="0" y="44"/>
                          <a:pt x="0" y="4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6" name="Freeform 89"/>
                  <p:cNvSpPr>
                    <a:spLocks/>
                  </p:cNvSpPr>
                  <p:nvPr/>
                </p:nvSpPr>
                <p:spPr bwMode="ltGray">
                  <a:xfrm>
                    <a:off x="4784" y="275"/>
                    <a:ext cx="18" cy="10"/>
                  </a:xfrm>
                  <a:custGeom>
                    <a:avLst/>
                    <a:gdLst>
                      <a:gd name="T0" fmla="*/ 0 w 41"/>
                      <a:gd name="T1" fmla="*/ 25 h 29"/>
                      <a:gd name="T2" fmla="*/ 12 w 41"/>
                      <a:gd name="T3" fmla="*/ 29 h 29"/>
                      <a:gd name="T4" fmla="*/ 0 w 41"/>
                      <a:gd name="T5" fmla="*/ 25 h 2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1" h="29">
                        <a:moveTo>
                          <a:pt x="0" y="25"/>
                        </a:moveTo>
                        <a:cubicBezTo>
                          <a:pt x="10" y="11"/>
                          <a:pt x="41" y="0"/>
                          <a:pt x="12" y="29"/>
                        </a:cubicBezTo>
                        <a:cubicBezTo>
                          <a:pt x="8" y="28"/>
                          <a:pt x="0" y="25"/>
                          <a:pt x="0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7" name="Freeform 90"/>
                  <p:cNvSpPr>
                    <a:spLocks/>
                  </p:cNvSpPr>
                  <p:nvPr/>
                </p:nvSpPr>
                <p:spPr bwMode="ltGray">
                  <a:xfrm>
                    <a:off x="4293" y="246"/>
                    <a:ext cx="438" cy="152"/>
                  </a:xfrm>
                  <a:custGeom>
                    <a:avLst/>
                    <a:gdLst>
                      <a:gd name="T0" fmla="*/ 73 w 438"/>
                      <a:gd name="T1" fmla="*/ 1 h 152"/>
                      <a:gd name="T2" fmla="*/ 438 w 438"/>
                      <a:gd name="T3" fmla="*/ 0 h 152"/>
                      <a:gd name="T4" fmla="*/ 416 w 438"/>
                      <a:gd name="T5" fmla="*/ 54 h 152"/>
                      <a:gd name="T6" fmla="*/ 397 w 438"/>
                      <a:gd name="T7" fmla="*/ 68 h 152"/>
                      <a:gd name="T8" fmla="*/ 392 w 438"/>
                      <a:gd name="T9" fmla="*/ 70 h 152"/>
                      <a:gd name="T10" fmla="*/ 375 w 438"/>
                      <a:gd name="T11" fmla="*/ 73 h 152"/>
                      <a:gd name="T12" fmla="*/ 361 w 438"/>
                      <a:gd name="T13" fmla="*/ 88 h 152"/>
                      <a:gd name="T14" fmla="*/ 362 w 438"/>
                      <a:gd name="T15" fmla="*/ 99 h 152"/>
                      <a:gd name="T16" fmla="*/ 364 w 438"/>
                      <a:gd name="T17" fmla="*/ 107 h 152"/>
                      <a:gd name="T18" fmla="*/ 366 w 438"/>
                      <a:gd name="T19" fmla="*/ 113 h 152"/>
                      <a:gd name="T20" fmla="*/ 362 w 438"/>
                      <a:gd name="T21" fmla="*/ 122 h 152"/>
                      <a:gd name="T22" fmla="*/ 351 w 438"/>
                      <a:gd name="T23" fmla="*/ 120 h 152"/>
                      <a:gd name="T24" fmla="*/ 342 w 438"/>
                      <a:gd name="T25" fmla="*/ 129 h 152"/>
                      <a:gd name="T26" fmla="*/ 347 w 438"/>
                      <a:gd name="T27" fmla="*/ 105 h 152"/>
                      <a:gd name="T28" fmla="*/ 338 w 438"/>
                      <a:gd name="T29" fmla="*/ 100 h 152"/>
                      <a:gd name="T30" fmla="*/ 344 w 438"/>
                      <a:gd name="T31" fmla="*/ 93 h 152"/>
                      <a:gd name="T32" fmla="*/ 342 w 438"/>
                      <a:gd name="T33" fmla="*/ 89 h 152"/>
                      <a:gd name="T34" fmla="*/ 320 w 438"/>
                      <a:gd name="T35" fmla="*/ 94 h 152"/>
                      <a:gd name="T36" fmla="*/ 317 w 438"/>
                      <a:gd name="T37" fmla="*/ 85 h 152"/>
                      <a:gd name="T38" fmla="*/ 297 w 438"/>
                      <a:gd name="T39" fmla="*/ 94 h 152"/>
                      <a:gd name="T40" fmla="*/ 320 w 438"/>
                      <a:gd name="T41" fmla="*/ 103 h 152"/>
                      <a:gd name="T42" fmla="*/ 305 w 438"/>
                      <a:gd name="T43" fmla="*/ 117 h 152"/>
                      <a:gd name="T44" fmla="*/ 311 w 438"/>
                      <a:gd name="T45" fmla="*/ 126 h 152"/>
                      <a:gd name="T46" fmla="*/ 315 w 438"/>
                      <a:gd name="T47" fmla="*/ 138 h 152"/>
                      <a:gd name="T48" fmla="*/ 309 w 438"/>
                      <a:gd name="T49" fmla="*/ 139 h 152"/>
                      <a:gd name="T50" fmla="*/ 314 w 438"/>
                      <a:gd name="T51" fmla="*/ 144 h 152"/>
                      <a:gd name="T52" fmla="*/ 307 w 438"/>
                      <a:gd name="T53" fmla="*/ 152 h 152"/>
                      <a:gd name="T54" fmla="*/ 0 w 438"/>
                      <a:gd name="T55" fmla="*/ 149 h 152"/>
                      <a:gd name="T56" fmla="*/ 73 w 438"/>
                      <a:gd name="T57" fmla="*/ 1 h 152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</a:gdLst>
                    <a:ahLst/>
                    <a:cxnLst>
                      <a:cxn ang="T58">
                        <a:pos x="T0" y="T1"/>
                      </a:cxn>
                      <a:cxn ang="T59">
                        <a:pos x="T2" y="T3"/>
                      </a:cxn>
                      <a:cxn ang="T60">
                        <a:pos x="T4" y="T5"/>
                      </a:cxn>
                      <a:cxn ang="T61">
                        <a:pos x="T6" y="T7"/>
                      </a:cxn>
                      <a:cxn ang="T62">
                        <a:pos x="T8" y="T9"/>
                      </a:cxn>
                      <a:cxn ang="T63">
                        <a:pos x="T10" y="T11"/>
                      </a:cxn>
                      <a:cxn ang="T64">
                        <a:pos x="T12" y="T13"/>
                      </a:cxn>
                      <a:cxn ang="T65">
                        <a:pos x="T14" y="T15"/>
                      </a:cxn>
                      <a:cxn ang="T66">
                        <a:pos x="T16" y="T17"/>
                      </a:cxn>
                      <a:cxn ang="T67">
                        <a:pos x="T18" y="T19"/>
                      </a:cxn>
                      <a:cxn ang="T68">
                        <a:pos x="T20" y="T21"/>
                      </a:cxn>
                      <a:cxn ang="T69">
                        <a:pos x="T22" y="T23"/>
                      </a:cxn>
                      <a:cxn ang="T70">
                        <a:pos x="T24" y="T25"/>
                      </a:cxn>
                      <a:cxn ang="T71">
                        <a:pos x="T26" y="T27"/>
                      </a:cxn>
                      <a:cxn ang="T72">
                        <a:pos x="T28" y="T29"/>
                      </a:cxn>
                      <a:cxn ang="T73">
                        <a:pos x="T30" y="T31"/>
                      </a:cxn>
                      <a:cxn ang="T74">
                        <a:pos x="T32" y="T33"/>
                      </a:cxn>
                      <a:cxn ang="T75">
                        <a:pos x="T34" y="T35"/>
                      </a:cxn>
                      <a:cxn ang="T76">
                        <a:pos x="T36" y="T37"/>
                      </a:cxn>
                      <a:cxn ang="T77">
                        <a:pos x="T38" y="T39"/>
                      </a:cxn>
                      <a:cxn ang="T78">
                        <a:pos x="T40" y="T41"/>
                      </a:cxn>
                      <a:cxn ang="T79">
                        <a:pos x="T42" y="T43"/>
                      </a:cxn>
                      <a:cxn ang="T80">
                        <a:pos x="T44" y="T45"/>
                      </a:cxn>
                      <a:cxn ang="T81">
                        <a:pos x="T46" y="T47"/>
                      </a:cxn>
                      <a:cxn ang="T82">
                        <a:pos x="T48" y="T49"/>
                      </a:cxn>
                      <a:cxn ang="T83">
                        <a:pos x="T50" y="T51"/>
                      </a:cxn>
                      <a:cxn ang="T84">
                        <a:pos x="T52" y="T53"/>
                      </a:cxn>
                      <a:cxn ang="T85">
                        <a:pos x="T54" y="T55"/>
                      </a:cxn>
                      <a:cxn ang="T86">
                        <a:pos x="T56" y="T57"/>
                      </a:cxn>
                    </a:cxnLst>
                    <a:rect l="0" t="0" r="r" b="b"/>
                    <a:pathLst>
                      <a:path w="438" h="152">
                        <a:moveTo>
                          <a:pt x="73" y="1"/>
                        </a:moveTo>
                        <a:lnTo>
                          <a:pt x="438" y="0"/>
                        </a:lnTo>
                        <a:cubicBezTo>
                          <a:pt x="432" y="15"/>
                          <a:pt x="429" y="42"/>
                          <a:pt x="416" y="54"/>
                        </a:cubicBezTo>
                        <a:cubicBezTo>
                          <a:pt x="410" y="60"/>
                          <a:pt x="405" y="63"/>
                          <a:pt x="397" y="68"/>
                        </a:cubicBezTo>
                        <a:cubicBezTo>
                          <a:pt x="396" y="69"/>
                          <a:pt x="392" y="70"/>
                          <a:pt x="392" y="70"/>
                        </a:cubicBezTo>
                        <a:cubicBezTo>
                          <a:pt x="377" y="63"/>
                          <a:pt x="385" y="68"/>
                          <a:pt x="375" y="73"/>
                        </a:cubicBezTo>
                        <a:cubicBezTo>
                          <a:pt x="371" y="82"/>
                          <a:pt x="371" y="83"/>
                          <a:pt x="361" y="88"/>
                        </a:cubicBezTo>
                        <a:cubicBezTo>
                          <a:pt x="359" y="92"/>
                          <a:pt x="364" y="93"/>
                          <a:pt x="362" y="99"/>
                        </a:cubicBezTo>
                        <a:cubicBezTo>
                          <a:pt x="363" y="102"/>
                          <a:pt x="364" y="105"/>
                          <a:pt x="364" y="107"/>
                        </a:cubicBezTo>
                        <a:cubicBezTo>
                          <a:pt x="365" y="109"/>
                          <a:pt x="366" y="111"/>
                          <a:pt x="366" y="113"/>
                        </a:cubicBezTo>
                        <a:cubicBezTo>
                          <a:pt x="365" y="115"/>
                          <a:pt x="364" y="120"/>
                          <a:pt x="362" y="122"/>
                        </a:cubicBezTo>
                        <a:cubicBezTo>
                          <a:pt x="359" y="123"/>
                          <a:pt x="354" y="119"/>
                          <a:pt x="351" y="120"/>
                        </a:cubicBezTo>
                        <a:cubicBezTo>
                          <a:pt x="347" y="129"/>
                          <a:pt x="352" y="127"/>
                          <a:pt x="342" y="129"/>
                        </a:cubicBezTo>
                        <a:cubicBezTo>
                          <a:pt x="340" y="123"/>
                          <a:pt x="345" y="111"/>
                          <a:pt x="347" y="105"/>
                        </a:cubicBezTo>
                        <a:cubicBezTo>
                          <a:pt x="347" y="100"/>
                          <a:pt x="338" y="102"/>
                          <a:pt x="338" y="100"/>
                        </a:cubicBezTo>
                        <a:cubicBezTo>
                          <a:pt x="338" y="98"/>
                          <a:pt x="344" y="95"/>
                          <a:pt x="344" y="93"/>
                        </a:cubicBezTo>
                        <a:cubicBezTo>
                          <a:pt x="344" y="92"/>
                          <a:pt x="344" y="89"/>
                          <a:pt x="342" y="89"/>
                        </a:cubicBezTo>
                        <a:cubicBezTo>
                          <a:pt x="339" y="89"/>
                          <a:pt x="324" y="94"/>
                          <a:pt x="320" y="94"/>
                        </a:cubicBezTo>
                        <a:cubicBezTo>
                          <a:pt x="317" y="86"/>
                          <a:pt x="328" y="88"/>
                          <a:pt x="317" y="85"/>
                        </a:cubicBezTo>
                        <a:cubicBezTo>
                          <a:pt x="311" y="91"/>
                          <a:pt x="306" y="93"/>
                          <a:pt x="297" y="94"/>
                        </a:cubicBezTo>
                        <a:cubicBezTo>
                          <a:pt x="300" y="104"/>
                          <a:pt x="307" y="101"/>
                          <a:pt x="320" y="103"/>
                        </a:cubicBezTo>
                        <a:cubicBezTo>
                          <a:pt x="318" y="109"/>
                          <a:pt x="311" y="111"/>
                          <a:pt x="305" y="117"/>
                        </a:cubicBezTo>
                        <a:lnTo>
                          <a:pt x="311" y="126"/>
                        </a:lnTo>
                        <a:lnTo>
                          <a:pt x="315" y="138"/>
                        </a:lnTo>
                        <a:lnTo>
                          <a:pt x="309" y="139"/>
                        </a:lnTo>
                        <a:lnTo>
                          <a:pt x="314" y="144"/>
                        </a:lnTo>
                        <a:lnTo>
                          <a:pt x="307" y="152"/>
                        </a:lnTo>
                        <a:lnTo>
                          <a:pt x="0" y="149"/>
                        </a:lnTo>
                        <a:lnTo>
                          <a:pt x="73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8" name="Freeform 91"/>
                  <p:cNvSpPr>
                    <a:spLocks/>
                  </p:cNvSpPr>
                  <p:nvPr/>
                </p:nvSpPr>
                <p:spPr bwMode="ltGray">
                  <a:xfrm>
                    <a:off x="4731" y="240"/>
                    <a:ext cx="20" cy="55"/>
                  </a:xfrm>
                  <a:custGeom>
                    <a:avLst/>
                    <a:gdLst>
                      <a:gd name="T0" fmla="*/ 5 w 47"/>
                      <a:gd name="T1" fmla="*/ 156 h 165"/>
                      <a:gd name="T2" fmla="*/ 15 w 47"/>
                      <a:gd name="T3" fmla="*/ 108 h 165"/>
                      <a:gd name="T4" fmla="*/ 17 w 47"/>
                      <a:gd name="T5" fmla="*/ 68 h 165"/>
                      <a:gd name="T6" fmla="*/ 11 w 47"/>
                      <a:gd name="T7" fmla="*/ 40 h 165"/>
                      <a:gd name="T8" fmla="*/ 17 w 47"/>
                      <a:gd name="T9" fmla="*/ 12 h 165"/>
                      <a:gd name="T10" fmla="*/ 21 w 47"/>
                      <a:gd name="T11" fmla="*/ 0 h 165"/>
                      <a:gd name="T12" fmla="*/ 31 w 47"/>
                      <a:gd name="T13" fmla="*/ 30 h 165"/>
                      <a:gd name="T14" fmla="*/ 47 w 47"/>
                      <a:gd name="T15" fmla="*/ 98 h 165"/>
                      <a:gd name="T16" fmla="*/ 31 w 47"/>
                      <a:gd name="T17" fmla="*/ 108 h 165"/>
                      <a:gd name="T18" fmla="*/ 23 w 47"/>
                      <a:gd name="T19" fmla="*/ 126 h 165"/>
                      <a:gd name="T20" fmla="*/ 21 w 47"/>
                      <a:gd name="T21" fmla="*/ 132 h 165"/>
                      <a:gd name="T22" fmla="*/ 27 w 47"/>
                      <a:gd name="T23" fmla="*/ 134 h 165"/>
                      <a:gd name="T24" fmla="*/ 31 w 47"/>
                      <a:gd name="T25" fmla="*/ 146 h 165"/>
                      <a:gd name="T26" fmla="*/ 13 w 47"/>
                      <a:gd name="T27" fmla="*/ 148 h 165"/>
                      <a:gd name="T28" fmla="*/ 7 w 47"/>
                      <a:gd name="T29" fmla="*/ 160 h 165"/>
                      <a:gd name="T30" fmla="*/ 3 w 47"/>
                      <a:gd name="T31" fmla="*/ 154 h 165"/>
                      <a:gd name="T32" fmla="*/ 5 w 47"/>
                      <a:gd name="T33" fmla="*/ 156 h 165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0" t="0" r="r" b="b"/>
                    <a:pathLst>
                      <a:path w="47" h="165">
                        <a:moveTo>
                          <a:pt x="5" y="156"/>
                        </a:moveTo>
                        <a:cubicBezTo>
                          <a:pt x="0" y="141"/>
                          <a:pt x="1" y="118"/>
                          <a:pt x="15" y="108"/>
                        </a:cubicBezTo>
                        <a:cubicBezTo>
                          <a:pt x="16" y="95"/>
                          <a:pt x="17" y="81"/>
                          <a:pt x="17" y="68"/>
                        </a:cubicBezTo>
                        <a:cubicBezTo>
                          <a:pt x="17" y="58"/>
                          <a:pt x="11" y="40"/>
                          <a:pt x="11" y="40"/>
                        </a:cubicBezTo>
                        <a:cubicBezTo>
                          <a:pt x="14" y="20"/>
                          <a:pt x="11" y="29"/>
                          <a:pt x="17" y="12"/>
                        </a:cubicBezTo>
                        <a:cubicBezTo>
                          <a:pt x="18" y="8"/>
                          <a:pt x="21" y="0"/>
                          <a:pt x="21" y="0"/>
                        </a:cubicBezTo>
                        <a:cubicBezTo>
                          <a:pt x="38" y="6"/>
                          <a:pt x="33" y="7"/>
                          <a:pt x="31" y="30"/>
                        </a:cubicBezTo>
                        <a:cubicBezTo>
                          <a:pt x="38" y="52"/>
                          <a:pt x="40" y="76"/>
                          <a:pt x="47" y="98"/>
                        </a:cubicBezTo>
                        <a:cubicBezTo>
                          <a:pt x="44" y="116"/>
                          <a:pt x="45" y="113"/>
                          <a:pt x="31" y="108"/>
                        </a:cubicBezTo>
                        <a:cubicBezTo>
                          <a:pt x="25" y="118"/>
                          <a:pt x="28" y="112"/>
                          <a:pt x="23" y="126"/>
                        </a:cubicBezTo>
                        <a:cubicBezTo>
                          <a:pt x="22" y="128"/>
                          <a:pt x="21" y="132"/>
                          <a:pt x="21" y="132"/>
                        </a:cubicBezTo>
                        <a:cubicBezTo>
                          <a:pt x="23" y="133"/>
                          <a:pt x="26" y="132"/>
                          <a:pt x="27" y="134"/>
                        </a:cubicBezTo>
                        <a:cubicBezTo>
                          <a:pt x="29" y="137"/>
                          <a:pt x="31" y="146"/>
                          <a:pt x="31" y="146"/>
                        </a:cubicBezTo>
                        <a:cubicBezTo>
                          <a:pt x="27" y="165"/>
                          <a:pt x="23" y="155"/>
                          <a:pt x="13" y="148"/>
                        </a:cubicBezTo>
                        <a:cubicBezTo>
                          <a:pt x="11" y="152"/>
                          <a:pt x="11" y="160"/>
                          <a:pt x="7" y="160"/>
                        </a:cubicBezTo>
                        <a:cubicBezTo>
                          <a:pt x="5" y="160"/>
                          <a:pt x="4" y="156"/>
                          <a:pt x="3" y="154"/>
                        </a:cubicBezTo>
                        <a:cubicBezTo>
                          <a:pt x="3" y="153"/>
                          <a:pt x="4" y="155"/>
                          <a:pt x="5" y="15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9" name="Freeform 92"/>
                  <p:cNvSpPr>
                    <a:spLocks/>
                  </p:cNvSpPr>
                  <p:nvPr/>
                </p:nvSpPr>
                <p:spPr bwMode="ltGray">
                  <a:xfrm>
                    <a:off x="4719" y="287"/>
                    <a:ext cx="59" cy="34"/>
                  </a:xfrm>
                  <a:custGeom>
                    <a:avLst/>
                    <a:gdLst>
                      <a:gd name="T0" fmla="*/ 26 w 138"/>
                      <a:gd name="T1" fmla="*/ 61 h 103"/>
                      <a:gd name="T2" fmla="*/ 30 w 138"/>
                      <a:gd name="T3" fmla="*/ 43 h 103"/>
                      <a:gd name="T4" fmla="*/ 50 w 138"/>
                      <a:gd name="T5" fmla="*/ 33 h 103"/>
                      <a:gd name="T6" fmla="*/ 54 w 138"/>
                      <a:gd name="T7" fmla="*/ 45 h 103"/>
                      <a:gd name="T8" fmla="*/ 66 w 138"/>
                      <a:gd name="T9" fmla="*/ 49 h 103"/>
                      <a:gd name="T10" fmla="*/ 80 w 138"/>
                      <a:gd name="T11" fmla="*/ 55 h 103"/>
                      <a:gd name="T12" fmla="*/ 116 w 138"/>
                      <a:gd name="T13" fmla="*/ 33 h 103"/>
                      <a:gd name="T14" fmla="*/ 130 w 138"/>
                      <a:gd name="T15" fmla="*/ 17 h 103"/>
                      <a:gd name="T16" fmla="*/ 138 w 138"/>
                      <a:gd name="T17" fmla="*/ 11 h 103"/>
                      <a:gd name="T18" fmla="*/ 106 w 138"/>
                      <a:gd name="T19" fmla="*/ 49 h 103"/>
                      <a:gd name="T20" fmla="*/ 84 w 138"/>
                      <a:gd name="T21" fmla="*/ 67 h 103"/>
                      <a:gd name="T22" fmla="*/ 66 w 138"/>
                      <a:gd name="T23" fmla="*/ 81 h 103"/>
                      <a:gd name="T24" fmla="*/ 48 w 138"/>
                      <a:gd name="T25" fmla="*/ 103 h 103"/>
                      <a:gd name="T26" fmla="*/ 26 w 138"/>
                      <a:gd name="T27" fmla="*/ 89 h 103"/>
                      <a:gd name="T28" fmla="*/ 20 w 138"/>
                      <a:gd name="T29" fmla="*/ 87 h 103"/>
                      <a:gd name="T30" fmla="*/ 22 w 138"/>
                      <a:gd name="T31" fmla="*/ 97 h 103"/>
                      <a:gd name="T32" fmla="*/ 0 w 138"/>
                      <a:gd name="T33" fmla="*/ 97 h 103"/>
                      <a:gd name="T34" fmla="*/ 10 w 138"/>
                      <a:gd name="T35" fmla="*/ 79 h 103"/>
                      <a:gd name="T36" fmla="*/ 26 w 138"/>
                      <a:gd name="T37" fmla="*/ 61 h 103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0" t="0" r="r" b="b"/>
                    <a:pathLst>
                      <a:path w="138" h="103">
                        <a:moveTo>
                          <a:pt x="26" y="61"/>
                        </a:moveTo>
                        <a:cubicBezTo>
                          <a:pt x="29" y="53"/>
                          <a:pt x="33" y="51"/>
                          <a:pt x="30" y="43"/>
                        </a:cubicBezTo>
                        <a:cubicBezTo>
                          <a:pt x="33" y="27"/>
                          <a:pt x="37" y="24"/>
                          <a:pt x="50" y="33"/>
                        </a:cubicBezTo>
                        <a:cubicBezTo>
                          <a:pt x="51" y="37"/>
                          <a:pt x="53" y="41"/>
                          <a:pt x="54" y="45"/>
                        </a:cubicBezTo>
                        <a:cubicBezTo>
                          <a:pt x="55" y="49"/>
                          <a:pt x="66" y="49"/>
                          <a:pt x="66" y="49"/>
                        </a:cubicBezTo>
                        <a:cubicBezTo>
                          <a:pt x="75" y="43"/>
                          <a:pt x="77" y="45"/>
                          <a:pt x="80" y="55"/>
                        </a:cubicBezTo>
                        <a:cubicBezTo>
                          <a:pt x="92" y="47"/>
                          <a:pt x="101" y="37"/>
                          <a:pt x="116" y="33"/>
                        </a:cubicBezTo>
                        <a:cubicBezTo>
                          <a:pt x="125" y="19"/>
                          <a:pt x="120" y="24"/>
                          <a:pt x="130" y="17"/>
                        </a:cubicBezTo>
                        <a:cubicBezTo>
                          <a:pt x="134" y="11"/>
                          <a:pt x="134" y="0"/>
                          <a:pt x="138" y="11"/>
                        </a:cubicBezTo>
                        <a:cubicBezTo>
                          <a:pt x="135" y="31"/>
                          <a:pt x="126" y="45"/>
                          <a:pt x="106" y="49"/>
                        </a:cubicBezTo>
                        <a:cubicBezTo>
                          <a:pt x="97" y="55"/>
                          <a:pt x="93" y="61"/>
                          <a:pt x="84" y="67"/>
                        </a:cubicBezTo>
                        <a:cubicBezTo>
                          <a:pt x="80" y="79"/>
                          <a:pt x="79" y="79"/>
                          <a:pt x="66" y="81"/>
                        </a:cubicBezTo>
                        <a:cubicBezTo>
                          <a:pt x="60" y="90"/>
                          <a:pt x="57" y="97"/>
                          <a:pt x="48" y="103"/>
                        </a:cubicBezTo>
                        <a:cubicBezTo>
                          <a:pt x="42" y="94"/>
                          <a:pt x="37" y="93"/>
                          <a:pt x="26" y="89"/>
                        </a:cubicBezTo>
                        <a:cubicBezTo>
                          <a:pt x="24" y="88"/>
                          <a:pt x="20" y="87"/>
                          <a:pt x="20" y="87"/>
                        </a:cubicBezTo>
                        <a:cubicBezTo>
                          <a:pt x="10" y="90"/>
                          <a:pt x="14" y="94"/>
                          <a:pt x="22" y="97"/>
                        </a:cubicBezTo>
                        <a:cubicBezTo>
                          <a:pt x="14" y="103"/>
                          <a:pt x="9" y="100"/>
                          <a:pt x="0" y="97"/>
                        </a:cubicBezTo>
                        <a:cubicBezTo>
                          <a:pt x="2" y="87"/>
                          <a:pt x="1" y="82"/>
                          <a:pt x="10" y="79"/>
                        </a:cubicBezTo>
                        <a:cubicBezTo>
                          <a:pt x="15" y="63"/>
                          <a:pt x="14" y="69"/>
                          <a:pt x="26" y="6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0" name="Freeform 93"/>
                  <p:cNvSpPr>
                    <a:spLocks/>
                  </p:cNvSpPr>
                  <p:nvPr/>
                </p:nvSpPr>
                <p:spPr bwMode="ltGray">
                  <a:xfrm>
                    <a:off x="4656" y="319"/>
                    <a:ext cx="80" cy="72"/>
                  </a:xfrm>
                  <a:custGeom>
                    <a:avLst/>
                    <a:gdLst>
                      <a:gd name="T0" fmla="*/ 158 w 188"/>
                      <a:gd name="T1" fmla="*/ 24 h 214"/>
                      <a:gd name="T2" fmla="*/ 160 w 188"/>
                      <a:gd name="T3" fmla="*/ 6 h 214"/>
                      <a:gd name="T4" fmla="*/ 170 w 188"/>
                      <a:gd name="T5" fmla="*/ 0 h 214"/>
                      <a:gd name="T6" fmla="*/ 182 w 188"/>
                      <a:gd name="T7" fmla="*/ 24 h 214"/>
                      <a:gd name="T8" fmla="*/ 188 w 188"/>
                      <a:gd name="T9" fmla="*/ 42 h 214"/>
                      <a:gd name="T10" fmla="*/ 178 w 188"/>
                      <a:gd name="T11" fmla="*/ 58 h 214"/>
                      <a:gd name="T12" fmla="*/ 170 w 188"/>
                      <a:gd name="T13" fmla="*/ 76 h 214"/>
                      <a:gd name="T14" fmla="*/ 162 w 188"/>
                      <a:gd name="T15" fmla="*/ 126 h 214"/>
                      <a:gd name="T16" fmla="*/ 144 w 188"/>
                      <a:gd name="T17" fmla="*/ 136 h 214"/>
                      <a:gd name="T18" fmla="*/ 120 w 188"/>
                      <a:gd name="T19" fmla="*/ 138 h 214"/>
                      <a:gd name="T20" fmla="*/ 112 w 188"/>
                      <a:gd name="T21" fmla="*/ 124 h 214"/>
                      <a:gd name="T22" fmla="*/ 102 w 188"/>
                      <a:gd name="T23" fmla="*/ 146 h 214"/>
                      <a:gd name="T24" fmla="*/ 90 w 188"/>
                      <a:gd name="T25" fmla="*/ 150 h 214"/>
                      <a:gd name="T26" fmla="*/ 80 w 188"/>
                      <a:gd name="T27" fmla="*/ 132 h 214"/>
                      <a:gd name="T28" fmla="*/ 58 w 188"/>
                      <a:gd name="T29" fmla="*/ 144 h 214"/>
                      <a:gd name="T30" fmla="*/ 76 w 188"/>
                      <a:gd name="T31" fmla="*/ 142 h 214"/>
                      <a:gd name="T32" fmla="*/ 78 w 188"/>
                      <a:gd name="T33" fmla="*/ 160 h 214"/>
                      <a:gd name="T34" fmla="*/ 58 w 188"/>
                      <a:gd name="T35" fmla="*/ 166 h 214"/>
                      <a:gd name="T36" fmla="*/ 34 w 188"/>
                      <a:gd name="T37" fmla="*/ 166 h 214"/>
                      <a:gd name="T38" fmla="*/ 36 w 188"/>
                      <a:gd name="T39" fmla="*/ 154 h 214"/>
                      <a:gd name="T40" fmla="*/ 46 w 188"/>
                      <a:gd name="T41" fmla="*/ 144 h 214"/>
                      <a:gd name="T42" fmla="*/ 34 w 188"/>
                      <a:gd name="T43" fmla="*/ 148 h 214"/>
                      <a:gd name="T44" fmla="*/ 26 w 188"/>
                      <a:gd name="T45" fmla="*/ 166 h 214"/>
                      <a:gd name="T46" fmla="*/ 30 w 188"/>
                      <a:gd name="T47" fmla="*/ 190 h 214"/>
                      <a:gd name="T48" fmla="*/ 14 w 188"/>
                      <a:gd name="T49" fmla="*/ 200 h 214"/>
                      <a:gd name="T50" fmla="*/ 0 w 188"/>
                      <a:gd name="T51" fmla="*/ 214 h 214"/>
                      <a:gd name="T52" fmla="*/ 8 w 188"/>
                      <a:gd name="T53" fmla="*/ 188 h 214"/>
                      <a:gd name="T54" fmla="*/ 0 w 188"/>
                      <a:gd name="T55" fmla="*/ 164 h 214"/>
                      <a:gd name="T56" fmla="*/ 14 w 188"/>
                      <a:gd name="T57" fmla="*/ 152 h 214"/>
                      <a:gd name="T58" fmla="*/ 32 w 188"/>
                      <a:gd name="T59" fmla="*/ 134 h 214"/>
                      <a:gd name="T60" fmla="*/ 44 w 188"/>
                      <a:gd name="T61" fmla="*/ 118 h 214"/>
                      <a:gd name="T62" fmla="*/ 72 w 188"/>
                      <a:gd name="T63" fmla="*/ 116 h 214"/>
                      <a:gd name="T64" fmla="*/ 84 w 188"/>
                      <a:gd name="T65" fmla="*/ 112 h 214"/>
                      <a:gd name="T66" fmla="*/ 114 w 188"/>
                      <a:gd name="T67" fmla="*/ 78 h 214"/>
                      <a:gd name="T68" fmla="*/ 120 w 188"/>
                      <a:gd name="T69" fmla="*/ 92 h 214"/>
                      <a:gd name="T70" fmla="*/ 132 w 188"/>
                      <a:gd name="T71" fmla="*/ 76 h 214"/>
                      <a:gd name="T72" fmla="*/ 150 w 188"/>
                      <a:gd name="T73" fmla="*/ 54 h 214"/>
                      <a:gd name="T74" fmla="*/ 154 w 188"/>
                      <a:gd name="T75" fmla="*/ 42 h 214"/>
                      <a:gd name="T76" fmla="*/ 148 w 188"/>
                      <a:gd name="T77" fmla="*/ 38 h 214"/>
                      <a:gd name="T78" fmla="*/ 152 w 188"/>
                      <a:gd name="T79" fmla="*/ 32 h 214"/>
                      <a:gd name="T80" fmla="*/ 158 w 188"/>
                      <a:gd name="T81" fmla="*/ 24 h 214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0" t="0" r="r" b="b"/>
                    <a:pathLst>
                      <a:path w="188" h="214">
                        <a:moveTo>
                          <a:pt x="158" y="24"/>
                        </a:moveTo>
                        <a:cubicBezTo>
                          <a:pt x="156" y="18"/>
                          <a:pt x="160" y="6"/>
                          <a:pt x="160" y="6"/>
                        </a:cubicBezTo>
                        <a:cubicBezTo>
                          <a:pt x="167" y="16"/>
                          <a:pt x="167" y="8"/>
                          <a:pt x="170" y="0"/>
                        </a:cubicBezTo>
                        <a:cubicBezTo>
                          <a:pt x="181" y="4"/>
                          <a:pt x="179" y="14"/>
                          <a:pt x="182" y="24"/>
                        </a:cubicBezTo>
                        <a:cubicBezTo>
                          <a:pt x="184" y="30"/>
                          <a:pt x="188" y="42"/>
                          <a:pt x="188" y="42"/>
                        </a:cubicBezTo>
                        <a:cubicBezTo>
                          <a:pt x="183" y="56"/>
                          <a:pt x="188" y="52"/>
                          <a:pt x="178" y="58"/>
                        </a:cubicBezTo>
                        <a:cubicBezTo>
                          <a:pt x="174" y="63"/>
                          <a:pt x="170" y="76"/>
                          <a:pt x="170" y="76"/>
                        </a:cubicBezTo>
                        <a:cubicBezTo>
                          <a:pt x="169" y="100"/>
                          <a:pt x="173" y="110"/>
                          <a:pt x="162" y="126"/>
                        </a:cubicBezTo>
                        <a:cubicBezTo>
                          <a:pt x="150" y="118"/>
                          <a:pt x="155" y="132"/>
                          <a:pt x="144" y="136"/>
                        </a:cubicBezTo>
                        <a:cubicBezTo>
                          <a:pt x="135" y="134"/>
                          <a:pt x="129" y="135"/>
                          <a:pt x="120" y="138"/>
                        </a:cubicBezTo>
                        <a:cubicBezTo>
                          <a:pt x="114" y="129"/>
                          <a:pt x="122" y="127"/>
                          <a:pt x="112" y="124"/>
                        </a:cubicBezTo>
                        <a:cubicBezTo>
                          <a:pt x="108" y="130"/>
                          <a:pt x="108" y="142"/>
                          <a:pt x="102" y="146"/>
                        </a:cubicBezTo>
                        <a:cubicBezTo>
                          <a:pt x="98" y="148"/>
                          <a:pt x="90" y="150"/>
                          <a:pt x="90" y="150"/>
                        </a:cubicBezTo>
                        <a:cubicBezTo>
                          <a:pt x="87" y="141"/>
                          <a:pt x="89" y="135"/>
                          <a:pt x="80" y="132"/>
                        </a:cubicBezTo>
                        <a:cubicBezTo>
                          <a:pt x="68" y="134"/>
                          <a:pt x="65" y="134"/>
                          <a:pt x="58" y="144"/>
                        </a:cubicBezTo>
                        <a:cubicBezTo>
                          <a:pt x="66" y="150"/>
                          <a:pt x="68" y="147"/>
                          <a:pt x="76" y="142"/>
                        </a:cubicBezTo>
                        <a:cubicBezTo>
                          <a:pt x="81" y="146"/>
                          <a:pt x="85" y="155"/>
                          <a:pt x="78" y="160"/>
                        </a:cubicBezTo>
                        <a:cubicBezTo>
                          <a:pt x="75" y="162"/>
                          <a:pt x="62" y="165"/>
                          <a:pt x="58" y="166"/>
                        </a:cubicBezTo>
                        <a:cubicBezTo>
                          <a:pt x="48" y="173"/>
                          <a:pt x="44" y="173"/>
                          <a:pt x="34" y="166"/>
                        </a:cubicBezTo>
                        <a:cubicBezTo>
                          <a:pt x="35" y="162"/>
                          <a:pt x="34" y="158"/>
                          <a:pt x="36" y="154"/>
                        </a:cubicBezTo>
                        <a:cubicBezTo>
                          <a:pt x="38" y="150"/>
                          <a:pt x="55" y="146"/>
                          <a:pt x="46" y="144"/>
                        </a:cubicBezTo>
                        <a:cubicBezTo>
                          <a:pt x="42" y="143"/>
                          <a:pt x="34" y="148"/>
                          <a:pt x="34" y="148"/>
                        </a:cubicBezTo>
                        <a:cubicBezTo>
                          <a:pt x="32" y="155"/>
                          <a:pt x="28" y="159"/>
                          <a:pt x="26" y="166"/>
                        </a:cubicBezTo>
                        <a:cubicBezTo>
                          <a:pt x="36" y="182"/>
                          <a:pt x="36" y="173"/>
                          <a:pt x="30" y="190"/>
                        </a:cubicBezTo>
                        <a:cubicBezTo>
                          <a:pt x="28" y="196"/>
                          <a:pt x="14" y="200"/>
                          <a:pt x="14" y="200"/>
                        </a:cubicBezTo>
                        <a:cubicBezTo>
                          <a:pt x="5" y="214"/>
                          <a:pt x="11" y="210"/>
                          <a:pt x="0" y="214"/>
                        </a:cubicBezTo>
                        <a:cubicBezTo>
                          <a:pt x="2" y="202"/>
                          <a:pt x="5" y="198"/>
                          <a:pt x="8" y="188"/>
                        </a:cubicBezTo>
                        <a:cubicBezTo>
                          <a:pt x="6" y="178"/>
                          <a:pt x="3" y="173"/>
                          <a:pt x="0" y="164"/>
                        </a:cubicBezTo>
                        <a:cubicBezTo>
                          <a:pt x="3" y="156"/>
                          <a:pt x="7" y="157"/>
                          <a:pt x="14" y="152"/>
                        </a:cubicBezTo>
                        <a:cubicBezTo>
                          <a:pt x="18" y="141"/>
                          <a:pt x="23" y="140"/>
                          <a:pt x="32" y="134"/>
                        </a:cubicBezTo>
                        <a:cubicBezTo>
                          <a:pt x="37" y="127"/>
                          <a:pt x="37" y="123"/>
                          <a:pt x="44" y="118"/>
                        </a:cubicBezTo>
                        <a:cubicBezTo>
                          <a:pt x="64" y="121"/>
                          <a:pt x="55" y="122"/>
                          <a:pt x="72" y="116"/>
                        </a:cubicBezTo>
                        <a:cubicBezTo>
                          <a:pt x="76" y="115"/>
                          <a:pt x="84" y="112"/>
                          <a:pt x="84" y="112"/>
                        </a:cubicBezTo>
                        <a:cubicBezTo>
                          <a:pt x="105" y="119"/>
                          <a:pt x="97" y="84"/>
                          <a:pt x="114" y="78"/>
                        </a:cubicBezTo>
                        <a:cubicBezTo>
                          <a:pt x="117" y="87"/>
                          <a:pt x="110" y="89"/>
                          <a:pt x="120" y="92"/>
                        </a:cubicBezTo>
                        <a:cubicBezTo>
                          <a:pt x="125" y="85"/>
                          <a:pt x="125" y="81"/>
                          <a:pt x="132" y="76"/>
                        </a:cubicBezTo>
                        <a:cubicBezTo>
                          <a:pt x="138" y="68"/>
                          <a:pt x="146" y="65"/>
                          <a:pt x="150" y="54"/>
                        </a:cubicBezTo>
                        <a:cubicBezTo>
                          <a:pt x="151" y="50"/>
                          <a:pt x="154" y="42"/>
                          <a:pt x="154" y="42"/>
                        </a:cubicBezTo>
                        <a:cubicBezTo>
                          <a:pt x="152" y="41"/>
                          <a:pt x="148" y="40"/>
                          <a:pt x="148" y="38"/>
                        </a:cubicBezTo>
                        <a:cubicBezTo>
                          <a:pt x="148" y="36"/>
                          <a:pt x="161" y="33"/>
                          <a:pt x="152" y="32"/>
                        </a:cubicBezTo>
                        <a:lnTo>
                          <a:pt x="158" y="2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1" name="Freeform 94"/>
                  <p:cNvSpPr>
                    <a:spLocks/>
                  </p:cNvSpPr>
                  <p:nvPr/>
                </p:nvSpPr>
                <p:spPr bwMode="ltGray">
                  <a:xfrm>
                    <a:off x="4709" y="340"/>
                    <a:ext cx="6" cy="4"/>
                  </a:xfrm>
                  <a:custGeom>
                    <a:avLst/>
                    <a:gdLst>
                      <a:gd name="T0" fmla="*/ 0 w 13"/>
                      <a:gd name="T1" fmla="*/ 9 h 13"/>
                      <a:gd name="T2" fmla="*/ 4 w 13"/>
                      <a:gd name="T3" fmla="*/ 13 h 13"/>
                      <a:gd name="T4" fmla="*/ 0 w 13"/>
                      <a:gd name="T5" fmla="*/ 9 h 13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3" h="13">
                        <a:moveTo>
                          <a:pt x="0" y="9"/>
                        </a:moveTo>
                        <a:cubicBezTo>
                          <a:pt x="6" y="0"/>
                          <a:pt x="13" y="7"/>
                          <a:pt x="4" y="13"/>
                        </a:cubicBezTo>
                        <a:cubicBezTo>
                          <a:pt x="0" y="6"/>
                          <a:pt x="0" y="5"/>
                          <a:pt x="0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2" name="Freeform 95"/>
                  <p:cNvSpPr>
                    <a:spLocks/>
                  </p:cNvSpPr>
                  <p:nvPr/>
                </p:nvSpPr>
                <p:spPr bwMode="ltGray">
                  <a:xfrm>
                    <a:off x="4261" y="389"/>
                    <a:ext cx="347" cy="189"/>
                  </a:xfrm>
                  <a:custGeom>
                    <a:avLst/>
                    <a:gdLst>
                      <a:gd name="T0" fmla="*/ 812 w 812"/>
                      <a:gd name="T1" fmla="*/ 26 h 564"/>
                      <a:gd name="T2" fmla="*/ 778 w 812"/>
                      <a:gd name="T3" fmla="*/ 78 h 564"/>
                      <a:gd name="T4" fmla="*/ 748 w 812"/>
                      <a:gd name="T5" fmla="*/ 122 h 564"/>
                      <a:gd name="T6" fmla="*/ 722 w 812"/>
                      <a:gd name="T7" fmla="*/ 142 h 564"/>
                      <a:gd name="T8" fmla="*/ 634 w 812"/>
                      <a:gd name="T9" fmla="*/ 180 h 564"/>
                      <a:gd name="T10" fmla="*/ 632 w 812"/>
                      <a:gd name="T11" fmla="*/ 210 h 564"/>
                      <a:gd name="T12" fmla="*/ 604 w 812"/>
                      <a:gd name="T13" fmla="*/ 230 h 564"/>
                      <a:gd name="T14" fmla="*/ 620 w 812"/>
                      <a:gd name="T15" fmla="*/ 178 h 564"/>
                      <a:gd name="T16" fmla="*/ 576 w 812"/>
                      <a:gd name="T17" fmla="*/ 188 h 564"/>
                      <a:gd name="T18" fmla="*/ 556 w 812"/>
                      <a:gd name="T19" fmla="*/ 218 h 564"/>
                      <a:gd name="T20" fmla="*/ 596 w 812"/>
                      <a:gd name="T21" fmla="*/ 280 h 564"/>
                      <a:gd name="T22" fmla="*/ 594 w 812"/>
                      <a:gd name="T23" fmla="*/ 368 h 564"/>
                      <a:gd name="T24" fmla="*/ 542 w 812"/>
                      <a:gd name="T25" fmla="*/ 406 h 564"/>
                      <a:gd name="T26" fmla="*/ 522 w 812"/>
                      <a:gd name="T27" fmla="*/ 386 h 564"/>
                      <a:gd name="T28" fmla="*/ 482 w 812"/>
                      <a:gd name="T29" fmla="*/ 348 h 564"/>
                      <a:gd name="T30" fmla="*/ 462 w 812"/>
                      <a:gd name="T31" fmla="*/ 348 h 564"/>
                      <a:gd name="T32" fmla="*/ 450 w 812"/>
                      <a:gd name="T33" fmla="*/ 394 h 564"/>
                      <a:gd name="T34" fmla="*/ 500 w 812"/>
                      <a:gd name="T35" fmla="*/ 464 h 564"/>
                      <a:gd name="T36" fmla="*/ 510 w 812"/>
                      <a:gd name="T37" fmla="*/ 524 h 564"/>
                      <a:gd name="T38" fmla="*/ 526 w 812"/>
                      <a:gd name="T39" fmla="*/ 560 h 564"/>
                      <a:gd name="T40" fmla="*/ 492 w 812"/>
                      <a:gd name="T41" fmla="*/ 544 h 564"/>
                      <a:gd name="T42" fmla="*/ 470 w 812"/>
                      <a:gd name="T43" fmla="*/ 518 h 564"/>
                      <a:gd name="T44" fmla="*/ 422 w 812"/>
                      <a:gd name="T45" fmla="*/ 424 h 564"/>
                      <a:gd name="T46" fmla="*/ 426 w 812"/>
                      <a:gd name="T47" fmla="*/ 310 h 564"/>
                      <a:gd name="T48" fmla="*/ 422 w 812"/>
                      <a:gd name="T49" fmla="*/ 268 h 564"/>
                      <a:gd name="T50" fmla="*/ 412 w 812"/>
                      <a:gd name="T51" fmla="*/ 276 h 564"/>
                      <a:gd name="T52" fmla="*/ 386 w 812"/>
                      <a:gd name="T53" fmla="*/ 266 h 564"/>
                      <a:gd name="T54" fmla="*/ 360 w 812"/>
                      <a:gd name="T55" fmla="*/ 170 h 564"/>
                      <a:gd name="T56" fmla="*/ 330 w 812"/>
                      <a:gd name="T57" fmla="*/ 166 h 564"/>
                      <a:gd name="T58" fmla="*/ 288 w 812"/>
                      <a:gd name="T59" fmla="*/ 172 h 564"/>
                      <a:gd name="T60" fmla="*/ 242 w 812"/>
                      <a:gd name="T61" fmla="*/ 232 h 564"/>
                      <a:gd name="T62" fmla="*/ 196 w 812"/>
                      <a:gd name="T63" fmla="*/ 268 h 564"/>
                      <a:gd name="T64" fmla="*/ 184 w 812"/>
                      <a:gd name="T65" fmla="*/ 274 h 564"/>
                      <a:gd name="T66" fmla="*/ 160 w 812"/>
                      <a:gd name="T67" fmla="*/ 328 h 564"/>
                      <a:gd name="T68" fmla="*/ 152 w 812"/>
                      <a:gd name="T69" fmla="*/ 354 h 564"/>
                      <a:gd name="T70" fmla="*/ 128 w 812"/>
                      <a:gd name="T71" fmla="*/ 404 h 564"/>
                      <a:gd name="T72" fmla="*/ 94 w 812"/>
                      <a:gd name="T73" fmla="*/ 392 h 564"/>
                      <a:gd name="T74" fmla="*/ 66 w 812"/>
                      <a:gd name="T75" fmla="*/ 258 h 564"/>
                      <a:gd name="T76" fmla="*/ 72 w 812"/>
                      <a:gd name="T77" fmla="*/ 156 h 564"/>
                      <a:gd name="T78" fmla="*/ 44 w 812"/>
                      <a:gd name="T79" fmla="*/ 180 h 564"/>
                      <a:gd name="T80" fmla="*/ 20 w 812"/>
                      <a:gd name="T81" fmla="*/ 150 h 564"/>
                      <a:gd name="T82" fmla="*/ 24 w 812"/>
                      <a:gd name="T83" fmla="*/ 138 h 564"/>
                      <a:gd name="T84" fmla="*/ 0 w 812"/>
                      <a:gd name="T85" fmla="*/ 92 h 564"/>
                      <a:gd name="T86" fmla="*/ 798 w 812"/>
                      <a:gd name="T87" fmla="*/ 6 h 564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</a:gdLst>
                    <a:ahLst/>
                    <a:cxnLst>
                      <a:cxn ang="T88">
                        <a:pos x="T0" y="T1"/>
                      </a:cxn>
                      <a:cxn ang="T89">
                        <a:pos x="T2" y="T3"/>
                      </a:cxn>
                      <a:cxn ang="T90">
                        <a:pos x="T4" y="T5"/>
                      </a:cxn>
                      <a:cxn ang="T91">
                        <a:pos x="T6" y="T7"/>
                      </a:cxn>
                      <a:cxn ang="T92">
                        <a:pos x="T8" y="T9"/>
                      </a:cxn>
                      <a:cxn ang="T93">
                        <a:pos x="T10" y="T11"/>
                      </a:cxn>
                      <a:cxn ang="T94">
                        <a:pos x="T12" y="T13"/>
                      </a:cxn>
                      <a:cxn ang="T95">
                        <a:pos x="T14" y="T15"/>
                      </a:cxn>
                      <a:cxn ang="T96">
                        <a:pos x="T16" y="T17"/>
                      </a:cxn>
                      <a:cxn ang="T97">
                        <a:pos x="T18" y="T19"/>
                      </a:cxn>
                      <a:cxn ang="T98">
                        <a:pos x="T20" y="T21"/>
                      </a:cxn>
                      <a:cxn ang="T99">
                        <a:pos x="T22" y="T23"/>
                      </a:cxn>
                      <a:cxn ang="T100">
                        <a:pos x="T24" y="T25"/>
                      </a:cxn>
                      <a:cxn ang="T101">
                        <a:pos x="T26" y="T27"/>
                      </a:cxn>
                      <a:cxn ang="T102">
                        <a:pos x="T28" y="T29"/>
                      </a:cxn>
                      <a:cxn ang="T103">
                        <a:pos x="T30" y="T31"/>
                      </a:cxn>
                      <a:cxn ang="T104">
                        <a:pos x="T32" y="T33"/>
                      </a:cxn>
                      <a:cxn ang="T105">
                        <a:pos x="T34" y="T35"/>
                      </a:cxn>
                      <a:cxn ang="T106">
                        <a:pos x="T36" y="T37"/>
                      </a:cxn>
                      <a:cxn ang="T107">
                        <a:pos x="T38" y="T39"/>
                      </a:cxn>
                      <a:cxn ang="T108">
                        <a:pos x="T40" y="T41"/>
                      </a:cxn>
                      <a:cxn ang="T109">
                        <a:pos x="T42" y="T43"/>
                      </a:cxn>
                      <a:cxn ang="T110">
                        <a:pos x="T44" y="T45"/>
                      </a:cxn>
                      <a:cxn ang="T111">
                        <a:pos x="T46" y="T47"/>
                      </a:cxn>
                      <a:cxn ang="T112">
                        <a:pos x="T48" y="T49"/>
                      </a:cxn>
                      <a:cxn ang="T113">
                        <a:pos x="T50" y="T51"/>
                      </a:cxn>
                      <a:cxn ang="T114">
                        <a:pos x="T52" y="T53"/>
                      </a:cxn>
                      <a:cxn ang="T115">
                        <a:pos x="T54" y="T55"/>
                      </a:cxn>
                      <a:cxn ang="T116">
                        <a:pos x="T56" y="T57"/>
                      </a:cxn>
                      <a:cxn ang="T117">
                        <a:pos x="T58" y="T59"/>
                      </a:cxn>
                      <a:cxn ang="T118">
                        <a:pos x="T60" y="T61"/>
                      </a:cxn>
                      <a:cxn ang="T119">
                        <a:pos x="T62" y="T63"/>
                      </a:cxn>
                      <a:cxn ang="T120">
                        <a:pos x="T64" y="T65"/>
                      </a:cxn>
                      <a:cxn ang="T121">
                        <a:pos x="T66" y="T67"/>
                      </a:cxn>
                      <a:cxn ang="T122">
                        <a:pos x="T68" y="T69"/>
                      </a:cxn>
                      <a:cxn ang="T123">
                        <a:pos x="T70" y="T71"/>
                      </a:cxn>
                      <a:cxn ang="T124">
                        <a:pos x="T72" y="T73"/>
                      </a:cxn>
                      <a:cxn ang="T125">
                        <a:pos x="T74" y="T75"/>
                      </a:cxn>
                      <a:cxn ang="T126">
                        <a:pos x="T76" y="T77"/>
                      </a:cxn>
                      <a:cxn ang="T127">
                        <a:pos x="T78" y="T79"/>
                      </a:cxn>
                      <a:cxn ang="T128">
                        <a:pos x="T80" y="T81"/>
                      </a:cxn>
                      <a:cxn ang="T129">
                        <a:pos x="T82" y="T83"/>
                      </a:cxn>
                      <a:cxn ang="T130">
                        <a:pos x="T84" y="T85"/>
                      </a:cxn>
                      <a:cxn ang="T131">
                        <a:pos x="T86" y="T87"/>
                      </a:cxn>
                    </a:cxnLst>
                    <a:rect l="0" t="0" r="r" b="b"/>
                    <a:pathLst>
                      <a:path w="812" h="564">
                        <a:moveTo>
                          <a:pt x="798" y="6"/>
                        </a:moveTo>
                        <a:cubicBezTo>
                          <a:pt x="801" y="15"/>
                          <a:pt x="809" y="16"/>
                          <a:pt x="812" y="26"/>
                        </a:cubicBezTo>
                        <a:cubicBezTo>
                          <a:pt x="809" y="36"/>
                          <a:pt x="801" y="41"/>
                          <a:pt x="796" y="50"/>
                        </a:cubicBezTo>
                        <a:cubicBezTo>
                          <a:pt x="791" y="61"/>
                          <a:pt x="788" y="71"/>
                          <a:pt x="778" y="78"/>
                        </a:cubicBezTo>
                        <a:cubicBezTo>
                          <a:pt x="773" y="85"/>
                          <a:pt x="771" y="88"/>
                          <a:pt x="774" y="96"/>
                        </a:cubicBezTo>
                        <a:cubicBezTo>
                          <a:pt x="767" y="107"/>
                          <a:pt x="758" y="114"/>
                          <a:pt x="748" y="122"/>
                        </a:cubicBezTo>
                        <a:cubicBezTo>
                          <a:pt x="744" y="125"/>
                          <a:pt x="736" y="130"/>
                          <a:pt x="736" y="130"/>
                        </a:cubicBezTo>
                        <a:cubicBezTo>
                          <a:pt x="740" y="141"/>
                          <a:pt x="731" y="140"/>
                          <a:pt x="722" y="142"/>
                        </a:cubicBezTo>
                        <a:cubicBezTo>
                          <a:pt x="716" y="148"/>
                          <a:pt x="712" y="151"/>
                          <a:pt x="704" y="154"/>
                        </a:cubicBezTo>
                        <a:cubicBezTo>
                          <a:pt x="686" y="150"/>
                          <a:pt x="650" y="169"/>
                          <a:pt x="634" y="180"/>
                        </a:cubicBezTo>
                        <a:cubicBezTo>
                          <a:pt x="636" y="189"/>
                          <a:pt x="631" y="193"/>
                          <a:pt x="640" y="196"/>
                        </a:cubicBezTo>
                        <a:cubicBezTo>
                          <a:pt x="643" y="205"/>
                          <a:pt x="640" y="207"/>
                          <a:pt x="632" y="210"/>
                        </a:cubicBezTo>
                        <a:cubicBezTo>
                          <a:pt x="626" y="219"/>
                          <a:pt x="623" y="226"/>
                          <a:pt x="614" y="232"/>
                        </a:cubicBezTo>
                        <a:cubicBezTo>
                          <a:pt x="611" y="231"/>
                          <a:pt x="606" y="233"/>
                          <a:pt x="604" y="230"/>
                        </a:cubicBezTo>
                        <a:cubicBezTo>
                          <a:pt x="599" y="220"/>
                          <a:pt x="610" y="199"/>
                          <a:pt x="620" y="196"/>
                        </a:cubicBezTo>
                        <a:cubicBezTo>
                          <a:pt x="623" y="187"/>
                          <a:pt x="617" y="187"/>
                          <a:pt x="620" y="178"/>
                        </a:cubicBezTo>
                        <a:cubicBezTo>
                          <a:pt x="617" y="164"/>
                          <a:pt x="609" y="168"/>
                          <a:pt x="598" y="172"/>
                        </a:cubicBezTo>
                        <a:cubicBezTo>
                          <a:pt x="592" y="180"/>
                          <a:pt x="585" y="185"/>
                          <a:pt x="576" y="188"/>
                        </a:cubicBezTo>
                        <a:cubicBezTo>
                          <a:pt x="572" y="194"/>
                          <a:pt x="568" y="200"/>
                          <a:pt x="564" y="206"/>
                        </a:cubicBezTo>
                        <a:cubicBezTo>
                          <a:pt x="561" y="210"/>
                          <a:pt x="556" y="218"/>
                          <a:pt x="556" y="218"/>
                        </a:cubicBezTo>
                        <a:cubicBezTo>
                          <a:pt x="558" y="234"/>
                          <a:pt x="559" y="243"/>
                          <a:pt x="572" y="252"/>
                        </a:cubicBezTo>
                        <a:cubicBezTo>
                          <a:pt x="579" y="262"/>
                          <a:pt x="586" y="273"/>
                          <a:pt x="596" y="280"/>
                        </a:cubicBezTo>
                        <a:cubicBezTo>
                          <a:pt x="598" y="286"/>
                          <a:pt x="602" y="298"/>
                          <a:pt x="602" y="298"/>
                        </a:cubicBezTo>
                        <a:cubicBezTo>
                          <a:pt x="601" y="308"/>
                          <a:pt x="599" y="361"/>
                          <a:pt x="594" y="368"/>
                        </a:cubicBezTo>
                        <a:cubicBezTo>
                          <a:pt x="590" y="374"/>
                          <a:pt x="576" y="378"/>
                          <a:pt x="570" y="382"/>
                        </a:cubicBezTo>
                        <a:cubicBezTo>
                          <a:pt x="563" y="393"/>
                          <a:pt x="550" y="396"/>
                          <a:pt x="542" y="406"/>
                        </a:cubicBezTo>
                        <a:cubicBezTo>
                          <a:pt x="536" y="413"/>
                          <a:pt x="539" y="417"/>
                          <a:pt x="530" y="420"/>
                        </a:cubicBezTo>
                        <a:cubicBezTo>
                          <a:pt x="526" y="408"/>
                          <a:pt x="538" y="391"/>
                          <a:pt x="522" y="386"/>
                        </a:cubicBezTo>
                        <a:cubicBezTo>
                          <a:pt x="516" y="377"/>
                          <a:pt x="510" y="364"/>
                          <a:pt x="502" y="356"/>
                        </a:cubicBezTo>
                        <a:cubicBezTo>
                          <a:pt x="497" y="341"/>
                          <a:pt x="505" y="360"/>
                          <a:pt x="482" y="348"/>
                        </a:cubicBezTo>
                        <a:cubicBezTo>
                          <a:pt x="478" y="346"/>
                          <a:pt x="478" y="339"/>
                          <a:pt x="474" y="336"/>
                        </a:cubicBezTo>
                        <a:cubicBezTo>
                          <a:pt x="470" y="323"/>
                          <a:pt x="466" y="342"/>
                          <a:pt x="462" y="348"/>
                        </a:cubicBezTo>
                        <a:cubicBezTo>
                          <a:pt x="460" y="358"/>
                          <a:pt x="456" y="363"/>
                          <a:pt x="454" y="374"/>
                        </a:cubicBezTo>
                        <a:cubicBezTo>
                          <a:pt x="457" y="383"/>
                          <a:pt x="455" y="387"/>
                          <a:pt x="450" y="394"/>
                        </a:cubicBezTo>
                        <a:cubicBezTo>
                          <a:pt x="454" y="399"/>
                          <a:pt x="464" y="411"/>
                          <a:pt x="466" y="418"/>
                        </a:cubicBezTo>
                        <a:cubicBezTo>
                          <a:pt x="474" y="443"/>
                          <a:pt x="472" y="458"/>
                          <a:pt x="500" y="464"/>
                        </a:cubicBezTo>
                        <a:cubicBezTo>
                          <a:pt x="507" y="469"/>
                          <a:pt x="510" y="474"/>
                          <a:pt x="516" y="480"/>
                        </a:cubicBezTo>
                        <a:cubicBezTo>
                          <a:pt x="511" y="494"/>
                          <a:pt x="513" y="509"/>
                          <a:pt x="510" y="524"/>
                        </a:cubicBezTo>
                        <a:cubicBezTo>
                          <a:pt x="512" y="537"/>
                          <a:pt x="511" y="541"/>
                          <a:pt x="522" y="548"/>
                        </a:cubicBezTo>
                        <a:cubicBezTo>
                          <a:pt x="523" y="552"/>
                          <a:pt x="525" y="556"/>
                          <a:pt x="526" y="560"/>
                        </a:cubicBezTo>
                        <a:cubicBezTo>
                          <a:pt x="527" y="564"/>
                          <a:pt x="514" y="556"/>
                          <a:pt x="514" y="556"/>
                        </a:cubicBezTo>
                        <a:cubicBezTo>
                          <a:pt x="502" y="564"/>
                          <a:pt x="501" y="551"/>
                          <a:pt x="492" y="544"/>
                        </a:cubicBezTo>
                        <a:cubicBezTo>
                          <a:pt x="488" y="541"/>
                          <a:pt x="480" y="536"/>
                          <a:pt x="480" y="536"/>
                        </a:cubicBezTo>
                        <a:cubicBezTo>
                          <a:pt x="471" y="522"/>
                          <a:pt x="474" y="529"/>
                          <a:pt x="470" y="518"/>
                        </a:cubicBezTo>
                        <a:cubicBezTo>
                          <a:pt x="467" y="491"/>
                          <a:pt x="461" y="446"/>
                          <a:pt x="436" y="430"/>
                        </a:cubicBezTo>
                        <a:cubicBezTo>
                          <a:pt x="428" y="433"/>
                          <a:pt x="425" y="433"/>
                          <a:pt x="422" y="424"/>
                        </a:cubicBezTo>
                        <a:cubicBezTo>
                          <a:pt x="427" y="404"/>
                          <a:pt x="432" y="383"/>
                          <a:pt x="438" y="364"/>
                        </a:cubicBezTo>
                        <a:cubicBezTo>
                          <a:pt x="436" y="343"/>
                          <a:pt x="431" y="330"/>
                          <a:pt x="426" y="310"/>
                        </a:cubicBezTo>
                        <a:cubicBezTo>
                          <a:pt x="429" y="302"/>
                          <a:pt x="425" y="300"/>
                          <a:pt x="422" y="292"/>
                        </a:cubicBezTo>
                        <a:cubicBezTo>
                          <a:pt x="424" y="282"/>
                          <a:pt x="428" y="277"/>
                          <a:pt x="422" y="268"/>
                        </a:cubicBezTo>
                        <a:cubicBezTo>
                          <a:pt x="420" y="269"/>
                          <a:pt x="418" y="269"/>
                          <a:pt x="416" y="270"/>
                        </a:cubicBezTo>
                        <a:cubicBezTo>
                          <a:pt x="414" y="272"/>
                          <a:pt x="414" y="275"/>
                          <a:pt x="412" y="276"/>
                        </a:cubicBezTo>
                        <a:cubicBezTo>
                          <a:pt x="408" y="278"/>
                          <a:pt x="400" y="280"/>
                          <a:pt x="400" y="280"/>
                        </a:cubicBezTo>
                        <a:cubicBezTo>
                          <a:pt x="394" y="274"/>
                          <a:pt x="389" y="274"/>
                          <a:pt x="386" y="266"/>
                        </a:cubicBezTo>
                        <a:cubicBezTo>
                          <a:pt x="391" y="251"/>
                          <a:pt x="379" y="206"/>
                          <a:pt x="364" y="196"/>
                        </a:cubicBezTo>
                        <a:cubicBezTo>
                          <a:pt x="357" y="186"/>
                          <a:pt x="358" y="182"/>
                          <a:pt x="360" y="170"/>
                        </a:cubicBezTo>
                        <a:cubicBezTo>
                          <a:pt x="358" y="160"/>
                          <a:pt x="356" y="147"/>
                          <a:pt x="346" y="144"/>
                        </a:cubicBezTo>
                        <a:cubicBezTo>
                          <a:pt x="343" y="154"/>
                          <a:pt x="338" y="160"/>
                          <a:pt x="330" y="166"/>
                        </a:cubicBezTo>
                        <a:cubicBezTo>
                          <a:pt x="323" y="164"/>
                          <a:pt x="308" y="160"/>
                          <a:pt x="308" y="160"/>
                        </a:cubicBezTo>
                        <a:cubicBezTo>
                          <a:pt x="296" y="162"/>
                          <a:pt x="297" y="166"/>
                          <a:pt x="288" y="172"/>
                        </a:cubicBezTo>
                        <a:cubicBezTo>
                          <a:pt x="284" y="185"/>
                          <a:pt x="282" y="191"/>
                          <a:pt x="268" y="196"/>
                        </a:cubicBezTo>
                        <a:cubicBezTo>
                          <a:pt x="264" y="200"/>
                          <a:pt x="243" y="231"/>
                          <a:pt x="242" y="232"/>
                        </a:cubicBezTo>
                        <a:cubicBezTo>
                          <a:pt x="231" y="239"/>
                          <a:pt x="215" y="247"/>
                          <a:pt x="206" y="256"/>
                        </a:cubicBezTo>
                        <a:cubicBezTo>
                          <a:pt x="202" y="260"/>
                          <a:pt x="200" y="265"/>
                          <a:pt x="196" y="268"/>
                        </a:cubicBezTo>
                        <a:cubicBezTo>
                          <a:pt x="194" y="269"/>
                          <a:pt x="192" y="269"/>
                          <a:pt x="190" y="270"/>
                        </a:cubicBezTo>
                        <a:cubicBezTo>
                          <a:pt x="188" y="271"/>
                          <a:pt x="186" y="272"/>
                          <a:pt x="184" y="274"/>
                        </a:cubicBezTo>
                        <a:cubicBezTo>
                          <a:pt x="180" y="278"/>
                          <a:pt x="172" y="286"/>
                          <a:pt x="172" y="286"/>
                        </a:cubicBezTo>
                        <a:cubicBezTo>
                          <a:pt x="167" y="300"/>
                          <a:pt x="165" y="314"/>
                          <a:pt x="160" y="328"/>
                        </a:cubicBezTo>
                        <a:cubicBezTo>
                          <a:pt x="158" y="335"/>
                          <a:pt x="156" y="341"/>
                          <a:pt x="154" y="348"/>
                        </a:cubicBezTo>
                        <a:cubicBezTo>
                          <a:pt x="153" y="350"/>
                          <a:pt x="152" y="354"/>
                          <a:pt x="152" y="354"/>
                        </a:cubicBezTo>
                        <a:cubicBezTo>
                          <a:pt x="152" y="359"/>
                          <a:pt x="156" y="384"/>
                          <a:pt x="146" y="392"/>
                        </a:cubicBezTo>
                        <a:cubicBezTo>
                          <a:pt x="141" y="397"/>
                          <a:pt x="128" y="404"/>
                          <a:pt x="128" y="404"/>
                        </a:cubicBezTo>
                        <a:cubicBezTo>
                          <a:pt x="125" y="412"/>
                          <a:pt x="122" y="421"/>
                          <a:pt x="114" y="424"/>
                        </a:cubicBezTo>
                        <a:cubicBezTo>
                          <a:pt x="100" y="419"/>
                          <a:pt x="97" y="405"/>
                          <a:pt x="94" y="392"/>
                        </a:cubicBezTo>
                        <a:cubicBezTo>
                          <a:pt x="86" y="362"/>
                          <a:pt x="82" y="332"/>
                          <a:pt x="72" y="302"/>
                        </a:cubicBezTo>
                        <a:cubicBezTo>
                          <a:pt x="71" y="281"/>
                          <a:pt x="70" y="275"/>
                          <a:pt x="66" y="258"/>
                        </a:cubicBezTo>
                        <a:cubicBezTo>
                          <a:pt x="66" y="251"/>
                          <a:pt x="68" y="219"/>
                          <a:pt x="64" y="208"/>
                        </a:cubicBezTo>
                        <a:cubicBezTo>
                          <a:pt x="70" y="191"/>
                          <a:pt x="66" y="173"/>
                          <a:pt x="72" y="156"/>
                        </a:cubicBezTo>
                        <a:cubicBezTo>
                          <a:pt x="66" y="139"/>
                          <a:pt x="60" y="168"/>
                          <a:pt x="56" y="172"/>
                        </a:cubicBezTo>
                        <a:cubicBezTo>
                          <a:pt x="53" y="175"/>
                          <a:pt x="44" y="180"/>
                          <a:pt x="44" y="180"/>
                        </a:cubicBezTo>
                        <a:cubicBezTo>
                          <a:pt x="35" y="177"/>
                          <a:pt x="28" y="173"/>
                          <a:pt x="24" y="162"/>
                        </a:cubicBezTo>
                        <a:cubicBezTo>
                          <a:pt x="23" y="158"/>
                          <a:pt x="20" y="150"/>
                          <a:pt x="20" y="150"/>
                        </a:cubicBezTo>
                        <a:cubicBezTo>
                          <a:pt x="30" y="148"/>
                          <a:pt x="30" y="143"/>
                          <a:pt x="38" y="138"/>
                        </a:cubicBezTo>
                        <a:cubicBezTo>
                          <a:pt x="35" y="128"/>
                          <a:pt x="31" y="133"/>
                          <a:pt x="24" y="138"/>
                        </a:cubicBezTo>
                        <a:cubicBezTo>
                          <a:pt x="15" y="135"/>
                          <a:pt x="15" y="132"/>
                          <a:pt x="18" y="124"/>
                        </a:cubicBezTo>
                        <a:cubicBezTo>
                          <a:pt x="11" y="114"/>
                          <a:pt x="9" y="101"/>
                          <a:pt x="0" y="92"/>
                        </a:cubicBezTo>
                        <a:lnTo>
                          <a:pt x="76" y="0"/>
                        </a:lnTo>
                        <a:lnTo>
                          <a:pt x="798" y="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3" name="Freeform 96"/>
                  <p:cNvSpPr>
                    <a:spLocks/>
                  </p:cNvSpPr>
                  <p:nvPr/>
                </p:nvSpPr>
                <p:spPr bwMode="ltGray">
                  <a:xfrm>
                    <a:off x="4322" y="519"/>
                    <a:ext cx="19" cy="29"/>
                  </a:xfrm>
                  <a:custGeom>
                    <a:avLst/>
                    <a:gdLst>
                      <a:gd name="T0" fmla="*/ 7 w 43"/>
                      <a:gd name="T1" fmla="*/ 11 h 85"/>
                      <a:gd name="T2" fmla="*/ 17 w 43"/>
                      <a:gd name="T3" fmla="*/ 3 h 85"/>
                      <a:gd name="T4" fmla="*/ 37 w 43"/>
                      <a:gd name="T5" fmla="*/ 33 h 85"/>
                      <a:gd name="T6" fmla="*/ 19 w 43"/>
                      <a:gd name="T7" fmla="*/ 85 h 85"/>
                      <a:gd name="T8" fmla="*/ 1 w 43"/>
                      <a:gd name="T9" fmla="*/ 69 h 85"/>
                      <a:gd name="T10" fmla="*/ 7 w 43"/>
                      <a:gd name="T11" fmla="*/ 11 h 85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85">
                        <a:moveTo>
                          <a:pt x="7" y="11"/>
                        </a:moveTo>
                        <a:cubicBezTo>
                          <a:pt x="4" y="2"/>
                          <a:pt x="9" y="0"/>
                          <a:pt x="17" y="3"/>
                        </a:cubicBezTo>
                        <a:cubicBezTo>
                          <a:pt x="24" y="13"/>
                          <a:pt x="28" y="24"/>
                          <a:pt x="37" y="33"/>
                        </a:cubicBezTo>
                        <a:cubicBezTo>
                          <a:pt x="43" y="52"/>
                          <a:pt x="40" y="78"/>
                          <a:pt x="19" y="85"/>
                        </a:cubicBezTo>
                        <a:cubicBezTo>
                          <a:pt x="6" y="81"/>
                          <a:pt x="5" y="81"/>
                          <a:pt x="1" y="69"/>
                        </a:cubicBezTo>
                        <a:cubicBezTo>
                          <a:pt x="2" y="66"/>
                          <a:pt x="0" y="4"/>
                          <a:pt x="7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4" name="Freeform 97"/>
                  <p:cNvSpPr>
                    <a:spLocks/>
                  </p:cNvSpPr>
                  <p:nvPr/>
                </p:nvSpPr>
                <p:spPr bwMode="ltGray">
                  <a:xfrm>
                    <a:off x="4588" y="421"/>
                    <a:ext cx="18" cy="24"/>
                  </a:xfrm>
                  <a:custGeom>
                    <a:avLst/>
                    <a:gdLst>
                      <a:gd name="T0" fmla="*/ 13 w 44"/>
                      <a:gd name="T1" fmla="*/ 28 h 74"/>
                      <a:gd name="T2" fmla="*/ 29 w 44"/>
                      <a:gd name="T3" fmla="*/ 2 h 74"/>
                      <a:gd name="T4" fmla="*/ 43 w 44"/>
                      <a:gd name="T5" fmla="*/ 4 h 74"/>
                      <a:gd name="T6" fmla="*/ 39 w 44"/>
                      <a:gd name="T7" fmla="*/ 26 h 74"/>
                      <a:gd name="T8" fmla="*/ 13 w 44"/>
                      <a:gd name="T9" fmla="*/ 74 h 74"/>
                      <a:gd name="T10" fmla="*/ 7 w 44"/>
                      <a:gd name="T11" fmla="*/ 60 h 74"/>
                      <a:gd name="T12" fmla="*/ 3 w 44"/>
                      <a:gd name="T13" fmla="*/ 36 h 74"/>
                      <a:gd name="T14" fmla="*/ 13 w 44"/>
                      <a:gd name="T15" fmla="*/ 28 h 7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44" h="74">
                        <a:moveTo>
                          <a:pt x="13" y="28"/>
                        </a:moveTo>
                        <a:cubicBezTo>
                          <a:pt x="15" y="13"/>
                          <a:pt x="14" y="7"/>
                          <a:pt x="29" y="2"/>
                        </a:cubicBezTo>
                        <a:cubicBezTo>
                          <a:pt x="34" y="3"/>
                          <a:pt x="40" y="0"/>
                          <a:pt x="43" y="4"/>
                        </a:cubicBezTo>
                        <a:cubicBezTo>
                          <a:pt x="44" y="6"/>
                          <a:pt x="41" y="21"/>
                          <a:pt x="39" y="26"/>
                        </a:cubicBezTo>
                        <a:cubicBezTo>
                          <a:pt x="31" y="43"/>
                          <a:pt x="30" y="63"/>
                          <a:pt x="13" y="74"/>
                        </a:cubicBezTo>
                        <a:cubicBezTo>
                          <a:pt x="4" y="71"/>
                          <a:pt x="4" y="68"/>
                          <a:pt x="7" y="60"/>
                        </a:cubicBezTo>
                        <a:cubicBezTo>
                          <a:pt x="5" y="50"/>
                          <a:pt x="0" y="46"/>
                          <a:pt x="3" y="36"/>
                        </a:cubicBezTo>
                        <a:cubicBezTo>
                          <a:pt x="4" y="32"/>
                          <a:pt x="8" y="23"/>
                          <a:pt x="1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5" name="Freeform 98"/>
                  <p:cNvSpPr>
                    <a:spLocks/>
                  </p:cNvSpPr>
                  <p:nvPr/>
                </p:nvSpPr>
                <p:spPr bwMode="ltGray">
                  <a:xfrm>
                    <a:off x="4639" y="409"/>
                    <a:ext cx="9" cy="10"/>
                  </a:xfrm>
                  <a:custGeom>
                    <a:avLst/>
                    <a:gdLst>
                      <a:gd name="T0" fmla="*/ 7 w 20"/>
                      <a:gd name="T1" fmla="*/ 16 h 30"/>
                      <a:gd name="T2" fmla="*/ 5 w 20"/>
                      <a:gd name="T3" fmla="*/ 30 h 30"/>
                      <a:gd name="T4" fmla="*/ 7 w 20"/>
                      <a:gd name="T5" fmla="*/ 16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0" h="30">
                        <a:moveTo>
                          <a:pt x="7" y="16"/>
                        </a:moveTo>
                        <a:cubicBezTo>
                          <a:pt x="18" y="0"/>
                          <a:pt x="20" y="20"/>
                          <a:pt x="5" y="30"/>
                        </a:cubicBezTo>
                        <a:cubicBezTo>
                          <a:pt x="0" y="23"/>
                          <a:pt x="1" y="22"/>
                          <a:pt x="7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6" name="Freeform 99"/>
                  <p:cNvSpPr>
                    <a:spLocks/>
                  </p:cNvSpPr>
                  <p:nvPr/>
                </p:nvSpPr>
                <p:spPr bwMode="ltGray">
                  <a:xfrm>
                    <a:off x="3709" y="315"/>
                    <a:ext cx="433" cy="354"/>
                  </a:xfrm>
                  <a:custGeom>
                    <a:avLst/>
                    <a:gdLst>
                      <a:gd name="T0" fmla="*/ 481 w 682"/>
                      <a:gd name="T1" fmla="*/ 464 h 557"/>
                      <a:gd name="T2" fmla="*/ 486 w 682"/>
                      <a:gd name="T3" fmla="*/ 451 h 557"/>
                      <a:gd name="T4" fmla="*/ 500 w 682"/>
                      <a:gd name="T5" fmla="*/ 413 h 557"/>
                      <a:gd name="T6" fmla="*/ 309 w 682"/>
                      <a:gd name="T7" fmla="*/ 287 h 557"/>
                      <a:gd name="T8" fmla="*/ 282 w 682"/>
                      <a:gd name="T9" fmla="*/ 346 h 557"/>
                      <a:gd name="T10" fmla="*/ 303 w 682"/>
                      <a:gd name="T11" fmla="*/ 556 h 557"/>
                      <a:gd name="T12" fmla="*/ 282 w 682"/>
                      <a:gd name="T13" fmla="*/ 494 h 557"/>
                      <a:gd name="T14" fmla="*/ 242 w 682"/>
                      <a:gd name="T15" fmla="*/ 439 h 557"/>
                      <a:gd name="T16" fmla="*/ 245 w 682"/>
                      <a:gd name="T17" fmla="*/ 413 h 557"/>
                      <a:gd name="T18" fmla="*/ 247 w 682"/>
                      <a:gd name="T19" fmla="*/ 394 h 557"/>
                      <a:gd name="T20" fmla="*/ 220 w 682"/>
                      <a:gd name="T21" fmla="*/ 375 h 557"/>
                      <a:gd name="T22" fmla="*/ 194 w 682"/>
                      <a:gd name="T23" fmla="*/ 346 h 557"/>
                      <a:gd name="T24" fmla="*/ 148 w 682"/>
                      <a:gd name="T25" fmla="*/ 354 h 557"/>
                      <a:gd name="T26" fmla="*/ 126 w 682"/>
                      <a:gd name="T27" fmla="*/ 365 h 557"/>
                      <a:gd name="T28" fmla="*/ 78 w 682"/>
                      <a:gd name="T29" fmla="*/ 365 h 557"/>
                      <a:gd name="T30" fmla="*/ 22 w 682"/>
                      <a:gd name="T31" fmla="*/ 312 h 557"/>
                      <a:gd name="T32" fmla="*/ 11 w 682"/>
                      <a:gd name="T33" fmla="*/ 295 h 557"/>
                      <a:gd name="T34" fmla="*/ 0 w 682"/>
                      <a:gd name="T35" fmla="*/ 264 h 557"/>
                      <a:gd name="T36" fmla="*/ 24 w 682"/>
                      <a:gd name="T37" fmla="*/ 213 h 557"/>
                      <a:gd name="T38" fmla="*/ 32 w 682"/>
                      <a:gd name="T39" fmla="*/ 181 h 557"/>
                      <a:gd name="T40" fmla="*/ 51 w 682"/>
                      <a:gd name="T41" fmla="*/ 143 h 557"/>
                      <a:gd name="T42" fmla="*/ 81 w 682"/>
                      <a:gd name="T43" fmla="*/ 116 h 557"/>
                      <a:gd name="T44" fmla="*/ 167 w 682"/>
                      <a:gd name="T45" fmla="*/ 67 h 557"/>
                      <a:gd name="T46" fmla="*/ 220 w 682"/>
                      <a:gd name="T47" fmla="*/ 30 h 557"/>
                      <a:gd name="T48" fmla="*/ 258 w 682"/>
                      <a:gd name="T49" fmla="*/ 6 h 557"/>
                      <a:gd name="T50" fmla="*/ 363 w 682"/>
                      <a:gd name="T51" fmla="*/ 2 h 557"/>
                      <a:gd name="T52" fmla="*/ 398 w 682"/>
                      <a:gd name="T53" fmla="*/ 0 h 557"/>
                      <a:gd name="T54" fmla="*/ 384 w 682"/>
                      <a:gd name="T55" fmla="*/ 34 h 557"/>
                      <a:gd name="T56" fmla="*/ 443 w 682"/>
                      <a:gd name="T57" fmla="*/ 84 h 557"/>
                      <a:gd name="T58" fmla="*/ 497 w 682"/>
                      <a:gd name="T59" fmla="*/ 74 h 557"/>
                      <a:gd name="T60" fmla="*/ 529 w 682"/>
                      <a:gd name="T61" fmla="*/ 82 h 557"/>
                      <a:gd name="T62" fmla="*/ 559 w 682"/>
                      <a:gd name="T63" fmla="*/ 97 h 557"/>
                      <a:gd name="T64" fmla="*/ 572 w 682"/>
                      <a:gd name="T65" fmla="*/ 188 h 557"/>
                      <a:gd name="T66" fmla="*/ 572 w 682"/>
                      <a:gd name="T67" fmla="*/ 240 h 557"/>
                      <a:gd name="T68" fmla="*/ 599 w 682"/>
                      <a:gd name="T69" fmla="*/ 283 h 557"/>
                      <a:gd name="T70" fmla="*/ 645 w 682"/>
                      <a:gd name="T71" fmla="*/ 300 h 557"/>
                      <a:gd name="T72" fmla="*/ 680 w 682"/>
                      <a:gd name="T73" fmla="*/ 295 h 557"/>
                      <a:gd name="T74" fmla="*/ 664 w 682"/>
                      <a:gd name="T75" fmla="*/ 340 h 557"/>
                      <a:gd name="T76" fmla="*/ 599 w 682"/>
                      <a:gd name="T77" fmla="*/ 407 h 557"/>
                      <a:gd name="T78" fmla="*/ 548 w 682"/>
                      <a:gd name="T79" fmla="*/ 485 h 557"/>
                      <a:gd name="T80" fmla="*/ 556 w 682"/>
                      <a:gd name="T81" fmla="*/ 508 h 557"/>
                      <a:gd name="T82" fmla="*/ 435 w 682"/>
                      <a:gd name="T83" fmla="*/ 556 h 557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</a:gdLst>
                    <a:ahLst/>
                    <a:cxnLst>
                      <a:cxn ang="T84">
                        <a:pos x="T0" y="T1"/>
                      </a:cxn>
                      <a:cxn ang="T85">
                        <a:pos x="T2" y="T3"/>
                      </a:cxn>
                      <a:cxn ang="T86">
                        <a:pos x="T4" y="T5"/>
                      </a:cxn>
                      <a:cxn ang="T87">
                        <a:pos x="T6" y="T7"/>
                      </a:cxn>
                      <a:cxn ang="T88">
                        <a:pos x="T8" y="T9"/>
                      </a:cxn>
                      <a:cxn ang="T89">
                        <a:pos x="T10" y="T11"/>
                      </a:cxn>
                      <a:cxn ang="T90">
                        <a:pos x="T12" y="T13"/>
                      </a:cxn>
                      <a:cxn ang="T91">
                        <a:pos x="T14" y="T15"/>
                      </a:cxn>
                      <a:cxn ang="T92">
                        <a:pos x="T16" y="T17"/>
                      </a:cxn>
                      <a:cxn ang="T93">
                        <a:pos x="T18" y="T19"/>
                      </a:cxn>
                      <a:cxn ang="T94">
                        <a:pos x="T20" y="T21"/>
                      </a:cxn>
                      <a:cxn ang="T95">
                        <a:pos x="T22" y="T23"/>
                      </a:cxn>
                      <a:cxn ang="T96">
                        <a:pos x="T24" y="T25"/>
                      </a:cxn>
                      <a:cxn ang="T97">
                        <a:pos x="T26" y="T27"/>
                      </a:cxn>
                      <a:cxn ang="T98">
                        <a:pos x="T28" y="T29"/>
                      </a:cxn>
                      <a:cxn ang="T99">
                        <a:pos x="T30" y="T31"/>
                      </a:cxn>
                      <a:cxn ang="T100">
                        <a:pos x="T32" y="T33"/>
                      </a:cxn>
                      <a:cxn ang="T101">
                        <a:pos x="T34" y="T35"/>
                      </a:cxn>
                      <a:cxn ang="T102">
                        <a:pos x="T36" y="T37"/>
                      </a:cxn>
                      <a:cxn ang="T103">
                        <a:pos x="T38" y="T39"/>
                      </a:cxn>
                      <a:cxn ang="T104">
                        <a:pos x="T40" y="T41"/>
                      </a:cxn>
                      <a:cxn ang="T105">
                        <a:pos x="T42" y="T43"/>
                      </a:cxn>
                      <a:cxn ang="T106">
                        <a:pos x="T44" y="T45"/>
                      </a:cxn>
                      <a:cxn ang="T107">
                        <a:pos x="T46" y="T47"/>
                      </a:cxn>
                      <a:cxn ang="T108">
                        <a:pos x="T48" y="T49"/>
                      </a:cxn>
                      <a:cxn ang="T109">
                        <a:pos x="T50" y="T51"/>
                      </a:cxn>
                      <a:cxn ang="T110">
                        <a:pos x="T52" y="T53"/>
                      </a:cxn>
                      <a:cxn ang="T111">
                        <a:pos x="T54" y="T55"/>
                      </a:cxn>
                      <a:cxn ang="T112">
                        <a:pos x="T56" y="T57"/>
                      </a:cxn>
                      <a:cxn ang="T113">
                        <a:pos x="T58" y="T59"/>
                      </a:cxn>
                      <a:cxn ang="T114">
                        <a:pos x="T60" y="T61"/>
                      </a:cxn>
                      <a:cxn ang="T115">
                        <a:pos x="T62" y="T63"/>
                      </a:cxn>
                      <a:cxn ang="T116">
                        <a:pos x="T64" y="T65"/>
                      </a:cxn>
                      <a:cxn ang="T117">
                        <a:pos x="T66" y="T67"/>
                      </a:cxn>
                      <a:cxn ang="T118">
                        <a:pos x="T68" y="T69"/>
                      </a:cxn>
                      <a:cxn ang="T119">
                        <a:pos x="T70" y="T71"/>
                      </a:cxn>
                      <a:cxn ang="T120">
                        <a:pos x="T72" y="T73"/>
                      </a:cxn>
                      <a:cxn ang="T121">
                        <a:pos x="T74" y="T75"/>
                      </a:cxn>
                      <a:cxn ang="T122">
                        <a:pos x="T76" y="T77"/>
                      </a:cxn>
                      <a:cxn ang="T123">
                        <a:pos x="T78" y="T79"/>
                      </a:cxn>
                      <a:cxn ang="T124">
                        <a:pos x="T80" y="T81"/>
                      </a:cxn>
                      <a:cxn ang="T125">
                        <a:pos x="T82" y="T83"/>
                      </a:cxn>
                    </a:cxnLst>
                    <a:rect l="0" t="0" r="r" b="b"/>
                    <a:pathLst>
                      <a:path w="682" h="557">
                        <a:moveTo>
                          <a:pt x="435" y="556"/>
                        </a:moveTo>
                        <a:lnTo>
                          <a:pt x="481" y="464"/>
                        </a:lnTo>
                        <a:lnTo>
                          <a:pt x="473" y="449"/>
                        </a:lnTo>
                        <a:lnTo>
                          <a:pt x="486" y="451"/>
                        </a:lnTo>
                        <a:lnTo>
                          <a:pt x="495" y="441"/>
                        </a:lnTo>
                        <a:lnTo>
                          <a:pt x="500" y="413"/>
                        </a:lnTo>
                        <a:lnTo>
                          <a:pt x="500" y="371"/>
                        </a:lnTo>
                        <a:lnTo>
                          <a:pt x="309" y="287"/>
                        </a:lnTo>
                        <a:lnTo>
                          <a:pt x="296" y="308"/>
                        </a:lnTo>
                        <a:lnTo>
                          <a:pt x="282" y="346"/>
                        </a:lnTo>
                        <a:lnTo>
                          <a:pt x="396" y="557"/>
                        </a:lnTo>
                        <a:lnTo>
                          <a:pt x="303" y="556"/>
                        </a:lnTo>
                        <a:lnTo>
                          <a:pt x="304" y="536"/>
                        </a:lnTo>
                        <a:cubicBezTo>
                          <a:pt x="284" y="520"/>
                          <a:pt x="296" y="510"/>
                          <a:pt x="282" y="494"/>
                        </a:cubicBezTo>
                        <a:cubicBezTo>
                          <a:pt x="276" y="475"/>
                          <a:pt x="267" y="468"/>
                          <a:pt x="253" y="451"/>
                        </a:cubicBezTo>
                        <a:cubicBezTo>
                          <a:pt x="249" y="447"/>
                          <a:pt x="245" y="443"/>
                          <a:pt x="242" y="439"/>
                        </a:cubicBezTo>
                        <a:lnTo>
                          <a:pt x="237" y="432"/>
                        </a:lnTo>
                        <a:cubicBezTo>
                          <a:pt x="237" y="432"/>
                          <a:pt x="245" y="413"/>
                          <a:pt x="245" y="413"/>
                        </a:cubicBezTo>
                        <a:cubicBezTo>
                          <a:pt x="247" y="409"/>
                          <a:pt x="250" y="401"/>
                          <a:pt x="250" y="401"/>
                        </a:cubicBezTo>
                        <a:cubicBezTo>
                          <a:pt x="249" y="399"/>
                          <a:pt x="247" y="397"/>
                          <a:pt x="247" y="394"/>
                        </a:cubicBezTo>
                        <a:cubicBezTo>
                          <a:pt x="248" y="390"/>
                          <a:pt x="253" y="382"/>
                          <a:pt x="253" y="382"/>
                        </a:cubicBezTo>
                        <a:cubicBezTo>
                          <a:pt x="243" y="370"/>
                          <a:pt x="237" y="371"/>
                          <a:pt x="220" y="375"/>
                        </a:cubicBezTo>
                        <a:cubicBezTo>
                          <a:pt x="217" y="371"/>
                          <a:pt x="210" y="369"/>
                          <a:pt x="207" y="365"/>
                        </a:cubicBezTo>
                        <a:cubicBezTo>
                          <a:pt x="185" y="337"/>
                          <a:pt x="216" y="363"/>
                          <a:pt x="194" y="346"/>
                        </a:cubicBezTo>
                        <a:cubicBezTo>
                          <a:pt x="167" y="349"/>
                          <a:pt x="179" y="346"/>
                          <a:pt x="156" y="352"/>
                        </a:cubicBezTo>
                        <a:cubicBezTo>
                          <a:pt x="153" y="353"/>
                          <a:pt x="148" y="354"/>
                          <a:pt x="148" y="354"/>
                        </a:cubicBezTo>
                        <a:cubicBezTo>
                          <a:pt x="146" y="356"/>
                          <a:pt x="145" y="359"/>
                          <a:pt x="142" y="361"/>
                        </a:cubicBezTo>
                        <a:cubicBezTo>
                          <a:pt x="138" y="363"/>
                          <a:pt x="126" y="365"/>
                          <a:pt x="126" y="365"/>
                        </a:cubicBezTo>
                        <a:cubicBezTo>
                          <a:pt x="105" y="354"/>
                          <a:pt x="116" y="355"/>
                          <a:pt x="94" y="361"/>
                        </a:cubicBezTo>
                        <a:cubicBezTo>
                          <a:pt x="89" y="362"/>
                          <a:pt x="78" y="365"/>
                          <a:pt x="78" y="365"/>
                        </a:cubicBezTo>
                        <a:cubicBezTo>
                          <a:pt x="62" y="383"/>
                          <a:pt x="46" y="346"/>
                          <a:pt x="35" y="337"/>
                        </a:cubicBezTo>
                        <a:cubicBezTo>
                          <a:pt x="32" y="330"/>
                          <a:pt x="24" y="320"/>
                          <a:pt x="22" y="312"/>
                        </a:cubicBezTo>
                        <a:cubicBezTo>
                          <a:pt x="20" y="308"/>
                          <a:pt x="22" y="303"/>
                          <a:pt x="19" y="300"/>
                        </a:cubicBezTo>
                        <a:cubicBezTo>
                          <a:pt x="17" y="297"/>
                          <a:pt x="13" y="297"/>
                          <a:pt x="11" y="295"/>
                        </a:cubicBezTo>
                        <a:cubicBezTo>
                          <a:pt x="3" y="277"/>
                          <a:pt x="15" y="306"/>
                          <a:pt x="5" y="276"/>
                        </a:cubicBezTo>
                        <a:cubicBezTo>
                          <a:pt x="4" y="272"/>
                          <a:pt x="0" y="264"/>
                          <a:pt x="0" y="264"/>
                        </a:cubicBezTo>
                        <a:cubicBezTo>
                          <a:pt x="3" y="253"/>
                          <a:pt x="2" y="248"/>
                          <a:pt x="13" y="243"/>
                        </a:cubicBezTo>
                        <a:cubicBezTo>
                          <a:pt x="20" y="221"/>
                          <a:pt x="17" y="231"/>
                          <a:pt x="24" y="213"/>
                        </a:cubicBezTo>
                        <a:cubicBezTo>
                          <a:pt x="26" y="209"/>
                          <a:pt x="30" y="200"/>
                          <a:pt x="30" y="200"/>
                        </a:cubicBezTo>
                        <a:cubicBezTo>
                          <a:pt x="26" y="192"/>
                          <a:pt x="24" y="191"/>
                          <a:pt x="32" y="181"/>
                        </a:cubicBezTo>
                        <a:cubicBezTo>
                          <a:pt x="36" y="177"/>
                          <a:pt x="43" y="169"/>
                          <a:pt x="43" y="169"/>
                        </a:cubicBezTo>
                        <a:cubicBezTo>
                          <a:pt x="37" y="155"/>
                          <a:pt x="36" y="153"/>
                          <a:pt x="51" y="143"/>
                        </a:cubicBezTo>
                        <a:cubicBezTo>
                          <a:pt x="56" y="140"/>
                          <a:pt x="67" y="135"/>
                          <a:pt x="67" y="135"/>
                        </a:cubicBezTo>
                        <a:cubicBezTo>
                          <a:pt x="73" y="129"/>
                          <a:pt x="75" y="122"/>
                          <a:pt x="81" y="116"/>
                        </a:cubicBezTo>
                        <a:cubicBezTo>
                          <a:pt x="89" y="107"/>
                          <a:pt x="102" y="105"/>
                          <a:pt x="113" y="99"/>
                        </a:cubicBezTo>
                        <a:cubicBezTo>
                          <a:pt x="125" y="85"/>
                          <a:pt x="149" y="76"/>
                          <a:pt x="167" y="67"/>
                        </a:cubicBezTo>
                        <a:cubicBezTo>
                          <a:pt x="174" y="59"/>
                          <a:pt x="175" y="50"/>
                          <a:pt x="188" y="46"/>
                        </a:cubicBezTo>
                        <a:cubicBezTo>
                          <a:pt x="198" y="39"/>
                          <a:pt x="208" y="36"/>
                          <a:pt x="220" y="30"/>
                        </a:cubicBezTo>
                        <a:cubicBezTo>
                          <a:pt x="223" y="28"/>
                          <a:pt x="228" y="25"/>
                          <a:pt x="228" y="25"/>
                        </a:cubicBezTo>
                        <a:cubicBezTo>
                          <a:pt x="237" y="16"/>
                          <a:pt x="245" y="10"/>
                          <a:pt x="258" y="6"/>
                        </a:cubicBezTo>
                        <a:cubicBezTo>
                          <a:pt x="269" y="31"/>
                          <a:pt x="301" y="6"/>
                          <a:pt x="320" y="4"/>
                        </a:cubicBezTo>
                        <a:cubicBezTo>
                          <a:pt x="334" y="3"/>
                          <a:pt x="349" y="3"/>
                          <a:pt x="363" y="2"/>
                        </a:cubicBezTo>
                        <a:cubicBezTo>
                          <a:pt x="369" y="3"/>
                          <a:pt x="376" y="5"/>
                          <a:pt x="382" y="4"/>
                        </a:cubicBezTo>
                        <a:cubicBezTo>
                          <a:pt x="387" y="4"/>
                          <a:pt x="398" y="0"/>
                          <a:pt x="398" y="0"/>
                        </a:cubicBezTo>
                        <a:cubicBezTo>
                          <a:pt x="415" y="8"/>
                          <a:pt x="406" y="16"/>
                          <a:pt x="400" y="30"/>
                        </a:cubicBezTo>
                        <a:cubicBezTo>
                          <a:pt x="398" y="34"/>
                          <a:pt x="384" y="34"/>
                          <a:pt x="384" y="34"/>
                        </a:cubicBezTo>
                        <a:cubicBezTo>
                          <a:pt x="379" y="47"/>
                          <a:pt x="398" y="51"/>
                          <a:pt x="411" y="55"/>
                        </a:cubicBezTo>
                        <a:cubicBezTo>
                          <a:pt x="419" y="72"/>
                          <a:pt x="421" y="79"/>
                          <a:pt x="443" y="84"/>
                        </a:cubicBezTo>
                        <a:cubicBezTo>
                          <a:pt x="461" y="71"/>
                          <a:pt x="435" y="65"/>
                          <a:pt x="468" y="57"/>
                        </a:cubicBezTo>
                        <a:cubicBezTo>
                          <a:pt x="482" y="61"/>
                          <a:pt x="485" y="70"/>
                          <a:pt x="497" y="74"/>
                        </a:cubicBezTo>
                        <a:cubicBezTo>
                          <a:pt x="505" y="76"/>
                          <a:pt x="513" y="78"/>
                          <a:pt x="521" y="80"/>
                        </a:cubicBezTo>
                        <a:cubicBezTo>
                          <a:pt x="524" y="81"/>
                          <a:pt x="529" y="82"/>
                          <a:pt x="529" y="82"/>
                        </a:cubicBezTo>
                        <a:cubicBezTo>
                          <a:pt x="547" y="78"/>
                          <a:pt x="547" y="76"/>
                          <a:pt x="562" y="84"/>
                        </a:cubicBezTo>
                        <a:cubicBezTo>
                          <a:pt x="566" y="95"/>
                          <a:pt x="565" y="86"/>
                          <a:pt x="559" y="97"/>
                        </a:cubicBezTo>
                        <a:cubicBezTo>
                          <a:pt x="557" y="101"/>
                          <a:pt x="554" y="110"/>
                          <a:pt x="554" y="110"/>
                        </a:cubicBezTo>
                        <a:cubicBezTo>
                          <a:pt x="556" y="132"/>
                          <a:pt x="556" y="168"/>
                          <a:pt x="572" y="188"/>
                        </a:cubicBezTo>
                        <a:cubicBezTo>
                          <a:pt x="568" y="198"/>
                          <a:pt x="564" y="208"/>
                          <a:pt x="562" y="219"/>
                        </a:cubicBezTo>
                        <a:cubicBezTo>
                          <a:pt x="564" y="227"/>
                          <a:pt x="569" y="233"/>
                          <a:pt x="572" y="240"/>
                        </a:cubicBezTo>
                        <a:cubicBezTo>
                          <a:pt x="573" y="247"/>
                          <a:pt x="572" y="254"/>
                          <a:pt x="575" y="259"/>
                        </a:cubicBezTo>
                        <a:cubicBezTo>
                          <a:pt x="577" y="263"/>
                          <a:pt x="595" y="272"/>
                          <a:pt x="599" y="283"/>
                        </a:cubicBezTo>
                        <a:cubicBezTo>
                          <a:pt x="594" y="295"/>
                          <a:pt x="603" y="306"/>
                          <a:pt x="618" y="310"/>
                        </a:cubicBezTo>
                        <a:cubicBezTo>
                          <a:pt x="630" y="307"/>
                          <a:pt x="638" y="308"/>
                          <a:pt x="645" y="300"/>
                        </a:cubicBezTo>
                        <a:cubicBezTo>
                          <a:pt x="660" y="302"/>
                          <a:pt x="663" y="303"/>
                          <a:pt x="672" y="293"/>
                        </a:cubicBezTo>
                        <a:cubicBezTo>
                          <a:pt x="675" y="294"/>
                          <a:pt x="679" y="293"/>
                          <a:pt x="680" y="295"/>
                        </a:cubicBezTo>
                        <a:cubicBezTo>
                          <a:pt x="682" y="301"/>
                          <a:pt x="674" y="321"/>
                          <a:pt x="672" y="327"/>
                        </a:cubicBezTo>
                        <a:cubicBezTo>
                          <a:pt x="668" y="340"/>
                          <a:pt x="671" y="326"/>
                          <a:pt x="664" y="340"/>
                        </a:cubicBezTo>
                        <a:cubicBezTo>
                          <a:pt x="652" y="360"/>
                          <a:pt x="646" y="381"/>
                          <a:pt x="621" y="394"/>
                        </a:cubicBezTo>
                        <a:cubicBezTo>
                          <a:pt x="614" y="402"/>
                          <a:pt x="609" y="402"/>
                          <a:pt x="599" y="407"/>
                        </a:cubicBezTo>
                        <a:cubicBezTo>
                          <a:pt x="590" y="418"/>
                          <a:pt x="579" y="429"/>
                          <a:pt x="567" y="439"/>
                        </a:cubicBezTo>
                        <a:cubicBezTo>
                          <a:pt x="560" y="454"/>
                          <a:pt x="555" y="470"/>
                          <a:pt x="548" y="485"/>
                        </a:cubicBezTo>
                        <a:cubicBezTo>
                          <a:pt x="549" y="489"/>
                          <a:pt x="550" y="492"/>
                          <a:pt x="551" y="496"/>
                        </a:cubicBezTo>
                        <a:cubicBezTo>
                          <a:pt x="552" y="500"/>
                          <a:pt x="556" y="508"/>
                          <a:pt x="556" y="508"/>
                        </a:cubicBezTo>
                        <a:cubicBezTo>
                          <a:pt x="559" y="524"/>
                          <a:pt x="562" y="546"/>
                          <a:pt x="576" y="557"/>
                        </a:cubicBezTo>
                        <a:lnTo>
                          <a:pt x="435" y="55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7" name="Freeform 100"/>
                  <p:cNvSpPr>
                    <a:spLocks/>
                  </p:cNvSpPr>
                  <p:nvPr/>
                </p:nvSpPr>
                <p:spPr bwMode="ltGray">
                  <a:xfrm>
                    <a:off x="3877" y="448"/>
                    <a:ext cx="163" cy="221"/>
                  </a:xfrm>
                  <a:custGeom>
                    <a:avLst/>
                    <a:gdLst>
                      <a:gd name="T0" fmla="*/ 243 w 257"/>
                      <a:gd name="T1" fmla="*/ 347 h 347"/>
                      <a:gd name="T2" fmla="*/ 233 w 257"/>
                      <a:gd name="T3" fmla="*/ 301 h 347"/>
                      <a:gd name="T4" fmla="*/ 217 w 257"/>
                      <a:gd name="T5" fmla="*/ 288 h 347"/>
                      <a:gd name="T6" fmla="*/ 215 w 257"/>
                      <a:gd name="T7" fmla="*/ 269 h 347"/>
                      <a:gd name="T8" fmla="*/ 209 w 257"/>
                      <a:gd name="T9" fmla="*/ 254 h 347"/>
                      <a:gd name="T10" fmla="*/ 209 w 257"/>
                      <a:gd name="T11" fmla="*/ 229 h 347"/>
                      <a:gd name="T12" fmla="*/ 207 w 257"/>
                      <a:gd name="T13" fmla="*/ 214 h 347"/>
                      <a:gd name="T14" fmla="*/ 228 w 257"/>
                      <a:gd name="T15" fmla="*/ 202 h 347"/>
                      <a:gd name="T16" fmla="*/ 257 w 257"/>
                      <a:gd name="T17" fmla="*/ 197 h 347"/>
                      <a:gd name="T18" fmla="*/ 257 w 257"/>
                      <a:gd name="T19" fmla="*/ 136 h 347"/>
                      <a:gd name="T20" fmla="*/ 54 w 257"/>
                      <a:gd name="T21" fmla="*/ 96 h 347"/>
                      <a:gd name="T22" fmla="*/ 32 w 257"/>
                      <a:gd name="T23" fmla="*/ 98 h 347"/>
                      <a:gd name="T24" fmla="*/ 16 w 257"/>
                      <a:gd name="T25" fmla="*/ 102 h 347"/>
                      <a:gd name="T26" fmla="*/ 0 w 257"/>
                      <a:gd name="T27" fmla="*/ 149 h 347"/>
                      <a:gd name="T28" fmla="*/ 93 w 257"/>
                      <a:gd name="T29" fmla="*/ 346 h 347"/>
                      <a:gd name="T30" fmla="*/ 243 w 257"/>
                      <a:gd name="T31" fmla="*/ 347 h 347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0" t="0" r="r" b="b"/>
                    <a:pathLst>
                      <a:path w="257" h="347">
                        <a:moveTo>
                          <a:pt x="243" y="347"/>
                        </a:moveTo>
                        <a:lnTo>
                          <a:pt x="233" y="301"/>
                        </a:lnTo>
                        <a:lnTo>
                          <a:pt x="217" y="288"/>
                        </a:lnTo>
                        <a:lnTo>
                          <a:pt x="215" y="269"/>
                        </a:lnTo>
                        <a:lnTo>
                          <a:pt x="209" y="254"/>
                        </a:lnTo>
                        <a:lnTo>
                          <a:pt x="209" y="229"/>
                        </a:lnTo>
                        <a:lnTo>
                          <a:pt x="207" y="214"/>
                        </a:lnTo>
                        <a:lnTo>
                          <a:pt x="228" y="202"/>
                        </a:lnTo>
                        <a:lnTo>
                          <a:pt x="257" y="197"/>
                        </a:lnTo>
                        <a:lnTo>
                          <a:pt x="257" y="136"/>
                        </a:lnTo>
                        <a:cubicBezTo>
                          <a:pt x="209" y="119"/>
                          <a:pt x="13" y="0"/>
                          <a:pt x="54" y="96"/>
                        </a:cubicBezTo>
                        <a:cubicBezTo>
                          <a:pt x="36" y="106"/>
                          <a:pt x="57" y="97"/>
                          <a:pt x="32" y="98"/>
                        </a:cubicBezTo>
                        <a:cubicBezTo>
                          <a:pt x="27" y="99"/>
                          <a:pt x="16" y="102"/>
                          <a:pt x="16" y="102"/>
                        </a:cubicBezTo>
                        <a:lnTo>
                          <a:pt x="0" y="149"/>
                        </a:lnTo>
                        <a:lnTo>
                          <a:pt x="93" y="346"/>
                        </a:lnTo>
                        <a:lnTo>
                          <a:pt x="243" y="347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8" name="Freeform 101"/>
                  <p:cNvSpPr>
                    <a:spLocks/>
                  </p:cNvSpPr>
                  <p:nvPr/>
                </p:nvSpPr>
                <p:spPr bwMode="ltGray">
                  <a:xfrm>
                    <a:off x="4164" y="611"/>
                    <a:ext cx="7" cy="12"/>
                  </a:xfrm>
                  <a:custGeom>
                    <a:avLst/>
                    <a:gdLst>
                      <a:gd name="T0" fmla="*/ 7 w 19"/>
                      <a:gd name="T1" fmla="*/ 25 h 37"/>
                      <a:gd name="T2" fmla="*/ 19 w 19"/>
                      <a:gd name="T3" fmla="*/ 21 h 37"/>
                      <a:gd name="T4" fmla="*/ 7 w 19"/>
                      <a:gd name="T5" fmla="*/ 25 h 37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9" h="37">
                        <a:moveTo>
                          <a:pt x="7" y="25"/>
                        </a:moveTo>
                        <a:cubicBezTo>
                          <a:pt x="0" y="4"/>
                          <a:pt x="12" y="0"/>
                          <a:pt x="19" y="21"/>
                        </a:cubicBezTo>
                        <a:cubicBezTo>
                          <a:pt x="14" y="37"/>
                          <a:pt x="18" y="36"/>
                          <a:pt x="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9" name="Freeform 102"/>
                  <p:cNvSpPr>
                    <a:spLocks/>
                  </p:cNvSpPr>
                  <p:nvPr/>
                </p:nvSpPr>
                <p:spPr bwMode="ltGray">
                  <a:xfrm>
                    <a:off x="4155" y="497"/>
                    <a:ext cx="9" cy="7"/>
                  </a:xfrm>
                  <a:custGeom>
                    <a:avLst/>
                    <a:gdLst>
                      <a:gd name="T0" fmla="*/ 12 w 22"/>
                      <a:gd name="T1" fmla="*/ 12 h 20"/>
                      <a:gd name="T2" fmla="*/ 16 w 22"/>
                      <a:gd name="T3" fmla="*/ 0 h 20"/>
                      <a:gd name="T4" fmla="*/ 20 w 22"/>
                      <a:gd name="T5" fmla="*/ 12 h 20"/>
                      <a:gd name="T6" fmla="*/ 8 w 22"/>
                      <a:gd name="T7" fmla="*/ 20 h 20"/>
                      <a:gd name="T8" fmla="*/ 12 w 22"/>
                      <a:gd name="T9" fmla="*/ 12 h 2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2" h="20">
                        <a:moveTo>
                          <a:pt x="12" y="12"/>
                        </a:moveTo>
                        <a:cubicBezTo>
                          <a:pt x="13" y="8"/>
                          <a:pt x="12" y="0"/>
                          <a:pt x="16" y="0"/>
                        </a:cubicBezTo>
                        <a:cubicBezTo>
                          <a:pt x="20" y="0"/>
                          <a:pt x="22" y="8"/>
                          <a:pt x="20" y="12"/>
                        </a:cubicBezTo>
                        <a:cubicBezTo>
                          <a:pt x="18" y="16"/>
                          <a:pt x="12" y="17"/>
                          <a:pt x="8" y="20"/>
                        </a:cubicBezTo>
                        <a:cubicBezTo>
                          <a:pt x="3" y="5"/>
                          <a:pt x="0" y="6"/>
                          <a:pt x="12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0" name="Freeform 103"/>
                  <p:cNvSpPr>
                    <a:spLocks/>
                  </p:cNvSpPr>
                  <p:nvPr/>
                </p:nvSpPr>
                <p:spPr bwMode="ltGray">
                  <a:xfrm>
                    <a:off x="3760" y="357"/>
                    <a:ext cx="25" cy="10"/>
                  </a:xfrm>
                  <a:custGeom>
                    <a:avLst/>
                    <a:gdLst>
                      <a:gd name="T0" fmla="*/ 24 w 57"/>
                      <a:gd name="T1" fmla="*/ 18 h 30"/>
                      <a:gd name="T2" fmla="*/ 32 w 57"/>
                      <a:gd name="T3" fmla="*/ 6 h 30"/>
                      <a:gd name="T4" fmla="*/ 36 w 57"/>
                      <a:gd name="T5" fmla="*/ 30 h 30"/>
                      <a:gd name="T6" fmla="*/ 24 w 57"/>
                      <a:gd name="T7" fmla="*/ 18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57" h="30">
                        <a:moveTo>
                          <a:pt x="24" y="18"/>
                        </a:moveTo>
                        <a:cubicBezTo>
                          <a:pt x="0" y="10"/>
                          <a:pt x="9" y="0"/>
                          <a:pt x="32" y="6"/>
                        </a:cubicBezTo>
                        <a:cubicBezTo>
                          <a:pt x="46" y="15"/>
                          <a:pt x="57" y="23"/>
                          <a:pt x="36" y="30"/>
                        </a:cubicBezTo>
                        <a:cubicBezTo>
                          <a:pt x="21" y="25"/>
                          <a:pt x="24" y="30"/>
                          <a:pt x="24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1" name="Freeform 104"/>
                  <p:cNvSpPr>
                    <a:spLocks/>
                  </p:cNvSpPr>
                  <p:nvPr/>
                </p:nvSpPr>
                <p:spPr bwMode="ltGray">
                  <a:xfrm>
                    <a:off x="4062" y="265"/>
                    <a:ext cx="295" cy="233"/>
                  </a:xfrm>
                  <a:custGeom>
                    <a:avLst/>
                    <a:gdLst>
                      <a:gd name="T0" fmla="*/ 473 w 693"/>
                      <a:gd name="T1" fmla="*/ 464 h 696"/>
                      <a:gd name="T2" fmla="*/ 393 w 693"/>
                      <a:gd name="T3" fmla="*/ 452 h 696"/>
                      <a:gd name="T4" fmla="*/ 325 w 693"/>
                      <a:gd name="T5" fmla="*/ 412 h 696"/>
                      <a:gd name="T6" fmla="*/ 265 w 693"/>
                      <a:gd name="T7" fmla="*/ 400 h 696"/>
                      <a:gd name="T8" fmla="*/ 237 w 693"/>
                      <a:gd name="T9" fmla="*/ 416 h 696"/>
                      <a:gd name="T10" fmla="*/ 261 w 693"/>
                      <a:gd name="T11" fmla="*/ 428 h 696"/>
                      <a:gd name="T12" fmla="*/ 293 w 693"/>
                      <a:gd name="T13" fmla="*/ 468 h 696"/>
                      <a:gd name="T14" fmla="*/ 321 w 693"/>
                      <a:gd name="T15" fmla="*/ 476 h 696"/>
                      <a:gd name="T16" fmla="*/ 333 w 693"/>
                      <a:gd name="T17" fmla="*/ 536 h 696"/>
                      <a:gd name="T18" fmla="*/ 313 w 693"/>
                      <a:gd name="T19" fmla="*/ 552 h 696"/>
                      <a:gd name="T20" fmla="*/ 261 w 693"/>
                      <a:gd name="T21" fmla="*/ 616 h 696"/>
                      <a:gd name="T22" fmla="*/ 225 w 693"/>
                      <a:gd name="T23" fmla="*/ 628 h 696"/>
                      <a:gd name="T24" fmla="*/ 97 w 693"/>
                      <a:gd name="T25" fmla="*/ 696 h 696"/>
                      <a:gd name="T26" fmla="*/ 77 w 693"/>
                      <a:gd name="T27" fmla="*/ 616 h 696"/>
                      <a:gd name="T28" fmla="*/ 45 w 693"/>
                      <a:gd name="T29" fmla="*/ 524 h 696"/>
                      <a:gd name="T30" fmla="*/ 33 w 693"/>
                      <a:gd name="T31" fmla="*/ 448 h 696"/>
                      <a:gd name="T32" fmla="*/ 53 w 693"/>
                      <a:gd name="T33" fmla="*/ 344 h 696"/>
                      <a:gd name="T34" fmla="*/ 17 w 693"/>
                      <a:gd name="T35" fmla="*/ 392 h 696"/>
                      <a:gd name="T36" fmla="*/ 81 w 693"/>
                      <a:gd name="T37" fmla="*/ 280 h 696"/>
                      <a:gd name="T38" fmla="*/ 113 w 693"/>
                      <a:gd name="T39" fmla="*/ 204 h 696"/>
                      <a:gd name="T40" fmla="*/ 37 w 693"/>
                      <a:gd name="T41" fmla="*/ 204 h 696"/>
                      <a:gd name="T42" fmla="*/ 1 w 693"/>
                      <a:gd name="T43" fmla="*/ 196 h 696"/>
                      <a:gd name="T44" fmla="*/ 25 w 693"/>
                      <a:gd name="T45" fmla="*/ 140 h 696"/>
                      <a:gd name="T46" fmla="*/ 97 w 693"/>
                      <a:gd name="T47" fmla="*/ 112 h 696"/>
                      <a:gd name="T48" fmla="*/ 221 w 693"/>
                      <a:gd name="T49" fmla="*/ 124 h 696"/>
                      <a:gd name="T50" fmla="*/ 229 w 693"/>
                      <a:gd name="T51" fmla="*/ 64 h 696"/>
                      <a:gd name="T52" fmla="*/ 261 w 693"/>
                      <a:gd name="T53" fmla="*/ 0 h 696"/>
                      <a:gd name="T54" fmla="*/ 357 w 693"/>
                      <a:gd name="T55" fmla="*/ 44 h 696"/>
                      <a:gd name="T56" fmla="*/ 329 w 693"/>
                      <a:gd name="T57" fmla="*/ 88 h 696"/>
                      <a:gd name="T58" fmla="*/ 301 w 693"/>
                      <a:gd name="T59" fmla="*/ 176 h 696"/>
                      <a:gd name="T60" fmla="*/ 361 w 693"/>
                      <a:gd name="T61" fmla="*/ 192 h 696"/>
                      <a:gd name="T62" fmla="*/ 373 w 693"/>
                      <a:gd name="T63" fmla="*/ 136 h 696"/>
                      <a:gd name="T64" fmla="*/ 417 w 693"/>
                      <a:gd name="T65" fmla="*/ 92 h 696"/>
                      <a:gd name="T66" fmla="*/ 497 w 693"/>
                      <a:gd name="T67" fmla="*/ 88 h 696"/>
                      <a:gd name="T68" fmla="*/ 529 w 693"/>
                      <a:gd name="T69" fmla="*/ 52 h 696"/>
                      <a:gd name="T70" fmla="*/ 541 w 693"/>
                      <a:gd name="T71" fmla="*/ 460 h 69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0" t="0" r="r" b="b"/>
                    <a:pathLst>
                      <a:path w="693" h="696">
                        <a:moveTo>
                          <a:pt x="541" y="460"/>
                        </a:moveTo>
                        <a:lnTo>
                          <a:pt x="473" y="464"/>
                        </a:lnTo>
                        <a:lnTo>
                          <a:pt x="441" y="452"/>
                        </a:lnTo>
                        <a:lnTo>
                          <a:pt x="393" y="452"/>
                        </a:lnTo>
                        <a:cubicBezTo>
                          <a:pt x="365" y="448"/>
                          <a:pt x="360" y="444"/>
                          <a:pt x="337" y="436"/>
                        </a:cubicBezTo>
                        <a:cubicBezTo>
                          <a:pt x="336" y="432"/>
                          <a:pt x="330" y="413"/>
                          <a:pt x="325" y="412"/>
                        </a:cubicBezTo>
                        <a:cubicBezTo>
                          <a:pt x="317" y="411"/>
                          <a:pt x="301" y="420"/>
                          <a:pt x="301" y="420"/>
                        </a:cubicBezTo>
                        <a:cubicBezTo>
                          <a:pt x="289" y="412"/>
                          <a:pt x="277" y="408"/>
                          <a:pt x="265" y="400"/>
                        </a:cubicBezTo>
                        <a:cubicBezTo>
                          <a:pt x="252" y="380"/>
                          <a:pt x="256" y="356"/>
                          <a:pt x="233" y="348"/>
                        </a:cubicBezTo>
                        <a:cubicBezTo>
                          <a:pt x="217" y="372"/>
                          <a:pt x="221" y="392"/>
                          <a:pt x="237" y="416"/>
                        </a:cubicBezTo>
                        <a:cubicBezTo>
                          <a:pt x="234" y="428"/>
                          <a:pt x="228" y="445"/>
                          <a:pt x="237" y="444"/>
                        </a:cubicBezTo>
                        <a:cubicBezTo>
                          <a:pt x="247" y="443"/>
                          <a:pt x="261" y="428"/>
                          <a:pt x="261" y="428"/>
                        </a:cubicBezTo>
                        <a:cubicBezTo>
                          <a:pt x="258" y="450"/>
                          <a:pt x="243" y="475"/>
                          <a:pt x="269" y="484"/>
                        </a:cubicBezTo>
                        <a:cubicBezTo>
                          <a:pt x="277" y="479"/>
                          <a:pt x="288" y="476"/>
                          <a:pt x="293" y="468"/>
                        </a:cubicBezTo>
                        <a:cubicBezTo>
                          <a:pt x="302" y="454"/>
                          <a:pt x="303" y="446"/>
                          <a:pt x="317" y="436"/>
                        </a:cubicBezTo>
                        <a:cubicBezTo>
                          <a:pt x="315" y="448"/>
                          <a:pt x="306" y="467"/>
                          <a:pt x="321" y="476"/>
                        </a:cubicBezTo>
                        <a:cubicBezTo>
                          <a:pt x="328" y="480"/>
                          <a:pt x="345" y="484"/>
                          <a:pt x="345" y="484"/>
                        </a:cubicBezTo>
                        <a:cubicBezTo>
                          <a:pt x="382" y="472"/>
                          <a:pt x="347" y="527"/>
                          <a:pt x="333" y="536"/>
                        </a:cubicBezTo>
                        <a:cubicBezTo>
                          <a:pt x="330" y="540"/>
                          <a:pt x="329" y="545"/>
                          <a:pt x="325" y="548"/>
                        </a:cubicBezTo>
                        <a:cubicBezTo>
                          <a:pt x="322" y="551"/>
                          <a:pt x="316" y="549"/>
                          <a:pt x="313" y="552"/>
                        </a:cubicBezTo>
                        <a:cubicBezTo>
                          <a:pt x="300" y="565"/>
                          <a:pt x="320" y="575"/>
                          <a:pt x="293" y="584"/>
                        </a:cubicBezTo>
                        <a:cubicBezTo>
                          <a:pt x="286" y="595"/>
                          <a:pt x="272" y="610"/>
                          <a:pt x="261" y="616"/>
                        </a:cubicBezTo>
                        <a:cubicBezTo>
                          <a:pt x="254" y="620"/>
                          <a:pt x="245" y="621"/>
                          <a:pt x="237" y="624"/>
                        </a:cubicBezTo>
                        <a:cubicBezTo>
                          <a:pt x="233" y="625"/>
                          <a:pt x="225" y="628"/>
                          <a:pt x="225" y="628"/>
                        </a:cubicBezTo>
                        <a:cubicBezTo>
                          <a:pt x="215" y="659"/>
                          <a:pt x="212" y="652"/>
                          <a:pt x="173" y="656"/>
                        </a:cubicBezTo>
                        <a:cubicBezTo>
                          <a:pt x="140" y="667"/>
                          <a:pt x="132" y="687"/>
                          <a:pt x="97" y="696"/>
                        </a:cubicBezTo>
                        <a:cubicBezTo>
                          <a:pt x="77" y="691"/>
                          <a:pt x="75" y="687"/>
                          <a:pt x="81" y="668"/>
                        </a:cubicBezTo>
                        <a:cubicBezTo>
                          <a:pt x="77" y="646"/>
                          <a:pt x="72" y="639"/>
                          <a:pt x="77" y="616"/>
                        </a:cubicBezTo>
                        <a:cubicBezTo>
                          <a:pt x="73" y="598"/>
                          <a:pt x="71" y="587"/>
                          <a:pt x="61" y="572"/>
                        </a:cubicBezTo>
                        <a:cubicBezTo>
                          <a:pt x="58" y="551"/>
                          <a:pt x="51" y="543"/>
                          <a:pt x="45" y="524"/>
                        </a:cubicBezTo>
                        <a:cubicBezTo>
                          <a:pt x="52" y="502"/>
                          <a:pt x="58" y="496"/>
                          <a:pt x="49" y="472"/>
                        </a:cubicBezTo>
                        <a:cubicBezTo>
                          <a:pt x="46" y="463"/>
                          <a:pt x="33" y="448"/>
                          <a:pt x="33" y="448"/>
                        </a:cubicBezTo>
                        <a:cubicBezTo>
                          <a:pt x="42" y="422"/>
                          <a:pt x="42" y="408"/>
                          <a:pt x="33" y="380"/>
                        </a:cubicBezTo>
                        <a:cubicBezTo>
                          <a:pt x="49" y="369"/>
                          <a:pt x="48" y="362"/>
                          <a:pt x="53" y="344"/>
                        </a:cubicBezTo>
                        <a:cubicBezTo>
                          <a:pt x="47" y="327"/>
                          <a:pt x="49" y="308"/>
                          <a:pt x="33" y="332"/>
                        </a:cubicBezTo>
                        <a:cubicBezTo>
                          <a:pt x="40" y="353"/>
                          <a:pt x="29" y="374"/>
                          <a:pt x="17" y="392"/>
                        </a:cubicBezTo>
                        <a:cubicBezTo>
                          <a:pt x="6" y="360"/>
                          <a:pt x="10" y="340"/>
                          <a:pt x="13" y="304"/>
                        </a:cubicBezTo>
                        <a:cubicBezTo>
                          <a:pt x="44" y="314"/>
                          <a:pt x="54" y="289"/>
                          <a:pt x="81" y="280"/>
                        </a:cubicBezTo>
                        <a:cubicBezTo>
                          <a:pt x="94" y="261"/>
                          <a:pt x="85" y="242"/>
                          <a:pt x="105" y="228"/>
                        </a:cubicBezTo>
                        <a:cubicBezTo>
                          <a:pt x="108" y="220"/>
                          <a:pt x="110" y="212"/>
                          <a:pt x="113" y="204"/>
                        </a:cubicBezTo>
                        <a:cubicBezTo>
                          <a:pt x="116" y="196"/>
                          <a:pt x="89" y="196"/>
                          <a:pt x="89" y="196"/>
                        </a:cubicBezTo>
                        <a:cubicBezTo>
                          <a:pt x="81" y="221"/>
                          <a:pt x="58" y="211"/>
                          <a:pt x="37" y="204"/>
                        </a:cubicBezTo>
                        <a:cubicBezTo>
                          <a:pt x="33" y="207"/>
                          <a:pt x="30" y="213"/>
                          <a:pt x="25" y="212"/>
                        </a:cubicBezTo>
                        <a:cubicBezTo>
                          <a:pt x="16" y="210"/>
                          <a:pt x="1" y="196"/>
                          <a:pt x="1" y="196"/>
                        </a:cubicBezTo>
                        <a:cubicBezTo>
                          <a:pt x="4" y="186"/>
                          <a:pt x="4" y="174"/>
                          <a:pt x="9" y="164"/>
                        </a:cubicBezTo>
                        <a:cubicBezTo>
                          <a:pt x="13" y="155"/>
                          <a:pt x="25" y="140"/>
                          <a:pt x="25" y="140"/>
                        </a:cubicBezTo>
                        <a:cubicBezTo>
                          <a:pt x="0" y="132"/>
                          <a:pt x="25" y="128"/>
                          <a:pt x="37" y="124"/>
                        </a:cubicBezTo>
                        <a:cubicBezTo>
                          <a:pt x="58" y="131"/>
                          <a:pt x="75" y="116"/>
                          <a:pt x="97" y="112"/>
                        </a:cubicBezTo>
                        <a:cubicBezTo>
                          <a:pt x="135" y="87"/>
                          <a:pt x="159" y="122"/>
                          <a:pt x="197" y="132"/>
                        </a:cubicBezTo>
                        <a:cubicBezTo>
                          <a:pt x="205" y="129"/>
                          <a:pt x="213" y="127"/>
                          <a:pt x="221" y="124"/>
                        </a:cubicBezTo>
                        <a:cubicBezTo>
                          <a:pt x="225" y="123"/>
                          <a:pt x="226" y="147"/>
                          <a:pt x="233" y="120"/>
                        </a:cubicBezTo>
                        <a:lnTo>
                          <a:pt x="229" y="64"/>
                        </a:lnTo>
                        <a:lnTo>
                          <a:pt x="209" y="40"/>
                        </a:lnTo>
                        <a:cubicBezTo>
                          <a:pt x="243" y="21"/>
                          <a:pt x="240" y="21"/>
                          <a:pt x="261" y="0"/>
                        </a:cubicBezTo>
                        <a:cubicBezTo>
                          <a:pt x="297" y="16"/>
                          <a:pt x="333" y="32"/>
                          <a:pt x="369" y="48"/>
                        </a:cubicBezTo>
                        <a:cubicBezTo>
                          <a:pt x="373" y="50"/>
                          <a:pt x="361" y="44"/>
                          <a:pt x="357" y="44"/>
                        </a:cubicBezTo>
                        <a:cubicBezTo>
                          <a:pt x="349" y="45"/>
                          <a:pt x="333" y="52"/>
                          <a:pt x="333" y="52"/>
                        </a:cubicBezTo>
                        <a:cubicBezTo>
                          <a:pt x="322" y="68"/>
                          <a:pt x="318" y="71"/>
                          <a:pt x="329" y="88"/>
                        </a:cubicBezTo>
                        <a:cubicBezTo>
                          <a:pt x="308" y="119"/>
                          <a:pt x="323" y="118"/>
                          <a:pt x="333" y="148"/>
                        </a:cubicBezTo>
                        <a:cubicBezTo>
                          <a:pt x="320" y="157"/>
                          <a:pt x="314" y="167"/>
                          <a:pt x="301" y="176"/>
                        </a:cubicBezTo>
                        <a:cubicBezTo>
                          <a:pt x="306" y="213"/>
                          <a:pt x="303" y="213"/>
                          <a:pt x="337" y="220"/>
                        </a:cubicBezTo>
                        <a:cubicBezTo>
                          <a:pt x="358" y="216"/>
                          <a:pt x="368" y="214"/>
                          <a:pt x="361" y="192"/>
                        </a:cubicBezTo>
                        <a:cubicBezTo>
                          <a:pt x="362" y="177"/>
                          <a:pt x="362" y="162"/>
                          <a:pt x="365" y="148"/>
                        </a:cubicBezTo>
                        <a:cubicBezTo>
                          <a:pt x="366" y="143"/>
                          <a:pt x="369" y="133"/>
                          <a:pt x="373" y="136"/>
                        </a:cubicBezTo>
                        <a:cubicBezTo>
                          <a:pt x="379" y="140"/>
                          <a:pt x="376" y="149"/>
                          <a:pt x="377" y="156"/>
                        </a:cubicBezTo>
                        <a:cubicBezTo>
                          <a:pt x="404" y="147"/>
                          <a:pt x="409" y="116"/>
                          <a:pt x="417" y="92"/>
                        </a:cubicBezTo>
                        <a:cubicBezTo>
                          <a:pt x="422" y="76"/>
                          <a:pt x="453" y="74"/>
                          <a:pt x="465" y="72"/>
                        </a:cubicBezTo>
                        <a:cubicBezTo>
                          <a:pt x="472" y="92"/>
                          <a:pt x="477" y="93"/>
                          <a:pt x="497" y="88"/>
                        </a:cubicBezTo>
                        <a:cubicBezTo>
                          <a:pt x="512" y="78"/>
                          <a:pt x="515" y="74"/>
                          <a:pt x="509" y="56"/>
                        </a:cubicBezTo>
                        <a:cubicBezTo>
                          <a:pt x="523" y="46"/>
                          <a:pt x="517" y="46"/>
                          <a:pt x="529" y="52"/>
                        </a:cubicBezTo>
                        <a:lnTo>
                          <a:pt x="693" y="72"/>
                        </a:lnTo>
                        <a:lnTo>
                          <a:pt x="541" y="460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2" name="Freeform 105"/>
                  <p:cNvSpPr>
                    <a:spLocks/>
                  </p:cNvSpPr>
                  <p:nvPr/>
                </p:nvSpPr>
                <p:spPr bwMode="ltGray">
                  <a:xfrm>
                    <a:off x="3861" y="247"/>
                    <a:ext cx="591" cy="95"/>
                  </a:xfrm>
                  <a:custGeom>
                    <a:avLst/>
                    <a:gdLst>
                      <a:gd name="T0" fmla="*/ 825 w 931"/>
                      <a:gd name="T1" fmla="*/ 0 h 149"/>
                      <a:gd name="T2" fmla="*/ 143 w 931"/>
                      <a:gd name="T3" fmla="*/ 29 h 149"/>
                      <a:gd name="T4" fmla="*/ 91 w 931"/>
                      <a:gd name="T5" fmla="*/ 42 h 149"/>
                      <a:gd name="T6" fmla="*/ 62 w 931"/>
                      <a:gd name="T7" fmla="*/ 42 h 149"/>
                      <a:gd name="T8" fmla="*/ 22 w 931"/>
                      <a:gd name="T9" fmla="*/ 77 h 149"/>
                      <a:gd name="T10" fmla="*/ 0 w 931"/>
                      <a:gd name="T11" fmla="*/ 105 h 149"/>
                      <a:gd name="T12" fmla="*/ 59 w 931"/>
                      <a:gd name="T13" fmla="*/ 115 h 149"/>
                      <a:gd name="T14" fmla="*/ 97 w 931"/>
                      <a:gd name="T15" fmla="*/ 96 h 149"/>
                      <a:gd name="T16" fmla="*/ 108 w 931"/>
                      <a:gd name="T17" fmla="*/ 84 h 149"/>
                      <a:gd name="T18" fmla="*/ 167 w 931"/>
                      <a:gd name="T19" fmla="*/ 52 h 149"/>
                      <a:gd name="T20" fmla="*/ 215 w 931"/>
                      <a:gd name="T21" fmla="*/ 46 h 149"/>
                      <a:gd name="T22" fmla="*/ 237 w 931"/>
                      <a:gd name="T23" fmla="*/ 94 h 149"/>
                      <a:gd name="T24" fmla="*/ 188 w 931"/>
                      <a:gd name="T25" fmla="*/ 109 h 149"/>
                      <a:gd name="T26" fmla="*/ 231 w 931"/>
                      <a:gd name="T27" fmla="*/ 113 h 149"/>
                      <a:gd name="T28" fmla="*/ 250 w 931"/>
                      <a:gd name="T29" fmla="*/ 90 h 149"/>
                      <a:gd name="T30" fmla="*/ 266 w 931"/>
                      <a:gd name="T31" fmla="*/ 92 h 149"/>
                      <a:gd name="T32" fmla="*/ 253 w 931"/>
                      <a:gd name="T33" fmla="*/ 54 h 149"/>
                      <a:gd name="T34" fmla="*/ 266 w 931"/>
                      <a:gd name="T35" fmla="*/ 44 h 149"/>
                      <a:gd name="T36" fmla="*/ 277 w 931"/>
                      <a:gd name="T37" fmla="*/ 88 h 149"/>
                      <a:gd name="T38" fmla="*/ 266 w 931"/>
                      <a:gd name="T39" fmla="*/ 113 h 149"/>
                      <a:gd name="T40" fmla="*/ 296 w 931"/>
                      <a:gd name="T41" fmla="*/ 130 h 149"/>
                      <a:gd name="T42" fmla="*/ 299 w 931"/>
                      <a:gd name="T43" fmla="*/ 92 h 149"/>
                      <a:gd name="T44" fmla="*/ 331 w 931"/>
                      <a:gd name="T45" fmla="*/ 103 h 149"/>
                      <a:gd name="T46" fmla="*/ 382 w 931"/>
                      <a:gd name="T47" fmla="*/ 73 h 149"/>
                      <a:gd name="T48" fmla="*/ 409 w 931"/>
                      <a:gd name="T49" fmla="*/ 50 h 149"/>
                      <a:gd name="T50" fmla="*/ 439 w 931"/>
                      <a:gd name="T51" fmla="*/ 56 h 149"/>
                      <a:gd name="T52" fmla="*/ 455 w 931"/>
                      <a:gd name="T53" fmla="*/ 50 h 149"/>
                      <a:gd name="T54" fmla="*/ 431 w 931"/>
                      <a:gd name="T55" fmla="*/ 44 h 149"/>
                      <a:gd name="T56" fmla="*/ 474 w 931"/>
                      <a:gd name="T57" fmla="*/ 35 h 149"/>
                      <a:gd name="T58" fmla="*/ 544 w 931"/>
                      <a:gd name="T59" fmla="*/ 54 h 149"/>
                      <a:gd name="T60" fmla="*/ 581 w 931"/>
                      <a:gd name="T61" fmla="*/ 42 h 149"/>
                      <a:gd name="T62" fmla="*/ 584 w 931"/>
                      <a:gd name="T63" fmla="*/ 63 h 149"/>
                      <a:gd name="T64" fmla="*/ 568 w 931"/>
                      <a:gd name="T65" fmla="*/ 101 h 149"/>
                      <a:gd name="T66" fmla="*/ 611 w 931"/>
                      <a:gd name="T67" fmla="*/ 88 h 149"/>
                      <a:gd name="T68" fmla="*/ 624 w 931"/>
                      <a:gd name="T69" fmla="*/ 80 h 149"/>
                      <a:gd name="T70" fmla="*/ 648 w 931"/>
                      <a:gd name="T71" fmla="*/ 61 h 149"/>
                      <a:gd name="T72" fmla="*/ 794 w 931"/>
                      <a:gd name="T73" fmla="*/ 84 h 149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0" t="0" r="r" b="b"/>
                    <a:pathLst>
                      <a:path w="931" h="149">
                        <a:moveTo>
                          <a:pt x="794" y="84"/>
                        </a:moveTo>
                        <a:cubicBezTo>
                          <a:pt x="813" y="72"/>
                          <a:pt x="931" y="14"/>
                          <a:pt x="825" y="0"/>
                        </a:cubicBezTo>
                        <a:lnTo>
                          <a:pt x="159" y="0"/>
                        </a:lnTo>
                        <a:cubicBezTo>
                          <a:pt x="149" y="12"/>
                          <a:pt x="162" y="18"/>
                          <a:pt x="143" y="29"/>
                        </a:cubicBezTo>
                        <a:cubicBezTo>
                          <a:pt x="130" y="44"/>
                          <a:pt x="133" y="39"/>
                          <a:pt x="116" y="48"/>
                        </a:cubicBezTo>
                        <a:cubicBezTo>
                          <a:pt x="108" y="46"/>
                          <a:pt x="100" y="44"/>
                          <a:pt x="91" y="42"/>
                        </a:cubicBezTo>
                        <a:cubicBezTo>
                          <a:pt x="89" y="41"/>
                          <a:pt x="83" y="40"/>
                          <a:pt x="83" y="40"/>
                        </a:cubicBezTo>
                        <a:cubicBezTo>
                          <a:pt x="76" y="40"/>
                          <a:pt x="68" y="39"/>
                          <a:pt x="62" y="42"/>
                        </a:cubicBezTo>
                        <a:cubicBezTo>
                          <a:pt x="54" y="45"/>
                          <a:pt x="46" y="61"/>
                          <a:pt x="38" y="67"/>
                        </a:cubicBezTo>
                        <a:cubicBezTo>
                          <a:pt x="32" y="71"/>
                          <a:pt x="27" y="74"/>
                          <a:pt x="22" y="77"/>
                        </a:cubicBezTo>
                        <a:cubicBezTo>
                          <a:pt x="16" y="81"/>
                          <a:pt x="5" y="86"/>
                          <a:pt x="5" y="86"/>
                        </a:cubicBezTo>
                        <a:cubicBezTo>
                          <a:pt x="9" y="95"/>
                          <a:pt x="7" y="97"/>
                          <a:pt x="0" y="105"/>
                        </a:cubicBezTo>
                        <a:cubicBezTo>
                          <a:pt x="17" y="107"/>
                          <a:pt x="22" y="107"/>
                          <a:pt x="16" y="120"/>
                        </a:cubicBezTo>
                        <a:cubicBezTo>
                          <a:pt x="27" y="122"/>
                          <a:pt x="48" y="116"/>
                          <a:pt x="59" y="115"/>
                        </a:cubicBezTo>
                        <a:cubicBezTo>
                          <a:pt x="71" y="112"/>
                          <a:pt x="73" y="117"/>
                          <a:pt x="83" y="111"/>
                        </a:cubicBezTo>
                        <a:cubicBezTo>
                          <a:pt x="89" y="96"/>
                          <a:pt x="83" y="100"/>
                          <a:pt x="97" y="96"/>
                        </a:cubicBezTo>
                        <a:cubicBezTo>
                          <a:pt x="100" y="94"/>
                          <a:pt x="103" y="93"/>
                          <a:pt x="105" y="90"/>
                        </a:cubicBezTo>
                        <a:cubicBezTo>
                          <a:pt x="106" y="88"/>
                          <a:pt x="106" y="85"/>
                          <a:pt x="108" y="84"/>
                        </a:cubicBezTo>
                        <a:cubicBezTo>
                          <a:pt x="112" y="80"/>
                          <a:pt x="140" y="69"/>
                          <a:pt x="148" y="67"/>
                        </a:cubicBezTo>
                        <a:cubicBezTo>
                          <a:pt x="160" y="52"/>
                          <a:pt x="153" y="56"/>
                          <a:pt x="167" y="52"/>
                        </a:cubicBezTo>
                        <a:cubicBezTo>
                          <a:pt x="178" y="55"/>
                          <a:pt x="179" y="62"/>
                          <a:pt x="191" y="58"/>
                        </a:cubicBezTo>
                        <a:cubicBezTo>
                          <a:pt x="199" y="52"/>
                          <a:pt x="206" y="51"/>
                          <a:pt x="215" y="46"/>
                        </a:cubicBezTo>
                        <a:cubicBezTo>
                          <a:pt x="226" y="58"/>
                          <a:pt x="217" y="46"/>
                          <a:pt x="223" y="69"/>
                        </a:cubicBezTo>
                        <a:cubicBezTo>
                          <a:pt x="226" y="79"/>
                          <a:pt x="233" y="85"/>
                          <a:pt x="237" y="94"/>
                        </a:cubicBezTo>
                        <a:cubicBezTo>
                          <a:pt x="227" y="100"/>
                          <a:pt x="229" y="104"/>
                          <a:pt x="218" y="107"/>
                        </a:cubicBezTo>
                        <a:cubicBezTo>
                          <a:pt x="207" y="120"/>
                          <a:pt x="203" y="113"/>
                          <a:pt x="188" y="109"/>
                        </a:cubicBezTo>
                        <a:cubicBezTo>
                          <a:pt x="191" y="117"/>
                          <a:pt x="200" y="127"/>
                          <a:pt x="210" y="132"/>
                        </a:cubicBezTo>
                        <a:cubicBezTo>
                          <a:pt x="218" y="114"/>
                          <a:pt x="211" y="122"/>
                          <a:pt x="231" y="113"/>
                        </a:cubicBezTo>
                        <a:cubicBezTo>
                          <a:pt x="237" y="111"/>
                          <a:pt x="248" y="105"/>
                          <a:pt x="248" y="105"/>
                        </a:cubicBezTo>
                        <a:cubicBezTo>
                          <a:pt x="248" y="100"/>
                          <a:pt x="246" y="94"/>
                          <a:pt x="250" y="90"/>
                        </a:cubicBezTo>
                        <a:cubicBezTo>
                          <a:pt x="253" y="88"/>
                          <a:pt x="254" y="96"/>
                          <a:pt x="258" y="96"/>
                        </a:cubicBezTo>
                        <a:cubicBezTo>
                          <a:pt x="262" y="97"/>
                          <a:pt x="264" y="94"/>
                          <a:pt x="266" y="92"/>
                        </a:cubicBezTo>
                        <a:cubicBezTo>
                          <a:pt x="262" y="82"/>
                          <a:pt x="252" y="77"/>
                          <a:pt x="248" y="67"/>
                        </a:cubicBezTo>
                        <a:cubicBezTo>
                          <a:pt x="250" y="63"/>
                          <a:pt x="255" y="58"/>
                          <a:pt x="253" y="54"/>
                        </a:cubicBezTo>
                        <a:cubicBezTo>
                          <a:pt x="251" y="50"/>
                          <a:pt x="248" y="42"/>
                          <a:pt x="248" y="42"/>
                        </a:cubicBezTo>
                        <a:cubicBezTo>
                          <a:pt x="256" y="32"/>
                          <a:pt x="259" y="35"/>
                          <a:pt x="266" y="44"/>
                        </a:cubicBezTo>
                        <a:cubicBezTo>
                          <a:pt x="270" y="56"/>
                          <a:pt x="276" y="61"/>
                          <a:pt x="285" y="71"/>
                        </a:cubicBezTo>
                        <a:cubicBezTo>
                          <a:pt x="281" y="81"/>
                          <a:pt x="289" y="82"/>
                          <a:pt x="277" y="88"/>
                        </a:cubicBezTo>
                        <a:cubicBezTo>
                          <a:pt x="262" y="106"/>
                          <a:pt x="278" y="83"/>
                          <a:pt x="274" y="101"/>
                        </a:cubicBezTo>
                        <a:cubicBezTo>
                          <a:pt x="274" y="105"/>
                          <a:pt x="268" y="109"/>
                          <a:pt x="266" y="113"/>
                        </a:cubicBezTo>
                        <a:cubicBezTo>
                          <a:pt x="270" y="122"/>
                          <a:pt x="268" y="125"/>
                          <a:pt x="261" y="132"/>
                        </a:cubicBezTo>
                        <a:cubicBezTo>
                          <a:pt x="268" y="149"/>
                          <a:pt x="282" y="134"/>
                          <a:pt x="296" y="130"/>
                        </a:cubicBezTo>
                        <a:cubicBezTo>
                          <a:pt x="299" y="122"/>
                          <a:pt x="295" y="119"/>
                          <a:pt x="299" y="111"/>
                        </a:cubicBezTo>
                        <a:cubicBezTo>
                          <a:pt x="296" y="105"/>
                          <a:pt x="288" y="97"/>
                          <a:pt x="299" y="92"/>
                        </a:cubicBezTo>
                        <a:cubicBezTo>
                          <a:pt x="303" y="90"/>
                          <a:pt x="315" y="88"/>
                          <a:pt x="315" y="88"/>
                        </a:cubicBezTo>
                        <a:cubicBezTo>
                          <a:pt x="326" y="91"/>
                          <a:pt x="325" y="95"/>
                          <a:pt x="331" y="103"/>
                        </a:cubicBezTo>
                        <a:cubicBezTo>
                          <a:pt x="339" y="84"/>
                          <a:pt x="331" y="90"/>
                          <a:pt x="361" y="92"/>
                        </a:cubicBezTo>
                        <a:cubicBezTo>
                          <a:pt x="355" y="76"/>
                          <a:pt x="365" y="76"/>
                          <a:pt x="382" y="73"/>
                        </a:cubicBezTo>
                        <a:cubicBezTo>
                          <a:pt x="383" y="71"/>
                          <a:pt x="387" y="57"/>
                          <a:pt x="393" y="54"/>
                        </a:cubicBezTo>
                        <a:cubicBezTo>
                          <a:pt x="398" y="52"/>
                          <a:pt x="409" y="50"/>
                          <a:pt x="409" y="50"/>
                        </a:cubicBezTo>
                        <a:cubicBezTo>
                          <a:pt x="430" y="54"/>
                          <a:pt x="413" y="58"/>
                          <a:pt x="431" y="63"/>
                        </a:cubicBezTo>
                        <a:cubicBezTo>
                          <a:pt x="433" y="61"/>
                          <a:pt x="435" y="57"/>
                          <a:pt x="439" y="56"/>
                        </a:cubicBezTo>
                        <a:cubicBezTo>
                          <a:pt x="445" y="55"/>
                          <a:pt x="452" y="61"/>
                          <a:pt x="457" y="58"/>
                        </a:cubicBezTo>
                        <a:cubicBezTo>
                          <a:pt x="461" y="57"/>
                          <a:pt x="457" y="52"/>
                          <a:pt x="455" y="50"/>
                        </a:cubicBezTo>
                        <a:cubicBezTo>
                          <a:pt x="451" y="47"/>
                          <a:pt x="444" y="47"/>
                          <a:pt x="439" y="46"/>
                        </a:cubicBezTo>
                        <a:cubicBezTo>
                          <a:pt x="436" y="45"/>
                          <a:pt x="431" y="44"/>
                          <a:pt x="431" y="44"/>
                        </a:cubicBezTo>
                        <a:cubicBezTo>
                          <a:pt x="440" y="38"/>
                          <a:pt x="443" y="36"/>
                          <a:pt x="455" y="40"/>
                        </a:cubicBezTo>
                        <a:cubicBezTo>
                          <a:pt x="461" y="38"/>
                          <a:pt x="467" y="35"/>
                          <a:pt x="474" y="35"/>
                        </a:cubicBezTo>
                        <a:cubicBezTo>
                          <a:pt x="483" y="36"/>
                          <a:pt x="511" y="43"/>
                          <a:pt x="519" y="46"/>
                        </a:cubicBezTo>
                        <a:cubicBezTo>
                          <a:pt x="527" y="49"/>
                          <a:pt x="544" y="54"/>
                          <a:pt x="544" y="54"/>
                        </a:cubicBezTo>
                        <a:cubicBezTo>
                          <a:pt x="548" y="54"/>
                          <a:pt x="560" y="52"/>
                          <a:pt x="565" y="50"/>
                        </a:cubicBezTo>
                        <a:cubicBezTo>
                          <a:pt x="570" y="47"/>
                          <a:pt x="581" y="42"/>
                          <a:pt x="581" y="42"/>
                        </a:cubicBezTo>
                        <a:cubicBezTo>
                          <a:pt x="585" y="42"/>
                          <a:pt x="598" y="44"/>
                          <a:pt x="600" y="48"/>
                        </a:cubicBezTo>
                        <a:cubicBezTo>
                          <a:pt x="603" y="55"/>
                          <a:pt x="589" y="61"/>
                          <a:pt x="584" y="63"/>
                        </a:cubicBezTo>
                        <a:cubicBezTo>
                          <a:pt x="576" y="69"/>
                          <a:pt x="568" y="69"/>
                          <a:pt x="565" y="77"/>
                        </a:cubicBezTo>
                        <a:cubicBezTo>
                          <a:pt x="568" y="86"/>
                          <a:pt x="564" y="92"/>
                          <a:pt x="568" y="101"/>
                        </a:cubicBezTo>
                        <a:cubicBezTo>
                          <a:pt x="574" y="93"/>
                          <a:pt x="577" y="91"/>
                          <a:pt x="589" y="94"/>
                        </a:cubicBezTo>
                        <a:cubicBezTo>
                          <a:pt x="595" y="108"/>
                          <a:pt x="602" y="93"/>
                          <a:pt x="611" y="88"/>
                        </a:cubicBezTo>
                        <a:cubicBezTo>
                          <a:pt x="613" y="86"/>
                          <a:pt x="613" y="83"/>
                          <a:pt x="616" y="82"/>
                        </a:cubicBezTo>
                        <a:cubicBezTo>
                          <a:pt x="618" y="80"/>
                          <a:pt x="622" y="81"/>
                          <a:pt x="624" y="80"/>
                        </a:cubicBezTo>
                        <a:cubicBezTo>
                          <a:pt x="626" y="78"/>
                          <a:pt x="626" y="75"/>
                          <a:pt x="627" y="73"/>
                        </a:cubicBezTo>
                        <a:cubicBezTo>
                          <a:pt x="632" y="65"/>
                          <a:pt x="638" y="63"/>
                          <a:pt x="648" y="61"/>
                        </a:cubicBezTo>
                        <a:cubicBezTo>
                          <a:pt x="664" y="62"/>
                          <a:pt x="684" y="69"/>
                          <a:pt x="700" y="69"/>
                        </a:cubicBezTo>
                        <a:lnTo>
                          <a:pt x="794" y="8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3" name="Freeform 106"/>
                  <p:cNvSpPr>
                    <a:spLocks/>
                  </p:cNvSpPr>
                  <p:nvPr/>
                </p:nvSpPr>
                <p:spPr bwMode="ltGray">
                  <a:xfrm>
                    <a:off x="3981" y="282"/>
                    <a:ext cx="13" cy="10"/>
                  </a:xfrm>
                  <a:custGeom>
                    <a:avLst/>
                    <a:gdLst>
                      <a:gd name="T0" fmla="*/ 3 w 31"/>
                      <a:gd name="T1" fmla="*/ 28 h 30"/>
                      <a:gd name="T2" fmla="*/ 31 w 31"/>
                      <a:gd name="T3" fmla="*/ 0 h 30"/>
                      <a:gd name="T4" fmla="*/ 19 w 31"/>
                      <a:gd name="T5" fmla="*/ 24 h 30"/>
                      <a:gd name="T6" fmla="*/ 3 w 31"/>
                      <a:gd name="T7" fmla="*/ 28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" h="30">
                        <a:moveTo>
                          <a:pt x="3" y="28"/>
                        </a:moveTo>
                        <a:cubicBezTo>
                          <a:pt x="8" y="8"/>
                          <a:pt x="12" y="6"/>
                          <a:pt x="31" y="0"/>
                        </a:cubicBezTo>
                        <a:cubicBezTo>
                          <a:pt x="29" y="5"/>
                          <a:pt x="25" y="22"/>
                          <a:pt x="19" y="24"/>
                        </a:cubicBezTo>
                        <a:cubicBezTo>
                          <a:pt x="0" y="30"/>
                          <a:pt x="3" y="9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4" name="Freeform 107"/>
                  <p:cNvSpPr>
                    <a:spLocks/>
                  </p:cNvSpPr>
                  <p:nvPr/>
                </p:nvSpPr>
                <p:spPr bwMode="ltGray">
                  <a:xfrm>
                    <a:off x="3966" y="296"/>
                    <a:ext cx="19" cy="11"/>
                  </a:xfrm>
                  <a:custGeom>
                    <a:avLst/>
                    <a:gdLst>
                      <a:gd name="T0" fmla="*/ 6 w 44"/>
                      <a:gd name="T1" fmla="*/ 32 h 32"/>
                      <a:gd name="T2" fmla="*/ 22 w 44"/>
                      <a:gd name="T3" fmla="*/ 0 h 32"/>
                      <a:gd name="T4" fmla="*/ 38 w 44"/>
                      <a:gd name="T5" fmla="*/ 4 h 32"/>
                      <a:gd name="T6" fmla="*/ 6 w 44"/>
                      <a:gd name="T7" fmla="*/ 32 h 3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44" h="32">
                        <a:moveTo>
                          <a:pt x="6" y="32"/>
                        </a:moveTo>
                        <a:cubicBezTo>
                          <a:pt x="0" y="14"/>
                          <a:pt x="7" y="10"/>
                          <a:pt x="22" y="0"/>
                        </a:cubicBezTo>
                        <a:cubicBezTo>
                          <a:pt x="27" y="1"/>
                          <a:pt x="35" y="0"/>
                          <a:pt x="38" y="4"/>
                        </a:cubicBezTo>
                        <a:cubicBezTo>
                          <a:pt x="44" y="13"/>
                          <a:pt x="16" y="32"/>
                          <a:pt x="6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5" name="Freeform 108"/>
                  <p:cNvSpPr>
                    <a:spLocks/>
                  </p:cNvSpPr>
                  <p:nvPr/>
                </p:nvSpPr>
                <p:spPr bwMode="ltGray">
                  <a:xfrm>
                    <a:off x="4028" y="337"/>
                    <a:ext cx="32" cy="6"/>
                  </a:xfrm>
                  <a:custGeom>
                    <a:avLst/>
                    <a:gdLst>
                      <a:gd name="T0" fmla="*/ 37 w 76"/>
                      <a:gd name="T1" fmla="*/ 18 h 18"/>
                      <a:gd name="T2" fmla="*/ 25 w 76"/>
                      <a:gd name="T3" fmla="*/ 2 h 18"/>
                      <a:gd name="T4" fmla="*/ 37 w 76"/>
                      <a:gd name="T5" fmla="*/ 18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76" h="18">
                        <a:moveTo>
                          <a:pt x="37" y="18"/>
                        </a:moveTo>
                        <a:cubicBezTo>
                          <a:pt x="25" y="14"/>
                          <a:pt x="0" y="10"/>
                          <a:pt x="25" y="2"/>
                        </a:cubicBezTo>
                        <a:cubicBezTo>
                          <a:pt x="76" y="9"/>
                          <a:pt x="46" y="0"/>
                          <a:pt x="37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6" name="Freeform 109"/>
                  <p:cNvSpPr>
                    <a:spLocks/>
                  </p:cNvSpPr>
                  <p:nvPr/>
                </p:nvSpPr>
                <p:spPr bwMode="ltGray">
                  <a:xfrm>
                    <a:off x="4083" y="336"/>
                    <a:ext cx="18" cy="15"/>
                  </a:xfrm>
                  <a:custGeom>
                    <a:avLst/>
                    <a:gdLst>
                      <a:gd name="T0" fmla="*/ 0 w 42"/>
                      <a:gd name="T1" fmla="*/ 21 h 44"/>
                      <a:gd name="T2" fmla="*/ 12 w 42"/>
                      <a:gd name="T3" fmla="*/ 9 h 44"/>
                      <a:gd name="T4" fmla="*/ 0 w 42"/>
                      <a:gd name="T5" fmla="*/ 21 h 44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2" h="44">
                        <a:moveTo>
                          <a:pt x="0" y="21"/>
                        </a:moveTo>
                        <a:cubicBezTo>
                          <a:pt x="4" y="17"/>
                          <a:pt x="7" y="11"/>
                          <a:pt x="12" y="9"/>
                        </a:cubicBezTo>
                        <a:cubicBezTo>
                          <a:pt x="42" y="0"/>
                          <a:pt x="23" y="44"/>
                          <a:pt x="0" y="2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7" name="Freeform 110"/>
                  <p:cNvSpPr>
                    <a:spLocks/>
                  </p:cNvSpPr>
                  <p:nvPr/>
                </p:nvSpPr>
                <p:spPr bwMode="ltGray">
                  <a:xfrm>
                    <a:off x="3936" y="295"/>
                    <a:ext cx="14" cy="10"/>
                  </a:xfrm>
                  <a:custGeom>
                    <a:avLst/>
                    <a:gdLst>
                      <a:gd name="T0" fmla="*/ 7 w 31"/>
                      <a:gd name="T1" fmla="*/ 22 h 30"/>
                      <a:gd name="T2" fmla="*/ 31 w 31"/>
                      <a:gd name="T3" fmla="*/ 10 h 30"/>
                      <a:gd name="T4" fmla="*/ 7 w 31"/>
                      <a:gd name="T5" fmla="*/ 22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1" h="30">
                        <a:moveTo>
                          <a:pt x="7" y="22"/>
                        </a:moveTo>
                        <a:cubicBezTo>
                          <a:pt x="0" y="0"/>
                          <a:pt x="15" y="6"/>
                          <a:pt x="31" y="10"/>
                        </a:cubicBezTo>
                        <a:cubicBezTo>
                          <a:pt x="14" y="16"/>
                          <a:pt x="15" y="30"/>
                          <a:pt x="7" y="2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1036" name="Group 111"/>
              <p:cNvGrpSpPr>
                <a:grpSpLocks/>
              </p:cNvGrpSpPr>
              <p:nvPr/>
            </p:nvGrpSpPr>
            <p:grpSpPr bwMode="auto">
              <a:xfrm>
                <a:off x="798" y="111"/>
                <a:ext cx="4702" cy="418"/>
                <a:chOff x="798" y="255"/>
                <a:chExt cx="4702" cy="418"/>
              </a:xfrm>
            </p:grpSpPr>
            <p:sp>
              <p:nvSpPr>
                <p:cNvPr id="1063" name="Line 112"/>
                <p:cNvSpPr>
                  <a:spLocks noChangeShapeType="1"/>
                </p:cNvSpPr>
                <p:nvPr/>
              </p:nvSpPr>
              <p:spPr bwMode="white">
                <a:xfrm>
                  <a:off x="798" y="476"/>
                  <a:ext cx="4702" cy="0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4" name="Line 113"/>
                <p:cNvSpPr>
                  <a:spLocks noChangeShapeType="1"/>
                </p:cNvSpPr>
                <p:nvPr/>
              </p:nvSpPr>
              <p:spPr bwMode="white">
                <a:xfrm>
                  <a:off x="102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5" name="Line 114"/>
                <p:cNvSpPr>
                  <a:spLocks noChangeShapeType="1"/>
                </p:cNvSpPr>
                <p:nvPr/>
              </p:nvSpPr>
              <p:spPr bwMode="white">
                <a:xfrm>
                  <a:off x="125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6" name="Line 115"/>
                <p:cNvSpPr>
                  <a:spLocks noChangeShapeType="1"/>
                </p:cNvSpPr>
                <p:nvPr/>
              </p:nvSpPr>
              <p:spPr bwMode="white">
                <a:xfrm>
                  <a:off x="148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7" name="Line 116"/>
                <p:cNvSpPr>
                  <a:spLocks noChangeShapeType="1"/>
                </p:cNvSpPr>
                <p:nvPr/>
              </p:nvSpPr>
              <p:spPr bwMode="white">
                <a:xfrm>
                  <a:off x="171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8" name="Line 117"/>
                <p:cNvSpPr>
                  <a:spLocks noChangeShapeType="1"/>
                </p:cNvSpPr>
                <p:nvPr/>
              </p:nvSpPr>
              <p:spPr bwMode="white">
                <a:xfrm>
                  <a:off x="193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9" name="Line 118"/>
                <p:cNvSpPr>
                  <a:spLocks noChangeShapeType="1"/>
                </p:cNvSpPr>
                <p:nvPr/>
              </p:nvSpPr>
              <p:spPr bwMode="white">
                <a:xfrm>
                  <a:off x="216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0" name="Line 119"/>
                <p:cNvSpPr>
                  <a:spLocks noChangeShapeType="1"/>
                </p:cNvSpPr>
                <p:nvPr/>
              </p:nvSpPr>
              <p:spPr bwMode="white">
                <a:xfrm>
                  <a:off x="239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1" name="Line 120"/>
                <p:cNvSpPr>
                  <a:spLocks noChangeShapeType="1"/>
                </p:cNvSpPr>
                <p:nvPr/>
              </p:nvSpPr>
              <p:spPr bwMode="white">
                <a:xfrm>
                  <a:off x="262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2" name="Line 121"/>
                <p:cNvSpPr>
                  <a:spLocks noChangeShapeType="1"/>
                </p:cNvSpPr>
                <p:nvPr/>
              </p:nvSpPr>
              <p:spPr bwMode="white">
                <a:xfrm>
                  <a:off x="285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3" name="Line 122"/>
                <p:cNvSpPr>
                  <a:spLocks noChangeShapeType="1"/>
                </p:cNvSpPr>
                <p:nvPr/>
              </p:nvSpPr>
              <p:spPr bwMode="white">
                <a:xfrm>
                  <a:off x="307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4" name="Line 123"/>
                <p:cNvSpPr>
                  <a:spLocks noChangeShapeType="1"/>
                </p:cNvSpPr>
                <p:nvPr/>
              </p:nvSpPr>
              <p:spPr bwMode="white">
                <a:xfrm>
                  <a:off x="330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5" name="Line 124"/>
                <p:cNvSpPr>
                  <a:spLocks noChangeShapeType="1"/>
                </p:cNvSpPr>
                <p:nvPr/>
              </p:nvSpPr>
              <p:spPr bwMode="white">
                <a:xfrm>
                  <a:off x="353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6" name="Line 125"/>
                <p:cNvSpPr>
                  <a:spLocks noChangeShapeType="1"/>
                </p:cNvSpPr>
                <p:nvPr/>
              </p:nvSpPr>
              <p:spPr bwMode="white">
                <a:xfrm>
                  <a:off x="376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7" name="Line 126"/>
                <p:cNvSpPr>
                  <a:spLocks noChangeShapeType="1"/>
                </p:cNvSpPr>
                <p:nvPr/>
              </p:nvSpPr>
              <p:spPr bwMode="white">
                <a:xfrm>
                  <a:off x="399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8" name="Line 127"/>
                <p:cNvSpPr>
                  <a:spLocks noChangeShapeType="1"/>
                </p:cNvSpPr>
                <p:nvPr/>
              </p:nvSpPr>
              <p:spPr bwMode="white">
                <a:xfrm>
                  <a:off x="421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9" name="Line 128"/>
                <p:cNvSpPr>
                  <a:spLocks noChangeShapeType="1"/>
                </p:cNvSpPr>
                <p:nvPr/>
              </p:nvSpPr>
              <p:spPr bwMode="white">
                <a:xfrm>
                  <a:off x="444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0" name="Line 129"/>
                <p:cNvSpPr>
                  <a:spLocks noChangeShapeType="1"/>
                </p:cNvSpPr>
                <p:nvPr/>
              </p:nvSpPr>
              <p:spPr bwMode="white">
                <a:xfrm>
                  <a:off x="467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1" name="Line 130"/>
                <p:cNvSpPr>
                  <a:spLocks noChangeShapeType="1"/>
                </p:cNvSpPr>
                <p:nvPr/>
              </p:nvSpPr>
              <p:spPr bwMode="white">
                <a:xfrm>
                  <a:off x="490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2" name="Line 131"/>
                <p:cNvSpPr>
                  <a:spLocks noChangeShapeType="1"/>
                </p:cNvSpPr>
                <p:nvPr/>
              </p:nvSpPr>
              <p:spPr bwMode="white">
                <a:xfrm>
                  <a:off x="513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3" name="Line 132"/>
                <p:cNvSpPr>
                  <a:spLocks noChangeShapeType="1"/>
                </p:cNvSpPr>
                <p:nvPr/>
              </p:nvSpPr>
              <p:spPr bwMode="white">
                <a:xfrm>
                  <a:off x="535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37" name="Group 133"/>
              <p:cNvGrpSpPr>
                <a:grpSpLocks/>
              </p:cNvGrpSpPr>
              <p:nvPr/>
            </p:nvGrpSpPr>
            <p:grpSpPr bwMode="auto">
              <a:xfrm>
                <a:off x="1208" y="109"/>
                <a:ext cx="3694" cy="423"/>
                <a:chOff x="1034" y="245"/>
                <a:chExt cx="3694" cy="423"/>
              </a:xfrm>
            </p:grpSpPr>
            <p:sp>
              <p:nvSpPr>
                <p:cNvPr id="1038" name="Line 134"/>
                <p:cNvSpPr>
                  <a:spLocks noChangeShapeType="1"/>
                </p:cNvSpPr>
                <p:nvPr/>
              </p:nvSpPr>
              <p:spPr bwMode="ltGray">
                <a:xfrm>
                  <a:off x="2676" y="246"/>
                  <a:ext cx="0" cy="14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39" name="Line 135"/>
                <p:cNvSpPr>
                  <a:spLocks noChangeShapeType="1"/>
                </p:cNvSpPr>
                <p:nvPr/>
              </p:nvSpPr>
              <p:spPr bwMode="ltGray">
                <a:xfrm>
                  <a:off x="2798" y="468"/>
                  <a:ext cx="7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0" name="Line 136"/>
                <p:cNvSpPr>
                  <a:spLocks noChangeShapeType="1"/>
                </p:cNvSpPr>
                <p:nvPr/>
              </p:nvSpPr>
              <p:spPr bwMode="ltGray">
                <a:xfrm>
                  <a:off x="2904" y="486"/>
                  <a:ext cx="0" cy="2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1" name="Line 137"/>
                <p:cNvSpPr>
                  <a:spLocks noChangeShapeType="1"/>
                </p:cNvSpPr>
                <p:nvPr/>
              </p:nvSpPr>
              <p:spPr bwMode="ltGray">
                <a:xfrm>
                  <a:off x="3132" y="586"/>
                  <a:ext cx="0" cy="79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2" name="Line 138"/>
                <p:cNvSpPr>
                  <a:spLocks noChangeShapeType="1"/>
                </p:cNvSpPr>
                <p:nvPr/>
              </p:nvSpPr>
              <p:spPr bwMode="ltGray">
                <a:xfrm>
                  <a:off x="3816" y="358"/>
                  <a:ext cx="0" cy="18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3" name="Line 139"/>
                <p:cNvSpPr>
                  <a:spLocks noChangeShapeType="1"/>
                </p:cNvSpPr>
                <p:nvPr/>
              </p:nvSpPr>
              <p:spPr bwMode="ltGray">
                <a:xfrm>
                  <a:off x="3722" y="468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4" name="Line 140"/>
                <p:cNvSpPr>
                  <a:spLocks noChangeShapeType="1"/>
                </p:cNvSpPr>
                <p:nvPr/>
              </p:nvSpPr>
              <p:spPr bwMode="ltGray">
                <a:xfrm>
                  <a:off x="4044" y="372"/>
                  <a:ext cx="0" cy="294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5" name="Line 141"/>
                <p:cNvSpPr>
                  <a:spLocks noChangeShapeType="1"/>
                </p:cNvSpPr>
                <p:nvPr/>
              </p:nvSpPr>
              <p:spPr bwMode="ltGray">
                <a:xfrm flipV="1">
                  <a:off x="4046" y="248"/>
                  <a:ext cx="0" cy="5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6" name="Line 142"/>
                <p:cNvSpPr>
                  <a:spLocks noChangeShapeType="1"/>
                </p:cNvSpPr>
                <p:nvPr/>
              </p:nvSpPr>
              <p:spPr bwMode="ltGray">
                <a:xfrm flipV="1">
                  <a:off x="4272" y="246"/>
                  <a:ext cx="0" cy="18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7" name="Line 143"/>
                <p:cNvSpPr>
                  <a:spLocks noChangeShapeType="1"/>
                </p:cNvSpPr>
                <p:nvPr/>
              </p:nvSpPr>
              <p:spPr bwMode="ltGray">
                <a:xfrm flipH="1">
                  <a:off x="4422" y="468"/>
                  <a:ext cx="7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8" name="Line 144"/>
                <p:cNvSpPr>
                  <a:spLocks noChangeShapeType="1"/>
                </p:cNvSpPr>
                <p:nvPr/>
              </p:nvSpPr>
              <p:spPr bwMode="ltGray">
                <a:xfrm flipH="1">
                  <a:off x="4290" y="468"/>
                  <a:ext cx="6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9" name="Line 145"/>
                <p:cNvSpPr>
                  <a:spLocks noChangeShapeType="1"/>
                </p:cNvSpPr>
                <p:nvPr/>
              </p:nvSpPr>
              <p:spPr bwMode="ltGray">
                <a:xfrm flipV="1">
                  <a:off x="4500" y="246"/>
                  <a:ext cx="0" cy="27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0" name="Line 146"/>
                <p:cNvSpPr>
                  <a:spLocks noChangeShapeType="1"/>
                </p:cNvSpPr>
                <p:nvPr/>
              </p:nvSpPr>
              <p:spPr bwMode="ltGray">
                <a:xfrm>
                  <a:off x="4728" y="606"/>
                  <a:ext cx="0" cy="34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1" name="Line 147"/>
                <p:cNvSpPr>
                  <a:spLocks noChangeShapeType="1"/>
                </p:cNvSpPr>
                <p:nvPr/>
              </p:nvSpPr>
              <p:spPr bwMode="ltGray">
                <a:xfrm>
                  <a:off x="1992" y="250"/>
                  <a:ext cx="0" cy="6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2" name="Line 148"/>
                <p:cNvSpPr>
                  <a:spLocks noChangeShapeType="1"/>
                </p:cNvSpPr>
                <p:nvPr/>
              </p:nvSpPr>
              <p:spPr bwMode="ltGray">
                <a:xfrm>
                  <a:off x="1764" y="247"/>
                  <a:ext cx="0" cy="33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3" name="Line 149"/>
                <p:cNvSpPr>
                  <a:spLocks noChangeShapeType="1"/>
                </p:cNvSpPr>
                <p:nvPr/>
              </p:nvSpPr>
              <p:spPr bwMode="ltGray">
                <a:xfrm flipH="1">
                  <a:off x="1738" y="468"/>
                  <a:ext cx="6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4" name="Line 150"/>
                <p:cNvSpPr>
                  <a:spLocks noChangeShapeType="1"/>
                </p:cNvSpPr>
                <p:nvPr/>
              </p:nvSpPr>
              <p:spPr bwMode="ltGray">
                <a:xfrm>
                  <a:off x="1604" y="468"/>
                  <a:ext cx="6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5" name="Line 151"/>
                <p:cNvSpPr>
                  <a:spLocks noChangeShapeType="1"/>
                </p:cNvSpPr>
                <p:nvPr/>
              </p:nvSpPr>
              <p:spPr bwMode="ltGray">
                <a:xfrm flipH="1">
                  <a:off x="1404" y="468"/>
                  <a:ext cx="8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6" name="Line 152"/>
                <p:cNvSpPr>
                  <a:spLocks noChangeShapeType="1"/>
                </p:cNvSpPr>
                <p:nvPr/>
              </p:nvSpPr>
              <p:spPr bwMode="ltGray">
                <a:xfrm>
                  <a:off x="1034" y="468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7" name="Line 153"/>
                <p:cNvSpPr>
                  <a:spLocks noChangeShapeType="1"/>
                </p:cNvSpPr>
                <p:nvPr/>
              </p:nvSpPr>
              <p:spPr bwMode="ltGray">
                <a:xfrm>
                  <a:off x="1306" y="370"/>
                  <a:ext cx="0" cy="29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8" name="Line 154"/>
                <p:cNvSpPr>
                  <a:spLocks noChangeShapeType="1"/>
                </p:cNvSpPr>
                <p:nvPr/>
              </p:nvSpPr>
              <p:spPr bwMode="ltGray">
                <a:xfrm>
                  <a:off x="1080" y="388"/>
                  <a:ext cx="0" cy="15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9" name="Line 155"/>
                <p:cNvSpPr>
                  <a:spLocks noChangeShapeType="1"/>
                </p:cNvSpPr>
                <p:nvPr/>
              </p:nvSpPr>
              <p:spPr bwMode="ltGray">
                <a:xfrm flipH="1" flipV="1">
                  <a:off x="1308" y="245"/>
                  <a:ext cx="0" cy="2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0" name="Line 156"/>
                <p:cNvSpPr>
                  <a:spLocks noChangeShapeType="1"/>
                </p:cNvSpPr>
                <p:nvPr/>
              </p:nvSpPr>
              <p:spPr bwMode="ltGray">
                <a:xfrm>
                  <a:off x="1536" y="316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1" name="Line 157"/>
                <p:cNvSpPr>
                  <a:spLocks noChangeShapeType="1"/>
                </p:cNvSpPr>
                <p:nvPr/>
              </p:nvSpPr>
              <p:spPr bwMode="ltGray">
                <a:xfrm flipV="1">
                  <a:off x="1536" y="247"/>
                  <a:ext cx="0" cy="2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2" name="Line 158"/>
                <p:cNvSpPr>
                  <a:spLocks noChangeShapeType="1"/>
                </p:cNvSpPr>
                <p:nvPr/>
              </p:nvSpPr>
              <p:spPr bwMode="ltGray">
                <a:xfrm>
                  <a:off x="4095" y="467"/>
                  <a:ext cx="8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pic>
          <p:nvPicPr>
            <p:cNvPr id="1033" name="Picture 159" descr="earth"/>
            <p:cNvPicPr>
              <a:picLocks noChangeAspect="1" noChangeArrowheads="1"/>
            </p:cNvPicPr>
            <p:nvPr userDrawn="1"/>
          </p:nvPicPr>
          <p:blipFill>
            <a:blip r:embed="rId15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5" y="55"/>
              <a:ext cx="562" cy="5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7" r:id="rId1"/>
    <p:sldLayoutId id="2147483868" r:id="rId2"/>
    <p:sldLayoutId id="2147483859" r:id="rId3"/>
    <p:sldLayoutId id="2147483860" r:id="rId4"/>
    <p:sldLayoutId id="2147483861" r:id="rId5"/>
    <p:sldLayoutId id="2147483869" r:id="rId6"/>
    <p:sldLayoutId id="2147483862" r:id="rId7"/>
    <p:sldLayoutId id="2147483863" r:id="rId8"/>
    <p:sldLayoutId id="2147483864" r:id="rId9"/>
    <p:sldLayoutId id="2147483865" r:id="rId10"/>
    <p:sldLayoutId id="2147483866" r:id="rId11"/>
    <p:sldLayoutId id="2147483870" r:id="rId12"/>
    <p:sldLayoutId id="2147483871" r:id="rId13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Blip>
          <a:blip r:embed="rId16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75000"/>
        <a:buBlip>
          <a:blip r:embed="rId17"/>
        </a:buBlip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emf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7" Type="http://schemas.openxmlformats.org/officeDocument/2006/relationships/image" Target="../media/image1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7" Type="http://schemas.openxmlformats.org/officeDocument/2006/relationships/image" Target="../media/image1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17.wmf"/><Relationship Id="rId18" Type="http://schemas.openxmlformats.org/officeDocument/2006/relationships/oleObject" Target="../embeddings/oleObject9.bin"/><Relationship Id="rId3" Type="http://schemas.openxmlformats.org/officeDocument/2006/relationships/notesSlide" Target="../notesSlides/notesSlide28.xml"/><Relationship Id="rId21" Type="http://schemas.openxmlformats.org/officeDocument/2006/relationships/oleObject" Target="../embeddings/oleObject11.bin"/><Relationship Id="rId7" Type="http://schemas.openxmlformats.org/officeDocument/2006/relationships/image" Target="../media/image14.wmf"/><Relationship Id="rId12" Type="http://schemas.openxmlformats.org/officeDocument/2006/relationships/oleObject" Target="../embeddings/oleObject6.bin"/><Relationship Id="rId17" Type="http://schemas.openxmlformats.org/officeDocument/2006/relationships/image" Target="../media/image19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8.bin"/><Relationship Id="rId20" Type="http://schemas.openxmlformats.org/officeDocument/2006/relationships/oleObject" Target="../embeddings/oleObject10.bin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16.wmf"/><Relationship Id="rId24" Type="http://schemas.openxmlformats.org/officeDocument/2006/relationships/image" Target="../media/image22.wmf"/><Relationship Id="rId5" Type="http://schemas.openxmlformats.org/officeDocument/2006/relationships/image" Target="../media/image3.png"/><Relationship Id="rId15" Type="http://schemas.openxmlformats.org/officeDocument/2006/relationships/image" Target="../media/image18.wmf"/><Relationship Id="rId23" Type="http://schemas.openxmlformats.org/officeDocument/2006/relationships/oleObject" Target="../embeddings/oleObject12.bin"/><Relationship Id="rId10" Type="http://schemas.openxmlformats.org/officeDocument/2006/relationships/oleObject" Target="../embeddings/oleObject5.bin"/><Relationship Id="rId19" Type="http://schemas.openxmlformats.org/officeDocument/2006/relationships/image" Target="../media/image20.wmf"/><Relationship Id="rId4" Type="http://schemas.openxmlformats.org/officeDocument/2006/relationships/image" Target="../media/image2.png"/><Relationship Id="rId9" Type="http://schemas.openxmlformats.org/officeDocument/2006/relationships/image" Target="../media/image15.wmf"/><Relationship Id="rId14" Type="http://schemas.openxmlformats.org/officeDocument/2006/relationships/oleObject" Target="../embeddings/oleObject7.bin"/><Relationship Id="rId22" Type="http://schemas.openxmlformats.org/officeDocument/2006/relationships/image" Target="../media/image21.w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2600" y="1981200"/>
            <a:ext cx="6934200" cy="23622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en-US" dirty="0" smtClean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Chapter 19</a:t>
            </a:r>
            <a:br>
              <a:rPr lang="en-US" dirty="0" smtClean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The Greek Letters</a:t>
            </a: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717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5000" y="6324600"/>
            <a:ext cx="45720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717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1F6920ED-EF34-4E37-9B9B-0CF42E647CF4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609600"/>
            <a:ext cx="7165975" cy="1066800"/>
          </a:xfrm>
        </p:spPr>
        <p:txBody>
          <a:bodyPr lIns="92075" tIns="46038" rIns="92075" bIns="46038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Example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xfrm>
            <a:off x="1143000" y="1800225"/>
            <a:ext cx="7210425" cy="3454400"/>
          </a:xfrm>
        </p:spPr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smtClean="0">
                <a:latin typeface="Arial" charset="0"/>
                <a:cs typeface="Arial" charset="0"/>
              </a:rPr>
              <a:t>A bank has sold for $300,000 a European call option on 100,000 shares of a non-dividend paying stock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smtClean="0">
                <a:latin typeface="Arial" charset="0"/>
                <a:cs typeface="Arial" charset="0"/>
              </a:rPr>
              <a:t> </a:t>
            </a:r>
            <a:r>
              <a:rPr lang="en-US" altLang="en-US" sz="2400" i="1" smtClean="0">
                <a:latin typeface="Times New Roman" pitchFamily="18" charset="0"/>
                <a:cs typeface="Arial" charset="0"/>
              </a:rPr>
              <a:t>S</a:t>
            </a:r>
            <a:r>
              <a:rPr lang="en-US" altLang="en-US" sz="2400" baseline="-25000" smtClean="0">
                <a:latin typeface="Times New Roman" pitchFamily="18" charset="0"/>
                <a:cs typeface="Arial" charset="0"/>
              </a:rPr>
              <a:t>0</a:t>
            </a:r>
            <a:r>
              <a:rPr lang="en-US" altLang="en-US" sz="2400" smtClean="0">
                <a:latin typeface="Arial" charset="0"/>
                <a:cs typeface="Arial" charset="0"/>
              </a:rPr>
              <a:t>  = 49,  </a:t>
            </a:r>
            <a:r>
              <a:rPr lang="en-US" altLang="en-US" sz="2400" smtClean="0">
                <a:latin typeface="Times New Roman" pitchFamily="18" charset="0"/>
                <a:cs typeface="Arial" charset="0"/>
              </a:rPr>
              <a:t>  </a:t>
            </a:r>
            <a:r>
              <a:rPr lang="en-US" altLang="en-US" sz="2400" i="1" smtClean="0">
                <a:latin typeface="Times New Roman" pitchFamily="18" charset="0"/>
                <a:cs typeface="Arial" charset="0"/>
              </a:rPr>
              <a:t>K </a:t>
            </a:r>
            <a:r>
              <a:rPr lang="en-US" altLang="en-US" sz="2400" smtClean="0">
                <a:latin typeface="Arial" charset="0"/>
                <a:cs typeface="Arial" charset="0"/>
              </a:rPr>
              <a:t> = 50,  </a:t>
            </a:r>
            <a:r>
              <a:rPr lang="en-US" altLang="en-US" sz="2400" i="1" smtClean="0">
                <a:latin typeface="Times New Roman" pitchFamily="18" charset="0"/>
                <a:cs typeface="Arial" charset="0"/>
              </a:rPr>
              <a:t>r</a:t>
            </a:r>
            <a:r>
              <a:rPr lang="en-US" altLang="en-US" sz="2400" smtClean="0">
                <a:latin typeface="Arial" charset="0"/>
                <a:cs typeface="Arial" charset="0"/>
              </a:rPr>
              <a:t>  = 5%, </a:t>
            </a:r>
            <a:r>
              <a:rPr lang="en-US" altLang="en-US" sz="2400" smtClean="0">
                <a:latin typeface="Times New Roman" pitchFamily="18" charset="0"/>
                <a:cs typeface="Arial" charset="0"/>
              </a:rPr>
              <a:t> </a:t>
            </a:r>
            <a:r>
              <a:rPr lang="en-US" altLang="en-US" sz="2400" smtClean="0">
                <a:latin typeface="Symbol" pitchFamily="18" charset="2"/>
                <a:cs typeface="Arial" charset="0"/>
              </a:rPr>
              <a:t>s </a:t>
            </a:r>
            <a:r>
              <a:rPr lang="en-US" altLang="en-US" sz="2400" smtClean="0">
                <a:latin typeface="Arial" charset="0"/>
                <a:cs typeface="Arial" charset="0"/>
              </a:rPr>
              <a:t>= 20%, 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400" smtClean="0">
                <a:latin typeface="Arial" charset="0"/>
                <a:cs typeface="Arial" charset="0"/>
              </a:rPr>
              <a:t>	</a:t>
            </a:r>
            <a:r>
              <a:rPr lang="en-US" altLang="en-US" sz="2400" i="1" smtClean="0">
                <a:latin typeface="Times New Roman" pitchFamily="18" charset="0"/>
                <a:cs typeface="Arial" charset="0"/>
              </a:rPr>
              <a:t>T =</a:t>
            </a:r>
            <a:r>
              <a:rPr lang="en-US" altLang="en-US" sz="2400" smtClean="0">
                <a:latin typeface="Arial" charset="0"/>
                <a:cs typeface="Arial" charset="0"/>
              </a:rPr>
              <a:t> 20 weeks, </a:t>
            </a:r>
            <a:r>
              <a:rPr lang="en-US" altLang="en-US" sz="2400" smtClean="0">
                <a:latin typeface="Symbol" pitchFamily="18" charset="2"/>
                <a:cs typeface="Arial" charset="0"/>
              </a:rPr>
              <a:t>m </a:t>
            </a:r>
            <a:r>
              <a:rPr lang="en-US" altLang="en-US" sz="2400" smtClean="0">
                <a:latin typeface="Arial" charset="0"/>
                <a:cs typeface="Arial" charset="0"/>
              </a:rPr>
              <a:t>= 13%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smtClean="0">
                <a:latin typeface="Arial" charset="0"/>
                <a:cs typeface="Arial" charset="0"/>
              </a:rPr>
              <a:t>The Black-Scholes-Merton value of the option is $240,000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smtClean="0">
                <a:latin typeface="Arial" charset="0"/>
                <a:cs typeface="Arial" charset="0"/>
              </a:rPr>
              <a:t>How does the bank hedge its risk to lock in a $60,000 profit?</a:t>
            </a:r>
          </a:p>
        </p:txBody>
      </p:sp>
      <p:sp>
        <p:nvSpPr>
          <p:cNvPr id="819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819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28A3C9DC-79D5-4A79-8E0F-EBBB8A281360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Naked &amp; Covered Positions</a:t>
            </a:r>
          </a:p>
        </p:txBody>
      </p:sp>
      <p:sp>
        <p:nvSpPr>
          <p:cNvPr id="9219" name="Content Placeholder 5"/>
          <p:cNvSpPr>
            <a:spLocks noGrp="1"/>
          </p:cNvSpPr>
          <p:nvPr>
            <p:ph idx="1"/>
          </p:nvPr>
        </p:nvSpPr>
        <p:spPr>
          <a:xfrm>
            <a:off x="685800" y="1828800"/>
            <a:ext cx="7772400" cy="4357688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endParaRPr lang="en-US" altLang="en-US" smtClean="0">
              <a:latin typeface="Arial" charset="0"/>
              <a:cs typeface="Arial" charset="0"/>
            </a:endParaRP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Naked position</a:t>
            </a:r>
          </a:p>
          <a:p>
            <a:pPr lvl="1" eaLnBrk="1" hangingPunct="1"/>
            <a:r>
              <a:rPr lang="en-US" altLang="en-US" smtClean="0">
                <a:latin typeface="Arial" charset="0"/>
                <a:cs typeface="Arial" charset="0"/>
              </a:rPr>
              <a:t>Take no  action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Covered position</a:t>
            </a:r>
          </a:p>
          <a:p>
            <a:pPr lvl="1" eaLnBrk="1" hangingPunct="1"/>
            <a:r>
              <a:rPr lang="en-US" altLang="en-US" smtClean="0">
                <a:latin typeface="Arial" charset="0"/>
                <a:cs typeface="Arial" charset="0"/>
              </a:rPr>
              <a:t>Buy 100,000 shares today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What are the risks associated with these strategies?</a:t>
            </a:r>
          </a:p>
        </p:txBody>
      </p:sp>
      <p:sp>
        <p:nvSpPr>
          <p:cNvPr id="922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922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C8CC6760-2C97-4A2C-B244-34FE5A1C3742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solidFill>
                  <a:schemeClr val="tx2">
                    <a:satMod val="130000"/>
                  </a:schemeClr>
                </a:solidFill>
              </a:rPr>
              <a:t>Stop-Loss Strategy</a:t>
            </a:r>
          </a:p>
        </p:txBody>
      </p:sp>
      <p:sp>
        <p:nvSpPr>
          <p:cNvPr id="10243" name="Content Placeholder 5"/>
          <p:cNvSpPr>
            <a:spLocks noGrp="1"/>
          </p:cNvSpPr>
          <p:nvPr>
            <p:ph idx="1"/>
          </p:nvPr>
        </p:nvSpPr>
        <p:spPr>
          <a:xfrm>
            <a:off x="685800" y="1828800"/>
            <a:ext cx="7772400" cy="4433888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en-US" smtClean="0">
              <a:latin typeface="Arial" charset="0"/>
              <a:cs typeface="Arial" charset="0"/>
            </a:endParaRP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This involves:</a:t>
            </a:r>
          </a:p>
          <a:p>
            <a:pPr lvl="1" eaLnBrk="1" hangingPunct="1"/>
            <a:r>
              <a:rPr lang="en-US" altLang="en-US" smtClean="0">
                <a:latin typeface="Arial" charset="0"/>
                <a:cs typeface="Arial" charset="0"/>
              </a:rPr>
              <a:t>Buying 100,000 shares as soon as price reaches $50</a:t>
            </a:r>
          </a:p>
          <a:p>
            <a:pPr lvl="1" eaLnBrk="1" hangingPunct="1"/>
            <a:r>
              <a:rPr lang="en-US" altLang="en-US" smtClean="0">
                <a:latin typeface="Arial" charset="0"/>
                <a:cs typeface="Arial" charset="0"/>
              </a:rPr>
              <a:t>Selling 100,000 shares as soon as price falls below $50</a:t>
            </a:r>
          </a:p>
          <a:p>
            <a:pPr eaLnBrk="1" hangingPunct="1">
              <a:buFontTx/>
              <a:buNone/>
            </a:pPr>
            <a:endParaRPr lang="en-US" altLang="en-US" smtClean="0">
              <a:latin typeface="Arial" charset="0"/>
              <a:cs typeface="Arial" charset="0"/>
            </a:endParaRPr>
          </a:p>
        </p:txBody>
      </p:sp>
      <p:sp>
        <p:nvSpPr>
          <p:cNvPr id="1024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024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C0527C7D-8708-4BB6-9689-5E29F9D1C89F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4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>
          <a:xfrm>
            <a:off x="246063" y="838200"/>
            <a:ext cx="7772400" cy="838200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Stop-Loss Strategy </a:t>
            </a:r>
            <a:r>
              <a:rPr lang="en-US" altLang="en-US" sz="2400" dirty="0" smtClean="0"/>
              <a:t>continued (Figure 19.1)</a:t>
            </a:r>
          </a:p>
        </p:txBody>
      </p:sp>
      <p:sp>
        <p:nvSpPr>
          <p:cNvPr id="11267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1268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C6F9D96D-9EBE-4049-AD27-930136C98FD8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5</a:t>
            </a:fld>
            <a:endParaRPr lang="en-US" altLang="en-US" sz="1400" smtClean="0">
              <a:latin typeface="Arial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38200" y="5410200"/>
            <a:ext cx="6629400" cy="646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dirty="0"/>
              <a:t>Ignoring discounting, the cost of writing and hedging the option appears to be max(</a:t>
            </a:r>
            <a:r>
              <a:rPr lang="en-US" i="1" dirty="0">
                <a:latin typeface="+mj-lt"/>
              </a:rPr>
              <a:t>S</a:t>
            </a:r>
            <a:r>
              <a:rPr lang="en-US" baseline="-25000" dirty="0"/>
              <a:t>0</a:t>
            </a:r>
            <a:r>
              <a:rPr lang="en-US" dirty="0"/>
              <a:t>−</a:t>
            </a:r>
            <a:r>
              <a:rPr lang="en-US" dirty="0">
                <a:latin typeface="+mj-lt"/>
              </a:rPr>
              <a:t>K</a:t>
            </a:r>
            <a:r>
              <a:rPr lang="en-US" dirty="0"/>
              <a:t>, 0). What are we overlooking?</a:t>
            </a:r>
          </a:p>
        </p:txBody>
      </p:sp>
      <p:pic>
        <p:nvPicPr>
          <p:cNvPr id="11270" name="Picture 6" descr="OFOD7_17-01.eps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676400"/>
            <a:ext cx="5776913" cy="3709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 smtClean="0"/>
              <a:t>Greek Letters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685800" y="2006907"/>
            <a:ext cx="7772400" cy="4114800"/>
          </a:xfrm>
        </p:spPr>
        <p:txBody>
          <a:bodyPr/>
          <a:lstStyle/>
          <a:p>
            <a:r>
              <a:rPr lang="en-CA" altLang="en-US" sz="2800" dirty="0" smtClean="0"/>
              <a:t>Greek letters are the partial derivatives with respect to the model parameters that are liable to change</a:t>
            </a:r>
          </a:p>
          <a:p>
            <a:r>
              <a:rPr lang="en-CA" altLang="en-US" sz="2800" dirty="0" smtClean="0"/>
              <a:t>Usually traders use the Black-Scholes-Merton model when calculating partial derivatives</a:t>
            </a:r>
          </a:p>
          <a:p>
            <a:r>
              <a:rPr lang="en-CA" altLang="en-US" sz="2800" dirty="0" smtClean="0"/>
              <a:t>The volatility parameter in BSM is set equal to the implied volatility when Greek letters are calculated. This is referred to as using the “practitioner Black-Scholes” model </a:t>
            </a:r>
          </a:p>
        </p:txBody>
      </p:sp>
      <p:sp>
        <p:nvSpPr>
          <p:cNvPr id="18436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/>
              <a:t>Options, Futures, and Other Derivatives,  11th Edition, Copyright © John  C. Hull 2021</a:t>
            </a:r>
            <a:endParaRPr lang="en-US" altLang="en-US" sz="1400" i="0" smtClean="0"/>
          </a:p>
        </p:txBody>
      </p:sp>
      <p:sp>
        <p:nvSpPr>
          <p:cNvPr id="18437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2C090B9-123A-42C0-BEBA-ECEB8742C23B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1219200" y="762000"/>
            <a:ext cx="7239000" cy="762000"/>
          </a:xfrm>
        </p:spPr>
        <p:txBody>
          <a:bodyPr lIns="92075" tIns="46038" rIns="92075" bIns="46038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Delta </a:t>
            </a:r>
            <a:r>
              <a:rPr lang="en-US" sz="2200" dirty="0">
                <a:solidFill>
                  <a:schemeClr val="tx2">
                    <a:satMod val="130000"/>
                  </a:schemeClr>
                </a:solidFill>
              </a:rPr>
              <a:t>(See Figure </a:t>
            </a:r>
            <a:r>
              <a:rPr lang="en-US" sz="2200" dirty="0" smtClean="0">
                <a:solidFill>
                  <a:schemeClr val="tx2">
                    <a:satMod val="130000"/>
                  </a:schemeClr>
                </a:solidFill>
              </a:rPr>
              <a:t>19.2)</a:t>
            </a: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977900" y="1752600"/>
            <a:ext cx="7251700" cy="1485900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dirty="0" smtClean="0">
                <a:latin typeface="Arial" charset="0"/>
                <a:cs typeface="Arial" charset="0"/>
              </a:rPr>
              <a:t>Delta (</a:t>
            </a:r>
            <a:r>
              <a:rPr lang="en-US" altLang="en-US" dirty="0" smtClean="0">
                <a:latin typeface="Symbol" pitchFamily="18" charset="2"/>
                <a:cs typeface="Arial" charset="0"/>
              </a:rPr>
              <a:t>D</a:t>
            </a:r>
            <a:r>
              <a:rPr lang="en-US" altLang="en-US" dirty="0" smtClean="0">
                <a:latin typeface="Arial" charset="0"/>
                <a:cs typeface="Arial" charset="0"/>
              </a:rPr>
              <a:t>) is the rate of change of the option price with respect to the underlying asset price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2400" dirty="0" smtClean="0">
                <a:latin typeface="Arial" charset="0"/>
                <a:cs typeface="Arial" charset="0"/>
              </a:rPr>
              <a:t> </a:t>
            </a:r>
          </a:p>
        </p:txBody>
      </p:sp>
      <p:sp>
        <p:nvSpPr>
          <p:cNvPr id="1229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229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17A49540-B1A3-4BC3-87D2-2A66DBB33018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1400" smtClean="0">
              <a:latin typeface="Arial" charset="0"/>
            </a:endParaRPr>
          </a:p>
        </p:txBody>
      </p:sp>
      <p:grpSp>
        <p:nvGrpSpPr>
          <p:cNvPr id="12296" name="Group 20"/>
          <p:cNvGrpSpPr>
            <a:grpSpLocks/>
          </p:cNvGrpSpPr>
          <p:nvPr/>
        </p:nvGrpSpPr>
        <p:grpSpPr bwMode="auto">
          <a:xfrm>
            <a:off x="1967348" y="3572882"/>
            <a:ext cx="4840105" cy="2422619"/>
            <a:chOff x="1276" y="1938"/>
            <a:chExt cx="3432" cy="1833"/>
          </a:xfrm>
        </p:grpSpPr>
        <p:sp>
          <p:nvSpPr>
            <p:cNvPr id="12297" name="Line 5"/>
            <p:cNvSpPr>
              <a:spLocks noChangeShapeType="1"/>
            </p:cNvSpPr>
            <p:nvPr/>
          </p:nvSpPr>
          <p:spPr bwMode="auto">
            <a:xfrm>
              <a:off x="1494" y="1938"/>
              <a:ext cx="0" cy="155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stealth" w="med" len="lg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298" name="Line 6"/>
            <p:cNvSpPr>
              <a:spLocks noChangeShapeType="1"/>
            </p:cNvSpPr>
            <p:nvPr/>
          </p:nvSpPr>
          <p:spPr bwMode="auto">
            <a:xfrm>
              <a:off x="1494" y="3492"/>
              <a:ext cx="26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2299" name="Group 12"/>
            <p:cNvGrpSpPr>
              <a:grpSpLocks/>
            </p:cNvGrpSpPr>
            <p:nvPr/>
          </p:nvGrpSpPr>
          <p:grpSpPr bwMode="auto">
            <a:xfrm>
              <a:off x="1494" y="2292"/>
              <a:ext cx="2533" cy="1196"/>
              <a:chOff x="1494" y="2292"/>
              <a:chExt cx="2533" cy="1196"/>
            </a:xfrm>
          </p:grpSpPr>
          <p:sp>
            <p:nvSpPr>
              <p:cNvPr id="12307" name="Freeform 7"/>
              <p:cNvSpPr>
                <a:spLocks/>
              </p:cNvSpPr>
              <p:nvPr/>
            </p:nvSpPr>
            <p:spPr bwMode="auto">
              <a:xfrm>
                <a:off x="1494" y="3455"/>
                <a:ext cx="461" cy="33"/>
              </a:xfrm>
              <a:custGeom>
                <a:avLst/>
                <a:gdLst>
                  <a:gd name="T0" fmla="*/ 0 w 461"/>
                  <a:gd name="T1" fmla="*/ 32 h 33"/>
                  <a:gd name="T2" fmla="*/ 6 w 461"/>
                  <a:gd name="T3" fmla="*/ 30 h 33"/>
                  <a:gd name="T4" fmla="*/ 17 w 461"/>
                  <a:gd name="T5" fmla="*/ 30 h 33"/>
                  <a:gd name="T6" fmla="*/ 24 w 461"/>
                  <a:gd name="T7" fmla="*/ 28 h 33"/>
                  <a:gd name="T8" fmla="*/ 35 w 461"/>
                  <a:gd name="T9" fmla="*/ 30 h 33"/>
                  <a:gd name="T10" fmla="*/ 42 w 461"/>
                  <a:gd name="T11" fmla="*/ 28 h 33"/>
                  <a:gd name="T12" fmla="*/ 143 w 461"/>
                  <a:gd name="T13" fmla="*/ 30 h 33"/>
                  <a:gd name="T14" fmla="*/ 244 w 461"/>
                  <a:gd name="T15" fmla="*/ 28 h 33"/>
                  <a:gd name="T16" fmla="*/ 368 w 461"/>
                  <a:gd name="T17" fmla="*/ 18 h 33"/>
                  <a:gd name="T18" fmla="*/ 415 w 461"/>
                  <a:gd name="T19" fmla="*/ 7 h 33"/>
                  <a:gd name="T20" fmla="*/ 460 w 461"/>
                  <a:gd name="T21" fmla="*/ 0 h 33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461"/>
                  <a:gd name="T34" fmla="*/ 0 h 33"/>
                  <a:gd name="T35" fmla="*/ 461 w 461"/>
                  <a:gd name="T36" fmla="*/ 33 h 33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461" h="33">
                    <a:moveTo>
                      <a:pt x="0" y="32"/>
                    </a:moveTo>
                    <a:lnTo>
                      <a:pt x="6" y="30"/>
                    </a:lnTo>
                    <a:lnTo>
                      <a:pt x="17" y="30"/>
                    </a:lnTo>
                    <a:lnTo>
                      <a:pt x="24" y="28"/>
                    </a:lnTo>
                    <a:lnTo>
                      <a:pt x="35" y="30"/>
                    </a:lnTo>
                    <a:lnTo>
                      <a:pt x="42" y="28"/>
                    </a:lnTo>
                    <a:lnTo>
                      <a:pt x="143" y="30"/>
                    </a:lnTo>
                    <a:lnTo>
                      <a:pt x="244" y="28"/>
                    </a:lnTo>
                    <a:lnTo>
                      <a:pt x="368" y="18"/>
                    </a:lnTo>
                    <a:lnTo>
                      <a:pt x="415" y="7"/>
                    </a:lnTo>
                    <a:lnTo>
                      <a:pt x="460" y="0"/>
                    </a:lnTo>
                  </a:path>
                </a:pathLst>
              </a:custGeom>
              <a:noFill/>
              <a:ln w="25400" cap="rnd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08" name="Freeform 8"/>
              <p:cNvSpPr>
                <a:spLocks/>
              </p:cNvSpPr>
              <p:nvPr/>
            </p:nvSpPr>
            <p:spPr bwMode="auto">
              <a:xfrm>
                <a:off x="1962" y="3274"/>
                <a:ext cx="685" cy="179"/>
              </a:xfrm>
              <a:custGeom>
                <a:avLst/>
                <a:gdLst>
                  <a:gd name="T0" fmla="*/ 0 w 685"/>
                  <a:gd name="T1" fmla="*/ 178 h 179"/>
                  <a:gd name="T2" fmla="*/ 204 w 685"/>
                  <a:gd name="T3" fmla="*/ 143 h 179"/>
                  <a:gd name="T4" fmla="*/ 469 w 685"/>
                  <a:gd name="T5" fmla="*/ 69 h 179"/>
                  <a:gd name="T6" fmla="*/ 684 w 685"/>
                  <a:gd name="T7" fmla="*/ 0 h 17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85"/>
                  <a:gd name="T13" fmla="*/ 0 h 179"/>
                  <a:gd name="T14" fmla="*/ 685 w 685"/>
                  <a:gd name="T15" fmla="*/ 179 h 17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85" h="179">
                    <a:moveTo>
                      <a:pt x="0" y="178"/>
                    </a:moveTo>
                    <a:lnTo>
                      <a:pt x="204" y="143"/>
                    </a:lnTo>
                    <a:lnTo>
                      <a:pt x="469" y="69"/>
                    </a:lnTo>
                    <a:lnTo>
                      <a:pt x="684" y="0"/>
                    </a:lnTo>
                  </a:path>
                </a:pathLst>
              </a:custGeom>
              <a:noFill/>
              <a:ln w="25400" cap="rnd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09" name="Freeform 9"/>
              <p:cNvSpPr>
                <a:spLocks/>
              </p:cNvSpPr>
              <p:nvPr/>
            </p:nvSpPr>
            <p:spPr bwMode="auto">
              <a:xfrm>
                <a:off x="2646" y="2959"/>
                <a:ext cx="640" cy="316"/>
              </a:xfrm>
              <a:custGeom>
                <a:avLst/>
                <a:gdLst>
                  <a:gd name="T0" fmla="*/ 0 w 640"/>
                  <a:gd name="T1" fmla="*/ 315 h 316"/>
                  <a:gd name="T2" fmla="*/ 220 w 640"/>
                  <a:gd name="T3" fmla="*/ 224 h 316"/>
                  <a:gd name="T4" fmla="*/ 381 w 640"/>
                  <a:gd name="T5" fmla="*/ 146 h 316"/>
                  <a:gd name="T6" fmla="*/ 639 w 640"/>
                  <a:gd name="T7" fmla="*/ 0 h 31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40"/>
                  <a:gd name="T13" fmla="*/ 0 h 316"/>
                  <a:gd name="T14" fmla="*/ 640 w 640"/>
                  <a:gd name="T15" fmla="*/ 316 h 31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40" h="316">
                    <a:moveTo>
                      <a:pt x="0" y="315"/>
                    </a:moveTo>
                    <a:lnTo>
                      <a:pt x="220" y="224"/>
                    </a:lnTo>
                    <a:lnTo>
                      <a:pt x="381" y="146"/>
                    </a:lnTo>
                    <a:lnTo>
                      <a:pt x="639" y="0"/>
                    </a:lnTo>
                  </a:path>
                </a:pathLst>
              </a:custGeom>
              <a:noFill/>
              <a:ln w="25400" cap="rnd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10" name="Freeform 10"/>
              <p:cNvSpPr>
                <a:spLocks/>
              </p:cNvSpPr>
              <p:nvPr/>
            </p:nvSpPr>
            <p:spPr bwMode="auto">
              <a:xfrm>
                <a:off x="3285" y="2535"/>
                <a:ext cx="539" cy="425"/>
              </a:xfrm>
              <a:custGeom>
                <a:avLst/>
                <a:gdLst>
                  <a:gd name="T0" fmla="*/ 0 w 539"/>
                  <a:gd name="T1" fmla="*/ 424 h 425"/>
                  <a:gd name="T2" fmla="*/ 210 w 539"/>
                  <a:gd name="T3" fmla="*/ 285 h 425"/>
                  <a:gd name="T4" fmla="*/ 333 w 539"/>
                  <a:gd name="T5" fmla="*/ 190 h 425"/>
                  <a:gd name="T6" fmla="*/ 467 w 539"/>
                  <a:gd name="T7" fmla="*/ 73 h 425"/>
                  <a:gd name="T8" fmla="*/ 538 w 539"/>
                  <a:gd name="T9" fmla="*/ 0 h 4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39"/>
                  <a:gd name="T16" fmla="*/ 0 h 425"/>
                  <a:gd name="T17" fmla="*/ 539 w 539"/>
                  <a:gd name="T18" fmla="*/ 425 h 42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39" h="425">
                    <a:moveTo>
                      <a:pt x="0" y="424"/>
                    </a:moveTo>
                    <a:lnTo>
                      <a:pt x="210" y="285"/>
                    </a:lnTo>
                    <a:lnTo>
                      <a:pt x="333" y="190"/>
                    </a:lnTo>
                    <a:lnTo>
                      <a:pt x="467" y="73"/>
                    </a:lnTo>
                    <a:lnTo>
                      <a:pt x="538" y="0"/>
                    </a:lnTo>
                  </a:path>
                </a:pathLst>
              </a:custGeom>
              <a:noFill/>
              <a:ln w="25400" cap="rnd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11" name="Freeform 11"/>
              <p:cNvSpPr>
                <a:spLocks/>
              </p:cNvSpPr>
              <p:nvPr/>
            </p:nvSpPr>
            <p:spPr bwMode="auto">
              <a:xfrm>
                <a:off x="3823" y="2292"/>
                <a:ext cx="204" cy="244"/>
              </a:xfrm>
              <a:custGeom>
                <a:avLst/>
                <a:gdLst>
                  <a:gd name="T0" fmla="*/ 0 w 204"/>
                  <a:gd name="T1" fmla="*/ 243 h 244"/>
                  <a:gd name="T2" fmla="*/ 54 w 204"/>
                  <a:gd name="T3" fmla="*/ 191 h 244"/>
                  <a:gd name="T4" fmla="*/ 107 w 204"/>
                  <a:gd name="T5" fmla="*/ 130 h 244"/>
                  <a:gd name="T6" fmla="*/ 161 w 204"/>
                  <a:gd name="T7" fmla="*/ 60 h 244"/>
                  <a:gd name="T8" fmla="*/ 203 w 204"/>
                  <a:gd name="T9" fmla="*/ 0 h 24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04"/>
                  <a:gd name="T16" fmla="*/ 0 h 244"/>
                  <a:gd name="T17" fmla="*/ 204 w 204"/>
                  <a:gd name="T18" fmla="*/ 244 h 24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04" h="244">
                    <a:moveTo>
                      <a:pt x="0" y="243"/>
                    </a:moveTo>
                    <a:lnTo>
                      <a:pt x="54" y="191"/>
                    </a:lnTo>
                    <a:lnTo>
                      <a:pt x="107" y="130"/>
                    </a:lnTo>
                    <a:lnTo>
                      <a:pt x="161" y="60"/>
                    </a:lnTo>
                    <a:lnTo>
                      <a:pt x="203" y="0"/>
                    </a:lnTo>
                  </a:path>
                </a:pathLst>
              </a:custGeom>
              <a:noFill/>
              <a:ln w="25400" cap="rnd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2300" name="Freeform 13"/>
            <p:cNvSpPr>
              <a:spLocks/>
            </p:cNvSpPr>
            <p:nvPr/>
          </p:nvSpPr>
          <p:spPr bwMode="auto">
            <a:xfrm>
              <a:off x="2190" y="2812"/>
              <a:ext cx="1561" cy="675"/>
            </a:xfrm>
            <a:custGeom>
              <a:avLst/>
              <a:gdLst>
                <a:gd name="T0" fmla="*/ 0 w 1561"/>
                <a:gd name="T1" fmla="*/ 674 h 675"/>
                <a:gd name="T2" fmla="*/ 1560 w 1561"/>
                <a:gd name="T3" fmla="*/ 0 h 675"/>
                <a:gd name="T4" fmla="*/ 0 60000 65536"/>
                <a:gd name="T5" fmla="*/ 0 60000 65536"/>
                <a:gd name="T6" fmla="*/ 0 w 1561"/>
                <a:gd name="T7" fmla="*/ 0 h 675"/>
                <a:gd name="T8" fmla="*/ 1561 w 1561"/>
                <a:gd name="T9" fmla="*/ 675 h 67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561" h="675">
                  <a:moveTo>
                    <a:pt x="0" y="674"/>
                  </a:moveTo>
                  <a:lnTo>
                    <a:pt x="1560" y="0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01" name="Line 14"/>
            <p:cNvSpPr>
              <a:spLocks noChangeShapeType="1"/>
            </p:cNvSpPr>
            <p:nvPr/>
          </p:nvSpPr>
          <p:spPr bwMode="auto">
            <a:xfrm>
              <a:off x="2838" y="3201"/>
              <a:ext cx="0" cy="29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02" name="Line 15"/>
            <p:cNvSpPr>
              <a:spLocks noChangeShapeType="1"/>
            </p:cNvSpPr>
            <p:nvPr/>
          </p:nvSpPr>
          <p:spPr bwMode="auto">
            <a:xfrm flipH="1">
              <a:off x="1494" y="3208"/>
              <a:ext cx="13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03" name="Rectangle 16"/>
            <p:cNvSpPr>
              <a:spLocks noChangeArrowheads="1"/>
            </p:cNvSpPr>
            <p:nvPr/>
          </p:nvSpPr>
          <p:spPr bwMode="auto">
            <a:xfrm>
              <a:off x="2732" y="3514"/>
              <a:ext cx="228" cy="2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dirty="0">
                  <a:latin typeface="Arial" charset="0"/>
                </a:rPr>
                <a:t>A</a:t>
              </a:r>
            </a:p>
          </p:txBody>
        </p:sp>
        <p:sp>
          <p:nvSpPr>
            <p:cNvPr id="12304" name="Rectangle 17"/>
            <p:cNvSpPr>
              <a:spLocks noChangeArrowheads="1"/>
            </p:cNvSpPr>
            <p:nvPr/>
          </p:nvSpPr>
          <p:spPr bwMode="auto">
            <a:xfrm>
              <a:off x="1276" y="3024"/>
              <a:ext cx="228" cy="2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dirty="0">
                  <a:latin typeface="Arial" charset="0"/>
                </a:rPr>
                <a:t>B</a:t>
              </a:r>
            </a:p>
          </p:txBody>
        </p:sp>
        <p:sp>
          <p:nvSpPr>
            <p:cNvPr id="12305" name="Rectangle 18"/>
            <p:cNvSpPr>
              <a:spLocks noChangeArrowheads="1"/>
            </p:cNvSpPr>
            <p:nvPr/>
          </p:nvSpPr>
          <p:spPr bwMode="auto">
            <a:xfrm>
              <a:off x="3616" y="2848"/>
              <a:ext cx="1092" cy="2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dirty="0">
                  <a:latin typeface="Arial" charset="0"/>
                </a:rPr>
                <a:t>Slope = </a:t>
              </a:r>
              <a:r>
                <a:rPr lang="en-US" altLang="en-US" sz="1600" dirty="0">
                  <a:latin typeface="Symbol" pitchFamily="18" charset="2"/>
                </a:rPr>
                <a:t>D = 0.6</a:t>
              </a:r>
            </a:p>
          </p:txBody>
        </p:sp>
        <p:sp>
          <p:nvSpPr>
            <p:cNvPr id="12306" name="Rectangle 19"/>
            <p:cNvSpPr>
              <a:spLocks noChangeArrowheads="1"/>
            </p:cNvSpPr>
            <p:nvPr/>
          </p:nvSpPr>
          <p:spPr bwMode="auto">
            <a:xfrm>
              <a:off x="3339" y="3496"/>
              <a:ext cx="1029" cy="2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dirty="0">
                  <a:latin typeface="Arial" charset="0"/>
                </a:rPr>
                <a:t>Stock price</a:t>
              </a: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2314279" y="3352800"/>
            <a:ext cx="11909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dirty="0" smtClean="0"/>
              <a:t>Call option price</a:t>
            </a:r>
            <a:endParaRPr lang="en-US" sz="16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Hedge</a:t>
            </a: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>
                <a:latin typeface="Arial" charset="0"/>
                <a:cs typeface="Arial" charset="0"/>
              </a:rPr>
              <a:t>Trader would be hedged with the position:</a:t>
            </a:r>
          </a:p>
          <a:p>
            <a:pPr lvl="1" eaLnBrk="1" hangingPunct="1"/>
            <a:r>
              <a:rPr lang="en-US" altLang="en-US" dirty="0" smtClean="0">
                <a:latin typeface="Arial" charset="0"/>
                <a:cs typeface="Arial" charset="0"/>
              </a:rPr>
              <a:t>short 1000 options</a:t>
            </a:r>
          </a:p>
          <a:p>
            <a:pPr lvl="1" eaLnBrk="1" hangingPunct="1"/>
            <a:r>
              <a:rPr lang="en-US" altLang="en-US" dirty="0" smtClean="0">
                <a:latin typeface="Arial" charset="0"/>
                <a:cs typeface="Arial" charset="0"/>
              </a:rPr>
              <a:t>buy 600 shares</a:t>
            </a:r>
          </a:p>
          <a:p>
            <a:pPr eaLnBrk="1" hangingPunct="1"/>
            <a:r>
              <a:rPr lang="en-US" altLang="en-US" dirty="0" smtClean="0">
                <a:latin typeface="Arial" charset="0"/>
                <a:cs typeface="Arial" charset="0"/>
              </a:rPr>
              <a:t>Gain/loss on the option position is offset by loss/gain on stock position</a:t>
            </a:r>
          </a:p>
          <a:p>
            <a:pPr eaLnBrk="1" hangingPunct="1"/>
            <a:r>
              <a:rPr lang="en-US" altLang="en-US" dirty="0" smtClean="0">
                <a:latin typeface="Arial" charset="0"/>
                <a:cs typeface="Arial" charset="0"/>
              </a:rPr>
              <a:t>Delta changes as stock price changes and time passes</a:t>
            </a:r>
          </a:p>
          <a:p>
            <a:pPr eaLnBrk="1" hangingPunct="1"/>
            <a:r>
              <a:rPr lang="en-US" altLang="en-US" dirty="0" smtClean="0">
                <a:latin typeface="Arial" charset="0"/>
                <a:cs typeface="Arial" charset="0"/>
              </a:rPr>
              <a:t>Hedge position must therefore be rebalanced </a:t>
            </a:r>
          </a:p>
          <a:p>
            <a:pPr eaLnBrk="1" hangingPunct="1">
              <a:buFontTx/>
              <a:buNone/>
            </a:pPr>
            <a:endParaRPr lang="en-US" altLang="en-US" dirty="0" smtClean="0">
              <a:latin typeface="Arial" charset="0"/>
              <a:cs typeface="Arial" charset="0"/>
            </a:endParaRPr>
          </a:p>
        </p:txBody>
      </p:sp>
      <p:sp>
        <p:nvSpPr>
          <p:cNvPr id="13316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3317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DF8B4AFF-3E44-4DD6-B5D3-550B2DE1A35B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8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1219200" y="914400"/>
            <a:ext cx="7239000" cy="990600"/>
          </a:xfrm>
        </p:spPr>
        <p:txBody>
          <a:bodyPr lIns="92075" tIns="46038" rIns="92075" bIns="46038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Delta Hedging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1143000" y="2057400"/>
            <a:ext cx="7315200" cy="3716338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dirty="0" smtClean="0">
                <a:latin typeface="Arial" charset="0"/>
                <a:cs typeface="Arial" charset="0"/>
              </a:rPr>
              <a:t>This involves maintaining a delta neutral portfolio</a:t>
            </a:r>
          </a:p>
          <a:p>
            <a:pPr eaLnBrk="1" hangingPunct="1"/>
            <a:r>
              <a:rPr lang="en-US" altLang="en-US" dirty="0" smtClean="0">
                <a:latin typeface="Arial" charset="0"/>
                <a:cs typeface="Arial" charset="0"/>
              </a:rPr>
              <a:t>The delta of a European call on a non-dividend paying stock is</a:t>
            </a:r>
            <a:r>
              <a:rPr lang="en-US" altLang="en-US" i="1" dirty="0" smtClean="0">
                <a:latin typeface="Arial" charset="0"/>
                <a:cs typeface="Arial" charset="0"/>
              </a:rPr>
              <a:t> </a:t>
            </a:r>
            <a:r>
              <a:rPr lang="en-US" altLang="en-US" i="1" dirty="0" smtClean="0">
                <a:latin typeface="Times New Roman" pitchFamily="18" charset="0"/>
                <a:cs typeface="Arial" charset="0"/>
              </a:rPr>
              <a:t>N </a:t>
            </a:r>
            <a:r>
              <a:rPr lang="en-US" altLang="en-US" dirty="0" smtClean="0">
                <a:latin typeface="Times New Roman" pitchFamily="18" charset="0"/>
                <a:cs typeface="Arial" charset="0"/>
              </a:rPr>
              <a:t>(</a:t>
            </a:r>
            <a:r>
              <a:rPr lang="en-US" altLang="en-US" i="1" dirty="0" smtClean="0">
                <a:latin typeface="Times New Roman" pitchFamily="18" charset="0"/>
                <a:cs typeface="Arial" charset="0"/>
              </a:rPr>
              <a:t>d</a:t>
            </a:r>
            <a:r>
              <a:rPr lang="en-US" altLang="en-US" dirty="0" smtClean="0">
                <a:latin typeface="Times New Roman" pitchFamily="18" charset="0"/>
                <a:cs typeface="Arial" charset="0"/>
              </a:rPr>
              <a:t> </a:t>
            </a:r>
            <a:r>
              <a:rPr lang="en-US" altLang="en-US" baseline="-25000" dirty="0" smtClean="0">
                <a:latin typeface="Times New Roman" pitchFamily="18" charset="0"/>
                <a:cs typeface="Arial" charset="0"/>
              </a:rPr>
              <a:t>1</a:t>
            </a:r>
            <a:r>
              <a:rPr lang="en-US" altLang="en-US" dirty="0" smtClean="0">
                <a:latin typeface="Times New Roman" pitchFamily="18" charset="0"/>
                <a:cs typeface="Arial" charset="0"/>
              </a:rPr>
              <a:t>)</a:t>
            </a:r>
            <a:endParaRPr lang="en-US" altLang="en-US" dirty="0" smtClean="0">
              <a:latin typeface="Arial" charset="0"/>
              <a:cs typeface="Arial" charset="0"/>
            </a:endParaRPr>
          </a:p>
          <a:p>
            <a:pPr eaLnBrk="1" hangingPunct="1"/>
            <a:r>
              <a:rPr lang="en-US" altLang="en-US" dirty="0" smtClean="0">
                <a:latin typeface="Arial" charset="0"/>
                <a:cs typeface="Arial" charset="0"/>
              </a:rPr>
              <a:t>The delta of a European put on the stock is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dirty="0" smtClean="0">
                <a:latin typeface="Arial" charset="0"/>
                <a:cs typeface="Arial" charset="0"/>
              </a:rPr>
              <a:t>			</a:t>
            </a:r>
            <a:r>
              <a:rPr lang="en-US" altLang="en-US" baseline="30000" dirty="0" smtClean="0">
                <a:latin typeface="Times New Roman" pitchFamily="18" charset="0"/>
                <a:cs typeface="Arial" charset="0"/>
              </a:rPr>
              <a:t> </a:t>
            </a:r>
            <a:r>
              <a:rPr lang="en-US" altLang="en-US" i="1" dirty="0" smtClean="0">
                <a:latin typeface="Times New Roman" pitchFamily="18" charset="0"/>
                <a:cs typeface="Arial" charset="0"/>
              </a:rPr>
              <a:t>N</a:t>
            </a:r>
            <a:r>
              <a:rPr lang="en-US" altLang="en-US" dirty="0" smtClean="0">
                <a:latin typeface="Times New Roman" pitchFamily="18" charset="0"/>
                <a:cs typeface="Arial" charset="0"/>
              </a:rPr>
              <a:t> (</a:t>
            </a:r>
            <a:r>
              <a:rPr lang="en-US" altLang="en-US" i="1" dirty="0" smtClean="0">
                <a:latin typeface="Times New Roman" pitchFamily="18" charset="0"/>
                <a:cs typeface="Arial" charset="0"/>
              </a:rPr>
              <a:t>d</a:t>
            </a:r>
            <a:r>
              <a:rPr lang="en-US" altLang="en-US" dirty="0" smtClean="0">
                <a:latin typeface="Times New Roman" pitchFamily="18" charset="0"/>
                <a:cs typeface="Arial" charset="0"/>
              </a:rPr>
              <a:t> </a:t>
            </a:r>
            <a:r>
              <a:rPr lang="en-US" altLang="en-US" baseline="-25000" dirty="0" smtClean="0">
                <a:latin typeface="Times New Roman" pitchFamily="18" charset="0"/>
                <a:cs typeface="Arial" charset="0"/>
              </a:rPr>
              <a:t>1</a:t>
            </a:r>
            <a:r>
              <a:rPr lang="en-US" altLang="en-US" dirty="0" smtClean="0">
                <a:latin typeface="Times New Roman" pitchFamily="18" charset="0"/>
                <a:cs typeface="Arial" charset="0"/>
              </a:rPr>
              <a:t>) – 1</a:t>
            </a:r>
          </a:p>
          <a:p>
            <a:pPr eaLnBrk="1" hangingPunct="1">
              <a:buFont typeface="Wingdings" pitchFamily="2" charset="2"/>
              <a:buNone/>
            </a:pPr>
            <a:endParaRPr lang="en-US" altLang="en-US" dirty="0" smtClean="0">
              <a:latin typeface="Times New Roman" pitchFamily="18" charset="0"/>
              <a:cs typeface="Arial" charset="0"/>
            </a:endParaRPr>
          </a:p>
        </p:txBody>
      </p:sp>
      <p:sp>
        <p:nvSpPr>
          <p:cNvPr id="1434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434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5F8D2F16-D543-478B-AFAA-726ABA2BA986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9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 dirty="0" smtClean="0"/>
              <a:t>Delta of a Stock Option </a:t>
            </a:r>
            <a:r>
              <a:rPr lang="en-CA" altLang="en-US" sz="2400" dirty="0" smtClean="0"/>
              <a:t>(</a:t>
            </a:r>
            <a:r>
              <a:rPr lang="en-CA" altLang="en-US" sz="2400" i="1" dirty="0" smtClean="0"/>
              <a:t>K</a:t>
            </a:r>
            <a:r>
              <a:rPr lang="en-CA" altLang="en-US" sz="2400" dirty="0" smtClean="0"/>
              <a:t>=50, </a:t>
            </a:r>
            <a:r>
              <a:rPr lang="en-CA" altLang="en-US" sz="2400" i="1" dirty="0" smtClean="0"/>
              <a:t>r</a:t>
            </a:r>
            <a:r>
              <a:rPr lang="en-CA" altLang="en-US" sz="2400" dirty="0" smtClean="0"/>
              <a:t>=0, </a:t>
            </a:r>
            <a:r>
              <a:rPr lang="en-CA" altLang="en-US" sz="2400" dirty="0" smtClean="0">
                <a:latin typeface="Symbol" panose="05050102010706020507" pitchFamily="18" charset="2"/>
              </a:rPr>
              <a:t>s </a:t>
            </a:r>
            <a:r>
              <a:rPr lang="en-CA" altLang="en-US" sz="2400" dirty="0" smtClean="0"/>
              <a:t>= 25%, </a:t>
            </a:r>
            <a:r>
              <a:rPr lang="en-CA" altLang="en-US" sz="2400" i="1" dirty="0" smtClean="0"/>
              <a:t>T</a:t>
            </a:r>
            <a:r>
              <a:rPr lang="en-CA" altLang="en-US" sz="2400" dirty="0" smtClean="0"/>
              <a:t>=2, Figure 19.3)</a:t>
            </a:r>
          </a:p>
        </p:txBody>
      </p:sp>
      <p:sp>
        <p:nvSpPr>
          <p:cNvPr id="22531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/>
              <a:t>Options, Futures, and Other Derivatives,  11th Edition, Copyright © John  C. Hull 2021</a:t>
            </a:r>
            <a:endParaRPr lang="en-US" altLang="en-US" sz="1400" i="0" smtClean="0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5F093F76-0902-4CAA-A311-6BE4E7E45A01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en-US" sz="1800"/>
          </a:p>
        </p:txBody>
      </p:sp>
      <p:pic>
        <p:nvPicPr>
          <p:cNvPr id="2253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988" y="2509044"/>
            <a:ext cx="3352800" cy="2628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53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0536" y="2461931"/>
            <a:ext cx="3649662" cy="2506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535" name="TextBox 5"/>
          <p:cNvSpPr txBox="1">
            <a:spLocks noChangeArrowheads="1"/>
          </p:cNvSpPr>
          <p:nvPr/>
        </p:nvSpPr>
        <p:spPr bwMode="auto">
          <a:xfrm>
            <a:off x="1763713" y="5373688"/>
            <a:ext cx="15843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800"/>
              <a:t>Call</a:t>
            </a:r>
          </a:p>
        </p:txBody>
      </p:sp>
      <p:sp>
        <p:nvSpPr>
          <p:cNvPr id="22536" name="TextBox 7"/>
          <p:cNvSpPr txBox="1">
            <a:spLocks noChangeArrowheads="1"/>
          </p:cNvSpPr>
          <p:nvPr/>
        </p:nvSpPr>
        <p:spPr bwMode="auto">
          <a:xfrm>
            <a:off x="5795963" y="5373688"/>
            <a:ext cx="11525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800"/>
              <a:t>Put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>
          <a:xfrm>
            <a:off x="533400" y="1009651"/>
            <a:ext cx="7850188" cy="1295400"/>
          </a:xfrm>
        </p:spPr>
        <p:txBody>
          <a:bodyPr/>
          <a:lstStyle/>
          <a:p>
            <a:r>
              <a:rPr lang="en-CA" altLang="en-US" dirty="0" smtClean="0"/>
              <a:t>Variation of Delta with Time to Maturity</a:t>
            </a:r>
            <a:r>
              <a:rPr lang="en-CA" altLang="en-US" sz="2400" dirty="0" smtClean="0"/>
              <a:t>(</a:t>
            </a:r>
            <a:r>
              <a:rPr lang="en-CA" altLang="en-US" sz="2400" i="1" dirty="0" smtClean="0"/>
              <a:t>S</a:t>
            </a:r>
            <a:r>
              <a:rPr lang="en-CA" altLang="en-US" sz="2400" baseline="-25000" dirty="0" smtClean="0"/>
              <a:t>0</a:t>
            </a:r>
            <a:r>
              <a:rPr lang="en-CA" altLang="en-US" sz="2400" dirty="0" smtClean="0"/>
              <a:t>=50, </a:t>
            </a:r>
            <a:r>
              <a:rPr lang="en-CA" altLang="en-US" sz="2400" i="1" dirty="0" smtClean="0"/>
              <a:t>r</a:t>
            </a:r>
            <a:r>
              <a:rPr lang="en-CA" altLang="en-US" sz="2400" dirty="0" smtClean="0"/>
              <a:t>=0, </a:t>
            </a:r>
            <a:r>
              <a:rPr lang="en-CA" altLang="en-US" sz="2400" dirty="0" smtClean="0">
                <a:latin typeface="Symbol" panose="05050102010706020507" pitchFamily="18" charset="2"/>
              </a:rPr>
              <a:t>s</a:t>
            </a:r>
            <a:r>
              <a:rPr lang="en-CA" altLang="en-US" sz="2400" dirty="0" smtClean="0"/>
              <a:t>=25%, Figure 19.4)</a:t>
            </a:r>
          </a:p>
        </p:txBody>
      </p:sp>
      <p:sp>
        <p:nvSpPr>
          <p:cNvPr id="23555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/>
              <a:t>Options, Futures, and Other Derivatives,  11th Edition, Copyright © John  C. Hull 2021</a:t>
            </a:r>
            <a:endParaRPr lang="en-US" altLang="en-US" sz="1400" i="0" smtClean="0"/>
          </a:p>
        </p:txBody>
      </p:sp>
      <p:sp>
        <p:nvSpPr>
          <p:cNvPr id="2355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D7E29B73-65E6-4A5E-B35D-1DA0799F0190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en-US" sz="1800"/>
          </a:p>
        </p:txBody>
      </p:sp>
      <p:pic>
        <p:nvPicPr>
          <p:cNvPr id="2355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2493963"/>
            <a:ext cx="7272337" cy="3641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The Costs in Delta </a:t>
            </a: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Hedging</a:t>
            </a:r>
            <a:br>
              <a:rPr lang="en-US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continued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990600" y="2438400"/>
            <a:ext cx="7620000" cy="4003675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Delta hedging a written option involves a “buy high, sell low” trading rule</a:t>
            </a:r>
          </a:p>
          <a:p>
            <a:pPr eaLnBrk="1" hangingPunct="1">
              <a:buFont typeface="Wingdings" pitchFamily="2" charset="2"/>
              <a:buNone/>
            </a:pPr>
            <a:endParaRPr lang="en-US" altLang="en-US" smtClean="0">
              <a:latin typeface="Arial" charset="0"/>
              <a:cs typeface="Arial" charset="0"/>
            </a:endParaRPr>
          </a:p>
        </p:txBody>
      </p:sp>
      <p:sp>
        <p:nvSpPr>
          <p:cNvPr id="1536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536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5CCEE2C8-F135-42CF-935E-B08F9148962A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12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>
          <a:xfrm>
            <a:off x="228600" y="685800"/>
            <a:ext cx="7543800" cy="1295400"/>
          </a:xfrm>
        </p:spPr>
        <p:txBody>
          <a:bodyPr/>
          <a:lstStyle/>
          <a:p>
            <a:pPr eaLnBrk="1" hangingPunct="1"/>
            <a:r>
              <a:rPr lang="en-CA" altLang="en-US" dirty="0" smtClean="0"/>
              <a:t>First Scenario for the Example </a:t>
            </a:r>
            <a:r>
              <a:rPr lang="en-CA" altLang="en-US" sz="2400" dirty="0" smtClean="0"/>
              <a:t>(Table 19.2)</a:t>
            </a:r>
            <a:endParaRPr lang="en-US" altLang="en-US" sz="2400" dirty="0" smtClean="0"/>
          </a:p>
        </p:txBody>
      </p:sp>
      <p:sp>
        <p:nvSpPr>
          <p:cNvPr id="16387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638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1B47D2B3-AF02-4ADA-AF21-71B5A3A44822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13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71500" y="2000250"/>
          <a:ext cx="8001001" cy="375126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614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14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31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76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97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430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1443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72319">
                <a:tc>
                  <a:txBody>
                    <a:bodyPr/>
                    <a:lstStyle/>
                    <a:p>
                      <a:r>
                        <a:rPr lang="en-CA" sz="1800" dirty="0" smtClean="0"/>
                        <a:t>Week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r>
                        <a:rPr lang="en-CA" sz="1800" dirty="0" smtClean="0"/>
                        <a:t>Stock price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r>
                        <a:rPr lang="en-CA" sz="1800" dirty="0" smtClean="0"/>
                        <a:t>Delta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r>
                        <a:rPr lang="en-CA" sz="1800" dirty="0" smtClean="0"/>
                        <a:t>Shares purchased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r>
                        <a:rPr lang="en-CA" sz="1800" dirty="0" smtClean="0"/>
                        <a:t>Cost (‘$000)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r>
                        <a:rPr lang="en-CA" sz="1800" dirty="0" smtClean="0"/>
                        <a:t>Cumulative</a:t>
                      </a:r>
                    </a:p>
                    <a:p>
                      <a:r>
                        <a:rPr lang="en-CA" sz="1800" dirty="0" smtClean="0"/>
                        <a:t>Cost ($000)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r>
                        <a:rPr lang="en-CA" sz="1800" dirty="0" smtClean="0"/>
                        <a:t>Interest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0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49.00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0.522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52,200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2,557.8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2,557.8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2.5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1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48.12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0.458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(6,400)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(308.0)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2,252.3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2.2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2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47.37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0.400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(5,800)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(274.7)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1,979.8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1.9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2319"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.......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800" dirty="0" smtClean="0"/>
                        <a:t>.......</a:t>
                      </a:r>
                      <a:endParaRPr lang="en-US" sz="1800" dirty="0" smtClean="0"/>
                    </a:p>
                    <a:p>
                      <a:pPr algn="ctr"/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800" dirty="0" smtClean="0"/>
                        <a:t>.......</a:t>
                      </a:r>
                      <a:endParaRPr lang="en-US" sz="1800" dirty="0" smtClean="0"/>
                    </a:p>
                    <a:p>
                      <a:pPr algn="ctr"/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800" dirty="0" smtClean="0"/>
                        <a:t>.......</a:t>
                      </a:r>
                      <a:endParaRPr lang="en-US" sz="1800" dirty="0" smtClean="0"/>
                    </a:p>
                    <a:p>
                      <a:pPr algn="ctr"/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800" dirty="0" smtClean="0"/>
                        <a:t>.......</a:t>
                      </a:r>
                      <a:endParaRPr lang="en-US" sz="1800" dirty="0" smtClean="0"/>
                    </a:p>
                    <a:p>
                      <a:pPr algn="ctr"/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800" dirty="0" smtClean="0"/>
                        <a:t>.......</a:t>
                      </a:r>
                      <a:endParaRPr lang="en-US" sz="1800" dirty="0" smtClean="0"/>
                    </a:p>
                    <a:p>
                      <a:pPr algn="ctr"/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800" dirty="0" smtClean="0"/>
                        <a:t>.......</a:t>
                      </a:r>
                      <a:endParaRPr lang="en-US" sz="1800" dirty="0" smtClean="0"/>
                    </a:p>
                    <a:p>
                      <a:pPr algn="ctr"/>
                      <a:endParaRPr lang="en-US" sz="1800" dirty="0"/>
                    </a:p>
                  </a:txBody>
                  <a:tcPr marL="91439" marR="91439" marT="45712" marB="45712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19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55.87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1.000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1,000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55.9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5,258.2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5.1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20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57.25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1.000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0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0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5263.3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91439" marR="91439" marT="45712" marB="45712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>
          <a:xfrm>
            <a:off x="246063" y="930275"/>
            <a:ext cx="8440737" cy="1143000"/>
          </a:xfrm>
        </p:spPr>
        <p:txBody>
          <a:bodyPr/>
          <a:lstStyle/>
          <a:p>
            <a:pPr eaLnBrk="1" hangingPunct="1"/>
            <a:r>
              <a:rPr lang="en-CA" altLang="en-US" dirty="0" smtClean="0"/>
              <a:t>Second Scenario for the Example </a:t>
            </a:r>
            <a:r>
              <a:rPr lang="en-CA" altLang="en-US" sz="2400" dirty="0" smtClean="0"/>
              <a:t>(Table 19.3)</a:t>
            </a:r>
            <a:endParaRPr lang="en-US" altLang="en-US" dirty="0" smtClean="0"/>
          </a:p>
        </p:txBody>
      </p:sp>
      <p:sp>
        <p:nvSpPr>
          <p:cNvPr id="17411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741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EF1F461C-B36F-4834-A81A-FFB6E38ECB2A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14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33400" y="2362200"/>
          <a:ext cx="8001001" cy="375126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614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14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31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76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97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430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1443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72319">
                <a:tc>
                  <a:txBody>
                    <a:bodyPr/>
                    <a:lstStyle/>
                    <a:p>
                      <a:r>
                        <a:rPr lang="en-CA" sz="1800" dirty="0" smtClean="0"/>
                        <a:t>Week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r>
                        <a:rPr lang="en-CA" sz="1800" dirty="0" smtClean="0"/>
                        <a:t>Stock price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r>
                        <a:rPr lang="en-CA" sz="1800" dirty="0" smtClean="0"/>
                        <a:t>Delta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r>
                        <a:rPr lang="en-CA" sz="1800" dirty="0" smtClean="0"/>
                        <a:t>Shares purchased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r>
                        <a:rPr lang="en-CA" sz="1800" dirty="0" smtClean="0"/>
                        <a:t>Cost (‘$000)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r>
                        <a:rPr lang="en-CA" sz="1800" dirty="0" smtClean="0"/>
                        <a:t>Cumulative</a:t>
                      </a:r>
                    </a:p>
                    <a:p>
                      <a:r>
                        <a:rPr lang="en-CA" sz="1800" dirty="0" smtClean="0"/>
                        <a:t>Cost ($000)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r>
                        <a:rPr lang="en-CA" sz="1800" dirty="0" smtClean="0"/>
                        <a:t>Interest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0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49.00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0.522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52,200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2,557.8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2,557.8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2.5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1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49.75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0.568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  4,600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228.9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2,789.2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2.7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2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52.00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0.705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13,700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712.4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3,504.3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3.4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2319"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.......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800" dirty="0" smtClean="0"/>
                        <a:t>.......</a:t>
                      </a:r>
                      <a:endParaRPr lang="en-US" sz="1800" dirty="0" smtClean="0"/>
                    </a:p>
                    <a:p>
                      <a:pPr algn="ctr"/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800" dirty="0" smtClean="0"/>
                        <a:t>.......</a:t>
                      </a:r>
                      <a:endParaRPr lang="en-US" sz="1800" dirty="0" smtClean="0"/>
                    </a:p>
                    <a:p>
                      <a:pPr algn="ctr"/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800" dirty="0" smtClean="0"/>
                        <a:t>.......</a:t>
                      </a:r>
                      <a:endParaRPr lang="en-US" sz="1800" dirty="0" smtClean="0"/>
                    </a:p>
                    <a:p>
                      <a:pPr algn="ctr"/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800" dirty="0" smtClean="0"/>
                        <a:t>.......</a:t>
                      </a:r>
                      <a:endParaRPr lang="en-US" sz="1800" dirty="0" smtClean="0"/>
                    </a:p>
                    <a:p>
                      <a:pPr algn="ctr"/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800" dirty="0" smtClean="0"/>
                        <a:t>.......</a:t>
                      </a:r>
                      <a:endParaRPr lang="en-US" sz="1800" dirty="0" smtClean="0"/>
                    </a:p>
                    <a:p>
                      <a:pPr algn="ctr"/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800" dirty="0" smtClean="0"/>
                        <a:t>.......</a:t>
                      </a:r>
                      <a:endParaRPr lang="en-US" sz="1800" dirty="0" smtClean="0"/>
                    </a:p>
                    <a:p>
                      <a:pPr algn="ctr"/>
                      <a:endParaRPr lang="en-US" sz="1800" dirty="0"/>
                    </a:p>
                  </a:txBody>
                  <a:tcPr marL="91439" marR="91439" marT="45712" marB="45712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19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46.63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0.007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(17,600)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(820.7)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290.0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0.3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20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48.12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0.000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(700)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(33.7)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256.6</a:t>
                      </a:r>
                      <a:endParaRPr lang="en-US" sz="1800" dirty="0"/>
                    </a:p>
                  </a:txBody>
                  <a:tcPr marL="91439" marR="91439" marT="45712" marB="45712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91439" marR="91439" marT="45712" marB="45712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685800"/>
            <a:ext cx="7391400" cy="923925"/>
          </a:xfrm>
        </p:spPr>
        <p:txBody>
          <a:bodyPr lIns="92075" tIns="46038" rIns="92075" bIns="46038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Theta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1219200" y="1800225"/>
            <a:ext cx="7467600" cy="3914775"/>
          </a:xfrm>
        </p:spPr>
        <p:txBody>
          <a:bodyPr lIns="92075" tIns="46038" rIns="92075" bIns="46038"/>
          <a:lstStyle/>
          <a:p>
            <a:pPr marL="365125" indent="-282575" eaLnBrk="1" hangingPunct="1">
              <a:buFont typeface="Wingdings 2" pitchFamily="18" charset="2"/>
              <a:buChar char=""/>
            </a:pPr>
            <a:r>
              <a:rPr lang="en-US" altLang="en-US" smtClean="0">
                <a:latin typeface="Arial" charset="0"/>
                <a:cs typeface="Arial" charset="0"/>
              </a:rPr>
              <a:t>Theta (</a:t>
            </a:r>
            <a:r>
              <a:rPr lang="en-US" altLang="en-US" smtClean="0">
                <a:latin typeface="Symbol" pitchFamily="18" charset="2"/>
                <a:cs typeface="Arial" charset="0"/>
              </a:rPr>
              <a:t>Q</a:t>
            </a:r>
            <a:r>
              <a:rPr lang="en-US" altLang="en-US" smtClean="0">
                <a:latin typeface="Arial" charset="0"/>
                <a:cs typeface="Arial" charset="0"/>
              </a:rPr>
              <a:t>) of a derivative  (or portfolio of derivatives) is the rate of change of the value with respect to the passage of time</a:t>
            </a:r>
          </a:p>
          <a:p>
            <a:pPr marL="365125" indent="-282575" eaLnBrk="1" hangingPunct="1">
              <a:buFont typeface="Wingdings 2" pitchFamily="18" charset="2"/>
              <a:buChar char=""/>
            </a:pPr>
            <a:r>
              <a:rPr lang="en-US" altLang="en-US" smtClean="0">
                <a:latin typeface="Arial" charset="0"/>
                <a:cs typeface="Arial" charset="0"/>
              </a:rPr>
              <a:t>The theta of a call or put  is usually negative. This means that, if time passes with the price of the underlying asset and its volatility remaining the same, the value of a long call or put option declines</a:t>
            </a:r>
          </a:p>
          <a:p>
            <a:pPr marL="365125" indent="-282575" eaLnBrk="1" hangingPunct="1">
              <a:buFont typeface="Wingdings 2" pitchFamily="18" charset="2"/>
              <a:buChar char=""/>
            </a:pPr>
            <a:endParaRPr lang="en-US" altLang="en-US" smtClean="0">
              <a:latin typeface="Arial" charset="0"/>
              <a:cs typeface="Arial" charset="0"/>
            </a:endParaRPr>
          </a:p>
        </p:txBody>
      </p:sp>
      <p:sp>
        <p:nvSpPr>
          <p:cNvPr id="1843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843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23041B5C-DC23-4492-A86C-20DC237F80D5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15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 dirty="0" smtClean="0"/>
              <a:t>Theta for Call Option </a:t>
            </a:r>
            <a:r>
              <a:rPr lang="en-CA" altLang="en-US" sz="2400" dirty="0" smtClean="0"/>
              <a:t>(</a:t>
            </a:r>
            <a:r>
              <a:rPr lang="en-CA" altLang="en-US" sz="2400" i="1" dirty="0" smtClean="0"/>
              <a:t>K</a:t>
            </a:r>
            <a:r>
              <a:rPr lang="en-CA" altLang="en-US" sz="2400" dirty="0" smtClean="0"/>
              <a:t>=50,  </a:t>
            </a:r>
            <a:r>
              <a:rPr lang="en-CA" altLang="en-US" sz="2400" dirty="0" smtClean="0">
                <a:latin typeface="Symbol" panose="05050102010706020507" pitchFamily="18" charset="2"/>
              </a:rPr>
              <a:t>s </a:t>
            </a:r>
            <a:r>
              <a:rPr lang="en-CA" altLang="en-US" sz="2400" dirty="0" smtClean="0"/>
              <a:t>= 25%,     </a:t>
            </a:r>
            <a:r>
              <a:rPr lang="en-CA" altLang="en-US" sz="2400" i="1" dirty="0" smtClean="0"/>
              <a:t>r </a:t>
            </a:r>
            <a:r>
              <a:rPr lang="en-CA" altLang="en-US" sz="2400" dirty="0" smtClean="0"/>
              <a:t>= 0, </a:t>
            </a:r>
            <a:r>
              <a:rPr lang="en-CA" altLang="en-US" sz="2400" i="1" dirty="0" smtClean="0"/>
              <a:t>T </a:t>
            </a:r>
            <a:r>
              <a:rPr lang="en-CA" altLang="en-US" sz="2400" dirty="0" smtClean="0"/>
              <a:t>= 2, Figure 19.5)</a:t>
            </a:r>
            <a:endParaRPr lang="en-US" altLang="en-US" sz="2400" dirty="0" smtClean="0"/>
          </a:p>
        </p:txBody>
      </p:sp>
      <p:sp>
        <p:nvSpPr>
          <p:cNvPr id="28675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/>
              <a:t>Options, Futures, and Other Derivatives,  11th Edition, Copyright © John  C. Hull 2021</a:t>
            </a:r>
            <a:endParaRPr lang="en-US" altLang="en-US" sz="1400" i="0" smtClean="0"/>
          </a:p>
        </p:txBody>
      </p:sp>
      <p:sp>
        <p:nvSpPr>
          <p:cNvPr id="2867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9F19D0CC-CD8C-497E-95E2-4D50EAF063B3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en-US" sz="1800"/>
          </a:p>
        </p:txBody>
      </p:sp>
      <p:graphicFrame>
        <p:nvGraphicFramePr>
          <p:cNvPr id="6" name="Chart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70735563"/>
              </p:ext>
            </p:extLst>
          </p:nvPr>
        </p:nvGraphicFramePr>
        <p:xfrm>
          <a:off x="2128684" y="243840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>
          <a:xfrm>
            <a:off x="301727" y="914400"/>
            <a:ext cx="7993062" cy="1295400"/>
          </a:xfrm>
        </p:spPr>
        <p:txBody>
          <a:bodyPr/>
          <a:lstStyle/>
          <a:p>
            <a:r>
              <a:rPr lang="en-CA" altLang="en-US" dirty="0" smtClean="0"/>
              <a:t>Variation of Theta with Time to Maturity </a:t>
            </a:r>
            <a:r>
              <a:rPr lang="en-CA" altLang="en-US" sz="2400" dirty="0" smtClean="0"/>
              <a:t>(</a:t>
            </a:r>
            <a:r>
              <a:rPr lang="en-CA" altLang="en-US" sz="2400" i="1" dirty="0" smtClean="0"/>
              <a:t>S</a:t>
            </a:r>
            <a:r>
              <a:rPr lang="en-CA" altLang="en-US" sz="2400" baseline="-25000" dirty="0" smtClean="0"/>
              <a:t>0</a:t>
            </a:r>
            <a:r>
              <a:rPr lang="en-CA" altLang="en-US" sz="2400" dirty="0" smtClean="0"/>
              <a:t>=50, </a:t>
            </a:r>
            <a:r>
              <a:rPr lang="en-CA" altLang="en-US" sz="2400" i="1" dirty="0" smtClean="0"/>
              <a:t>r</a:t>
            </a:r>
            <a:r>
              <a:rPr lang="en-CA" altLang="en-US" sz="2400" dirty="0" smtClean="0"/>
              <a:t>=0, </a:t>
            </a:r>
            <a:r>
              <a:rPr lang="en-CA" altLang="en-US" sz="2400" dirty="0" smtClean="0">
                <a:latin typeface="Symbol" panose="05050102010706020507" pitchFamily="18" charset="2"/>
              </a:rPr>
              <a:t>s</a:t>
            </a:r>
            <a:r>
              <a:rPr lang="en-CA" altLang="en-US" sz="2400" dirty="0" smtClean="0"/>
              <a:t>=25%, Figure 19.6)</a:t>
            </a:r>
          </a:p>
        </p:txBody>
      </p:sp>
      <p:sp>
        <p:nvSpPr>
          <p:cNvPr id="29699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/>
              <a:t>Options, Futures, and Other Derivatives,  11th Edition, Copyright © John  C. Hull 2021</a:t>
            </a:r>
            <a:endParaRPr lang="en-US" altLang="en-US" sz="1400" i="0" smtClean="0"/>
          </a:p>
        </p:txBody>
      </p:sp>
      <p:sp>
        <p:nvSpPr>
          <p:cNvPr id="2970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C3794A6C-72C0-4485-86FE-9EE6360A6700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en-US" sz="1800"/>
          </a:p>
        </p:txBody>
      </p:sp>
      <p:pic>
        <p:nvPicPr>
          <p:cNvPr id="2970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2458134"/>
            <a:ext cx="7620000" cy="36820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1295400" y="1066800"/>
            <a:ext cx="7162800" cy="762000"/>
          </a:xfrm>
        </p:spPr>
        <p:txBody>
          <a:bodyPr lIns="92075" tIns="46038" rIns="92075" bIns="46038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Gamma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1143000" y="2362200"/>
            <a:ext cx="7315200" cy="3352800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dirty="0" smtClean="0">
                <a:latin typeface="Arial" charset="0"/>
                <a:cs typeface="Arial" charset="0"/>
              </a:rPr>
              <a:t>Gamma (</a:t>
            </a:r>
            <a:r>
              <a:rPr lang="en-US" altLang="en-US" dirty="0" smtClean="0">
                <a:latin typeface="Symbol" pitchFamily="18" charset="2"/>
                <a:cs typeface="Arial" charset="0"/>
              </a:rPr>
              <a:t>G</a:t>
            </a:r>
            <a:r>
              <a:rPr lang="en-US" altLang="en-US" dirty="0" smtClean="0">
                <a:latin typeface="Arial" charset="0"/>
                <a:cs typeface="Arial" charset="0"/>
              </a:rPr>
              <a:t>) is the rate of change of delta (</a:t>
            </a:r>
            <a:r>
              <a:rPr lang="en-US" altLang="en-US" dirty="0" smtClean="0">
                <a:latin typeface="Symbol" pitchFamily="18" charset="2"/>
                <a:cs typeface="Arial" charset="0"/>
              </a:rPr>
              <a:t>D</a:t>
            </a:r>
            <a:r>
              <a:rPr lang="en-US" altLang="en-US" dirty="0" smtClean="0">
                <a:latin typeface="Arial" charset="0"/>
                <a:cs typeface="Arial" charset="0"/>
              </a:rPr>
              <a:t>) with respect to the price of the underlying asset</a:t>
            </a:r>
          </a:p>
          <a:p>
            <a:pPr eaLnBrk="1" hangingPunct="1"/>
            <a:r>
              <a:rPr lang="en-US" altLang="en-US" dirty="0" smtClean="0">
                <a:latin typeface="Arial" charset="0"/>
                <a:cs typeface="Arial" charset="0"/>
              </a:rPr>
              <a:t>Gamma is greatest for options that are close to the money</a:t>
            </a:r>
          </a:p>
        </p:txBody>
      </p:sp>
      <p:sp>
        <p:nvSpPr>
          <p:cNvPr id="2048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2048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FAB04C34-DFC0-4091-9BD3-4C5A3C128A54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18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990600"/>
            <a:ext cx="7391400" cy="1676400"/>
          </a:xfrm>
        </p:spPr>
        <p:txBody>
          <a:bodyPr lIns="92075" tIns="46038" rIns="92075" bIns="46038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500" dirty="0">
                <a:solidFill>
                  <a:schemeClr val="tx2">
                    <a:satMod val="130000"/>
                  </a:schemeClr>
                </a:solidFill>
              </a:rPr>
              <a:t>Gamma Addresses Delta Hedging Errors Caused By Curvature </a:t>
            </a:r>
            <a:r>
              <a:rPr lang="en-US" sz="2200" dirty="0" smtClean="0">
                <a:solidFill>
                  <a:schemeClr val="tx2">
                    <a:satMod val="130000"/>
                  </a:schemeClr>
                </a:solidFill>
              </a:rPr>
              <a:t>(</a:t>
            </a:r>
            <a:r>
              <a:rPr lang="en-US" sz="2200" dirty="0">
                <a:solidFill>
                  <a:schemeClr val="tx2">
                    <a:satMod val="130000"/>
                  </a:schemeClr>
                </a:solidFill>
              </a:rPr>
              <a:t>Figure </a:t>
            </a:r>
            <a:r>
              <a:rPr lang="en-US" sz="2200" dirty="0" smtClean="0">
                <a:solidFill>
                  <a:schemeClr val="tx2">
                    <a:satMod val="130000"/>
                  </a:schemeClr>
                </a:solidFill>
              </a:rPr>
              <a:t>19.7)</a:t>
            </a:r>
            <a:r>
              <a:rPr lang="en-US" sz="3500" dirty="0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en-US" sz="3500" dirty="0">
                <a:solidFill>
                  <a:schemeClr val="tx2">
                    <a:satMod val="130000"/>
                  </a:schemeClr>
                </a:solidFill>
              </a:rPr>
            </a:br>
            <a:endParaRPr lang="en-US" sz="3500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sz="half" idx="1"/>
          </p:nvPr>
        </p:nvSpPr>
        <p:spPr>
          <a:noFill/>
        </p:spPr>
        <p:txBody>
          <a:bodyPr lIns="92075" tIns="46038" rIns="92075" bIns="46038"/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sz="2000" smtClean="0"/>
              <a:t> </a:t>
            </a:r>
          </a:p>
        </p:txBody>
      </p:sp>
      <p:sp>
        <p:nvSpPr>
          <p:cNvPr id="22532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09600" y="6248400"/>
            <a:ext cx="66294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22533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12C31BF1-CCAD-4E3C-9E8F-5B976025D1FD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19</a:t>
            </a:fld>
            <a:endParaRPr lang="en-US" altLang="en-US" sz="1400" smtClean="0">
              <a:latin typeface="Arial" charset="0"/>
            </a:endParaRPr>
          </a:p>
        </p:txBody>
      </p:sp>
      <p:sp>
        <p:nvSpPr>
          <p:cNvPr id="22534" name="Line 4"/>
          <p:cNvSpPr>
            <a:spLocks noChangeShapeType="1"/>
          </p:cNvSpPr>
          <p:nvPr/>
        </p:nvSpPr>
        <p:spPr bwMode="auto">
          <a:xfrm>
            <a:off x="2295525" y="2093913"/>
            <a:ext cx="0" cy="34750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35" name="Line 5"/>
          <p:cNvSpPr>
            <a:spLocks noChangeShapeType="1"/>
          </p:cNvSpPr>
          <p:nvPr/>
        </p:nvSpPr>
        <p:spPr bwMode="auto">
          <a:xfrm>
            <a:off x="2295525" y="5568950"/>
            <a:ext cx="52276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2536" name="Group 11"/>
          <p:cNvGrpSpPr>
            <a:grpSpLocks/>
          </p:cNvGrpSpPr>
          <p:nvPr/>
        </p:nvGrpSpPr>
        <p:grpSpPr bwMode="auto">
          <a:xfrm>
            <a:off x="2295525" y="2889250"/>
            <a:ext cx="4021138" cy="2671763"/>
            <a:chOff x="1446" y="1820"/>
            <a:chExt cx="2533" cy="1683"/>
          </a:xfrm>
        </p:grpSpPr>
        <p:sp>
          <p:nvSpPr>
            <p:cNvPr id="22550" name="Freeform 6"/>
            <p:cNvSpPr>
              <a:spLocks/>
            </p:cNvSpPr>
            <p:nvPr/>
          </p:nvSpPr>
          <p:spPr bwMode="auto">
            <a:xfrm>
              <a:off x="1446" y="3458"/>
              <a:ext cx="461" cy="45"/>
            </a:xfrm>
            <a:custGeom>
              <a:avLst/>
              <a:gdLst>
                <a:gd name="T0" fmla="*/ 0 w 461"/>
                <a:gd name="T1" fmla="*/ 44 h 45"/>
                <a:gd name="T2" fmla="*/ 6 w 461"/>
                <a:gd name="T3" fmla="*/ 41 h 45"/>
                <a:gd name="T4" fmla="*/ 17 w 461"/>
                <a:gd name="T5" fmla="*/ 41 h 45"/>
                <a:gd name="T6" fmla="*/ 24 w 461"/>
                <a:gd name="T7" fmla="*/ 39 h 45"/>
                <a:gd name="T8" fmla="*/ 35 w 461"/>
                <a:gd name="T9" fmla="*/ 41 h 45"/>
                <a:gd name="T10" fmla="*/ 42 w 461"/>
                <a:gd name="T11" fmla="*/ 39 h 45"/>
                <a:gd name="T12" fmla="*/ 143 w 461"/>
                <a:gd name="T13" fmla="*/ 41 h 45"/>
                <a:gd name="T14" fmla="*/ 244 w 461"/>
                <a:gd name="T15" fmla="*/ 39 h 45"/>
                <a:gd name="T16" fmla="*/ 368 w 461"/>
                <a:gd name="T17" fmla="*/ 25 h 45"/>
                <a:gd name="T18" fmla="*/ 415 w 461"/>
                <a:gd name="T19" fmla="*/ 10 h 45"/>
                <a:gd name="T20" fmla="*/ 460 w 461"/>
                <a:gd name="T21" fmla="*/ 0 h 4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461"/>
                <a:gd name="T34" fmla="*/ 0 h 45"/>
                <a:gd name="T35" fmla="*/ 461 w 461"/>
                <a:gd name="T36" fmla="*/ 45 h 45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461" h="45">
                  <a:moveTo>
                    <a:pt x="0" y="44"/>
                  </a:moveTo>
                  <a:lnTo>
                    <a:pt x="6" y="41"/>
                  </a:lnTo>
                  <a:lnTo>
                    <a:pt x="17" y="41"/>
                  </a:lnTo>
                  <a:lnTo>
                    <a:pt x="24" y="39"/>
                  </a:lnTo>
                  <a:lnTo>
                    <a:pt x="35" y="41"/>
                  </a:lnTo>
                  <a:lnTo>
                    <a:pt x="42" y="39"/>
                  </a:lnTo>
                  <a:lnTo>
                    <a:pt x="143" y="41"/>
                  </a:lnTo>
                  <a:lnTo>
                    <a:pt x="244" y="39"/>
                  </a:lnTo>
                  <a:lnTo>
                    <a:pt x="368" y="25"/>
                  </a:lnTo>
                  <a:lnTo>
                    <a:pt x="415" y="10"/>
                  </a:lnTo>
                  <a:lnTo>
                    <a:pt x="460" y="0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51" name="Freeform 7"/>
            <p:cNvSpPr>
              <a:spLocks/>
            </p:cNvSpPr>
            <p:nvPr/>
          </p:nvSpPr>
          <p:spPr bwMode="auto">
            <a:xfrm>
              <a:off x="1914" y="3203"/>
              <a:ext cx="685" cy="252"/>
            </a:xfrm>
            <a:custGeom>
              <a:avLst/>
              <a:gdLst>
                <a:gd name="T0" fmla="*/ 0 w 685"/>
                <a:gd name="T1" fmla="*/ 251 h 252"/>
                <a:gd name="T2" fmla="*/ 204 w 685"/>
                <a:gd name="T3" fmla="*/ 202 h 252"/>
                <a:gd name="T4" fmla="*/ 469 w 685"/>
                <a:gd name="T5" fmla="*/ 98 h 252"/>
                <a:gd name="T6" fmla="*/ 684 w 685"/>
                <a:gd name="T7" fmla="*/ 0 h 25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85"/>
                <a:gd name="T13" fmla="*/ 0 h 252"/>
                <a:gd name="T14" fmla="*/ 685 w 685"/>
                <a:gd name="T15" fmla="*/ 252 h 25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85" h="252">
                  <a:moveTo>
                    <a:pt x="0" y="251"/>
                  </a:moveTo>
                  <a:lnTo>
                    <a:pt x="204" y="202"/>
                  </a:lnTo>
                  <a:lnTo>
                    <a:pt x="469" y="98"/>
                  </a:lnTo>
                  <a:lnTo>
                    <a:pt x="684" y="0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52" name="Freeform 8"/>
            <p:cNvSpPr>
              <a:spLocks/>
            </p:cNvSpPr>
            <p:nvPr/>
          </p:nvSpPr>
          <p:spPr bwMode="auto">
            <a:xfrm>
              <a:off x="2598" y="2759"/>
              <a:ext cx="640" cy="445"/>
            </a:xfrm>
            <a:custGeom>
              <a:avLst/>
              <a:gdLst>
                <a:gd name="T0" fmla="*/ 0 w 640"/>
                <a:gd name="T1" fmla="*/ 444 h 445"/>
                <a:gd name="T2" fmla="*/ 220 w 640"/>
                <a:gd name="T3" fmla="*/ 316 h 445"/>
                <a:gd name="T4" fmla="*/ 381 w 640"/>
                <a:gd name="T5" fmla="*/ 206 h 445"/>
                <a:gd name="T6" fmla="*/ 639 w 640"/>
                <a:gd name="T7" fmla="*/ 0 h 44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40"/>
                <a:gd name="T13" fmla="*/ 0 h 445"/>
                <a:gd name="T14" fmla="*/ 640 w 640"/>
                <a:gd name="T15" fmla="*/ 445 h 44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40" h="445">
                  <a:moveTo>
                    <a:pt x="0" y="444"/>
                  </a:moveTo>
                  <a:lnTo>
                    <a:pt x="220" y="316"/>
                  </a:lnTo>
                  <a:lnTo>
                    <a:pt x="381" y="206"/>
                  </a:lnTo>
                  <a:lnTo>
                    <a:pt x="639" y="0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53" name="Freeform 9"/>
            <p:cNvSpPr>
              <a:spLocks/>
            </p:cNvSpPr>
            <p:nvPr/>
          </p:nvSpPr>
          <p:spPr bwMode="auto">
            <a:xfrm>
              <a:off x="3237" y="2162"/>
              <a:ext cx="539" cy="598"/>
            </a:xfrm>
            <a:custGeom>
              <a:avLst/>
              <a:gdLst>
                <a:gd name="T0" fmla="*/ 0 w 539"/>
                <a:gd name="T1" fmla="*/ 597 h 598"/>
                <a:gd name="T2" fmla="*/ 210 w 539"/>
                <a:gd name="T3" fmla="*/ 401 h 598"/>
                <a:gd name="T4" fmla="*/ 333 w 539"/>
                <a:gd name="T5" fmla="*/ 268 h 598"/>
                <a:gd name="T6" fmla="*/ 467 w 539"/>
                <a:gd name="T7" fmla="*/ 103 h 598"/>
                <a:gd name="T8" fmla="*/ 538 w 539"/>
                <a:gd name="T9" fmla="*/ 0 h 59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39"/>
                <a:gd name="T16" fmla="*/ 0 h 598"/>
                <a:gd name="T17" fmla="*/ 539 w 539"/>
                <a:gd name="T18" fmla="*/ 598 h 59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39" h="598">
                  <a:moveTo>
                    <a:pt x="0" y="597"/>
                  </a:moveTo>
                  <a:lnTo>
                    <a:pt x="210" y="401"/>
                  </a:lnTo>
                  <a:lnTo>
                    <a:pt x="333" y="268"/>
                  </a:lnTo>
                  <a:lnTo>
                    <a:pt x="467" y="103"/>
                  </a:lnTo>
                  <a:lnTo>
                    <a:pt x="538" y="0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54" name="Freeform 10"/>
            <p:cNvSpPr>
              <a:spLocks/>
            </p:cNvSpPr>
            <p:nvPr/>
          </p:nvSpPr>
          <p:spPr bwMode="auto">
            <a:xfrm>
              <a:off x="3775" y="1820"/>
              <a:ext cx="204" cy="343"/>
            </a:xfrm>
            <a:custGeom>
              <a:avLst/>
              <a:gdLst>
                <a:gd name="T0" fmla="*/ 0 w 204"/>
                <a:gd name="T1" fmla="*/ 342 h 343"/>
                <a:gd name="T2" fmla="*/ 54 w 204"/>
                <a:gd name="T3" fmla="*/ 269 h 343"/>
                <a:gd name="T4" fmla="*/ 107 w 204"/>
                <a:gd name="T5" fmla="*/ 183 h 343"/>
                <a:gd name="T6" fmla="*/ 161 w 204"/>
                <a:gd name="T7" fmla="*/ 85 h 343"/>
                <a:gd name="T8" fmla="*/ 203 w 204"/>
                <a:gd name="T9" fmla="*/ 0 h 34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4"/>
                <a:gd name="T16" fmla="*/ 0 h 343"/>
                <a:gd name="T17" fmla="*/ 204 w 204"/>
                <a:gd name="T18" fmla="*/ 343 h 34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4" h="343">
                  <a:moveTo>
                    <a:pt x="0" y="342"/>
                  </a:moveTo>
                  <a:lnTo>
                    <a:pt x="54" y="269"/>
                  </a:lnTo>
                  <a:lnTo>
                    <a:pt x="107" y="183"/>
                  </a:lnTo>
                  <a:lnTo>
                    <a:pt x="161" y="85"/>
                  </a:lnTo>
                  <a:lnTo>
                    <a:pt x="203" y="0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2537" name="Freeform 12"/>
          <p:cNvSpPr>
            <a:spLocks/>
          </p:cNvSpPr>
          <p:nvPr/>
        </p:nvSpPr>
        <p:spPr bwMode="auto">
          <a:xfrm>
            <a:off x="3400425" y="4054475"/>
            <a:ext cx="2478088" cy="1504950"/>
          </a:xfrm>
          <a:custGeom>
            <a:avLst/>
            <a:gdLst>
              <a:gd name="T0" fmla="*/ 0 w 1561"/>
              <a:gd name="T1" fmla="*/ 2147483647 h 948"/>
              <a:gd name="T2" fmla="*/ 2147483647 w 1561"/>
              <a:gd name="T3" fmla="*/ 0 h 948"/>
              <a:gd name="T4" fmla="*/ 0 60000 65536"/>
              <a:gd name="T5" fmla="*/ 0 60000 65536"/>
              <a:gd name="T6" fmla="*/ 0 w 1561"/>
              <a:gd name="T7" fmla="*/ 0 h 948"/>
              <a:gd name="T8" fmla="*/ 1561 w 1561"/>
              <a:gd name="T9" fmla="*/ 948 h 948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561" h="948">
                <a:moveTo>
                  <a:pt x="0" y="947"/>
                </a:moveTo>
                <a:lnTo>
                  <a:pt x="1560" y="0"/>
                </a:lnTo>
              </a:path>
            </a:pathLst>
          </a:custGeom>
          <a:noFill/>
          <a:ln w="25400" cap="rnd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38" name="Line 13"/>
          <p:cNvSpPr>
            <a:spLocks noChangeShapeType="1"/>
          </p:cNvSpPr>
          <p:nvPr/>
        </p:nvSpPr>
        <p:spPr bwMode="auto">
          <a:xfrm>
            <a:off x="4429125" y="4918075"/>
            <a:ext cx="0" cy="650875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39" name="Line 14"/>
          <p:cNvSpPr>
            <a:spLocks noChangeShapeType="1"/>
          </p:cNvSpPr>
          <p:nvPr/>
        </p:nvSpPr>
        <p:spPr bwMode="auto">
          <a:xfrm flipH="1">
            <a:off x="2268538" y="4941888"/>
            <a:ext cx="21336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40" name="Rectangle 15"/>
          <p:cNvSpPr>
            <a:spLocks noChangeArrowheads="1"/>
          </p:cNvSpPr>
          <p:nvPr/>
        </p:nvSpPr>
        <p:spPr bwMode="auto">
          <a:xfrm>
            <a:off x="4184650" y="5580063"/>
            <a:ext cx="3825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i="1">
                <a:latin typeface="Times New Roman" pitchFamily="18" charset="0"/>
              </a:rPr>
              <a:t>S</a:t>
            </a:r>
          </a:p>
        </p:txBody>
      </p:sp>
      <p:sp>
        <p:nvSpPr>
          <p:cNvPr id="22541" name="Rectangle 16"/>
          <p:cNvSpPr>
            <a:spLocks noChangeArrowheads="1"/>
          </p:cNvSpPr>
          <p:nvPr/>
        </p:nvSpPr>
        <p:spPr bwMode="auto">
          <a:xfrm>
            <a:off x="1692275" y="4724400"/>
            <a:ext cx="7191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i="1">
                <a:latin typeface="Times New Roman" pitchFamily="18" charset="0"/>
              </a:rPr>
              <a:t>C</a:t>
            </a:r>
          </a:p>
        </p:txBody>
      </p:sp>
      <p:sp>
        <p:nvSpPr>
          <p:cNvPr id="22542" name="Rectangle 17"/>
          <p:cNvSpPr>
            <a:spLocks noChangeArrowheads="1"/>
          </p:cNvSpPr>
          <p:nvPr/>
        </p:nvSpPr>
        <p:spPr bwMode="auto">
          <a:xfrm>
            <a:off x="6143625" y="5105400"/>
            <a:ext cx="20240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Arial" charset="0"/>
              </a:rPr>
              <a:t>Stock price</a:t>
            </a:r>
          </a:p>
        </p:txBody>
      </p:sp>
      <p:sp>
        <p:nvSpPr>
          <p:cNvPr id="22543" name="Rectangle 18"/>
          <p:cNvSpPr>
            <a:spLocks noChangeArrowheads="1"/>
          </p:cNvSpPr>
          <p:nvPr/>
        </p:nvSpPr>
        <p:spPr bwMode="auto">
          <a:xfrm>
            <a:off x="5376863" y="5580063"/>
            <a:ext cx="5000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i="1">
                <a:latin typeface="Times New Roman" pitchFamily="18" charset="0"/>
              </a:rPr>
              <a:t>S</a:t>
            </a:r>
            <a:r>
              <a:rPr lang="en-US" altLang="en-US" sz="2800">
                <a:latin typeface="Arial" charset="0"/>
              </a:rPr>
              <a:t>'</a:t>
            </a:r>
          </a:p>
        </p:txBody>
      </p:sp>
      <p:sp>
        <p:nvSpPr>
          <p:cNvPr id="22544" name="Line 19"/>
          <p:cNvSpPr>
            <a:spLocks noChangeShapeType="1"/>
          </p:cNvSpPr>
          <p:nvPr/>
        </p:nvSpPr>
        <p:spPr bwMode="auto">
          <a:xfrm flipV="1">
            <a:off x="5567363" y="3968750"/>
            <a:ext cx="0" cy="1603375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45" name="Line 20"/>
          <p:cNvSpPr>
            <a:spLocks noChangeShapeType="1"/>
          </p:cNvSpPr>
          <p:nvPr/>
        </p:nvSpPr>
        <p:spPr bwMode="auto">
          <a:xfrm flipH="1">
            <a:off x="2295525" y="4251325"/>
            <a:ext cx="3271838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46" name="Line 21"/>
          <p:cNvSpPr>
            <a:spLocks noChangeShapeType="1"/>
          </p:cNvSpPr>
          <p:nvPr/>
        </p:nvSpPr>
        <p:spPr bwMode="auto">
          <a:xfrm flipH="1">
            <a:off x="2295525" y="3960813"/>
            <a:ext cx="3286125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47" name="Rectangle 22"/>
          <p:cNvSpPr>
            <a:spLocks noChangeArrowheads="1"/>
          </p:cNvSpPr>
          <p:nvPr/>
        </p:nvSpPr>
        <p:spPr bwMode="auto">
          <a:xfrm>
            <a:off x="2362200" y="2306638"/>
            <a:ext cx="990600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>
                <a:latin typeface="Arial" charset="0"/>
              </a:rPr>
              <a:t>Call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>
                <a:latin typeface="Arial" charset="0"/>
              </a:rPr>
              <a:t>price</a:t>
            </a:r>
          </a:p>
        </p:txBody>
      </p:sp>
      <p:sp>
        <p:nvSpPr>
          <p:cNvPr id="22548" name="Rectangle 24"/>
          <p:cNvSpPr>
            <a:spLocks noChangeArrowheads="1"/>
          </p:cNvSpPr>
          <p:nvPr/>
        </p:nvSpPr>
        <p:spPr bwMode="auto">
          <a:xfrm>
            <a:off x="1692275" y="36449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i="1">
                <a:latin typeface="Times New Roman" pitchFamily="18" charset="0"/>
              </a:rPr>
              <a:t>C</a:t>
            </a:r>
            <a:r>
              <a:rPr lang="en-US" altLang="en-US" sz="2400">
                <a:latin typeface="Arial" charset="0"/>
              </a:rPr>
              <a:t>''</a:t>
            </a:r>
          </a:p>
        </p:txBody>
      </p:sp>
      <p:sp>
        <p:nvSpPr>
          <p:cNvPr id="22549" name="Rectangle 32"/>
          <p:cNvSpPr>
            <a:spLocks noChangeArrowheads="1"/>
          </p:cNvSpPr>
          <p:nvPr/>
        </p:nvSpPr>
        <p:spPr bwMode="auto">
          <a:xfrm>
            <a:off x="1692275" y="4005263"/>
            <a:ext cx="885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i="1">
                <a:latin typeface="Times New Roman" pitchFamily="18" charset="0"/>
              </a:rPr>
              <a:t>C</a:t>
            </a:r>
            <a:r>
              <a:rPr lang="en-US" altLang="en-US" sz="2400">
                <a:latin typeface="Arial" charset="0"/>
              </a:rPr>
              <a:t>'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1295400" y="533400"/>
            <a:ext cx="7162800" cy="1219200"/>
          </a:xfrm>
        </p:spPr>
        <p:txBody>
          <a:bodyPr lIns="92075" tIns="46038" rIns="92075" bIns="46038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Interpretation  of Gamma</a:t>
            </a:r>
          </a:p>
        </p:txBody>
      </p:sp>
      <p:sp>
        <p:nvSpPr>
          <p:cNvPr id="20485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752600"/>
            <a:ext cx="8458200" cy="990600"/>
          </a:xfrm>
        </p:spPr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dirty="0" smtClean="0"/>
              <a:t>For a delta neutral portfolio, </a:t>
            </a:r>
            <a:r>
              <a:rPr lang="en-US" dirty="0" smtClean="0">
                <a:latin typeface="Symbol" pitchFamily="18" charset="2"/>
              </a:rPr>
              <a:t>DP</a:t>
            </a:r>
            <a:r>
              <a:rPr lang="en-US" dirty="0" smtClean="0"/>
              <a:t> </a:t>
            </a:r>
            <a:r>
              <a:rPr lang="en-US" dirty="0" smtClean="0">
                <a:latin typeface="Symbol" pitchFamily="18" charset="2"/>
              </a:rPr>
              <a:t>»</a:t>
            </a:r>
            <a:r>
              <a:rPr lang="en-US" dirty="0" smtClean="0"/>
              <a:t> </a:t>
            </a:r>
            <a:r>
              <a:rPr lang="en-US" dirty="0" smtClean="0">
                <a:latin typeface="Symbol" pitchFamily="18" charset="2"/>
              </a:rPr>
              <a:t>Q</a:t>
            </a:r>
            <a:r>
              <a:rPr lang="en-US" dirty="0" smtClean="0"/>
              <a:t> </a:t>
            </a:r>
            <a:r>
              <a:rPr lang="en-US" dirty="0" err="1" smtClean="0">
                <a:latin typeface="Symbol" pitchFamily="18" charset="2"/>
              </a:rPr>
              <a:t>D</a:t>
            </a:r>
            <a:r>
              <a:rPr lang="en-US" i="1" dirty="0" err="1" smtClean="0">
                <a:latin typeface="+mj-lt"/>
              </a:rPr>
              <a:t>t</a:t>
            </a:r>
            <a:r>
              <a:rPr lang="en-US" dirty="0" smtClean="0">
                <a:latin typeface="+mj-lt"/>
              </a:rPr>
              <a:t> </a:t>
            </a:r>
            <a:r>
              <a:rPr lang="en-US" dirty="0" smtClean="0"/>
              <a:t> + ½</a:t>
            </a:r>
            <a:r>
              <a:rPr lang="en-US" dirty="0" smtClean="0">
                <a:latin typeface="Symbol" pitchFamily="18" charset="2"/>
              </a:rPr>
              <a:t>GD</a:t>
            </a:r>
            <a:r>
              <a:rPr lang="en-US" i="1" dirty="0" smtClean="0">
                <a:latin typeface="+mj-lt"/>
              </a:rPr>
              <a:t>S</a:t>
            </a:r>
            <a:r>
              <a:rPr lang="en-US" dirty="0" smtClean="0"/>
              <a:t> </a:t>
            </a:r>
            <a:r>
              <a:rPr lang="en-US" baseline="30000" dirty="0" smtClean="0"/>
              <a:t>2</a:t>
            </a:r>
            <a:r>
              <a:rPr lang="en-US" dirty="0" smtClean="0"/>
              <a:t>   </a:t>
            </a:r>
          </a:p>
        </p:txBody>
      </p:sp>
      <p:sp>
        <p:nvSpPr>
          <p:cNvPr id="2355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2355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7F613649-F80F-49C8-9DD1-4D478859C7A2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20</a:t>
            </a:fld>
            <a:endParaRPr lang="en-US" altLang="en-US" sz="1400" smtClean="0">
              <a:latin typeface="Arial" charset="0"/>
            </a:endParaRPr>
          </a:p>
        </p:txBody>
      </p:sp>
      <p:grpSp>
        <p:nvGrpSpPr>
          <p:cNvPr id="23558" name="Group 31"/>
          <p:cNvGrpSpPr>
            <a:grpSpLocks/>
          </p:cNvGrpSpPr>
          <p:nvPr/>
        </p:nvGrpSpPr>
        <p:grpSpPr bwMode="auto">
          <a:xfrm>
            <a:off x="1752600" y="2484438"/>
            <a:ext cx="6554788" cy="3459162"/>
            <a:chOff x="1028700" y="2484438"/>
            <a:chExt cx="7278688" cy="3763962"/>
          </a:xfrm>
        </p:grpSpPr>
        <p:grpSp>
          <p:nvGrpSpPr>
            <p:cNvPr id="23559" name="Group 9"/>
            <p:cNvGrpSpPr>
              <a:grpSpLocks/>
            </p:cNvGrpSpPr>
            <p:nvPr/>
          </p:nvGrpSpPr>
          <p:grpSpPr bwMode="auto">
            <a:xfrm>
              <a:off x="5184775" y="3730625"/>
              <a:ext cx="2414588" cy="827088"/>
              <a:chOff x="3266" y="2350"/>
              <a:chExt cx="1521" cy="521"/>
            </a:xfrm>
          </p:grpSpPr>
          <p:sp>
            <p:nvSpPr>
              <p:cNvPr id="23579" name="Freeform 4"/>
              <p:cNvSpPr>
                <a:spLocks/>
              </p:cNvSpPr>
              <p:nvPr/>
            </p:nvSpPr>
            <p:spPr bwMode="auto">
              <a:xfrm>
                <a:off x="3266" y="2583"/>
                <a:ext cx="221" cy="284"/>
              </a:xfrm>
              <a:custGeom>
                <a:avLst/>
                <a:gdLst>
                  <a:gd name="T0" fmla="*/ 0 w 221"/>
                  <a:gd name="T1" fmla="*/ 283 h 284"/>
                  <a:gd name="T2" fmla="*/ 4 w 221"/>
                  <a:gd name="T3" fmla="*/ 283 h 284"/>
                  <a:gd name="T4" fmla="*/ 9 w 221"/>
                  <a:gd name="T5" fmla="*/ 275 h 284"/>
                  <a:gd name="T6" fmla="*/ 13 w 221"/>
                  <a:gd name="T7" fmla="*/ 271 h 284"/>
                  <a:gd name="T8" fmla="*/ 18 w 221"/>
                  <a:gd name="T9" fmla="*/ 262 h 284"/>
                  <a:gd name="T10" fmla="*/ 22 w 221"/>
                  <a:gd name="T11" fmla="*/ 258 h 284"/>
                  <a:gd name="T12" fmla="*/ 66 w 221"/>
                  <a:gd name="T13" fmla="*/ 185 h 284"/>
                  <a:gd name="T14" fmla="*/ 113 w 221"/>
                  <a:gd name="T15" fmla="*/ 115 h 284"/>
                  <a:gd name="T16" fmla="*/ 173 w 221"/>
                  <a:gd name="T17" fmla="*/ 41 h 284"/>
                  <a:gd name="T18" fmla="*/ 198 w 221"/>
                  <a:gd name="T19" fmla="*/ 25 h 284"/>
                  <a:gd name="T20" fmla="*/ 220 w 221"/>
                  <a:gd name="T21" fmla="*/ 0 h 284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221"/>
                  <a:gd name="T34" fmla="*/ 0 h 284"/>
                  <a:gd name="T35" fmla="*/ 221 w 221"/>
                  <a:gd name="T36" fmla="*/ 284 h 284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221" h="284">
                    <a:moveTo>
                      <a:pt x="0" y="283"/>
                    </a:moveTo>
                    <a:lnTo>
                      <a:pt x="4" y="283"/>
                    </a:lnTo>
                    <a:lnTo>
                      <a:pt x="9" y="275"/>
                    </a:lnTo>
                    <a:lnTo>
                      <a:pt x="13" y="271"/>
                    </a:lnTo>
                    <a:lnTo>
                      <a:pt x="18" y="262"/>
                    </a:lnTo>
                    <a:lnTo>
                      <a:pt x="22" y="258"/>
                    </a:lnTo>
                    <a:lnTo>
                      <a:pt x="66" y="185"/>
                    </a:lnTo>
                    <a:lnTo>
                      <a:pt x="113" y="115"/>
                    </a:lnTo>
                    <a:lnTo>
                      <a:pt x="173" y="41"/>
                    </a:lnTo>
                    <a:lnTo>
                      <a:pt x="198" y="25"/>
                    </a:lnTo>
                    <a:lnTo>
                      <a:pt x="220" y="0"/>
                    </a:lnTo>
                  </a:path>
                </a:pathLst>
              </a:custGeom>
              <a:noFill/>
              <a:ln w="25400" cap="rnd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580" name="Freeform 5"/>
              <p:cNvSpPr>
                <a:spLocks/>
              </p:cNvSpPr>
              <p:nvPr/>
            </p:nvSpPr>
            <p:spPr bwMode="auto">
              <a:xfrm>
                <a:off x="3490" y="2366"/>
                <a:ext cx="369" cy="218"/>
              </a:xfrm>
              <a:custGeom>
                <a:avLst/>
                <a:gdLst>
                  <a:gd name="T0" fmla="*/ 0 w 369"/>
                  <a:gd name="T1" fmla="*/ 217 h 218"/>
                  <a:gd name="T2" fmla="*/ 104 w 369"/>
                  <a:gd name="T3" fmla="*/ 123 h 218"/>
                  <a:gd name="T4" fmla="*/ 249 w 369"/>
                  <a:gd name="T5" fmla="*/ 45 h 218"/>
                  <a:gd name="T6" fmla="*/ 368 w 369"/>
                  <a:gd name="T7" fmla="*/ 0 h 21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69"/>
                  <a:gd name="T13" fmla="*/ 0 h 218"/>
                  <a:gd name="T14" fmla="*/ 369 w 369"/>
                  <a:gd name="T15" fmla="*/ 218 h 21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69" h="218">
                    <a:moveTo>
                      <a:pt x="0" y="217"/>
                    </a:moveTo>
                    <a:lnTo>
                      <a:pt x="104" y="123"/>
                    </a:lnTo>
                    <a:lnTo>
                      <a:pt x="249" y="45"/>
                    </a:lnTo>
                    <a:lnTo>
                      <a:pt x="368" y="0"/>
                    </a:lnTo>
                  </a:path>
                </a:pathLst>
              </a:custGeom>
              <a:noFill/>
              <a:ln w="25400" cap="rnd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581" name="Freeform 6"/>
              <p:cNvSpPr>
                <a:spLocks/>
              </p:cNvSpPr>
              <p:nvPr/>
            </p:nvSpPr>
            <p:spPr bwMode="auto">
              <a:xfrm>
                <a:off x="3858" y="2350"/>
                <a:ext cx="389" cy="36"/>
              </a:xfrm>
              <a:custGeom>
                <a:avLst/>
                <a:gdLst>
                  <a:gd name="T0" fmla="*/ 0 w 389"/>
                  <a:gd name="T1" fmla="*/ 16 h 36"/>
                  <a:gd name="T2" fmla="*/ 129 w 389"/>
                  <a:gd name="T3" fmla="*/ 0 h 36"/>
                  <a:gd name="T4" fmla="*/ 226 w 389"/>
                  <a:gd name="T5" fmla="*/ 0 h 36"/>
                  <a:gd name="T6" fmla="*/ 388 w 389"/>
                  <a:gd name="T7" fmla="*/ 35 h 3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89"/>
                  <a:gd name="T13" fmla="*/ 0 h 36"/>
                  <a:gd name="T14" fmla="*/ 389 w 389"/>
                  <a:gd name="T15" fmla="*/ 36 h 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89" h="36">
                    <a:moveTo>
                      <a:pt x="0" y="16"/>
                    </a:moveTo>
                    <a:lnTo>
                      <a:pt x="129" y="0"/>
                    </a:lnTo>
                    <a:lnTo>
                      <a:pt x="226" y="0"/>
                    </a:lnTo>
                    <a:lnTo>
                      <a:pt x="388" y="35"/>
                    </a:lnTo>
                  </a:path>
                </a:pathLst>
              </a:custGeom>
              <a:noFill/>
              <a:ln w="25400" cap="rnd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582" name="Freeform 7"/>
              <p:cNvSpPr>
                <a:spLocks/>
              </p:cNvSpPr>
              <p:nvPr/>
            </p:nvSpPr>
            <p:spPr bwMode="auto">
              <a:xfrm>
                <a:off x="4246" y="2385"/>
                <a:ext cx="375" cy="262"/>
              </a:xfrm>
              <a:custGeom>
                <a:avLst/>
                <a:gdLst>
                  <a:gd name="T0" fmla="*/ 0 w 375"/>
                  <a:gd name="T1" fmla="*/ 0 h 262"/>
                  <a:gd name="T2" fmla="*/ 138 w 375"/>
                  <a:gd name="T3" fmla="*/ 62 h 262"/>
                  <a:gd name="T4" fmla="*/ 223 w 375"/>
                  <a:gd name="T5" fmla="*/ 116 h 262"/>
                  <a:gd name="T6" fmla="*/ 321 w 375"/>
                  <a:gd name="T7" fmla="*/ 203 h 262"/>
                  <a:gd name="T8" fmla="*/ 374 w 375"/>
                  <a:gd name="T9" fmla="*/ 261 h 26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75"/>
                  <a:gd name="T16" fmla="*/ 0 h 262"/>
                  <a:gd name="T17" fmla="*/ 375 w 375"/>
                  <a:gd name="T18" fmla="*/ 262 h 26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75" h="262">
                    <a:moveTo>
                      <a:pt x="0" y="0"/>
                    </a:moveTo>
                    <a:lnTo>
                      <a:pt x="138" y="62"/>
                    </a:lnTo>
                    <a:lnTo>
                      <a:pt x="223" y="116"/>
                    </a:lnTo>
                    <a:lnTo>
                      <a:pt x="321" y="203"/>
                    </a:lnTo>
                    <a:lnTo>
                      <a:pt x="374" y="261"/>
                    </a:lnTo>
                  </a:path>
                </a:pathLst>
              </a:custGeom>
              <a:noFill/>
              <a:ln w="25400" cap="rnd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583" name="Freeform 8"/>
              <p:cNvSpPr>
                <a:spLocks/>
              </p:cNvSpPr>
              <p:nvPr/>
            </p:nvSpPr>
            <p:spPr bwMode="auto">
              <a:xfrm>
                <a:off x="4620" y="2646"/>
                <a:ext cx="167" cy="225"/>
              </a:xfrm>
              <a:custGeom>
                <a:avLst/>
                <a:gdLst>
                  <a:gd name="T0" fmla="*/ 0 w 167"/>
                  <a:gd name="T1" fmla="*/ 0 h 225"/>
                  <a:gd name="T2" fmla="*/ 40 w 167"/>
                  <a:gd name="T3" fmla="*/ 41 h 225"/>
                  <a:gd name="T4" fmla="*/ 83 w 167"/>
                  <a:gd name="T5" fmla="*/ 98 h 225"/>
                  <a:gd name="T6" fmla="*/ 128 w 167"/>
                  <a:gd name="T7" fmla="*/ 163 h 225"/>
                  <a:gd name="T8" fmla="*/ 166 w 167"/>
                  <a:gd name="T9" fmla="*/ 224 h 2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67"/>
                  <a:gd name="T16" fmla="*/ 0 h 225"/>
                  <a:gd name="T17" fmla="*/ 167 w 167"/>
                  <a:gd name="T18" fmla="*/ 225 h 22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67" h="225">
                    <a:moveTo>
                      <a:pt x="0" y="0"/>
                    </a:moveTo>
                    <a:lnTo>
                      <a:pt x="40" y="41"/>
                    </a:lnTo>
                    <a:lnTo>
                      <a:pt x="83" y="98"/>
                    </a:lnTo>
                    <a:lnTo>
                      <a:pt x="128" y="163"/>
                    </a:lnTo>
                    <a:lnTo>
                      <a:pt x="166" y="224"/>
                    </a:lnTo>
                  </a:path>
                </a:pathLst>
              </a:custGeom>
              <a:noFill/>
              <a:ln w="25400" cap="rnd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3560" name="Group 12"/>
            <p:cNvGrpSpPr>
              <a:grpSpLocks/>
            </p:cNvGrpSpPr>
            <p:nvPr/>
          </p:nvGrpSpPr>
          <p:grpSpPr bwMode="auto">
            <a:xfrm>
              <a:off x="4914900" y="2514600"/>
              <a:ext cx="3200400" cy="3200400"/>
              <a:chOff x="3096" y="1584"/>
              <a:chExt cx="2016" cy="2016"/>
            </a:xfrm>
          </p:grpSpPr>
          <p:sp>
            <p:nvSpPr>
              <p:cNvPr id="23577" name="Line 10"/>
              <p:cNvSpPr>
                <a:spLocks noChangeShapeType="1"/>
              </p:cNvSpPr>
              <p:nvPr/>
            </p:nvSpPr>
            <p:spPr bwMode="auto">
              <a:xfrm>
                <a:off x="3096" y="2592"/>
                <a:ext cx="201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78" name="Line 11"/>
              <p:cNvSpPr>
                <a:spLocks noChangeShapeType="1"/>
              </p:cNvSpPr>
              <p:nvPr/>
            </p:nvSpPr>
            <p:spPr bwMode="auto">
              <a:xfrm flipV="1">
                <a:off x="4008" y="1584"/>
                <a:ext cx="0" cy="201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3561" name="Rectangle 13"/>
            <p:cNvSpPr>
              <a:spLocks noChangeArrowheads="1"/>
            </p:cNvSpPr>
            <p:nvPr/>
          </p:nvSpPr>
          <p:spPr bwMode="auto">
            <a:xfrm>
              <a:off x="6346825" y="2484438"/>
              <a:ext cx="746125" cy="579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buFontTx/>
                <a:buNone/>
              </a:pPr>
              <a:r>
                <a:rPr lang="en-US" altLang="en-US">
                  <a:latin typeface="Symbol" pitchFamily="18" charset="2"/>
                </a:rPr>
                <a:t>DP</a:t>
              </a:r>
            </a:p>
          </p:txBody>
        </p:sp>
        <p:sp>
          <p:nvSpPr>
            <p:cNvPr id="23562" name="Rectangle 14"/>
            <p:cNvSpPr>
              <a:spLocks noChangeArrowheads="1"/>
            </p:cNvSpPr>
            <p:nvPr/>
          </p:nvSpPr>
          <p:spPr bwMode="auto">
            <a:xfrm>
              <a:off x="7261225" y="3551238"/>
              <a:ext cx="749300" cy="579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buFontTx/>
                <a:buNone/>
              </a:pPr>
              <a:r>
                <a:rPr lang="en-US" altLang="en-US">
                  <a:latin typeface="Symbol" pitchFamily="18" charset="2"/>
                </a:rPr>
                <a:t>D</a:t>
              </a:r>
              <a:r>
                <a:rPr lang="en-US" altLang="en-US" i="1">
                  <a:latin typeface="Times New Roman" pitchFamily="18" charset="0"/>
                </a:rPr>
                <a:t>S</a:t>
              </a:r>
              <a:r>
                <a:rPr lang="en-US" altLang="en-US" i="1">
                  <a:latin typeface="Arial" charset="0"/>
                </a:rPr>
                <a:t> </a:t>
              </a:r>
            </a:p>
          </p:txBody>
        </p:sp>
        <p:sp>
          <p:nvSpPr>
            <p:cNvPr id="23563" name="Rectangle 15"/>
            <p:cNvSpPr>
              <a:spLocks noChangeArrowheads="1"/>
            </p:cNvSpPr>
            <p:nvPr/>
          </p:nvSpPr>
          <p:spPr bwMode="auto">
            <a:xfrm>
              <a:off x="5356225" y="5729288"/>
              <a:ext cx="2951163" cy="519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Arial" charset="0"/>
                </a:rPr>
                <a:t>Negative Gamma</a:t>
              </a:r>
            </a:p>
          </p:txBody>
        </p:sp>
        <p:grpSp>
          <p:nvGrpSpPr>
            <p:cNvPr id="23564" name="Group 25"/>
            <p:cNvGrpSpPr>
              <a:grpSpLocks/>
            </p:cNvGrpSpPr>
            <p:nvPr/>
          </p:nvGrpSpPr>
          <p:grpSpPr bwMode="auto">
            <a:xfrm>
              <a:off x="1028700" y="2514600"/>
              <a:ext cx="3200400" cy="3200400"/>
              <a:chOff x="648" y="1584"/>
              <a:chExt cx="2016" cy="2016"/>
            </a:xfrm>
          </p:grpSpPr>
          <p:grpSp>
            <p:nvGrpSpPr>
              <p:cNvPr id="23568" name="Group 21"/>
              <p:cNvGrpSpPr>
                <a:grpSpLocks/>
              </p:cNvGrpSpPr>
              <p:nvPr/>
            </p:nvGrpSpPr>
            <p:grpSpPr bwMode="auto">
              <a:xfrm>
                <a:off x="818" y="2350"/>
                <a:ext cx="1521" cy="521"/>
                <a:chOff x="818" y="2350"/>
                <a:chExt cx="1521" cy="521"/>
              </a:xfrm>
            </p:grpSpPr>
            <p:sp>
              <p:nvSpPr>
                <p:cNvPr id="23572" name="Freeform 16"/>
                <p:cNvSpPr>
                  <a:spLocks/>
                </p:cNvSpPr>
                <p:nvPr/>
              </p:nvSpPr>
              <p:spPr bwMode="auto">
                <a:xfrm>
                  <a:off x="818" y="2354"/>
                  <a:ext cx="221" cy="284"/>
                </a:xfrm>
                <a:custGeom>
                  <a:avLst/>
                  <a:gdLst>
                    <a:gd name="T0" fmla="*/ 0 w 221"/>
                    <a:gd name="T1" fmla="*/ 0 h 284"/>
                    <a:gd name="T2" fmla="*/ 4 w 221"/>
                    <a:gd name="T3" fmla="*/ 0 h 284"/>
                    <a:gd name="T4" fmla="*/ 9 w 221"/>
                    <a:gd name="T5" fmla="*/ 8 h 284"/>
                    <a:gd name="T6" fmla="*/ 13 w 221"/>
                    <a:gd name="T7" fmla="*/ 12 h 284"/>
                    <a:gd name="T8" fmla="*/ 18 w 221"/>
                    <a:gd name="T9" fmla="*/ 21 h 284"/>
                    <a:gd name="T10" fmla="*/ 22 w 221"/>
                    <a:gd name="T11" fmla="*/ 25 h 284"/>
                    <a:gd name="T12" fmla="*/ 66 w 221"/>
                    <a:gd name="T13" fmla="*/ 98 h 284"/>
                    <a:gd name="T14" fmla="*/ 113 w 221"/>
                    <a:gd name="T15" fmla="*/ 168 h 284"/>
                    <a:gd name="T16" fmla="*/ 173 w 221"/>
                    <a:gd name="T17" fmla="*/ 242 h 284"/>
                    <a:gd name="T18" fmla="*/ 198 w 221"/>
                    <a:gd name="T19" fmla="*/ 258 h 284"/>
                    <a:gd name="T20" fmla="*/ 220 w 221"/>
                    <a:gd name="T21" fmla="*/ 283 h 284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221"/>
                    <a:gd name="T34" fmla="*/ 0 h 284"/>
                    <a:gd name="T35" fmla="*/ 221 w 221"/>
                    <a:gd name="T36" fmla="*/ 284 h 284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221" h="284">
                      <a:moveTo>
                        <a:pt x="0" y="0"/>
                      </a:moveTo>
                      <a:lnTo>
                        <a:pt x="4" y="0"/>
                      </a:lnTo>
                      <a:lnTo>
                        <a:pt x="9" y="8"/>
                      </a:lnTo>
                      <a:lnTo>
                        <a:pt x="13" y="12"/>
                      </a:lnTo>
                      <a:lnTo>
                        <a:pt x="18" y="21"/>
                      </a:lnTo>
                      <a:lnTo>
                        <a:pt x="22" y="25"/>
                      </a:lnTo>
                      <a:lnTo>
                        <a:pt x="66" y="98"/>
                      </a:lnTo>
                      <a:lnTo>
                        <a:pt x="113" y="168"/>
                      </a:lnTo>
                      <a:lnTo>
                        <a:pt x="173" y="242"/>
                      </a:lnTo>
                      <a:lnTo>
                        <a:pt x="198" y="258"/>
                      </a:lnTo>
                      <a:lnTo>
                        <a:pt x="220" y="283"/>
                      </a:lnTo>
                    </a:path>
                  </a:pathLst>
                </a:custGeom>
                <a:noFill/>
                <a:ln w="25400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573" name="Freeform 17"/>
                <p:cNvSpPr>
                  <a:spLocks/>
                </p:cNvSpPr>
                <p:nvPr/>
              </p:nvSpPr>
              <p:spPr bwMode="auto">
                <a:xfrm>
                  <a:off x="1042" y="2637"/>
                  <a:ext cx="369" cy="218"/>
                </a:xfrm>
                <a:custGeom>
                  <a:avLst/>
                  <a:gdLst>
                    <a:gd name="T0" fmla="*/ 0 w 369"/>
                    <a:gd name="T1" fmla="*/ 0 h 218"/>
                    <a:gd name="T2" fmla="*/ 104 w 369"/>
                    <a:gd name="T3" fmla="*/ 94 h 218"/>
                    <a:gd name="T4" fmla="*/ 249 w 369"/>
                    <a:gd name="T5" fmla="*/ 172 h 218"/>
                    <a:gd name="T6" fmla="*/ 368 w 369"/>
                    <a:gd name="T7" fmla="*/ 217 h 21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69"/>
                    <a:gd name="T13" fmla="*/ 0 h 218"/>
                    <a:gd name="T14" fmla="*/ 369 w 369"/>
                    <a:gd name="T15" fmla="*/ 218 h 21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69" h="218">
                      <a:moveTo>
                        <a:pt x="0" y="0"/>
                      </a:moveTo>
                      <a:lnTo>
                        <a:pt x="104" y="94"/>
                      </a:lnTo>
                      <a:lnTo>
                        <a:pt x="249" y="172"/>
                      </a:lnTo>
                      <a:lnTo>
                        <a:pt x="368" y="217"/>
                      </a:lnTo>
                    </a:path>
                  </a:pathLst>
                </a:custGeom>
                <a:noFill/>
                <a:ln w="25400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574" name="Freeform 18"/>
                <p:cNvSpPr>
                  <a:spLocks/>
                </p:cNvSpPr>
                <p:nvPr/>
              </p:nvSpPr>
              <p:spPr bwMode="auto">
                <a:xfrm>
                  <a:off x="1410" y="2835"/>
                  <a:ext cx="389" cy="36"/>
                </a:xfrm>
                <a:custGeom>
                  <a:avLst/>
                  <a:gdLst>
                    <a:gd name="T0" fmla="*/ 0 w 389"/>
                    <a:gd name="T1" fmla="*/ 19 h 36"/>
                    <a:gd name="T2" fmla="*/ 129 w 389"/>
                    <a:gd name="T3" fmla="*/ 35 h 36"/>
                    <a:gd name="T4" fmla="*/ 226 w 389"/>
                    <a:gd name="T5" fmla="*/ 35 h 36"/>
                    <a:gd name="T6" fmla="*/ 388 w 389"/>
                    <a:gd name="T7" fmla="*/ 0 h 3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89"/>
                    <a:gd name="T13" fmla="*/ 0 h 36"/>
                    <a:gd name="T14" fmla="*/ 389 w 389"/>
                    <a:gd name="T15" fmla="*/ 36 h 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89" h="36">
                      <a:moveTo>
                        <a:pt x="0" y="19"/>
                      </a:moveTo>
                      <a:lnTo>
                        <a:pt x="129" y="35"/>
                      </a:lnTo>
                      <a:lnTo>
                        <a:pt x="226" y="35"/>
                      </a:lnTo>
                      <a:lnTo>
                        <a:pt x="388" y="0"/>
                      </a:lnTo>
                    </a:path>
                  </a:pathLst>
                </a:custGeom>
                <a:noFill/>
                <a:ln w="25400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575" name="Freeform 19"/>
                <p:cNvSpPr>
                  <a:spLocks/>
                </p:cNvSpPr>
                <p:nvPr/>
              </p:nvSpPr>
              <p:spPr bwMode="auto">
                <a:xfrm>
                  <a:off x="1798" y="2574"/>
                  <a:ext cx="375" cy="262"/>
                </a:xfrm>
                <a:custGeom>
                  <a:avLst/>
                  <a:gdLst>
                    <a:gd name="T0" fmla="*/ 0 w 375"/>
                    <a:gd name="T1" fmla="*/ 261 h 262"/>
                    <a:gd name="T2" fmla="*/ 138 w 375"/>
                    <a:gd name="T3" fmla="*/ 199 h 262"/>
                    <a:gd name="T4" fmla="*/ 223 w 375"/>
                    <a:gd name="T5" fmla="*/ 145 h 262"/>
                    <a:gd name="T6" fmla="*/ 321 w 375"/>
                    <a:gd name="T7" fmla="*/ 58 h 262"/>
                    <a:gd name="T8" fmla="*/ 374 w 375"/>
                    <a:gd name="T9" fmla="*/ 0 h 26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75"/>
                    <a:gd name="T16" fmla="*/ 0 h 262"/>
                    <a:gd name="T17" fmla="*/ 375 w 375"/>
                    <a:gd name="T18" fmla="*/ 262 h 26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75" h="262">
                      <a:moveTo>
                        <a:pt x="0" y="261"/>
                      </a:moveTo>
                      <a:lnTo>
                        <a:pt x="138" y="199"/>
                      </a:lnTo>
                      <a:lnTo>
                        <a:pt x="223" y="145"/>
                      </a:lnTo>
                      <a:lnTo>
                        <a:pt x="321" y="58"/>
                      </a:lnTo>
                      <a:lnTo>
                        <a:pt x="374" y="0"/>
                      </a:lnTo>
                    </a:path>
                  </a:pathLst>
                </a:custGeom>
                <a:noFill/>
                <a:ln w="25400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576" name="Freeform 20"/>
                <p:cNvSpPr>
                  <a:spLocks/>
                </p:cNvSpPr>
                <p:nvPr/>
              </p:nvSpPr>
              <p:spPr bwMode="auto">
                <a:xfrm>
                  <a:off x="2172" y="2350"/>
                  <a:ext cx="167" cy="225"/>
                </a:xfrm>
                <a:custGeom>
                  <a:avLst/>
                  <a:gdLst>
                    <a:gd name="T0" fmla="*/ 0 w 167"/>
                    <a:gd name="T1" fmla="*/ 224 h 225"/>
                    <a:gd name="T2" fmla="*/ 40 w 167"/>
                    <a:gd name="T3" fmla="*/ 183 h 225"/>
                    <a:gd name="T4" fmla="*/ 83 w 167"/>
                    <a:gd name="T5" fmla="*/ 126 h 225"/>
                    <a:gd name="T6" fmla="*/ 128 w 167"/>
                    <a:gd name="T7" fmla="*/ 61 h 225"/>
                    <a:gd name="T8" fmla="*/ 166 w 167"/>
                    <a:gd name="T9" fmla="*/ 0 h 22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67"/>
                    <a:gd name="T16" fmla="*/ 0 h 225"/>
                    <a:gd name="T17" fmla="*/ 167 w 167"/>
                    <a:gd name="T18" fmla="*/ 225 h 22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67" h="225">
                      <a:moveTo>
                        <a:pt x="0" y="224"/>
                      </a:moveTo>
                      <a:lnTo>
                        <a:pt x="40" y="183"/>
                      </a:lnTo>
                      <a:lnTo>
                        <a:pt x="83" y="126"/>
                      </a:lnTo>
                      <a:lnTo>
                        <a:pt x="128" y="61"/>
                      </a:lnTo>
                      <a:lnTo>
                        <a:pt x="166" y="0"/>
                      </a:lnTo>
                    </a:path>
                  </a:pathLst>
                </a:custGeom>
                <a:noFill/>
                <a:ln w="25400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3569" name="Group 24"/>
              <p:cNvGrpSpPr>
                <a:grpSpLocks/>
              </p:cNvGrpSpPr>
              <p:nvPr/>
            </p:nvGrpSpPr>
            <p:grpSpPr bwMode="auto">
              <a:xfrm>
                <a:off x="648" y="1584"/>
                <a:ext cx="2016" cy="2016"/>
                <a:chOff x="648" y="1584"/>
                <a:chExt cx="2016" cy="2016"/>
              </a:xfrm>
            </p:grpSpPr>
            <p:sp>
              <p:nvSpPr>
                <p:cNvPr id="23570" name="Line 22"/>
                <p:cNvSpPr>
                  <a:spLocks noChangeShapeType="1"/>
                </p:cNvSpPr>
                <p:nvPr/>
              </p:nvSpPr>
              <p:spPr bwMode="auto">
                <a:xfrm>
                  <a:off x="648" y="2592"/>
                  <a:ext cx="2016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stealth" w="med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571" name="Line 23"/>
                <p:cNvSpPr>
                  <a:spLocks noChangeShapeType="1"/>
                </p:cNvSpPr>
                <p:nvPr/>
              </p:nvSpPr>
              <p:spPr bwMode="auto">
                <a:xfrm flipV="1">
                  <a:off x="1560" y="1584"/>
                  <a:ext cx="0" cy="2016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stealth" w="med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23565" name="Rectangle 26"/>
            <p:cNvSpPr>
              <a:spLocks noChangeArrowheads="1"/>
            </p:cNvSpPr>
            <p:nvPr/>
          </p:nvSpPr>
          <p:spPr bwMode="auto">
            <a:xfrm>
              <a:off x="2460625" y="2484438"/>
              <a:ext cx="746125" cy="579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buFontTx/>
                <a:buNone/>
              </a:pPr>
              <a:r>
                <a:rPr lang="en-US" altLang="en-US">
                  <a:latin typeface="Symbol" pitchFamily="18" charset="2"/>
                </a:rPr>
                <a:t>DP</a:t>
              </a:r>
            </a:p>
          </p:txBody>
        </p:sp>
        <p:sp>
          <p:nvSpPr>
            <p:cNvPr id="23566" name="Rectangle 27"/>
            <p:cNvSpPr>
              <a:spLocks noChangeArrowheads="1"/>
            </p:cNvSpPr>
            <p:nvPr/>
          </p:nvSpPr>
          <p:spPr bwMode="auto">
            <a:xfrm>
              <a:off x="3375025" y="4160838"/>
              <a:ext cx="749300" cy="579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buFontTx/>
                <a:buNone/>
              </a:pPr>
              <a:r>
                <a:rPr lang="en-US" altLang="en-US">
                  <a:latin typeface="Symbol" pitchFamily="18" charset="2"/>
                </a:rPr>
                <a:t>D</a:t>
              </a:r>
              <a:r>
                <a:rPr lang="en-US" altLang="en-US" i="1">
                  <a:latin typeface="Times New Roman" pitchFamily="18" charset="0"/>
                </a:rPr>
                <a:t>S</a:t>
              </a:r>
              <a:r>
                <a:rPr lang="en-US" altLang="en-US" i="1">
                  <a:latin typeface="Arial" charset="0"/>
                </a:rPr>
                <a:t> </a:t>
              </a:r>
            </a:p>
          </p:txBody>
        </p:sp>
        <p:sp>
          <p:nvSpPr>
            <p:cNvPr id="23567" name="Rectangle 28"/>
            <p:cNvSpPr>
              <a:spLocks noChangeArrowheads="1"/>
            </p:cNvSpPr>
            <p:nvPr/>
          </p:nvSpPr>
          <p:spPr bwMode="auto">
            <a:xfrm>
              <a:off x="1393825" y="5715000"/>
              <a:ext cx="2982913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Arial" charset="0"/>
                </a:rPr>
                <a:t>Positive Gamma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>
          <a:xfrm>
            <a:off x="625065" y="1066800"/>
            <a:ext cx="7543800" cy="1295400"/>
          </a:xfrm>
        </p:spPr>
        <p:txBody>
          <a:bodyPr/>
          <a:lstStyle/>
          <a:p>
            <a:r>
              <a:rPr lang="en-CA" altLang="en-US" dirty="0" smtClean="0"/>
              <a:t>Gamma for Call or Put Option: (</a:t>
            </a:r>
            <a:r>
              <a:rPr lang="en-CA" altLang="en-US" sz="2400" i="1" dirty="0" smtClean="0"/>
              <a:t>K</a:t>
            </a:r>
            <a:r>
              <a:rPr lang="en-CA" altLang="en-US" sz="2400" dirty="0" smtClean="0"/>
              <a:t>=50, </a:t>
            </a:r>
            <a:r>
              <a:rPr lang="en-CA" altLang="en-US" sz="2400" dirty="0" smtClean="0">
                <a:latin typeface="Symbol" panose="05050102010706020507" pitchFamily="18" charset="2"/>
              </a:rPr>
              <a:t>s </a:t>
            </a:r>
            <a:r>
              <a:rPr lang="en-CA" altLang="en-US" sz="2400" dirty="0" smtClean="0"/>
              <a:t>= 25%, </a:t>
            </a:r>
            <a:r>
              <a:rPr lang="en-CA" altLang="en-US" sz="2400" i="1" dirty="0" smtClean="0"/>
              <a:t>r </a:t>
            </a:r>
            <a:r>
              <a:rPr lang="en-CA" altLang="en-US" sz="2400" dirty="0" smtClean="0"/>
              <a:t>= 0%, </a:t>
            </a:r>
            <a:r>
              <a:rPr lang="en-CA" altLang="en-US" sz="2400" i="1" dirty="0" smtClean="0"/>
              <a:t>T </a:t>
            </a:r>
            <a:r>
              <a:rPr lang="en-CA" altLang="en-US" sz="2400" dirty="0" smtClean="0"/>
              <a:t>= 2, Figure 19.9)</a:t>
            </a:r>
            <a:endParaRPr lang="en-US" altLang="en-US" sz="2400" dirty="0" smtClean="0"/>
          </a:p>
        </p:txBody>
      </p:sp>
      <p:sp>
        <p:nvSpPr>
          <p:cNvPr id="31747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/>
              <a:t>Options, Futures, and Other Derivatives,  11th Edition, Copyright © John  C. Hull 2021</a:t>
            </a:r>
            <a:endParaRPr lang="en-US" altLang="en-US" sz="1400" i="0" smtClean="0"/>
          </a:p>
        </p:txBody>
      </p:sp>
      <p:sp>
        <p:nvSpPr>
          <p:cNvPr id="3174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262BB624-4CCB-4DE5-A04E-42A6CF7B1A55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US" altLang="en-US" sz="1800"/>
          </a:p>
        </p:txBody>
      </p:sp>
      <p:pic>
        <p:nvPicPr>
          <p:cNvPr id="31749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775" y="2656188"/>
            <a:ext cx="5254625" cy="31492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7759700" cy="914400"/>
          </a:xfrm>
        </p:spPr>
        <p:txBody>
          <a:bodyPr/>
          <a:lstStyle/>
          <a:p>
            <a:r>
              <a:rPr lang="en-CA" altLang="en-US" sz="3600" dirty="0" smtClean="0"/>
              <a:t>Variation of Gamma with Time to Maturity </a:t>
            </a:r>
            <a:r>
              <a:rPr lang="en-CA" altLang="en-US" sz="2400" dirty="0" smtClean="0"/>
              <a:t>(S</a:t>
            </a:r>
            <a:r>
              <a:rPr lang="en-CA" altLang="en-US" sz="2400" baseline="-25000" dirty="0" smtClean="0"/>
              <a:t>0</a:t>
            </a:r>
            <a:r>
              <a:rPr lang="en-CA" altLang="en-US" sz="2400" dirty="0" smtClean="0"/>
              <a:t>=50, </a:t>
            </a:r>
            <a:r>
              <a:rPr lang="en-CA" altLang="en-US" sz="2400" i="1" u="sng" dirty="0" smtClean="0"/>
              <a:t>r</a:t>
            </a:r>
            <a:r>
              <a:rPr lang="en-CA" altLang="en-US" sz="2400" dirty="0" smtClean="0"/>
              <a:t>=0, </a:t>
            </a:r>
            <a:r>
              <a:rPr lang="en-CA" altLang="en-US" sz="2400" dirty="0" smtClean="0">
                <a:latin typeface="Symbol" panose="05050102010706020507" pitchFamily="18" charset="2"/>
              </a:rPr>
              <a:t>s</a:t>
            </a:r>
            <a:r>
              <a:rPr lang="en-CA" altLang="en-US" sz="2400" dirty="0" smtClean="0"/>
              <a:t>=25%, Figure 19.10)</a:t>
            </a:r>
          </a:p>
        </p:txBody>
      </p:sp>
      <p:sp>
        <p:nvSpPr>
          <p:cNvPr id="32771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/>
              <a:t>Options, Futures, and Other Derivatives,  11th Edition, Copyright © John  C. Hull 2021</a:t>
            </a:r>
            <a:endParaRPr lang="en-US" altLang="en-US" sz="1400" i="0" smtClean="0"/>
          </a:p>
        </p:txBody>
      </p:sp>
      <p:sp>
        <p:nvSpPr>
          <p:cNvPr id="3277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4AC7E896-7E80-4E07-B153-ADD8575E05A7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US" altLang="en-US" sz="1800"/>
          </a:p>
        </p:txBody>
      </p:sp>
      <p:pic>
        <p:nvPicPr>
          <p:cNvPr id="3277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2438400"/>
            <a:ext cx="6324600" cy="38056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Relationship Between Delta, Gamma, and </a:t>
            </a: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Theta </a:t>
            </a:r>
            <a:r>
              <a:rPr lang="en-US" sz="2700" dirty="0" smtClean="0">
                <a:solidFill>
                  <a:schemeClr val="tx2">
                    <a:satMod val="130000"/>
                  </a:schemeClr>
                </a:solidFill>
              </a:rPr>
              <a:t>(equation 19.4)</a:t>
            </a:r>
            <a:endParaRPr lang="en-US" sz="2700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24579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2458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5F548C26-79E1-4B76-A6B9-23584267F1B6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23</a:t>
            </a:fld>
            <a:endParaRPr lang="en-US" altLang="en-US" sz="1400" smtClean="0">
              <a:latin typeface="Arial" charset="0"/>
            </a:endParaRPr>
          </a:p>
        </p:txBody>
      </p:sp>
      <p:sp>
        <p:nvSpPr>
          <p:cNvPr id="24581" name="Rectangle 4"/>
          <p:cNvSpPr>
            <a:spLocks noChangeArrowheads="1"/>
          </p:cNvSpPr>
          <p:nvPr/>
        </p:nvSpPr>
        <p:spPr bwMode="auto">
          <a:xfrm>
            <a:off x="762000" y="2438400"/>
            <a:ext cx="7467600" cy="206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>
                <a:latin typeface="Arial" charset="0"/>
              </a:rPr>
              <a:t>For a portfolio of derivatives on a stock paying a continuous dividend yield at rate </a:t>
            </a:r>
            <a:r>
              <a:rPr lang="en-US" altLang="en-US" i="1">
                <a:latin typeface="Times New Roman" pitchFamily="18" charset="0"/>
              </a:rPr>
              <a:t>q </a:t>
            </a:r>
            <a:r>
              <a:rPr lang="en-US" altLang="en-US">
                <a:latin typeface="Arial" charset="0"/>
              </a:rPr>
              <a:t>it follows from the Black-Scholes-Merton differential equation that </a:t>
            </a:r>
          </a:p>
        </p:txBody>
      </p:sp>
      <p:graphicFrame>
        <p:nvGraphicFramePr>
          <p:cNvPr id="24582" name="Object 0"/>
          <p:cNvGraphicFramePr>
            <a:graphicFrameLocks noChangeAspect="1"/>
          </p:cNvGraphicFramePr>
          <p:nvPr/>
        </p:nvGraphicFramePr>
        <p:xfrm>
          <a:off x="2398713" y="4537075"/>
          <a:ext cx="4649787" cy="1212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0" name="Equation" r:id="rId6" imgW="1460500" imgH="368300" progId="Equation.3">
                  <p:embed/>
                </p:oleObj>
              </mc:Choice>
              <mc:Fallback>
                <p:oleObj name="Equation" r:id="rId6" imgW="1460500" imgH="368300" progId="Equation.3">
                  <p:embed/>
                  <p:pic>
                    <p:nvPicPr>
                      <p:cNvPr id="0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8713" y="4537075"/>
                        <a:ext cx="4649787" cy="1212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1295400" y="685800"/>
            <a:ext cx="7162800" cy="1143000"/>
          </a:xfrm>
        </p:spPr>
        <p:txBody>
          <a:bodyPr lIns="92075" tIns="46038" rIns="92075" bIns="46038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Vega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>
          <a:xfrm>
            <a:off x="762000" y="1676400"/>
            <a:ext cx="7696200" cy="4295775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dirty="0" smtClean="0">
                <a:latin typeface="Arial" charset="0"/>
                <a:cs typeface="Arial" charset="0"/>
              </a:rPr>
              <a:t>Vega (</a:t>
            </a:r>
            <a:r>
              <a:rPr lang="en-US" altLang="en-US" sz="4000" dirty="0" smtClean="0">
                <a:latin typeface="Symbol" pitchFamily="18" charset="2"/>
                <a:cs typeface="Arial" charset="0"/>
              </a:rPr>
              <a:t>n</a:t>
            </a:r>
            <a:r>
              <a:rPr lang="en-US" altLang="en-US" dirty="0" smtClean="0">
                <a:latin typeface="Arial" charset="0"/>
                <a:cs typeface="Arial" charset="0"/>
              </a:rPr>
              <a:t>) is the rate of change of the value of a derivatives portfolio with respect to volatility</a:t>
            </a:r>
          </a:p>
          <a:p>
            <a:pPr eaLnBrk="1" hangingPunct="1"/>
            <a:r>
              <a:rPr lang="en-CA" altLang="en-US" dirty="0" smtClean="0">
                <a:latin typeface="Arial" charset="0"/>
                <a:cs typeface="Arial" charset="0"/>
              </a:rPr>
              <a:t>If </a:t>
            </a:r>
            <a:r>
              <a:rPr lang="en-CA" altLang="en-US" dirty="0" err="1" smtClean="0">
                <a:latin typeface="Arial" charset="0"/>
                <a:cs typeface="Arial" charset="0"/>
              </a:rPr>
              <a:t>vega</a:t>
            </a:r>
            <a:r>
              <a:rPr lang="en-CA" altLang="en-US" dirty="0" smtClean="0">
                <a:latin typeface="Arial" charset="0"/>
                <a:cs typeface="Arial" charset="0"/>
              </a:rPr>
              <a:t> is calculated for a portfolio as a weighted average of the </a:t>
            </a:r>
            <a:r>
              <a:rPr lang="en-CA" altLang="en-US" dirty="0" err="1" smtClean="0">
                <a:latin typeface="Arial" charset="0"/>
                <a:cs typeface="Arial" charset="0"/>
              </a:rPr>
              <a:t>vegas</a:t>
            </a:r>
            <a:r>
              <a:rPr lang="en-CA" altLang="en-US" dirty="0" smtClean="0">
                <a:latin typeface="Arial" charset="0"/>
                <a:cs typeface="Arial" charset="0"/>
              </a:rPr>
              <a:t> for the individual transactions comprising the portfolio, the result shows the effect of all implied volatilities changing by the same small amount</a:t>
            </a:r>
            <a:endParaRPr lang="en-US" altLang="en-US" dirty="0" smtClean="0">
              <a:latin typeface="Arial" charset="0"/>
              <a:cs typeface="Arial" charset="0"/>
            </a:endParaRPr>
          </a:p>
        </p:txBody>
      </p:sp>
      <p:sp>
        <p:nvSpPr>
          <p:cNvPr id="2560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2560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E60C62AC-3A59-4400-8E77-C7E581B52DA1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24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>
          <a:xfrm>
            <a:off x="1066800" y="737983"/>
            <a:ext cx="7210425" cy="1295400"/>
          </a:xfrm>
        </p:spPr>
        <p:txBody>
          <a:bodyPr/>
          <a:lstStyle/>
          <a:p>
            <a:r>
              <a:rPr lang="en-CA" altLang="en-US" dirty="0" smtClean="0"/>
              <a:t>Vega for Call or Put Option </a:t>
            </a:r>
            <a:r>
              <a:rPr lang="en-CA" altLang="en-US" sz="2400" dirty="0" smtClean="0"/>
              <a:t>(</a:t>
            </a:r>
            <a:r>
              <a:rPr lang="en-CA" altLang="en-US" sz="2400" i="1" dirty="0" smtClean="0"/>
              <a:t>K</a:t>
            </a:r>
            <a:r>
              <a:rPr lang="en-CA" altLang="en-US" sz="2400" dirty="0" smtClean="0"/>
              <a:t>=50, </a:t>
            </a:r>
            <a:r>
              <a:rPr lang="en-CA" altLang="en-US" sz="2400" dirty="0" smtClean="0">
                <a:latin typeface="Symbol" panose="05050102010706020507" pitchFamily="18" charset="2"/>
              </a:rPr>
              <a:t>s </a:t>
            </a:r>
            <a:r>
              <a:rPr lang="en-CA" altLang="en-US" sz="2400" dirty="0" smtClean="0"/>
              <a:t>= 25%, </a:t>
            </a:r>
            <a:r>
              <a:rPr lang="en-CA" altLang="en-US" sz="2400" i="1" dirty="0" smtClean="0"/>
              <a:t>r </a:t>
            </a:r>
            <a:r>
              <a:rPr lang="en-CA" altLang="en-US" sz="2400" dirty="0" smtClean="0"/>
              <a:t>= 0, </a:t>
            </a:r>
            <a:r>
              <a:rPr lang="en-CA" altLang="en-US" sz="2400" i="1" dirty="0" smtClean="0"/>
              <a:t>T </a:t>
            </a:r>
            <a:r>
              <a:rPr lang="en-CA" altLang="en-US" sz="2400" dirty="0" smtClean="0"/>
              <a:t>= 2, Figure 19.11))</a:t>
            </a:r>
            <a:endParaRPr lang="en-US" altLang="en-US" sz="2400" dirty="0" smtClean="0"/>
          </a:p>
        </p:txBody>
      </p:sp>
      <p:sp>
        <p:nvSpPr>
          <p:cNvPr id="37891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/>
              <a:t>Options, Futures, and Other Derivatives,  11th Edition, Copyright © John  C. Hull 2021</a:t>
            </a:r>
            <a:endParaRPr lang="en-US" altLang="en-US" sz="1400" i="0" smtClean="0"/>
          </a:p>
        </p:txBody>
      </p:sp>
      <p:sp>
        <p:nvSpPr>
          <p:cNvPr id="3789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5E97B6FA-CBDC-41CC-9BB4-CEFE3D8CDB1C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lang="en-US" altLang="en-US" sz="1800"/>
          </a:p>
        </p:txBody>
      </p:sp>
      <p:pic>
        <p:nvPicPr>
          <p:cNvPr id="37893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775" y="2238505"/>
            <a:ext cx="6550025" cy="3925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Taylor Series Expansion </a:t>
            </a:r>
            <a:r>
              <a:rPr lang="en-US" altLang="en-US" sz="2000" smtClean="0"/>
              <a:t>(Appendix to Chapter 19)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The value of a portfolio of derivatives dependent on an asset is a function of </a:t>
            </a:r>
            <a:r>
              <a:rPr lang="en-US" dirty="0" err="1" smtClean="0"/>
              <a:t>of</a:t>
            </a:r>
            <a:r>
              <a:rPr lang="en-US" dirty="0" smtClean="0"/>
              <a:t> the asset price </a:t>
            </a:r>
            <a:r>
              <a:rPr lang="en-US" i="1" dirty="0" smtClean="0">
                <a:latin typeface="+mj-lt"/>
              </a:rPr>
              <a:t>S</a:t>
            </a:r>
            <a:r>
              <a:rPr lang="en-US" dirty="0" smtClean="0"/>
              <a:t>, its volatility </a:t>
            </a:r>
            <a:r>
              <a:rPr lang="en-US" i="1" dirty="0" smtClean="0">
                <a:latin typeface="Symbol" pitchFamily="18" charset="2"/>
              </a:rPr>
              <a:t>s</a:t>
            </a:r>
            <a:r>
              <a:rPr lang="en-US" dirty="0" smtClean="0"/>
              <a:t>, and time </a:t>
            </a:r>
            <a:r>
              <a:rPr lang="en-US" i="1" dirty="0" smtClean="0">
                <a:latin typeface="+mj-lt"/>
              </a:rPr>
              <a:t>t</a:t>
            </a:r>
            <a:endParaRPr lang="en-US" i="1" dirty="0">
              <a:latin typeface="+mj-lt"/>
            </a:endParaRPr>
          </a:p>
        </p:txBody>
      </p:sp>
      <p:sp>
        <p:nvSpPr>
          <p:cNvPr id="27652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27653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C0FA4AE5-EEB2-4569-8630-AAF779008420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26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27654" name="Object 2"/>
          <p:cNvGraphicFramePr>
            <a:graphicFrameLocks noChangeAspect="1"/>
          </p:cNvGraphicFramePr>
          <p:nvPr/>
        </p:nvGraphicFramePr>
        <p:xfrm>
          <a:off x="928688" y="3810000"/>
          <a:ext cx="6548437" cy="127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62" name="Equation" r:id="rId6" imgW="4191000" imgH="812800" progId="Equation.3">
                  <p:embed/>
                </p:oleObj>
              </mc:Choice>
              <mc:Fallback>
                <p:oleObj name="Equation" r:id="rId6" imgW="4191000" imgH="8128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8688" y="3810000"/>
                        <a:ext cx="6548437" cy="127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914400"/>
            <a:ext cx="7596188" cy="1295400"/>
          </a:xfrm>
        </p:spPr>
        <p:txBody>
          <a:bodyPr/>
          <a:lstStyle/>
          <a:p>
            <a:pPr eaLnBrk="1" hangingPunct="1"/>
            <a:r>
              <a:rPr lang="en-US" altLang="en-US" smtClean="0"/>
              <a:t>Managing  Delta, Gamma, &amp; Vega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 altLang="en-US" smtClean="0">
              <a:latin typeface="Arial" charset="0"/>
              <a:cs typeface="Arial" charset="0"/>
            </a:endParaRP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Delta can be changed by taking a position in the underlying asset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To adjust gamma and vega it is necessary to take a position in an option or other derivative</a:t>
            </a:r>
          </a:p>
          <a:p>
            <a:pPr eaLnBrk="1" hangingPunct="1"/>
            <a:endParaRPr lang="en-US" altLang="en-US" sz="3600" smtClean="0">
              <a:latin typeface="Arial" charset="0"/>
              <a:cs typeface="Arial" charset="0"/>
            </a:endParaRPr>
          </a:p>
        </p:txBody>
      </p:sp>
      <p:sp>
        <p:nvSpPr>
          <p:cNvPr id="2867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2867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03183DE1-21E2-41E9-81AF-CFA76DCD826A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27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 dirty="0" smtClean="0"/>
              <a:t>Example 19.5</a:t>
            </a:r>
            <a:endParaRPr lang="en-US" altLang="en-US" dirty="0" smtClean="0"/>
          </a:p>
        </p:txBody>
      </p:sp>
      <p:sp>
        <p:nvSpPr>
          <p:cNvPr id="29699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2970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A47DD5D0-5360-45E0-86DD-E4F02683738F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28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143000" y="2133600"/>
          <a:ext cx="6096000" cy="147797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26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8" marB="4570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i="1" dirty="0" smtClean="0"/>
                        <a:t>Delta</a:t>
                      </a:r>
                      <a:endParaRPr lang="en-US" sz="1800" i="1" dirty="0"/>
                    </a:p>
                  </a:txBody>
                  <a:tcPr marT="45708" marB="4570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i="1" dirty="0" smtClean="0"/>
                        <a:t>Gamma</a:t>
                      </a:r>
                      <a:endParaRPr lang="en-US" sz="1800" i="1" dirty="0"/>
                    </a:p>
                  </a:txBody>
                  <a:tcPr marT="45708" marB="4570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i="1" dirty="0" smtClean="0"/>
                        <a:t>Vega</a:t>
                      </a:r>
                      <a:endParaRPr lang="en-US" sz="1800" i="1" dirty="0"/>
                    </a:p>
                  </a:txBody>
                  <a:tcPr marT="45708" marB="4570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746">
                <a:tc>
                  <a:txBody>
                    <a:bodyPr/>
                    <a:lstStyle/>
                    <a:p>
                      <a:r>
                        <a:rPr lang="en-CA" sz="1800" dirty="0" smtClean="0"/>
                        <a:t>Portfolio</a:t>
                      </a:r>
                      <a:endParaRPr lang="en-US" sz="1800" dirty="0"/>
                    </a:p>
                  </a:txBody>
                  <a:tcPr marT="45708" marB="4570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0</a:t>
                      </a:r>
                      <a:endParaRPr lang="en-US" sz="1800" dirty="0"/>
                    </a:p>
                  </a:txBody>
                  <a:tcPr marT="45708" marB="4570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−5000</a:t>
                      </a:r>
                      <a:endParaRPr lang="en-US" sz="1800" dirty="0"/>
                    </a:p>
                  </a:txBody>
                  <a:tcPr marT="45708" marB="4570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−8000</a:t>
                      </a:r>
                      <a:endParaRPr lang="en-US" sz="1800" dirty="0"/>
                    </a:p>
                  </a:txBody>
                  <a:tcPr marT="45708" marB="4570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746">
                <a:tc>
                  <a:txBody>
                    <a:bodyPr/>
                    <a:lstStyle/>
                    <a:p>
                      <a:r>
                        <a:rPr lang="en-CA" sz="1800" dirty="0" smtClean="0"/>
                        <a:t>Option 1</a:t>
                      </a:r>
                      <a:endParaRPr lang="en-US" sz="1800" dirty="0"/>
                    </a:p>
                  </a:txBody>
                  <a:tcPr marT="45708" marB="4570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0.6</a:t>
                      </a:r>
                      <a:endParaRPr lang="en-US" sz="1800" dirty="0"/>
                    </a:p>
                  </a:txBody>
                  <a:tcPr marT="45708" marB="4570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0.5</a:t>
                      </a:r>
                      <a:endParaRPr lang="en-US" sz="1800" dirty="0"/>
                    </a:p>
                  </a:txBody>
                  <a:tcPr marT="45708" marB="4570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2.0</a:t>
                      </a:r>
                      <a:endParaRPr lang="en-US" sz="1800" dirty="0"/>
                    </a:p>
                  </a:txBody>
                  <a:tcPr marT="45708" marB="4570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746">
                <a:tc>
                  <a:txBody>
                    <a:bodyPr/>
                    <a:lstStyle/>
                    <a:p>
                      <a:r>
                        <a:rPr lang="en-CA" sz="1800" dirty="0" smtClean="0"/>
                        <a:t>Option 2</a:t>
                      </a:r>
                      <a:endParaRPr lang="en-US" sz="1800" dirty="0"/>
                    </a:p>
                  </a:txBody>
                  <a:tcPr marT="45708" marB="4570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0.5</a:t>
                      </a:r>
                      <a:endParaRPr lang="en-US" sz="1800" dirty="0"/>
                    </a:p>
                  </a:txBody>
                  <a:tcPr marT="45708" marB="4570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0.8</a:t>
                      </a:r>
                      <a:endParaRPr lang="en-US" sz="1800" dirty="0"/>
                    </a:p>
                  </a:txBody>
                  <a:tcPr marT="45708" marB="4570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1.2</a:t>
                      </a:r>
                      <a:endParaRPr lang="en-US" sz="1800" dirty="0"/>
                    </a:p>
                  </a:txBody>
                  <a:tcPr marT="45708" marB="4570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9728" name="TextBox 6"/>
          <p:cNvSpPr txBox="1">
            <a:spLocks noChangeArrowheads="1"/>
          </p:cNvSpPr>
          <p:nvPr/>
        </p:nvSpPr>
        <p:spPr bwMode="auto">
          <a:xfrm>
            <a:off x="685800" y="3810000"/>
            <a:ext cx="6705600" cy="286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CA" altLang="en-US" sz="2000" dirty="0">
                <a:latin typeface="Arial" charset="0"/>
              </a:rPr>
              <a:t>What position in option 1 and the underlying asset will make the portfolio delta and gamma neutral?  Answer: Long 10,000 options, short  6000 of the asset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CA" altLang="en-US" sz="2000" dirty="0">
              <a:latin typeface="Arial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CA" altLang="en-US" sz="2000" dirty="0">
                <a:latin typeface="Arial" charset="0"/>
              </a:rPr>
              <a:t>What position in option 1 and the underlying asset will make the portfolio delta and </a:t>
            </a:r>
            <a:r>
              <a:rPr lang="en-CA" altLang="en-US" sz="2000" dirty="0" err="1">
                <a:latin typeface="Arial" charset="0"/>
              </a:rPr>
              <a:t>vega</a:t>
            </a:r>
            <a:r>
              <a:rPr lang="en-CA" altLang="en-US" sz="2000" dirty="0">
                <a:latin typeface="Arial" charset="0"/>
              </a:rPr>
              <a:t> neutral? Answer: Long 4000 options, short 2400 of the asset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CA" altLang="en-US" sz="2000" dirty="0">
              <a:latin typeface="Arial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CA" altLang="en-US" sz="2000" dirty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 dirty="0" smtClean="0"/>
              <a:t>Example 19.5 </a:t>
            </a:r>
            <a:r>
              <a:rPr lang="en-CA" altLang="en-US" sz="2000" dirty="0" smtClean="0"/>
              <a:t>continued</a:t>
            </a:r>
            <a:endParaRPr lang="en-US" altLang="en-US" sz="2000" dirty="0" smtClean="0"/>
          </a:p>
        </p:txBody>
      </p:sp>
      <p:sp>
        <p:nvSpPr>
          <p:cNvPr id="30723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3072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440F69FD-3854-4739-8EEF-6350169377DF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29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8412496"/>
              </p:ext>
            </p:extLst>
          </p:nvPr>
        </p:nvGraphicFramePr>
        <p:xfrm>
          <a:off x="1219200" y="1905000"/>
          <a:ext cx="6096000" cy="147797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26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8" marB="4570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i="1" dirty="0" smtClean="0"/>
                        <a:t>Delta</a:t>
                      </a:r>
                      <a:endParaRPr lang="en-US" sz="1800" i="1" dirty="0"/>
                    </a:p>
                  </a:txBody>
                  <a:tcPr marT="45708" marB="4570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i="1" dirty="0" smtClean="0"/>
                        <a:t>Gamma</a:t>
                      </a:r>
                      <a:endParaRPr lang="en-US" sz="1800" i="1" dirty="0"/>
                    </a:p>
                  </a:txBody>
                  <a:tcPr marT="45708" marB="4570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i="1" dirty="0" smtClean="0"/>
                        <a:t>Vega</a:t>
                      </a:r>
                      <a:endParaRPr lang="en-US" sz="1800" i="1" dirty="0"/>
                    </a:p>
                  </a:txBody>
                  <a:tcPr marT="45708" marB="4570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746">
                <a:tc>
                  <a:txBody>
                    <a:bodyPr/>
                    <a:lstStyle/>
                    <a:p>
                      <a:r>
                        <a:rPr lang="en-CA" sz="1800" dirty="0" smtClean="0"/>
                        <a:t>Portfolio</a:t>
                      </a:r>
                      <a:endParaRPr lang="en-US" sz="1800" dirty="0"/>
                    </a:p>
                  </a:txBody>
                  <a:tcPr marT="45708" marB="4570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0</a:t>
                      </a:r>
                      <a:endParaRPr lang="en-US" sz="1800" dirty="0"/>
                    </a:p>
                  </a:txBody>
                  <a:tcPr marT="45708" marB="4570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−5000</a:t>
                      </a:r>
                      <a:endParaRPr lang="en-US" sz="1800" dirty="0"/>
                    </a:p>
                  </a:txBody>
                  <a:tcPr marT="45708" marB="4570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−8000</a:t>
                      </a:r>
                      <a:endParaRPr lang="en-US" sz="1800" dirty="0"/>
                    </a:p>
                  </a:txBody>
                  <a:tcPr marT="45708" marB="4570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746">
                <a:tc>
                  <a:txBody>
                    <a:bodyPr/>
                    <a:lstStyle/>
                    <a:p>
                      <a:r>
                        <a:rPr lang="en-CA" sz="1800" dirty="0" smtClean="0"/>
                        <a:t>Option 1</a:t>
                      </a:r>
                      <a:endParaRPr lang="en-US" sz="1800" dirty="0"/>
                    </a:p>
                  </a:txBody>
                  <a:tcPr marT="45708" marB="4570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0.6</a:t>
                      </a:r>
                      <a:endParaRPr lang="en-US" sz="1800" dirty="0"/>
                    </a:p>
                  </a:txBody>
                  <a:tcPr marT="45708" marB="4570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0.5</a:t>
                      </a:r>
                      <a:endParaRPr lang="en-US" sz="1800" dirty="0"/>
                    </a:p>
                  </a:txBody>
                  <a:tcPr marT="45708" marB="4570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2.0</a:t>
                      </a:r>
                      <a:endParaRPr lang="en-US" sz="1800" dirty="0"/>
                    </a:p>
                  </a:txBody>
                  <a:tcPr marT="45708" marB="4570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746">
                <a:tc>
                  <a:txBody>
                    <a:bodyPr/>
                    <a:lstStyle/>
                    <a:p>
                      <a:r>
                        <a:rPr lang="en-CA" sz="1800" dirty="0" smtClean="0"/>
                        <a:t>Option 2</a:t>
                      </a:r>
                      <a:endParaRPr lang="en-US" sz="1800" dirty="0"/>
                    </a:p>
                  </a:txBody>
                  <a:tcPr marT="45708" marB="4570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0.5</a:t>
                      </a:r>
                      <a:endParaRPr lang="en-US" sz="1800" dirty="0"/>
                    </a:p>
                  </a:txBody>
                  <a:tcPr marT="45708" marB="4570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0.8</a:t>
                      </a:r>
                      <a:endParaRPr lang="en-US" sz="1800" dirty="0"/>
                    </a:p>
                  </a:txBody>
                  <a:tcPr marT="45708" marB="4570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1.2</a:t>
                      </a:r>
                      <a:endParaRPr lang="en-US" sz="1800" dirty="0"/>
                    </a:p>
                  </a:txBody>
                  <a:tcPr marT="45708" marB="4570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2000" y="3733800"/>
            <a:ext cx="7086600" cy="1754326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CA" dirty="0" smtClean="0"/>
              <a:t>We </a:t>
            </a:r>
            <a:r>
              <a:rPr lang="en-CA" dirty="0"/>
              <a:t>solve</a:t>
            </a:r>
          </a:p>
          <a:p>
            <a:pPr>
              <a:defRPr/>
            </a:pPr>
            <a:r>
              <a:rPr lang="en-CA" dirty="0"/>
              <a:t>	−5000+0.5</a:t>
            </a:r>
            <a:r>
              <a:rPr lang="en-CA" i="1" dirty="0">
                <a:latin typeface="+mj-lt"/>
              </a:rPr>
              <a:t>w</a:t>
            </a:r>
            <a:r>
              <a:rPr lang="en-CA" baseline="-25000" dirty="0">
                <a:latin typeface="+mj-lt"/>
              </a:rPr>
              <a:t>1</a:t>
            </a:r>
            <a:r>
              <a:rPr lang="en-CA" dirty="0"/>
              <a:t> +0.8</a:t>
            </a:r>
            <a:r>
              <a:rPr lang="en-CA" i="1" dirty="0">
                <a:latin typeface="+mj-lt"/>
              </a:rPr>
              <a:t>w</a:t>
            </a:r>
            <a:r>
              <a:rPr lang="en-CA" baseline="-25000" dirty="0">
                <a:latin typeface="+mj-lt"/>
              </a:rPr>
              <a:t>2</a:t>
            </a:r>
            <a:r>
              <a:rPr lang="en-CA" dirty="0"/>
              <a:t> =0</a:t>
            </a:r>
          </a:p>
          <a:p>
            <a:pPr>
              <a:defRPr/>
            </a:pPr>
            <a:r>
              <a:rPr lang="en-CA" dirty="0"/>
              <a:t>	−8000+2.0</a:t>
            </a:r>
            <a:r>
              <a:rPr lang="en-CA" i="1" dirty="0">
                <a:latin typeface="+mj-lt"/>
              </a:rPr>
              <a:t>w</a:t>
            </a:r>
            <a:r>
              <a:rPr lang="en-CA" baseline="-25000" dirty="0">
                <a:latin typeface="+mj-lt"/>
              </a:rPr>
              <a:t>1</a:t>
            </a:r>
            <a:r>
              <a:rPr lang="en-CA" dirty="0"/>
              <a:t> +1.2</a:t>
            </a:r>
            <a:r>
              <a:rPr lang="en-CA" i="1" dirty="0">
                <a:latin typeface="+mj-lt"/>
              </a:rPr>
              <a:t>w</a:t>
            </a:r>
            <a:r>
              <a:rPr lang="en-CA" baseline="-25000" dirty="0">
                <a:latin typeface="+mj-lt"/>
              </a:rPr>
              <a:t>2</a:t>
            </a:r>
            <a:r>
              <a:rPr lang="en-CA" dirty="0"/>
              <a:t> =0</a:t>
            </a:r>
          </a:p>
          <a:p>
            <a:pPr>
              <a:defRPr/>
            </a:pPr>
            <a:r>
              <a:rPr lang="en-CA" dirty="0"/>
              <a:t>to get </a:t>
            </a:r>
            <a:r>
              <a:rPr lang="en-CA" i="1" dirty="0">
                <a:latin typeface="+mj-lt"/>
              </a:rPr>
              <a:t>w</a:t>
            </a:r>
            <a:r>
              <a:rPr lang="en-CA" baseline="-25000" dirty="0">
                <a:latin typeface="+mj-lt"/>
              </a:rPr>
              <a:t>1</a:t>
            </a:r>
            <a:r>
              <a:rPr lang="en-CA" i="1" dirty="0">
                <a:latin typeface="+mj-lt"/>
              </a:rPr>
              <a:t> </a:t>
            </a:r>
            <a:r>
              <a:rPr lang="en-CA" dirty="0"/>
              <a:t>= 400 and </a:t>
            </a:r>
            <a:r>
              <a:rPr lang="en-CA" i="1" dirty="0">
                <a:latin typeface="+mj-lt"/>
              </a:rPr>
              <a:t>w</a:t>
            </a:r>
            <a:r>
              <a:rPr lang="en-CA" i="1" baseline="-25000" dirty="0">
                <a:latin typeface="+mj-lt"/>
              </a:rPr>
              <a:t>2</a:t>
            </a:r>
            <a:r>
              <a:rPr lang="en-CA" i="1" dirty="0">
                <a:latin typeface="+mj-lt"/>
              </a:rPr>
              <a:t> </a:t>
            </a:r>
            <a:r>
              <a:rPr lang="en-CA" dirty="0"/>
              <a:t>= 6000. We require long positions of 400 and 6000 in option 1 and option 2. A short position of 3240 in the asset is then required to make the portfolio delta neutral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solidFill>
                  <a:schemeClr val="tx2">
                    <a:satMod val="130000"/>
                  </a:schemeClr>
                </a:solidFill>
              </a:rPr>
              <a:t>Rho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>
          <a:xfrm>
            <a:off x="1450975" y="2362200"/>
            <a:ext cx="6826250" cy="3768725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Rho is the rate of change of the value of a derivative with respect to the interest rate							</a:t>
            </a:r>
          </a:p>
        </p:txBody>
      </p:sp>
      <p:sp>
        <p:nvSpPr>
          <p:cNvPr id="3174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3174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CD32D291-9093-4E6D-B998-E74AE7A2F038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30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solidFill>
                  <a:schemeClr val="tx2">
                    <a:satMod val="130000"/>
                  </a:schemeClr>
                </a:solidFill>
              </a:rPr>
              <a:t>Hedging in Practice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Traders usually ensure that their portfolios are delta-neutral at least once a day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Whenever the opportunity arises, they  improve gamma and vega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There are economies of scale</a:t>
            </a:r>
          </a:p>
          <a:p>
            <a:pPr lvl="1" eaLnBrk="1" hangingPunct="1"/>
            <a:r>
              <a:rPr lang="en-US" altLang="en-US" smtClean="0">
                <a:latin typeface="Arial" charset="0"/>
                <a:cs typeface="Arial" charset="0"/>
              </a:rPr>
              <a:t>As portfolio becomes larger hedging becomes less expensive per option in the portfolio</a:t>
            </a:r>
          </a:p>
        </p:txBody>
      </p:sp>
      <p:sp>
        <p:nvSpPr>
          <p:cNvPr id="3277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3277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57E52F5A-54DD-4BD1-868E-8EE3F89543C8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31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solidFill>
                  <a:schemeClr val="tx2">
                    <a:satMod val="130000"/>
                  </a:schemeClr>
                </a:solidFill>
              </a:rPr>
              <a:t>Scenario Analysis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/>
        <p:txBody>
          <a:bodyPr lIns="92075" tIns="46038" rIns="92075" bIns="46038"/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	A scenario analysis involves testing the effect on the value of a portfolio of different assumptions concerning asset prices and their volatilities</a:t>
            </a:r>
          </a:p>
        </p:txBody>
      </p:sp>
      <p:sp>
        <p:nvSpPr>
          <p:cNvPr id="3379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3379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0E79DD80-897B-4DF3-AE5F-9C4D58C2DD25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32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6063" y="930275"/>
            <a:ext cx="7772400" cy="669925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en-US" dirty="0" smtClean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4000" dirty="0" smtClean="0">
                <a:solidFill>
                  <a:schemeClr val="tx2">
                    <a:satMod val="130000"/>
                  </a:schemeClr>
                </a:solidFill>
              </a:rPr>
              <a:t>Greek Letters for European Options on an Asset that Provides a Yield at Rate q </a:t>
            </a:r>
            <a:r>
              <a:rPr lang="en-US" sz="2700" dirty="0" smtClean="0">
                <a:solidFill>
                  <a:schemeClr val="tx2">
                    <a:satMod val="130000"/>
                  </a:schemeClr>
                </a:solidFill>
              </a:rPr>
              <a:t>(Table 19.6)</a:t>
            </a:r>
            <a:endParaRPr lang="en-US" sz="2700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34819" name="Content Placeholder 2"/>
          <p:cNvSpPr>
            <a:spLocks noGrp="1"/>
          </p:cNvSpPr>
          <p:nvPr>
            <p:ph idx="1"/>
          </p:nvPr>
        </p:nvSpPr>
        <p:spPr>
          <a:xfrm>
            <a:off x="533400" y="2768600"/>
            <a:ext cx="7772400" cy="4114800"/>
          </a:xfrm>
        </p:spPr>
        <p:txBody>
          <a:bodyPr/>
          <a:lstStyle/>
          <a:p>
            <a:pPr eaLnBrk="1" hangingPunct="1">
              <a:buFont typeface="Wingdings 2" pitchFamily="18" charset="2"/>
              <a:buNone/>
            </a:pPr>
            <a:r>
              <a:rPr lang="en-US" altLang="en-US" dirty="0" smtClean="0">
                <a:latin typeface="Arial" charset="0"/>
                <a:cs typeface="Arial" charset="0"/>
              </a:rPr>
              <a:t> </a:t>
            </a:r>
          </a:p>
          <a:p>
            <a:pPr eaLnBrk="1" hangingPunct="1">
              <a:buFont typeface="Wingdings 2" pitchFamily="18" charset="2"/>
              <a:buNone/>
            </a:pPr>
            <a:endParaRPr lang="en-US" altLang="en-US" dirty="0" smtClean="0">
              <a:latin typeface="Arial" charset="0"/>
              <a:cs typeface="Arial" charset="0"/>
            </a:endParaRPr>
          </a:p>
        </p:txBody>
      </p:sp>
      <p:sp>
        <p:nvSpPr>
          <p:cNvPr id="34820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3482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C4993704-5B6A-474E-BE8D-9C267787AC81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33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2667000"/>
          <a:ext cx="6705600" cy="2565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4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2240">
                <a:tc>
                  <a:txBody>
                    <a:bodyPr/>
                    <a:lstStyle/>
                    <a:p>
                      <a:r>
                        <a:rPr lang="en-US" i="1" dirty="0" smtClean="0">
                          <a:latin typeface="Arial" pitchFamily="34" charset="0"/>
                          <a:cs typeface="Arial" pitchFamily="34" charset="0"/>
                        </a:rPr>
                        <a:t>Greek</a:t>
                      </a:r>
                      <a:r>
                        <a:rPr lang="en-US" i="1" baseline="0" dirty="0" smtClean="0">
                          <a:latin typeface="Arial" pitchFamily="34" charset="0"/>
                          <a:cs typeface="Arial" pitchFamily="34" charset="0"/>
                        </a:rPr>
                        <a:t> Letter</a:t>
                      </a:r>
                      <a:endParaRPr lang="en-US" i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 smtClean="0">
                          <a:latin typeface="Arial" pitchFamily="34" charset="0"/>
                          <a:cs typeface="Arial" pitchFamily="34" charset="0"/>
                        </a:rPr>
                        <a:t>Call Option</a:t>
                      </a:r>
                      <a:endParaRPr lang="en-US" i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 smtClean="0">
                          <a:latin typeface="Arial" pitchFamily="34" charset="0"/>
                          <a:cs typeface="Arial" pitchFamily="34" charset="0"/>
                        </a:rPr>
                        <a:t>Put Option</a:t>
                      </a:r>
                      <a:endParaRPr lang="en-US" i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Arial" pitchFamily="34" charset="0"/>
                          <a:cs typeface="Arial" pitchFamily="34" charset="0"/>
                        </a:rPr>
                        <a:t>Delta</a:t>
                      </a:r>
                      <a:endParaRPr lang="en-U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372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Arial" pitchFamily="34" charset="0"/>
                          <a:cs typeface="Arial" pitchFamily="34" charset="0"/>
                        </a:rPr>
                        <a:t>Gamma</a:t>
                      </a:r>
                      <a:endParaRPr lang="en-U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Arial" pitchFamily="34" charset="0"/>
                          <a:cs typeface="Arial" pitchFamily="34" charset="0"/>
                        </a:rPr>
                        <a:t>Theta</a:t>
                      </a:r>
                      <a:endParaRPr lang="en-U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Arial" pitchFamily="34" charset="0"/>
                          <a:cs typeface="Arial" pitchFamily="34" charset="0"/>
                        </a:rPr>
                        <a:t>Vega</a:t>
                      </a:r>
                      <a:endParaRPr lang="en-U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Arial" pitchFamily="34" charset="0"/>
                          <a:cs typeface="Arial" pitchFamily="34" charset="0"/>
                        </a:rPr>
                        <a:t>Rho</a:t>
                      </a:r>
                      <a:endParaRPr lang="en-U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4852" name="Object 6"/>
          <p:cNvGraphicFramePr>
            <a:graphicFrameLocks noChangeAspect="1"/>
          </p:cNvGraphicFramePr>
          <p:nvPr/>
        </p:nvGraphicFramePr>
        <p:xfrm>
          <a:off x="2819400" y="3124200"/>
          <a:ext cx="6477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32" name="Equation" r:id="rId6" imgW="647700" imgH="228600" progId="Equation.3">
                  <p:embed/>
                </p:oleObj>
              </mc:Choice>
              <mc:Fallback>
                <p:oleObj name="Equation" r:id="rId6" imgW="647700" imgH="228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3124200"/>
                        <a:ext cx="647700" cy="22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53" name="Object 7"/>
          <p:cNvGraphicFramePr>
            <a:graphicFrameLocks noChangeAspect="1"/>
          </p:cNvGraphicFramePr>
          <p:nvPr/>
        </p:nvGraphicFramePr>
        <p:xfrm>
          <a:off x="2819400" y="3429000"/>
          <a:ext cx="7239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33" name="Equation" r:id="rId8" imgW="723586" imgH="469696" progId="Equation.3">
                  <p:embed/>
                </p:oleObj>
              </mc:Choice>
              <mc:Fallback>
                <p:oleObj name="Equation" r:id="rId8" imgW="723586" imgH="469696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3429000"/>
                        <a:ext cx="7239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54" name="Object 8"/>
          <p:cNvGraphicFramePr>
            <a:graphicFrameLocks noChangeAspect="1"/>
          </p:cNvGraphicFramePr>
          <p:nvPr/>
        </p:nvGraphicFramePr>
        <p:xfrm>
          <a:off x="5181600" y="3429000"/>
          <a:ext cx="7239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34" name="Equation" r:id="rId10" imgW="723586" imgH="469696" progId="Equation.3">
                  <p:embed/>
                </p:oleObj>
              </mc:Choice>
              <mc:Fallback>
                <p:oleObj name="Equation" r:id="rId10" imgW="723586" imgH="469696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3429000"/>
                        <a:ext cx="7239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55" name="Object 9"/>
          <p:cNvGraphicFramePr>
            <a:graphicFrameLocks noChangeAspect="1"/>
          </p:cNvGraphicFramePr>
          <p:nvPr/>
        </p:nvGraphicFramePr>
        <p:xfrm>
          <a:off x="5181600" y="3124200"/>
          <a:ext cx="9144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35" name="Equation" r:id="rId12" imgW="914400" imgH="228600" progId="Equation.3">
                  <p:embed/>
                </p:oleObj>
              </mc:Choice>
              <mc:Fallback>
                <p:oleObj name="Equation" r:id="rId12" imgW="914400" imgH="2286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3124200"/>
                        <a:ext cx="914400" cy="22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56" name="Object 10"/>
          <p:cNvGraphicFramePr>
            <a:graphicFrameLocks noChangeAspect="1"/>
          </p:cNvGraphicFramePr>
          <p:nvPr/>
        </p:nvGraphicFramePr>
        <p:xfrm>
          <a:off x="2667000" y="3962400"/>
          <a:ext cx="18923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36" name="Equation" r:id="rId14" imgW="1892300" imgH="508000" progId="Equation.3">
                  <p:embed/>
                </p:oleObj>
              </mc:Choice>
              <mc:Fallback>
                <p:oleObj name="Equation" r:id="rId14" imgW="1892300" imgH="5080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3962400"/>
                        <a:ext cx="18923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57" name="Object 11"/>
          <p:cNvGraphicFramePr>
            <a:graphicFrameLocks noChangeAspect="1"/>
          </p:cNvGraphicFramePr>
          <p:nvPr/>
        </p:nvGraphicFramePr>
        <p:xfrm>
          <a:off x="5105400" y="3962400"/>
          <a:ext cx="20701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37" name="Equation" r:id="rId16" imgW="2070100" imgH="508000" progId="Equation.3">
                  <p:embed/>
                </p:oleObj>
              </mc:Choice>
              <mc:Fallback>
                <p:oleObj name="Equation" r:id="rId16" imgW="2070100" imgH="5080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3962400"/>
                        <a:ext cx="20701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58" name="Object 12"/>
          <p:cNvGraphicFramePr>
            <a:graphicFrameLocks noChangeAspect="1"/>
          </p:cNvGraphicFramePr>
          <p:nvPr/>
        </p:nvGraphicFramePr>
        <p:xfrm>
          <a:off x="2819400" y="4572000"/>
          <a:ext cx="10287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38" name="Equation" r:id="rId18" imgW="1028254" imgH="253890" progId="Equation.3">
                  <p:embed/>
                </p:oleObj>
              </mc:Choice>
              <mc:Fallback>
                <p:oleObj name="Equation" r:id="rId18" imgW="1028254" imgH="25389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4572000"/>
                        <a:ext cx="1028700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59" name="Object 13"/>
          <p:cNvGraphicFramePr>
            <a:graphicFrameLocks noChangeAspect="1"/>
          </p:cNvGraphicFramePr>
          <p:nvPr/>
        </p:nvGraphicFramePr>
        <p:xfrm>
          <a:off x="5181600" y="4572000"/>
          <a:ext cx="10287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39" name="Equation" r:id="rId20" imgW="1028254" imgH="253890" progId="Equation.3">
                  <p:embed/>
                </p:oleObj>
              </mc:Choice>
              <mc:Fallback>
                <p:oleObj name="Equation" r:id="rId20" imgW="1028254" imgH="25389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4572000"/>
                        <a:ext cx="1028700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60" name="Object 14"/>
          <p:cNvGraphicFramePr>
            <a:graphicFrameLocks noChangeAspect="1"/>
          </p:cNvGraphicFramePr>
          <p:nvPr/>
        </p:nvGraphicFramePr>
        <p:xfrm>
          <a:off x="2819400" y="4953000"/>
          <a:ext cx="8509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40" name="Equation" r:id="rId21" imgW="850900" imgH="228600" progId="Equation.3">
                  <p:embed/>
                </p:oleObj>
              </mc:Choice>
              <mc:Fallback>
                <p:oleObj name="Equation" r:id="rId21" imgW="850900" imgH="2286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4953000"/>
                        <a:ext cx="850900" cy="22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61" name="Object 15"/>
          <p:cNvGraphicFramePr>
            <a:graphicFrameLocks noChangeAspect="1"/>
          </p:cNvGraphicFramePr>
          <p:nvPr/>
        </p:nvGraphicFramePr>
        <p:xfrm>
          <a:off x="5105400" y="4953000"/>
          <a:ext cx="10541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41" name="Equation" r:id="rId23" imgW="1054100" imgH="228600" progId="Equation.3">
                  <p:embed/>
                </p:oleObj>
              </mc:Choice>
              <mc:Fallback>
                <p:oleObj name="Equation" r:id="rId23" imgW="1054100" imgH="2286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4953000"/>
                        <a:ext cx="1054100" cy="22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914400" y="5638800"/>
            <a:ext cx="71040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In practice, the volatility, </a:t>
            </a:r>
            <a:r>
              <a:rPr lang="en-US" dirty="0" smtClean="0">
                <a:latin typeface="Symbol" panose="05050102010706020507" pitchFamily="18" charset="2"/>
              </a:rPr>
              <a:t>s,</a:t>
            </a:r>
            <a:r>
              <a:rPr lang="en-US" dirty="0" smtClean="0"/>
              <a:t> is usually set equal to the implied volatility </a:t>
            </a:r>
            <a:endParaRPr lang="en-CA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Futures Contract Can Be Used for Hedging</a:t>
            </a: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3584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 altLang="en-US" smtClean="0">
              <a:latin typeface="Arial" charset="0"/>
              <a:cs typeface="Arial" charset="0"/>
            </a:endParaRP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The delta of a futures contract on an asset paying a yield at rate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q</a:t>
            </a:r>
            <a:r>
              <a:rPr lang="en-US" altLang="en-US" smtClean="0">
                <a:latin typeface="Arial" charset="0"/>
                <a:cs typeface="Arial" charset="0"/>
              </a:rPr>
              <a:t> is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e</a:t>
            </a:r>
            <a:r>
              <a:rPr lang="en-US" altLang="en-US" baseline="30000" smtClean="0">
                <a:latin typeface="Times New Roman" pitchFamily="18" charset="0"/>
                <a:cs typeface="Arial" charset="0"/>
              </a:rPr>
              <a:t>(</a:t>
            </a:r>
            <a:r>
              <a:rPr lang="en-US" altLang="en-US" i="1" baseline="30000" smtClean="0">
                <a:latin typeface="Times New Roman" pitchFamily="18" charset="0"/>
                <a:cs typeface="Arial" charset="0"/>
              </a:rPr>
              <a:t>r−q</a:t>
            </a:r>
            <a:r>
              <a:rPr lang="en-US" altLang="en-US" baseline="30000" smtClean="0">
                <a:latin typeface="Times New Roman" pitchFamily="18" charset="0"/>
                <a:cs typeface="Arial" charset="0"/>
              </a:rPr>
              <a:t>)</a:t>
            </a:r>
            <a:r>
              <a:rPr lang="en-US" altLang="en-US" i="1" baseline="30000" smtClean="0">
                <a:latin typeface="Times New Roman" pitchFamily="18" charset="0"/>
                <a:cs typeface="Arial" charset="0"/>
              </a:rPr>
              <a:t>T</a:t>
            </a:r>
            <a:r>
              <a:rPr lang="en-US" altLang="en-US" smtClean="0">
                <a:latin typeface="Arial" charset="0"/>
                <a:cs typeface="Arial" charset="0"/>
              </a:rPr>
              <a:t> times the delta of a spot contract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The position required in futures for delta hedging is therefore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e</a:t>
            </a:r>
            <a:r>
              <a:rPr lang="en-US" altLang="en-US" i="1" baseline="30000" smtClean="0">
                <a:latin typeface="Times New Roman" pitchFamily="18" charset="0"/>
                <a:cs typeface="Arial" charset="0"/>
              </a:rPr>
              <a:t>−</a:t>
            </a:r>
            <a:r>
              <a:rPr lang="en-US" altLang="en-US" baseline="30000" smtClean="0">
                <a:latin typeface="Times New Roman" pitchFamily="18" charset="0"/>
                <a:cs typeface="Arial" charset="0"/>
              </a:rPr>
              <a:t>(</a:t>
            </a:r>
            <a:r>
              <a:rPr lang="en-US" altLang="en-US" i="1" baseline="30000" smtClean="0">
                <a:latin typeface="Times New Roman" pitchFamily="18" charset="0"/>
                <a:cs typeface="Arial" charset="0"/>
              </a:rPr>
              <a:t>r−q</a:t>
            </a:r>
            <a:r>
              <a:rPr lang="en-US" altLang="en-US" baseline="30000" smtClean="0">
                <a:latin typeface="Times New Roman" pitchFamily="18" charset="0"/>
                <a:cs typeface="Arial" charset="0"/>
              </a:rPr>
              <a:t>)</a:t>
            </a:r>
            <a:r>
              <a:rPr lang="en-US" altLang="en-US" i="1" baseline="30000" smtClean="0">
                <a:latin typeface="Times New Roman" pitchFamily="18" charset="0"/>
                <a:cs typeface="Arial" charset="0"/>
              </a:rPr>
              <a:t>T</a:t>
            </a:r>
            <a:r>
              <a:rPr lang="en-US" altLang="en-US" smtClean="0">
                <a:latin typeface="Arial" charset="0"/>
                <a:cs typeface="Arial" charset="0"/>
              </a:rPr>
              <a:t>  times the position required in the corresponding spot contract</a:t>
            </a:r>
          </a:p>
          <a:p>
            <a:pPr eaLnBrk="1" hangingPunct="1"/>
            <a:endParaRPr lang="en-US" altLang="en-US" smtClean="0">
              <a:latin typeface="Arial" charset="0"/>
              <a:cs typeface="Arial" charset="0"/>
            </a:endParaRPr>
          </a:p>
        </p:txBody>
      </p:sp>
      <p:sp>
        <p:nvSpPr>
          <p:cNvPr id="35844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3584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FD32A58E-4E06-4B3C-8D66-47E3E5C56413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34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Hedging </a:t>
            </a:r>
            <a:r>
              <a:rPr lang="en-US" dirty="0" err="1">
                <a:solidFill>
                  <a:schemeClr val="tx2">
                    <a:satMod val="130000"/>
                  </a:schemeClr>
                </a:solidFill>
              </a:rPr>
              <a:t>vs</a:t>
            </a: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 Creation of an Option Synthetically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>
          <a:xfrm>
            <a:off x="1338263" y="2438400"/>
            <a:ext cx="6616700" cy="2535238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When we are hedging we take positions that offset delta, gamma, vega, etc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When we create an option synthetically we take positions that matchdelta, gamma, vega, etc</a:t>
            </a:r>
            <a:endParaRPr lang="en-US" altLang="en-US" sz="4000" smtClean="0">
              <a:latin typeface="Symbol" pitchFamily="18" charset="2"/>
              <a:cs typeface="Arial" charset="0"/>
            </a:endParaRPr>
          </a:p>
        </p:txBody>
      </p:sp>
      <p:sp>
        <p:nvSpPr>
          <p:cNvPr id="3686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3686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30B8FBEF-C5D2-4545-8C84-F3E7DBF091C9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35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1295400" y="762000"/>
            <a:ext cx="7162800" cy="990600"/>
          </a:xfrm>
        </p:spPr>
        <p:txBody>
          <a:bodyPr lIns="92075" tIns="46038" rIns="92075" bIns="46038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Portfolio Insurance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idx="1"/>
          </p:nvPr>
        </p:nvSpPr>
        <p:spPr>
          <a:xfrm>
            <a:off x="1295400" y="2133600"/>
            <a:ext cx="7353300" cy="4503738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In October of 1987 many portfolio managers attempted to create a put option on a portfolio synthetically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This involves initially selling enough of the portfolio (or of index futures) to match the </a:t>
            </a:r>
            <a:r>
              <a:rPr lang="en-US" altLang="en-US" smtClean="0">
                <a:latin typeface="Symbol" pitchFamily="18" charset="2"/>
                <a:cs typeface="Arial" charset="0"/>
              </a:rPr>
              <a:t>D</a:t>
            </a:r>
            <a:r>
              <a:rPr lang="en-US" altLang="en-US" smtClean="0">
                <a:latin typeface="Arial" charset="0"/>
                <a:cs typeface="Arial" charset="0"/>
              </a:rPr>
              <a:t> of the put option</a:t>
            </a:r>
          </a:p>
          <a:p>
            <a:pPr eaLnBrk="1" hangingPunct="1">
              <a:buFont typeface="Wingdings" pitchFamily="2" charset="2"/>
              <a:buNone/>
            </a:pPr>
            <a:endParaRPr lang="en-US" altLang="en-US" smtClean="0">
              <a:latin typeface="Arial" charset="0"/>
              <a:cs typeface="Arial" charset="0"/>
            </a:endParaRPr>
          </a:p>
        </p:txBody>
      </p:sp>
      <p:sp>
        <p:nvSpPr>
          <p:cNvPr id="3789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3789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93FFD42F-2156-4F6D-995A-F2D7C94FA5F5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36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Portfolio Insurance</a:t>
            </a:r>
            <a:br>
              <a:rPr lang="en-US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continued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idx="1"/>
          </p:nvPr>
        </p:nvSpPr>
        <p:spPr/>
        <p:txBody>
          <a:bodyPr lIns="92075" tIns="46038" rIns="92075" bIns="46038"/>
          <a:lstStyle/>
          <a:p>
            <a:pPr eaLnBrk="1" hangingPunct="1"/>
            <a:endParaRPr lang="en-US" altLang="en-US" smtClean="0">
              <a:latin typeface="Arial" charset="0"/>
              <a:cs typeface="Arial" charset="0"/>
            </a:endParaRP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As the value of the portfolio increases, the </a:t>
            </a:r>
            <a:r>
              <a:rPr lang="en-US" altLang="en-US" smtClean="0">
                <a:latin typeface="Symbol" pitchFamily="18" charset="2"/>
                <a:cs typeface="Arial" charset="0"/>
              </a:rPr>
              <a:t>D</a:t>
            </a:r>
            <a:r>
              <a:rPr lang="en-US" altLang="en-US" smtClean="0">
                <a:latin typeface="Arial" charset="0"/>
                <a:cs typeface="Arial" charset="0"/>
              </a:rPr>
              <a:t> of the put becomes less negative and some of the original portfolio is repurchased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As the value of the portfolio decreases, the </a:t>
            </a:r>
            <a:r>
              <a:rPr lang="en-US" altLang="en-US" smtClean="0">
                <a:latin typeface="Symbol" pitchFamily="18" charset="2"/>
                <a:cs typeface="Arial" charset="0"/>
              </a:rPr>
              <a:t>D</a:t>
            </a:r>
            <a:r>
              <a:rPr lang="en-US" altLang="en-US" smtClean="0">
                <a:latin typeface="Arial" charset="0"/>
                <a:cs typeface="Arial" charset="0"/>
              </a:rPr>
              <a:t> of the put becomes more negative and more of the portfolio must be sold</a:t>
            </a:r>
          </a:p>
          <a:p>
            <a:pPr eaLnBrk="1" hangingPunct="1">
              <a:buFont typeface="Wingdings" pitchFamily="2" charset="2"/>
              <a:buNone/>
            </a:pPr>
            <a:endParaRPr lang="en-US" altLang="en-US" smtClean="0">
              <a:latin typeface="Arial" charset="0"/>
              <a:cs typeface="Arial" charset="0"/>
            </a:endParaRPr>
          </a:p>
        </p:txBody>
      </p:sp>
      <p:sp>
        <p:nvSpPr>
          <p:cNvPr id="3891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3891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8F821033-B12A-4D49-8590-5C376E891183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37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solidFill>
                  <a:schemeClr val="tx2">
                    <a:satMod val="130000"/>
                  </a:schemeClr>
                </a:solidFill>
              </a:rPr>
              <a:t>Portfolio Insurance</a:t>
            </a:r>
            <a:br>
              <a:rPr lang="en-US">
                <a:solidFill>
                  <a:schemeClr val="tx2">
                    <a:satMod val="130000"/>
                  </a:schemeClr>
                </a:solidFill>
              </a:rPr>
            </a:br>
            <a:r>
              <a:rPr lang="en-US">
                <a:solidFill>
                  <a:schemeClr val="tx2">
                    <a:satMod val="130000"/>
                  </a:schemeClr>
                </a:solidFill>
              </a:rPr>
              <a:t>continued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idx="1"/>
          </p:nvPr>
        </p:nvSpPr>
        <p:spPr>
          <a:xfrm>
            <a:off x="1219200" y="2373313"/>
            <a:ext cx="7467600" cy="3757612"/>
          </a:xfrm>
        </p:spPr>
        <p:txBody>
          <a:bodyPr lIns="92075" tIns="46038" rIns="92075" bIns="46038"/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	The strategy did not work well on October 19, 1987...</a:t>
            </a:r>
          </a:p>
        </p:txBody>
      </p:sp>
      <p:sp>
        <p:nvSpPr>
          <p:cNvPr id="3994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3994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C95FDCCD-F841-473C-BEC3-061703F5A3F4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38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lobal">
  <a:themeElements>
    <a:clrScheme name="Custom 5">
      <a:dk1>
        <a:srgbClr val="000000"/>
      </a:dk1>
      <a:lt1>
        <a:srgbClr val="FFFFFF"/>
      </a:lt1>
      <a:dk2>
        <a:srgbClr val="3A3015"/>
      </a:dk2>
      <a:lt2>
        <a:srgbClr val="FFFFFF"/>
      </a:lt2>
      <a:accent1>
        <a:srgbClr val="FFFFCC"/>
      </a:accent1>
      <a:accent2>
        <a:srgbClr val="B5E0E3"/>
      </a:accent2>
      <a:accent3>
        <a:srgbClr val="FFFFFF"/>
      </a:accent3>
      <a:accent4>
        <a:srgbClr val="000000"/>
      </a:accent4>
      <a:accent5>
        <a:srgbClr val="FFFFE2"/>
      </a:accent5>
      <a:accent6>
        <a:srgbClr val="A4CBCE"/>
      </a:accent6>
      <a:hlink>
        <a:srgbClr val="E5D093"/>
      </a:hlink>
      <a:folHlink>
        <a:srgbClr val="CCB374"/>
      </a:folHlink>
    </a:clrScheme>
    <a:fontScheme name="Global">
      <a:majorFont>
        <a:latin typeface="Times New Roman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Global 1">
        <a:dk1>
          <a:srgbClr val="000000"/>
        </a:dk1>
        <a:lt1>
          <a:srgbClr val="FFFFCC"/>
        </a:lt1>
        <a:dk2>
          <a:srgbClr val="4D4D4D"/>
        </a:dk2>
        <a:lt2>
          <a:srgbClr val="FFCC00"/>
        </a:lt2>
        <a:accent1>
          <a:srgbClr val="FF9900"/>
        </a:accent1>
        <a:accent2>
          <a:srgbClr val="CC9900"/>
        </a:accent2>
        <a:accent3>
          <a:srgbClr val="B2B2B2"/>
        </a:accent3>
        <a:accent4>
          <a:srgbClr val="DADAAE"/>
        </a:accent4>
        <a:accent5>
          <a:srgbClr val="FFCAAA"/>
        </a:accent5>
        <a:accent6>
          <a:srgbClr val="B98A00"/>
        </a:accent6>
        <a:hlink>
          <a:srgbClr val="898743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2">
        <a:dk1>
          <a:srgbClr val="000000"/>
        </a:dk1>
        <a:lt1>
          <a:srgbClr val="FFFFFF"/>
        </a:lt1>
        <a:dk2>
          <a:srgbClr val="CC6600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E5D093"/>
        </a:hlink>
        <a:folHlink>
          <a:srgbClr val="CCB3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8F8F8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FBFBFB"/>
        </a:accent5>
        <a:accent6>
          <a:srgbClr val="878787"/>
        </a:accent6>
        <a:hlink>
          <a:srgbClr val="DDDDDD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4">
        <a:dk1>
          <a:srgbClr val="000000"/>
        </a:dk1>
        <a:lt1>
          <a:srgbClr val="FFFFFF"/>
        </a:lt1>
        <a:dk2>
          <a:srgbClr val="000066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FDF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5">
        <a:dk1>
          <a:srgbClr val="000000"/>
        </a:dk1>
        <a:lt1>
          <a:srgbClr val="E9E6D9"/>
        </a:lt1>
        <a:dk2>
          <a:srgbClr val="666633"/>
        </a:dk2>
        <a:lt2>
          <a:srgbClr val="CEC7AA"/>
        </a:lt2>
        <a:accent1>
          <a:srgbClr val="FFFFCC"/>
        </a:accent1>
        <a:accent2>
          <a:srgbClr val="B5E0E3"/>
        </a:accent2>
        <a:accent3>
          <a:srgbClr val="F2F0E9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6AB82"/>
        </a:hlink>
        <a:folHlink>
          <a:srgbClr val="A0925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6">
        <a:dk1>
          <a:srgbClr val="1B3753"/>
        </a:dk1>
        <a:lt1>
          <a:srgbClr val="EAEAEA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C8C8C8"/>
        </a:accent4>
        <a:accent5>
          <a:srgbClr val="D9C6B0"/>
        </a:accent5>
        <a:accent6>
          <a:srgbClr val="3FAE9E"/>
        </a:accent6>
        <a:hlink>
          <a:srgbClr val="93ACC3"/>
        </a:hlink>
        <a:folHlink>
          <a:srgbClr val="7897B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7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FFCC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E7B98A"/>
        </a:accent6>
        <a:hlink>
          <a:srgbClr val="FF9999"/>
        </a:hlink>
        <a:folHlink>
          <a:srgbClr val="E063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8">
        <a:dk1>
          <a:srgbClr val="000000"/>
        </a:dk1>
        <a:lt1>
          <a:srgbClr val="EAEAEA"/>
        </a:lt1>
        <a:dk2>
          <a:srgbClr val="17118B"/>
        </a:dk2>
        <a:lt2>
          <a:srgbClr val="FFFFCC"/>
        </a:lt2>
        <a:accent1>
          <a:srgbClr val="B2B2B2"/>
        </a:accent1>
        <a:accent2>
          <a:srgbClr val="54ABB2"/>
        </a:accent2>
        <a:accent3>
          <a:srgbClr val="ABAAC4"/>
        </a:accent3>
        <a:accent4>
          <a:srgbClr val="C8C8C8"/>
        </a:accent4>
        <a:accent5>
          <a:srgbClr val="D5D5D5"/>
        </a:accent5>
        <a:accent6>
          <a:srgbClr val="4B9BA1"/>
        </a:accent6>
        <a:hlink>
          <a:srgbClr val="4F49A3"/>
        </a:hlink>
        <a:folHlink>
          <a:srgbClr val="2E2573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1_Network 9">
    <a:dk1>
      <a:srgbClr val="000000"/>
    </a:dk1>
    <a:lt1>
      <a:srgbClr val="FFFFFF"/>
    </a:lt1>
    <a:dk2>
      <a:srgbClr val="7C1302"/>
    </a:dk2>
    <a:lt2>
      <a:srgbClr val="CC9900"/>
    </a:lt2>
    <a:accent1>
      <a:srgbClr val="CC9900"/>
    </a:accent1>
    <a:accent2>
      <a:srgbClr val="CC3300"/>
    </a:accent2>
    <a:accent3>
      <a:srgbClr val="FFFFFF"/>
    </a:accent3>
    <a:accent4>
      <a:srgbClr val="000000"/>
    </a:accent4>
    <a:accent5>
      <a:srgbClr val="E2CAAA"/>
    </a:accent5>
    <a:accent6>
      <a:srgbClr val="B92D00"/>
    </a:accent6>
    <a:hlink>
      <a:srgbClr val="808080"/>
    </a:hlink>
    <a:folHlink>
      <a:srgbClr val="CCCC66"/>
    </a:folHlink>
  </a:clrScheme>
  <a:fontScheme name="1_Network">
    <a:majorFont>
      <a:latin typeface="Times New Roman"/>
      <a:ea typeface=""/>
      <a:cs typeface=""/>
    </a:majorFont>
    <a:minorFont>
      <a:latin typeface="Arial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4DB470C54600C46B1B0C1FE5EDD1D1B" ma:contentTypeVersion="0" ma:contentTypeDescription="Create a new document." ma:contentTypeScope="" ma:versionID="9ec98e71a396c75c5e8fb3166c3ab2c4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00c6692915ba10984c0aabd49f31b2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E575492-16C3-41A4-863C-8679CC04D389}"/>
</file>

<file path=customXml/itemProps2.xml><?xml version="1.0" encoding="utf-8"?>
<ds:datastoreItem xmlns:ds="http://schemas.openxmlformats.org/officeDocument/2006/customXml" ds:itemID="{86B0A647-F841-4C46-8F9E-50658A359D73}"/>
</file>

<file path=customXml/itemProps3.xml><?xml version="1.0" encoding="utf-8"?>
<ds:datastoreItem xmlns:ds="http://schemas.openxmlformats.org/officeDocument/2006/customXml" ds:itemID="{0ED77265-EE0E-484E-A8DA-A6F75AD9A255}"/>
</file>

<file path=docProps/app.xml><?xml version="1.0" encoding="utf-8"?>
<Properties xmlns="http://schemas.openxmlformats.org/officeDocument/2006/extended-properties" xmlns:vt="http://schemas.openxmlformats.org/officeDocument/2006/docPropsVTypes">
  <Template>Ch17HullOFOD8thEdition</Template>
  <TotalTime>347</TotalTime>
  <Words>2074</Words>
  <Application>Microsoft Office PowerPoint</Application>
  <PresentationFormat>On-screen Show (4:3)</PresentationFormat>
  <Paragraphs>376</Paragraphs>
  <Slides>38</Slides>
  <Notes>33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7" baseType="lpstr">
      <vt:lpstr>Arial</vt:lpstr>
      <vt:lpstr>Calibri</vt:lpstr>
      <vt:lpstr>Symbol</vt:lpstr>
      <vt:lpstr>Tahoma</vt:lpstr>
      <vt:lpstr>Times New Roman</vt:lpstr>
      <vt:lpstr>Wingdings</vt:lpstr>
      <vt:lpstr>Wingdings 2</vt:lpstr>
      <vt:lpstr>Global</vt:lpstr>
      <vt:lpstr>Equation</vt:lpstr>
      <vt:lpstr> Chapter 19 The Greek Letters</vt:lpstr>
      <vt:lpstr>Example</vt:lpstr>
      <vt:lpstr>Naked &amp; Covered Positions</vt:lpstr>
      <vt:lpstr>Stop-Loss Strategy</vt:lpstr>
      <vt:lpstr>Stop-Loss Strategy continued (Figure 19.1)</vt:lpstr>
      <vt:lpstr>Greek Letters</vt:lpstr>
      <vt:lpstr>Delta (See Figure 19.2)</vt:lpstr>
      <vt:lpstr>Hedge</vt:lpstr>
      <vt:lpstr>Delta Hedging</vt:lpstr>
      <vt:lpstr>Delta of a Stock Option (K=50, r=0, s = 25%, T=2, Figure 19.3)</vt:lpstr>
      <vt:lpstr>Variation of Delta with Time to Maturity(S0=50, r=0, s=25%, Figure 19.4)</vt:lpstr>
      <vt:lpstr>The Costs in Delta Hedging continued</vt:lpstr>
      <vt:lpstr>First Scenario for the Example (Table 19.2)</vt:lpstr>
      <vt:lpstr>Second Scenario for the Example (Table 19.3)</vt:lpstr>
      <vt:lpstr>Theta</vt:lpstr>
      <vt:lpstr>Theta for Call Option (K=50,  s = 25%,     r = 0, T = 2, Figure 19.5)</vt:lpstr>
      <vt:lpstr>Variation of Theta with Time to Maturity (S0=50, r=0, s=25%, Figure 19.6)</vt:lpstr>
      <vt:lpstr>Gamma</vt:lpstr>
      <vt:lpstr>Gamma Addresses Delta Hedging Errors Caused By Curvature (Figure 19.7) </vt:lpstr>
      <vt:lpstr>Interpretation  of Gamma</vt:lpstr>
      <vt:lpstr>Gamma for Call or Put Option: (K=50, s = 25%, r = 0%, T = 2, Figure 19.9)</vt:lpstr>
      <vt:lpstr>Variation of Gamma with Time to Maturity (S0=50, r=0, s=25%, Figure 19.10)</vt:lpstr>
      <vt:lpstr>Relationship Between Delta, Gamma, and Theta (equation 19.4)</vt:lpstr>
      <vt:lpstr>Vega</vt:lpstr>
      <vt:lpstr>Vega for Call or Put Option (K=50, s = 25%, r = 0, T = 2, Figure 19.11))</vt:lpstr>
      <vt:lpstr>Taylor Series Expansion (Appendix to Chapter 19)</vt:lpstr>
      <vt:lpstr>Managing  Delta, Gamma, &amp; Vega</vt:lpstr>
      <vt:lpstr>Example 19.5</vt:lpstr>
      <vt:lpstr>Example 19.5 continued</vt:lpstr>
      <vt:lpstr>Rho</vt:lpstr>
      <vt:lpstr>Hedging in Practice</vt:lpstr>
      <vt:lpstr>Scenario Analysis</vt:lpstr>
      <vt:lpstr> Greek Letters for European Options on an Asset that Provides a Yield at Rate q (Table 19.6)</vt:lpstr>
      <vt:lpstr>Futures Contract Can Be Used for Hedging</vt:lpstr>
      <vt:lpstr>Hedging vs Creation of an Option Synthetically</vt:lpstr>
      <vt:lpstr>Portfolio Insurance</vt:lpstr>
      <vt:lpstr>Portfolio Insurance continued</vt:lpstr>
      <vt:lpstr>Portfolio Insurance continued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Greek Letters</dc:title>
  <dc:subject>Options, Futures, and Other Derivatives, 11e</dc:subject>
  <dc:creator>John C. Hull</dc:creator>
  <cp:keywords>Chapter 19</cp:keywords>
  <dc:description>Copyright 2021 by John C. Hull. All Rights Reserved. Published 2021</dc:description>
  <cp:lastModifiedBy>John Hull</cp:lastModifiedBy>
  <cp:revision>39</cp:revision>
  <dcterms:created xsi:type="dcterms:W3CDTF">2008-05-30T08:49:59Z</dcterms:created>
  <dcterms:modified xsi:type="dcterms:W3CDTF">2020-09-30T15:29:02Z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0x01010034DB470C54600C46B1B0C1FE5EDD1D1B</vt:lpwstr>
  </property>
</Properties>
</file>