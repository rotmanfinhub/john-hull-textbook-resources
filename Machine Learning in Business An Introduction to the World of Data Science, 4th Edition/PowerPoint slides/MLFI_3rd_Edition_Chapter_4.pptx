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71" r:id="rId3"/>
    <p:sldId id="272" r:id="rId4"/>
    <p:sldId id="273" r:id="rId5"/>
    <p:sldId id="258" r:id="rId6"/>
    <p:sldId id="274" r:id="rId7"/>
    <p:sldId id="275" r:id="rId8"/>
    <p:sldId id="286" r:id="rId9"/>
    <p:sldId id="276" r:id="rId10"/>
    <p:sldId id="285" r:id="rId11"/>
    <p:sldId id="282" r:id="rId12"/>
    <p:sldId id="287" r:id="rId13"/>
    <p:sldId id="288" r:id="rId14"/>
    <p:sldId id="284" r:id="rId15"/>
    <p:sldId id="267" r:id="rId16"/>
    <p:sldId id="268" r:id="rId17"/>
    <p:sldId id="269" r:id="rId18"/>
    <p:sldId id="270" r:id="rId19"/>
    <p:sldId id="264" r:id="rId20"/>
    <p:sldId id="265" r:id="rId21"/>
    <p:sldId id="266" r:id="rId22"/>
    <p:sldId id="279" r:id="rId23"/>
    <p:sldId id="280" r:id="rId24"/>
    <p:sldId id="28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BA84FF-B681-4099-B1C6-78064CC57D32}" v="1" dt="2021-05-27T21:39:57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2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ll" userId="b3f65f64fa01e6a6" providerId="LiveId" clId="{B5BA84FF-B681-4099-B1C6-78064CC57D32}"/>
    <pc:docChg chg="modSld">
      <pc:chgData name="John Hull" userId="b3f65f64fa01e6a6" providerId="LiveId" clId="{B5BA84FF-B681-4099-B1C6-78064CC57D32}" dt="2021-05-28T00:11:35.252" v="31" actId="20577"/>
      <pc:docMkLst>
        <pc:docMk/>
      </pc:docMkLst>
      <pc:sldChg chg="modSp mod">
        <pc:chgData name="John Hull" userId="b3f65f64fa01e6a6" providerId="LiveId" clId="{B5BA84FF-B681-4099-B1C6-78064CC57D32}" dt="2021-05-28T00:11:35.252" v="31" actId="20577"/>
        <pc:sldMkLst>
          <pc:docMk/>
          <pc:sldMk cId="2609102905" sldId="256"/>
        </pc:sldMkLst>
        <pc:spChg chg="mod">
          <ac:chgData name="John Hull" userId="b3f65f64fa01e6a6" providerId="LiveId" clId="{B5BA84FF-B681-4099-B1C6-78064CC57D32}" dt="2021-05-28T00:11:35.252" v="31" actId="20577"/>
          <ac:spMkLst>
            <pc:docMk/>
            <pc:sldMk cId="2609102905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BE6C6-E13E-4AA6-B3DE-1B7348933221}" type="datetimeFigureOut">
              <a:rPr lang="en-CA" smtClean="0"/>
              <a:t>2021-05-27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E2A24-94B3-4CFC-9703-EECBE5CCBD9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95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Arial" charset="0"/>
                <a:cs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64333 w 4848"/>
                  <a:gd name="T1" fmla="*/ 203416971 h 432"/>
                  <a:gd name="T2" fmla="*/ 0 w 4848"/>
                  <a:gd name="T3" fmla="*/ 203416971 h 432"/>
                  <a:gd name="T4" fmla="*/ 0 w 4848"/>
                  <a:gd name="T5" fmla="*/ 0 h 432"/>
                  <a:gd name="T6" fmla="*/ 64333 w 4848"/>
                  <a:gd name="T7" fmla="*/ 0 h 432"/>
                  <a:gd name="T8" fmla="*/ 64333 w 4848"/>
                  <a:gd name="T9" fmla="*/ 203416971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3 w 15"/>
                    <a:gd name="T1" fmla="*/ 3 h 23"/>
                    <a:gd name="T2" fmla="*/ 97 w 15"/>
                    <a:gd name="T3" fmla="*/ 3 h 23"/>
                    <a:gd name="T4" fmla="*/ 86 w 15"/>
                    <a:gd name="T5" fmla="*/ 3 h 23"/>
                    <a:gd name="T6" fmla="*/ 33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6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1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1 w 30"/>
                    <a:gd name="T7" fmla="*/ 2 h 42"/>
                    <a:gd name="T8" fmla="*/ 45 w 30"/>
                    <a:gd name="T9" fmla="*/ 2 h 42"/>
                    <a:gd name="T10" fmla="*/ 43 w 30"/>
                    <a:gd name="T11" fmla="*/ 2 h 42"/>
                    <a:gd name="T12" fmla="*/ 31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7 w 69"/>
                    <a:gd name="T5" fmla="*/ 1 h 47"/>
                    <a:gd name="T6" fmla="*/ 49 w 69"/>
                    <a:gd name="T7" fmla="*/ 2 h 47"/>
                    <a:gd name="T8" fmla="*/ 35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4 h 277"/>
                    <a:gd name="T10" fmla="*/ 122 w 355"/>
                    <a:gd name="T11" fmla="*/ 6 h 277"/>
                    <a:gd name="T12" fmla="*/ 136 w 355"/>
                    <a:gd name="T13" fmla="*/ 7 h 277"/>
                    <a:gd name="T14" fmla="*/ 148 w 355"/>
                    <a:gd name="T15" fmla="*/ 7 h 277"/>
                    <a:gd name="T16" fmla="*/ 154 w 355"/>
                    <a:gd name="T17" fmla="*/ 8 h 277"/>
                    <a:gd name="T18" fmla="*/ 176 w 355"/>
                    <a:gd name="T19" fmla="*/ 8 h 277"/>
                    <a:gd name="T20" fmla="*/ 170 w 355"/>
                    <a:gd name="T21" fmla="*/ 11 h 277"/>
                    <a:gd name="T22" fmla="*/ 177 w 355"/>
                    <a:gd name="T23" fmla="*/ 12 h 277"/>
                    <a:gd name="T24" fmla="*/ 183 w 355"/>
                    <a:gd name="T25" fmla="*/ 12 h 277"/>
                    <a:gd name="T26" fmla="*/ 201 w 355"/>
                    <a:gd name="T27" fmla="*/ 12 h 277"/>
                    <a:gd name="T28" fmla="*/ 221 w 355"/>
                    <a:gd name="T29" fmla="*/ 13 h 277"/>
                    <a:gd name="T30" fmla="*/ 239 w 355"/>
                    <a:gd name="T31" fmla="*/ 13 h 277"/>
                    <a:gd name="T32" fmla="*/ 257 w 355"/>
                    <a:gd name="T33" fmla="*/ 13 h 277"/>
                    <a:gd name="T34" fmla="*/ 281 w 355"/>
                    <a:gd name="T35" fmla="*/ 14 h 277"/>
                    <a:gd name="T36" fmla="*/ 299 w 355"/>
                    <a:gd name="T37" fmla="*/ 14 h 277"/>
                    <a:gd name="T38" fmla="*/ 337 w 355"/>
                    <a:gd name="T39" fmla="*/ 14 h 277"/>
                    <a:gd name="T40" fmla="*/ 327 w 355"/>
                    <a:gd name="T41" fmla="*/ 15 h 277"/>
                    <a:gd name="T42" fmla="*/ 307 w 355"/>
                    <a:gd name="T43" fmla="*/ 14 h 277"/>
                    <a:gd name="T44" fmla="*/ 285 w 355"/>
                    <a:gd name="T45" fmla="*/ 14 h 277"/>
                    <a:gd name="T46" fmla="*/ 273 w 355"/>
                    <a:gd name="T47" fmla="*/ 14 h 277"/>
                    <a:gd name="T48" fmla="*/ 237 w 355"/>
                    <a:gd name="T49" fmla="*/ 14 h 277"/>
                    <a:gd name="T50" fmla="*/ 219 w 355"/>
                    <a:gd name="T51" fmla="*/ 14 h 277"/>
                    <a:gd name="T52" fmla="*/ 172 w 355"/>
                    <a:gd name="T53" fmla="*/ 13 h 277"/>
                    <a:gd name="T54" fmla="*/ 160 w 355"/>
                    <a:gd name="T55" fmla="*/ 12 h 277"/>
                    <a:gd name="T56" fmla="*/ 126 w 355"/>
                    <a:gd name="T57" fmla="*/ 11 h 277"/>
                    <a:gd name="T58" fmla="*/ 108 w 355"/>
                    <a:gd name="T59" fmla="*/ 10 h 277"/>
                    <a:gd name="T60" fmla="*/ 94 w 355"/>
                    <a:gd name="T61" fmla="*/ 8 h 277"/>
                    <a:gd name="T62" fmla="*/ 68 w 355"/>
                    <a:gd name="T63" fmla="*/ 6 h 277"/>
                    <a:gd name="T64" fmla="*/ 64 w 355"/>
                    <a:gd name="T65" fmla="*/ 6 h 277"/>
                    <a:gd name="T66" fmla="*/ 58 w 355"/>
                    <a:gd name="T67" fmla="*/ 6 h 277"/>
                    <a:gd name="T68" fmla="*/ 54 w 355"/>
                    <a:gd name="T69" fmla="*/ 5 h 277"/>
                    <a:gd name="T70" fmla="*/ 38 w 355"/>
                    <a:gd name="T71" fmla="*/ 3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5 w 156"/>
                    <a:gd name="T7" fmla="*/ 2 h 206"/>
                    <a:gd name="T8" fmla="*/ 121 w 156"/>
                    <a:gd name="T9" fmla="*/ 2 h 206"/>
                    <a:gd name="T10" fmla="*/ 127 w 156"/>
                    <a:gd name="T11" fmla="*/ 2 h 206"/>
                    <a:gd name="T12" fmla="*/ 139 w 156"/>
                    <a:gd name="T13" fmla="*/ 0 h 206"/>
                    <a:gd name="T14" fmla="*/ 165 w 156"/>
                    <a:gd name="T15" fmla="*/ 2 h 206"/>
                    <a:gd name="T16" fmla="*/ 161 w 156"/>
                    <a:gd name="T17" fmla="*/ 2 h 206"/>
                    <a:gd name="T18" fmla="*/ 141 w 156"/>
                    <a:gd name="T19" fmla="*/ 2 h 206"/>
                    <a:gd name="T20" fmla="*/ 147 w 156"/>
                    <a:gd name="T21" fmla="*/ 4 h 206"/>
                    <a:gd name="T22" fmla="*/ 157 w 156"/>
                    <a:gd name="T23" fmla="*/ 5 h 206"/>
                    <a:gd name="T24" fmla="*/ 161 w 156"/>
                    <a:gd name="T25" fmla="*/ 5 h 206"/>
                    <a:gd name="T26" fmla="*/ 143 w 156"/>
                    <a:gd name="T27" fmla="*/ 5 h 206"/>
                    <a:gd name="T28" fmla="*/ 131 w 156"/>
                    <a:gd name="T29" fmla="*/ 6 h 206"/>
                    <a:gd name="T30" fmla="*/ 119 w 156"/>
                    <a:gd name="T31" fmla="*/ 6 h 206"/>
                    <a:gd name="T32" fmla="*/ 115 w 156"/>
                    <a:gd name="T33" fmla="*/ 8 h 206"/>
                    <a:gd name="T34" fmla="*/ 103 w 156"/>
                    <a:gd name="T35" fmla="*/ 9 h 206"/>
                    <a:gd name="T36" fmla="*/ 97 w 156"/>
                    <a:gd name="T37" fmla="*/ 9 h 206"/>
                    <a:gd name="T38" fmla="*/ 76 w 156"/>
                    <a:gd name="T39" fmla="*/ 9 h 206"/>
                    <a:gd name="T40" fmla="*/ 72 w 156"/>
                    <a:gd name="T41" fmla="*/ 8 h 206"/>
                    <a:gd name="T42" fmla="*/ 60 w 156"/>
                    <a:gd name="T43" fmla="*/ 8 h 206"/>
                    <a:gd name="T44" fmla="*/ 42 w 156"/>
                    <a:gd name="T45" fmla="*/ 8 h 206"/>
                    <a:gd name="T46" fmla="*/ 28 w 156"/>
                    <a:gd name="T47" fmla="*/ 8 h 206"/>
                    <a:gd name="T48" fmla="*/ 10 w 156"/>
                    <a:gd name="T49" fmla="*/ 6 h 206"/>
                    <a:gd name="T50" fmla="*/ 4 w 156"/>
                    <a:gd name="T51" fmla="*/ 5 h 206"/>
                    <a:gd name="T52" fmla="*/ 0 w 156"/>
                    <a:gd name="T53" fmla="*/ 5 h 206"/>
                    <a:gd name="T54" fmla="*/ 20 w 156"/>
                    <a:gd name="T55" fmla="*/ 4 h 206"/>
                    <a:gd name="T56" fmla="*/ 32 w 156"/>
                    <a:gd name="T57" fmla="*/ 4 h 206"/>
                    <a:gd name="T58" fmla="*/ 34 w 156"/>
                    <a:gd name="T59" fmla="*/ 3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7 w 109"/>
                    <a:gd name="T7" fmla="*/ 3 h 38"/>
                    <a:gd name="T8" fmla="*/ 105 w 109"/>
                    <a:gd name="T9" fmla="*/ 0 h 38"/>
                    <a:gd name="T10" fmla="*/ 91 w 109"/>
                    <a:gd name="T11" fmla="*/ 3 h 38"/>
                    <a:gd name="T12" fmla="*/ 75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7 w 76"/>
                    <a:gd name="T7" fmla="*/ 2 h 104"/>
                    <a:gd name="T8" fmla="*/ 38 w 76"/>
                    <a:gd name="T9" fmla="*/ 2 h 104"/>
                    <a:gd name="T10" fmla="*/ 39 w 76"/>
                    <a:gd name="T11" fmla="*/ 2 h 104"/>
                    <a:gd name="T12" fmla="*/ 43 w 76"/>
                    <a:gd name="T13" fmla="*/ 2 h 104"/>
                    <a:gd name="T14" fmla="*/ 38 w 76"/>
                    <a:gd name="T15" fmla="*/ 3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3 h 104"/>
                    <a:gd name="T24" fmla="*/ 20 w 76"/>
                    <a:gd name="T25" fmla="*/ 4 h 104"/>
                    <a:gd name="T26" fmla="*/ 12 w 76"/>
                    <a:gd name="T27" fmla="*/ 4 h 104"/>
                    <a:gd name="T28" fmla="*/ 8 w 76"/>
                    <a:gd name="T29" fmla="*/ 4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4 w 49"/>
                    <a:gd name="T3" fmla="*/ 0 h 29"/>
                    <a:gd name="T4" fmla="*/ 27 w 49"/>
                    <a:gd name="T5" fmla="*/ 2 h 29"/>
                    <a:gd name="T6" fmla="*/ 20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5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5 h 48"/>
                    <a:gd name="T18" fmla="*/ 23 w 61"/>
                    <a:gd name="T19" fmla="*/ 7 h 48"/>
                    <a:gd name="T20" fmla="*/ 21 w 61"/>
                    <a:gd name="T21" fmla="*/ 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3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3 h 182"/>
                    <a:gd name="T20" fmla="*/ 88 w 286"/>
                    <a:gd name="T21" fmla="*/ 3 h 182"/>
                    <a:gd name="T22" fmla="*/ 106 w 286"/>
                    <a:gd name="T23" fmla="*/ 5 h 182"/>
                    <a:gd name="T24" fmla="*/ 104 w 286"/>
                    <a:gd name="T25" fmla="*/ 6 h 182"/>
                    <a:gd name="T26" fmla="*/ 98 w 286"/>
                    <a:gd name="T27" fmla="*/ 7 h 182"/>
                    <a:gd name="T28" fmla="*/ 122 w 286"/>
                    <a:gd name="T29" fmla="*/ 6 h 182"/>
                    <a:gd name="T30" fmla="*/ 140 w 286"/>
                    <a:gd name="T31" fmla="*/ 7 h 182"/>
                    <a:gd name="T32" fmla="*/ 168 w 286"/>
                    <a:gd name="T33" fmla="*/ 7 h 182"/>
                    <a:gd name="T34" fmla="*/ 174 w 286"/>
                    <a:gd name="T35" fmla="*/ 7 h 182"/>
                    <a:gd name="T36" fmla="*/ 168 w 286"/>
                    <a:gd name="T37" fmla="*/ 7 h 182"/>
                    <a:gd name="T38" fmla="*/ 178 w 286"/>
                    <a:gd name="T39" fmla="*/ 7 h 182"/>
                    <a:gd name="T40" fmla="*/ 186 w 286"/>
                    <a:gd name="T41" fmla="*/ 6 h 182"/>
                    <a:gd name="T42" fmla="*/ 202 w 286"/>
                    <a:gd name="T43" fmla="*/ 6 h 182"/>
                    <a:gd name="T44" fmla="*/ 214 w 286"/>
                    <a:gd name="T45" fmla="*/ 6 h 182"/>
                    <a:gd name="T46" fmla="*/ 244 w 286"/>
                    <a:gd name="T47" fmla="*/ 9 h 182"/>
                    <a:gd name="T48" fmla="*/ 262 w 286"/>
                    <a:gd name="T49" fmla="*/ 9 h 182"/>
                    <a:gd name="T50" fmla="*/ 284 w 286"/>
                    <a:gd name="T51" fmla="*/ 9 h 182"/>
                    <a:gd name="T52" fmla="*/ 268 w 286"/>
                    <a:gd name="T53" fmla="*/ 7 h 182"/>
                    <a:gd name="T54" fmla="*/ 256 w 286"/>
                    <a:gd name="T55" fmla="*/ 7 h 182"/>
                    <a:gd name="T56" fmla="*/ 250 w 286"/>
                    <a:gd name="T57" fmla="*/ 6 h 182"/>
                    <a:gd name="T58" fmla="*/ 248 w 286"/>
                    <a:gd name="T59" fmla="*/ 6 h 182"/>
                    <a:gd name="T60" fmla="*/ 236 w 286"/>
                    <a:gd name="T61" fmla="*/ 6 h 182"/>
                    <a:gd name="T62" fmla="*/ 240 w 286"/>
                    <a:gd name="T63" fmla="*/ 5 h 182"/>
                    <a:gd name="T64" fmla="*/ 220 w 286"/>
                    <a:gd name="T65" fmla="*/ 4 h 182"/>
                    <a:gd name="T66" fmla="*/ 210 w 286"/>
                    <a:gd name="T67" fmla="*/ 3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3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4 h 78"/>
                    <a:gd name="T18" fmla="*/ 9 w 78"/>
                    <a:gd name="T19" fmla="*/ 3 h 78"/>
                    <a:gd name="T20" fmla="*/ 3 w 78"/>
                    <a:gd name="T21" fmla="*/ 3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3 h 80"/>
                    <a:gd name="T14" fmla="*/ 54 w 80"/>
                    <a:gd name="T15" fmla="*/ 4 h 80"/>
                    <a:gd name="T16" fmla="*/ 48 w 80"/>
                    <a:gd name="T17" fmla="*/ 5 h 80"/>
                    <a:gd name="T18" fmla="*/ 32 w 80"/>
                    <a:gd name="T19" fmla="*/ 4 h 80"/>
                    <a:gd name="T20" fmla="*/ 38 w 80"/>
                    <a:gd name="T21" fmla="*/ 3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3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 h 174"/>
                    <a:gd name="T2" fmla="*/ 26 w 94"/>
                    <a:gd name="T3" fmla="*/ 6 h 174"/>
                    <a:gd name="T4" fmla="*/ 32 w 94"/>
                    <a:gd name="T5" fmla="*/ 5 h 174"/>
                    <a:gd name="T6" fmla="*/ 52 w 94"/>
                    <a:gd name="T7" fmla="*/ 5 h 174"/>
                    <a:gd name="T8" fmla="*/ 46 w 94"/>
                    <a:gd name="T9" fmla="*/ 6 h 174"/>
                    <a:gd name="T10" fmla="*/ 66 w 94"/>
                    <a:gd name="T11" fmla="*/ 6 h 174"/>
                    <a:gd name="T12" fmla="*/ 76 w 94"/>
                    <a:gd name="T13" fmla="*/ 7 h 174"/>
                    <a:gd name="T14" fmla="*/ 58 w 94"/>
                    <a:gd name="T15" fmla="*/ 7 h 174"/>
                    <a:gd name="T16" fmla="*/ 74 w 94"/>
                    <a:gd name="T17" fmla="*/ 9 h 174"/>
                    <a:gd name="T18" fmla="*/ 84 w 94"/>
                    <a:gd name="T19" fmla="*/ 7 h 174"/>
                    <a:gd name="T20" fmla="*/ 82 w 94"/>
                    <a:gd name="T21" fmla="*/ 6 h 174"/>
                    <a:gd name="T22" fmla="*/ 60 w 94"/>
                    <a:gd name="T23" fmla="*/ 5 h 174"/>
                    <a:gd name="T24" fmla="*/ 50 w 94"/>
                    <a:gd name="T25" fmla="*/ 4 h 174"/>
                    <a:gd name="T26" fmla="*/ 34 w 94"/>
                    <a:gd name="T27" fmla="*/ 4 h 174"/>
                    <a:gd name="T28" fmla="*/ 30 w 94"/>
                    <a:gd name="T29" fmla="*/ 3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4 h 174"/>
                    <a:gd name="T40" fmla="*/ 14 w 94"/>
                    <a:gd name="T41" fmla="*/ 5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1 w 43"/>
                    <a:gd name="T3" fmla="*/ 2 h 50"/>
                    <a:gd name="T4" fmla="*/ 72 w 43"/>
                    <a:gd name="T5" fmla="*/ 0 h 50"/>
                    <a:gd name="T6" fmla="*/ 45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7988 w 471"/>
                    <a:gd name="T1" fmla="*/ 218026 h 281"/>
                    <a:gd name="T2" fmla="*/ 9412 w 471"/>
                    <a:gd name="T3" fmla="*/ 195014 h 281"/>
                    <a:gd name="T4" fmla="*/ 8641 w 471"/>
                    <a:gd name="T5" fmla="*/ 190648 h 281"/>
                    <a:gd name="T6" fmla="*/ 6324 w 471"/>
                    <a:gd name="T7" fmla="*/ 170005 h 281"/>
                    <a:gd name="T8" fmla="*/ 1520 w 471"/>
                    <a:gd name="T9" fmla="*/ 167461 h 281"/>
                    <a:gd name="T10" fmla="*/ 0 w 471"/>
                    <a:gd name="T11" fmla="*/ 148755 h 281"/>
                    <a:gd name="T12" fmla="*/ 4725 w 471"/>
                    <a:gd name="T13" fmla="*/ 140509 h 281"/>
                    <a:gd name="T14" fmla="*/ 2262 w 471"/>
                    <a:gd name="T15" fmla="*/ 128519 h 281"/>
                    <a:gd name="T16" fmla="*/ 686 w 471"/>
                    <a:gd name="T17" fmla="*/ 124428 h 281"/>
                    <a:gd name="T18" fmla="*/ 11100 w 471"/>
                    <a:gd name="T19" fmla="*/ 93492 h 281"/>
                    <a:gd name="T20" fmla="*/ 17020 w 471"/>
                    <a:gd name="T21" fmla="*/ 75130 h 281"/>
                    <a:gd name="T22" fmla="*/ 16520 w 471"/>
                    <a:gd name="T23" fmla="*/ 54526 h 281"/>
                    <a:gd name="T24" fmla="*/ 9412 w 471"/>
                    <a:gd name="T25" fmla="*/ 33363 h 281"/>
                    <a:gd name="T26" fmla="*/ 7946 w 471"/>
                    <a:gd name="T27" fmla="*/ 25052 h 281"/>
                    <a:gd name="T28" fmla="*/ 10196 w 471"/>
                    <a:gd name="T29" fmla="*/ 27926 h 281"/>
                    <a:gd name="T30" fmla="*/ 18649 w 471"/>
                    <a:gd name="T31" fmla="*/ 27614 h 281"/>
                    <a:gd name="T32" fmla="*/ 24867 w 471"/>
                    <a:gd name="T33" fmla="*/ 8475 h 281"/>
                    <a:gd name="T34" fmla="*/ 32002 w 471"/>
                    <a:gd name="T35" fmla="*/ 0 h 281"/>
                    <a:gd name="T36" fmla="*/ 34276 w 471"/>
                    <a:gd name="T37" fmla="*/ 1635 h 281"/>
                    <a:gd name="T38" fmla="*/ 35903 w 471"/>
                    <a:gd name="T39" fmla="*/ 7002 h 281"/>
                    <a:gd name="T40" fmla="*/ 38199 w 471"/>
                    <a:gd name="T41" fmla="*/ 3973 h 281"/>
                    <a:gd name="T42" fmla="*/ 42895 w 471"/>
                    <a:gd name="T43" fmla="*/ 6193 h 281"/>
                    <a:gd name="T44" fmla="*/ 45188 w 471"/>
                    <a:gd name="T45" fmla="*/ 7002 h 281"/>
                    <a:gd name="T46" fmla="*/ 55083 w 471"/>
                    <a:gd name="T47" fmla="*/ 10914 h 281"/>
                    <a:gd name="T48" fmla="*/ 60490 w 471"/>
                    <a:gd name="T49" fmla="*/ 18477 h 281"/>
                    <a:gd name="T50" fmla="*/ 65220 w 471"/>
                    <a:gd name="T51" fmla="*/ 13210 h 281"/>
                    <a:gd name="T52" fmla="*/ 67254 w 471"/>
                    <a:gd name="T53" fmla="*/ 10914 h 281"/>
                    <a:gd name="T54" fmla="*/ 75925 w 471"/>
                    <a:gd name="T55" fmla="*/ 10914 h 281"/>
                    <a:gd name="T56" fmla="*/ 82090 w 471"/>
                    <a:gd name="T57" fmla="*/ 25052 h 281"/>
                    <a:gd name="T58" fmla="*/ 90029 w 471"/>
                    <a:gd name="T59" fmla="*/ 45895 h 281"/>
                    <a:gd name="T60" fmla="*/ 95458 w 471"/>
                    <a:gd name="T61" fmla="*/ 54526 h 281"/>
                    <a:gd name="T62" fmla="*/ 100096 w 471"/>
                    <a:gd name="T63" fmla="*/ 52897 h 281"/>
                    <a:gd name="T64" fmla="*/ 105165 w 471"/>
                    <a:gd name="T65" fmla="*/ 50342 h 281"/>
                    <a:gd name="T66" fmla="*/ 113001 w 471"/>
                    <a:gd name="T67" fmla="*/ 55575 h 281"/>
                    <a:gd name="T68" fmla="*/ 116667 w 471"/>
                    <a:gd name="T69" fmla="*/ 62989 h 281"/>
                    <a:gd name="T70" fmla="*/ 119922 w 471"/>
                    <a:gd name="T71" fmla="*/ 69972 h 281"/>
                    <a:gd name="T72" fmla="*/ 123845 w 471"/>
                    <a:gd name="T73" fmla="*/ 86626 h 281"/>
                    <a:gd name="T74" fmla="*/ 125338 w 471"/>
                    <a:gd name="T75" fmla="*/ 93492 h 281"/>
                    <a:gd name="T76" fmla="*/ 126013 w 471"/>
                    <a:gd name="T77" fmla="*/ 97538 h 281"/>
                    <a:gd name="T78" fmla="*/ 120639 w 471"/>
                    <a:gd name="T79" fmla="*/ 110205 h 281"/>
                    <a:gd name="T80" fmla="*/ 125338 w 471"/>
                    <a:gd name="T81" fmla="*/ 110025 h 281"/>
                    <a:gd name="T82" fmla="*/ 133258 w 471"/>
                    <a:gd name="T83" fmla="*/ 120949 h 281"/>
                    <a:gd name="T84" fmla="*/ 141849 w 471"/>
                    <a:gd name="T85" fmla="*/ 122311 h 281"/>
                    <a:gd name="T86" fmla="*/ 148066 w 471"/>
                    <a:gd name="T87" fmla="*/ 130786 h 281"/>
                    <a:gd name="T88" fmla="*/ 148975 w 471"/>
                    <a:gd name="T89" fmla="*/ 134079 h 281"/>
                    <a:gd name="T90" fmla="*/ 148975 w 471"/>
                    <a:gd name="T91" fmla="*/ 136966 h 281"/>
                    <a:gd name="T92" fmla="*/ 153334 w 471"/>
                    <a:gd name="T93" fmla="*/ 134079 h 281"/>
                    <a:gd name="T94" fmla="*/ 155845 w 471"/>
                    <a:gd name="T95" fmla="*/ 133266 h 281"/>
                    <a:gd name="T96" fmla="*/ 170989 w 471"/>
                    <a:gd name="T97" fmla="*/ 143996 h 281"/>
                    <a:gd name="T98" fmla="*/ 173980 w 471"/>
                    <a:gd name="T99" fmla="*/ 154887 h 281"/>
                    <a:gd name="T100" fmla="*/ 181093 w 471"/>
                    <a:gd name="T101" fmla="*/ 156533 h 281"/>
                    <a:gd name="T102" fmla="*/ 183357 w 471"/>
                    <a:gd name="T103" fmla="*/ 167461 h 281"/>
                    <a:gd name="T104" fmla="*/ 175673 w 471"/>
                    <a:gd name="T105" fmla="*/ 200942 h 281"/>
                    <a:gd name="T106" fmla="*/ 169307 w 471"/>
                    <a:gd name="T107" fmla="*/ 219014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6 h 844"/>
                    <a:gd name="T8" fmla="*/ 586 w 984"/>
                    <a:gd name="T9" fmla="*/ 5 h 844"/>
                    <a:gd name="T10" fmla="*/ 606 w 984"/>
                    <a:gd name="T11" fmla="*/ 3 h 844"/>
                    <a:gd name="T12" fmla="*/ 642 w 984"/>
                    <a:gd name="T13" fmla="*/ 6 h 844"/>
                    <a:gd name="T14" fmla="*/ 682 w 984"/>
                    <a:gd name="T15" fmla="*/ 5 h 844"/>
                    <a:gd name="T16" fmla="*/ 706 w 984"/>
                    <a:gd name="T17" fmla="*/ 4 h 844"/>
                    <a:gd name="T18" fmla="*/ 762 w 984"/>
                    <a:gd name="T19" fmla="*/ 2 h 844"/>
                    <a:gd name="T20" fmla="*/ 798 w 984"/>
                    <a:gd name="T21" fmla="*/ 3 h 844"/>
                    <a:gd name="T22" fmla="*/ 798 w 984"/>
                    <a:gd name="T23" fmla="*/ 6 h 844"/>
                    <a:gd name="T24" fmla="*/ 790 w 984"/>
                    <a:gd name="T25" fmla="*/ 7 h 844"/>
                    <a:gd name="T26" fmla="*/ 766 w 984"/>
                    <a:gd name="T27" fmla="*/ 8 h 844"/>
                    <a:gd name="T28" fmla="*/ 762 w 984"/>
                    <a:gd name="T29" fmla="*/ 9 h 844"/>
                    <a:gd name="T30" fmla="*/ 802 w 984"/>
                    <a:gd name="T31" fmla="*/ 11 h 844"/>
                    <a:gd name="T32" fmla="*/ 786 w 984"/>
                    <a:gd name="T33" fmla="*/ 16 h 844"/>
                    <a:gd name="T34" fmla="*/ 830 w 984"/>
                    <a:gd name="T35" fmla="*/ 21 h 844"/>
                    <a:gd name="T36" fmla="*/ 854 w 984"/>
                    <a:gd name="T37" fmla="*/ 23 h 844"/>
                    <a:gd name="T38" fmla="*/ 830 w 984"/>
                    <a:gd name="T39" fmla="*/ 23 h 844"/>
                    <a:gd name="T40" fmla="*/ 746 w 984"/>
                    <a:gd name="T41" fmla="*/ 20 h 844"/>
                    <a:gd name="T42" fmla="*/ 678 w 984"/>
                    <a:gd name="T43" fmla="*/ 20 h 844"/>
                    <a:gd name="T44" fmla="*/ 590 w 984"/>
                    <a:gd name="T45" fmla="*/ 23 h 844"/>
                    <a:gd name="T46" fmla="*/ 642 w 984"/>
                    <a:gd name="T47" fmla="*/ 30 h 844"/>
                    <a:gd name="T48" fmla="*/ 710 w 984"/>
                    <a:gd name="T49" fmla="*/ 32 h 844"/>
                    <a:gd name="T50" fmla="*/ 738 w 984"/>
                    <a:gd name="T51" fmla="*/ 28 h 844"/>
                    <a:gd name="T52" fmla="*/ 774 w 984"/>
                    <a:gd name="T53" fmla="*/ 29 h 844"/>
                    <a:gd name="T54" fmla="*/ 766 w 984"/>
                    <a:gd name="T55" fmla="*/ 32 h 844"/>
                    <a:gd name="T56" fmla="*/ 802 w 984"/>
                    <a:gd name="T57" fmla="*/ 34 h 844"/>
                    <a:gd name="T58" fmla="*/ 838 w 984"/>
                    <a:gd name="T59" fmla="*/ 34 h 844"/>
                    <a:gd name="T60" fmla="*/ 922 w 984"/>
                    <a:gd name="T61" fmla="*/ 41 h 844"/>
                    <a:gd name="T62" fmla="*/ 942 w 984"/>
                    <a:gd name="T63" fmla="*/ 42 h 844"/>
                    <a:gd name="T64" fmla="*/ 874 w 984"/>
                    <a:gd name="T65" fmla="*/ 41 h 844"/>
                    <a:gd name="T66" fmla="*/ 830 w 984"/>
                    <a:gd name="T67" fmla="*/ 39 h 844"/>
                    <a:gd name="T68" fmla="*/ 778 w 984"/>
                    <a:gd name="T69" fmla="*/ 36 h 844"/>
                    <a:gd name="T70" fmla="*/ 702 w 984"/>
                    <a:gd name="T71" fmla="*/ 34 h 844"/>
                    <a:gd name="T72" fmla="*/ 614 w 984"/>
                    <a:gd name="T73" fmla="*/ 33 h 844"/>
                    <a:gd name="T74" fmla="*/ 506 w 984"/>
                    <a:gd name="T75" fmla="*/ 30 h 844"/>
                    <a:gd name="T76" fmla="*/ 462 w 984"/>
                    <a:gd name="T77" fmla="*/ 26 h 844"/>
                    <a:gd name="T78" fmla="*/ 430 w 984"/>
                    <a:gd name="T79" fmla="*/ 24 h 844"/>
                    <a:gd name="T80" fmla="*/ 382 w 984"/>
                    <a:gd name="T81" fmla="*/ 21 h 844"/>
                    <a:gd name="T82" fmla="*/ 342 w 984"/>
                    <a:gd name="T83" fmla="*/ 19 h 844"/>
                    <a:gd name="T84" fmla="*/ 354 w 984"/>
                    <a:gd name="T85" fmla="*/ 21 h 844"/>
                    <a:gd name="T86" fmla="*/ 418 w 984"/>
                    <a:gd name="T87" fmla="*/ 25 h 844"/>
                    <a:gd name="T88" fmla="*/ 422 w 984"/>
                    <a:gd name="T89" fmla="*/ 26 h 844"/>
                    <a:gd name="T90" fmla="*/ 394 w 984"/>
                    <a:gd name="T91" fmla="*/ 26 h 844"/>
                    <a:gd name="T92" fmla="*/ 354 w 984"/>
                    <a:gd name="T93" fmla="*/ 24 h 844"/>
                    <a:gd name="T94" fmla="*/ 314 w 984"/>
                    <a:gd name="T95" fmla="*/ 20 h 844"/>
                    <a:gd name="T96" fmla="*/ 266 w 984"/>
                    <a:gd name="T97" fmla="*/ 17 h 844"/>
                    <a:gd name="T98" fmla="*/ 210 w 984"/>
                    <a:gd name="T99" fmla="*/ 16 h 844"/>
                    <a:gd name="T100" fmla="*/ 154 w 984"/>
                    <a:gd name="T101" fmla="*/ 11 h 844"/>
                    <a:gd name="T102" fmla="*/ 66 w 984"/>
                    <a:gd name="T103" fmla="*/ 3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3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7 w 36"/>
                    <a:gd name="T3" fmla="*/ 1 h 37"/>
                    <a:gd name="T4" fmla="*/ 80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39 w 170"/>
                    <a:gd name="T11" fmla="*/ 4 h 96"/>
                    <a:gd name="T12" fmla="*/ 175 w 170"/>
                    <a:gd name="T13" fmla="*/ 5 h 96"/>
                    <a:gd name="T14" fmla="*/ 131 w 170"/>
                    <a:gd name="T15" fmla="*/ 6 h 96"/>
                    <a:gd name="T16" fmla="*/ 103 w 170"/>
                    <a:gd name="T17" fmla="*/ 5 h 96"/>
                    <a:gd name="T18" fmla="*/ 76 w 170"/>
                    <a:gd name="T19" fmla="*/ 4 h 96"/>
                    <a:gd name="T20" fmla="*/ 24 w 170"/>
                    <a:gd name="T21" fmla="*/ 3 h 96"/>
                    <a:gd name="T22" fmla="*/ 0 w 170"/>
                    <a:gd name="T23" fmla="*/ 4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39 w 44"/>
                    <a:gd name="T5" fmla="*/ 2 h 80"/>
                    <a:gd name="T6" fmla="*/ 51 w 44"/>
                    <a:gd name="T7" fmla="*/ 3 h 80"/>
                    <a:gd name="T8" fmla="*/ 39 w 44"/>
                    <a:gd name="T9" fmla="*/ 4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83771 w 323"/>
                    <a:gd name="T1" fmla="*/ 1091 h 64"/>
                    <a:gd name="T2" fmla="*/ 87877 w 323"/>
                    <a:gd name="T3" fmla="*/ 6505 h 64"/>
                    <a:gd name="T4" fmla="*/ 89460 w 323"/>
                    <a:gd name="T5" fmla="*/ 0 h 64"/>
                    <a:gd name="T6" fmla="*/ 101018 w 323"/>
                    <a:gd name="T7" fmla="*/ 0 h 64"/>
                    <a:gd name="T8" fmla="*/ 109508 w 323"/>
                    <a:gd name="T9" fmla="*/ 14019 h 64"/>
                    <a:gd name="T10" fmla="*/ 121274 w 323"/>
                    <a:gd name="T11" fmla="*/ 8211 h 64"/>
                    <a:gd name="T12" fmla="*/ 119609 w 323"/>
                    <a:gd name="T13" fmla="*/ 23111 h 64"/>
                    <a:gd name="T14" fmla="*/ 113381 w 323"/>
                    <a:gd name="T15" fmla="*/ 37586 h 64"/>
                    <a:gd name="T16" fmla="*/ 112148 w 323"/>
                    <a:gd name="T17" fmla="*/ 23111 h 64"/>
                    <a:gd name="T18" fmla="*/ 109508 w 323"/>
                    <a:gd name="T19" fmla="*/ 24814 h 64"/>
                    <a:gd name="T20" fmla="*/ 106429 w 323"/>
                    <a:gd name="T21" fmla="*/ 23111 h 64"/>
                    <a:gd name="T22" fmla="*/ 100067 w 323"/>
                    <a:gd name="T23" fmla="*/ 17173 h 64"/>
                    <a:gd name="T24" fmla="*/ 86901 w 323"/>
                    <a:gd name="T25" fmla="*/ 30517 h 64"/>
                    <a:gd name="T26" fmla="*/ 76585 w 323"/>
                    <a:gd name="T27" fmla="*/ 35813 h 64"/>
                    <a:gd name="T28" fmla="*/ 80637 w 323"/>
                    <a:gd name="T29" fmla="*/ 45973 h 64"/>
                    <a:gd name="T30" fmla="*/ 71618 w 323"/>
                    <a:gd name="T31" fmla="*/ 50544 h 64"/>
                    <a:gd name="T32" fmla="*/ 64216 w 323"/>
                    <a:gd name="T33" fmla="*/ 48942 h 64"/>
                    <a:gd name="T34" fmla="*/ 67337 w 323"/>
                    <a:gd name="T35" fmla="*/ 45973 h 64"/>
                    <a:gd name="T36" fmla="*/ 64938 w 323"/>
                    <a:gd name="T37" fmla="*/ 32348 h 64"/>
                    <a:gd name="T38" fmla="*/ 64216 w 323"/>
                    <a:gd name="T39" fmla="*/ 24814 h 64"/>
                    <a:gd name="T40" fmla="*/ 60199 w 323"/>
                    <a:gd name="T41" fmla="*/ 18758 h 64"/>
                    <a:gd name="T42" fmla="*/ 54161 w 323"/>
                    <a:gd name="T43" fmla="*/ 21905 h 64"/>
                    <a:gd name="T44" fmla="*/ 51039 w 323"/>
                    <a:gd name="T45" fmla="*/ 21905 h 64"/>
                    <a:gd name="T46" fmla="*/ 46884 w 323"/>
                    <a:gd name="T47" fmla="*/ 20047 h 64"/>
                    <a:gd name="T48" fmla="*/ 31549 w 323"/>
                    <a:gd name="T49" fmla="*/ 1705 h 64"/>
                    <a:gd name="T50" fmla="*/ 22618 w 323"/>
                    <a:gd name="T51" fmla="*/ 11253 h 64"/>
                    <a:gd name="T52" fmla="*/ 1 w 323"/>
                    <a:gd name="T53" fmla="*/ 0 h 64"/>
                    <a:gd name="T54" fmla="*/ 83771 w 323"/>
                    <a:gd name="T55" fmla="*/ 109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40241 w 300"/>
                    <a:gd name="T1" fmla="*/ 29681 h 31"/>
                    <a:gd name="T2" fmla="*/ 11713 w 300"/>
                    <a:gd name="T3" fmla="*/ 1279 h 31"/>
                    <a:gd name="T4" fmla="*/ 109208 w 300"/>
                    <a:gd name="T5" fmla="*/ 0 h 31"/>
                    <a:gd name="T6" fmla="*/ 113272 w 300"/>
                    <a:gd name="T7" fmla="*/ 13426 h 31"/>
                    <a:gd name="T8" fmla="*/ 101044 w 300"/>
                    <a:gd name="T9" fmla="*/ 15383 h 31"/>
                    <a:gd name="T10" fmla="*/ 40241 w 300"/>
                    <a:gd name="T11" fmla="*/ 2968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5861419 w 436"/>
                    <a:gd name="T1" fmla="*/ 548578 h 152"/>
                    <a:gd name="T2" fmla="*/ 154524473 w 436"/>
                    <a:gd name="T3" fmla="*/ 0 h 152"/>
                    <a:gd name="T4" fmla="*/ 147374486 w 436"/>
                    <a:gd name="T5" fmla="*/ 36526122 h 152"/>
                    <a:gd name="T6" fmla="*/ 140743099 w 436"/>
                    <a:gd name="T7" fmla="*/ 45900314 h 152"/>
                    <a:gd name="T8" fmla="*/ 138924928 w 436"/>
                    <a:gd name="T9" fmla="*/ 47333755 h 152"/>
                    <a:gd name="T10" fmla="*/ 132865898 w 436"/>
                    <a:gd name="T11" fmla="*/ 49506188 h 152"/>
                    <a:gd name="T12" fmla="*/ 127888603 w 436"/>
                    <a:gd name="T13" fmla="*/ 59429406 h 152"/>
                    <a:gd name="T14" fmla="*/ 128357863 w 436"/>
                    <a:gd name="T15" fmla="*/ 66896919 h 152"/>
                    <a:gd name="T16" fmla="*/ 128934943 w 436"/>
                    <a:gd name="T17" fmla="*/ 72446599 h 152"/>
                    <a:gd name="T18" fmla="*/ 129710604 w 436"/>
                    <a:gd name="T19" fmla="*/ 76595963 h 152"/>
                    <a:gd name="T20" fmla="*/ 128357863 w 436"/>
                    <a:gd name="T21" fmla="*/ 82694252 h 152"/>
                    <a:gd name="T22" fmla="*/ 124426908 w 436"/>
                    <a:gd name="T23" fmla="*/ 81351686 h 152"/>
                    <a:gd name="T24" fmla="*/ 121258814 w 436"/>
                    <a:gd name="T25" fmla="*/ 87349413 h 152"/>
                    <a:gd name="T26" fmla="*/ 122935869 w 436"/>
                    <a:gd name="T27" fmla="*/ 71068312 h 152"/>
                    <a:gd name="T28" fmla="*/ 119720650 w 436"/>
                    <a:gd name="T29" fmla="*/ 67785196 h 152"/>
                    <a:gd name="T30" fmla="*/ 121833914 w 436"/>
                    <a:gd name="T31" fmla="*/ 63073317 h 152"/>
                    <a:gd name="T32" fmla="*/ 121258814 w 436"/>
                    <a:gd name="T33" fmla="*/ 60352267 h 152"/>
                    <a:gd name="T34" fmla="*/ 113390574 w 436"/>
                    <a:gd name="T35" fmla="*/ 63621278 h 152"/>
                    <a:gd name="T36" fmla="*/ 112348183 w 436"/>
                    <a:gd name="T37" fmla="*/ 57523606 h 152"/>
                    <a:gd name="T38" fmla="*/ 105187306 w 436"/>
                    <a:gd name="T39" fmla="*/ 63621278 h 152"/>
                    <a:gd name="T40" fmla="*/ 113390574 w 436"/>
                    <a:gd name="T41" fmla="*/ 69725771 h 152"/>
                    <a:gd name="T42" fmla="*/ 108111890 w 436"/>
                    <a:gd name="T43" fmla="*/ 79087648 h 152"/>
                    <a:gd name="T44" fmla="*/ 110227156 w 436"/>
                    <a:gd name="T45" fmla="*/ 85182068 h 152"/>
                    <a:gd name="T46" fmla="*/ 111572415 w 436"/>
                    <a:gd name="T47" fmla="*/ 93447707 h 152"/>
                    <a:gd name="T48" fmla="*/ 109459622 w 436"/>
                    <a:gd name="T49" fmla="*/ 94011265 h 152"/>
                    <a:gd name="T50" fmla="*/ 111241646 w 436"/>
                    <a:gd name="T51" fmla="*/ 97293015 h 152"/>
                    <a:gd name="T52" fmla="*/ 108874759 w 436"/>
                    <a:gd name="T53" fmla="*/ 102821162 h 152"/>
                    <a:gd name="T54" fmla="*/ 0 w 436"/>
                    <a:gd name="T55" fmla="*/ 100931542 h 152"/>
                    <a:gd name="T56" fmla="*/ 25861419 w 436"/>
                    <a:gd name="T57" fmla="*/ 548578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 h 165"/>
                    <a:gd name="T2" fmla="*/ 15 w 47"/>
                    <a:gd name="T3" fmla="*/ 5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4 h 165"/>
                    <a:gd name="T16" fmla="*/ 31 w 47"/>
                    <a:gd name="T17" fmla="*/ 5 h 165"/>
                    <a:gd name="T18" fmla="*/ 23 w 47"/>
                    <a:gd name="T19" fmla="*/ 5 h 165"/>
                    <a:gd name="T20" fmla="*/ 21 w 47"/>
                    <a:gd name="T21" fmla="*/ 6 h 165"/>
                    <a:gd name="T22" fmla="*/ 27 w 47"/>
                    <a:gd name="T23" fmla="*/ 6 h 165"/>
                    <a:gd name="T24" fmla="*/ 31 w 47"/>
                    <a:gd name="T25" fmla="*/ 6 h 165"/>
                    <a:gd name="T26" fmla="*/ 13 w 47"/>
                    <a:gd name="T27" fmla="*/ 6 h 165"/>
                    <a:gd name="T28" fmla="*/ 7 w 47"/>
                    <a:gd name="T29" fmla="*/ 6 h 165"/>
                    <a:gd name="T30" fmla="*/ 3 w 47"/>
                    <a:gd name="T31" fmla="*/ 6 h 165"/>
                    <a:gd name="T32" fmla="*/ 5 w 47"/>
                    <a:gd name="T33" fmla="*/ 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3 h 103"/>
                    <a:gd name="T22" fmla="*/ 66 w 138"/>
                    <a:gd name="T23" fmla="*/ 4 h 103"/>
                    <a:gd name="T24" fmla="*/ 48 w 138"/>
                    <a:gd name="T25" fmla="*/ 5 h 103"/>
                    <a:gd name="T26" fmla="*/ 26 w 138"/>
                    <a:gd name="T27" fmla="*/ 5 h 103"/>
                    <a:gd name="T28" fmla="*/ 20 w 138"/>
                    <a:gd name="T29" fmla="*/ 4 h 103"/>
                    <a:gd name="T30" fmla="*/ 22 w 138"/>
                    <a:gd name="T31" fmla="*/ 5 h 103"/>
                    <a:gd name="T32" fmla="*/ 0 w 138"/>
                    <a:gd name="T33" fmla="*/ 5 h 103"/>
                    <a:gd name="T34" fmla="*/ 10 w 138"/>
                    <a:gd name="T35" fmla="*/ 4 h 103"/>
                    <a:gd name="T36" fmla="*/ 26 w 138"/>
                    <a:gd name="T37" fmla="*/ 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3 w 188"/>
                    <a:gd name="T1" fmla="*/ 2 h 214"/>
                    <a:gd name="T2" fmla="*/ 145 w 188"/>
                    <a:gd name="T3" fmla="*/ 2 h 214"/>
                    <a:gd name="T4" fmla="*/ 155 w 188"/>
                    <a:gd name="T5" fmla="*/ 0 h 214"/>
                    <a:gd name="T6" fmla="*/ 167 w 188"/>
                    <a:gd name="T7" fmla="*/ 2 h 214"/>
                    <a:gd name="T8" fmla="*/ 173 w 188"/>
                    <a:gd name="T9" fmla="*/ 2 h 214"/>
                    <a:gd name="T10" fmla="*/ 163 w 188"/>
                    <a:gd name="T11" fmla="*/ 3 h 214"/>
                    <a:gd name="T12" fmla="*/ 155 w 188"/>
                    <a:gd name="T13" fmla="*/ 4 h 214"/>
                    <a:gd name="T14" fmla="*/ 147 w 188"/>
                    <a:gd name="T15" fmla="*/ 7 h 214"/>
                    <a:gd name="T16" fmla="*/ 129 w 188"/>
                    <a:gd name="T17" fmla="*/ 7 h 214"/>
                    <a:gd name="T18" fmla="*/ 105 w 188"/>
                    <a:gd name="T19" fmla="*/ 7 h 214"/>
                    <a:gd name="T20" fmla="*/ 97 w 188"/>
                    <a:gd name="T21" fmla="*/ 7 h 214"/>
                    <a:gd name="T22" fmla="*/ 94 w 188"/>
                    <a:gd name="T23" fmla="*/ 8 h 214"/>
                    <a:gd name="T24" fmla="*/ 90 w 188"/>
                    <a:gd name="T25" fmla="*/ 8 h 214"/>
                    <a:gd name="T26" fmla="*/ 80 w 188"/>
                    <a:gd name="T27" fmla="*/ 7 h 214"/>
                    <a:gd name="T28" fmla="*/ 58 w 188"/>
                    <a:gd name="T29" fmla="*/ 8 h 214"/>
                    <a:gd name="T30" fmla="*/ 76 w 188"/>
                    <a:gd name="T31" fmla="*/ 8 h 214"/>
                    <a:gd name="T32" fmla="*/ 78 w 188"/>
                    <a:gd name="T33" fmla="*/ 9 h 214"/>
                    <a:gd name="T34" fmla="*/ 58 w 188"/>
                    <a:gd name="T35" fmla="*/ 9 h 214"/>
                    <a:gd name="T36" fmla="*/ 34 w 188"/>
                    <a:gd name="T37" fmla="*/ 9 h 214"/>
                    <a:gd name="T38" fmla="*/ 36 w 188"/>
                    <a:gd name="T39" fmla="*/ 8 h 214"/>
                    <a:gd name="T40" fmla="*/ 46 w 188"/>
                    <a:gd name="T41" fmla="*/ 8 h 214"/>
                    <a:gd name="T42" fmla="*/ 34 w 188"/>
                    <a:gd name="T43" fmla="*/ 8 h 214"/>
                    <a:gd name="T44" fmla="*/ 26 w 188"/>
                    <a:gd name="T45" fmla="*/ 9 h 214"/>
                    <a:gd name="T46" fmla="*/ 30 w 188"/>
                    <a:gd name="T47" fmla="*/ 10 h 214"/>
                    <a:gd name="T48" fmla="*/ 14 w 188"/>
                    <a:gd name="T49" fmla="*/ 11 h 214"/>
                    <a:gd name="T50" fmla="*/ 0 w 188"/>
                    <a:gd name="T51" fmla="*/ 12 h 214"/>
                    <a:gd name="T52" fmla="*/ 8 w 188"/>
                    <a:gd name="T53" fmla="*/ 10 h 214"/>
                    <a:gd name="T54" fmla="*/ 0 w 188"/>
                    <a:gd name="T55" fmla="*/ 9 h 214"/>
                    <a:gd name="T56" fmla="*/ 14 w 188"/>
                    <a:gd name="T57" fmla="*/ 8 h 214"/>
                    <a:gd name="T58" fmla="*/ 32 w 188"/>
                    <a:gd name="T59" fmla="*/ 7 h 214"/>
                    <a:gd name="T60" fmla="*/ 44 w 188"/>
                    <a:gd name="T61" fmla="*/ 7 h 214"/>
                    <a:gd name="T62" fmla="*/ 72 w 188"/>
                    <a:gd name="T63" fmla="*/ 7 h 214"/>
                    <a:gd name="T64" fmla="*/ 84 w 188"/>
                    <a:gd name="T65" fmla="*/ 6 h 214"/>
                    <a:gd name="T66" fmla="*/ 99 w 188"/>
                    <a:gd name="T67" fmla="*/ 5 h 214"/>
                    <a:gd name="T68" fmla="*/ 105 w 188"/>
                    <a:gd name="T69" fmla="*/ 5 h 214"/>
                    <a:gd name="T70" fmla="*/ 117 w 188"/>
                    <a:gd name="T71" fmla="*/ 4 h 214"/>
                    <a:gd name="T72" fmla="*/ 135 w 188"/>
                    <a:gd name="T73" fmla="*/ 3 h 214"/>
                    <a:gd name="T74" fmla="*/ 139 w 188"/>
                    <a:gd name="T75" fmla="*/ 2 h 214"/>
                    <a:gd name="T76" fmla="*/ 133 w 188"/>
                    <a:gd name="T77" fmla="*/ 2 h 214"/>
                    <a:gd name="T78" fmla="*/ 137 w 188"/>
                    <a:gd name="T79" fmla="*/ 2 h 214"/>
                    <a:gd name="T80" fmla="*/ 143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7 w 812"/>
                    <a:gd name="T1" fmla="*/ 2 h 564"/>
                    <a:gd name="T2" fmla="*/ 793 w 812"/>
                    <a:gd name="T3" fmla="*/ 4 h 564"/>
                    <a:gd name="T4" fmla="*/ 763 w 812"/>
                    <a:gd name="T5" fmla="*/ 6 h 564"/>
                    <a:gd name="T6" fmla="*/ 737 w 812"/>
                    <a:gd name="T7" fmla="*/ 7 h 564"/>
                    <a:gd name="T8" fmla="*/ 649 w 812"/>
                    <a:gd name="T9" fmla="*/ 9 h 564"/>
                    <a:gd name="T10" fmla="*/ 647 w 812"/>
                    <a:gd name="T11" fmla="*/ 11 h 564"/>
                    <a:gd name="T12" fmla="*/ 619 w 812"/>
                    <a:gd name="T13" fmla="*/ 11 h 564"/>
                    <a:gd name="T14" fmla="*/ 635 w 812"/>
                    <a:gd name="T15" fmla="*/ 9 h 564"/>
                    <a:gd name="T16" fmla="*/ 591 w 812"/>
                    <a:gd name="T17" fmla="*/ 9 h 564"/>
                    <a:gd name="T18" fmla="*/ 571 w 812"/>
                    <a:gd name="T19" fmla="*/ 11 h 564"/>
                    <a:gd name="T20" fmla="*/ 611 w 812"/>
                    <a:gd name="T21" fmla="*/ 14 h 564"/>
                    <a:gd name="T22" fmla="*/ 609 w 812"/>
                    <a:gd name="T23" fmla="*/ 19 h 564"/>
                    <a:gd name="T24" fmla="*/ 557 w 812"/>
                    <a:gd name="T25" fmla="*/ 20 h 564"/>
                    <a:gd name="T26" fmla="*/ 537 w 812"/>
                    <a:gd name="T27" fmla="*/ 20 h 564"/>
                    <a:gd name="T28" fmla="*/ 497 w 812"/>
                    <a:gd name="T29" fmla="*/ 17 h 564"/>
                    <a:gd name="T30" fmla="*/ 477 w 812"/>
                    <a:gd name="T31" fmla="*/ 17 h 564"/>
                    <a:gd name="T32" fmla="*/ 465 w 812"/>
                    <a:gd name="T33" fmla="*/ 20 h 564"/>
                    <a:gd name="T34" fmla="*/ 515 w 812"/>
                    <a:gd name="T35" fmla="*/ 24 h 564"/>
                    <a:gd name="T36" fmla="*/ 525 w 812"/>
                    <a:gd name="T37" fmla="*/ 26 h 564"/>
                    <a:gd name="T38" fmla="*/ 541 w 812"/>
                    <a:gd name="T39" fmla="*/ 28 h 564"/>
                    <a:gd name="T40" fmla="*/ 507 w 812"/>
                    <a:gd name="T41" fmla="*/ 28 h 564"/>
                    <a:gd name="T42" fmla="*/ 485 w 812"/>
                    <a:gd name="T43" fmla="*/ 26 h 564"/>
                    <a:gd name="T44" fmla="*/ 437 w 812"/>
                    <a:gd name="T45" fmla="*/ 21 h 564"/>
                    <a:gd name="T46" fmla="*/ 441 w 812"/>
                    <a:gd name="T47" fmla="*/ 16 h 564"/>
                    <a:gd name="T48" fmla="*/ 437 w 812"/>
                    <a:gd name="T49" fmla="*/ 13 h 564"/>
                    <a:gd name="T50" fmla="*/ 427 w 812"/>
                    <a:gd name="T51" fmla="*/ 14 h 564"/>
                    <a:gd name="T52" fmla="*/ 386 w 812"/>
                    <a:gd name="T53" fmla="*/ 13 h 564"/>
                    <a:gd name="T54" fmla="*/ 360 w 812"/>
                    <a:gd name="T55" fmla="*/ 9 h 564"/>
                    <a:gd name="T56" fmla="*/ 330 w 812"/>
                    <a:gd name="T57" fmla="*/ 9 h 564"/>
                    <a:gd name="T58" fmla="*/ 288 w 812"/>
                    <a:gd name="T59" fmla="*/ 9 h 564"/>
                    <a:gd name="T60" fmla="*/ 242 w 812"/>
                    <a:gd name="T61" fmla="*/ 11 h 564"/>
                    <a:gd name="T62" fmla="*/ 196 w 812"/>
                    <a:gd name="T63" fmla="*/ 13 h 564"/>
                    <a:gd name="T64" fmla="*/ 184 w 812"/>
                    <a:gd name="T65" fmla="*/ 13 h 564"/>
                    <a:gd name="T66" fmla="*/ 160 w 812"/>
                    <a:gd name="T67" fmla="*/ 16 h 564"/>
                    <a:gd name="T68" fmla="*/ 152 w 812"/>
                    <a:gd name="T69" fmla="*/ 17 h 564"/>
                    <a:gd name="T70" fmla="*/ 128 w 812"/>
                    <a:gd name="T71" fmla="*/ 20 h 564"/>
                    <a:gd name="T72" fmla="*/ 94 w 812"/>
                    <a:gd name="T73" fmla="*/ 20 h 564"/>
                    <a:gd name="T74" fmla="*/ 66 w 812"/>
                    <a:gd name="T75" fmla="*/ 13 h 564"/>
                    <a:gd name="T76" fmla="*/ 72 w 812"/>
                    <a:gd name="T77" fmla="*/ 7 h 564"/>
                    <a:gd name="T78" fmla="*/ 44 w 812"/>
                    <a:gd name="T79" fmla="*/ 9 h 564"/>
                    <a:gd name="T80" fmla="*/ 20 w 812"/>
                    <a:gd name="T81" fmla="*/ 7 h 564"/>
                    <a:gd name="T82" fmla="*/ 24 w 812"/>
                    <a:gd name="T83" fmla="*/ 7 h 564"/>
                    <a:gd name="T84" fmla="*/ 0 w 812"/>
                    <a:gd name="T85" fmla="*/ 5 h 564"/>
                    <a:gd name="T86" fmla="*/ 813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2 w 43"/>
                    <a:gd name="T3" fmla="*/ 3 h 85"/>
                    <a:gd name="T4" fmla="*/ 73 w 43"/>
                    <a:gd name="T5" fmla="*/ 3 h 85"/>
                    <a:gd name="T6" fmla="*/ 35 w 43"/>
                    <a:gd name="T7" fmla="*/ 6 h 85"/>
                    <a:gd name="T8" fmla="*/ 1 w 43"/>
                    <a:gd name="T9" fmla="*/ 5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4 w 44"/>
                    <a:gd name="T3" fmla="*/ 2 h 74"/>
                    <a:gd name="T4" fmla="*/ 23 w 44"/>
                    <a:gd name="T5" fmla="*/ 2 h 74"/>
                    <a:gd name="T6" fmla="*/ 21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87232 w 682"/>
                    <a:gd name="T1" fmla="*/ 347720 h 557"/>
                    <a:gd name="T2" fmla="*/ 189101 w 682"/>
                    <a:gd name="T3" fmla="*/ 338147 h 557"/>
                    <a:gd name="T4" fmla="*/ 194652 w 682"/>
                    <a:gd name="T5" fmla="*/ 309636 h 557"/>
                    <a:gd name="T6" fmla="*/ 120394 w 682"/>
                    <a:gd name="T7" fmla="*/ 214838 h 557"/>
                    <a:gd name="T8" fmla="*/ 109830 w 682"/>
                    <a:gd name="T9" fmla="*/ 259318 h 557"/>
                    <a:gd name="T10" fmla="*/ 117972 w 682"/>
                    <a:gd name="T11" fmla="*/ 416544 h 557"/>
                    <a:gd name="T12" fmla="*/ 109830 w 682"/>
                    <a:gd name="T13" fmla="*/ 370326 h 557"/>
                    <a:gd name="T14" fmla="*/ 94255 w 682"/>
                    <a:gd name="T15" fmla="*/ 329386 h 557"/>
                    <a:gd name="T16" fmla="*/ 95431 w 682"/>
                    <a:gd name="T17" fmla="*/ 309636 h 557"/>
                    <a:gd name="T18" fmla="*/ 96319 w 682"/>
                    <a:gd name="T19" fmla="*/ 295619 h 557"/>
                    <a:gd name="T20" fmla="*/ 85614 w 682"/>
                    <a:gd name="T21" fmla="*/ 281141 h 557"/>
                    <a:gd name="T22" fmla="*/ 75558 w 682"/>
                    <a:gd name="T23" fmla="*/ 259318 h 557"/>
                    <a:gd name="T24" fmla="*/ 57526 w 682"/>
                    <a:gd name="T25" fmla="*/ 265078 h 557"/>
                    <a:gd name="T26" fmla="*/ 49245 w 682"/>
                    <a:gd name="T27" fmla="*/ 273580 h 557"/>
                    <a:gd name="T28" fmla="*/ 30353 w 682"/>
                    <a:gd name="T29" fmla="*/ 273580 h 557"/>
                    <a:gd name="T30" fmla="*/ 8641 w 682"/>
                    <a:gd name="T31" fmla="*/ 233862 h 557"/>
                    <a:gd name="T32" fmla="*/ 4249 w 682"/>
                    <a:gd name="T33" fmla="*/ 221516 h 557"/>
                    <a:gd name="T34" fmla="*/ 0 w 682"/>
                    <a:gd name="T35" fmla="*/ 197501 h 557"/>
                    <a:gd name="T36" fmla="*/ 9412 w 682"/>
                    <a:gd name="T37" fmla="*/ 159775 h 557"/>
                    <a:gd name="T38" fmla="*/ 12530 w 682"/>
                    <a:gd name="T39" fmla="*/ 135508 h 557"/>
                    <a:gd name="T40" fmla="*/ 19868 w 682"/>
                    <a:gd name="T41" fmla="*/ 106855 h 557"/>
                    <a:gd name="T42" fmla="*/ 31690 w 682"/>
                    <a:gd name="T43" fmla="*/ 86727 h 557"/>
                    <a:gd name="T44" fmla="*/ 65210 w 682"/>
                    <a:gd name="T45" fmla="*/ 50262 h 557"/>
                    <a:gd name="T46" fmla="*/ 85614 w 682"/>
                    <a:gd name="T47" fmla="*/ 22602 h 557"/>
                    <a:gd name="T48" fmla="*/ 100366 w 682"/>
                    <a:gd name="T49" fmla="*/ 4327 h 557"/>
                    <a:gd name="T50" fmla="*/ 141319 w 682"/>
                    <a:gd name="T51" fmla="*/ 1600 h 557"/>
                    <a:gd name="T52" fmla="*/ 154814 w 682"/>
                    <a:gd name="T53" fmla="*/ 0 h 557"/>
                    <a:gd name="T54" fmla="*/ 149372 w 682"/>
                    <a:gd name="T55" fmla="*/ 25282 h 557"/>
                    <a:gd name="T56" fmla="*/ 172398 w 682"/>
                    <a:gd name="T57" fmla="*/ 63221 h 557"/>
                    <a:gd name="T58" fmla="*/ 193527 w 682"/>
                    <a:gd name="T59" fmla="*/ 55469 h 557"/>
                    <a:gd name="T60" fmla="*/ 205840 w 682"/>
                    <a:gd name="T61" fmla="*/ 61113 h 557"/>
                    <a:gd name="T62" fmla="*/ 217472 w 682"/>
                    <a:gd name="T63" fmla="*/ 72794 h 557"/>
                    <a:gd name="T64" fmla="*/ 222720 w 682"/>
                    <a:gd name="T65" fmla="*/ 140878 h 557"/>
                    <a:gd name="T66" fmla="*/ 222720 w 682"/>
                    <a:gd name="T67" fmla="*/ 179906 h 557"/>
                    <a:gd name="T68" fmla="*/ 232980 w 682"/>
                    <a:gd name="T69" fmla="*/ 212134 h 557"/>
                    <a:gd name="T70" fmla="*/ 251195 w 682"/>
                    <a:gd name="T71" fmla="*/ 224812 h 557"/>
                    <a:gd name="T72" fmla="*/ 264567 w 682"/>
                    <a:gd name="T73" fmla="*/ 221516 h 557"/>
                    <a:gd name="T74" fmla="*/ 258338 w 682"/>
                    <a:gd name="T75" fmla="*/ 254971 h 557"/>
                    <a:gd name="T76" fmla="*/ 232980 w 682"/>
                    <a:gd name="T77" fmla="*/ 305277 h 557"/>
                    <a:gd name="T78" fmla="*/ 213342 w 682"/>
                    <a:gd name="T79" fmla="*/ 363599 h 557"/>
                    <a:gd name="T80" fmla="*/ 216406 w 682"/>
                    <a:gd name="T81" fmla="*/ 380855 h 557"/>
                    <a:gd name="T82" fmla="*/ 169227 w 682"/>
                    <a:gd name="T83" fmla="*/ 41654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92770 w 257"/>
                    <a:gd name="T1" fmla="*/ 263634 h 347"/>
                    <a:gd name="T2" fmla="*/ 88889 w 257"/>
                    <a:gd name="T3" fmla="*/ 228571 h 347"/>
                    <a:gd name="T4" fmla="*/ 82985 w 257"/>
                    <a:gd name="T5" fmla="*/ 218842 h 347"/>
                    <a:gd name="T6" fmla="*/ 82344 w 257"/>
                    <a:gd name="T7" fmla="*/ 204870 h 347"/>
                    <a:gd name="T8" fmla="*/ 79892 w 257"/>
                    <a:gd name="T9" fmla="*/ 193026 h 347"/>
                    <a:gd name="T10" fmla="*/ 79892 w 257"/>
                    <a:gd name="T11" fmla="*/ 173891 h 347"/>
                    <a:gd name="T12" fmla="*/ 79197 w 257"/>
                    <a:gd name="T13" fmla="*/ 162534 h 347"/>
                    <a:gd name="T14" fmla="*/ 87065 w 257"/>
                    <a:gd name="T15" fmla="*/ 153508 h 347"/>
                    <a:gd name="T16" fmla="*/ 98170 w 257"/>
                    <a:gd name="T17" fmla="*/ 150100 h 347"/>
                    <a:gd name="T18" fmla="*/ 98170 w 257"/>
                    <a:gd name="T19" fmla="*/ 103672 h 347"/>
                    <a:gd name="T20" fmla="*/ 20591 w 257"/>
                    <a:gd name="T21" fmla="*/ 72923 h 347"/>
                    <a:gd name="T22" fmla="*/ 12355 w 257"/>
                    <a:gd name="T23" fmla="*/ 74595 h 347"/>
                    <a:gd name="T24" fmla="*/ 6270 w 257"/>
                    <a:gd name="T25" fmla="*/ 77564 h 347"/>
                    <a:gd name="T26" fmla="*/ 0 w 257"/>
                    <a:gd name="T27" fmla="*/ 113482 h 347"/>
                    <a:gd name="T28" fmla="*/ 35407 w 257"/>
                    <a:gd name="T29" fmla="*/ 262845 h 347"/>
                    <a:gd name="T30" fmla="*/ 92770 w 257"/>
                    <a:gd name="T31" fmla="*/ 2636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7 w 57"/>
                    <a:gd name="T3" fmla="*/ 2 h 30"/>
                    <a:gd name="T4" fmla="*/ 51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8 w 693"/>
                    <a:gd name="T1" fmla="*/ 23 h 696"/>
                    <a:gd name="T2" fmla="*/ 378 w 693"/>
                    <a:gd name="T3" fmla="*/ 22 h 696"/>
                    <a:gd name="T4" fmla="*/ 310 w 693"/>
                    <a:gd name="T5" fmla="*/ 20 h 696"/>
                    <a:gd name="T6" fmla="*/ 250 w 693"/>
                    <a:gd name="T7" fmla="*/ 20 h 696"/>
                    <a:gd name="T8" fmla="*/ 222 w 693"/>
                    <a:gd name="T9" fmla="*/ 20 h 696"/>
                    <a:gd name="T10" fmla="*/ 246 w 693"/>
                    <a:gd name="T11" fmla="*/ 20 h 696"/>
                    <a:gd name="T12" fmla="*/ 278 w 693"/>
                    <a:gd name="T13" fmla="*/ 23 h 696"/>
                    <a:gd name="T14" fmla="*/ 306 w 693"/>
                    <a:gd name="T15" fmla="*/ 24 h 696"/>
                    <a:gd name="T16" fmla="*/ 318 w 693"/>
                    <a:gd name="T17" fmla="*/ 25 h 696"/>
                    <a:gd name="T18" fmla="*/ 298 w 693"/>
                    <a:gd name="T19" fmla="*/ 27 h 696"/>
                    <a:gd name="T20" fmla="*/ 246 w 693"/>
                    <a:gd name="T21" fmla="*/ 31 h 696"/>
                    <a:gd name="T22" fmla="*/ 210 w 693"/>
                    <a:gd name="T23" fmla="*/ 31 h 696"/>
                    <a:gd name="T24" fmla="*/ 97 w 693"/>
                    <a:gd name="T25" fmla="*/ 34 h 696"/>
                    <a:gd name="T26" fmla="*/ 77 w 693"/>
                    <a:gd name="T27" fmla="*/ 31 h 696"/>
                    <a:gd name="T28" fmla="*/ 45 w 693"/>
                    <a:gd name="T29" fmla="*/ 25 h 696"/>
                    <a:gd name="T30" fmla="*/ 33 w 693"/>
                    <a:gd name="T31" fmla="*/ 22 h 696"/>
                    <a:gd name="T32" fmla="*/ 53 w 693"/>
                    <a:gd name="T33" fmla="*/ 16 h 696"/>
                    <a:gd name="T34" fmla="*/ 17 w 693"/>
                    <a:gd name="T35" fmla="*/ 20 h 696"/>
                    <a:gd name="T36" fmla="*/ 81 w 693"/>
                    <a:gd name="T37" fmla="*/ 13 h 696"/>
                    <a:gd name="T38" fmla="*/ 113 w 693"/>
                    <a:gd name="T39" fmla="*/ 11 h 696"/>
                    <a:gd name="T40" fmla="*/ 37 w 693"/>
                    <a:gd name="T41" fmla="*/ 11 h 696"/>
                    <a:gd name="T42" fmla="*/ 1 w 693"/>
                    <a:gd name="T43" fmla="*/ 9 h 696"/>
                    <a:gd name="T44" fmla="*/ 25 w 693"/>
                    <a:gd name="T45" fmla="*/ 7 h 696"/>
                    <a:gd name="T46" fmla="*/ 97 w 693"/>
                    <a:gd name="T47" fmla="*/ 6 h 696"/>
                    <a:gd name="T48" fmla="*/ 206 w 693"/>
                    <a:gd name="T49" fmla="*/ 6 h 696"/>
                    <a:gd name="T50" fmla="*/ 214 w 693"/>
                    <a:gd name="T51" fmla="*/ 3 h 696"/>
                    <a:gd name="T52" fmla="*/ 246 w 693"/>
                    <a:gd name="T53" fmla="*/ 0 h 696"/>
                    <a:gd name="T54" fmla="*/ 342 w 693"/>
                    <a:gd name="T55" fmla="*/ 2 h 696"/>
                    <a:gd name="T56" fmla="*/ 314 w 693"/>
                    <a:gd name="T57" fmla="*/ 4 h 696"/>
                    <a:gd name="T58" fmla="*/ 286 w 693"/>
                    <a:gd name="T59" fmla="*/ 9 h 696"/>
                    <a:gd name="T60" fmla="*/ 346 w 693"/>
                    <a:gd name="T61" fmla="*/ 9 h 696"/>
                    <a:gd name="T62" fmla="*/ 358 w 693"/>
                    <a:gd name="T63" fmla="*/ 7 h 696"/>
                    <a:gd name="T64" fmla="*/ 402 w 693"/>
                    <a:gd name="T65" fmla="*/ 5 h 696"/>
                    <a:gd name="T66" fmla="*/ 482 w 693"/>
                    <a:gd name="T67" fmla="*/ 4 h 696"/>
                    <a:gd name="T68" fmla="*/ 509 w 693"/>
                    <a:gd name="T69" fmla="*/ 2 h 696"/>
                    <a:gd name="T70" fmla="*/ 515 w 693"/>
                    <a:gd name="T71" fmla="*/ 23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322484 w 931"/>
                    <a:gd name="T1" fmla="*/ 0 h 149"/>
                    <a:gd name="T2" fmla="*/ 56001 w 931"/>
                    <a:gd name="T3" fmla="*/ 22213 h 149"/>
                    <a:gd name="T4" fmla="*/ 35417 w 931"/>
                    <a:gd name="T5" fmla="*/ 31868 h 149"/>
                    <a:gd name="T6" fmla="*/ 24195 w 931"/>
                    <a:gd name="T7" fmla="*/ 31868 h 149"/>
                    <a:gd name="T8" fmla="*/ 8661 w 931"/>
                    <a:gd name="T9" fmla="*/ 59081 h 149"/>
                    <a:gd name="T10" fmla="*/ 0 w 931"/>
                    <a:gd name="T11" fmla="*/ 80255 h 149"/>
                    <a:gd name="T12" fmla="*/ 23090 w 931"/>
                    <a:gd name="T13" fmla="*/ 88232 h 149"/>
                    <a:gd name="T14" fmla="*/ 37828 w 931"/>
                    <a:gd name="T15" fmla="*/ 73261 h 149"/>
                    <a:gd name="T16" fmla="*/ 42315 w 931"/>
                    <a:gd name="T17" fmla="*/ 64535 h 149"/>
                    <a:gd name="T18" fmla="*/ 65428 w 931"/>
                    <a:gd name="T19" fmla="*/ 39804 h 149"/>
                    <a:gd name="T20" fmla="*/ 84064 w 931"/>
                    <a:gd name="T21" fmla="*/ 35339 h 149"/>
                    <a:gd name="T22" fmla="*/ 92816 w 931"/>
                    <a:gd name="T23" fmla="*/ 71702 h 149"/>
                    <a:gd name="T24" fmla="*/ 73559 w 931"/>
                    <a:gd name="T25" fmla="*/ 83853 h 149"/>
                    <a:gd name="T26" fmla="*/ 90257 w 931"/>
                    <a:gd name="T27" fmla="*/ 86714 h 149"/>
                    <a:gd name="T28" fmla="*/ 97739 w 931"/>
                    <a:gd name="T29" fmla="*/ 68857 h 149"/>
                    <a:gd name="T30" fmla="*/ 104063 w 931"/>
                    <a:gd name="T31" fmla="*/ 70402 h 149"/>
                    <a:gd name="T32" fmla="*/ 98920 w 931"/>
                    <a:gd name="T33" fmla="*/ 41447 h 149"/>
                    <a:gd name="T34" fmla="*/ 104063 w 931"/>
                    <a:gd name="T35" fmla="*/ 33925 h 149"/>
                    <a:gd name="T36" fmla="*/ 108175 w 931"/>
                    <a:gd name="T37" fmla="*/ 67406 h 149"/>
                    <a:gd name="T38" fmla="*/ 104063 w 931"/>
                    <a:gd name="T39" fmla="*/ 86714 h 149"/>
                    <a:gd name="T40" fmla="*/ 115962 w 931"/>
                    <a:gd name="T41" fmla="*/ 99534 h 149"/>
                    <a:gd name="T42" fmla="*/ 116856 w 931"/>
                    <a:gd name="T43" fmla="*/ 70402 h 149"/>
                    <a:gd name="T44" fmla="*/ 129502 w 931"/>
                    <a:gd name="T45" fmla="*/ 78774 h 149"/>
                    <a:gd name="T46" fmla="*/ 149396 w 931"/>
                    <a:gd name="T47" fmla="*/ 56200 h 149"/>
                    <a:gd name="T48" fmla="*/ 159996 w 931"/>
                    <a:gd name="T49" fmla="*/ 38199 h 149"/>
                    <a:gd name="T50" fmla="*/ 171877 w 931"/>
                    <a:gd name="T51" fmla="*/ 42666 h 149"/>
                    <a:gd name="T52" fmla="*/ 177916 w 931"/>
                    <a:gd name="T53" fmla="*/ 38199 h 149"/>
                    <a:gd name="T54" fmla="*/ 168598 w 931"/>
                    <a:gd name="T55" fmla="*/ 33925 h 149"/>
                    <a:gd name="T56" fmla="*/ 185481 w 931"/>
                    <a:gd name="T57" fmla="*/ 26619 h 149"/>
                    <a:gd name="T58" fmla="*/ 212709 w 931"/>
                    <a:gd name="T59" fmla="*/ 41447 h 149"/>
                    <a:gd name="T60" fmla="*/ 227233 w 931"/>
                    <a:gd name="T61" fmla="*/ 31868 h 149"/>
                    <a:gd name="T62" fmla="*/ 228223 w 931"/>
                    <a:gd name="T63" fmla="*/ 48398 h 149"/>
                    <a:gd name="T64" fmla="*/ 222108 w 931"/>
                    <a:gd name="T65" fmla="*/ 77261 h 149"/>
                    <a:gd name="T66" fmla="*/ 239084 w 931"/>
                    <a:gd name="T67" fmla="*/ 67406 h 149"/>
                    <a:gd name="T68" fmla="*/ 243996 w 931"/>
                    <a:gd name="T69" fmla="*/ 61628 h 149"/>
                    <a:gd name="T70" fmla="*/ 253491 w 931"/>
                    <a:gd name="T71" fmla="*/ 46638 h 149"/>
                    <a:gd name="T72" fmla="*/ 310491 w 931"/>
                    <a:gd name="T73" fmla="*/ 6453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6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7 w 44"/>
                    <a:gd name="T3" fmla="*/ 0 h 32"/>
                    <a:gd name="T4" fmla="*/ 53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78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E8331E4D-00AD-4A9E-8C30-F22072B00594}" type="datetime1">
              <a:rPr lang="en-CA" smtClean="0"/>
              <a:t>2021-05-27</a:t>
            </a:fld>
            <a:endParaRPr lang="en-CA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2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07506AF7-E63B-45B8-B418-2FCE970102F7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63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F45522-AB14-4E51-8362-58476DBDA7DE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639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182A3C-C01D-4457-9621-7F4303202DC3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59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CE60F5-D64F-4DFF-BE9D-0083161665E4}" type="datetime1">
              <a:rPr lang="en-CA" smtClean="0"/>
              <a:t>2021-05-27</a:t>
            </a:fld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9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0301EE-EB90-4B6B-946C-ABC1AAC8A60E}" type="datetime1">
              <a:rPr lang="en-CA" smtClean="0"/>
              <a:t>2021-05-27</a:t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41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43B6DD-84F0-4326-BC58-51F61A2EE47F}" type="datetime1">
              <a:rPr lang="en-CA" smtClean="0"/>
              <a:t>2021-05-27</a:t>
            </a:fld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68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D22ED4-5B5D-40B7-B594-CF2C6B039AE7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82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43F753-901F-4B2E-A9DB-4496AC4E05C7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21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7B66F6-39E9-478B-AC3A-8F784E8AF1CA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9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4" y="930277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4" y="930277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49B577-9A89-46DC-8DB3-5A04CD632874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5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D009D7-F2E7-42DA-87C2-958DC213CC39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1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5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2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215A83-B1B4-4454-A42F-047A7677609B}" type="datetime1">
              <a:rPr lang="en-CA" smtClean="0"/>
              <a:t>2021-05-27</a:t>
            </a:fld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141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1" y="274638"/>
            <a:ext cx="7200800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418A8-048D-4CFF-A1C0-DE0AD2B2D80A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1" y="838201"/>
            <a:ext cx="7200800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251520" y="1484784"/>
            <a:ext cx="8637640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5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fld id="{62E7640D-8515-46D1-A0F8-850D21F4D32C}" type="datetime1">
              <a:rPr lang="en-CA" smtClean="0"/>
              <a:t>2021-05-27</a:t>
            </a:fld>
            <a:endParaRPr lang="en-CA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0 w 15"/>
                      <a:gd name="T3" fmla="*/ 0 h 23"/>
                      <a:gd name="T4" fmla="*/ 0 w 15"/>
                      <a:gd name="T5" fmla="*/ 0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0 h 23"/>
                      <a:gd name="T2" fmla="*/ 0 w 20"/>
                      <a:gd name="T3" fmla="*/ 0 h 23"/>
                      <a:gd name="T4" fmla="*/ 0 w 20"/>
                      <a:gd name="T5" fmla="*/ 0 h 23"/>
                      <a:gd name="T6" fmla="*/ 0 w 20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0 h 22"/>
                      <a:gd name="T2" fmla="*/ 0 w 26"/>
                      <a:gd name="T3" fmla="*/ 0 h 22"/>
                      <a:gd name="T4" fmla="*/ 0 w 26"/>
                      <a:gd name="T5" fmla="*/ 0 h 22"/>
                      <a:gd name="T6" fmla="*/ 0 w 26"/>
                      <a:gd name="T7" fmla="*/ 0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 w 471"/>
                      <a:gd name="T1" fmla="*/ 1 h 281"/>
                      <a:gd name="T2" fmla="*/ 1 w 471"/>
                      <a:gd name="T3" fmla="*/ 1 h 281"/>
                      <a:gd name="T4" fmla="*/ 1 w 471"/>
                      <a:gd name="T5" fmla="*/ 1 h 281"/>
                      <a:gd name="T6" fmla="*/ 1 w 471"/>
                      <a:gd name="T7" fmla="*/ 1 h 281"/>
                      <a:gd name="T8" fmla="*/ 1 w 471"/>
                      <a:gd name="T9" fmla="*/ 1 h 281"/>
                      <a:gd name="T10" fmla="*/ 0 w 471"/>
                      <a:gd name="T11" fmla="*/ 1 h 281"/>
                      <a:gd name="T12" fmla="*/ 1 w 471"/>
                      <a:gd name="T13" fmla="*/ 1 h 281"/>
                      <a:gd name="T14" fmla="*/ 1 w 471"/>
                      <a:gd name="T15" fmla="*/ 1 h 281"/>
                      <a:gd name="T16" fmla="*/ 1 w 471"/>
                      <a:gd name="T17" fmla="*/ 1 h 281"/>
                      <a:gd name="T18" fmla="*/ 1 w 471"/>
                      <a:gd name="T19" fmla="*/ 1 h 281"/>
                      <a:gd name="T20" fmla="*/ 1 w 471"/>
                      <a:gd name="T21" fmla="*/ 1 h 281"/>
                      <a:gd name="T22" fmla="*/ 1 w 471"/>
                      <a:gd name="T23" fmla="*/ 1 h 281"/>
                      <a:gd name="T24" fmla="*/ 1 w 471"/>
                      <a:gd name="T25" fmla="*/ 1 h 281"/>
                      <a:gd name="T26" fmla="*/ 1 w 471"/>
                      <a:gd name="T27" fmla="*/ 1 h 281"/>
                      <a:gd name="T28" fmla="*/ 1 w 471"/>
                      <a:gd name="T29" fmla="*/ 1 h 281"/>
                      <a:gd name="T30" fmla="*/ 1 w 471"/>
                      <a:gd name="T31" fmla="*/ 1 h 281"/>
                      <a:gd name="T32" fmla="*/ 1 w 471"/>
                      <a:gd name="T33" fmla="*/ 1 h 281"/>
                      <a:gd name="T34" fmla="*/ 1 w 471"/>
                      <a:gd name="T35" fmla="*/ 0 h 281"/>
                      <a:gd name="T36" fmla="*/ 1 w 471"/>
                      <a:gd name="T37" fmla="*/ 1 h 281"/>
                      <a:gd name="T38" fmla="*/ 1 w 471"/>
                      <a:gd name="T39" fmla="*/ 1 h 281"/>
                      <a:gd name="T40" fmla="*/ 1 w 471"/>
                      <a:gd name="T41" fmla="*/ 1 h 281"/>
                      <a:gd name="T42" fmla="*/ 1 w 471"/>
                      <a:gd name="T43" fmla="*/ 1 h 281"/>
                      <a:gd name="T44" fmla="*/ 1 w 471"/>
                      <a:gd name="T45" fmla="*/ 1 h 281"/>
                      <a:gd name="T46" fmla="*/ 1 w 471"/>
                      <a:gd name="T47" fmla="*/ 1 h 281"/>
                      <a:gd name="T48" fmla="*/ 1 w 471"/>
                      <a:gd name="T49" fmla="*/ 1 h 281"/>
                      <a:gd name="T50" fmla="*/ 1 w 471"/>
                      <a:gd name="T51" fmla="*/ 1 h 281"/>
                      <a:gd name="T52" fmla="*/ 1 w 471"/>
                      <a:gd name="T53" fmla="*/ 1 h 281"/>
                      <a:gd name="T54" fmla="*/ 1 w 471"/>
                      <a:gd name="T55" fmla="*/ 1 h 281"/>
                      <a:gd name="T56" fmla="*/ 1 w 471"/>
                      <a:gd name="T57" fmla="*/ 1 h 281"/>
                      <a:gd name="T58" fmla="*/ 1 w 471"/>
                      <a:gd name="T59" fmla="*/ 1 h 281"/>
                      <a:gd name="T60" fmla="*/ 1 w 471"/>
                      <a:gd name="T61" fmla="*/ 1 h 281"/>
                      <a:gd name="T62" fmla="*/ 1 w 471"/>
                      <a:gd name="T63" fmla="*/ 1 h 281"/>
                      <a:gd name="T64" fmla="*/ 1 w 471"/>
                      <a:gd name="T65" fmla="*/ 1 h 281"/>
                      <a:gd name="T66" fmla="*/ 1 w 471"/>
                      <a:gd name="T67" fmla="*/ 1 h 281"/>
                      <a:gd name="T68" fmla="*/ 1 w 471"/>
                      <a:gd name="T69" fmla="*/ 1 h 281"/>
                      <a:gd name="T70" fmla="*/ 1 w 471"/>
                      <a:gd name="T71" fmla="*/ 1 h 281"/>
                      <a:gd name="T72" fmla="*/ 1 w 471"/>
                      <a:gd name="T73" fmla="*/ 1 h 281"/>
                      <a:gd name="T74" fmla="*/ 1 w 471"/>
                      <a:gd name="T75" fmla="*/ 1 h 281"/>
                      <a:gd name="T76" fmla="*/ 1 w 471"/>
                      <a:gd name="T77" fmla="*/ 1 h 281"/>
                      <a:gd name="T78" fmla="*/ 1 w 471"/>
                      <a:gd name="T79" fmla="*/ 1 h 281"/>
                      <a:gd name="T80" fmla="*/ 1 w 471"/>
                      <a:gd name="T81" fmla="*/ 1 h 281"/>
                      <a:gd name="T82" fmla="*/ 1 w 471"/>
                      <a:gd name="T83" fmla="*/ 1 h 281"/>
                      <a:gd name="T84" fmla="*/ 1 w 471"/>
                      <a:gd name="T85" fmla="*/ 1 h 281"/>
                      <a:gd name="T86" fmla="*/ 1 w 471"/>
                      <a:gd name="T87" fmla="*/ 1 h 281"/>
                      <a:gd name="T88" fmla="*/ 1 w 471"/>
                      <a:gd name="T89" fmla="*/ 1 h 281"/>
                      <a:gd name="T90" fmla="*/ 1 w 471"/>
                      <a:gd name="T91" fmla="*/ 1 h 281"/>
                      <a:gd name="T92" fmla="*/ 1 w 471"/>
                      <a:gd name="T93" fmla="*/ 1 h 281"/>
                      <a:gd name="T94" fmla="*/ 1 w 471"/>
                      <a:gd name="T95" fmla="*/ 1 h 281"/>
                      <a:gd name="T96" fmla="*/ 1 w 471"/>
                      <a:gd name="T97" fmla="*/ 1 h 281"/>
                      <a:gd name="T98" fmla="*/ 1 w 471"/>
                      <a:gd name="T99" fmla="*/ 1 h 281"/>
                      <a:gd name="T100" fmla="*/ 1 w 471"/>
                      <a:gd name="T101" fmla="*/ 1 h 281"/>
                      <a:gd name="T102" fmla="*/ 1 w 471"/>
                      <a:gd name="T103" fmla="*/ 1 h 281"/>
                      <a:gd name="T104" fmla="*/ 1 w 471"/>
                      <a:gd name="T105" fmla="*/ 1 h 281"/>
                      <a:gd name="T106" fmla="*/ 1 w 471"/>
                      <a:gd name="T107" fmla="*/ 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0 w 984"/>
                      <a:gd name="T1" fmla="*/ 0 h 844"/>
                      <a:gd name="T2" fmla="*/ 0 w 984"/>
                      <a:gd name="T3" fmla="*/ 0 h 844"/>
                      <a:gd name="T4" fmla="*/ 0 w 984"/>
                      <a:gd name="T5" fmla="*/ 0 h 844"/>
                      <a:gd name="T6" fmla="*/ 0 w 984"/>
                      <a:gd name="T7" fmla="*/ 0 h 844"/>
                      <a:gd name="T8" fmla="*/ 0 w 984"/>
                      <a:gd name="T9" fmla="*/ 0 h 844"/>
                      <a:gd name="T10" fmla="*/ 0 w 984"/>
                      <a:gd name="T11" fmla="*/ 0 h 844"/>
                      <a:gd name="T12" fmla="*/ 0 w 984"/>
                      <a:gd name="T13" fmla="*/ 0 h 844"/>
                      <a:gd name="T14" fmla="*/ 0 w 984"/>
                      <a:gd name="T15" fmla="*/ 0 h 844"/>
                      <a:gd name="T16" fmla="*/ 0 w 984"/>
                      <a:gd name="T17" fmla="*/ 0 h 844"/>
                      <a:gd name="T18" fmla="*/ 0 w 984"/>
                      <a:gd name="T19" fmla="*/ 0 h 844"/>
                      <a:gd name="T20" fmla="*/ 0 w 984"/>
                      <a:gd name="T21" fmla="*/ 0 h 844"/>
                      <a:gd name="T22" fmla="*/ 0 w 984"/>
                      <a:gd name="T23" fmla="*/ 0 h 844"/>
                      <a:gd name="T24" fmla="*/ 0 w 984"/>
                      <a:gd name="T25" fmla="*/ 0 h 844"/>
                      <a:gd name="T26" fmla="*/ 0 w 984"/>
                      <a:gd name="T27" fmla="*/ 0 h 844"/>
                      <a:gd name="T28" fmla="*/ 0 w 984"/>
                      <a:gd name="T29" fmla="*/ 0 h 844"/>
                      <a:gd name="T30" fmla="*/ 0 w 984"/>
                      <a:gd name="T31" fmla="*/ 0 h 844"/>
                      <a:gd name="T32" fmla="*/ 0 w 984"/>
                      <a:gd name="T33" fmla="*/ 0 h 844"/>
                      <a:gd name="T34" fmla="*/ 0 w 984"/>
                      <a:gd name="T35" fmla="*/ 0 h 844"/>
                      <a:gd name="T36" fmla="*/ 0 w 984"/>
                      <a:gd name="T37" fmla="*/ 0 h 844"/>
                      <a:gd name="T38" fmla="*/ 0 w 984"/>
                      <a:gd name="T39" fmla="*/ 0 h 844"/>
                      <a:gd name="T40" fmla="*/ 0 w 984"/>
                      <a:gd name="T41" fmla="*/ 0 h 844"/>
                      <a:gd name="T42" fmla="*/ 0 w 984"/>
                      <a:gd name="T43" fmla="*/ 0 h 844"/>
                      <a:gd name="T44" fmla="*/ 0 w 984"/>
                      <a:gd name="T45" fmla="*/ 0 h 844"/>
                      <a:gd name="T46" fmla="*/ 0 w 984"/>
                      <a:gd name="T47" fmla="*/ 0 h 844"/>
                      <a:gd name="T48" fmla="*/ 0 w 984"/>
                      <a:gd name="T49" fmla="*/ 0 h 844"/>
                      <a:gd name="T50" fmla="*/ 0 w 984"/>
                      <a:gd name="T51" fmla="*/ 0 h 844"/>
                      <a:gd name="T52" fmla="*/ 0 w 984"/>
                      <a:gd name="T53" fmla="*/ 0 h 844"/>
                      <a:gd name="T54" fmla="*/ 0 w 984"/>
                      <a:gd name="T55" fmla="*/ 0 h 844"/>
                      <a:gd name="T56" fmla="*/ 0 w 984"/>
                      <a:gd name="T57" fmla="*/ 0 h 844"/>
                      <a:gd name="T58" fmla="*/ 0 w 984"/>
                      <a:gd name="T59" fmla="*/ 0 h 844"/>
                      <a:gd name="T60" fmla="*/ 0 w 984"/>
                      <a:gd name="T61" fmla="*/ 0 h 844"/>
                      <a:gd name="T62" fmla="*/ 0 w 984"/>
                      <a:gd name="T63" fmla="*/ 0 h 844"/>
                      <a:gd name="T64" fmla="*/ 0 w 984"/>
                      <a:gd name="T65" fmla="*/ 0 h 844"/>
                      <a:gd name="T66" fmla="*/ 0 w 984"/>
                      <a:gd name="T67" fmla="*/ 0 h 844"/>
                      <a:gd name="T68" fmla="*/ 0 w 984"/>
                      <a:gd name="T69" fmla="*/ 0 h 844"/>
                      <a:gd name="T70" fmla="*/ 0 w 984"/>
                      <a:gd name="T71" fmla="*/ 0 h 844"/>
                      <a:gd name="T72" fmla="*/ 0 w 984"/>
                      <a:gd name="T73" fmla="*/ 0 h 844"/>
                      <a:gd name="T74" fmla="*/ 0 w 984"/>
                      <a:gd name="T75" fmla="*/ 0 h 844"/>
                      <a:gd name="T76" fmla="*/ 0 w 984"/>
                      <a:gd name="T77" fmla="*/ 0 h 844"/>
                      <a:gd name="T78" fmla="*/ 0 w 984"/>
                      <a:gd name="T79" fmla="*/ 0 h 844"/>
                      <a:gd name="T80" fmla="*/ 0 w 984"/>
                      <a:gd name="T81" fmla="*/ 0 h 844"/>
                      <a:gd name="T82" fmla="*/ 0 w 984"/>
                      <a:gd name="T83" fmla="*/ 0 h 844"/>
                      <a:gd name="T84" fmla="*/ 0 w 984"/>
                      <a:gd name="T85" fmla="*/ 0 h 844"/>
                      <a:gd name="T86" fmla="*/ 0 w 984"/>
                      <a:gd name="T87" fmla="*/ 0 h 844"/>
                      <a:gd name="T88" fmla="*/ 0 w 984"/>
                      <a:gd name="T89" fmla="*/ 0 h 844"/>
                      <a:gd name="T90" fmla="*/ 0 w 984"/>
                      <a:gd name="T91" fmla="*/ 0 h 844"/>
                      <a:gd name="T92" fmla="*/ 0 w 984"/>
                      <a:gd name="T93" fmla="*/ 0 h 844"/>
                      <a:gd name="T94" fmla="*/ 0 w 984"/>
                      <a:gd name="T95" fmla="*/ 0 h 844"/>
                      <a:gd name="T96" fmla="*/ 0 w 984"/>
                      <a:gd name="T97" fmla="*/ 0 h 844"/>
                      <a:gd name="T98" fmla="*/ 0 w 984"/>
                      <a:gd name="T99" fmla="*/ 0 h 844"/>
                      <a:gd name="T100" fmla="*/ 0 w 984"/>
                      <a:gd name="T101" fmla="*/ 0 h 844"/>
                      <a:gd name="T102" fmla="*/ 0 w 984"/>
                      <a:gd name="T103" fmla="*/ 0 h 844"/>
                      <a:gd name="T104" fmla="*/ 0 w 984"/>
                      <a:gd name="T105" fmla="*/ 0 h 844"/>
                      <a:gd name="T106" fmla="*/ 0 w 984"/>
                      <a:gd name="T107" fmla="*/ 0 h 844"/>
                      <a:gd name="T108" fmla="*/ 0 w 984"/>
                      <a:gd name="T109" fmla="*/ 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0 h 48"/>
                      <a:gd name="T2" fmla="*/ 0 w 36"/>
                      <a:gd name="T3" fmla="*/ 0 h 48"/>
                      <a:gd name="T4" fmla="*/ 0 w 36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0 w 36"/>
                      <a:gd name="T3" fmla="*/ 0 h 37"/>
                      <a:gd name="T4" fmla="*/ 0 w 36"/>
                      <a:gd name="T5" fmla="*/ 0 h 37"/>
                      <a:gd name="T6" fmla="*/ 0 w 36"/>
                      <a:gd name="T7" fmla="*/ 0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0 h 96"/>
                      <a:gd name="T2" fmla="*/ 0 w 170"/>
                      <a:gd name="T3" fmla="*/ 0 h 96"/>
                      <a:gd name="T4" fmla="*/ 0 w 170"/>
                      <a:gd name="T5" fmla="*/ 0 h 96"/>
                      <a:gd name="T6" fmla="*/ 0 w 170"/>
                      <a:gd name="T7" fmla="*/ 0 h 96"/>
                      <a:gd name="T8" fmla="*/ 0 w 170"/>
                      <a:gd name="T9" fmla="*/ 0 h 96"/>
                      <a:gd name="T10" fmla="*/ 0 w 170"/>
                      <a:gd name="T11" fmla="*/ 0 h 96"/>
                      <a:gd name="T12" fmla="*/ 0 w 170"/>
                      <a:gd name="T13" fmla="*/ 0 h 96"/>
                      <a:gd name="T14" fmla="*/ 0 w 170"/>
                      <a:gd name="T15" fmla="*/ 0 h 96"/>
                      <a:gd name="T16" fmla="*/ 0 w 170"/>
                      <a:gd name="T17" fmla="*/ 0 h 96"/>
                      <a:gd name="T18" fmla="*/ 0 w 170"/>
                      <a:gd name="T19" fmla="*/ 0 h 96"/>
                      <a:gd name="T20" fmla="*/ 0 w 170"/>
                      <a:gd name="T21" fmla="*/ 0 h 96"/>
                      <a:gd name="T22" fmla="*/ 0 w 170"/>
                      <a:gd name="T23" fmla="*/ 0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0 w 138"/>
                      <a:gd name="T3" fmla="*/ 0 h 44"/>
                      <a:gd name="T4" fmla="*/ 0 w 138"/>
                      <a:gd name="T5" fmla="*/ 0 h 44"/>
                      <a:gd name="T6" fmla="*/ 0 w 138"/>
                      <a:gd name="T7" fmla="*/ 0 h 44"/>
                      <a:gd name="T8" fmla="*/ 0 w 138"/>
                      <a:gd name="T9" fmla="*/ 0 h 44"/>
                      <a:gd name="T10" fmla="*/ 0 w 138"/>
                      <a:gd name="T11" fmla="*/ 0 h 44"/>
                      <a:gd name="T12" fmla="*/ 0 w 138"/>
                      <a:gd name="T13" fmla="*/ 0 h 44"/>
                      <a:gd name="T14" fmla="*/ 0 w 138"/>
                      <a:gd name="T15" fmla="*/ 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0 w 57"/>
                      <a:gd name="T1" fmla="*/ 0 h 42"/>
                      <a:gd name="T2" fmla="*/ 0 w 57"/>
                      <a:gd name="T3" fmla="*/ 0 h 42"/>
                      <a:gd name="T4" fmla="*/ 0 w 57"/>
                      <a:gd name="T5" fmla="*/ 0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0 w 39"/>
                      <a:gd name="T1" fmla="*/ 0 h 52"/>
                      <a:gd name="T2" fmla="*/ 0 w 39"/>
                      <a:gd name="T3" fmla="*/ 0 h 52"/>
                      <a:gd name="T4" fmla="*/ 0 w 39"/>
                      <a:gd name="T5" fmla="*/ 0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0 w 44"/>
                      <a:gd name="T3" fmla="*/ 0 h 80"/>
                      <a:gd name="T4" fmla="*/ 0 w 44"/>
                      <a:gd name="T5" fmla="*/ 0 h 80"/>
                      <a:gd name="T6" fmla="*/ 0 w 44"/>
                      <a:gd name="T7" fmla="*/ 0 h 80"/>
                      <a:gd name="T8" fmla="*/ 0 w 44"/>
                      <a:gd name="T9" fmla="*/ 0 h 80"/>
                      <a:gd name="T10" fmla="*/ 0 w 44"/>
                      <a:gd name="T11" fmla="*/ 0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 w 323"/>
                      <a:gd name="T1" fmla="*/ 1 h 64"/>
                      <a:gd name="T2" fmla="*/ 1 w 323"/>
                      <a:gd name="T3" fmla="*/ 1 h 64"/>
                      <a:gd name="T4" fmla="*/ 1 w 323"/>
                      <a:gd name="T5" fmla="*/ 0 h 64"/>
                      <a:gd name="T6" fmla="*/ 1 w 323"/>
                      <a:gd name="T7" fmla="*/ 0 h 64"/>
                      <a:gd name="T8" fmla="*/ 1 w 323"/>
                      <a:gd name="T9" fmla="*/ 1 h 64"/>
                      <a:gd name="T10" fmla="*/ 1 w 323"/>
                      <a:gd name="T11" fmla="*/ 1 h 64"/>
                      <a:gd name="T12" fmla="*/ 1 w 323"/>
                      <a:gd name="T13" fmla="*/ 1 h 64"/>
                      <a:gd name="T14" fmla="*/ 1 w 323"/>
                      <a:gd name="T15" fmla="*/ 1 h 64"/>
                      <a:gd name="T16" fmla="*/ 1 w 323"/>
                      <a:gd name="T17" fmla="*/ 1 h 64"/>
                      <a:gd name="T18" fmla="*/ 1 w 323"/>
                      <a:gd name="T19" fmla="*/ 1 h 64"/>
                      <a:gd name="T20" fmla="*/ 1 w 323"/>
                      <a:gd name="T21" fmla="*/ 1 h 64"/>
                      <a:gd name="T22" fmla="*/ 1 w 323"/>
                      <a:gd name="T23" fmla="*/ 1 h 64"/>
                      <a:gd name="T24" fmla="*/ 1 w 323"/>
                      <a:gd name="T25" fmla="*/ 1 h 64"/>
                      <a:gd name="T26" fmla="*/ 1 w 323"/>
                      <a:gd name="T27" fmla="*/ 1 h 64"/>
                      <a:gd name="T28" fmla="*/ 1 w 323"/>
                      <a:gd name="T29" fmla="*/ 1 h 64"/>
                      <a:gd name="T30" fmla="*/ 1 w 323"/>
                      <a:gd name="T31" fmla="*/ 1 h 64"/>
                      <a:gd name="T32" fmla="*/ 1 w 323"/>
                      <a:gd name="T33" fmla="*/ 1 h 64"/>
                      <a:gd name="T34" fmla="*/ 1 w 323"/>
                      <a:gd name="T35" fmla="*/ 1 h 64"/>
                      <a:gd name="T36" fmla="*/ 1 w 323"/>
                      <a:gd name="T37" fmla="*/ 1 h 64"/>
                      <a:gd name="T38" fmla="*/ 1 w 323"/>
                      <a:gd name="T39" fmla="*/ 1 h 64"/>
                      <a:gd name="T40" fmla="*/ 1 w 323"/>
                      <a:gd name="T41" fmla="*/ 1 h 64"/>
                      <a:gd name="T42" fmla="*/ 1 w 323"/>
                      <a:gd name="T43" fmla="*/ 1 h 64"/>
                      <a:gd name="T44" fmla="*/ 1 w 323"/>
                      <a:gd name="T45" fmla="*/ 1 h 64"/>
                      <a:gd name="T46" fmla="*/ 1 w 323"/>
                      <a:gd name="T47" fmla="*/ 1 h 64"/>
                      <a:gd name="T48" fmla="*/ 1 w 323"/>
                      <a:gd name="T49" fmla="*/ 1 h 64"/>
                      <a:gd name="T50" fmla="*/ 1 w 323"/>
                      <a:gd name="T51" fmla="*/ 1 h 64"/>
                      <a:gd name="T52" fmla="*/ 1 w 323"/>
                      <a:gd name="T53" fmla="*/ 0 h 64"/>
                      <a:gd name="T54" fmla="*/ 1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 w 300"/>
                      <a:gd name="T1" fmla="*/ 1 h 31"/>
                      <a:gd name="T2" fmla="*/ 1 w 300"/>
                      <a:gd name="T3" fmla="*/ 1 h 31"/>
                      <a:gd name="T4" fmla="*/ 1 w 300"/>
                      <a:gd name="T5" fmla="*/ 0 h 31"/>
                      <a:gd name="T6" fmla="*/ 1 w 300"/>
                      <a:gd name="T7" fmla="*/ 1 h 31"/>
                      <a:gd name="T8" fmla="*/ 1 w 300"/>
                      <a:gd name="T9" fmla="*/ 1 h 31"/>
                      <a:gd name="T10" fmla="*/ 1 w 300"/>
                      <a:gd name="T11" fmla="*/ 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6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938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1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8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cs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Arial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cs typeface="Arial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828800"/>
            <a:ext cx="5911552" cy="2362200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Machine Learning in Business, 3</a:t>
            </a:r>
            <a:r>
              <a:rPr lang="en-US" baseline="30000" dirty="0"/>
              <a:t>rd</a:t>
            </a:r>
            <a:r>
              <a:rPr lang="en-US" dirty="0"/>
              <a:t> Edition</a:t>
            </a:r>
            <a:br>
              <a:rPr lang="en-US" dirty="0"/>
            </a:b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4149080"/>
            <a:ext cx="6934200" cy="1295400"/>
          </a:xfrm>
        </p:spPr>
        <p:txBody>
          <a:bodyPr>
            <a:noAutofit/>
          </a:bodyPr>
          <a:lstStyle/>
          <a:p>
            <a:endParaRPr lang="en-US" sz="3200" dirty="0"/>
          </a:p>
          <a:p>
            <a:r>
              <a:rPr lang="en-US" sz="3200" dirty="0"/>
              <a:t>Chapter 4: Supervised Learning: Decision Trees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10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Decision Tree to Determine Criterion for Hiring (Figure 4.1)</a:t>
            </a:r>
            <a:endParaRPr lang="en-CA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212974"/>
            <a:ext cx="5904655" cy="36642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457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Uncertainty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there are </a:t>
                </a:r>
                <a:r>
                  <a:rPr lang="en-US" i="1" dirty="0">
                    <a:latin typeface="+mj-lt"/>
                  </a:rPr>
                  <a:t>n</a:t>
                </a:r>
                <a:r>
                  <a:rPr lang="en-US" dirty="0"/>
                  <a:t> possible outcomes and </a:t>
                </a:r>
                <a:r>
                  <a:rPr lang="en-US" i="1" dirty="0">
                    <a:latin typeface="+mj-lt"/>
                  </a:rPr>
                  <a:t>p</a:t>
                </a:r>
                <a:r>
                  <a:rPr lang="en-US" i="1" baseline="-25000" dirty="0">
                    <a:latin typeface="+mj-lt"/>
                  </a:rPr>
                  <a:t>i</a:t>
                </a:r>
                <a:r>
                  <a:rPr lang="en-US" i="1" dirty="0">
                    <a:latin typeface="+mj-lt"/>
                  </a:rPr>
                  <a:t> </a:t>
                </a:r>
                <a:r>
                  <a:rPr lang="en-US" dirty="0"/>
                  <a:t>is the probability of outcome </a:t>
                </a:r>
                <a:r>
                  <a:rPr lang="en-US" i="1" dirty="0" err="1">
                    <a:latin typeface="+mj-lt"/>
                  </a:rPr>
                  <a:t>i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=1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Entropy measure of uncertainty</a:t>
                </a:r>
                <a:r>
                  <a:rPr lang="en-CA" dirty="0"/>
                  <a:t>: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⁡(</m:t>
                        </m:r>
                      </m:e>
                    </m:nary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   (Note: log is usually log to the base 2 in ML)</a:t>
                </a:r>
              </a:p>
              <a:p>
                <a:pPr marL="0" indent="0">
                  <a:buNone/>
                </a:pPr>
                <a:endParaRPr lang="en-CA" sz="2000" dirty="0"/>
              </a:p>
              <a:p>
                <a:r>
                  <a:rPr lang="en-US" dirty="0"/>
                  <a:t>Gini Measure of uncertainty:</a:t>
                </a:r>
              </a:p>
              <a:p>
                <a:pPr lvl="1"/>
                <a:endParaRPr lang="en-US" dirty="0"/>
              </a:p>
              <a:p>
                <a:pPr marL="3429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474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972118"/>
              </p:ext>
            </p:extLst>
          </p:nvPr>
        </p:nvGraphicFramePr>
        <p:xfrm>
          <a:off x="1763688" y="4797152"/>
          <a:ext cx="2143788" cy="586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680" imgH="291960" progId="Equation.DSMT4">
                  <p:embed/>
                </p:oleObj>
              </mc:Choice>
              <mc:Fallback>
                <p:oleObj name="Equation" r:id="rId4" imgW="1066680" imgH="2919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3688" y="4797152"/>
                        <a:ext cx="2143788" cy="586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9583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625773"/>
          </a:xfrm>
        </p:spPr>
        <p:txBody>
          <a:bodyPr/>
          <a:lstStyle/>
          <a:p>
            <a:r>
              <a:rPr lang="en-US" dirty="0"/>
              <a:t>Information Gain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048"/>
            <a:ext cx="8134672" cy="4114800"/>
          </a:xfrm>
        </p:spPr>
        <p:txBody>
          <a:bodyPr/>
          <a:lstStyle/>
          <a:p>
            <a:r>
              <a:rPr lang="en-US" dirty="0"/>
              <a:t>The information gain is the expected decrease in uncertainty (as measured by either entropy or Gini).</a:t>
            </a:r>
          </a:p>
          <a:p>
            <a:r>
              <a:rPr lang="en-US" dirty="0"/>
              <a:t>Suppose that there is a 20% chance that a person will receive a job offer</a:t>
            </a:r>
          </a:p>
          <a:p>
            <a:r>
              <a:rPr lang="en-US" dirty="0"/>
              <a:t>Suppose further that there is a 50% chance the person has a relevant degree. If the person does have a relevant degree the probability of a job offer rises to 30%, otherwise it falls to 10%</a:t>
            </a:r>
          </a:p>
          <a:p>
            <a:r>
              <a:rPr lang="en-US" dirty="0"/>
              <a:t>Initial entropy = −[0.2log(0.2) + 0.8log(0.8)]=0.7219</a:t>
            </a:r>
          </a:p>
          <a:p>
            <a:pPr marL="0" indent="0">
              <a:buNone/>
            </a:pPr>
            <a:r>
              <a:rPr lang="en-US" dirty="0"/>
              <a:t>    Expected entropy =</a:t>
            </a:r>
          </a:p>
          <a:p>
            <a:pPr marL="0" indent="0">
              <a:buNone/>
            </a:pPr>
            <a:r>
              <a:rPr lang="en-US" sz="2000" dirty="0"/>
              <a:t>−0.5[0.1log(0.1) + 0.9log(0.9)] − 0.5[0.3log(0.3) + 0.7log(0.7)]=0.6751 </a:t>
            </a:r>
            <a:r>
              <a:rPr lang="en-CA" sz="2000" dirty="0"/>
              <a:t>   </a:t>
            </a:r>
            <a:endParaRPr lang="en-US" sz="2000" dirty="0"/>
          </a:p>
          <a:p>
            <a:r>
              <a:rPr lang="en-US" dirty="0"/>
              <a:t>Expected information gain from knowing whether there is a relevant degree = 0.7219 − 0.6751=0.0468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164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Decision Tree Algorithm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chooses the feature at the root of the tree that has the greatest expected information gain</a:t>
            </a:r>
          </a:p>
          <a:p>
            <a:r>
              <a:rPr lang="en-US" dirty="0"/>
              <a:t>Similarly, it searches for the feature with the greatest information gain at subsequent nodes</a:t>
            </a:r>
          </a:p>
          <a:p>
            <a:r>
              <a:rPr lang="en-US" dirty="0"/>
              <a:t>When there is a threshold, it determines the optimal threshold for each feature (i.e., the threshold that maximizes the expected information gain for that feature) and bases calculations on that threshold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7831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7998345" cy="1143000"/>
          </a:xfrm>
        </p:spPr>
        <p:txBody>
          <a:bodyPr/>
          <a:lstStyle/>
          <a:p>
            <a:r>
              <a:rPr lang="en-US" dirty="0"/>
              <a:t>Lending Club Case: Choosing the root node when there are four features (Table 4.1)</a:t>
            </a:r>
            <a:endParaRPr lang="en-CA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393289"/>
              </p:ext>
            </p:extLst>
          </p:nvPr>
        </p:nvGraphicFramePr>
        <p:xfrm>
          <a:off x="586924" y="3019498"/>
          <a:ext cx="6984774" cy="285417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44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4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109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Feature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Threshold value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Expected entropy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Expected Information gain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109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Home Ownership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N.A.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0.7339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0.0043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27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Income </a:t>
                      </a:r>
                      <a:r>
                        <a:rPr lang="en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18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($’000s)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48.079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0.7342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0.0040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>
                          <a:effectLst/>
                          <a:latin typeface="+mj-lt"/>
                        </a:rPr>
                        <a:t>Debt to income ratio</a:t>
                      </a:r>
                      <a:endParaRPr lang="en-CA" sz="18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19.85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0.7254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0.0128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109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FICO</a:t>
                      </a:r>
                      <a:r>
                        <a:rPr lang="en-CA" sz="1800" baseline="0" dirty="0">
                          <a:effectLst/>
                          <a:latin typeface="+mj-lt"/>
                        </a:rPr>
                        <a:t> c</a:t>
                      </a:r>
                      <a:r>
                        <a:rPr lang="en-CA" sz="1800" dirty="0">
                          <a:effectLst/>
                          <a:latin typeface="+mj-lt"/>
                        </a:rPr>
                        <a:t>redit score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717.5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0.7270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0.0112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36850" y="34940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6924" y="1906925"/>
            <a:ext cx="7854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Initial entropy =</a:t>
            </a:r>
            <a:r>
              <a:rPr lang="en-CA" dirty="0"/>
              <a:t> −0.7917×log(0.7917)−0.2083×log(0.2083) = 0.7382</a:t>
            </a:r>
          </a:p>
          <a:p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3041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next node if </a:t>
            </a:r>
            <a:r>
              <a:rPr lang="en-US" dirty="0" err="1"/>
              <a:t>dti</a:t>
            </a:r>
            <a:r>
              <a:rPr lang="en-US" dirty="0"/>
              <a:t> &gt; 19.85 (Table 4.2)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7</a:t>
            </a:fld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642398-DAB7-414A-8B9F-71D7ED484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499880"/>
              </p:ext>
            </p:extLst>
          </p:nvPr>
        </p:nvGraphicFramePr>
        <p:xfrm>
          <a:off x="1033689" y="2492896"/>
          <a:ext cx="6984774" cy="285417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44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4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109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Feature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Threshold value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Expected entropy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Expected Information gain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109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Home Ownership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N.A.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0.8438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0.0060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27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Income </a:t>
                      </a:r>
                      <a:r>
                        <a:rPr lang="en-CA" sz="18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($’000s)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30.84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0.8463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0.0035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>
                          <a:effectLst/>
                          <a:latin typeface="+mj-lt"/>
                        </a:rPr>
                        <a:t>Debt to income ratio</a:t>
                      </a:r>
                      <a:endParaRPr lang="en-CA" sz="18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33.87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0.8425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0.0072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109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FICO</a:t>
                      </a:r>
                      <a:r>
                        <a:rPr lang="en-CA" sz="1800" baseline="0" dirty="0">
                          <a:effectLst/>
                          <a:latin typeface="+mj-lt"/>
                        </a:rPr>
                        <a:t> c</a:t>
                      </a:r>
                      <a:r>
                        <a:rPr lang="en-CA" sz="1800" dirty="0">
                          <a:effectLst/>
                          <a:latin typeface="+mj-lt"/>
                        </a:rPr>
                        <a:t>redit score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687.5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0.8361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0.0136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181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next node if </a:t>
            </a:r>
            <a:r>
              <a:rPr lang="en-US" dirty="0" err="1"/>
              <a:t>dti</a:t>
            </a:r>
            <a:r>
              <a:rPr lang="en-US" dirty="0"/>
              <a:t> ≤ 19.75 (Table 4.3)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8</a:t>
            </a:fld>
            <a:endParaRPr lang="en-CA"/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703069" y="2062764"/>
            <a:ext cx="7541340" cy="42618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F197B7-AC44-4094-BCBE-24770C385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762362"/>
              </p:ext>
            </p:extLst>
          </p:nvPr>
        </p:nvGraphicFramePr>
        <p:xfrm>
          <a:off x="1079613" y="2348880"/>
          <a:ext cx="6984774" cy="285417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44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4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109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Feature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Threshold value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Expected entropy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  <a:latin typeface="+mj-lt"/>
                        </a:rPr>
                        <a:t>Expected Information gain</a:t>
                      </a:r>
                      <a:endParaRPr lang="en-CA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109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Home Ownership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N.A.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0.6411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0.0030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27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Income ($’000s)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60.81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0.6409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0.0033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>
                          <a:effectLst/>
                          <a:latin typeface="+mj-lt"/>
                        </a:rPr>
                        <a:t>Debt to income ratio</a:t>
                      </a:r>
                      <a:endParaRPr lang="en-CA" sz="18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10.74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0.6418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0.0023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109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FICO</a:t>
                      </a:r>
                      <a:r>
                        <a:rPr lang="en-CA" sz="1800" baseline="0" dirty="0">
                          <a:effectLst/>
                          <a:latin typeface="+mj-lt"/>
                        </a:rPr>
                        <a:t> c</a:t>
                      </a:r>
                      <a:r>
                        <a:rPr lang="en-CA" sz="1800" dirty="0">
                          <a:effectLst/>
                          <a:latin typeface="+mj-lt"/>
                        </a:rPr>
                        <a:t>redit score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722.5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0.6340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+mj-lt"/>
                        </a:rPr>
                        <a:t>0.0101</a:t>
                      </a:r>
                      <a:endParaRPr lang="en-CA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579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Tree (Figure 4.2)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9</a:t>
            </a:fld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23FEB3-02A4-484E-A447-9E5D9211C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09" y="2093162"/>
            <a:ext cx="7481391" cy="380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48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criterion for accepting loans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7888"/>
            <a:ext cx="8062664" cy="4114800"/>
          </a:xfrm>
        </p:spPr>
        <p:txBody>
          <a:bodyPr/>
          <a:lstStyle/>
          <a:p>
            <a:r>
              <a:rPr lang="en-US" dirty="0"/>
              <a:t>As with logistic regression we can choose to accept loans where the probability of a good loan is above some threshold, Z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10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80F44-D13B-4A4C-806C-5FF3FF79EFCA}"/>
              </a:ext>
            </a:extLst>
          </p:cNvPr>
          <p:cNvSpPr txBox="1"/>
          <p:nvPr/>
        </p:nvSpPr>
        <p:spPr>
          <a:xfrm>
            <a:off x="7092280" y="465313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AUC=0.5948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7166FF-C1DC-4DEE-9770-13AE9DB1C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140" y="3429000"/>
            <a:ext cx="41084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31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Target Variables (Table 4.9)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construct a tree where instead of maximizing expected information gain we maximize the expected decrease in mean squared error (i.e. variance) </a:t>
            </a:r>
          </a:p>
          <a:p>
            <a:r>
              <a:rPr lang="en-US" dirty="0"/>
              <a:t>Consider the Iowa house price (‘000s) example where we only consider Overall Quality and Living Area </a:t>
            </a:r>
          </a:p>
          <a:p>
            <a:r>
              <a:rPr lang="en-US" dirty="0"/>
              <a:t>For root node we obtain</a:t>
            </a:r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823794"/>
              </p:ext>
            </p:extLst>
          </p:nvPr>
        </p:nvGraphicFramePr>
        <p:xfrm>
          <a:off x="1187624" y="4437112"/>
          <a:ext cx="6480720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Threshold, Q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 </a:t>
                      </a:r>
                      <a:r>
                        <a:rPr lang="en-US" dirty="0" err="1"/>
                        <a:t>Obs</a:t>
                      </a:r>
                      <a:r>
                        <a:rPr lang="en-US" dirty="0"/>
                        <a:t> ≤Q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mse</a:t>
                      </a:r>
                      <a:r>
                        <a:rPr lang="en-US" dirty="0"/>
                        <a:t> of </a:t>
                      </a:r>
                      <a:r>
                        <a:rPr lang="en-US" dirty="0" err="1"/>
                        <a:t>Obs</a:t>
                      </a:r>
                      <a:r>
                        <a:rPr lang="en-US" dirty="0"/>
                        <a:t> ≤Q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obs</a:t>
                      </a:r>
                      <a:r>
                        <a:rPr lang="en-US" baseline="0" dirty="0"/>
                        <a:t> &gt; Q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mse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obs</a:t>
                      </a:r>
                      <a:r>
                        <a:rPr lang="en-US" dirty="0"/>
                        <a:t> &gt;Q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Exp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mse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Overall Quality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1,512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2,376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288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7,312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3,166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Living Area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1,482.5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949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1,451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6,824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3,991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2751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Level split when Overall Quality ≤ 7.5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30457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12</a:t>
            </a:fld>
            <a:endParaRPr lang="en-CA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505423"/>
              </p:ext>
            </p:extLst>
          </p:nvPr>
        </p:nvGraphicFramePr>
        <p:xfrm>
          <a:off x="796925" y="2782888"/>
          <a:ext cx="7759700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321013" imgH="1275886" progId="Word.Document.12">
                  <p:embed/>
                </p:oleObj>
              </mc:Choice>
              <mc:Fallback>
                <p:oleObj name="Document" r:id="rId2" imgW="4321013" imgH="1275886" progId="Word.Documen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6925" y="2782888"/>
                        <a:ext cx="7759700" cy="207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7548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Level split when Overall Quality &gt; 7.5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2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13</a:t>
            </a:fld>
            <a:endParaRPr lang="en-CA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968206"/>
              </p:ext>
            </p:extLst>
          </p:nvPr>
        </p:nvGraphicFramePr>
        <p:xfrm>
          <a:off x="450850" y="2422525"/>
          <a:ext cx="11587163" cy="380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776741" imgH="2233758" progId="Word.Document.12">
                  <p:embed/>
                </p:oleObj>
              </mc:Choice>
              <mc:Fallback>
                <p:oleObj name="Document" r:id="rId2" imgW="6776741" imgH="2233758" progId="Word.Document.12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0850" y="2422525"/>
                        <a:ext cx="11587163" cy="3806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9444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Tree (Figure 4.4)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14</a:t>
            </a:fld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36" y="1971315"/>
            <a:ext cx="7427079" cy="406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87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involves constructing many trees by for example:</a:t>
            </a:r>
          </a:p>
          <a:p>
            <a:pPr lvl="1"/>
            <a:r>
              <a:rPr lang="en-US" dirty="0"/>
              <a:t>Using samples bootstrapped from the original data</a:t>
            </a:r>
          </a:p>
          <a:p>
            <a:pPr lvl="1"/>
            <a:r>
              <a:rPr lang="en-US" dirty="0"/>
              <a:t>Using a random subset of features at each node</a:t>
            </a:r>
          </a:p>
          <a:p>
            <a:pPr lvl="1"/>
            <a:r>
              <a:rPr lang="en-US" dirty="0"/>
              <a:t>Randomizing thresholds in some way</a:t>
            </a:r>
          </a:p>
          <a:p>
            <a:r>
              <a:rPr lang="en-US" dirty="0"/>
              <a:t>The final decision can be a majority vote or a weighted majority vote. Weights can reflect probability estimates (when available) or evidence from a hold-out test data set.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4937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generally the results from several different ML algorithms can be combined to obtain a single estimate.</a:t>
            </a:r>
          </a:p>
          <a:p>
            <a:r>
              <a:rPr lang="en-US" dirty="0"/>
              <a:t>Many weak learners can sometimes be combined into a strong learner</a:t>
            </a:r>
          </a:p>
          <a:p>
            <a:r>
              <a:rPr lang="en-US" dirty="0"/>
              <a:t>The extent to which this is possible depends on correlations between learners</a:t>
            </a: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898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Sample with replacement to create new data sets</a:t>
            </a:r>
          </a:p>
          <a:p>
            <a:r>
              <a:rPr lang="en-CA" dirty="0"/>
              <a:t>Use voting or averaging methods for final estimate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8918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Predictions are made sequentially, each trying to correct the previous error</a:t>
            </a:r>
          </a:p>
          <a:p>
            <a:r>
              <a:rPr lang="en-US" dirty="0"/>
              <a:t>One approach (</a:t>
            </a:r>
            <a:r>
              <a:rPr lang="en-US" dirty="0" err="1"/>
              <a:t>AdaBoost</a:t>
            </a:r>
            <a:r>
              <a:rPr lang="en-US" dirty="0"/>
              <a:t>) increases the weight given to misclassified observations</a:t>
            </a:r>
          </a:p>
          <a:p>
            <a:r>
              <a:rPr lang="en-US" dirty="0"/>
              <a:t>Another approach (Gradient boosting) tries to fit a new predictor to the error made by the previous predictor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7219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Classifier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From Bayes theorem</a:t>
                </a: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P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rob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i="1">
                            <a:latin typeface="Cambria Math" panose="02040503050406030204" pitchFamily="18" charset="0"/>
                          </a:rPr>
                          <m:t>,⋯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Prob</m:t>
                        </m:r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,⋯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Prob</m:t>
                        </m:r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,⋯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Prob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CA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If the features </a:t>
                </a:r>
                <a:r>
                  <a:rPr lang="en-US" b="1" i="1" dirty="0">
                    <a:latin typeface="+mj-lt"/>
                  </a:rPr>
                  <a:t>x</a:t>
                </a:r>
                <a:r>
                  <a:rPr lang="en-US" b="1" i="1" baseline="-25000" dirty="0">
                    <a:latin typeface="+mj-lt"/>
                  </a:rPr>
                  <a:t>i</a:t>
                </a:r>
                <a:r>
                  <a:rPr lang="en-US" dirty="0"/>
                  <a:t>  are (approximately) independent this reduces to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2000">
                          <a:latin typeface="Cambria Math" panose="02040503050406030204" pitchFamily="18" charset="0"/>
                        </a:rPr>
                        <m:t>Prob</m:t>
                      </m:r>
                      <m:d>
                        <m:dPr>
                          <m:ctrlPr>
                            <a:rPr lang="en-CA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e>
                          <m:sSub>
                            <m:sSub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2000" i="1">
                              <a:latin typeface="Cambria Math" panose="02040503050406030204" pitchFamily="18" charset="0"/>
                            </a:rPr>
                            <m:t>,⋯</m:t>
                          </m:r>
                          <m:sSub>
                            <m:sSub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CA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 sz="2000">
                              <a:latin typeface="Cambria Math" panose="02040503050406030204" pitchFamily="18" charset="0"/>
                            </a:rPr>
                            <m:t>Prob</m:t>
                          </m:r>
                          <m:d>
                            <m:d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CA" sz="2000">
                              <a:latin typeface="Cambria Math" panose="02040503050406030204" pitchFamily="18" charset="0"/>
                            </a:rPr>
                            <m:t>Prob</m:t>
                          </m:r>
                          <m:d>
                            <m:d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CA" sz="2000" i="1">
                              <a:latin typeface="Cambria Math" panose="02040503050406030204" pitchFamily="18" charset="0"/>
                            </a:rPr>
                            <m:t>⋯</m:t>
                          </m:r>
                          <m:r>
                            <m:rPr>
                              <m:sty m:val="p"/>
                            </m:rPr>
                            <a:rPr lang="en-CA" sz="2000">
                              <a:latin typeface="Cambria Math" panose="02040503050406030204" pitchFamily="18" charset="0"/>
                            </a:rPr>
                            <m:t>Prob</m:t>
                          </m:r>
                          <m:d>
                            <m:d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CA" sz="2000">
                              <a:latin typeface="Cambria Math" panose="02040503050406030204" pitchFamily="18" charset="0"/>
                            </a:rPr>
                            <m:t>Prob</m:t>
                          </m:r>
                          <m:d>
                            <m:d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,⋯</m:t>
                              </m:r>
                              <m:sSub>
                                <m:sSub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Prob</m:t>
                      </m:r>
                      <m:r>
                        <a:rPr lang="en-US" sz="2000" b="0" i="1" smtClean="0">
                          <a:latin typeface="Cambria Math"/>
                        </a:rPr>
                        <m:t>(</m:t>
                      </m:r>
                      <m:r>
                        <a:rPr lang="en-US" sz="2000" b="0" i="1" smtClean="0">
                          <a:latin typeface="Cambria Math"/>
                        </a:rPr>
                        <m:t>𝐶</m:t>
                      </m:r>
                      <m:r>
                        <a:rPr lang="en-US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CA" sz="2000" dirty="0"/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88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446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1919288"/>
            <a:ext cx="7772400" cy="4114800"/>
          </a:xfrm>
        </p:spPr>
        <p:txBody>
          <a:bodyPr/>
          <a:lstStyle/>
          <a:p>
            <a:r>
              <a:rPr lang="en-US" sz="1800" dirty="0"/>
              <a:t>The unconditional probability of a good loan is 0.85.There are 3 independent features </a:t>
            </a:r>
          </a:p>
          <a:p>
            <a:r>
              <a:rPr lang="en-CA" sz="1800" b="1" dirty="0">
                <a:solidFill>
                  <a:srgbClr val="26269A"/>
                </a:solidFill>
              </a:rPr>
              <a:t>Whether the applicant owns a house (denoted by H). </a:t>
            </a:r>
            <a:r>
              <a:rPr lang="en-CA" sz="1800" dirty="0"/>
              <a:t>The probability of the applicant owning her own house if the loan is good is 60% where the probability of the applicant owning her own house if the loan defaults is 50%.</a:t>
            </a:r>
          </a:p>
          <a:p>
            <a:pPr lvl="0"/>
            <a:r>
              <a:rPr lang="en-CA" sz="1800" b="1" dirty="0">
                <a:solidFill>
                  <a:srgbClr val="42219F"/>
                </a:solidFill>
              </a:rPr>
              <a:t>Whether the applicant has been employed for more than one year (denoted by E)</a:t>
            </a:r>
            <a:r>
              <a:rPr lang="en-CA" sz="1800" dirty="0">
                <a:solidFill>
                  <a:srgbClr val="42219F"/>
                </a:solidFill>
              </a:rPr>
              <a:t>.</a:t>
            </a:r>
            <a:r>
              <a:rPr lang="en-CA" sz="1800" dirty="0"/>
              <a:t>  The probability of the applicant being employed for more than one year if the loan is good is 70% whereas the probability of this if the loan defaults is 60%.</a:t>
            </a:r>
          </a:p>
          <a:p>
            <a:pPr lvl="0"/>
            <a:r>
              <a:rPr lang="en-CA" sz="1800" b="1" dirty="0">
                <a:solidFill>
                  <a:srgbClr val="42219F"/>
                </a:solidFill>
              </a:rPr>
              <a:t>Whether there are two applicants rather than only one (denoted by T). </a:t>
            </a:r>
            <a:r>
              <a:rPr lang="en-CA" sz="1800" dirty="0"/>
              <a:t>The probability of two applicants when the loan is good is 20% whereas the probability of two applicants when the loan defaults is 10%.</a:t>
            </a:r>
          </a:p>
          <a:p>
            <a:pPr marL="342900" lvl="1" indent="0">
              <a:buNone/>
            </a:pPr>
            <a:endParaRPr lang="en-CA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7007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sz="2000" dirty="0"/>
              <a:t>continued</a:t>
            </a:r>
            <a:endParaRPr lang="en-C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2147888"/>
                <a:ext cx="8178800" cy="41148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mtClean="0">
                        <a:latin typeface="Cambria Math" panose="02040503050406030204" pitchFamily="18" charset="0"/>
                      </a:rPr>
                      <m:t>Prob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Good</m:t>
                    </m:r>
                    <m:r>
                      <a:rPr lang="en-CA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Loan</m:t>
                    </m:r>
                    <m:d>
                      <m:dPr>
                        <m:begChr m:val="|"/>
                        <m:endChr m:val="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×0.7×0.2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Prob</m:t>
                        </m:r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CA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and</m:t>
                            </m:r>
                            <m:r>
                              <a:rPr lang="en-CA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E</m:t>
                            </m:r>
                            <m:r>
                              <a:rPr lang="en-US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and</m:t>
                            </m:r>
                            <m:r>
                              <a:rPr lang="en-CA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×0.85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0">
                            <a:latin typeface="Cambria Math" panose="02040503050406030204" pitchFamily="18" charset="0"/>
                          </a:rPr>
                          <m:t>0.0714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Prob</m:t>
                        </m:r>
                        <m:r>
                          <a:rPr lang="en-CA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CA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CA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CA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CA" i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Prob</m:t>
                    </m:r>
                    <m:r>
                      <a:rPr lang="en-CA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Defaulting</m:t>
                    </m:r>
                    <m:r>
                      <a:rPr lang="en-CA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Loan</m:t>
                    </m:r>
                    <m:d>
                      <m:dPr>
                        <m:begChr m:val="|"/>
                        <m:endChr m:val="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d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×0.6×0.1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Prob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×0.15=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>
                            <a:latin typeface="Cambria Math" panose="02040503050406030204" pitchFamily="18" charset="0"/>
                          </a:rPr>
                          <m:t>0.0045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Prob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r>
                  <a:rPr lang="en-US" dirty="0"/>
                  <a:t>But these probabilities must sum to one so conditional on H, E, and T, the probability of a good loan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0.0714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0.0714+0.0045</m:t>
                          </m:r>
                        </m:den>
                      </m:f>
                      <m:r>
                        <a:rPr lang="en-CA" sz="1800" i="1">
                          <a:latin typeface="Cambria Math" panose="02040503050406030204" pitchFamily="18" charset="0"/>
                        </a:rPr>
                        <m:t>=0.941</m:t>
                      </m:r>
                    </m:oMath>
                  </m:oMathPara>
                </a14:m>
                <a:endParaRPr lang="en-CA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147888"/>
                <a:ext cx="8178800" cy="4114800"/>
              </a:xfrm>
              <a:blipFill rotWithShape="1">
                <a:blip r:embed="rId2"/>
                <a:stretch>
                  <a:fillRect b="-14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61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naïve Bayes classifier and continuous features (Table 4.8)</a:t>
            </a:r>
            <a:endParaRPr lang="en-CA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367589"/>
              </p:ext>
            </p:extLst>
          </p:nvPr>
        </p:nvGraphicFramePr>
        <p:xfrm>
          <a:off x="1619672" y="2204864"/>
          <a:ext cx="5597259" cy="147515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68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7521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effectLst/>
                          <a:latin typeface="+mj-lt"/>
                        </a:rPr>
                        <a:t>Loan result</a:t>
                      </a:r>
                      <a:endParaRPr lang="en-CA" sz="16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effectLst/>
                          <a:latin typeface="+mj-lt"/>
                        </a:rPr>
                        <a:t>Mean  FICO</a:t>
                      </a:r>
                      <a:endParaRPr lang="en-CA" sz="16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effectLst/>
                          <a:latin typeface="+mj-lt"/>
                        </a:rPr>
                        <a:t>SD FICO</a:t>
                      </a:r>
                      <a:endParaRPr lang="en-CA" sz="16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effectLst/>
                          <a:latin typeface="+mj-lt"/>
                        </a:rPr>
                        <a:t>Mean</a:t>
                      </a: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effectLst/>
                          <a:latin typeface="+mj-lt"/>
                        </a:rPr>
                        <a:t> </a:t>
                      </a:r>
                      <a:r>
                        <a:rPr lang="en-CA" sz="1600" b="1" dirty="0" err="1">
                          <a:effectLst/>
                          <a:latin typeface="+mj-lt"/>
                        </a:rPr>
                        <a:t>dti</a:t>
                      </a:r>
                      <a:endParaRPr lang="en-CA" sz="16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0160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effectLst/>
                          <a:latin typeface="+mj-lt"/>
                        </a:rPr>
                        <a:t>SD </a:t>
                      </a:r>
                    </a:p>
                    <a:p>
                      <a:pPr indent="10160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 err="1">
                          <a:effectLst/>
                          <a:latin typeface="+mj-lt"/>
                        </a:rPr>
                        <a:t>dti</a:t>
                      </a:r>
                      <a:endParaRPr lang="en-CA" sz="16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19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Good loan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697.38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32.85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17.37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0160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8.72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19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Defaulting loan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686.73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24.26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20.41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0160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9.11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644775" y="38496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616" y="4306888"/>
            <a:ext cx="6264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normal distributions and consider someone who has a FICO score of 720 and a </a:t>
            </a:r>
            <a:r>
              <a:rPr lang="en-US" dirty="0" err="1"/>
              <a:t>dti</a:t>
            </a:r>
            <a:r>
              <a:rPr lang="en-US" dirty="0"/>
              <a:t> of 25</a:t>
            </a:r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3093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20688"/>
            <a:ext cx="7772400" cy="1143000"/>
          </a:xfrm>
        </p:spPr>
        <p:txBody>
          <a:bodyPr/>
          <a:lstStyle/>
          <a:p>
            <a:r>
              <a:rPr lang="en-US" dirty="0"/>
              <a:t>Calculations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3568" y="1628800"/>
                <a:ext cx="7772400" cy="4114800"/>
              </a:xfrm>
            </p:spPr>
            <p:txBody>
              <a:bodyPr/>
              <a:lstStyle/>
              <a:p>
                <a:r>
                  <a:rPr lang="en-US" sz="1900" dirty="0"/>
                  <a:t>Probability density for FICO conditional on good loan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9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CA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CA" sz="19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CA" sz="1900" i="1">
                                  <a:latin typeface="Cambria Math"/>
                                </a:rPr>
                                <m:t>𝜋</m:t>
                              </m:r>
                            </m:e>
                          </m:rad>
                          <m:r>
                            <a:rPr lang="en-CA" sz="1900" i="1">
                              <a:latin typeface="Cambria Math"/>
                            </a:rPr>
                            <m:t>×</m:t>
                          </m:r>
                          <m:r>
                            <a:rPr lang="en-CA" sz="1900" b="0" i="1" smtClean="0">
                              <a:latin typeface="Cambria Math" panose="02040503050406030204" pitchFamily="18" charset="0"/>
                            </a:rPr>
                            <m:t>32.85</m:t>
                          </m:r>
                        </m:den>
                      </m:f>
                      <m:func>
                        <m:funcPr>
                          <m:ctrlPr>
                            <a:rPr lang="en-CA" sz="1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900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CA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900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CA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CA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A" sz="19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900" i="1">
                                              <a:latin typeface="Cambria Math"/>
                                            </a:rPr>
                                            <m:t>720−69</m:t>
                                          </m:r>
                                          <m:r>
                                            <a:rPr lang="en-CA" sz="1900" b="0" i="1" smtClean="0">
                                              <a:latin typeface="Cambria Math" panose="02040503050406030204" pitchFamily="18" charset="0"/>
                                            </a:rPr>
                                            <m:t>7.38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CA" sz="19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CA" sz="1900" i="1">
                                      <a:latin typeface="Cambria Math"/>
                                    </a:rPr>
                                    <m:t>2×</m:t>
                                  </m:r>
                                  <m:sSup>
                                    <m:sSupPr>
                                      <m:ctrlPr>
                                        <a:rPr lang="en-CA" sz="19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sz="1900" b="0" i="1" smtClean="0">
                                          <a:latin typeface="Cambria Math" panose="02040503050406030204" pitchFamily="18" charset="0"/>
                                        </a:rPr>
                                        <m:t>32.85</m:t>
                                      </m:r>
                                    </m:e>
                                    <m:sup>
                                      <m:r>
                                        <a:rPr lang="en-CA" sz="19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CA" sz="1900" i="1">
                          <a:latin typeface="Cambria Math"/>
                        </a:rPr>
                        <m:t>=0.0</m:t>
                      </m:r>
                      <m:r>
                        <a:rPr lang="en-CA" sz="1900" b="0" i="1" smtClean="0">
                          <a:latin typeface="Cambria Math" panose="02040503050406030204" pitchFamily="18" charset="0"/>
                        </a:rPr>
                        <m:t>0958</m:t>
                      </m:r>
                    </m:oMath>
                  </m:oMathPara>
                </a14:m>
                <a:endParaRPr lang="en-US" sz="1900" dirty="0"/>
              </a:p>
              <a:p>
                <a:r>
                  <a:rPr lang="en-US" sz="1900" dirty="0"/>
                  <a:t>Probability density for </a:t>
                </a:r>
                <a:r>
                  <a:rPr lang="en-US" sz="1900" dirty="0" err="1"/>
                  <a:t>dti</a:t>
                </a:r>
                <a:r>
                  <a:rPr lang="en-US" sz="1900" dirty="0"/>
                  <a:t> conditional on good loan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9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CA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CA" sz="19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CA" sz="1900" i="1">
                                  <a:latin typeface="Cambria Math"/>
                                </a:rPr>
                                <m:t>𝜋</m:t>
                              </m:r>
                            </m:e>
                          </m:rad>
                          <m:r>
                            <a:rPr lang="en-CA" sz="1900" i="1">
                              <a:latin typeface="Cambria Math"/>
                            </a:rPr>
                            <m:t>×</m:t>
                          </m:r>
                          <m:r>
                            <a:rPr lang="en-CA" sz="1900" b="0" i="1" smtClean="0">
                              <a:latin typeface="Cambria Math" panose="02040503050406030204" pitchFamily="18" charset="0"/>
                            </a:rPr>
                            <m:t>8.72</m:t>
                          </m:r>
                        </m:den>
                      </m:f>
                      <m:func>
                        <m:funcPr>
                          <m:ctrlPr>
                            <a:rPr lang="en-CA" sz="1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900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CA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900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CA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CA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A" sz="19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900" b="0" i="1" smtClean="0">
                                              <a:latin typeface="Cambria Math" panose="02040503050406030204" pitchFamily="18" charset="0"/>
                                            </a:rPr>
                                            <m:t>25</m:t>
                                          </m:r>
                                          <m:r>
                                            <a:rPr lang="en-CA" sz="1900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n-CA" sz="1900" b="0" i="1" smtClean="0">
                                              <a:latin typeface="Cambria Math" panose="02040503050406030204" pitchFamily="18" charset="0"/>
                                            </a:rPr>
                                            <m:t>17.37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CA" sz="19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CA" sz="1900" i="1">
                                      <a:latin typeface="Cambria Math"/>
                                    </a:rPr>
                                    <m:t>2×</m:t>
                                  </m:r>
                                  <m:sSup>
                                    <m:sSupPr>
                                      <m:ctrlPr>
                                        <a:rPr lang="en-CA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sz="1900" b="0" i="1" smtClean="0">
                                          <a:latin typeface="Cambria Math" panose="02040503050406030204" pitchFamily="18" charset="0"/>
                                        </a:rPr>
                                        <m:t>8.72</m:t>
                                      </m:r>
                                    </m:e>
                                    <m:sup>
                                      <m:r>
                                        <a:rPr lang="en-CA" sz="19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CA" sz="1900" i="1">
                          <a:latin typeface="Cambria Math"/>
                        </a:rPr>
                        <m:t>=0.0</m:t>
                      </m:r>
                      <m:r>
                        <a:rPr lang="en-CA" sz="1900" b="0" i="1" smtClean="0">
                          <a:latin typeface="Cambria Math" panose="02040503050406030204" pitchFamily="18" charset="0"/>
                        </a:rPr>
                        <m:t>312</m:t>
                      </m:r>
                    </m:oMath>
                  </m:oMathPara>
                </a14:m>
                <a:endParaRPr lang="en-US" sz="1900" dirty="0"/>
              </a:p>
              <a:p>
                <a:r>
                  <a:rPr lang="en-US" sz="1900" dirty="0"/>
                  <a:t>Probability density for FICO conditional default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9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CA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CA" sz="19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CA" sz="1900" i="1">
                                  <a:latin typeface="Cambria Math"/>
                                </a:rPr>
                                <m:t>𝜋</m:t>
                              </m:r>
                            </m:e>
                          </m:rad>
                          <m:r>
                            <a:rPr lang="en-CA" sz="1900" i="1">
                              <a:latin typeface="Cambria Math"/>
                            </a:rPr>
                            <m:t>×24.</m:t>
                          </m:r>
                          <m:r>
                            <a:rPr lang="en-CA" sz="1900" b="0" i="1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den>
                      </m:f>
                      <m:func>
                        <m:funcPr>
                          <m:ctrlPr>
                            <a:rPr lang="en-CA" sz="1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900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CA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900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CA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CA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A" sz="19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900" i="1">
                                              <a:latin typeface="Cambria Math"/>
                                            </a:rPr>
                                            <m:t>720−686.</m:t>
                                          </m:r>
                                          <m:r>
                                            <a:rPr lang="en-CA" sz="1900" b="0" i="1" smtClean="0">
                                              <a:latin typeface="Cambria Math" panose="02040503050406030204" pitchFamily="18" charset="0"/>
                                            </a:rPr>
                                            <m:t>73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CA" sz="19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CA" sz="1900" i="1">
                                      <a:latin typeface="Cambria Math"/>
                                    </a:rPr>
                                    <m:t>2×</m:t>
                                  </m:r>
                                  <m:sSup>
                                    <m:sSupPr>
                                      <m:ctrlPr>
                                        <a:rPr lang="en-CA" sz="19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sz="1900" i="1">
                                          <a:latin typeface="Cambria Math"/>
                                        </a:rPr>
                                        <m:t>24</m:t>
                                      </m:r>
                                      <m:r>
                                        <a:rPr lang="en-CA" sz="1900" b="0" i="1" smtClean="0">
                                          <a:latin typeface="Cambria Math" panose="02040503050406030204" pitchFamily="18" charset="0"/>
                                        </a:rPr>
                                        <m:t>.26</m:t>
                                      </m:r>
                                    </m:e>
                                    <m:sup>
                                      <m:r>
                                        <a:rPr lang="en-CA" sz="19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CA" sz="1900" i="1">
                          <a:latin typeface="Cambria Math"/>
                        </a:rPr>
                        <m:t>=0.006</m:t>
                      </m:r>
                      <m:r>
                        <a:rPr lang="en-CA" sz="1900" b="0" i="1" smtClean="0"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CA" sz="1900" dirty="0"/>
              </a:p>
              <a:p>
                <a:r>
                  <a:rPr lang="en-US" sz="1900" dirty="0"/>
                  <a:t>Probability density for </a:t>
                </a:r>
                <a:r>
                  <a:rPr lang="en-US" sz="1900" dirty="0" err="1"/>
                  <a:t>dti</a:t>
                </a:r>
                <a:r>
                  <a:rPr lang="en-US" sz="1900" dirty="0"/>
                  <a:t> conditional on default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9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CA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CA" sz="19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CA" sz="1900" i="1">
                                  <a:latin typeface="Cambria Math"/>
                                </a:rPr>
                                <m:t>𝜋</m:t>
                              </m:r>
                            </m:e>
                          </m:rad>
                          <m:r>
                            <a:rPr lang="en-CA" sz="1900" i="1">
                              <a:latin typeface="Cambria Math"/>
                            </a:rPr>
                            <m:t>×</m:t>
                          </m:r>
                          <m:r>
                            <a:rPr lang="en-CA" sz="1900" b="0" i="1" smtClean="0">
                              <a:latin typeface="Cambria Math" panose="02040503050406030204" pitchFamily="18" charset="0"/>
                            </a:rPr>
                            <m:t>9.1</m:t>
                          </m:r>
                          <m:r>
                            <a:rPr lang="en-CA" sz="1900" i="1">
                              <a:latin typeface="Cambria Math"/>
                            </a:rPr>
                            <m:t>1</m:t>
                          </m:r>
                        </m:den>
                      </m:f>
                      <m:func>
                        <m:funcPr>
                          <m:ctrlPr>
                            <a:rPr lang="en-CA" sz="1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900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CA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900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CA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CA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A" sz="19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900" b="0" i="1" smtClean="0">
                                              <a:latin typeface="Cambria Math" panose="02040503050406030204" pitchFamily="18" charset="0"/>
                                            </a:rPr>
                                            <m:t>25</m:t>
                                          </m:r>
                                          <m:r>
                                            <a:rPr lang="en-CA" sz="1900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n-CA" sz="1900" b="0" i="1" smtClean="0">
                                              <a:latin typeface="Cambria Math" panose="02040503050406030204" pitchFamily="18" charset="0"/>
                                            </a:rPr>
                                            <m:t>20</m:t>
                                          </m:r>
                                          <m:r>
                                            <a:rPr lang="en-CA" sz="1900" i="1">
                                              <a:latin typeface="Cambria Math"/>
                                            </a:rPr>
                                            <m:t>.4</m:t>
                                          </m:r>
                                          <m:r>
                                            <a:rPr lang="en-CA" sz="19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CA" sz="19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CA" sz="1900" i="1">
                                      <a:latin typeface="Cambria Math"/>
                                    </a:rPr>
                                    <m:t>2×</m:t>
                                  </m:r>
                                  <m:sSup>
                                    <m:sSupPr>
                                      <m:ctrlPr>
                                        <a:rPr lang="en-CA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sz="1900" b="0" i="1" smtClean="0">
                                          <a:latin typeface="Cambria Math" panose="02040503050406030204" pitchFamily="18" charset="0"/>
                                        </a:rPr>
                                        <m:t>9.11</m:t>
                                      </m:r>
                                    </m:e>
                                    <m:sup>
                                      <m:r>
                                        <a:rPr lang="en-CA" sz="19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CA" sz="1900" i="1">
                          <a:latin typeface="Cambria Math"/>
                        </a:rPr>
                        <m:t>=0.</m:t>
                      </m:r>
                      <m:r>
                        <a:rPr lang="en-CA" sz="1900" b="0" i="1" smtClean="0">
                          <a:latin typeface="Cambria Math" panose="02040503050406030204" pitchFamily="18" charset="0"/>
                        </a:rPr>
                        <m:t>0385</m:t>
                      </m:r>
                    </m:oMath>
                  </m:oMathPara>
                </a14:m>
                <a:endParaRPr lang="en-CA" sz="1900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1628800"/>
                <a:ext cx="7772400" cy="4114800"/>
              </a:xfrm>
              <a:blipFill>
                <a:blip r:embed="rId2"/>
                <a:stretch>
                  <a:fillRect t="-88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4969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Calculations </a:t>
            </a:r>
            <a:r>
              <a:rPr lang="en-US" sz="2400" dirty="0"/>
              <a:t>continued</a:t>
            </a:r>
            <a:endParaRPr lang="en-C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147888"/>
                <a:ext cx="8568952" cy="4114800"/>
              </a:xfrm>
            </p:spPr>
            <p:txBody>
              <a:bodyPr/>
              <a:lstStyle/>
              <a:p>
                <a:r>
                  <a:rPr lang="en-US" dirty="0"/>
                  <a:t>The unconditional probability of a good loan is 0.8276</a:t>
                </a:r>
              </a:p>
              <a:p>
                <a:r>
                  <a:rPr lang="en-US" dirty="0"/>
                  <a:t>The probability of a good loan conditional on FICO and </a:t>
                </a:r>
                <a:r>
                  <a:rPr lang="en-US" dirty="0" err="1"/>
                  <a:t>dti</a:t>
                </a:r>
                <a:r>
                  <a:rPr lang="en-US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/>
                            </a:rPr>
                            <m:t>0.0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0958</m:t>
                          </m:r>
                          <m:r>
                            <a:rPr lang="en-CA" i="1">
                              <a:latin typeface="Cambria Math"/>
                            </a:rPr>
                            <m:t>×0.0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312</m:t>
                          </m:r>
                          <m:r>
                            <a:rPr lang="en-CA" i="1">
                              <a:latin typeface="Cambria Math"/>
                            </a:rPr>
                            <m:t>×0.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7917</m:t>
                          </m:r>
                        </m:num>
                        <m:den>
                          <m:r>
                            <a:rPr lang="en-CA" i="1">
                              <a:latin typeface="Cambria Math"/>
                            </a:rPr>
                            <m:t>𝑄</m:t>
                          </m:r>
                        </m:den>
                      </m:f>
                      <m:r>
                        <a:rPr lang="en-CA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2.366</m:t>
                          </m:r>
                          <m:r>
                            <a:rPr lang="en-CA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CA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CA" i="1">
                              <a:latin typeface="Cambria Math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CA" dirty="0"/>
              </a:p>
              <a:p>
                <a:pPr marL="265113" indent="0">
                  <a:buNone/>
                </a:pPr>
                <a:r>
                  <a:rPr lang="en-US" dirty="0"/>
                  <a:t>where </a:t>
                </a:r>
                <a:r>
                  <a:rPr lang="en-US" i="1" dirty="0">
                    <a:latin typeface="+mj-lt"/>
                  </a:rPr>
                  <a:t>Q</a:t>
                </a:r>
                <a:r>
                  <a:rPr lang="en-US" dirty="0"/>
                  <a:t> is the probability density of the observed FICO and </a:t>
                </a:r>
                <a:r>
                  <a:rPr lang="en-US" dirty="0" err="1"/>
                  <a:t>dti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probability of a defaulting loan conditional on FICO and </a:t>
                </a:r>
                <a:r>
                  <a:rPr lang="en-US" dirty="0" err="1"/>
                  <a:t>dti</a:t>
                </a:r>
                <a:r>
                  <a:rPr lang="en-US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/>
                            </a:rPr>
                            <m:t>0.006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  <m:r>
                            <a:rPr lang="en-CA" i="1">
                              <a:latin typeface="Cambria Math"/>
                            </a:rPr>
                            <m:t>×0.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0385</m:t>
                          </m:r>
                          <m:r>
                            <a:rPr lang="en-CA" i="1">
                              <a:latin typeface="Cambria Math"/>
                            </a:rPr>
                            <m:t>×0.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2083</m:t>
                          </m:r>
                        </m:num>
                        <m:den>
                          <m:r>
                            <a:rPr lang="en-CA" i="1">
                              <a:latin typeface="Cambria Math"/>
                            </a:rPr>
                            <m:t>𝑄</m:t>
                          </m:r>
                        </m:den>
                      </m:f>
                      <m:r>
                        <a:rPr lang="en-CA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/>
                            </a:rPr>
                            <m:t>0.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516</m:t>
                          </m:r>
                          <m:r>
                            <a:rPr lang="en-CA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CA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CA" i="1">
                              <a:latin typeface="Cambria Math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CA" dirty="0"/>
              </a:p>
              <a:p>
                <a:r>
                  <a:rPr lang="en-US" dirty="0"/>
                  <a:t>Probability of a good loan is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2.366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(2.366</m:t>
                        </m:r>
                        <m:r>
                          <a:rPr lang="en-US" b="0" i="1" smtClean="0">
                            <a:latin typeface="Cambria Math"/>
                          </a:rPr>
                          <m:t>+0.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516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)=0.8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21</m:t>
                    </m:r>
                    <m:r>
                      <a:rPr lang="en-US" b="0" i="1" smtClean="0">
                        <a:latin typeface="Cambria Math"/>
                      </a:rPr>
                      <m:t>.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147888"/>
                <a:ext cx="8568952" cy="4114800"/>
              </a:xfrm>
              <a:blipFill>
                <a:blip r:embed="rId2"/>
                <a:stretch>
                  <a:fillRect t="-88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3rtd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09157585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18497B-EF0C-446B-A670-A9731816FC81}"/>
</file>

<file path=customXml/itemProps2.xml><?xml version="1.0" encoding="utf-8"?>
<ds:datastoreItem xmlns:ds="http://schemas.openxmlformats.org/officeDocument/2006/customXml" ds:itemID="{FF631110-8FA8-45E1-BE85-C40A26FDE5B5}"/>
</file>

<file path=customXml/itemProps3.xml><?xml version="1.0" encoding="utf-8"?>
<ds:datastoreItem xmlns:ds="http://schemas.openxmlformats.org/officeDocument/2006/customXml" ds:itemID="{06F652C9-5332-4CF8-8299-40F9C6DE8064}"/>
</file>

<file path=docProps/app.xml><?xml version="1.0" encoding="utf-8"?>
<Properties xmlns="http://schemas.openxmlformats.org/officeDocument/2006/extended-properties" xmlns:vt="http://schemas.openxmlformats.org/officeDocument/2006/docPropsVTypes">
  <Template>Chapter 2</Template>
  <TotalTime>1001</TotalTime>
  <Words>1540</Words>
  <Application>Microsoft Office PowerPoint</Application>
  <PresentationFormat>On-screen Show (4:3)</PresentationFormat>
  <Paragraphs>246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Cambria Math</vt:lpstr>
      <vt:lpstr>Tahoma</vt:lpstr>
      <vt:lpstr>Times New Roman</vt:lpstr>
      <vt:lpstr>Global</vt:lpstr>
      <vt:lpstr>Equation</vt:lpstr>
      <vt:lpstr>Document</vt:lpstr>
      <vt:lpstr>  Machine Learning in Business, 3rd Edition </vt:lpstr>
      <vt:lpstr>Example of a Decision Tree to Determine Criterion for Hiring (Figure 4.1)</vt:lpstr>
      <vt:lpstr>Measures of Uncertainty</vt:lpstr>
      <vt:lpstr>Information Gain</vt:lpstr>
      <vt:lpstr>The Decision Tree Algorithm</vt:lpstr>
      <vt:lpstr>Lending Club Case: Choosing the root node when there are four features (Table 4.1)</vt:lpstr>
      <vt:lpstr>Choosing the next node if dti &gt; 19.85 (Table 4.2)</vt:lpstr>
      <vt:lpstr>Choosing the next node if dti ≤ 19.75 (Table 4.3)</vt:lpstr>
      <vt:lpstr>The Tree (Figure 4.2)</vt:lpstr>
      <vt:lpstr>Choosing a criterion for accepting loans</vt:lpstr>
      <vt:lpstr>Continuous Target Variables (Table 4.9)</vt:lpstr>
      <vt:lpstr>Second Level split when Overall Quality ≤ 7.5</vt:lpstr>
      <vt:lpstr>Second Level split when Overall Quality &gt; 7.5</vt:lpstr>
      <vt:lpstr>The Tree (Figure 4.4)</vt:lpstr>
      <vt:lpstr>Random Forest</vt:lpstr>
      <vt:lpstr>Ensemble</vt:lpstr>
      <vt:lpstr>Bagging</vt:lpstr>
      <vt:lpstr>Boosting</vt:lpstr>
      <vt:lpstr>Naïve Bayes Classifier</vt:lpstr>
      <vt:lpstr>Example</vt:lpstr>
      <vt:lpstr>Example continued</vt:lpstr>
      <vt:lpstr>The naïve Bayes classifier and continuous features (Table 4.8)</vt:lpstr>
      <vt:lpstr>Calculations</vt:lpstr>
      <vt:lpstr>Calculations continued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Learning: Decision Trees</dc:title>
  <dc:subject>Machine Learning in Business</dc:subject>
  <dc:creator>hull</dc:creator>
  <cp:keywords>Chapter 4</cp:keywords>
  <dc:description>Copyright 2019 by John C. Hull. All Rights Reserved. Published 2019</dc:description>
  <cp:lastModifiedBy>John Hull</cp:lastModifiedBy>
  <cp:revision>66</cp:revision>
  <dcterms:created xsi:type="dcterms:W3CDTF">2019-07-16T22:03:37Z</dcterms:created>
  <dcterms:modified xsi:type="dcterms:W3CDTF">2021-05-28T00:11:46Z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