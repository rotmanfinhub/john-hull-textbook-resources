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69" r:id="rId16"/>
    <p:sldId id="268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FD6B4A-41F3-40A2-86A5-0A91EA0C8071}" v="1" dt="2021-05-28T16:45:27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91FD6B4A-41F3-40A2-86A5-0A91EA0C8071}"/>
    <pc:docChg chg="modSld">
      <pc:chgData name="John Hull" userId="b3f65f64fa01e6a6" providerId="LiveId" clId="{91FD6B4A-41F3-40A2-86A5-0A91EA0C8071}" dt="2021-05-28T16:57:30.043" v="29" actId="20577"/>
      <pc:docMkLst>
        <pc:docMk/>
      </pc:docMkLst>
      <pc:sldChg chg="modSp mod">
        <pc:chgData name="John Hull" userId="b3f65f64fa01e6a6" providerId="LiveId" clId="{91FD6B4A-41F3-40A2-86A5-0A91EA0C8071}" dt="2021-05-28T16:57:30.043" v="29" actId="20577"/>
        <pc:sldMkLst>
          <pc:docMk/>
          <pc:sldMk cId="2609102905" sldId="256"/>
        </pc:sldMkLst>
        <pc:spChg chg="mod">
          <ac:chgData name="John Hull" userId="b3f65f64fa01e6a6" providerId="LiveId" clId="{91FD6B4A-41F3-40A2-86A5-0A91EA0C8071}" dt="2021-05-28T16:57:30.043" v="29" actId="20577"/>
          <ac:spMkLst>
            <pc:docMk/>
            <pc:sldMk cId="2609102905" sldId="256"/>
            <ac:spMk id="2" creationId="{00000000-0000-0000-0000-000000000000}"/>
          </ac:spMkLst>
        </pc:spChg>
        <pc:spChg chg="mod">
          <ac:chgData name="John Hull" userId="b3f65f64fa01e6a6" providerId="LiveId" clId="{91FD6B4A-41F3-40A2-86A5-0A91EA0C8071}" dt="2021-05-28T16:45:02.865" v="1" actId="20577"/>
          <ac:spMkLst>
            <pc:docMk/>
            <pc:sldMk cId="2609102905" sldId="256"/>
            <ac:spMk id="3" creationId="{00000000-0000-0000-0000-000000000000}"/>
          </ac:spMkLst>
        </pc:spChg>
      </pc:sldChg>
      <pc:sldChg chg="modSp mod">
        <pc:chgData name="John Hull" userId="b3f65f64fa01e6a6" providerId="LiveId" clId="{91FD6B4A-41F3-40A2-86A5-0A91EA0C8071}" dt="2021-05-28T16:46:46.023" v="17" actId="20577"/>
        <pc:sldMkLst>
          <pc:docMk/>
          <pc:sldMk cId="1402768823" sldId="263"/>
        </pc:sldMkLst>
        <pc:spChg chg="mod">
          <ac:chgData name="John Hull" userId="b3f65f64fa01e6a6" providerId="LiveId" clId="{91FD6B4A-41F3-40A2-86A5-0A91EA0C8071}" dt="2021-05-28T16:46:46.023" v="17" actId="20577"/>
          <ac:spMkLst>
            <pc:docMk/>
            <pc:sldMk cId="1402768823" sldId="26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  <a:t>2021-05-28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9D1EAB82-F60F-4C40-B5BA-EB232EC60DF8}" type="datetime1">
              <a:rPr lang="en-CA" smtClean="0"/>
              <a:t>2021-05-28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035416E-7036-40E9-9215-B731DF24F4E5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75FFDE-0A15-4A92-B4AA-A6A452C320E8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31069B-B538-4717-9870-71004BE08238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B802F-41EC-46D3-90C2-5F6BDD699D5E}" type="datetime1">
              <a:rPr lang="en-CA" smtClean="0"/>
              <a:t>2021-05-28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7D135A-9D6F-42C5-90EE-56BBD6979E46}" type="datetime1">
              <a:rPr lang="en-CA" smtClean="0"/>
              <a:t>2021-05-28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5E00A-C2D5-4B88-8BEB-3D1CF2F71B63}" type="datetime1">
              <a:rPr lang="en-CA" smtClean="0"/>
              <a:t>2021-05-28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0A065-18B6-487F-A81C-CECC89E7A63F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238DE1-EA90-4E6A-B9C4-3ACAF71F9712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9CAA58-BAE5-4EB9-936D-9E46B3170F8B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32FE23-958B-45B5-9A46-DA1BDA4A0FBA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22AE13-3498-44F0-A8B1-250B4236D1CB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7A213B-201E-4AA8-8893-1B48FCD53B47}" type="datetime1">
              <a:rPr lang="en-CA" smtClean="0"/>
              <a:t>2021-05-28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61DBB0-A951-4D87-BD1B-EF14FD17B31B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8E408C06-DDC9-4811-8501-DDF1D502DF7E}" type="datetime1">
              <a:rPr lang="en-CA" smtClean="0"/>
              <a:t>2021-05-28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Business</a:t>
            </a:r>
            <a:br>
              <a:rPr lang="en-US" dirty="0"/>
            </a:br>
            <a:r>
              <a:rPr lang="en-US"/>
              <a:t>3</a:t>
            </a:r>
            <a:r>
              <a:rPr lang="en-US" baseline="30000"/>
              <a:t>rd</a:t>
            </a:r>
            <a:r>
              <a:rPr lang="en-US"/>
              <a:t> Edition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r>
              <a:rPr lang="en-US" sz="3200" dirty="0"/>
              <a:t>Chapter 9</a:t>
            </a:r>
          </a:p>
          <a:p>
            <a:r>
              <a:rPr lang="en-US" sz="3200" dirty="0"/>
              <a:t>Natural Language Processing</a:t>
            </a:r>
            <a:endParaRPr lang="en-CA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10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F76F3-FE9E-4FB3-A2A2-4C0E530C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D6019-C816-4D9E-9EFC-110CA46BB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NLP is a challenging area of machine learning</a:t>
            </a:r>
          </a:p>
          <a:p>
            <a:r>
              <a:rPr lang="en-CA" dirty="0"/>
              <a:t>Words can have several meanings</a:t>
            </a:r>
          </a:p>
          <a:p>
            <a:r>
              <a:rPr lang="en-CA" dirty="0"/>
              <a:t>It is difficult for an algorithm to detect figures of speech such as sarcasm and irony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55A07-227D-45D7-BC61-233C5608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3C694-7BE2-40B0-96B3-8DDCA9A8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065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6101-E08A-4CA1-86C0-AEDF9F52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7053B-6DE0-497A-B839-9FC121838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Speech recognition</a:t>
            </a:r>
          </a:p>
          <a:p>
            <a:r>
              <a:rPr lang="en-CA" dirty="0"/>
              <a:t>Conversion of speech to text</a:t>
            </a:r>
          </a:p>
          <a:p>
            <a:r>
              <a:rPr lang="en-CA" dirty="0"/>
              <a:t>Chatbots</a:t>
            </a:r>
          </a:p>
          <a:p>
            <a:r>
              <a:rPr lang="en-CA" dirty="0"/>
              <a:t>Translation from one language to another</a:t>
            </a:r>
          </a:p>
          <a:p>
            <a:r>
              <a:rPr lang="en-CA" dirty="0"/>
              <a:t>Organization of information</a:t>
            </a:r>
          </a:p>
          <a:p>
            <a:r>
              <a:rPr lang="en-CA" dirty="0"/>
              <a:t>Sentiment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3E968-163E-4842-90C7-1B1F5B7E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183D2-BDC5-49B2-A349-7B4EB2D6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578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Sentiment analysis is the processing of textual data from surveys and social media to determine whether the market’s opinion about something is positive or negative</a:t>
            </a:r>
          </a:p>
          <a:p>
            <a:r>
              <a:rPr lang="en-US" dirty="0"/>
              <a:t>Can be done in real time</a:t>
            </a:r>
          </a:p>
          <a:p>
            <a:r>
              <a:rPr lang="en-US" dirty="0"/>
              <a:t>Possible business applications:</a:t>
            </a:r>
          </a:p>
          <a:p>
            <a:pPr lvl="1"/>
            <a:r>
              <a:rPr lang="en-US" dirty="0"/>
              <a:t>Coca Cola’s new formula</a:t>
            </a:r>
          </a:p>
          <a:p>
            <a:pPr lvl="1"/>
            <a:r>
              <a:rPr lang="en-US" dirty="0"/>
              <a:t>Gillette’s new advertisement (the best men can be)</a:t>
            </a:r>
          </a:p>
          <a:p>
            <a:pPr lvl="1"/>
            <a:r>
              <a:rPr lang="en-US" dirty="0"/>
              <a:t>United Airline’s PR disaster when it pulled someone off its plane</a:t>
            </a:r>
          </a:p>
          <a:p>
            <a:pPr lvl="1"/>
            <a:endParaRPr lang="en-US" dirty="0"/>
          </a:p>
          <a:p>
            <a:pPr marL="342900" lvl="1" indent="0">
              <a:buNone/>
            </a:pPr>
            <a:endParaRPr lang="en-US" dirty="0"/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64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trading strategy?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 stocks with a positive sentiment</a:t>
            </a:r>
          </a:p>
          <a:p>
            <a:r>
              <a:rPr lang="en-US" dirty="0"/>
              <a:t>Short stocks with a negative sentiment</a:t>
            </a:r>
          </a:p>
          <a:p>
            <a:r>
              <a:rPr lang="en-US" dirty="0"/>
              <a:t>Zhang and </a:t>
            </a:r>
            <a:r>
              <a:rPr lang="en-US" dirty="0" err="1"/>
              <a:t>Skiena</a:t>
            </a:r>
            <a:r>
              <a:rPr lang="en-US" dirty="0"/>
              <a:t> (2010) found this to be profitable, but if markets are efficient it is likely to be less profitable today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91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Labeled Data for Sentiment Analysis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text that has been classified as according to whether it is positive or negative</a:t>
            </a:r>
          </a:p>
          <a:p>
            <a:r>
              <a:rPr lang="en-US" dirty="0"/>
              <a:t>There are publicly available data sets that have been classified</a:t>
            </a:r>
          </a:p>
          <a:p>
            <a:r>
              <a:rPr lang="en-US" dirty="0"/>
              <a:t>Movie reviews are sometimes used because they are given between one and five stars</a:t>
            </a:r>
          </a:p>
          <a:p>
            <a:r>
              <a:rPr lang="en-US" dirty="0"/>
              <a:t>Alternatively, it is necessary to collect past opinions and use human beings to classify them</a:t>
            </a:r>
          </a:p>
          <a:p>
            <a:r>
              <a:rPr lang="en-US" dirty="0"/>
              <a:t>Note: human beings only agree about 80% of the time and so there are limits on the accuracy of NLP procedures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008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features are words or possibly groups of </a:t>
            </a:r>
            <a:r>
              <a:rPr lang="en-US" dirty="0" err="1"/>
              <a:t>words.To</a:t>
            </a:r>
            <a:r>
              <a:rPr lang="en-US" dirty="0"/>
              <a:t> obtain a “vocabulary” of words, the following can be useful:</a:t>
            </a:r>
          </a:p>
          <a:p>
            <a:r>
              <a:rPr lang="en-US" dirty="0"/>
              <a:t>Word tokenization</a:t>
            </a:r>
          </a:p>
          <a:p>
            <a:r>
              <a:rPr lang="en-US" dirty="0"/>
              <a:t>Remove punctuation</a:t>
            </a:r>
          </a:p>
          <a:p>
            <a:r>
              <a:rPr lang="en-US" dirty="0"/>
              <a:t>Remove stop words</a:t>
            </a:r>
          </a:p>
          <a:p>
            <a:r>
              <a:rPr lang="en-US" dirty="0"/>
              <a:t>Stemming</a:t>
            </a:r>
          </a:p>
          <a:p>
            <a:r>
              <a:rPr lang="en-US" dirty="0"/>
              <a:t>Lemmatization</a:t>
            </a:r>
          </a:p>
          <a:p>
            <a:r>
              <a:rPr lang="en-US" dirty="0"/>
              <a:t>Correct spelling mistakes</a:t>
            </a:r>
          </a:p>
          <a:p>
            <a:r>
              <a:rPr lang="en-US" dirty="0"/>
              <a:t>Recognize abbreviations</a:t>
            </a:r>
          </a:p>
          <a:p>
            <a:r>
              <a:rPr lang="en-US" dirty="0"/>
              <a:t>Remove rare words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27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Bag-of-Words Model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words to analyze opinions without regard to the order in which they appear</a:t>
            </a:r>
          </a:p>
          <a:p>
            <a:r>
              <a:rPr lang="en-US" dirty="0"/>
              <a:t>We might have a vocabulary of 10,000 words and a bag-of-words model will list the number of times each word occurs in an opinion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5183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Approach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487" y="1983220"/>
            <a:ext cx="7772400" cy="4114800"/>
          </a:xfrm>
        </p:spPr>
        <p:txBody>
          <a:bodyPr/>
          <a:lstStyle/>
          <a:p>
            <a:r>
              <a:rPr lang="en-US" dirty="0"/>
              <a:t>Make a list of positive and negative words and count the number of times that each appear</a:t>
            </a:r>
          </a:p>
          <a:p>
            <a:r>
              <a:rPr lang="en-US" dirty="0"/>
              <a:t>But there is no learning in this approach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5570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20"/>
            <a:ext cx="7772400" cy="4114800"/>
          </a:xfrm>
        </p:spPr>
        <p:txBody>
          <a:bodyPr/>
          <a:lstStyle/>
          <a:p>
            <a:r>
              <a:rPr lang="en-US" dirty="0"/>
              <a:t>Approaches using ML use labeled data and divide it into training set, test set, and (possibly validation set)</a:t>
            </a:r>
          </a:p>
          <a:p>
            <a:r>
              <a:rPr lang="en-US" dirty="0"/>
              <a:t>The general approach is the same as in other ML applications</a:t>
            </a:r>
          </a:p>
          <a:p>
            <a:r>
              <a:rPr lang="en-US" dirty="0"/>
              <a:t>The number of features (i.e., number of words) is large</a:t>
            </a:r>
          </a:p>
          <a:p>
            <a:r>
              <a:rPr lang="en-US" dirty="0"/>
              <a:t>Two possibilities:</a:t>
            </a:r>
          </a:p>
          <a:p>
            <a:pPr lvl="1"/>
            <a:r>
              <a:rPr lang="en-US" dirty="0"/>
              <a:t>Base analysis on whether a word appears or not</a:t>
            </a:r>
          </a:p>
          <a:p>
            <a:pPr lvl="1"/>
            <a:r>
              <a:rPr lang="en-US" dirty="0"/>
              <a:t>Base analysis on the number of times a word appears</a:t>
            </a:r>
          </a:p>
          <a:p>
            <a:r>
              <a:rPr lang="en-US" dirty="0"/>
              <a:t>The evidence indicates that multiple appearances of a word do not necessarily give more information than a single occurrence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435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Naïve Bayes Classifier </a:t>
            </a:r>
            <a:r>
              <a:rPr lang="en-US"/>
              <a:t>(pages 202-206)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165" y="2057400"/>
            <a:ext cx="7772400" cy="4114800"/>
          </a:xfrm>
        </p:spPr>
        <p:txBody>
          <a:bodyPr/>
          <a:lstStyle/>
          <a:p>
            <a:r>
              <a:rPr lang="en-US" dirty="0"/>
              <a:t>If word</a:t>
            </a:r>
            <a:r>
              <a:rPr lang="en-US" i="1" dirty="0"/>
              <a:t> j </a:t>
            </a:r>
            <a:r>
              <a:rPr lang="en-US" dirty="0"/>
              <a:t>is in an opinion, define</a:t>
            </a:r>
            <a:r>
              <a:rPr lang="en-US" i="1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as the probability that an opinion in the training set is positive when word </a:t>
            </a:r>
            <a:r>
              <a:rPr lang="en-US" i="1" dirty="0"/>
              <a:t>j</a:t>
            </a:r>
            <a:r>
              <a:rPr lang="en-US" dirty="0"/>
              <a:t> appears and </a:t>
            </a:r>
            <a:r>
              <a:rPr lang="en-US" i="1" dirty="0" err="1"/>
              <a:t>q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as the probability that it is negative when word </a:t>
            </a:r>
            <a:r>
              <a:rPr lang="en-US" i="1" dirty="0"/>
              <a:t>j</a:t>
            </a:r>
            <a:r>
              <a:rPr lang="en-US" dirty="0"/>
              <a:t> appears</a:t>
            </a:r>
          </a:p>
          <a:p>
            <a:r>
              <a:rPr lang="en-US" dirty="0"/>
              <a:t> If word</a:t>
            </a:r>
            <a:r>
              <a:rPr lang="en-US" i="1" dirty="0"/>
              <a:t> j </a:t>
            </a:r>
            <a:r>
              <a:rPr lang="en-US" dirty="0"/>
              <a:t>is not in an opinion define</a:t>
            </a:r>
            <a:r>
              <a:rPr lang="en-US" i="1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as the probability that an opinion in the training set is positive when word </a:t>
            </a:r>
            <a:r>
              <a:rPr lang="en-US" i="1" dirty="0"/>
              <a:t>j</a:t>
            </a:r>
            <a:r>
              <a:rPr lang="en-US" dirty="0"/>
              <a:t> does not appear and </a:t>
            </a:r>
            <a:r>
              <a:rPr lang="en-US" i="1" dirty="0" err="1"/>
              <a:t>q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as the probability that it is negative when word </a:t>
            </a:r>
            <a:r>
              <a:rPr lang="en-US" i="1" dirty="0"/>
              <a:t>j </a:t>
            </a:r>
            <a:r>
              <a:rPr lang="en-US" dirty="0"/>
              <a:t>does not appear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276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0036"/>
            <a:ext cx="7772400" cy="1143000"/>
          </a:xfrm>
        </p:spPr>
        <p:txBody>
          <a:bodyPr/>
          <a:lstStyle/>
          <a:p>
            <a:r>
              <a:rPr lang="en-US" dirty="0"/>
              <a:t>Using Naïve Bayes Classifier </a:t>
            </a:r>
            <a:r>
              <a:rPr lang="en-US" sz="2200" dirty="0"/>
              <a:t>continued</a:t>
            </a:r>
            <a:endParaRPr lang="en-CA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12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8600" y="2173144"/>
                <a:ext cx="6629400" cy="16934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CA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Positive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words</m:t>
                          </m:r>
                        </m:e>
                      </m:d>
                      <m:r>
                        <a:rPr lang="en-CA" i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Prob</m:t>
                          </m:r>
                          <m: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words</m:t>
                          </m:r>
                          <m: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Prob</m:t>
                      </m:r>
                      <m: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Positive</m:t>
                      </m:r>
                      <m: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0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CA" dirty="0">
                    <a:solidFill>
                      <a:srgbClr val="333333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en-CA" sz="20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CA" dirty="0">
                    <a:solidFill>
                      <a:srgbClr val="333333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en-CA" sz="20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CA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Negative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words</m:t>
                          </m:r>
                        </m:e>
                      </m:d>
                      <m:r>
                        <a:rPr lang="en-CA" i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Prob</m:t>
                          </m:r>
                          <m: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words</m:t>
                          </m:r>
                          <m:r>
                            <a:rPr lang="en-CA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Prob</m:t>
                      </m:r>
                      <m: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Negative</m:t>
                      </m:r>
                      <m:r>
                        <a:rPr lang="en-CA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0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173144"/>
                <a:ext cx="6629400" cy="16934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95536" y="4057532"/>
                <a:ext cx="8424936" cy="14026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18034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600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Positive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words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Prob</m:t>
                          </m:r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Positive</m:t>
                          </m:r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Prob</m:t>
                          </m:r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Positive</m:t>
                              </m:r>
                            </m:e>
                          </m:d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Prob</m:t>
                          </m:r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Negative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CA" sz="16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CA" dirty="0">
                    <a:solidFill>
                      <a:srgbClr val="333333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en-CA" sz="20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Prob</m:t>
                      </m:r>
                      <m:d>
                        <m:dPr>
                          <m:ctrlP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Negative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words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Prob</m:t>
                          </m:r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Negative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Prob</m:t>
                          </m:r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Positive</m:t>
                              </m:r>
                            </m:e>
                          </m:d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Prob</m:t>
                          </m:r>
                          <m:r>
                            <a:rPr lang="en-CA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mbria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CA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CA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mbria" panose="02040503050406030204" pitchFamily="18" charset="0"/>
                                </a:rPr>
                                <m:t>Negative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CA" sz="16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057532"/>
                <a:ext cx="8424936" cy="14026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458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Laplace Smoothing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any of the </a:t>
            </a:r>
            <a:r>
              <a:rPr lang="en-US" i="1" dirty="0"/>
              <a:t>p</a:t>
            </a:r>
            <a:r>
              <a:rPr lang="en-US" dirty="0"/>
              <a:t>’s are zero the probability that the opinion is positive is zero</a:t>
            </a:r>
          </a:p>
          <a:p>
            <a:r>
              <a:rPr lang="en-US" dirty="0"/>
              <a:t>If any of the </a:t>
            </a:r>
            <a:r>
              <a:rPr lang="en-US" i="1" dirty="0"/>
              <a:t>q</a:t>
            </a:r>
            <a:r>
              <a:rPr lang="en-US" dirty="0"/>
              <a:t>’s are zero the probability that the opinion is negative is zero</a:t>
            </a:r>
          </a:p>
          <a:p>
            <a:r>
              <a:rPr lang="en-US" dirty="0"/>
              <a:t>To avoid these extreme results we can add a small amount of imaginary data to avoid the zeroes</a:t>
            </a:r>
          </a:p>
          <a:p>
            <a:r>
              <a:rPr lang="en-US" dirty="0"/>
              <a:t>This is known as Laplace smoothing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274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Algorithms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Naïve Bayes Classifier assumes conditional independence</a:t>
            </a:r>
          </a:p>
          <a:p>
            <a:r>
              <a:rPr lang="en-US" dirty="0"/>
              <a:t>Other algorithms that can be used are</a:t>
            </a:r>
          </a:p>
          <a:p>
            <a:pPr lvl="1"/>
            <a:r>
              <a:rPr lang="en-US" dirty="0"/>
              <a:t>SVM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Decision trees</a:t>
            </a:r>
          </a:p>
          <a:p>
            <a:pPr lvl="1"/>
            <a:r>
              <a:rPr lang="en-US" dirty="0"/>
              <a:t>Neural networks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6995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Unigrams, bigrams, </a:t>
            </a:r>
            <a:r>
              <a:rPr lang="en-US" dirty="0" err="1"/>
              <a:t>etc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 have assumed that the bag-of-words model considers single words (unigrams)</a:t>
            </a:r>
          </a:p>
          <a:p>
            <a:r>
              <a:rPr lang="en-US" dirty="0"/>
              <a:t>This would potentially misclassify an opinion such as “This product was not good”</a:t>
            </a:r>
          </a:p>
          <a:p>
            <a:r>
              <a:rPr lang="en-US" dirty="0"/>
              <a:t>An alternative is to consider two words at a time (bigrams). This can work better with opinions that contain negative words</a:t>
            </a:r>
          </a:p>
          <a:p>
            <a:r>
              <a:rPr lang="en-US" dirty="0"/>
              <a:t>We can even go one step further and consider three words at a time (trigrams). This might get a opinion “The product was not too bad” classified correctly.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7863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31682"/>
            <a:ext cx="7772400" cy="1143000"/>
          </a:xfrm>
        </p:spPr>
        <p:txBody>
          <a:bodyPr/>
          <a:lstStyle/>
          <a:p>
            <a:r>
              <a:rPr lang="en-US" dirty="0"/>
              <a:t>Information Retrieval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60083"/>
            <a:ext cx="7772400" cy="4114800"/>
          </a:xfrm>
        </p:spPr>
        <p:txBody>
          <a:bodyPr/>
          <a:lstStyle/>
          <a:p>
            <a:r>
              <a:rPr lang="en-US" dirty="0"/>
              <a:t>How can a search engine find the best document given certain search words</a:t>
            </a:r>
          </a:p>
          <a:p>
            <a:r>
              <a:rPr lang="en-US" dirty="0"/>
              <a:t>We can define two measures:</a:t>
            </a:r>
          </a:p>
          <a:p>
            <a:pPr lvl="1"/>
            <a:r>
              <a:rPr lang="en-US" dirty="0"/>
              <a:t>Term frequency (TF): This is  a function of (a) a search word and (b) a document that might be chosen. It is the number of times the word appears in the document divided by number of words in the document.</a:t>
            </a:r>
          </a:p>
          <a:p>
            <a:pPr lvl="1"/>
            <a:r>
              <a:rPr lang="en-US" dirty="0"/>
              <a:t>Inverse document frequency (IDF): This is a function of a search word. It is the logarithm of number of documents divided by number of documents containing the word.</a:t>
            </a:r>
          </a:p>
          <a:p>
            <a:r>
              <a:rPr lang="en-US" dirty="0"/>
              <a:t>TF-IDF is the product of the two measures</a:t>
            </a:r>
          </a:p>
          <a:p>
            <a:r>
              <a:rPr lang="en-US" dirty="0"/>
              <a:t>For each document we calculate the sum of the TF-IDFs across the search words. This is used as a measure of the relevance of the document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16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Vectors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7888"/>
            <a:ext cx="7772400" cy="4114800"/>
          </a:xfrm>
        </p:spPr>
        <p:txBody>
          <a:bodyPr/>
          <a:lstStyle/>
          <a:p>
            <a:r>
              <a:rPr lang="en-US" dirty="0"/>
              <a:t>Two words have similar meanings if they tend to occur close to the same other words.</a:t>
            </a:r>
          </a:p>
          <a:p>
            <a:r>
              <a:rPr lang="en-US" dirty="0"/>
              <a:t>We can define close as “within five words”</a:t>
            </a:r>
          </a:p>
          <a:p>
            <a:r>
              <a:rPr lang="en-US" dirty="0"/>
              <a:t>This can lead to  a 10,000 by 10,000 table of probabilities</a:t>
            </a:r>
          </a:p>
          <a:p>
            <a:r>
              <a:rPr lang="en-US" dirty="0"/>
              <a:t>Using an </a:t>
            </a:r>
            <a:r>
              <a:rPr lang="en-US" dirty="0" err="1"/>
              <a:t>autoencoder</a:t>
            </a:r>
            <a:r>
              <a:rPr lang="en-US" dirty="0"/>
              <a:t>-type procedure it can be reduced to a 10,000 by 300 table (or even a 10,000 by 100 table)</a:t>
            </a:r>
          </a:p>
          <a:p>
            <a:r>
              <a:rPr lang="en-US" dirty="0"/>
              <a:t>This means that each word is defined by a 300-long (or 100-long) vector of numbers</a:t>
            </a:r>
          </a:p>
          <a:p>
            <a:r>
              <a:rPr lang="en-US" dirty="0"/>
              <a:t>We find that the vectors have certain (approximate) properties, e.g.   King – Man + Woman = Queen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0533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application of NLP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probability of a particular word sequence?</a:t>
            </a:r>
          </a:p>
          <a:p>
            <a:r>
              <a:rPr lang="en-US" dirty="0"/>
              <a:t>We might determine this by considering how often each consecutive pair of words in the sequence occurs in the training set</a:t>
            </a:r>
          </a:p>
          <a:p>
            <a:r>
              <a:rPr lang="en-US" dirty="0"/>
              <a:t>This is useful for</a:t>
            </a:r>
          </a:p>
          <a:p>
            <a:pPr lvl="1"/>
            <a:r>
              <a:rPr lang="en-US" dirty="0"/>
              <a:t>Translating from one language to another</a:t>
            </a:r>
          </a:p>
          <a:p>
            <a:pPr lvl="1"/>
            <a:r>
              <a:rPr lang="en-US" dirty="0"/>
              <a:t>Speech recognition</a:t>
            </a:r>
          </a:p>
          <a:p>
            <a:pPr lvl="1"/>
            <a:r>
              <a:rPr lang="en-US" dirty="0"/>
              <a:t>Summarizing texts</a:t>
            </a:r>
          </a:p>
          <a:p>
            <a:pPr lvl="1"/>
            <a:r>
              <a:rPr lang="en-US" dirty="0"/>
              <a:t>Conversion of speech to text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7993249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C4413A-4452-47C1-A460-C483B5BD4E60}"/>
</file>

<file path=customXml/itemProps2.xml><?xml version="1.0" encoding="utf-8"?>
<ds:datastoreItem xmlns:ds="http://schemas.openxmlformats.org/officeDocument/2006/customXml" ds:itemID="{E3F19ACA-A65B-47CB-956D-99767A238906}"/>
</file>

<file path=customXml/itemProps3.xml><?xml version="1.0" encoding="utf-8"?>
<ds:datastoreItem xmlns:ds="http://schemas.openxmlformats.org/officeDocument/2006/customXml" ds:itemID="{161A46B7-EA6D-4F15-ABC5-C1DF4BBD2AE1}"/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2498</TotalTime>
  <Words>1311</Words>
  <Application>Microsoft Office PowerPoint</Application>
  <PresentationFormat>On-screen Show (4:3)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</vt:lpstr>
      <vt:lpstr>Cambria Math</vt:lpstr>
      <vt:lpstr>Tahoma</vt:lpstr>
      <vt:lpstr>Times New Roman</vt:lpstr>
      <vt:lpstr>Global</vt:lpstr>
      <vt:lpstr>Machine Learning in Business 3rd Edition</vt:lpstr>
      <vt:lpstr>Background</vt:lpstr>
      <vt:lpstr>Applications</vt:lpstr>
      <vt:lpstr>Sentiment Analysis</vt:lpstr>
      <vt:lpstr>A trading strategy?</vt:lpstr>
      <vt:lpstr>Obtaining Labeled Data for Sentiment Analysis</vt:lpstr>
      <vt:lpstr>Pre-processing</vt:lpstr>
      <vt:lpstr>Bag-of-Words Model</vt:lpstr>
      <vt:lpstr>A Simple Approach</vt:lpstr>
      <vt:lpstr>Using ML</vt:lpstr>
      <vt:lpstr>Using Naïve Bayes Classifier (pages 202-206)</vt:lpstr>
      <vt:lpstr>Using Naïve Bayes Classifier continued</vt:lpstr>
      <vt:lpstr>Laplace Smoothing</vt:lpstr>
      <vt:lpstr>Other Algorithms</vt:lpstr>
      <vt:lpstr>Unigrams, bigrams, etc</vt:lpstr>
      <vt:lpstr>Information Retrieval</vt:lpstr>
      <vt:lpstr>Word Vectors</vt:lpstr>
      <vt:lpstr>Another application of NLP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subject>Machine Learning in Business</dc:subject>
  <dc:creator>hull</dc:creator>
  <cp:keywords>Chapter 7</cp:keywords>
  <dc:description>Copyright 2019 by John C. Hull. All Rights Reserved. Published 2019.</dc:description>
  <cp:lastModifiedBy>John Hull</cp:lastModifiedBy>
  <cp:revision>94</cp:revision>
  <dcterms:created xsi:type="dcterms:W3CDTF">2019-07-16T22:03:37Z</dcterms:created>
  <dcterms:modified xsi:type="dcterms:W3CDTF">2021-05-28T16:57:33Z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