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7" r:id="rId2"/>
    <p:sldId id="258" r:id="rId3"/>
    <p:sldId id="259" r:id="rId4"/>
    <p:sldId id="282" r:id="rId5"/>
    <p:sldId id="283" r:id="rId6"/>
    <p:sldId id="260" r:id="rId7"/>
    <p:sldId id="261" r:id="rId8"/>
    <p:sldId id="284" r:id="rId9"/>
    <p:sldId id="262" r:id="rId10"/>
    <p:sldId id="263" r:id="rId11"/>
    <p:sldId id="270" r:id="rId12"/>
    <p:sldId id="271" r:id="rId13"/>
    <p:sldId id="272" r:id="rId14"/>
    <p:sldId id="273" r:id="rId15"/>
    <p:sldId id="274" r:id="rId16"/>
    <p:sldId id="275" r:id="rId17"/>
    <p:sldId id="265" r:id="rId18"/>
    <p:sldId id="276" r:id="rId19"/>
    <p:sldId id="277" r:id="rId20"/>
    <p:sldId id="278" r:id="rId21"/>
    <p:sldId id="264" r:id="rId22"/>
    <p:sldId id="280" r:id="rId23"/>
    <p:sldId id="285" r:id="rId24"/>
    <p:sldId id="281" r:id="rId25"/>
    <p:sldId id="266" r:id="rId26"/>
    <p:sldId id="268" r:id="rId27"/>
    <p:sldId id="269" r:id="rId28"/>
    <p:sldId id="27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BB1B6-1245-4055-AD48-87DBF28023D4}" v="4" dt="2021-05-28T00:13:28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6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61ABB1B6-1245-4055-AD48-87DBF28023D4}"/>
    <pc:docChg chg="custSel modSld">
      <pc:chgData name="John Hull" userId="b3f65f64fa01e6a6" providerId="LiveId" clId="{61ABB1B6-1245-4055-AD48-87DBF28023D4}" dt="2021-05-28T00:14:03.525" v="44" actId="20577"/>
      <pc:docMkLst>
        <pc:docMk/>
      </pc:docMkLst>
      <pc:sldChg chg="modSp mod">
        <pc:chgData name="John Hull" userId="b3f65f64fa01e6a6" providerId="LiveId" clId="{61ABB1B6-1245-4055-AD48-87DBF28023D4}" dt="2021-05-28T00:14:03.525" v="44" actId="20577"/>
        <pc:sldMkLst>
          <pc:docMk/>
          <pc:sldMk cId="1070417923" sldId="257"/>
        </pc:sldMkLst>
        <pc:spChg chg="mod">
          <ac:chgData name="John Hull" userId="b3f65f64fa01e6a6" providerId="LiveId" clId="{61ABB1B6-1245-4055-AD48-87DBF28023D4}" dt="2021-05-28T00:14:03.525" v="44" actId="20577"/>
          <ac:spMkLst>
            <pc:docMk/>
            <pc:sldMk cId="1070417923" sldId="257"/>
            <ac:spMk id="2" creationId="{00000000-0000-0000-0000-000000000000}"/>
          </ac:spMkLst>
        </pc:spChg>
        <pc:spChg chg="mod">
          <ac:chgData name="John Hull" userId="b3f65f64fa01e6a6" providerId="LiveId" clId="{61ABB1B6-1245-4055-AD48-87DBF28023D4}" dt="2021-05-27T20:01:32.772" v="16" actId="1076"/>
          <ac:spMkLst>
            <pc:docMk/>
            <pc:sldMk cId="1070417923" sldId="257"/>
            <ac:spMk id="3" creationId="{00000000-0000-0000-0000-000000000000}"/>
          </ac:spMkLst>
        </pc:spChg>
        <pc:spChg chg="mod">
          <ac:chgData name="John Hull" userId="b3f65f64fa01e6a6" providerId="LiveId" clId="{61ABB1B6-1245-4055-AD48-87DBF28023D4}" dt="2021-05-27T20:55:00.083" v="25" actId="20577"/>
          <ac:spMkLst>
            <pc:docMk/>
            <pc:sldMk cId="1070417923" sldId="25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737DE-D05C-4C44-8A00-D2A740ADB3CA}" type="datetimeFigureOut">
              <a:rPr lang="en-CA" smtClean="0"/>
              <a:t>2021-05-27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006C-D4DB-423D-BF25-FF76C43831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60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8006C-D4DB-423D-BF25-FF76C43831F0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6204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8006C-D4DB-423D-BF25-FF76C43831F0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144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A076FCBE-B63B-43DF-A468-81E90E7D2850}" type="datetime1">
              <a:rPr lang="en-CA" smtClean="0"/>
              <a:t>2021-05-27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377D2847-26E2-4217-B0B5-65DF24A4E306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060C58-BD2B-4AAE-82D5-E6662150B587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FC6C3-A4E3-4EC6-B9A2-042CF2A2A2D5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AEF390-9662-4A06-B672-030303B08E90}" type="datetime1">
              <a:rPr lang="en-CA" smtClean="0"/>
              <a:t>2021-05-27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CBD53-24AC-4AFB-A91E-C263133A4D1D}" type="datetime1">
              <a:rPr lang="en-CA" smtClean="0"/>
              <a:t>2021-05-27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C807DF-871E-470C-8C7C-06BEC02BD862}" type="datetime1">
              <a:rPr lang="en-CA" smtClean="0"/>
              <a:t>2021-05-27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D4CD4A-2FE9-4104-995D-E327C6FC8DB1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43867D-E92A-4DE0-8945-F9CF68310760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A8EB37-439C-4DF7-94B2-9EF7787B3C10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DFB819-97C5-447A-8BE6-58C8FB106BE1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1CA211-19D8-4519-BB3F-5EBE550B55BA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407D82-535E-470B-B373-D21CB68F2245}" type="datetime1">
              <a:rPr lang="en-CA" smtClean="0"/>
              <a:t>2021-05-27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C376346-5DC3-40FB-A3CD-43243A37009B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17C30987-6D08-4BD1-A547-1D993EC84A33}" type="datetime1">
              <a:rPr lang="en-CA" smtClean="0"/>
              <a:t>2021-05-27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B2435DD8-BC4F-4C8E-9390-DF43692AEB8E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28800"/>
            <a:ext cx="6631632" cy="2362200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3600" dirty="0"/>
              <a:t>Machine Learning </a:t>
            </a:r>
            <a:r>
              <a:rPr lang="en-US" sz="3600"/>
              <a:t>in Business</a:t>
            </a:r>
            <a:r>
              <a:rPr lang="en-US" sz="3600" dirty="0"/>
              <a:t>, 3</a:t>
            </a:r>
            <a:r>
              <a:rPr lang="en-US" sz="3600" baseline="30000" dirty="0"/>
              <a:t>rd</a:t>
            </a:r>
            <a:r>
              <a:rPr lang="en-US" sz="3600" dirty="0"/>
              <a:t> Edition</a:t>
            </a:r>
            <a:br>
              <a:rPr lang="en-US" sz="4800" dirty="0"/>
            </a:br>
            <a:br>
              <a:rPr lang="en-US" sz="4800" dirty="0"/>
            </a:br>
            <a:endParaRPr lang="en-CA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7046" y="4365104"/>
            <a:ext cx="6797080" cy="1295400"/>
          </a:xfrm>
        </p:spPr>
        <p:txBody>
          <a:bodyPr/>
          <a:lstStyle/>
          <a:p>
            <a:r>
              <a:rPr lang="en-US" sz="3200" dirty="0"/>
              <a:t>Chapter 1: 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 in Business, 3</a:t>
            </a:r>
            <a:r>
              <a:rPr lang="en-US" baseline="30000" dirty="0"/>
              <a:t>rd</a:t>
            </a:r>
            <a:r>
              <a:rPr lang="en-US" dirty="0"/>
              <a:t> Ed. Copyright  © John C. Hull 2021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041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is a branch of AI</a:t>
            </a:r>
          </a:p>
          <a:p>
            <a:r>
              <a:rPr lang="en-US" dirty="0"/>
              <a:t>The idea underlying machine learning is that we give a computer program access to lots of data and let it learn about relationships between variables and make predictions </a:t>
            </a:r>
          </a:p>
          <a:p>
            <a:r>
              <a:rPr lang="en-US" dirty="0"/>
              <a:t>Some of the techniques of machine learning date back to the 1950s  but improvements in computer speeds and data storage costs have now made machine learning a practical tool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124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 several alternatives such as Python, R, </a:t>
            </a:r>
            <a:r>
              <a:rPr lang="en-US" dirty="0" err="1"/>
              <a:t>MatLab</a:t>
            </a:r>
            <a:r>
              <a:rPr lang="en-US" dirty="0"/>
              <a:t>, Spark, and Julia </a:t>
            </a:r>
          </a:p>
          <a:p>
            <a:r>
              <a:rPr lang="en-US" dirty="0"/>
              <a:t>Need ability to handle very large data sets and availability of packages that implement the algorithms.</a:t>
            </a:r>
          </a:p>
          <a:p>
            <a:r>
              <a:rPr lang="en-US" dirty="0"/>
              <a:t>Python seems to be winning at the moment</a:t>
            </a:r>
          </a:p>
          <a:p>
            <a:r>
              <a:rPr lang="en-US" dirty="0"/>
              <a:t>Libraries such as </a:t>
            </a:r>
            <a:r>
              <a:rPr lang="en-US" dirty="0" err="1"/>
              <a:t>Numpy</a:t>
            </a:r>
            <a:r>
              <a:rPr lang="en-US" dirty="0"/>
              <a:t>, Pandas, Scikit-Learn (</a:t>
            </a:r>
            <a:r>
              <a:rPr lang="en-US" dirty="0" err="1"/>
              <a:t>Sklearn</a:t>
            </a:r>
            <a:r>
              <a:rPr lang="en-US" dirty="0"/>
              <a:t>), and </a:t>
            </a:r>
            <a:r>
              <a:rPr lang="en-US" dirty="0" err="1"/>
              <a:t>Tensorflow</a:t>
            </a:r>
            <a:r>
              <a:rPr lang="en-US" dirty="0"/>
              <a:t> make it easy to handle large data sets and implement machine learning algorithms in Python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7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1F88-7843-41B2-82B7-9BC24224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Machine Learning vs.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B00F-3C3E-4EE9-ADCC-CFFF10F2C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Computers have been used to automate many business decisions (payroll, sending out invoices, summarizing sales </a:t>
            </a:r>
            <a:r>
              <a:rPr lang="en-CA"/>
              <a:t>by region,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r>
              <a:rPr lang="en-CA" dirty="0"/>
              <a:t>This is digitization: the third industrial revolution</a:t>
            </a:r>
          </a:p>
          <a:p>
            <a:r>
              <a:rPr lang="en-CA" dirty="0"/>
              <a:t>Machine learning is central to the fourth industrial revolution where computers are used to create intelligence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11982-40B6-439C-B692-D4A53A1E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1C98A-1C8C-4056-8127-3E1CC891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457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0322-8D21-48D9-BCA9-DECF9159B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Loan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A09C1-7E43-46DB-B513-E4FE9FC56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loan officers applied certain known rules we could automate their activities</a:t>
            </a:r>
          </a:p>
          <a:p>
            <a:r>
              <a:rPr lang="en-CA" dirty="0"/>
              <a:t>If we did not know the rules used, we could use ML to determine them</a:t>
            </a:r>
          </a:p>
          <a:p>
            <a:r>
              <a:rPr lang="en-CA" dirty="0"/>
              <a:t>But we could go one step further and use ML to improve upon the rules for accepting or rejecting loans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361D7-69C4-4C62-A25F-485E66FE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8ACED-12DF-442F-B81F-93C32848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883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Traditional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Means, SDs</a:t>
            </a:r>
          </a:p>
          <a:p>
            <a:r>
              <a:rPr lang="en-CA" dirty="0"/>
              <a:t>Probability distributions</a:t>
            </a:r>
          </a:p>
          <a:p>
            <a:r>
              <a:rPr lang="en-CA" dirty="0"/>
              <a:t>Significance tests</a:t>
            </a:r>
          </a:p>
          <a:p>
            <a:r>
              <a:rPr lang="en-CA" dirty="0"/>
              <a:t>Confidence intervals</a:t>
            </a:r>
          </a:p>
          <a:p>
            <a:r>
              <a:rPr lang="en-CA" dirty="0"/>
              <a:t>Linear regression</a:t>
            </a:r>
          </a:p>
          <a:p>
            <a:r>
              <a:rPr lang="en-CA" dirty="0" err="1"/>
              <a:t>etc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529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new world of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Huge data sets </a:t>
            </a:r>
          </a:p>
          <a:p>
            <a:r>
              <a:rPr lang="en-CA" dirty="0"/>
              <a:t>Fantastic improvements in computer processing speeds and data storage costs</a:t>
            </a:r>
          </a:p>
          <a:p>
            <a:r>
              <a:rPr lang="en-CA" dirty="0"/>
              <a:t>Machine learning tools are now feasible</a:t>
            </a:r>
          </a:p>
          <a:p>
            <a:r>
              <a:rPr lang="en-CA" dirty="0"/>
              <a:t>Can now develop non-linear prediction models, find patterns in data in ways that were not possible before, and develop multi-stage decision strategies</a:t>
            </a:r>
          </a:p>
          <a:p>
            <a:r>
              <a:rPr lang="en-CA" dirty="0"/>
              <a:t>New terminology: features, labels, activation functions, target, bias, supervised/unsupervised learning……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68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A99E-B876-4546-B814-17A38C78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2" y="930275"/>
            <a:ext cx="8574410" cy="1143000"/>
          </a:xfrm>
        </p:spPr>
        <p:txBody>
          <a:bodyPr/>
          <a:lstStyle/>
          <a:p>
            <a:r>
              <a:rPr lang="en-CA" sz="2800" dirty="0"/>
              <a:t>Traditional Statistics vs Machine Learning (Figure 1.1)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9760A-7264-46B6-ACC6-0C7815E1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77665-9B18-40E6-B3C3-54446C2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8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B90F2-C7CB-45BB-9567-8F8118A8947E}"/>
              </a:ext>
            </a:extLst>
          </p:cNvPr>
          <p:cNvSpPr txBox="1"/>
          <p:nvPr/>
        </p:nvSpPr>
        <p:spPr>
          <a:xfrm>
            <a:off x="1547664" y="2996952"/>
            <a:ext cx="2304256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Develop Hypothesis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51B84-7EA8-415B-8830-051D41B66A43}"/>
              </a:ext>
            </a:extLst>
          </p:cNvPr>
          <p:cNvSpPr txBox="1"/>
          <p:nvPr/>
        </p:nvSpPr>
        <p:spPr>
          <a:xfrm>
            <a:off x="1907704" y="4041827"/>
            <a:ext cx="1728192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Collect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1D4DD7-E319-4451-BA34-17C0CE91FB59}"/>
              </a:ext>
            </a:extLst>
          </p:cNvPr>
          <p:cNvSpPr txBox="1"/>
          <p:nvPr/>
        </p:nvSpPr>
        <p:spPr>
          <a:xfrm>
            <a:off x="1628080" y="5040706"/>
            <a:ext cx="2287440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Test Hypothesis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2ED46-F5CF-4D9C-A8A7-DFB97993A430}"/>
              </a:ext>
            </a:extLst>
          </p:cNvPr>
          <p:cNvSpPr txBox="1"/>
          <p:nvPr/>
        </p:nvSpPr>
        <p:spPr>
          <a:xfrm>
            <a:off x="5724128" y="2996952"/>
            <a:ext cx="1591072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n w="6350">
                  <a:noFill/>
                </a:ln>
              </a:rPr>
              <a:t>Collect</a:t>
            </a:r>
            <a:r>
              <a:rPr lang="en-CA" dirty="0"/>
              <a:t> </a:t>
            </a:r>
            <a:r>
              <a:rPr lang="en-CA" dirty="0">
                <a:ln w="6350">
                  <a:noFill/>
                </a:ln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0D22F-527C-429E-A776-8FE6A00CF037}"/>
              </a:ext>
            </a:extLst>
          </p:cNvPr>
          <p:cNvSpPr txBox="1"/>
          <p:nvPr/>
        </p:nvSpPr>
        <p:spPr>
          <a:xfrm>
            <a:off x="5797116" y="4062235"/>
            <a:ext cx="1512168" cy="6463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Try different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1BB45-D8AA-4669-81C0-003D100C73BC}"/>
              </a:ext>
            </a:extLst>
          </p:cNvPr>
          <p:cNvSpPr txBox="1"/>
          <p:nvPr/>
        </p:nvSpPr>
        <p:spPr>
          <a:xfrm>
            <a:off x="5228482" y="5404096"/>
            <a:ext cx="2943918" cy="6463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Find Patterns or Develop a Predictive Tool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A0DAEBA-46DF-45C9-B3B5-9C8D0CC7F79D}"/>
              </a:ext>
            </a:extLst>
          </p:cNvPr>
          <p:cNvSpPr/>
          <p:nvPr/>
        </p:nvSpPr>
        <p:spPr bwMode="auto">
          <a:xfrm>
            <a:off x="2457476" y="4413674"/>
            <a:ext cx="484632" cy="627032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CCD5B65-DEA6-4D7F-B9D1-97AC2B4F4356}"/>
              </a:ext>
            </a:extLst>
          </p:cNvPr>
          <p:cNvSpPr/>
          <p:nvPr/>
        </p:nvSpPr>
        <p:spPr bwMode="auto">
          <a:xfrm>
            <a:off x="2457476" y="3370940"/>
            <a:ext cx="484632" cy="673028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461632E-90EC-475C-81B5-3E71449A00E8}"/>
              </a:ext>
            </a:extLst>
          </p:cNvPr>
          <p:cNvSpPr/>
          <p:nvPr/>
        </p:nvSpPr>
        <p:spPr bwMode="auto">
          <a:xfrm>
            <a:off x="6254504" y="3388860"/>
            <a:ext cx="484632" cy="673028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90737EF-FAE0-4F45-B8FB-D5141FCEF107}"/>
              </a:ext>
            </a:extLst>
          </p:cNvPr>
          <p:cNvSpPr/>
          <p:nvPr/>
        </p:nvSpPr>
        <p:spPr bwMode="auto">
          <a:xfrm>
            <a:off x="6277348" y="4731068"/>
            <a:ext cx="484632" cy="673028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D315BE-D810-4994-88A0-9E09130B91D9}"/>
              </a:ext>
            </a:extLst>
          </p:cNvPr>
          <p:cNvSpPr txBox="1"/>
          <p:nvPr/>
        </p:nvSpPr>
        <p:spPr>
          <a:xfrm>
            <a:off x="2115401" y="2289849"/>
            <a:ext cx="180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CB041-BADA-4FBD-922E-E36E15B0659E}"/>
              </a:ext>
            </a:extLst>
          </p:cNvPr>
          <p:cNvSpPr txBox="1"/>
          <p:nvPr/>
        </p:nvSpPr>
        <p:spPr>
          <a:xfrm>
            <a:off x="5436096" y="228984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363276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4438"/>
            <a:ext cx="77724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Machine Learning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learning (find patterns)</a:t>
            </a:r>
          </a:p>
          <a:p>
            <a:r>
              <a:rPr lang="en-US" dirty="0"/>
              <a:t>Supervised learning (predict numerical value or classification)</a:t>
            </a:r>
          </a:p>
          <a:p>
            <a:r>
              <a:rPr lang="en-US" dirty="0"/>
              <a:t>Semi-supervised learning (only part of data has values for, or classification of, target)</a:t>
            </a:r>
          </a:p>
          <a:p>
            <a:r>
              <a:rPr lang="en-US" dirty="0"/>
              <a:t>Reinforcement learning (multi-stage decision making)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943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ML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Credit decisions</a:t>
            </a:r>
          </a:p>
          <a:p>
            <a:r>
              <a:rPr lang="en-US" dirty="0"/>
              <a:t>Classifying and understanding customers better</a:t>
            </a:r>
          </a:p>
          <a:p>
            <a:r>
              <a:rPr lang="en-US" dirty="0"/>
              <a:t>Portfolio management</a:t>
            </a:r>
          </a:p>
          <a:p>
            <a:r>
              <a:rPr lang="en-US" dirty="0"/>
              <a:t>Private equity</a:t>
            </a:r>
          </a:p>
          <a:p>
            <a:r>
              <a:rPr lang="en-US" dirty="0"/>
              <a:t>Language translation </a:t>
            </a:r>
          </a:p>
          <a:p>
            <a:r>
              <a:rPr lang="en-US" dirty="0"/>
              <a:t>Voice recognition</a:t>
            </a:r>
          </a:p>
          <a:p>
            <a:r>
              <a:rPr lang="en-US" dirty="0"/>
              <a:t>Biometrics</a:t>
            </a:r>
          </a:p>
          <a:p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198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Baby Data Training Set </a:t>
            </a:r>
            <a:r>
              <a:rPr lang="en-US" sz="2400" dirty="0"/>
              <a:t>(Salary as a function of age for a certain profession in a certain area) Table 1.1</a:t>
            </a:r>
            <a:br>
              <a:rPr lang="en-US" sz="2400" dirty="0"/>
            </a:br>
            <a:endParaRPr lang="en-CA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222859"/>
              </p:ext>
            </p:extLst>
          </p:nvPr>
        </p:nvGraphicFramePr>
        <p:xfrm>
          <a:off x="2123728" y="2276872"/>
          <a:ext cx="5112568" cy="30891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830">
                <a:tc>
                  <a:txBody>
                    <a:bodyPr/>
                    <a:lstStyle/>
                    <a:p>
                      <a:pPr marL="71755" marR="21590" indent="-54610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921385" algn="l"/>
                        </a:tabLst>
                      </a:pPr>
                      <a:r>
                        <a:rPr lang="en-US" sz="1100" dirty="0">
                          <a:effectLst/>
                        </a:rPr>
                        <a:t>Age (years)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Salary ($)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25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135,000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55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260,000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Book Antiqua"/>
                          <a:ea typeface="Times New Roman"/>
                          <a:cs typeface="Times New Roman"/>
                        </a:rPr>
                        <a:t>27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Book Antiqua"/>
                          <a:ea typeface="Times New Roman"/>
                          <a:cs typeface="Times New Roman"/>
                        </a:rPr>
                        <a:t>105,000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35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220,000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240,000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65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265,000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45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270,000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265,000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830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105,000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314700" y="31289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9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190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438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 (Figure 1.2)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60848"/>
            <a:ext cx="5832647" cy="36724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944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7998345" cy="1143000"/>
          </a:xfrm>
        </p:spPr>
        <p:txBody>
          <a:bodyPr/>
          <a:lstStyle/>
          <a:p>
            <a:r>
              <a:rPr lang="en-US" dirty="0"/>
              <a:t>A Good Fit, Figure 1.3 (Y = Salary, X = Age)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52936"/>
            <a:ext cx="5328592" cy="33005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3695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Out-of-Sample Validation Set (Table 1.2)</a:t>
            </a:r>
            <a:endParaRPr lang="en-CA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1379"/>
              </p:ext>
            </p:extLst>
          </p:nvPr>
        </p:nvGraphicFramePr>
        <p:xfrm>
          <a:off x="1259632" y="2204861"/>
          <a:ext cx="4944541" cy="36724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856">
                <a:tc>
                  <a:txBody>
                    <a:bodyPr/>
                    <a:lstStyle/>
                    <a:p>
                      <a:pPr marR="215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Age (years)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Salary ($)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166,000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26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78,000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Book Antiqua"/>
                          <a:ea typeface="Times New Roman"/>
                          <a:cs typeface="Times New Roman"/>
                        </a:rPr>
                        <a:t>58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Book Antiqua"/>
                          <a:ea typeface="Times New Roman"/>
                          <a:cs typeface="Times New Roman"/>
                        </a:rPr>
                        <a:t>310,000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29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260,000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27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33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140,000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61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220,000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27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86,000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856"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48</a:t>
                      </a:r>
                      <a:endParaRPr lang="en-CA" sz="120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6573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276,000</a:t>
                      </a:r>
                      <a:endParaRPr lang="en-CA" sz="1200" dirty="0">
                        <a:effectLst/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314700" y="32178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640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 for Validation Set (Figure 1.4)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15</a:t>
            </a:fld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313" y="2348880"/>
            <a:ext cx="5732887" cy="344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81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Fifth Order Polynomial Model Does Not Generalize Well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indent="-354013"/>
            <a:endParaRPr lang="en-US" sz="2400" dirty="0"/>
          </a:p>
          <a:p>
            <a:pPr marL="354013" indent="-354013"/>
            <a:r>
              <a:rPr lang="en-US" sz="2400" dirty="0"/>
              <a:t>The root mean squared error</a:t>
            </a:r>
            <a:r>
              <a:rPr lang="en-CA" sz="2400" dirty="0"/>
              <a:t> (</a:t>
            </a:r>
            <a:r>
              <a:rPr lang="en-CA" sz="2400" dirty="0" err="1"/>
              <a:t>rmse</a:t>
            </a:r>
            <a:r>
              <a:rPr lang="en-CA" sz="2400" dirty="0"/>
              <a:t>) for the training      data set is $12,902</a:t>
            </a:r>
          </a:p>
          <a:p>
            <a:r>
              <a:rPr lang="en-CA" sz="2400" dirty="0"/>
              <a:t> The </a:t>
            </a:r>
            <a:r>
              <a:rPr lang="en-CA" sz="2400" dirty="0" err="1"/>
              <a:t>rmse</a:t>
            </a:r>
            <a:r>
              <a:rPr lang="en-CA" sz="2400" dirty="0"/>
              <a:t> for the validation data set is $38,794</a:t>
            </a:r>
          </a:p>
          <a:p>
            <a:r>
              <a:rPr lang="en-CA" sz="2400" dirty="0"/>
              <a:t>  We conclude that the model </a:t>
            </a:r>
            <a:r>
              <a:rPr lang="en-CA" sz="2400" dirty="0" err="1"/>
              <a:t>overfits</a:t>
            </a:r>
            <a:r>
              <a:rPr lang="en-CA" sz="2400" dirty="0"/>
              <a:t> the data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8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ML Good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Divide data into three sets</a:t>
            </a:r>
          </a:p>
          <a:p>
            <a:pPr lvl="1"/>
            <a:r>
              <a:rPr lang="en-CA" dirty="0"/>
              <a:t>Training set</a:t>
            </a:r>
          </a:p>
          <a:p>
            <a:pPr lvl="1"/>
            <a:r>
              <a:rPr lang="en-CA" dirty="0"/>
              <a:t>Validation set</a:t>
            </a:r>
          </a:p>
          <a:p>
            <a:pPr lvl="1"/>
            <a:r>
              <a:rPr lang="en-CA" dirty="0"/>
              <a:t>Test set</a:t>
            </a:r>
          </a:p>
          <a:p>
            <a:r>
              <a:rPr lang="en-CA" dirty="0"/>
              <a:t>Develop different models using the training set and compare them using the validation set</a:t>
            </a:r>
          </a:p>
          <a:p>
            <a:r>
              <a:rPr lang="en-CA" dirty="0"/>
              <a:t>Rule of thumb: increase model complexity until model no longer generalizes well to the validation set</a:t>
            </a:r>
          </a:p>
          <a:p>
            <a:r>
              <a:rPr lang="en-CA" dirty="0"/>
              <a:t>The test set is used to provide a final out-of-sample indication of how well the chosen model 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771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574410" cy="1143000"/>
          </a:xfrm>
        </p:spPr>
        <p:txBody>
          <a:bodyPr/>
          <a:lstStyle/>
          <a:p>
            <a:r>
              <a:rPr lang="en-US" dirty="0"/>
              <a:t>Quadratic Model for Baby Data Set (Figure 1.5)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mtClean="0">
                        <a:latin typeface="Cambria Math"/>
                      </a:rPr>
                      <m:t>𝑌</m:t>
                    </m:r>
                    <m:r>
                      <a:rPr lang="en-US" smtClean="0">
                        <a:latin typeface="Cambria Math"/>
                      </a:rPr>
                      <m:t>=</m:t>
                    </m:r>
                    <m:r>
                      <a:rPr lang="en-US" smtClean="0">
                        <a:latin typeface="Cambria Math"/>
                      </a:rPr>
                      <m:t>𝑎</m:t>
                    </m:r>
                    <m:r>
                      <a:rPr lang="en-US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mtClean="0">
                        <a:latin typeface="Cambria Math"/>
                      </a:rPr>
                      <m:t>𝑋</m:t>
                    </m:r>
                    <m:r>
                      <a:rPr lang="en-US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mtClean="0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mtClean="0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636912"/>
            <a:ext cx="4824536" cy="32435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497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7998345" cy="1143000"/>
          </a:xfrm>
        </p:spPr>
        <p:txBody>
          <a:bodyPr/>
          <a:lstStyle/>
          <a:p>
            <a:r>
              <a:rPr lang="en-US" dirty="0"/>
              <a:t>Linear Model for Baby Data Set (Figure 1.6)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𝑌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052" y="2852936"/>
            <a:ext cx="4642639" cy="31127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4198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070353" cy="1143000"/>
          </a:xfrm>
        </p:spPr>
        <p:txBody>
          <a:bodyPr/>
          <a:lstStyle/>
          <a:p>
            <a:r>
              <a:rPr lang="en-US" dirty="0"/>
              <a:t>Summary of Results: </a:t>
            </a:r>
            <a:r>
              <a:rPr lang="en-US" sz="2800" dirty="0"/>
              <a:t>The linear model under-fits while the 5</a:t>
            </a:r>
            <a:r>
              <a:rPr lang="en-US" sz="2800" baseline="30000" dirty="0"/>
              <a:t>th</a:t>
            </a:r>
            <a:r>
              <a:rPr lang="en-US" sz="2800" dirty="0"/>
              <a:t> degree polynomial over-fits (Table 1.3)</a:t>
            </a:r>
            <a:endParaRPr lang="en-CA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18215"/>
              </p:ext>
            </p:extLst>
          </p:nvPr>
        </p:nvGraphicFramePr>
        <p:xfrm>
          <a:off x="1979712" y="2204864"/>
          <a:ext cx="5688631" cy="316835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2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6117">
                <a:tc>
                  <a:txBody>
                    <a:bodyPr/>
                    <a:lstStyle/>
                    <a:p>
                      <a:pPr marL="71755" marR="165735"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3495" marR="26035" indent="-2349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Polynomial of degree 5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9685" indent="-196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Quadratic model</a:t>
                      </a:r>
                      <a:endParaRPr lang="en-CA" sz="18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21590" indent="-47625"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51510" algn="l"/>
                        </a:tabLs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 model</a:t>
                      </a:r>
                      <a:endParaRPr lang="en-CA" sz="18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117">
                <a:tc>
                  <a:txBody>
                    <a:bodyPr/>
                    <a:lstStyle/>
                    <a:p>
                      <a:pPr marL="17145" marR="2159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set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412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12, 902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21590" indent="-196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32,932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21590" indent="-4762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49,731</a:t>
                      </a:r>
                      <a:endParaRPr lang="en-CA" sz="18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117">
                <a:tc>
                  <a:txBody>
                    <a:bodyPr/>
                    <a:lstStyle/>
                    <a:p>
                      <a:pPr marR="16573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 set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165735" indent="412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38,794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21590" indent="-1968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33,554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1755" marR="21590" indent="-4762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49,990</a:t>
                      </a:r>
                      <a:endParaRPr lang="en-CA" sz="18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7672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97631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CA" dirty="0"/>
              <a:t>Overfitting/</a:t>
            </a:r>
            <a:r>
              <a:rPr lang="en-CA" dirty="0" err="1"/>
              <a:t>Underfitting</a:t>
            </a:r>
            <a:r>
              <a:rPr lang="en-CA" dirty="0"/>
              <a:t>;</a:t>
            </a:r>
            <a:br>
              <a:rPr lang="en-CA" dirty="0"/>
            </a:br>
            <a:r>
              <a:rPr lang="en-CA" sz="2400" dirty="0"/>
              <a:t>Example: predicting salaries for people in a certain profession in a certain area (only 10 observations)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21</a:t>
            </a:fld>
            <a:endParaRPr lang="en-CA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58" y="2759967"/>
            <a:ext cx="2398283" cy="1811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151" y="2722754"/>
            <a:ext cx="2629545" cy="18488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506" y="2759967"/>
            <a:ext cx="2952587" cy="1870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2209" y="5027552"/>
            <a:ext cx="168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Overfitting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995" y="4990339"/>
            <a:ext cx="154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Underfitting</a:t>
            </a:r>
            <a:endParaRPr lang="en-CA" dirty="0"/>
          </a:p>
        </p:txBody>
      </p:sp>
      <p:sp>
        <p:nvSpPr>
          <p:cNvPr id="11" name="TextBox 10"/>
          <p:cNvSpPr txBox="1"/>
          <p:nvPr/>
        </p:nvSpPr>
        <p:spPr>
          <a:xfrm>
            <a:off x="6553200" y="4986832"/>
            <a:ext cx="1624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Best model?</a:t>
            </a:r>
          </a:p>
        </p:txBody>
      </p:sp>
    </p:spTree>
    <p:extLst>
      <p:ext uri="{BB962C8B-B14F-4D97-AF65-F5344CB8AC3E}">
        <p14:creationId xmlns:p14="http://schemas.microsoft.com/office/powerpoint/2010/main" val="3072148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574409" cy="1143000"/>
          </a:xfrm>
        </p:spPr>
        <p:txBody>
          <a:bodyPr/>
          <a:lstStyle/>
          <a:p>
            <a:r>
              <a:rPr lang="en-US" dirty="0"/>
              <a:t>Test Set Results for Quadratic Model (Table 1.4)</a:t>
            </a:r>
            <a:endParaRPr lang="en-CA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025875"/>
              </p:ext>
            </p:extLst>
          </p:nvPr>
        </p:nvGraphicFramePr>
        <p:xfrm>
          <a:off x="1115616" y="2135577"/>
          <a:ext cx="6192689" cy="258351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81336">
                  <a:extLst>
                    <a:ext uri="{9D8B030D-6E8A-4147-A177-3AD203B41FA5}">
                      <a16:colId xmlns:a16="http://schemas.microsoft.com/office/drawing/2014/main" val="4092191999"/>
                    </a:ext>
                  </a:extLst>
                </a:gridCol>
                <a:gridCol w="1670451">
                  <a:extLst>
                    <a:ext uri="{9D8B030D-6E8A-4147-A177-3AD203B41FA5}">
                      <a16:colId xmlns:a16="http://schemas.microsoft.com/office/drawing/2014/main" val="3123423520"/>
                    </a:ext>
                  </a:extLst>
                </a:gridCol>
                <a:gridCol w="1828733">
                  <a:extLst>
                    <a:ext uri="{9D8B030D-6E8A-4147-A177-3AD203B41FA5}">
                      <a16:colId xmlns:a16="http://schemas.microsoft.com/office/drawing/2014/main" val="18951537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1412769641"/>
                    </a:ext>
                  </a:extLst>
                </a:gridCol>
              </a:tblGrid>
              <a:tr h="357319">
                <a:tc>
                  <a:txBody>
                    <a:bodyPr/>
                    <a:lstStyle/>
                    <a:p>
                      <a:pPr marL="981075" indent="-98107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(years)</a:t>
                      </a:r>
                      <a:endParaRPr lang="en-CA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Salary ($)</a:t>
                      </a:r>
                      <a:endParaRPr lang="en-CA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Predicted salary ($)</a:t>
                      </a:r>
                      <a:endParaRPr lang="en-CA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1470025" indent="-147002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($)</a:t>
                      </a:r>
                      <a:endParaRPr lang="en-CA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2458127793"/>
                  </a:ext>
                </a:extLst>
              </a:tr>
              <a:tr h="200761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110,000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706120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113,172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1470025" indent="-147002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−3,172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163752544"/>
                  </a:ext>
                </a:extLst>
              </a:tr>
              <a:tr h="230272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278,000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279,589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−1,589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325524615"/>
                  </a:ext>
                </a:extLst>
              </a:tr>
              <a:tr h="207292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314,000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284163" indent="173038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284163" algn="l"/>
                        </a:tabLst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232,852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1470025" indent="-1470025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+83,148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664361767"/>
                  </a:ext>
                </a:extLst>
              </a:tr>
              <a:tr h="202526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302,000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264,620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+37,380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3839909258"/>
                  </a:ext>
                </a:extLst>
              </a:tr>
              <a:tr h="197760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261,000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245,457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+15,543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3637338467"/>
                  </a:ext>
                </a:extLst>
              </a:tr>
              <a:tr h="192994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227,000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249325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−22,325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1592802988"/>
                  </a:ext>
                </a:extLst>
              </a:tr>
              <a:tr h="188228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200,000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199,411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+589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594977644"/>
                  </a:ext>
                </a:extLst>
              </a:tr>
              <a:tr h="183462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233,000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270,380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−37,380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3299981499"/>
                  </a:ext>
                </a:extLst>
              </a:tr>
              <a:tr h="250704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311,000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273,883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−37,117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2715555744"/>
                  </a:ext>
                </a:extLst>
              </a:tr>
              <a:tr h="229920"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  <a:tabLst>
                          <a:tab pos="383540" algn="l"/>
                          <a:tab pos="473710" algn="l"/>
                          <a:tab pos="504825" algn="l"/>
                        </a:tabLs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298,000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277,625</a:t>
                      </a:r>
                      <a:endParaRPr lang="en-CA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tc>
                  <a:txBody>
                    <a:bodyPr/>
                    <a:lstStyle/>
                    <a:p>
                      <a:pPr marL="457200" indent="-457200"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+20,375</a:t>
                      </a:r>
                      <a:endParaRPr lang="en-CA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7152" marR="47152" marT="0" marB="0"/>
                </a:tc>
                <a:extLst>
                  <a:ext uri="{0D108BD9-81ED-4DB2-BD59-A6C34878D82A}">
                    <a16:rowId xmlns:a16="http://schemas.microsoft.com/office/drawing/2014/main" val="3952830428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22</a:t>
            </a:fld>
            <a:endParaRPr lang="en-CA"/>
          </a:p>
        </p:txBody>
      </p:sp>
      <p:sp>
        <p:nvSpPr>
          <p:cNvPr id="8" name="TextBox 7"/>
          <p:cNvSpPr txBox="1"/>
          <p:nvPr/>
        </p:nvSpPr>
        <p:spPr>
          <a:xfrm>
            <a:off x="2771800" y="515251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SD of error is $34,273</a:t>
            </a:r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752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5A83-F292-46E5-A7CF-7C4B29AC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Bias-variance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F5E6F-725B-454F-90E4-BDF84C2B4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Bias refers to error caused by underfitting</a:t>
            </a:r>
          </a:p>
          <a:p>
            <a:r>
              <a:rPr lang="en-CA" dirty="0"/>
              <a:t>Variance refers to errors caused by overfitting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49C0A-BB99-41CD-B7B1-8F32626F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FCFE1-3C94-496F-82A2-D917DF0D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9891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Pattern of Errors for Training Set and Validation Set (Figure 1.7)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24</a:t>
            </a:fld>
            <a:endParaRPr lang="en-C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29" y="2452140"/>
            <a:ext cx="7368340" cy="335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11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Cleaning(page 16-17)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Dealing with inconsistent recording</a:t>
            </a:r>
          </a:p>
          <a:p>
            <a:r>
              <a:rPr lang="en-CA" dirty="0"/>
              <a:t>Removing unwanted observations</a:t>
            </a:r>
          </a:p>
          <a:p>
            <a:r>
              <a:rPr lang="en-CA" dirty="0"/>
              <a:t>Removing duplicates</a:t>
            </a:r>
          </a:p>
          <a:p>
            <a:r>
              <a:rPr lang="en-CA" dirty="0"/>
              <a:t>Investigating outliers</a:t>
            </a:r>
          </a:p>
          <a:p>
            <a:r>
              <a:rPr lang="en-CA" dirty="0"/>
              <a:t>Dealing with missing items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1261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359" y="1045495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CA" dirty="0"/>
              <a:t>Bayes Theorem </a:t>
            </a:r>
            <a:r>
              <a:rPr lang="en-CA" sz="2800" dirty="0"/>
              <a:t>(useful when we want an uncertainty estimate as well as just a prediction)</a:t>
            </a:r>
            <a:br>
              <a:rPr lang="en-CA" sz="2800" dirty="0"/>
            </a:br>
            <a:endParaRPr lang="en-CA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 txBox="1">
                <a:spLocks noGrp="1"/>
              </p:cNvSpPr>
              <p:nvPr>
                <p:ph idx="1"/>
              </p:nvPr>
            </p:nvSpPr>
            <p:spPr>
              <a:xfrm>
                <a:off x="2350151" y="2294683"/>
                <a:ext cx="3168352" cy="1173809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CA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Content Placeholder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50151" y="2294683"/>
                <a:ext cx="3168352" cy="11738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26</a:t>
            </a:fld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388019" y="3239503"/>
            <a:ext cx="709261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Example: We observe that 90% of fraudulent transactions are for large amounts late in the day. Also 3% of transactions are for large amounts late in the day and 1% of transactions are fraudulent </a:t>
            </a:r>
          </a:p>
          <a:p>
            <a:endParaRPr lang="en-CA" sz="1350" dirty="0"/>
          </a:p>
          <a:p>
            <a:endParaRPr lang="en-CA" sz="135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382794"/>
              </p:ext>
            </p:extLst>
          </p:nvPr>
        </p:nvGraphicFramePr>
        <p:xfrm>
          <a:off x="1190625" y="4529138"/>
          <a:ext cx="63166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78160" imgH="444240" progId="Equation.DSMT4">
                  <p:embed/>
                </p:oleObj>
              </mc:Choice>
              <mc:Fallback>
                <p:oleObj name="Equation" r:id="rId4" imgW="4178160" imgH="4442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0625" y="4529138"/>
                        <a:ext cx="6316663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2526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77" y="1133476"/>
            <a:ext cx="7772400" cy="1143000"/>
          </a:xfrm>
        </p:spPr>
        <p:txBody>
          <a:bodyPr>
            <a:normAutofit/>
          </a:bodyPr>
          <a:lstStyle/>
          <a:p>
            <a:r>
              <a:rPr lang="en-CA" dirty="0"/>
              <a:t>Bayes can be counterintuitive</a:t>
            </a:r>
            <a:br>
              <a:rPr lang="en-CA" dirty="0"/>
            </a:b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1844824"/>
                <a:ext cx="8208912" cy="4114800"/>
              </a:xfrm>
            </p:spPr>
            <p:txBody>
              <a:bodyPr/>
              <a:lstStyle/>
              <a:p>
                <a:r>
                  <a:rPr lang="en-CA" sz="2000" dirty="0"/>
                  <a:t>One person in ten thousand has a certain disease</a:t>
                </a:r>
              </a:p>
              <a:p>
                <a:r>
                  <a:rPr lang="en-CA" sz="2000" dirty="0"/>
                  <a:t>A test is 99% accurate (i.e., if person has the disease the test gets this right 99% of the time; similarly when the person does not have the disease the test is right 99% of the time)</a:t>
                </a:r>
              </a:p>
              <a:p>
                <a:r>
                  <a:rPr lang="en-CA" sz="2000" dirty="0"/>
                  <a:t>You test positive</a:t>
                </a:r>
              </a:p>
              <a:p>
                <a:r>
                  <a:rPr lang="en-CA" sz="2000" dirty="0"/>
                  <a:t>What is the chance that you have the disease?</a:t>
                </a:r>
              </a:p>
              <a:p>
                <a:r>
                  <a:rPr lang="en-US" sz="2000" i="1" dirty="0">
                    <a:latin typeface="+mj-lt"/>
                  </a:rPr>
                  <a:t>X</a:t>
                </a:r>
                <a:r>
                  <a:rPr lang="en-US" sz="2000" dirty="0"/>
                  <a:t>=test positive, </a:t>
                </a:r>
                <a:r>
                  <a:rPr lang="en-US" sz="2000" i="1" dirty="0">
                    <a:latin typeface="+mj-lt"/>
                  </a:rPr>
                  <a:t>Y</a:t>
                </a:r>
                <a:r>
                  <a:rPr lang="en-US" sz="2000" dirty="0"/>
                  <a:t>=has disease,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000" dirty="0"/>
                  <a:t>= does not have disease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=0.99; 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=0.0001</m:t>
                    </m:r>
                  </m:oMath>
                </a14:m>
                <a:endParaRPr lang="en-CA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=0.99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×0.0001+0.01×0.9999=0.0101</m:t>
                    </m:r>
                  </m:oMath>
                </a14:m>
                <a:endParaRPr lang="en-US" sz="2000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0.99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×0.0001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0.0101</m:t>
                        </m:r>
                      </m:den>
                    </m:f>
                    <m:r>
                      <a:rPr lang="en-US" sz="2000" b="0" i="0" smtClean="0">
                        <a:latin typeface="Cambria Math"/>
                      </a:rPr>
                      <m:t>=0.0098</m:t>
                    </m:r>
                  </m:oMath>
                </a14:m>
                <a:endParaRPr lang="en-CA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1844824"/>
                <a:ext cx="8208912" cy="4114800"/>
              </a:xfrm>
              <a:blipFill rotWithShape="1">
                <a:blip r:embed="rId2"/>
                <a:stretch>
                  <a:fillRect t="-5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19672" y="6237312"/>
            <a:ext cx="5029200" cy="457200"/>
          </a:xfrm>
        </p:spPr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1902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Terminology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  <a:p>
            <a:r>
              <a:rPr lang="en-US" dirty="0"/>
              <a:t>Target</a:t>
            </a:r>
          </a:p>
          <a:p>
            <a:r>
              <a:rPr lang="en-US" dirty="0"/>
              <a:t>Labels</a:t>
            </a:r>
          </a:p>
          <a:p>
            <a:r>
              <a:rPr lang="en-US" dirty="0"/>
              <a:t>Supervised learning</a:t>
            </a:r>
          </a:p>
          <a:p>
            <a:r>
              <a:rPr lang="en-US" dirty="0"/>
              <a:t>Unsupervised learning</a:t>
            </a:r>
          </a:p>
          <a:p>
            <a:r>
              <a:rPr lang="en-US" dirty="0"/>
              <a:t>Semi-supervised learning</a:t>
            </a:r>
          </a:p>
          <a:p>
            <a:r>
              <a:rPr lang="en-US" dirty="0"/>
              <a:t>Reinforcement learning</a:t>
            </a:r>
          </a:p>
          <a:p>
            <a:r>
              <a:rPr lang="en-US" dirty="0"/>
              <a:t>And more </a:t>
            </a:r>
            <a:r>
              <a:rPr lang="en-US"/>
              <a:t>to come..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5DD8-BC4F-4C8E-9390-DF43692AEB8E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657151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5F875D-86E4-4DF1-AE75-50D51EAD5FD4}"/>
</file>

<file path=customXml/itemProps2.xml><?xml version="1.0" encoding="utf-8"?>
<ds:datastoreItem xmlns:ds="http://schemas.openxmlformats.org/officeDocument/2006/customXml" ds:itemID="{F6295C0E-B947-4013-AA9B-FA61C81D9711}"/>
</file>

<file path=customXml/itemProps3.xml><?xml version="1.0" encoding="utf-8"?>
<ds:datastoreItem xmlns:ds="http://schemas.openxmlformats.org/officeDocument/2006/customXml" ds:itemID="{417E3CDC-E4A4-4A1D-B637-1D3AD1DF0FE3}"/>
</file>

<file path=docProps/app.xml><?xml version="1.0" encoding="utf-8"?>
<Properties xmlns="http://schemas.openxmlformats.org/officeDocument/2006/extended-properties" xmlns:vt="http://schemas.openxmlformats.org/officeDocument/2006/docPropsVTypes">
  <Template>Riskmathics_workshop (1)</Template>
  <TotalTime>1196</TotalTime>
  <Words>1477</Words>
  <Application>Microsoft Office PowerPoint</Application>
  <PresentationFormat>On-screen Show (4:3)</PresentationFormat>
  <Paragraphs>277</Paragraphs>
  <Slides>28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Book Antiqua</vt:lpstr>
      <vt:lpstr>Calibri</vt:lpstr>
      <vt:lpstr>Cambria Math</vt:lpstr>
      <vt:lpstr>Tahoma</vt:lpstr>
      <vt:lpstr>Times New Roman</vt:lpstr>
      <vt:lpstr>Global</vt:lpstr>
      <vt:lpstr>Equation</vt:lpstr>
      <vt:lpstr>  Machine Learning in Business, 3rd Edition  </vt:lpstr>
      <vt:lpstr>What is Machine Learning</vt:lpstr>
      <vt:lpstr>Software</vt:lpstr>
      <vt:lpstr>Machine Learning vs. Automation</vt:lpstr>
      <vt:lpstr>Example: Loan Applications</vt:lpstr>
      <vt:lpstr>Traditional statistics</vt:lpstr>
      <vt:lpstr>The new world of statistics</vt:lpstr>
      <vt:lpstr>Traditional Statistics vs Machine Learning (Figure 1.1)</vt:lpstr>
      <vt:lpstr>Types of Machine Learning </vt:lpstr>
      <vt:lpstr>Applications of ML</vt:lpstr>
      <vt:lpstr>A Baby Data Training Set (Salary as a function of age for a certain profession in a certain area) Table 1.1 </vt:lpstr>
      <vt:lpstr>Scatter plot (Figure 1.2)</vt:lpstr>
      <vt:lpstr>A Good Fit, Figure 1.3 (Y = Salary, X = Age)</vt:lpstr>
      <vt:lpstr>An Out-of-Sample Validation Set (Table 1.2)</vt:lpstr>
      <vt:lpstr>Scatter Plot for Validation Set (Figure 1.4)</vt:lpstr>
      <vt:lpstr>The Fifth Order Polynomial Model Does Not Generalize Well</vt:lpstr>
      <vt:lpstr>ML Good Practice</vt:lpstr>
      <vt:lpstr>Quadratic Model for Baby Data Set (Figure 1.5)</vt:lpstr>
      <vt:lpstr>Linear Model for Baby Data Set (Figure 1.6)</vt:lpstr>
      <vt:lpstr>Summary of Results: The linear model under-fits while the 5th degree polynomial over-fits (Table 1.3)</vt:lpstr>
      <vt:lpstr>Overfitting/Underfitting; Example: predicting salaries for people in a certain profession in a certain area (only 10 observations)</vt:lpstr>
      <vt:lpstr>Test Set Results for Quadratic Model (Table 1.4)</vt:lpstr>
      <vt:lpstr>Bias-variance trade-off</vt:lpstr>
      <vt:lpstr>Typical Pattern of Errors for Training Set and Validation Set (Figure 1.7)</vt:lpstr>
      <vt:lpstr>Data Cleaning(page 16-17)</vt:lpstr>
      <vt:lpstr>Bayes Theorem (useful when we want an uncertainty estimate as well as just a prediction) </vt:lpstr>
      <vt:lpstr>Bayes can be counterintuitive </vt:lpstr>
      <vt:lpstr>The Terminology</vt:lpstr>
    </vt:vector>
  </TitlesOfParts>
  <Company>Joseph L. Rotman School of Management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Machine Learning in Business</dc:subject>
  <dc:creator>hull</dc:creator>
  <cp:keywords>Chapter 1</cp:keywords>
  <dc:description>Copyright 2019 by John C. Hull. All Rights Reserved. Published 2019</dc:description>
  <cp:lastModifiedBy>John Hull</cp:lastModifiedBy>
  <cp:revision>36</cp:revision>
  <dcterms:created xsi:type="dcterms:W3CDTF">2019-07-16T00:32:32Z</dcterms:created>
  <dcterms:modified xsi:type="dcterms:W3CDTF">2021-05-28T00:14:06Z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