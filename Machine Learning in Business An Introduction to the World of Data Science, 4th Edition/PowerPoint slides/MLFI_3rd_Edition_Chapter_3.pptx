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sldIdLst>
    <p:sldId id="256" r:id="rId2"/>
    <p:sldId id="258" r:id="rId3"/>
    <p:sldId id="259" r:id="rId4"/>
    <p:sldId id="292" r:id="rId5"/>
    <p:sldId id="260" r:id="rId6"/>
    <p:sldId id="300" r:id="rId7"/>
    <p:sldId id="301" r:id="rId8"/>
    <p:sldId id="299" r:id="rId9"/>
    <p:sldId id="262" r:id="rId10"/>
    <p:sldId id="263" r:id="rId11"/>
    <p:sldId id="264" r:id="rId12"/>
    <p:sldId id="284" r:id="rId13"/>
    <p:sldId id="285" r:id="rId14"/>
    <p:sldId id="286" r:id="rId15"/>
    <p:sldId id="287" r:id="rId16"/>
    <p:sldId id="288" r:id="rId17"/>
    <p:sldId id="289" r:id="rId18"/>
    <p:sldId id="296" r:id="rId19"/>
    <p:sldId id="265" r:id="rId20"/>
    <p:sldId id="266" r:id="rId21"/>
    <p:sldId id="267" r:id="rId22"/>
    <p:sldId id="268" r:id="rId23"/>
    <p:sldId id="297" r:id="rId24"/>
    <p:sldId id="290" r:id="rId25"/>
    <p:sldId id="293" r:id="rId26"/>
    <p:sldId id="291" r:id="rId27"/>
    <p:sldId id="271" r:id="rId28"/>
    <p:sldId id="274" r:id="rId29"/>
    <p:sldId id="278" r:id="rId30"/>
    <p:sldId id="294" r:id="rId31"/>
    <p:sldId id="295" r:id="rId32"/>
    <p:sldId id="280" r:id="rId33"/>
    <p:sldId id="281" r:id="rId34"/>
    <p:sldId id="282" r:id="rId35"/>
    <p:sldId id="283" r:id="rId36"/>
    <p:sldId id="298" r:id="rId37"/>
    <p:sldId id="269"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6A38D2-2353-4801-AD37-889B5970624C}" v="69" dt="2021-05-27T20:54:00.6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1260" y="7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47"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48"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Hull" userId="b3f65f64fa01e6a6" providerId="LiveId" clId="{EF6A38D2-2353-4801-AD37-889B5970624C}"/>
    <pc:docChg chg="undo custSel modSld">
      <pc:chgData name="John Hull" userId="b3f65f64fa01e6a6" providerId="LiveId" clId="{EF6A38D2-2353-4801-AD37-889B5970624C}" dt="2021-05-28T00:12:12.456" v="770" actId="20577"/>
      <pc:docMkLst>
        <pc:docMk/>
      </pc:docMkLst>
      <pc:sldChg chg="modSp mod">
        <pc:chgData name="John Hull" userId="b3f65f64fa01e6a6" providerId="LiveId" clId="{EF6A38D2-2353-4801-AD37-889B5970624C}" dt="2021-05-28T00:12:12.456" v="770" actId="20577"/>
        <pc:sldMkLst>
          <pc:docMk/>
          <pc:sldMk cId="2609102905" sldId="256"/>
        </pc:sldMkLst>
        <pc:spChg chg="mod">
          <ac:chgData name="John Hull" userId="b3f65f64fa01e6a6" providerId="LiveId" clId="{EF6A38D2-2353-4801-AD37-889B5970624C}" dt="2021-05-28T00:12:12.456" v="770" actId="20577"/>
          <ac:spMkLst>
            <pc:docMk/>
            <pc:sldMk cId="2609102905" sldId="256"/>
            <ac:spMk id="2" creationId="{00000000-0000-0000-0000-000000000000}"/>
          </ac:spMkLst>
        </pc:spChg>
        <pc:spChg chg="mod">
          <ac:chgData name="John Hull" userId="b3f65f64fa01e6a6" providerId="LiveId" clId="{EF6A38D2-2353-4801-AD37-889B5970624C}" dt="2021-05-27T20:20:34.753" v="40" actId="20577"/>
          <ac:spMkLst>
            <pc:docMk/>
            <pc:sldMk cId="2609102905" sldId="256"/>
            <ac:spMk id="3" creationId="{00000000-0000-0000-0000-000000000000}"/>
          </ac:spMkLst>
        </pc:spChg>
      </pc:sldChg>
      <pc:sldChg chg="modSp mod">
        <pc:chgData name="John Hull" userId="b3f65f64fa01e6a6" providerId="LiveId" clId="{EF6A38D2-2353-4801-AD37-889B5970624C}" dt="2021-05-27T20:32:23.458" v="279" actId="313"/>
        <pc:sldMkLst>
          <pc:docMk/>
          <pc:sldMk cId="1848743840" sldId="271"/>
        </pc:sldMkLst>
        <pc:spChg chg="mod">
          <ac:chgData name="John Hull" userId="b3f65f64fa01e6a6" providerId="LiveId" clId="{EF6A38D2-2353-4801-AD37-889B5970624C}" dt="2021-05-27T20:32:23.458" v="279" actId="313"/>
          <ac:spMkLst>
            <pc:docMk/>
            <pc:sldMk cId="1848743840" sldId="271"/>
            <ac:spMk id="3" creationId="{00000000-0000-0000-0000-000000000000}"/>
          </ac:spMkLst>
        </pc:spChg>
      </pc:sldChg>
      <pc:sldChg chg="modSp mod">
        <pc:chgData name="John Hull" userId="b3f65f64fa01e6a6" providerId="LiveId" clId="{EF6A38D2-2353-4801-AD37-889B5970624C}" dt="2021-05-27T20:34:12.404" v="336" actId="20577"/>
        <pc:sldMkLst>
          <pc:docMk/>
          <pc:sldMk cId="3815630948" sldId="274"/>
        </pc:sldMkLst>
        <pc:graphicFrameChg chg="modGraphic">
          <ac:chgData name="John Hull" userId="b3f65f64fa01e6a6" providerId="LiveId" clId="{EF6A38D2-2353-4801-AD37-889B5970624C}" dt="2021-05-27T20:34:12.404" v="336" actId="20577"/>
          <ac:graphicFrameMkLst>
            <pc:docMk/>
            <pc:sldMk cId="3815630948" sldId="274"/>
            <ac:graphicFrameMk id="7" creationId="{00000000-0000-0000-0000-000000000000}"/>
          </ac:graphicFrameMkLst>
        </pc:graphicFrameChg>
      </pc:sldChg>
      <pc:sldChg chg="modSp mod">
        <pc:chgData name="John Hull" userId="b3f65f64fa01e6a6" providerId="LiveId" clId="{EF6A38D2-2353-4801-AD37-889B5970624C}" dt="2021-05-27T20:36:06.069" v="379" actId="20577"/>
        <pc:sldMkLst>
          <pc:docMk/>
          <pc:sldMk cId="1601163914" sldId="278"/>
        </pc:sldMkLst>
        <pc:spChg chg="mod">
          <ac:chgData name="John Hull" userId="b3f65f64fa01e6a6" providerId="LiveId" clId="{EF6A38D2-2353-4801-AD37-889B5970624C}" dt="2021-05-27T20:35:54.332" v="378" actId="20577"/>
          <ac:spMkLst>
            <pc:docMk/>
            <pc:sldMk cId="1601163914" sldId="278"/>
            <ac:spMk id="2" creationId="{00000000-0000-0000-0000-000000000000}"/>
          </ac:spMkLst>
        </pc:spChg>
        <pc:spChg chg="mod">
          <ac:chgData name="John Hull" userId="b3f65f64fa01e6a6" providerId="LiveId" clId="{EF6A38D2-2353-4801-AD37-889B5970624C}" dt="2021-05-27T20:36:06.069" v="379" actId="20577"/>
          <ac:spMkLst>
            <pc:docMk/>
            <pc:sldMk cId="1601163914" sldId="278"/>
            <ac:spMk id="3" creationId="{00000000-0000-0000-0000-000000000000}"/>
          </ac:spMkLst>
        </pc:spChg>
      </pc:sldChg>
      <pc:sldChg chg="modSp mod">
        <pc:chgData name="John Hull" userId="b3f65f64fa01e6a6" providerId="LiveId" clId="{EF6A38D2-2353-4801-AD37-889B5970624C}" dt="2021-05-27T20:44:34.549" v="738" actId="20577"/>
        <pc:sldMkLst>
          <pc:docMk/>
          <pc:sldMk cId="2881984917" sldId="281"/>
        </pc:sldMkLst>
        <pc:graphicFrameChg chg="modGraphic">
          <ac:chgData name="John Hull" userId="b3f65f64fa01e6a6" providerId="LiveId" clId="{EF6A38D2-2353-4801-AD37-889B5970624C}" dt="2021-05-27T20:44:34.549" v="738" actId="20577"/>
          <ac:graphicFrameMkLst>
            <pc:docMk/>
            <pc:sldMk cId="2881984917" sldId="281"/>
            <ac:graphicFrameMk id="7" creationId="{00000000-0000-0000-0000-000000000000}"/>
          </ac:graphicFrameMkLst>
        </pc:graphicFrameChg>
      </pc:sldChg>
      <pc:sldChg chg="delSp modSp mod">
        <pc:chgData name="John Hull" userId="b3f65f64fa01e6a6" providerId="LiveId" clId="{EF6A38D2-2353-4801-AD37-889B5970624C}" dt="2021-05-27T20:52:09.521" v="741" actId="14100"/>
        <pc:sldMkLst>
          <pc:docMk/>
          <pc:sldMk cId="1322356644" sldId="282"/>
        </pc:sldMkLst>
        <pc:picChg chg="del">
          <ac:chgData name="John Hull" userId="b3f65f64fa01e6a6" providerId="LiveId" clId="{EF6A38D2-2353-4801-AD37-889B5970624C}" dt="2021-05-27T20:51:53.112" v="739" actId="478"/>
          <ac:picMkLst>
            <pc:docMk/>
            <pc:sldMk cId="1322356644" sldId="282"/>
            <ac:picMk id="6" creationId="{00000000-0000-0000-0000-000000000000}"/>
          </ac:picMkLst>
        </pc:picChg>
        <pc:picChg chg="mod">
          <ac:chgData name="John Hull" userId="b3f65f64fa01e6a6" providerId="LiveId" clId="{EF6A38D2-2353-4801-AD37-889B5970624C}" dt="2021-05-27T20:52:09.521" v="741" actId="14100"/>
          <ac:picMkLst>
            <pc:docMk/>
            <pc:sldMk cId="1322356644" sldId="282"/>
            <ac:picMk id="7" creationId="{CFE964C7-B138-4F1A-9270-EDB135181B82}"/>
          </ac:picMkLst>
        </pc:picChg>
      </pc:sldChg>
      <pc:sldChg chg="modSp mod">
        <pc:chgData name="John Hull" userId="b3f65f64fa01e6a6" providerId="LiveId" clId="{EF6A38D2-2353-4801-AD37-889B5970624C}" dt="2021-05-27T20:52:38.861" v="749" actId="20577"/>
        <pc:sldMkLst>
          <pc:docMk/>
          <pc:sldMk cId="4175390974" sldId="283"/>
        </pc:sldMkLst>
        <pc:spChg chg="mod">
          <ac:chgData name="John Hull" userId="b3f65f64fa01e6a6" providerId="LiveId" clId="{EF6A38D2-2353-4801-AD37-889B5970624C}" dt="2021-05-27T20:52:38.861" v="749" actId="20577"/>
          <ac:spMkLst>
            <pc:docMk/>
            <pc:sldMk cId="4175390974" sldId="283"/>
            <ac:spMk id="3" creationId="{00000000-0000-0000-0000-000000000000}"/>
          </ac:spMkLst>
        </pc:spChg>
      </pc:sldChg>
      <pc:sldChg chg="modSp mod">
        <pc:chgData name="John Hull" userId="b3f65f64fa01e6a6" providerId="LiveId" clId="{EF6A38D2-2353-4801-AD37-889B5970624C}" dt="2021-05-27T20:28:15.866" v="117" actId="20577"/>
        <pc:sldMkLst>
          <pc:docMk/>
          <pc:sldMk cId="3347364331" sldId="291"/>
        </pc:sldMkLst>
        <pc:spChg chg="mod">
          <ac:chgData name="John Hull" userId="b3f65f64fa01e6a6" providerId="LiveId" clId="{EF6A38D2-2353-4801-AD37-889B5970624C}" dt="2021-05-27T20:28:15.866" v="117" actId="20577"/>
          <ac:spMkLst>
            <pc:docMk/>
            <pc:sldMk cId="3347364331" sldId="291"/>
            <ac:spMk id="3" creationId="{00000000-0000-0000-0000-000000000000}"/>
          </ac:spMkLst>
        </pc:spChg>
      </pc:sldChg>
      <pc:sldChg chg="modSp mod">
        <pc:chgData name="John Hull" userId="b3f65f64fa01e6a6" providerId="LiveId" clId="{EF6A38D2-2353-4801-AD37-889B5970624C}" dt="2021-05-27T20:38:40.582" v="481" actId="20577"/>
        <pc:sldMkLst>
          <pc:docMk/>
          <pc:sldMk cId="3374240440" sldId="295"/>
        </pc:sldMkLst>
        <pc:spChg chg="mod">
          <ac:chgData name="John Hull" userId="b3f65f64fa01e6a6" providerId="LiveId" clId="{EF6A38D2-2353-4801-AD37-889B5970624C}" dt="2021-05-27T20:37:25.623" v="415" actId="2711"/>
          <ac:spMkLst>
            <pc:docMk/>
            <pc:sldMk cId="3374240440" sldId="295"/>
            <ac:spMk id="7" creationId="{00000000-0000-0000-0000-000000000000}"/>
          </ac:spMkLst>
        </pc:spChg>
        <pc:graphicFrameChg chg="modGraphic">
          <ac:chgData name="John Hull" userId="b3f65f64fa01e6a6" providerId="LiveId" clId="{EF6A38D2-2353-4801-AD37-889B5970624C}" dt="2021-05-27T20:37:00.550" v="414" actId="20577"/>
          <ac:graphicFrameMkLst>
            <pc:docMk/>
            <pc:sldMk cId="3374240440" sldId="295"/>
            <ac:graphicFrameMk id="3" creationId="{00000000-0000-0000-0000-000000000000}"/>
          </ac:graphicFrameMkLst>
        </pc:graphicFrameChg>
        <pc:graphicFrameChg chg="modGraphic">
          <ac:chgData name="John Hull" userId="b3f65f64fa01e6a6" providerId="LiveId" clId="{EF6A38D2-2353-4801-AD37-889B5970624C}" dt="2021-05-27T20:38:11.001" v="453" actId="20577"/>
          <ac:graphicFrameMkLst>
            <pc:docMk/>
            <pc:sldMk cId="3374240440" sldId="295"/>
            <ac:graphicFrameMk id="4" creationId="{00000000-0000-0000-0000-000000000000}"/>
          </ac:graphicFrameMkLst>
        </pc:graphicFrameChg>
        <pc:graphicFrameChg chg="modGraphic">
          <ac:chgData name="John Hull" userId="b3f65f64fa01e6a6" providerId="LiveId" clId="{EF6A38D2-2353-4801-AD37-889B5970624C}" dt="2021-05-27T20:38:40.582" v="481" actId="20577"/>
          <ac:graphicFrameMkLst>
            <pc:docMk/>
            <pc:sldMk cId="3374240440" sldId="295"/>
            <ac:graphicFrameMk id="5" creationId="{00000000-0000-0000-0000-000000000000}"/>
          </ac:graphicFrameMkLst>
        </pc:graphicFrameChg>
      </pc:sldChg>
      <pc:sldChg chg="modSp mod">
        <pc:chgData name="John Hull" userId="b3f65f64fa01e6a6" providerId="LiveId" clId="{EF6A38D2-2353-4801-AD37-889B5970624C}" dt="2021-05-27T20:21:39.925" v="63" actId="20577"/>
        <pc:sldMkLst>
          <pc:docMk/>
          <pc:sldMk cId="2112859373" sldId="301"/>
        </pc:sldMkLst>
        <pc:spChg chg="mod">
          <ac:chgData name="John Hull" userId="b3f65f64fa01e6a6" providerId="LiveId" clId="{EF6A38D2-2353-4801-AD37-889B5970624C}" dt="2021-05-27T20:21:39.925" v="63" actId="20577"/>
          <ac:spMkLst>
            <pc:docMk/>
            <pc:sldMk cId="2112859373" sldId="301"/>
            <ac:spMk id="3" creationId="{D31301A2-0819-47CE-AE61-B8111EA7C03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39BE6C6-E13E-4AA6-B3DE-1B7348933221}" type="datetimeFigureOut">
              <a:rPr lang="en-CA" smtClean="0"/>
              <a:t>2021-05-27</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1E2A24-94B3-4CFC-9703-EECBE5CCBD91}" type="slidenum">
              <a:rPr lang="en-CA" smtClean="0"/>
              <a:t>‹#›</a:t>
            </a:fld>
            <a:endParaRPr lang="en-CA"/>
          </a:p>
        </p:txBody>
      </p:sp>
    </p:spTree>
    <p:extLst>
      <p:ext uri="{BB962C8B-B14F-4D97-AF65-F5344CB8AC3E}">
        <p14:creationId xmlns:p14="http://schemas.microsoft.com/office/powerpoint/2010/main" val="2649953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14.4% so that </a:t>
            </a:r>
            <a:endParaRPr lang="en-CA" dirty="0"/>
          </a:p>
        </p:txBody>
      </p:sp>
      <p:sp>
        <p:nvSpPr>
          <p:cNvPr id="4" name="Slide Number Placeholder 3"/>
          <p:cNvSpPr>
            <a:spLocks noGrp="1"/>
          </p:cNvSpPr>
          <p:nvPr>
            <p:ph type="sldNum" sz="quarter" idx="10"/>
          </p:nvPr>
        </p:nvSpPr>
        <p:spPr/>
        <p:txBody>
          <a:bodyPr/>
          <a:lstStyle/>
          <a:p>
            <a:fld id="{551E2A24-94B3-4CFC-9703-EECBE5CCBD91}" type="slidenum">
              <a:rPr lang="en-CA" smtClean="0"/>
              <a:t>23</a:t>
            </a:fld>
            <a:endParaRPr lang="en-CA"/>
          </a:p>
        </p:txBody>
      </p:sp>
    </p:spTree>
    <p:extLst>
      <p:ext uri="{BB962C8B-B14F-4D97-AF65-F5344CB8AC3E}">
        <p14:creationId xmlns:p14="http://schemas.microsoft.com/office/powerpoint/2010/main" val="4606483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0" y="-19050"/>
            <a:ext cx="9144000" cy="6877050"/>
            <a:chOff x="0" y="-12"/>
            <a:chExt cx="5760" cy="4332"/>
          </a:xfrm>
        </p:grpSpPr>
        <p:sp>
          <p:nvSpPr>
            <p:cNvPr id="5" name="Rectangle 3"/>
            <p:cNvSpPr>
              <a:spLocks noChangeArrowheads="1"/>
            </p:cNvSpPr>
            <p:nvPr userDrawn="1"/>
          </p:nvSpPr>
          <p:spPr bwMode="hidden">
            <a:xfrm>
              <a:off x="1104" y="1008"/>
              <a:ext cx="4656" cy="3312"/>
            </a:xfrm>
            <a:prstGeom prst="rect">
              <a:avLst/>
            </a:prstGeom>
            <a:gradFill rotWithShape="0">
              <a:gsLst>
                <a:gs pos="0">
                  <a:schemeClr val="bg2"/>
                </a:gs>
                <a:gs pos="50000">
                  <a:schemeClr val="bg1"/>
                </a:gs>
                <a:gs pos="100000">
                  <a:schemeClr val="bg2"/>
                </a:gs>
              </a:gsLst>
              <a:lin ang="2700000" scaled="1"/>
            </a:gradFill>
            <a:ln w="9525">
              <a:noFill/>
              <a:miter lim="800000"/>
              <a:headEnd/>
              <a:tailEnd/>
            </a:ln>
            <a:effectLst/>
          </p:spPr>
          <p:txBody>
            <a:bodyPr wrap="none" anchor="ctr"/>
            <a:lstStyle/>
            <a:p>
              <a:pPr eaLnBrk="1" fontAlgn="auto" hangingPunct="1">
                <a:spcBef>
                  <a:spcPts val="0"/>
                </a:spcBef>
                <a:spcAft>
                  <a:spcPts val="0"/>
                </a:spcAft>
                <a:defRPr/>
              </a:pPr>
              <a:endParaRPr lang="en-US" sz="1350">
                <a:latin typeface="Arial" charset="0"/>
                <a:cs typeface="Arial" charset="0"/>
              </a:endParaRPr>
            </a:p>
          </p:txBody>
        </p:sp>
        <p:grpSp>
          <p:nvGrpSpPr>
            <p:cNvPr id="6" name="Group 4"/>
            <p:cNvGrpSpPr>
              <a:grpSpLocks/>
            </p:cNvGrpSpPr>
            <p:nvPr userDrawn="1"/>
          </p:nvGrpSpPr>
          <p:grpSpPr bwMode="auto">
            <a:xfrm>
              <a:off x="-1261" y="-157"/>
              <a:ext cx="7021" cy="1190"/>
              <a:chOff x="-1261" y="-154"/>
              <a:chExt cx="7021" cy="1190"/>
            </a:xfrm>
          </p:grpSpPr>
          <p:sp>
            <p:nvSpPr>
              <p:cNvPr id="8" name="Freeform 5"/>
              <p:cNvSpPr>
                <a:spLocks/>
              </p:cNvSpPr>
              <p:nvPr userDrawn="1"/>
            </p:nvSpPr>
            <p:spPr bwMode="ltGray">
              <a:xfrm>
                <a:off x="0" y="4"/>
                <a:ext cx="5760" cy="1032"/>
              </a:xfrm>
              <a:custGeom>
                <a:avLst/>
                <a:gdLst>
                  <a:gd name="T0" fmla="*/ 64333 w 4848"/>
                  <a:gd name="T1" fmla="*/ 203416971 h 432"/>
                  <a:gd name="T2" fmla="*/ 0 w 4848"/>
                  <a:gd name="T3" fmla="*/ 203416971 h 432"/>
                  <a:gd name="T4" fmla="*/ 0 w 4848"/>
                  <a:gd name="T5" fmla="*/ 0 h 432"/>
                  <a:gd name="T6" fmla="*/ 64333 w 4848"/>
                  <a:gd name="T7" fmla="*/ 0 h 432"/>
                  <a:gd name="T8" fmla="*/ 64333 w 4848"/>
                  <a:gd name="T9" fmla="*/ 203416971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48" h="432">
                    <a:moveTo>
                      <a:pt x="4848" y="432"/>
                    </a:moveTo>
                    <a:lnTo>
                      <a:pt x="0" y="432"/>
                    </a:lnTo>
                    <a:lnTo>
                      <a:pt x="0" y="0"/>
                    </a:lnTo>
                    <a:lnTo>
                      <a:pt x="4848" y="0"/>
                    </a:lnTo>
                    <a:lnTo>
                      <a:pt x="4848" y="432"/>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nvGrpSpPr>
              <p:cNvPr id="9" name="Group 6"/>
              <p:cNvGrpSpPr>
                <a:grpSpLocks/>
              </p:cNvGrpSpPr>
              <p:nvPr userDrawn="1"/>
            </p:nvGrpSpPr>
            <p:grpSpPr bwMode="auto">
              <a:xfrm>
                <a:off x="333" y="-9"/>
                <a:ext cx="5176" cy="1044"/>
                <a:chOff x="333" y="-9"/>
                <a:chExt cx="5176" cy="1044"/>
              </a:xfrm>
            </p:grpSpPr>
            <p:sp>
              <p:nvSpPr>
                <p:cNvPr id="38" name="Freeform 7"/>
                <p:cNvSpPr>
                  <a:spLocks/>
                </p:cNvSpPr>
                <p:nvPr userDrawn="1"/>
              </p:nvSpPr>
              <p:spPr bwMode="ltGray">
                <a:xfrm>
                  <a:off x="3230" y="949"/>
                  <a:ext cx="17" cy="20"/>
                </a:xfrm>
                <a:custGeom>
                  <a:avLst/>
                  <a:gdLst>
                    <a:gd name="T0" fmla="*/ 33 w 15"/>
                    <a:gd name="T1" fmla="*/ 3 h 23"/>
                    <a:gd name="T2" fmla="*/ 97 w 15"/>
                    <a:gd name="T3" fmla="*/ 3 h 23"/>
                    <a:gd name="T4" fmla="*/ 86 w 15"/>
                    <a:gd name="T5" fmla="*/ 3 h 23"/>
                    <a:gd name="T6" fmla="*/ 33 w 15"/>
                    <a:gd name="T7" fmla="*/ 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39" name="Freeform 8"/>
                <p:cNvSpPr>
                  <a:spLocks/>
                </p:cNvSpPr>
                <p:nvPr userDrawn="1"/>
              </p:nvSpPr>
              <p:spPr bwMode="ltGray">
                <a:xfrm>
                  <a:off x="3406" y="1015"/>
                  <a:ext cx="21" cy="20"/>
                </a:xfrm>
                <a:custGeom>
                  <a:avLst/>
                  <a:gdLst>
                    <a:gd name="T0" fmla="*/ 3 w 20"/>
                    <a:gd name="T1" fmla="*/ 3 h 23"/>
                    <a:gd name="T2" fmla="*/ 26 w 20"/>
                    <a:gd name="T3" fmla="*/ 3 h 23"/>
                    <a:gd name="T4" fmla="*/ 7 w 20"/>
                    <a:gd name="T5" fmla="*/ 3 h 23"/>
                    <a:gd name="T6" fmla="*/ 3 w 20"/>
                    <a:gd name="T7" fmla="*/ 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0" name="Freeform 9"/>
                <p:cNvSpPr>
                  <a:spLocks/>
                </p:cNvSpPr>
                <p:nvPr userDrawn="1"/>
              </p:nvSpPr>
              <p:spPr bwMode="ltGray">
                <a:xfrm>
                  <a:off x="2909" y="908"/>
                  <a:ext cx="31" cy="34"/>
                </a:xfrm>
                <a:custGeom>
                  <a:avLst/>
                  <a:gdLst>
                    <a:gd name="T0" fmla="*/ 31 w 30"/>
                    <a:gd name="T1" fmla="*/ 2 h 42"/>
                    <a:gd name="T2" fmla="*/ 8 w 30"/>
                    <a:gd name="T3" fmla="*/ 2 h 42"/>
                    <a:gd name="T4" fmla="*/ 0 w 30"/>
                    <a:gd name="T5" fmla="*/ 2 h 42"/>
                    <a:gd name="T6" fmla="*/ 31 w 30"/>
                    <a:gd name="T7" fmla="*/ 2 h 42"/>
                    <a:gd name="T8" fmla="*/ 45 w 30"/>
                    <a:gd name="T9" fmla="*/ 2 h 42"/>
                    <a:gd name="T10" fmla="*/ 43 w 30"/>
                    <a:gd name="T11" fmla="*/ 2 h 42"/>
                    <a:gd name="T12" fmla="*/ 31 w 30"/>
                    <a:gd name="T13" fmla="*/ 2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1" name="Freeform 10"/>
                <p:cNvSpPr>
                  <a:spLocks/>
                </p:cNvSpPr>
                <p:nvPr userDrawn="1"/>
              </p:nvSpPr>
              <p:spPr bwMode="ltGray">
                <a:xfrm>
                  <a:off x="2551" y="940"/>
                  <a:ext cx="25" cy="12"/>
                </a:xfrm>
                <a:custGeom>
                  <a:avLst/>
                  <a:gdLst>
                    <a:gd name="T0" fmla="*/ 15 w 25"/>
                    <a:gd name="T1" fmla="*/ 2 h 16"/>
                    <a:gd name="T2" fmla="*/ 3 w 25"/>
                    <a:gd name="T3" fmla="*/ 2 h 16"/>
                    <a:gd name="T4" fmla="*/ 15 w 25"/>
                    <a:gd name="T5" fmla="*/ 0 h 16"/>
                    <a:gd name="T6" fmla="*/ 15 w 25"/>
                    <a:gd name="T7" fmla="*/ 2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2" name="Freeform 11"/>
                <p:cNvSpPr>
                  <a:spLocks/>
                </p:cNvSpPr>
                <p:nvPr userDrawn="1"/>
              </p:nvSpPr>
              <p:spPr bwMode="ltGray">
                <a:xfrm>
                  <a:off x="2443" y="954"/>
                  <a:ext cx="65" cy="39"/>
                </a:xfrm>
                <a:custGeom>
                  <a:avLst/>
                  <a:gdLst>
                    <a:gd name="T0" fmla="*/ 14 w 65"/>
                    <a:gd name="T1" fmla="*/ 3 h 46"/>
                    <a:gd name="T2" fmla="*/ 30 w 65"/>
                    <a:gd name="T3" fmla="*/ 3 h 46"/>
                    <a:gd name="T4" fmla="*/ 42 w 65"/>
                    <a:gd name="T5" fmla="*/ 0 h 46"/>
                    <a:gd name="T6" fmla="*/ 58 w 65"/>
                    <a:gd name="T7" fmla="*/ 3 h 46"/>
                    <a:gd name="T8" fmla="*/ 32 w 65"/>
                    <a:gd name="T9" fmla="*/ 3 h 46"/>
                    <a:gd name="T10" fmla="*/ 12 w 65"/>
                    <a:gd name="T11" fmla="*/ 3 h 46"/>
                    <a:gd name="T12" fmla="*/ 8 w 65"/>
                    <a:gd name="T13" fmla="*/ 3 h 46"/>
                    <a:gd name="T14" fmla="*/ 12 w 65"/>
                    <a:gd name="T15" fmla="*/ 3 h 46"/>
                    <a:gd name="T16" fmla="*/ 14 w 65"/>
                    <a:gd name="T17" fmla="*/ 3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3" name="Freeform 12"/>
                <p:cNvSpPr>
                  <a:spLocks/>
                </p:cNvSpPr>
                <p:nvPr userDrawn="1"/>
              </p:nvSpPr>
              <p:spPr bwMode="ltGray">
                <a:xfrm>
                  <a:off x="2375" y="952"/>
                  <a:ext cx="68" cy="39"/>
                </a:xfrm>
                <a:custGeom>
                  <a:avLst/>
                  <a:gdLst>
                    <a:gd name="T0" fmla="*/ 0 w 69"/>
                    <a:gd name="T1" fmla="*/ 2 h 47"/>
                    <a:gd name="T2" fmla="*/ 18 w 69"/>
                    <a:gd name="T3" fmla="*/ 2 h 47"/>
                    <a:gd name="T4" fmla="*/ 37 w 69"/>
                    <a:gd name="T5" fmla="*/ 1 h 47"/>
                    <a:gd name="T6" fmla="*/ 49 w 69"/>
                    <a:gd name="T7" fmla="*/ 2 h 47"/>
                    <a:gd name="T8" fmla="*/ 35 w 69"/>
                    <a:gd name="T9" fmla="*/ 2 h 47"/>
                    <a:gd name="T10" fmla="*/ 28 w 69"/>
                    <a:gd name="T11" fmla="*/ 2 h 47"/>
                    <a:gd name="T12" fmla="*/ 22 w 69"/>
                    <a:gd name="T13" fmla="*/ 2 h 47"/>
                    <a:gd name="T14" fmla="*/ 16 w 69"/>
                    <a:gd name="T15" fmla="*/ 2 h 47"/>
                    <a:gd name="T16" fmla="*/ 12 w 69"/>
                    <a:gd name="T17" fmla="*/ 2 h 47"/>
                    <a:gd name="T18" fmla="*/ 0 w 69"/>
                    <a:gd name="T19" fmla="*/ 2 h 47"/>
                    <a:gd name="T20" fmla="*/ 0 w 69"/>
                    <a:gd name="T21" fmla="*/ 2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4" name="Freeform 13"/>
                <p:cNvSpPr>
                  <a:spLocks/>
                </p:cNvSpPr>
                <p:nvPr userDrawn="1"/>
              </p:nvSpPr>
              <p:spPr bwMode="ltGray">
                <a:xfrm>
                  <a:off x="2007" y="739"/>
                  <a:ext cx="354" cy="228"/>
                </a:xfrm>
                <a:custGeom>
                  <a:avLst/>
                  <a:gdLst>
                    <a:gd name="T0" fmla="*/ 10 w 355"/>
                    <a:gd name="T1" fmla="*/ 2 h 277"/>
                    <a:gd name="T2" fmla="*/ 36 w 355"/>
                    <a:gd name="T3" fmla="*/ 2 h 277"/>
                    <a:gd name="T4" fmla="*/ 46 w 355"/>
                    <a:gd name="T5" fmla="*/ 2 h 277"/>
                    <a:gd name="T6" fmla="*/ 76 w 355"/>
                    <a:gd name="T7" fmla="*/ 2 h 277"/>
                    <a:gd name="T8" fmla="*/ 92 w 355"/>
                    <a:gd name="T9" fmla="*/ 4 h 277"/>
                    <a:gd name="T10" fmla="*/ 122 w 355"/>
                    <a:gd name="T11" fmla="*/ 6 h 277"/>
                    <a:gd name="T12" fmla="*/ 136 w 355"/>
                    <a:gd name="T13" fmla="*/ 7 h 277"/>
                    <a:gd name="T14" fmla="*/ 148 w 355"/>
                    <a:gd name="T15" fmla="*/ 7 h 277"/>
                    <a:gd name="T16" fmla="*/ 154 w 355"/>
                    <a:gd name="T17" fmla="*/ 8 h 277"/>
                    <a:gd name="T18" fmla="*/ 176 w 355"/>
                    <a:gd name="T19" fmla="*/ 8 h 277"/>
                    <a:gd name="T20" fmla="*/ 170 w 355"/>
                    <a:gd name="T21" fmla="*/ 11 h 277"/>
                    <a:gd name="T22" fmla="*/ 177 w 355"/>
                    <a:gd name="T23" fmla="*/ 12 h 277"/>
                    <a:gd name="T24" fmla="*/ 183 w 355"/>
                    <a:gd name="T25" fmla="*/ 12 h 277"/>
                    <a:gd name="T26" fmla="*/ 201 w 355"/>
                    <a:gd name="T27" fmla="*/ 12 h 277"/>
                    <a:gd name="T28" fmla="*/ 221 w 355"/>
                    <a:gd name="T29" fmla="*/ 13 h 277"/>
                    <a:gd name="T30" fmla="*/ 239 w 355"/>
                    <a:gd name="T31" fmla="*/ 13 h 277"/>
                    <a:gd name="T32" fmla="*/ 257 w 355"/>
                    <a:gd name="T33" fmla="*/ 13 h 277"/>
                    <a:gd name="T34" fmla="*/ 281 w 355"/>
                    <a:gd name="T35" fmla="*/ 14 h 277"/>
                    <a:gd name="T36" fmla="*/ 299 w 355"/>
                    <a:gd name="T37" fmla="*/ 14 h 277"/>
                    <a:gd name="T38" fmla="*/ 337 w 355"/>
                    <a:gd name="T39" fmla="*/ 14 h 277"/>
                    <a:gd name="T40" fmla="*/ 327 w 355"/>
                    <a:gd name="T41" fmla="*/ 15 h 277"/>
                    <a:gd name="T42" fmla="*/ 307 w 355"/>
                    <a:gd name="T43" fmla="*/ 14 h 277"/>
                    <a:gd name="T44" fmla="*/ 285 w 355"/>
                    <a:gd name="T45" fmla="*/ 14 h 277"/>
                    <a:gd name="T46" fmla="*/ 273 w 355"/>
                    <a:gd name="T47" fmla="*/ 14 h 277"/>
                    <a:gd name="T48" fmla="*/ 237 w 355"/>
                    <a:gd name="T49" fmla="*/ 14 h 277"/>
                    <a:gd name="T50" fmla="*/ 219 w 355"/>
                    <a:gd name="T51" fmla="*/ 14 h 277"/>
                    <a:gd name="T52" fmla="*/ 172 w 355"/>
                    <a:gd name="T53" fmla="*/ 13 h 277"/>
                    <a:gd name="T54" fmla="*/ 160 w 355"/>
                    <a:gd name="T55" fmla="*/ 12 h 277"/>
                    <a:gd name="T56" fmla="*/ 126 w 355"/>
                    <a:gd name="T57" fmla="*/ 11 h 277"/>
                    <a:gd name="T58" fmla="*/ 108 w 355"/>
                    <a:gd name="T59" fmla="*/ 10 h 277"/>
                    <a:gd name="T60" fmla="*/ 94 w 355"/>
                    <a:gd name="T61" fmla="*/ 8 h 277"/>
                    <a:gd name="T62" fmla="*/ 68 w 355"/>
                    <a:gd name="T63" fmla="*/ 6 h 277"/>
                    <a:gd name="T64" fmla="*/ 64 w 355"/>
                    <a:gd name="T65" fmla="*/ 6 h 277"/>
                    <a:gd name="T66" fmla="*/ 58 w 355"/>
                    <a:gd name="T67" fmla="*/ 6 h 277"/>
                    <a:gd name="T68" fmla="*/ 54 w 355"/>
                    <a:gd name="T69" fmla="*/ 5 h 277"/>
                    <a:gd name="T70" fmla="*/ 38 w 355"/>
                    <a:gd name="T71" fmla="*/ 3 h 277"/>
                    <a:gd name="T72" fmla="*/ 20 w 355"/>
                    <a:gd name="T73" fmla="*/ 2 h 277"/>
                    <a:gd name="T74" fmla="*/ 4 w 355"/>
                    <a:gd name="T75" fmla="*/ 2 h 277"/>
                    <a:gd name="T76" fmla="*/ 10 w 355"/>
                    <a:gd name="T77" fmla="*/ 2 h 277"/>
                    <a:gd name="T78" fmla="*/ 10 w 355"/>
                    <a:gd name="T79" fmla="*/ 2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5" name="Freeform 14"/>
                <p:cNvSpPr>
                  <a:spLocks/>
                </p:cNvSpPr>
                <p:nvPr userDrawn="1"/>
              </p:nvSpPr>
              <p:spPr bwMode="ltGray">
                <a:xfrm>
                  <a:off x="2222" y="724"/>
                  <a:ext cx="157" cy="167"/>
                </a:xfrm>
                <a:custGeom>
                  <a:avLst/>
                  <a:gdLst>
                    <a:gd name="T0" fmla="*/ 54 w 156"/>
                    <a:gd name="T1" fmla="*/ 2 h 206"/>
                    <a:gd name="T2" fmla="*/ 66 w 156"/>
                    <a:gd name="T3" fmla="*/ 2 h 206"/>
                    <a:gd name="T4" fmla="*/ 68 w 156"/>
                    <a:gd name="T5" fmla="*/ 2 h 206"/>
                    <a:gd name="T6" fmla="*/ 95 w 156"/>
                    <a:gd name="T7" fmla="*/ 2 h 206"/>
                    <a:gd name="T8" fmla="*/ 121 w 156"/>
                    <a:gd name="T9" fmla="*/ 2 h 206"/>
                    <a:gd name="T10" fmla="*/ 127 w 156"/>
                    <a:gd name="T11" fmla="*/ 2 h 206"/>
                    <a:gd name="T12" fmla="*/ 139 w 156"/>
                    <a:gd name="T13" fmla="*/ 0 h 206"/>
                    <a:gd name="T14" fmla="*/ 165 w 156"/>
                    <a:gd name="T15" fmla="*/ 2 h 206"/>
                    <a:gd name="T16" fmla="*/ 161 w 156"/>
                    <a:gd name="T17" fmla="*/ 2 h 206"/>
                    <a:gd name="T18" fmla="*/ 141 w 156"/>
                    <a:gd name="T19" fmla="*/ 2 h 206"/>
                    <a:gd name="T20" fmla="*/ 147 w 156"/>
                    <a:gd name="T21" fmla="*/ 4 h 206"/>
                    <a:gd name="T22" fmla="*/ 157 w 156"/>
                    <a:gd name="T23" fmla="*/ 5 h 206"/>
                    <a:gd name="T24" fmla="*/ 161 w 156"/>
                    <a:gd name="T25" fmla="*/ 5 h 206"/>
                    <a:gd name="T26" fmla="*/ 143 w 156"/>
                    <a:gd name="T27" fmla="*/ 5 h 206"/>
                    <a:gd name="T28" fmla="*/ 131 w 156"/>
                    <a:gd name="T29" fmla="*/ 6 h 206"/>
                    <a:gd name="T30" fmla="*/ 119 w 156"/>
                    <a:gd name="T31" fmla="*/ 6 h 206"/>
                    <a:gd name="T32" fmla="*/ 115 w 156"/>
                    <a:gd name="T33" fmla="*/ 8 h 206"/>
                    <a:gd name="T34" fmla="*/ 103 w 156"/>
                    <a:gd name="T35" fmla="*/ 9 h 206"/>
                    <a:gd name="T36" fmla="*/ 97 w 156"/>
                    <a:gd name="T37" fmla="*/ 9 h 206"/>
                    <a:gd name="T38" fmla="*/ 76 w 156"/>
                    <a:gd name="T39" fmla="*/ 9 h 206"/>
                    <a:gd name="T40" fmla="*/ 72 w 156"/>
                    <a:gd name="T41" fmla="*/ 8 h 206"/>
                    <a:gd name="T42" fmla="*/ 60 w 156"/>
                    <a:gd name="T43" fmla="*/ 8 h 206"/>
                    <a:gd name="T44" fmla="*/ 42 w 156"/>
                    <a:gd name="T45" fmla="*/ 8 h 206"/>
                    <a:gd name="T46" fmla="*/ 28 w 156"/>
                    <a:gd name="T47" fmla="*/ 8 h 206"/>
                    <a:gd name="T48" fmla="*/ 10 w 156"/>
                    <a:gd name="T49" fmla="*/ 6 h 206"/>
                    <a:gd name="T50" fmla="*/ 4 w 156"/>
                    <a:gd name="T51" fmla="*/ 5 h 206"/>
                    <a:gd name="T52" fmla="*/ 0 w 156"/>
                    <a:gd name="T53" fmla="*/ 5 h 206"/>
                    <a:gd name="T54" fmla="*/ 20 w 156"/>
                    <a:gd name="T55" fmla="*/ 4 h 206"/>
                    <a:gd name="T56" fmla="*/ 32 w 156"/>
                    <a:gd name="T57" fmla="*/ 4 h 206"/>
                    <a:gd name="T58" fmla="*/ 34 w 156"/>
                    <a:gd name="T59" fmla="*/ 3 h 206"/>
                    <a:gd name="T60" fmla="*/ 52 w 156"/>
                    <a:gd name="T61" fmla="*/ 2 h 206"/>
                    <a:gd name="T62" fmla="*/ 54 w 156"/>
                    <a:gd name="T63" fmla="*/ 2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6" name="Freeform 15"/>
                <p:cNvSpPr>
                  <a:spLocks/>
                </p:cNvSpPr>
                <p:nvPr userDrawn="1"/>
              </p:nvSpPr>
              <p:spPr bwMode="ltGray">
                <a:xfrm>
                  <a:off x="2375" y="800"/>
                  <a:ext cx="110" cy="32"/>
                </a:xfrm>
                <a:custGeom>
                  <a:avLst/>
                  <a:gdLst>
                    <a:gd name="T0" fmla="*/ 4 w 109"/>
                    <a:gd name="T1" fmla="*/ 3 h 38"/>
                    <a:gd name="T2" fmla="*/ 18 w 109"/>
                    <a:gd name="T3" fmla="*/ 3 h 38"/>
                    <a:gd name="T4" fmla="*/ 46 w 109"/>
                    <a:gd name="T5" fmla="*/ 3 h 38"/>
                    <a:gd name="T6" fmla="*/ 87 w 109"/>
                    <a:gd name="T7" fmla="*/ 3 h 38"/>
                    <a:gd name="T8" fmla="*/ 105 w 109"/>
                    <a:gd name="T9" fmla="*/ 0 h 38"/>
                    <a:gd name="T10" fmla="*/ 91 w 109"/>
                    <a:gd name="T11" fmla="*/ 3 h 38"/>
                    <a:gd name="T12" fmla="*/ 75 w 109"/>
                    <a:gd name="T13" fmla="*/ 3 h 38"/>
                    <a:gd name="T14" fmla="*/ 42 w 109"/>
                    <a:gd name="T15" fmla="*/ 3 h 38"/>
                    <a:gd name="T16" fmla="*/ 14 w 109"/>
                    <a:gd name="T17" fmla="*/ 3 h 38"/>
                    <a:gd name="T18" fmla="*/ 4 w 109"/>
                    <a:gd name="T19" fmla="*/ 3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7" name="Freeform 16"/>
                <p:cNvSpPr>
                  <a:spLocks/>
                </p:cNvSpPr>
                <p:nvPr userDrawn="1"/>
              </p:nvSpPr>
              <p:spPr bwMode="ltGray">
                <a:xfrm>
                  <a:off x="2370" y="839"/>
                  <a:ext cx="75" cy="84"/>
                </a:xfrm>
                <a:custGeom>
                  <a:avLst/>
                  <a:gdLst>
                    <a:gd name="T0" fmla="*/ 8 w 76"/>
                    <a:gd name="T1" fmla="*/ 2 h 104"/>
                    <a:gd name="T2" fmla="*/ 18 w 76"/>
                    <a:gd name="T3" fmla="*/ 0 h 104"/>
                    <a:gd name="T4" fmla="*/ 34 w 76"/>
                    <a:gd name="T5" fmla="*/ 2 h 104"/>
                    <a:gd name="T6" fmla="*/ 47 w 76"/>
                    <a:gd name="T7" fmla="*/ 2 h 104"/>
                    <a:gd name="T8" fmla="*/ 38 w 76"/>
                    <a:gd name="T9" fmla="*/ 2 h 104"/>
                    <a:gd name="T10" fmla="*/ 39 w 76"/>
                    <a:gd name="T11" fmla="*/ 2 h 104"/>
                    <a:gd name="T12" fmla="*/ 43 w 76"/>
                    <a:gd name="T13" fmla="*/ 2 h 104"/>
                    <a:gd name="T14" fmla="*/ 38 w 76"/>
                    <a:gd name="T15" fmla="*/ 3 h 104"/>
                    <a:gd name="T16" fmla="*/ 34 w 76"/>
                    <a:gd name="T17" fmla="*/ 2 h 104"/>
                    <a:gd name="T18" fmla="*/ 22 w 76"/>
                    <a:gd name="T19" fmla="*/ 2 h 104"/>
                    <a:gd name="T20" fmla="*/ 28 w 76"/>
                    <a:gd name="T21" fmla="*/ 2 h 104"/>
                    <a:gd name="T22" fmla="*/ 30 w 76"/>
                    <a:gd name="T23" fmla="*/ 3 h 104"/>
                    <a:gd name="T24" fmla="*/ 20 w 76"/>
                    <a:gd name="T25" fmla="*/ 4 h 104"/>
                    <a:gd name="T26" fmla="*/ 12 w 76"/>
                    <a:gd name="T27" fmla="*/ 4 h 104"/>
                    <a:gd name="T28" fmla="*/ 8 w 76"/>
                    <a:gd name="T29" fmla="*/ 4 h 104"/>
                    <a:gd name="T30" fmla="*/ 0 w 76"/>
                    <a:gd name="T31" fmla="*/ 2 h 104"/>
                    <a:gd name="T32" fmla="*/ 2 w 76"/>
                    <a:gd name="T33" fmla="*/ 2 h 104"/>
                    <a:gd name="T34" fmla="*/ 8 w 76"/>
                    <a:gd name="T35" fmla="*/ 2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8" name="Freeform 17"/>
                <p:cNvSpPr>
                  <a:spLocks/>
                </p:cNvSpPr>
                <p:nvPr userDrawn="1"/>
              </p:nvSpPr>
              <p:spPr bwMode="ltGray">
                <a:xfrm>
                  <a:off x="2497" y="793"/>
                  <a:ext cx="37" cy="49"/>
                </a:xfrm>
                <a:custGeom>
                  <a:avLst/>
                  <a:gdLst>
                    <a:gd name="T0" fmla="*/ 3 w 37"/>
                    <a:gd name="T1" fmla="*/ 2 h 61"/>
                    <a:gd name="T2" fmla="*/ 13 w 37"/>
                    <a:gd name="T3" fmla="*/ 0 h 61"/>
                    <a:gd name="T4" fmla="*/ 15 w 37"/>
                    <a:gd name="T5" fmla="*/ 2 h 61"/>
                    <a:gd name="T6" fmla="*/ 37 w 37"/>
                    <a:gd name="T7" fmla="*/ 2 h 61"/>
                    <a:gd name="T8" fmla="*/ 19 w 37"/>
                    <a:gd name="T9" fmla="*/ 2 h 61"/>
                    <a:gd name="T10" fmla="*/ 5 w 37"/>
                    <a:gd name="T11" fmla="*/ 2 h 61"/>
                    <a:gd name="T12" fmla="*/ 1 w 37"/>
                    <a:gd name="T13" fmla="*/ 2 h 61"/>
                    <a:gd name="T14" fmla="*/ 3 w 37"/>
                    <a:gd name="T15" fmla="*/ 2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9" name="Freeform 18"/>
                <p:cNvSpPr>
                  <a:spLocks/>
                </p:cNvSpPr>
                <p:nvPr userDrawn="1"/>
              </p:nvSpPr>
              <p:spPr bwMode="ltGray">
                <a:xfrm>
                  <a:off x="2506" y="869"/>
                  <a:ext cx="47" cy="24"/>
                </a:xfrm>
                <a:custGeom>
                  <a:avLst/>
                  <a:gdLst>
                    <a:gd name="T0" fmla="*/ 7 w 49"/>
                    <a:gd name="T1" fmla="*/ 0 h 29"/>
                    <a:gd name="T2" fmla="*/ 14 w 49"/>
                    <a:gd name="T3" fmla="*/ 0 h 29"/>
                    <a:gd name="T4" fmla="*/ 27 w 49"/>
                    <a:gd name="T5" fmla="*/ 2 h 29"/>
                    <a:gd name="T6" fmla="*/ 20 w 49"/>
                    <a:gd name="T7" fmla="*/ 2 h 29"/>
                    <a:gd name="T8" fmla="*/ 3 w 49"/>
                    <a:gd name="T9" fmla="*/ 2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0" name="Freeform 19"/>
                <p:cNvSpPr>
                  <a:spLocks/>
                </p:cNvSpPr>
                <p:nvPr userDrawn="1"/>
              </p:nvSpPr>
              <p:spPr bwMode="ltGray">
                <a:xfrm>
                  <a:off x="2555" y="832"/>
                  <a:ext cx="61" cy="42"/>
                </a:xfrm>
                <a:custGeom>
                  <a:avLst/>
                  <a:gdLst>
                    <a:gd name="T0" fmla="*/ 21 w 61"/>
                    <a:gd name="T1" fmla="*/ 5 h 48"/>
                    <a:gd name="T2" fmla="*/ 15 w 61"/>
                    <a:gd name="T3" fmla="*/ 4 h 48"/>
                    <a:gd name="T4" fmla="*/ 3 w 61"/>
                    <a:gd name="T5" fmla="*/ 4 h 48"/>
                    <a:gd name="T6" fmla="*/ 13 w 61"/>
                    <a:gd name="T7" fmla="*/ 4 h 48"/>
                    <a:gd name="T8" fmla="*/ 25 w 61"/>
                    <a:gd name="T9" fmla="*/ 0 h 48"/>
                    <a:gd name="T10" fmla="*/ 49 w 61"/>
                    <a:gd name="T11" fmla="*/ 4 h 48"/>
                    <a:gd name="T12" fmla="*/ 53 w 61"/>
                    <a:gd name="T13" fmla="*/ 4 h 48"/>
                    <a:gd name="T14" fmla="*/ 61 w 61"/>
                    <a:gd name="T15" fmla="*/ 4 h 48"/>
                    <a:gd name="T16" fmla="*/ 41 w 61"/>
                    <a:gd name="T17" fmla="*/ 5 h 48"/>
                    <a:gd name="T18" fmla="*/ 23 w 61"/>
                    <a:gd name="T19" fmla="*/ 7 h 48"/>
                    <a:gd name="T20" fmla="*/ 21 w 61"/>
                    <a:gd name="T21" fmla="*/ 5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1" name="Freeform 20"/>
                <p:cNvSpPr>
                  <a:spLocks/>
                </p:cNvSpPr>
                <p:nvPr userDrawn="1"/>
              </p:nvSpPr>
              <p:spPr bwMode="ltGray">
                <a:xfrm>
                  <a:off x="2572" y="852"/>
                  <a:ext cx="286" cy="149"/>
                </a:xfrm>
                <a:custGeom>
                  <a:avLst/>
                  <a:gdLst>
                    <a:gd name="T0" fmla="*/ 46 w 286"/>
                    <a:gd name="T1" fmla="*/ 2 h 182"/>
                    <a:gd name="T2" fmla="*/ 36 w 286"/>
                    <a:gd name="T3" fmla="*/ 2 h 182"/>
                    <a:gd name="T4" fmla="*/ 26 w 286"/>
                    <a:gd name="T5" fmla="*/ 2 h 182"/>
                    <a:gd name="T6" fmla="*/ 0 w 286"/>
                    <a:gd name="T7" fmla="*/ 2 h 182"/>
                    <a:gd name="T8" fmla="*/ 10 w 286"/>
                    <a:gd name="T9" fmla="*/ 2 h 182"/>
                    <a:gd name="T10" fmla="*/ 16 w 286"/>
                    <a:gd name="T11" fmla="*/ 3 h 182"/>
                    <a:gd name="T12" fmla="*/ 24 w 286"/>
                    <a:gd name="T13" fmla="*/ 2 h 182"/>
                    <a:gd name="T14" fmla="*/ 30 w 286"/>
                    <a:gd name="T15" fmla="*/ 2 h 182"/>
                    <a:gd name="T16" fmla="*/ 48 w 286"/>
                    <a:gd name="T17" fmla="*/ 2 h 182"/>
                    <a:gd name="T18" fmla="*/ 70 w 286"/>
                    <a:gd name="T19" fmla="*/ 3 h 182"/>
                    <a:gd name="T20" fmla="*/ 88 w 286"/>
                    <a:gd name="T21" fmla="*/ 3 h 182"/>
                    <a:gd name="T22" fmla="*/ 106 w 286"/>
                    <a:gd name="T23" fmla="*/ 5 h 182"/>
                    <a:gd name="T24" fmla="*/ 104 w 286"/>
                    <a:gd name="T25" fmla="*/ 6 h 182"/>
                    <a:gd name="T26" fmla="*/ 98 w 286"/>
                    <a:gd name="T27" fmla="*/ 7 h 182"/>
                    <a:gd name="T28" fmla="*/ 122 w 286"/>
                    <a:gd name="T29" fmla="*/ 6 h 182"/>
                    <a:gd name="T30" fmla="*/ 140 w 286"/>
                    <a:gd name="T31" fmla="*/ 7 h 182"/>
                    <a:gd name="T32" fmla="*/ 168 w 286"/>
                    <a:gd name="T33" fmla="*/ 7 h 182"/>
                    <a:gd name="T34" fmla="*/ 174 w 286"/>
                    <a:gd name="T35" fmla="*/ 7 h 182"/>
                    <a:gd name="T36" fmla="*/ 168 w 286"/>
                    <a:gd name="T37" fmla="*/ 7 h 182"/>
                    <a:gd name="T38" fmla="*/ 178 w 286"/>
                    <a:gd name="T39" fmla="*/ 7 h 182"/>
                    <a:gd name="T40" fmla="*/ 186 w 286"/>
                    <a:gd name="T41" fmla="*/ 6 h 182"/>
                    <a:gd name="T42" fmla="*/ 202 w 286"/>
                    <a:gd name="T43" fmla="*/ 6 h 182"/>
                    <a:gd name="T44" fmla="*/ 214 w 286"/>
                    <a:gd name="T45" fmla="*/ 6 h 182"/>
                    <a:gd name="T46" fmla="*/ 244 w 286"/>
                    <a:gd name="T47" fmla="*/ 9 h 182"/>
                    <a:gd name="T48" fmla="*/ 262 w 286"/>
                    <a:gd name="T49" fmla="*/ 9 h 182"/>
                    <a:gd name="T50" fmla="*/ 284 w 286"/>
                    <a:gd name="T51" fmla="*/ 9 h 182"/>
                    <a:gd name="T52" fmla="*/ 268 w 286"/>
                    <a:gd name="T53" fmla="*/ 7 h 182"/>
                    <a:gd name="T54" fmla="*/ 256 w 286"/>
                    <a:gd name="T55" fmla="*/ 7 h 182"/>
                    <a:gd name="T56" fmla="*/ 250 w 286"/>
                    <a:gd name="T57" fmla="*/ 6 h 182"/>
                    <a:gd name="T58" fmla="*/ 248 w 286"/>
                    <a:gd name="T59" fmla="*/ 6 h 182"/>
                    <a:gd name="T60" fmla="*/ 236 w 286"/>
                    <a:gd name="T61" fmla="*/ 6 h 182"/>
                    <a:gd name="T62" fmla="*/ 240 w 286"/>
                    <a:gd name="T63" fmla="*/ 5 h 182"/>
                    <a:gd name="T64" fmla="*/ 220 w 286"/>
                    <a:gd name="T65" fmla="*/ 4 h 182"/>
                    <a:gd name="T66" fmla="*/ 210 w 286"/>
                    <a:gd name="T67" fmla="*/ 3 h 182"/>
                    <a:gd name="T68" fmla="*/ 190 w 286"/>
                    <a:gd name="T69" fmla="*/ 2 h 182"/>
                    <a:gd name="T70" fmla="*/ 168 w 286"/>
                    <a:gd name="T71" fmla="*/ 2 h 182"/>
                    <a:gd name="T72" fmla="*/ 156 w 286"/>
                    <a:gd name="T73" fmla="*/ 2 h 182"/>
                    <a:gd name="T74" fmla="*/ 120 w 286"/>
                    <a:gd name="T75" fmla="*/ 2 h 182"/>
                    <a:gd name="T76" fmla="*/ 102 w 286"/>
                    <a:gd name="T77" fmla="*/ 2 h 182"/>
                    <a:gd name="T78" fmla="*/ 96 w 286"/>
                    <a:gd name="T79" fmla="*/ 0 h 182"/>
                    <a:gd name="T80" fmla="*/ 70 w 286"/>
                    <a:gd name="T81" fmla="*/ 2 h 182"/>
                    <a:gd name="T82" fmla="*/ 56 w 286"/>
                    <a:gd name="T83" fmla="*/ 2 h 182"/>
                    <a:gd name="T84" fmla="*/ 46 w 286"/>
                    <a:gd name="T85" fmla="*/ 2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2" name="Freeform 21"/>
                <p:cNvSpPr>
                  <a:spLocks/>
                </p:cNvSpPr>
                <p:nvPr userDrawn="1"/>
              </p:nvSpPr>
              <p:spPr bwMode="ltGray">
                <a:xfrm>
                  <a:off x="2820" y="866"/>
                  <a:ext cx="78" cy="64"/>
                </a:xfrm>
                <a:custGeom>
                  <a:avLst/>
                  <a:gdLst>
                    <a:gd name="T0" fmla="*/ 1 w 78"/>
                    <a:gd name="T1" fmla="*/ 2 h 78"/>
                    <a:gd name="T2" fmla="*/ 27 w 78"/>
                    <a:gd name="T3" fmla="*/ 3 h 78"/>
                    <a:gd name="T4" fmla="*/ 45 w 78"/>
                    <a:gd name="T5" fmla="*/ 2 h 78"/>
                    <a:gd name="T6" fmla="*/ 57 w 78"/>
                    <a:gd name="T7" fmla="*/ 2 h 78"/>
                    <a:gd name="T8" fmla="*/ 43 w 78"/>
                    <a:gd name="T9" fmla="*/ 2 h 78"/>
                    <a:gd name="T10" fmla="*/ 43 w 78"/>
                    <a:gd name="T11" fmla="*/ 2 h 78"/>
                    <a:gd name="T12" fmla="*/ 71 w 78"/>
                    <a:gd name="T13" fmla="*/ 2 h 78"/>
                    <a:gd name="T14" fmla="*/ 67 w 78"/>
                    <a:gd name="T15" fmla="*/ 2 h 78"/>
                    <a:gd name="T16" fmla="*/ 33 w 78"/>
                    <a:gd name="T17" fmla="*/ 4 h 78"/>
                    <a:gd name="T18" fmla="*/ 9 w 78"/>
                    <a:gd name="T19" fmla="*/ 3 h 78"/>
                    <a:gd name="T20" fmla="*/ 3 w 78"/>
                    <a:gd name="T21" fmla="*/ 3 h 78"/>
                    <a:gd name="T22" fmla="*/ 1 w 78"/>
                    <a:gd name="T23" fmla="*/ 2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3" name="Freeform 22"/>
                <p:cNvSpPr>
                  <a:spLocks/>
                </p:cNvSpPr>
                <p:nvPr userDrawn="1"/>
              </p:nvSpPr>
              <p:spPr bwMode="ltGray">
                <a:xfrm>
                  <a:off x="2984" y="732"/>
                  <a:ext cx="19" cy="14"/>
                </a:xfrm>
                <a:custGeom>
                  <a:avLst/>
                  <a:gdLst>
                    <a:gd name="T0" fmla="*/ 3 w 17"/>
                    <a:gd name="T1" fmla="*/ 2 h 18"/>
                    <a:gd name="T2" fmla="*/ 3 w 17"/>
                    <a:gd name="T3" fmla="*/ 2 h 18"/>
                    <a:gd name="T4" fmla="*/ 3 w 17"/>
                    <a:gd name="T5" fmla="*/ 2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4" name="Freeform 23"/>
                <p:cNvSpPr>
                  <a:spLocks/>
                </p:cNvSpPr>
                <p:nvPr userDrawn="1"/>
              </p:nvSpPr>
              <p:spPr bwMode="ltGray">
                <a:xfrm>
                  <a:off x="3083" y="830"/>
                  <a:ext cx="26" cy="19"/>
                </a:xfrm>
                <a:custGeom>
                  <a:avLst/>
                  <a:gdLst>
                    <a:gd name="T0" fmla="*/ 8 w 26"/>
                    <a:gd name="T1" fmla="*/ 3 h 22"/>
                    <a:gd name="T2" fmla="*/ 14 w 26"/>
                    <a:gd name="T3" fmla="*/ 0 h 22"/>
                    <a:gd name="T4" fmla="*/ 14 w 26"/>
                    <a:gd name="T5" fmla="*/ 3 h 22"/>
                    <a:gd name="T6" fmla="*/ 8 w 26"/>
                    <a:gd name="T7" fmla="*/ 3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5" name="Freeform 24"/>
                <p:cNvSpPr>
                  <a:spLocks/>
                </p:cNvSpPr>
                <p:nvPr userDrawn="1"/>
              </p:nvSpPr>
              <p:spPr bwMode="ltGray">
                <a:xfrm>
                  <a:off x="2766" y="610"/>
                  <a:ext cx="19" cy="12"/>
                </a:xfrm>
                <a:custGeom>
                  <a:avLst/>
                  <a:gdLst>
                    <a:gd name="T0" fmla="*/ 7 w 20"/>
                    <a:gd name="T1" fmla="*/ 2 h 15"/>
                    <a:gd name="T2" fmla="*/ 10 w 20"/>
                    <a:gd name="T3" fmla="*/ 2 h 15"/>
                    <a:gd name="T4" fmla="*/ 9 w 20"/>
                    <a:gd name="T5" fmla="*/ 2 h 15"/>
                    <a:gd name="T6" fmla="*/ 7 w 20"/>
                    <a:gd name="T7" fmla="*/ 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6" name="Freeform 25"/>
                <p:cNvSpPr>
                  <a:spLocks/>
                </p:cNvSpPr>
                <p:nvPr userDrawn="1"/>
              </p:nvSpPr>
              <p:spPr bwMode="ltGray">
                <a:xfrm>
                  <a:off x="2600" y="712"/>
                  <a:ext cx="19" cy="12"/>
                </a:xfrm>
                <a:custGeom>
                  <a:avLst/>
                  <a:gdLst>
                    <a:gd name="T0" fmla="*/ 7 w 20"/>
                    <a:gd name="T1" fmla="*/ 2 h 15"/>
                    <a:gd name="T2" fmla="*/ 10 w 20"/>
                    <a:gd name="T3" fmla="*/ 2 h 15"/>
                    <a:gd name="T4" fmla="*/ 10 w 20"/>
                    <a:gd name="T5" fmla="*/ 2 h 15"/>
                    <a:gd name="T6" fmla="*/ 7 w 20"/>
                    <a:gd name="T7" fmla="*/ 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7" name="Freeform 26"/>
                <p:cNvSpPr>
                  <a:spLocks/>
                </p:cNvSpPr>
                <p:nvPr userDrawn="1"/>
              </p:nvSpPr>
              <p:spPr bwMode="ltGray">
                <a:xfrm>
                  <a:off x="2417" y="680"/>
                  <a:ext cx="80" cy="66"/>
                </a:xfrm>
                <a:custGeom>
                  <a:avLst/>
                  <a:gdLst>
                    <a:gd name="T0" fmla="*/ 0 w 80"/>
                    <a:gd name="T1" fmla="*/ 2 h 80"/>
                    <a:gd name="T2" fmla="*/ 14 w 80"/>
                    <a:gd name="T3" fmla="*/ 2 h 80"/>
                    <a:gd name="T4" fmla="*/ 26 w 80"/>
                    <a:gd name="T5" fmla="*/ 2 h 80"/>
                    <a:gd name="T6" fmla="*/ 48 w 80"/>
                    <a:gd name="T7" fmla="*/ 2 h 80"/>
                    <a:gd name="T8" fmla="*/ 58 w 80"/>
                    <a:gd name="T9" fmla="*/ 0 h 80"/>
                    <a:gd name="T10" fmla="*/ 80 w 80"/>
                    <a:gd name="T11" fmla="*/ 2 h 80"/>
                    <a:gd name="T12" fmla="*/ 70 w 80"/>
                    <a:gd name="T13" fmla="*/ 3 h 80"/>
                    <a:gd name="T14" fmla="*/ 54 w 80"/>
                    <a:gd name="T15" fmla="*/ 4 h 80"/>
                    <a:gd name="T16" fmla="*/ 48 w 80"/>
                    <a:gd name="T17" fmla="*/ 5 h 80"/>
                    <a:gd name="T18" fmla="*/ 32 w 80"/>
                    <a:gd name="T19" fmla="*/ 4 h 80"/>
                    <a:gd name="T20" fmla="*/ 38 w 80"/>
                    <a:gd name="T21" fmla="*/ 3 h 80"/>
                    <a:gd name="T22" fmla="*/ 30 w 80"/>
                    <a:gd name="T23" fmla="*/ 2 h 80"/>
                    <a:gd name="T24" fmla="*/ 20 w 80"/>
                    <a:gd name="T25" fmla="*/ 2 h 80"/>
                    <a:gd name="T26" fmla="*/ 8 w 80"/>
                    <a:gd name="T27" fmla="*/ 3 h 80"/>
                    <a:gd name="T28" fmla="*/ 0 w 80"/>
                    <a:gd name="T29" fmla="*/ 2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8" name="Freeform 27"/>
                <p:cNvSpPr>
                  <a:spLocks/>
                </p:cNvSpPr>
                <p:nvPr userDrawn="1"/>
              </p:nvSpPr>
              <p:spPr bwMode="ltGray">
                <a:xfrm>
                  <a:off x="2391" y="541"/>
                  <a:ext cx="94" cy="142"/>
                </a:xfrm>
                <a:custGeom>
                  <a:avLst/>
                  <a:gdLst>
                    <a:gd name="T0" fmla="*/ 14 w 94"/>
                    <a:gd name="T1" fmla="*/ 5 h 174"/>
                    <a:gd name="T2" fmla="*/ 26 w 94"/>
                    <a:gd name="T3" fmla="*/ 6 h 174"/>
                    <a:gd name="T4" fmla="*/ 32 w 94"/>
                    <a:gd name="T5" fmla="*/ 5 h 174"/>
                    <a:gd name="T6" fmla="*/ 52 w 94"/>
                    <a:gd name="T7" fmla="*/ 5 h 174"/>
                    <a:gd name="T8" fmla="*/ 46 w 94"/>
                    <a:gd name="T9" fmla="*/ 6 h 174"/>
                    <a:gd name="T10" fmla="*/ 66 w 94"/>
                    <a:gd name="T11" fmla="*/ 6 h 174"/>
                    <a:gd name="T12" fmla="*/ 76 w 94"/>
                    <a:gd name="T13" fmla="*/ 7 h 174"/>
                    <a:gd name="T14" fmla="*/ 58 w 94"/>
                    <a:gd name="T15" fmla="*/ 7 h 174"/>
                    <a:gd name="T16" fmla="*/ 74 w 94"/>
                    <a:gd name="T17" fmla="*/ 9 h 174"/>
                    <a:gd name="T18" fmla="*/ 84 w 94"/>
                    <a:gd name="T19" fmla="*/ 7 h 174"/>
                    <a:gd name="T20" fmla="*/ 82 w 94"/>
                    <a:gd name="T21" fmla="*/ 6 h 174"/>
                    <a:gd name="T22" fmla="*/ 60 w 94"/>
                    <a:gd name="T23" fmla="*/ 5 h 174"/>
                    <a:gd name="T24" fmla="*/ 50 w 94"/>
                    <a:gd name="T25" fmla="*/ 4 h 174"/>
                    <a:gd name="T26" fmla="*/ 34 w 94"/>
                    <a:gd name="T27" fmla="*/ 4 h 174"/>
                    <a:gd name="T28" fmla="*/ 30 w 94"/>
                    <a:gd name="T29" fmla="*/ 3 h 174"/>
                    <a:gd name="T30" fmla="*/ 42 w 94"/>
                    <a:gd name="T31" fmla="*/ 2 h 174"/>
                    <a:gd name="T32" fmla="*/ 30 w 94"/>
                    <a:gd name="T33" fmla="*/ 0 h 174"/>
                    <a:gd name="T34" fmla="*/ 18 w 94"/>
                    <a:gd name="T35" fmla="*/ 2 h 174"/>
                    <a:gd name="T36" fmla="*/ 4 w 94"/>
                    <a:gd name="T37" fmla="*/ 2 h 174"/>
                    <a:gd name="T38" fmla="*/ 14 w 94"/>
                    <a:gd name="T39" fmla="*/ 4 h 174"/>
                    <a:gd name="T40" fmla="*/ 14 w 94"/>
                    <a:gd name="T41" fmla="*/ 5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9" name="Freeform 28"/>
                <p:cNvSpPr>
                  <a:spLocks/>
                </p:cNvSpPr>
                <p:nvPr userDrawn="1"/>
              </p:nvSpPr>
              <p:spPr bwMode="ltGray">
                <a:xfrm>
                  <a:off x="2415" y="644"/>
                  <a:ext cx="32" cy="41"/>
                </a:xfrm>
                <a:custGeom>
                  <a:avLst/>
                  <a:gdLst>
                    <a:gd name="T0" fmla="*/ 6 w 32"/>
                    <a:gd name="T1" fmla="*/ 2 h 50"/>
                    <a:gd name="T2" fmla="*/ 12 w 32"/>
                    <a:gd name="T3" fmla="*/ 0 h 50"/>
                    <a:gd name="T4" fmla="*/ 20 w 32"/>
                    <a:gd name="T5" fmla="*/ 2 h 50"/>
                    <a:gd name="T6" fmla="*/ 22 w 32"/>
                    <a:gd name="T7" fmla="*/ 2 h 50"/>
                    <a:gd name="T8" fmla="*/ 28 w 32"/>
                    <a:gd name="T9" fmla="*/ 2 h 50"/>
                    <a:gd name="T10" fmla="*/ 32 w 32"/>
                    <a:gd name="T11" fmla="*/ 2 h 50"/>
                    <a:gd name="T12" fmla="*/ 18 w 32"/>
                    <a:gd name="T13" fmla="*/ 2 h 50"/>
                    <a:gd name="T14" fmla="*/ 6 w 32"/>
                    <a:gd name="T15" fmla="*/ 2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0" name="Freeform 29"/>
                <p:cNvSpPr>
                  <a:spLocks/>
                </p:cNvSpPr>
                <p:nvPr userDrawn="1"/>
              </p:nvSpPr>
              <p:spPr bwMode="ltGray">
                <a:xfrm>
                  <a:off x="2349" y="654"/>
                  <a:ext cx="45" cy="41"/>
                </a:xfrm>
                <a:custGeom>
                  <a:avLst/>
                  <a:gdLst>
                    <a:gd name="T0" fmla="*/ 0 w 43"/>
                    <a:gd name="T1" fmla="*/ 2 h 50"/>
                    <a:gd name="T2" fmla="*/ 41 w 43"/>
                    <a:gd name="T3" fmla="*/ 2 h 50"/>
                    <a:gd name="T4" fmla="*/ 72 w 43"/>
                    <a:gd name="T5" fmla="*/ 0 h 50"/>
                    <a:gd name="T6" fmla="*/ 45 w 43"/>
                    <a:gd name="T7" fmla="*/ 2 h 50"/>
                    <a:gd name="T8" fmla="*/ 2 w 43"/>
                    <a:gd name="T9" fmla="*/ 2 h 50"/>
                    <a:gd name="T10" fmla="*/ 0 w 43"/>
                    <a:gd name="T11" fmla="*/ 2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1" name="Freeform 30"/>
                <p:cNvSpPr>
                  <a:spLocks/>
                </p:cNvSpPr>
                <p:nvPr userDrawn="1"/>
              </p:nvSpPr>
              <p:spPr bwMode="ltGray">
                <a:xfrm>
                  <a:off x="4808" y="597"/>
                  <a:ext cx="701" cy="438"/>
                </a:xfrm>
                <a:custGeom>
                  <a:avLst/>
                  <a:gdLst>
                    <a:gd name="T0" fmla="*/ 7988 w 471"/>
                    <a:gd name="T1" fmla="*/ 218026 h 281"/>
                    <a:gd name="T2" fmla="*/ 9412 w 471"/>
                    <a:gd name="T3" fmla="*/ 195014 h 281"/>
                    <a:gd name="T4" fmla="*/ 8641 w 471"/>
                    <a:gd name="T5" fmla="*/ 190648 h 281"/>
                    <a:gd name="T6" fmla="*/ 6324 w 471"/>
                    <a:gd name="T7" fmla="*/ 170005 h 281"/>
                    <a:gd name="T8" fmla="*/ 1520 w 471"/>
                    <a:gd name="T9" fmla="*/ 167461 h 281"/>
                    <a:gd name="T10" fmla="*/ 0 w 471"/>
                    <a:gd name="T11" fmla="*/ 148755 h 281"/>
                    <a:gd name="T12" fmla="*/ 4725 w 471"/>
                    <a:gd name="T13" fmla="*/ 140509 h 281"/>
                    <a:gd name="T14" fmla="*/ 2262 w 471"/>
                    <a:gd name="T15" fmla="*/ 128519 h 281"/>
                    <a:gd name="T16" fmla="*/ 686 w 471"/>
                    <a:gd name="T17" fmla="*/ 124428 h 281"/>
                    <a:gd name="T18" fmla="*/ 11100 w 471"/>
                    <a:gd name="T19" fmla="*/ 93492 h 281"/>
                    <a:gd name="T20" fmla="*/ 17020 w 471"/>
                    <a:gd name="T21" fmla="*/ 75130 h 281"/>
                    <a:gd name="T22" fmla="*/ 16520 w 471"/>
                    <a:gd name="T23" fmla="*/ 54526 h 281"/>
                    <a:gd name="T24" fmla="*/ 9412 w 471"/>
                    <a:gd name="T25" fmla="*/ 33363 h 281"/>
                    <a:gd name="T26" fmla="*/ 7946 w 471"/>
                    <a:gd name="T27" fmla="*/ 25052 h 281"/>
                    <a:gd name="T28" fmla="*/ 10196 w 471"/>
                    <a:gd name="T29" fmla="*/ 27926 h 281"/>
                    <a:gd name="T30" fmla="*/ 18649 w 471"/>
                    <a:gd name="T31" fmla="*/ 27614 h 281"/>
                    <a:gd name="T32" fmla="*/ 24867 w 471"/>
                    <a:gd name="T33" fmla="*/ 8475 h 281"/>
                    <a:gd name="T34" fmla="*/ 32002 w 471"/>
                    <a:gd name="T35" fmla="*/ 0 h 281"/>
                    <a:gd name="T36" fmla="*/ 34276 w 471"/>
                    <a:gd name="T37" fmla="*/ 1635 h 281"/>
                    <a:gd name="T38" fmla="*/ 35903 w 471"/>
                    <a:gd name="T39" fmla="*/ 7002 h 281"/>
                    <a:gd name="T40" fmla="*/ 38199 w 471"/>
                    <a:gd name="T41" fmla="*/ 3973 h 281"/>
                    <a:gd name="T42" fmla="*/ 42895 w 471"/>
                    <a:gd name="T43" fmla="*/ 6193 h 281"/>
                    <a:gd name="T44" fmla="*/ 45188 w 471"/>
                    <a:gd name="T45" fmla="*/ 7002 h 281"/>
                    <a:gd name="T46" fmla="*/ 55083 w 471"/>
                    <a:gd name="T47" fmla="*/ 10914 h 281"/>
                    <a:gd name="T48" fmla="*/ 60490 w 471"/>
                    <a:gd name="T49" fmla="*/ 18477 h 281"/>
                    <a:gd name="T50" fmla="*/ 65220 w 471"/>
                    <a:gd name="T51" fmla="*/ 13210 h 281"/>
                    <a:gd name="T52" fmla="*/ 67254 w 471"/>
                    <a:gd name="T53" fmla="*/ 10914 h 281"/>
                    <a:gd name="T54" fmla="*/ 75925 w 471"/>
                    <a:gd name="T55" fmla="*/ 10914 h 281"/>
                    <a:gd name="T56" fmla="*/ 82090 w 471"/>
                    <a:gd name="T57" fmla="*/ 25052 h 281"/>
                    <a:gd name="T58" fmla="*/ 90029 w 471"/>
                    <a:gd name="T59" fmla="*/ 45895 h 281"/>
                    <a:gd name="T60" fmla="*/ 95458 w 471"/>
                    <a:gd name="T61" fmla="*/ 54526 h 281"/>
                    <a:gd name="T62" fmla="*/ 100096 w 471"/>
                    <a:gd name="T63" fmla="*/ 52897 h 281"/>
                    <a:gd name="T64" fmla="*/ 105165 w 471"/>
                    <a:gd name="T65" fmla="*/ 50342 h 281"/>
                    <a:gd name="T66" fmla="*/ 113001 w 471"/>
                    <a:gd name="T67" fmla="*/ 55575 h 281"/>
                    <a:gd name="T68" fmla="*/ 116667 w 471"/>
                    <a:gd name="T69" fmla="*/ 62989 h 281"/>
                    <a:gd name="T70" fmla="*/ 119922 w 471"/>
                    <a:gd name="T71" fmla="*/ 69972 h 281"/>
                    <a:gd name="T72" fmla="*/ 123845 w 471"/>
                    <a:gd name="T73" fmla="*/ 86626 h 281"/>
                    <a:gd name="T74" fmla="*/ 125338 w 471"/>
                    <a:gd name="T75" fmla="*/ 93492 h 281"/>
                    <a:gd name="T76" fmla="*/ 126013 w 471"/>
                    <a:gd name="T77" fmla="*/ 97538 h 281"/>
                    <a:gd name="T78" fmla="*/ 120639 w 471"/>
                    <a:gd name="T79" fmla="*/ 110205 h 281"/>
                    <a:gd name="T80" fmla="*/ 125338 w 471"/>
                    <a:gd name="T81" fmla="*/ 110025 h 281"/>
                    <a:gd name="T82" fmla="*/ 133258 w 471"/>
                    <a:gd name="T83" fmla="*/ 120949 h 281"/>
                    <a:gd name="T84" fmla="*/ 141849 w 471"/>
                    <a:gd name="T85" fmla="*/ 122311 h 281"/>
                    <a:gd name="T86" fmla="*/ 148066 w 471"/>
                    <a:gd name="T87" fmla="*/ 130786 h 281"/>
                    <a:gd name="T88" fmla="*/ 148975 w 471"/>
                    <a:gd name="T89" fmla="*/ 134079 h 281"/>
                    <a:gd name="T90" fmla="*/ 148975 w 471"/>
                    <a:gd name="T91" fmla="*/ 136966 h 281"/>
                    <a:gd name="T92" fmla="*/ 153334 w 471"/>
                    <a:gd name="T93" fmla="*/ 134079 h 281"/>
                    <a:gd name="T94" fmla="*/ 155845 w 471"/>
                    <a:gd name="T95" fmla="*/ 133266 h 281"/>
                    <a:gd name="T96" fmla="*/ 170989 w 471"/>
                    <a:gd name="T97" fmla="*/ 143996 h 281"/>
                    <a:gd name="T98" fmla="*/ 173980 w 471"/>
                    <a:gd name="T99" fmla="*/ 154887 h 281"/>
                    <a:gd name="T100" fmla="*/ 181093 w 471"/>
                    <a:gd name="T101" fmla="*/ 156533 h 281"/>
                    <a:gd name="T102" fmla="*/ 183357 w 471"/>
                    <a:gd name="T103" fmla="*/ 167461 h 281"/>
                    <a:gd name="T104" fmla="*/ 175673 w 471"/>
                    <a:gd name="T105" fmla="*/ 200942 h 281"/>
                    <a:gd name="T106" fmla="*/ 169307 w 471"/>
                    <a:gd name="T107" fmla="*/ 219014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2" name="Freeform 31"/>
                <p:cNvSpPr>
                  <a:spLocks/>
                </p:cNvSpPr>
                <p:nvPr userDrawn="1"/>
              </p:nvSpPr>
              <p:spPr bwMode="ltGray">
                <a:xfrm>
                  <a:off x="3880" y="-7"/>
                  <a:ext cx="984" cy="692"/>
                </a:xfrm>
                <a:custGeom>
                  <a:avLst/>
                  <a:gdLst>
                    <a:gd name="T0" fmla="*/ 406 w 984"/>
                    <a:gd name="T1" fmla="*/ 2 h 844"/>
                    <a:gd name="T2" fmla="*/ 502 w 984"/>
                    <a:gd name="T3" fmla="*/ 2 h 844"/>
                    <a:gd name="T4" fmla="*/ 550 w 984"/>
                    <a:gd name="T5" fmla="*/ 2 h 844"/>
                    <a:gd name="T6" fmla="*/ 578 w 984"/>
                    <a:gd name="T7" fmla="*/ 6 h 844"/>
                    <a:gd name="T8" fmla="*/ 586 w 984"/>
                    <a:gd name="T9" fmla="*/ 5 h 844"/>
                    <a:gd name="T10" fmla="*/ 606 w 984"/>
                    <a:gd name="T11" fmla="*/ 3 h 844"/>
                    <a:gd name="T12" fmla="*/ 642 w 984"/>
                    <a:gd name="T13" fmla="*/ 6 h 844"/>
                    <a:gd name="T14" fmla="*/ 682 w 984"/>
                    <a:gd name="T15" fmla="*/ 5 h 844"/>
                    <a:gd name="T16" fmla="*/ 706 w 984"/>
                    <a:gd name="T17" fmla="*/ 4 h 844"/>
                    <a:gd name="T18" fmla="*/ 762 w 984"/>
                    <a:gd name="T19" fmla="*/ 2 h 844"/>
                    <a:gd name="T20" fmla="*/ 798 w 984"/>
                    <a:gd name="T21" fmla="*/ 3 h 844"/>
                    <a:gd name="T22" fmla="*/ 798 w 984"/>
                    <a:gd name="T23" fmla="*/ 6 h 844"/>
                    <a:gd name="T24" fmla="*/ 790 w 984"/>
                    <a:gd name="T25" fmla="*/ 7 h 844"/>
                    <a:gd name="T26" fmla="*/ 766 w 984"/>
                    <a:gd name="T27" fmla="*/ 8 h 844"/>
                    <a:gd name="T28" fmla="*/ 762 w 984"/>
                    <a:gd name="T29" fmla="*/ 9 h 844"/>
                    <a:gd name="T30" fmla="*/ 802 w 984"/>
                    <a:gd name="T31" fmla="*/ 11 h 844"/>
                    <a:gd name="T32" fmla="*/ 786 w 984"/>
                    <a:gd name="T33" fmla="*/ 16 h 844"/>
                    <a:gd name="T34" fmla="*/ 830 w 984"/>
                    <a:gd name="T35" fmla="*/ 21 h 844"/>
                    <a:gd name="T36" fmla="*/ 854 w 984"/>
                    <a:gd name="T37" fmla="*/ 23 h 844"/>
                    <a:gd name="T38" fmla="*/ 830 w 984"/>
                    <a:gd name="T39" fmla="*/ 23 h 844"/>
                    <a:gd name="T40" fmla="*/ 746 w 984"/>
                    <a:gd name="T41" fmla="*/ 20 h 844"/>
                    <a:gd name="T42" fmla="*/ 678 w 984"/>
                    <a:gd name="T43" fmla="*/ 20 h 844"/>
                    <a:gd name="T44" fmla="*/ 590 w 984"/>
                    <a:gd name="T45" fmla="*/ 23 h 844"/>
                    <a:gd name="T46" fmla="*/ 642 w 984"/>
                    <a:gd name="T47" fmla="*/ 30 h 844"/>
                    <a:gd name="T48" fmla="*/ 710 w 984"/>
                    <a:gd name="T49" fmla="*/ 32 h 844"/>
                    <a:gd name="T50" fmla="*/ 738 w 984"/>
                    <a:gd name="T51" fmla="*/ 28 h 844"/>
                    <a:gd name="T52" fmla="*/ 774 w 984"/>
                    <a:gd name="T53" fmla="*/ 29 h 844"/>
                    <a:gd name="T54" fmla="*/ 766 w 984"/>
                    <a:gd name="T55" fmla="*/ 32 h 844"/>
                    <a:gd name="T56" fmla="*/ 802 w 984"/>
                    <a:gd name="T57" fmla="*/ 34 h 844"/>
                    <a:gd name="T58" fmla="*/ 838 w 984"/>
                    <a:gd name="T59" fmla="*/ 34 h 844"/>
                    <a:gd name="T60" fmla="*/ 922 w 984"/>
                    <a:gd name="T61" fmla="*/ 41 h 844"/>
                    <a:gd name="T62" fmla="*/ 942 w 984"/>
                    <a:gd name="T63" fmla="*/ 42 h 844"/>
                    <a:gd name="T64" fmla="*/ 874 w 984"/>
                    <a:gd name="T65" fmla="*/ 41 h 844"/>
                    <a:gd name="T66" fmla="*/ 830 w 984"/>
                    <a:gd name="T67" fmla="*/ 39 h 844"/>
                    <a:gd name="T68" fmla="*/ 778 w 984"/>
                    <a:gd name="T69" fmla="*/ 36 h 844"/>
                    <a:gd name="T70" fmla="*/ 702 w 984"/>
                    <a:gd name="T71" fmla="*/ 34 h 844"/>
                    <a:gd name="T72" fmla="*/ 614 w 984"/>
                    <a:gd name="T73" fmla="*/ 33 h 844"/>
                    <a:gd name="T74" fmla="*/ 506 w 984"/>
                    <a:gd name="T75" fmla="*/ 30 h 844"/>
                    <a:gd name="T76" fmla="*/ 462 w 984"/>
                    <a:gd name="T77" fmla="*/ 26 h 844"/>
                    <a:gd name="T78" fmla="*/ 430 w 984"/>
                    <a:gd name="T79" fmla="*/ 24 h 844"/>
                    <a:gd name="T80" fmla="*/ 382 w 984"/>
                    <a:gd name="T81" fmla="*/ 21 h 844"/>
                    <a:gd name="T82" fmla="*/ 342 w 984"/>
                    <a:gd name="T83" fmla="*/ 19 h 844"/>
                    <a:gd name="T84" fmla="*/ 354 w 984"/>
                    <a:gd name="T85" fmla="*/ 21 h 844"/>
                    <a:gd name="T86" fmla="*/ 418 w 984"/>
                    <a:gd name="T87" fmla="*/ 25 h 844"/>
                    <a:gd name="T88" fmla="*/ 422 w 984"/>
                    <a:gd name="T89" fmla="*/ 26 h 844"/>
                    <a:gd name="T90" fmla="*/ 394 w 984"/>
                    <a:gd name="T91" fmla="*/ 26 h 844"/>
                    <a:gd name="T92" fmla="*/ 354 w 984"/>
                    <a:gd name="T93" fmla="*/ 24 h 844"/>
                    <a:gd name="T94" fmla="*/ 314 w 984"/>
                    <a:gd name="T95" fmla="*/ 20 h 844"/>
                    <a:gd name="T96" fmla="*/ 266 w 984"/>
                    <a:gd name="T97" fmla="*/ 17 h 844"/>
                    <a:gd name="T98" fmla="*/ 210 w 984"/>
                    <a:gd name="T99" fmla="*/ 16 h 844"/>
                    <a:gd name="T100" fmla="*/ 154 w 984"/>
                    <a:gd name="T101" fmla="*/ 11 h 844"/>
                    <a:gd name="T102" fmla="*/ 66 w 984"/>
                    <a:gd name="T103" fmla="*/ 3 h 844"/>
                    <a:gd name="T104" fmla="*/ 34 w 984"/>
                    <a:gd name="T105" fmla="*/ 2 h 844"/>
                    <a:gd name="T106" fmla="*/ 46 w 984"/>
                    <a:gd name="T107" fmla="*/ 2 h 844"/>
                    <a:gd name="T108" fmla="*/ 102 w 984"/>
                    <a:gd name="T109" fmla="*/ 3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3" name="Freeform 32"/>
                <p:cNvSpPr>
                  <a:spLocks/>
                </p:cNvSpPr>
                <p:nvPr userDrawn="1"/>
              </p:nvSpPr>
              <p:spPr bwMode="ltGray">
                <a:xfrm>
                  <a:off x="3577" y="490"/>
                  <a:ext cx="36" cy="39"/>
                </a:xfrm>
                <a:custGeom>
                  <a:avLst/>
                  <a:gdLst>
                    <a:gd name="T0" fmla="*/ 6 w 36"/>
                    <a:gd name="T1" fmla="*/ 2 h 48"/>
                    <a:gd name="T2" fmla="*/ 10 w 36"/>
                    <a:gd name="T3" fmla="*/ 2 h 48"/>
                    <a:gd name="T4" fmla="*/ 6 w 36"/>
                    <a:gd name="T5" fmla="*/ 2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4" name="Freeform 33"/>
                <p:cNvSpPr>
                  <a:spLocks/>
                </p:cNvSpPr>
                <p:nvPr userDrawn="1"/>
              </p:nvSpPr>
              <p:spPr bwMode="ltGray">
                <a:xfrm>
                  <a:off x="3549" y="475"/>
                  <a:ext cx="38" cy="29"/>
                </a:xfrm>
                <a:custGeom>
                  <a:avLst/>
                  <a:gdLst>
                    <a:gd name="T0" fmla="*/ 0 w 36"/>
                    <a:gd name="T1" fmla="*/ 2 h 37"/>
                    <a:gd name="T2" fmla="*/ 27 w 36"/>
                    <a:gd name="T3" fmla="*/ 1 h 37"/>
                    <a:gd name="T4" fmla="*/ 80 w 36"/>
                    <a:gd name="T5" fmla="*/ 2 h 37"/>
                    <a:gd name="T6" fmla="*/ 8 w 36"/>
                    <a:gd name="T7" fmla="*/ 2 h 37"/>
                    <a:gd name="T8" fmla="*/ 0 w 36"/>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5" name="Freeform 34"/>
                <p:cNvSpPr>
                  <a:spLocks/>
                </p:cNvSpPr>
                <p:nvPr userDrawn="1"/>
              </p:nvSpPr>
              <p:spPr bwMode="ltGray">
                <a:xfrm>
                  <a:off x="4686" y="394"/>
                  <a:ext cx="171" cy="81"/>
                </a:xfrm>
                <a:custGeom>
                  <a:avLst/>
                  <a:gdLst>
                    <a:gd name="T0" fmla="*/ 0 w 170"/>
                    <a:gd name="T1" fmla="*/ 4 h 96"/>
                    <a:gd name="T2" fmla="*/ 28 w 170"/>
                    <a:gd name="T3" fmla="*/ 3 h 96"/>
                    <a:gd name="T4" fmla="*/ 56 w 170"/>
                    <a:gd name="T5" fmla="*/ 3 h 96"/>
                    <a:gd name="T6" fmla="*/ 80 w 170"/>
                    <a:gd name="T7" fmla="*/ 3 h 96"/>
                    <a:gd name="T8" fmla="*/ 64 w 170"/>
                    <a:gd name="T9" fmla="*/ 3 h 96"/>
                    <a:gd name="T10" fmla="*/ 139 w 170"/>
                    <a:gd name="T11" fmla="*/ 4 h 96"/>
                    <a:gd name="T12" fmla="*/ 175 w 170"/>
                    <a:gd name="T13" fmla="*/ 5 h 96"/>
                    <a:gd name="T14" fmla="*/ 131 w 170"/>
                    <a:gd name="T15" fmla="*/ 6 h 96"/>
                    <a:gd name="T16" fmla="*/ 103 w 170"/>
                    <a:gd name="T17" fmla="*/ 5 h 96"/>
                    <a:gd name="T18" fmla="*/ 76 w 170"/>
                    <a:gd name="T19" fmla="*/ 4 h 96"/>
                    <a:gd name="T20" fmla="*/ 24 w 170"/>
                    <a:gd name="T21" fmla="*/ 3 h 96"/>
                    <a:gd name="T22" fmla="*/ 0 w 170"/>
                    <a:gd name="T23" fmla="*/ 4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6" name="Freeform 35"/>
                <p:cNvSpPr>
                  <a:spLocks/>
                </p:cNvSpPr>
                <p:nvPr userDrawn="1"/>
              </p:nvSpPr>
              <p:spPr bwMode="ltGray">
                <a:xfrm>
                  <a:off x="4867" y="460"/>
                  <a:ext cx="138" cy="37"/>
                </a:xfrm>
                <a:custGeom>
                  <a:avLst/>
                  <a:gdLst>
                    <a:gd name="T0" fmla="*/ 0 w 138"/>
                    <a:gd name="T1" fmla="*/ 0 h 44"/>
                    <a:gd name="T2" fmla="*/ 52 w 138"/>
                    <a:gd name="T3" fmla="*/ 3 h 44"/>
                    <a:gd name="T4" fmla="*/ 88 w 138"/>
                    <a:gd name="T5" fmla="*/ 3 h 44"/>
                    <a:gd name="T6" fmla="*/ 112 w 138"/>
                    <a:gd name="T7" fmla="*/ 3 h 44"/>
                    <a:gd name="T8" fmla="*/ 108 w 138"/>
                    <a:gd name="T9" fmla="*/ 3 h 44"/>
                    <a:gd name="T10" fmla="*/ 64 w 138"/>
                    <a:gd name="T11" fmla="*/ 3 h 44"/>
                    <a:gd name="T12" fmla="*/ 0 w 138"/>
                    <a:gd name="T13" fmla="*/ 3 h 44"/>
                    <a:gd name="T14" fmla="*/ 28 w 138"/>
                    <a:gd name="T15" fmla="*/ 3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7" name="Freeform 36"/>
                <p:cNvSpPr>
                  <a:spLocks/>
                </p:cNvSpPr>
                <p:nvPr userDrawn="1"/>
              </p:nvSpPr>
              <p:spPr bwMode="ltGray">
                <a:xfrm>
                  <a:off x="4794" y="480"/>
                  <a:ext cx="56" cy="34"/>
                </a:xfrm>
                <a:custGeom>
                  <a:avLst/>
                  <a:gdLst>
                    <a:gd name="T0" fmla="*/ 17 w 57"/>
                    <a:gd name="T1" fmla="*/ 2 h 42"/>
                    <a:gd name="T2" fmla="*/ 28 w 57"/>
                    <a:gd name="T3" fmla="*/ 2 h 42"/>
                    <a:gd name="T4" fmla="*/ 17 w 57"/>
                    <a:gd name="T5" fmla="*/ 2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8" name="Freeform 37"/>
                <p:cNvSpPr>
                  <a:spLocks/>
                </p:cNvSpPr>
                <p:nvPr userDrawn="1"/>
              </p:nvSpPr>
              <p:spPr bwMode="ltGray">
                <a:xfrm>
                  <a:off x="4757" y="375"/>
                  <a:ext cx="37" cy="44"/>
                </a:xfrm>
                <a:custGeom>
                  <a:avLst/>
                  <a:gdLst>
                    <a:gd name="T0" fmla="*/ 9 w 39"/>
                    <a:gd name="T1" fmla="*/ 3 h 52"/>
                    <a:gd name="T2" fmla="*/ 9 w 39"/>
                    <a:gd name="T3" fmla="*/ 0 h 52"/>
                    <a:gd name="T4" fmla="*/ 9 w 39"/>
                    <a:gd name="T5" fmla="*/ 3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9" name="Freeform 38"/>
                <p:cNvSpPr>
                  <a:spLocks/>
                </p:cNvSpPr>
                <p:nvPr userDrawn="1"/>
              </p:nvSpPr>
              <p:spPr bwMode="ltGray">
                <a:xfrm>
                  <a:off x="5054" y="507"/>
                  <a:ext cx="45" cy="66"/>
                </a:xfrm>
                <a:custGeom>
                  <a:avLst/>
                  <a:gdLst>
                    <a:gd name="T0" fmla="*/ 4 w 44"/>
                    <a:gd name="T1" fmla="*/ 2 h 80"/>
                    <a:gd name="T2" fmla="*/ 20 w 44"/>
                    <a:gd name="T3" fmla="*/ 2 h 80"/>
                    <a:gd name="T4" fmla="*/ 39 w 44"/>
                    <a:gd name="T5" fmla="*/ 2 h 80"/>
                    <a:gd name="T6" fmla="*/ 51 w 44"/>
                    <a:gd name="T7" fmla="*/ 3 h 80"/>
                    <a:gd name="T8" fmla="*/ 39 w 44"/>
                    <a:gd name="T9" fmla="*/ 4 h 80"/>
                    <a:gd name="T10" fmla="*/ 0 w 44"/>
                    <a:gd name="T11" fmla="*/ 2 h 80"/>
                    <a:gd name="T12" fmla="*/ 4 w 44"/>
                    <a:gd name="T13" fmla="*/ 2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0" name="Freeform 39"/>
                <p:cNvSpPr>
                  <a:spLocks/>
                </p:cNvSpPr>
                <p:nvPr userDrawn="1"/>
              </p:nvSpPr>
              <p:spPr bwMode="ltGray">
                <a:xfrm>
                  <a:off x="4260" y="6"/>
                  <a:ext cx="480" cy="100"/>
                </a:xfrm>
                <a:custGeom>
                  <a:avLst/>
                  <a:gdLst>
                    <a:gd name="T0" fmla="*/ 83771 w 323"/>
                    <a:gd name="T1" fmla="*/ 1091 h 64"/>
                    <a:gd name="T2" fmla="*/ 87877 w 323"/>
                    <a:gd name="T3" fmla="*/ 6505 h 64"/>
                    <a:gd name="T4" fmla="*/ 89460 w 323"/>
                    <a:gd name="T5" fmla="*/ 0 h 64"/>
                    <a:gd name="T6" fmla="*/ 101018 w 323"/>
                    <a:gd name="T7" fmla="*/ 0 h 64"/>
                    <a:gd name="T8" fmla="*/ 109508 w 323"/>
                    <a:gd name="T9" fmla="*/ 14019 h 64"/>
                    <a:gd name="T10" fmla="*/ 121274 w 323"/>
                    <a:gd name="T11" fmla="*/ 8211 h 64"/>
                    <a:gd name="T12" fmla="*/ 119609 w 323"/>
                    <a:gd name="T13" fmla="*/ 23111 h 64"/>
                    <a:gd name="T14" fmla="*/ 113381 w 323"/>
                    <a:gd name="T15" fmla="*/ 37586 h 64"/>
                    <a:gd name="T16" fmla="*/ 112148 w 323"/>
                    <a:gd name="T17" fmla="*/ 23111 h 64"/>
                    <a:gd name="T18" fmla="*/ 109508 w 323"/>
                    <a:gd name="T19" fmla="*/ 24814 h 64"/>
                    <a:gd name="T20" fmla="*/ 106429 w 323"/>
                    <a:gd name="T21" fmla="*/ 23111 h 64"/>
                    <a:gd name="T22" fmla="*/ 100067 w 323"/>
                    <a:gd name="T23" fmla="*/ 17173 h 64"/>
                    <a:gd name="T24" fmla="*/ 86901 w 323"/>
                    <a:gd name="T25" fmla="*/ 30517 h 64"/>
                    <a:gd name="T26" fmla="*/ 76585 w 323"/>
                    <a:gd name="T27" fmla="*/ 35813 h 64"/>
                    <a:gd name="T28" fmla="*/ 80637 w 323"/>
                    <a:gd name="T29" fmla="*/ 45973 h 64"/>
                    <a:gd name="T30" fmla="*/ 71618 w 323"/>
                    <a:gd name="T31" fmla="*/ 50544 h 64"/>
                    <a:gd name="T32" fmla="*/ 64216 w 323"/>
                    <a:gd name="T33" fmla="*/ 48942 h 64"/>
                    <a:gd name="T34" fmla="*/ 67337 w 323"/>
                    <a:gd name="T35" fmla="*/ 45973 h 64"/>
                    <a:gd name="T36" fmla="*/ 64938 w 323"/>
                    <a:gd name="T37" fmla="*/ 32348 h 64"/>
                    <a:gd name="T38" fmla="*/ 64216 w 323"/>
                    <a:gd name="T39" fmla="*/ 24814 h 64"/>
                    <a:gd name="T40" fmla="*/ 60199 w 323"/>
                    <a:gd name="T41" fmla="*/ 18758 h 64"/>
                    <a:gd name="T42" fmla="*/ 54161 w 323"/>
                    <a:gd name="T43" fmla="*/ 21905 h 64"/>
                    <a:gd name="T44" fmla="*/ 51039 w 323"/>
                    <a:gd name="T45" fmla="*/ 21905 h 64"/>
                    <a:gd name="T46" fmla="*/ 46884 w 323"/>
                    <a:gd name="T47" fmla="*/ 20047 h 64"/>
                    <a:gd name="T48" fmla="*/ 31549 w 323"/>
                    <a:gd name="T49" fmla="*/ 1705 h 64"/>
                    <a:gd name="T50" fmla="*/ 22618 w 323"/>
                    <a:gd name="T51" fmla="*/ 11253 h 64"/>
                    <a:gd name="T52" fmla="*/ 1 w 323"/>
                    <a:gd name="T53" fmla="*/ 0 h 64"/>
                    <a:gd name="T54" fmla="*/ 83771 w 323"/>
                    <a:gd name="T55" fmla="*/ 109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1" name="Freeform 40"/>
                <p:cNvSpPr>
                  <a:spLocks/>
                </p:cNvSpPr>
                <p:nvPr userDrawn="1"/>
              </p:nvSpPr>
              <p:spPr bwMode="ltGray">
                <a:xfrm>
                  <a:off x="3835" y="3"/>
                  <a:ext cx="446" cy="49"/>
                </a:xfrm>
                <a:custGeom>
                  <a:avLst/>
                  <a:gdLst>
                    <a:gd name="T0" fmla="*/ 40241 w 300"/>
                    <a:gd name="T1" fmla="*/ 29681 h 31"/>
                    <a:gd name="T2" fmla="*/ 11713 w 300"/>
                    <a:gd name="T3" fmla="*/ 1279 h 31"/>
                    <a:gd name="T4" fmla="*/ 109208 w 300"/>
                    <a:gd name="T5" fmla="*/ 0 h 31"/>
                    <a:gd name="T6" fmla="*/ 113272 w 300"/>
                    <a:gd name="T7" fmla="*/ 13426 h 31"/>
                    <a:gd name="T8" fmla="*/ 101044 w 300"/>
                    <a:gd name="T9" fmla="*/ 15383 h 31"/>
                    <a:gd name="T10" fmla="*/ 40241 w 300"/>
                    <a:gd name="T11" fmla="*/ 2968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2" name="Freeform 41"/>
                <p:cNvSpPr>
                  <a:spLocks/>
                </p:cNvSpPr>
                <p:nvPr userDrawn="1"/>
              </p:nvSpPr>
              <p:spPr bwMode="ltGray">
                <a:xfrm>
                  <a:off x="2853" y="74"/>
                  <a:ext cx="42" cy="25"/>
                </a:xfrm>
                <a:custGeom>
                  <a:avLst/>
                  <a:gdLst>
                    <a:gd name="T0" fmla="*/ 0 w 41"/>
                    <a:gd name="T1" fmla="*/ 3 h 29"/>
                    <a:gd name="T2" fmla="*/ 12 w 41"/>
                    <a:gd name="T3" fmla="*/ 3 h 29"/>
                    <a:gd name="T4" fmla="*/ 0 w 41"/>
                    <a:gd name="T5" fmla="*/ 3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3" name="Freeform 42"/>
                <p:cNvSpPr>
                  <a:spLocks/>
                </p:cNvSpPr>
                <p:nvPr userDrawn="1"/>
              </p:nvSpPr>
              <p:spPr bwMode="ltGray">
                <a:xfrm>
                  <a:off x="1704" y="3"/>
                  <a:ext cx="1022" cy="372"/>
                </a:xfrm>
                <a:custGeom>
                  <a:avLst/>
                  <a:gdLst>
                    <a:gd name="T0" fmla="*/ 25861419 w 436"/>
                    <a:gd name="T1" fmla="*/ 548578 h 152"/>
                    <a:gd name="T2" fmla="*/ 154524473 w 436"/>
                    <a:gd name="T3" fmla="*/ 0 h 152"/>
                    <a:gd name="T4" fmla="*/ 147374486 w 436"/>
                    <a:gd name="T5" fmla="*/ 36526122 h 152"/>
                    <a:gd name="T6" fmla="*/ 140743099 w 436"/>
                    <a:gd name="T7" fmla="*/ 45900314 h 152"/>
                    <a:gd name="T8" fmla="*/ 138924928 w 436"/>
                    <a:gd name="T9" fmla="*/ 47333755 h 152"/>
                    <a:gd name="T10" fmla="*/ 132865898 w 436"/>
                    <a:gd name="T11" fmla="*/ 49506188 h 152"/>
                    <a:gd name="T12" fmla="*/ 127888603 w 436"/>
                    <a:gd name="T13" fmla="*/ 59429406 h 152"/>
                    <a:gd name="T14" fmla="*/ 128357863 w 436"/>
                    <a:gd name="T15" fmla="*/ 66896919 h 152"/>
                    <a:gd name="T16" fmla="*/ 128934943 w 436"/>
                    <a:gd name="T17" fmla="*/ 72446599 h 152"/>
                    <a:gd name="T18" fmla="*/ 129710604 w 436"/>
                    <a:gd name="T19" fmla="*/ 76595963 h 152"/>
                    <a:gd name="T20" fmla="*/ 128357863 w 436"/>
                    <a:gd name="T21" fmla="*/ 82694252 h 152"/>
                    <a:gd name="T22" fmla="*/ 124426908 w 436"/>
                    <a:gd name="T23" fmla="*/ 81351686 h 152"/>
                    <a:gd name="T24" fmla="*/ 121258814 w 436"/>
                    <a:gd name="T25" fmla="*/ 87349413 h 152"/>
                    <a:gd name="T26" fmla="*/ 122935869 w 436"/>
                    <a:gd name="T27" fmla="*/ 71068312 h 152"/>
                    <a:gd name="T28" fmla="*/ 119720650 w 436"/>
                    <a:gd name="T29" fmla="*/ 67785196 h 152"/>
                    <a:gd name="T30" fmla="*/ 121833914 w 436"/>
                    <a:gd name="T31" fmla="*/ 63073317 h 152"/>
                    <a:gd name="T32" fmla="*/ 121258814 w 436"/>
                    <a:gd name="T33" fmla="*/ 60352267 h 152"/>
                    <a:gd name="T34" fmla="*/ 113390574 w 436"/>
                    <a:gd name="T35" fmla="*/ 63621278 h 152"/>
                    <a:gd name="T36" fmla="*/ 112348183 w 436"/>
                    <a:gd name="T37" fmla="*/ 57523606 h 152"/>
                    <a:gd name="T38" fmla="*/ 105187306 w 436"/>
                    <a:gd name="T39" fmla="*/ 63621278 h 152"/>
                    <a:gd name="T40" fmla="*/ 113390574 w 436"/>
                    <a:gd name="T41" fmla="*/ 69725771 h 152"/>
                    <a:gd name="T42" fmla="*/ 108111890 w 436"/>
                    <a:gd name="T43" fmla="*/ 79087648 h 152"/>
                    <a:gd name="T44" fmla="*/ 110227156 w 436"/>
                    <a:gd name="T45" fmla="*/ 85182068 h 152"/>
                    <a:gd name="T46" fmla="*/ 111572415 w 436"/>
                    <a:gd name="T47" fmla="*/ 93447707 h 152"/>
                    <a:gd name="T48" fmla="*/ 109459622 w 436"/>
                    <a:gd name="T49" fmla="*/ 94011265 h 152"/>
                    <a:gd name="T50" fmla="*/ 111241646 w 436"/>
                    <a:gd name="T51" fmla="*/ 97293015 h 152"/>
                    <a:gd name="T52" fmla="*/ 108874759 w 436"/>
                    <a:gd name="T53" fmla="*/ 102821162 h 152"/>
                    <a:gd name="T54" fmla="*/ 0 w 436"/>
                    <a:gd name="T55" fmla="*/ 100931542 h 152"/>
                    <a:gd name="T56" fmla="*/ 25861419 w 436"/>
                    <a:gd name="T57" fmla="*/ 548578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4" name="Freeform 43"/>
                <p:cNvSpPr>
                  <a:spLocks/>
                </p:cNvSpPr>
                <p:nvPr userDrawn="1"/>
              </p:nvSpPr>
              <p:spPr bwMode="ltGray">
                <a:xfrm>
                  <a:off x="2729" y="-9"/>
                  <a:ext cx="47" cy="134"/>
                </a:xfrm>
                <a:custGeom>
                  <a:avLst/>
                  <a:gdLst>
                    <a:gd name="T0" fmla="*/ 5 w 47"/>
                    <a:gd name="T1" fmla="*/ 6 h 165"/>
                    <a:gd name="T2" fmla="*/ 15 w 47"/>
                    <a:gd name="T3" fmla="*/ 5 h 165"/>
                    <a:gd name="T4" fmla="*/ 17 w 47"/>
                    <a:gd name="T5" fmla="*/ 2 h 165"/>
                    <a:gd name="T6" fmla="*/ 11 w 47"/>
                    <a:gd name="T7" fmla="*/ 2 h 165"/>
                    <a:gd name="T8" fmla="*/ 17 w 47"/>
                    <a:gd name="T9" fmla="*/ 2 h 165"/>
                    <a:gd name="T10" fmla="*/ 21 w 47"/>
                    <a:gd name="T11" fmla="*/ 0 h 165"/>
                    <a:gd name="T12" fmla="*/ 31 w 47"/>
                    <a:gd name="T13" fmla="*/ 2 h 165"/>
                    <a:gd name="T14" fmla="*/ 47 w 47"/>
                    <a:gd name="T15" fmla="*/ 4 h 165"/>
                    <a:gd name="T16" fmla="*/ 31 w 47"/>
                    <a:gd name="T17" fmla="*/ 5 h 165"/>
                    <a:gd name="T18" fmla="*/ 23 w 47"/>
                    <a:gd name="T19" fmla="*/ 5 h 165"/>
                    <a:gd name="T20" fmla="*/ 21 w 47"/>
                    <a:gd name="T21" fmla="*/ 6 h 165"/>
                    <a:gd name="T22" fmla="*/ 27 w 47"/>
                    <a:gd name="T23" fmla="*/ 6 h 165"/>
                    <a:gd name="T24" fmla="*/ 31 w 47"/>
                    <a:gd name="T25" fmla="*/ 6 h 165"/>
                    <a:gd name="T26" fmla="*/ 13 w 47"/>
                    <a:gd name="T27" fmla="*/ 6 h 165"/>
                    <a:gd name="T28" fmla="*/ 7 w 47"/>
                    <a:gd name="T29" fmla="*/ 6 h 165"/>
                    <a:gd name="T30" fmla="*/ 3 w 47"/>
                    <a:gd name="T31" fmla="*/ 6 h 165"/>
                    <a:gd name="T32" fmla="*/ 5 w 47"/>
                    <a:gd name="T33" fmla="*/ 6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5" name="Freeform 44"/>
                <p:cNvSpPr>
                  <a:spLocks/>
                </p:cNvSpPr>
                <p:nvPr userDrawn="1"/>
              </p:nvSpPr>
              <p:spPr bwMode="ltGray">
                <a:xfrm>
                  <a:off x="2701" y="103"/>
                  <a:ext cx="138" cy="84"/>
                </a:xfrm>
                <a:custGeom>
                  <a:avLst/>
                  <a:gdLst>
                    <a:gd name="T0" fmla="*/ 26 w 138"/>
                    <a:gd name="T1" fmla="*/ 3 h 103"/>
                    <a:gd name="T2" fmla="*/ 30 w 138"/>
                    <a:gd name="T3" fmla="*/ 2 h 103"/>
                    <a:gd name="T4" fmla="*/ 50 w 138"/>
                    <a:gd name="T5" fmla="*/ 2 h 103"/>
                    <a:gd name="T6" fmla="*/ 54 w 138"/>
                    <a:gd name="T7" fmla="*/ 2 h 103"/>
                    <a:gd name="T8" fmla="*/ 66 w 138"/>
                    <a:gd name="T9" fmla="*/ 2 h 103"/>
                    <a:gd name="T10" fmla="*/ 80 w 138"/>
                    <a:gd name="T11" fmla="*/ 2 h 103"/>
                    <a:gd name="T12" fmla="*/ 116 w 138"/>
                    <a:gd name="T13" fmla="*/ 2 h 103"/>
                    <a:gd name="T14" fmla="*/ 130 w 138"/>
                    <a:gd name="T15" fmla="*/ 2 h 103"/>
                    <a:gd name="T16" fmla="*/ 138 w 138"/>
                    <a:gd name="T17" fmla="*/ 2 h 103"/>
                    <a:gd name="T18" fmla="*/ 106 w 138"/>
                    <a:gd name="T19" fmla="*/ 2 h 103"/>
                    <a:gd name="T20" fmla="*/ 84 w 138"/>
                    <a:gd name="T21" fmla="*/ 3 h 103"/>
                    <a:gd name="T22" fmla="*/ 66 w 138"/>
                    <a:gd name="T23" fmla="*/ 4 h 103"/>
                    <a:gd name="T24" fmla="*/ 48 w 138"/>
                    <a:gd name="T25" fmla="*/ 5 h 103"/>
                    <a:gd name="T26" fmla="*/ 26 w 138"/>
                    <a:gd name="T27" fmla="*/ 5 h 103"/>
                    <a:gd name="T28" fmla="*/ 20 w 138"/>
                    <a:gd name="T29" fmla="*/ 4 h 103"/>
                    <a:gd name="T30" fmla="*/ 22 w 138"/>
                    <a:gd name="T31" fmla="*/ 5 h 103"/>
                    <a:gd name="T32" fmla="*/ 0 w 138"/>
                    <a:gd name="T33" fmla="*/ 5 h 103"/>
                    <a:gd name="T34" fmla="*/ 10 w 138"/>
                    <a:gd name="T35" fmla="*/ 4 h 103"/>
                    <a:gd name="T36" fmla="*/ 26 w 138"/>
                    <a:gd name="T37" fmla="*/ 3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6" name="Freeform 45"/>
                <p:cNvSpPr>
                  <a:spLocks/>
                </p:cNvSpPr>
                <p:nvPr userDrawn="1"/>
              </p:nvSpPr>
              <p:spPr bwMode="ltGray">
                <a:xfrm>
                  <a:off x="2553" y="182"/>
                  <a:ext cx="187" cy="176"/>
                </a:xfrm>
                <a:custGeom>
                  <a:avLst/>
                  <a:gdLst>
                    <a:gd name="T0" fmla="*/ 143 w 188"/>
                    <a:gd name="T1" fmla="*/ 2 h 214"/>
                    <a:gd name="T2" fmla="*/ 145 w 188"/>
                    <a:gd name="T3" fmla="*/ 2 h 214"/>
                    <a:gd name="T4" fmla="*/ 155 w 188"/>
                    <a:gd name="T5" fmla="*/ 0 h 214"/>
                    <a:gd name="T6" fmla="*/ 167 w 188"/>
                    <a:gd name="T7" fmla="*/ 2 h 214"/>
                    <a:gd name="T8" fmla="*/ 173 w 188"/>
                    <a:gd name="T9" fmla="*/ 2 h 214"/>
                    <a:gd name="T10" fmla="*/ 163 w 188"/>
                    <a:gd name="T11" fmla="*/ 3 h 214"/>
                    <a:gd name="T12" fmla="*/ 155 w 188"/>
                    <a:gd name="T13" fmla="*/ 4 h 214"/>
                    <a:gd name="T14" fmla="*/ 147 w 188"/>
                    <a:gd name="T15" fmla="*/ 7 h 214"/>
                    <a:gd name="T16" fmla="*/ 129 w 188"/>
                    <a:gd name="T17" fmla="*/ 7 h 214"/>
                    <a:gd name="T18" fmla="*/ 105 w 188"/>
                    <a:gd name="T19" fmla="*/ 7 h 214"/>
                    <a:gd name="T20" fmla="*/ 97 w 188"/>
                    <a:gd name="T21" fmla="*/ 7 h 214"/>
                    <a:gd name="T22" fmla="*/ 94 w 188"/>
                    <a:gd name="T23" fmla="*/ 8 h 214"/>
                    <a:gd name="T24" fmla="*/ 90 w 188"/>
                    <a:gd name="T25" fmla="*/ 8 h 214"/>
                    <a:gd name="T26" fmla="*/ 80 w 188"/>
                    <a:gd name="T27" fmla="*/ 7 h 214"/>
                    <a:gd name="T28" fmla="*/ 58 w 188"/>
                    <a:gd name="T29" fmla="*/ 8 h 214"/>
                    <a:gd name="T30" fmla="*/ 76 w 188"/>
                    <a:gd name="T31" fmla="*/ 8 h 214"/>
                    <a:gd name="T32" fmla="*/ 78 w 188"/>
                    <a:gd name="T33" fmla="*/ 9 h 214"/>
                    <a:gd name="T34" fmla="*/ 58 w 188"/>
                    <a:gd name="T35" fmla="*/ 9 h 214"/>
                    <a:gd name="T36" fmla="*/ 34 w 188"/>
                    <a:gd name="T37" fmla="*/ 9 h 214"/>
                    <a:gd name="T38" fmla="*/ 36 w 188"/>
                    <a:gd name="T39" fmla="*/ 8 h 214"/>
                    <a:gd name="T40" fmla="*/ 46 w 188"/>
                    <a:gd name="T41" fmla="*/ 8 h 214"/>
                    <a:gd name="T42" fmla="*/ 34 w 188"/>
                    <a:gd name="T43" fmla="*/ 8 h 214"/>
                    <a:gd name="T44" fmla="*/ 26 w 188"/>
                    <a:gd name="T45" fmla="*/ 9 h 214"/>
                    <a:gd name="T46" fmla="*/ 30 w 188"/>
                    <a:gd name="T47" fmla="*/ 10 h 214"/>
                    <a:gd name="T48" fmla="*/ 14 w 188"/>
                    <a:gd name="T49" fmla="*/ 11 h 214"/>
                    <a:gd name="T50" fmla="*/ 0 w 188"/>
                    <a:gd name="T51" fmla="*/ 12 h 214"/>
                    <a:gd name="T52" fmla="*/ 8 w 188"/>
                    <a:gd name="T53" fmla="*/ 10 h 214"/>
                    <a:gd name="T54" fmla="*/ 0 w 188"/>
                    <a:gd name="T55" fmla="*/ 9 h 214"/>
                    <a:gd name="T56" fmla="*/ 14 w 188"/>
                    <a:gd name="T57" fmla="*/ 8 h 214"/>
                    <a:gd name="T58" fmla="*/ 32 w 188"/>
                    <a:gd name="T59" fmla="*/ 7 h 214"/>
                    <a:gd name="T60" fmla="*/ 44 w 188"/>
                    <a:gd name="T61" fmla="*/ 7 h 214"/>
                    <a:gd name="T62" fmla="*/ 72 w 188"/>
                    <a:gd name="T63" fmla="*/ 7 h 214"/>
                    <a:gd name="T64" fmla="*/ 84 w 188"/>
                    <a:gd name="T65" fmla="*/ 6 h 214"/>
                    <a:gd name="T66" fmla="*/ 99 w 188"/>
                    <a:gd name="T67" fmla="*/ 5 h 214"/>
                    <a:gd name="T68" fmla="*/ 105 w 188"/>
                    <a:gd name="T69" fmla="*/ 5 h 214"/>
                    <a:gd name="T70" fmla="*/ 117 w 188"/>
                    <a:gd name="T71" fmla="*/ 4 h 214"/>
                    <a:gd name="T72" fmla="*/ 135 w 188"/>
                    <a:gd name="T73" fmla="*/ 3 h 214"/>
                    <a:gd name="T74" fmla="*/ 139 w 188"/>
                    <a:gd name="T75" fmla="*/ 2 h 214"/>
                    <a:gd name="T76" fmla="*/ 133 w 188"/>
                    <a:gd name="T77" fmla="*/ 2 h 214"/>
                    <a:gd name="T78" fmla="*/ 137 w 188"/>
                    <a:gd name="T79" fmla="*/ 2 h 214"/>
                    <a:gd name="T80" fmla="*/ 143 w 188"/>
                    <a:gd name="T81" fmla="*/ 2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7" name="Freeform 46"/>
                <p:cNvSpPr>
                  <a:spLocks/>
                </p:cNvSpPr>
                <p:nvPr userDrawn="1"/>
              </p:nvSpPr>
              <p:spPr bwMode="ltGray">
                <a:xfrm>
                  <a:off x="2677" y="233"/>
                  <a:ext cx="14" cy="10"/>
                </a:xfrm>
                <a:custGeom>
                  <a:avLst/>
                  <a:gdLst>
                    <a:gd name="T0" fmla="*/ 0 w 13"/>
                    <a:gd name="T1" fmla="*/ 2 h 13"/>
                    <a:gd name="T2" fmla="*/ 4 w 13"/>
                    <a:gd name="T3" fmla="*/ 2 h 13"/>
                    <a:gd name="T4" fmla="*/ 0 w 13"/>
                    <a:gd name="T5" fmla="*/ 2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8" name="Freeform 47"/>
                <p:cNvSpPr>
                  <a:spLocks/>
                </p:cNvSpPr>
                <p:nvPr userDrawn="1"/>
              </p:nvSpPr>
              <p:spPr bwMode="ltGray">
                <a:xfrm>
                  <a:off x="1627" y="353"/>
                  <a:ext cx="813" cy="462"/>
                </a:xfrm>
                <a:custGeom>
                  <a:avLst/>
                  <a:gdLst>
                    <a:gd name="T0" fmla="*/ 827 w 812"/>
                    <a:gd name="T1" fmla="*/ 2 h 564"/>
                    <a:gd name="T2" fmla="*/ 793 w 812"/>
                    <a:gd name="T3" fmla="*/ 4 h 564"/>
                    <a:gd name="T4" fmla="*/ 763 w 812"/>
                    <a:gd name="T5" fmla="*/ 6 h 564"/>
                    <a:gd name="T6" fmla="*/ 737 w 812"/>
                    <a:gd name="T7" fmla="*/ 7 h 564"/>
                    <a:gd name="T8" fmla="*/ 649 w 812"/>
                    <a:gd name="T9" fmla="*/ 9 h 564"/>
                    <a:gd name="T10" fmla="*/ 647 w 812"/>
                    <a:gd name="T11" fmla="*/ 11 h 564"/>
                    <a:gd name="T12" fmla="*/ 619 w 812"/>
                    <a:gd name="T13" fmla="*/ 11 h 564"/>
                    <a:gd name="T14" fmla="*/ 635 w 812"/>
                    <a:gd name="T15" fmla="*/ 9 h 564"/>
                    <a:gd name="T16" fmla="*/ 591 w 812"/>
                    <a:gd name="T17" fmla="*/ 9 h 564"/>
                    <a:gd name="T18" fmla="*/ 571 w 812"/>
                    <a:gd name="T19" fmla="*/ 11 h 564"/>
                    <a:gd name="T20" fmla="*/ 611 w 812"/>
                    <a:gd name="T21" fmla="*/ 14 h 564"/>
                    <a:gd name="T22" fmla="*/ 609 w 812"/>
                    <a:gd name="T23" fmla="*/ 19 h 564"/>
                    <a:gd name="T24" fmla="*/ 557 w 812"/>
                    <a:gd name="T25" fmla="*/ 20 h 564"/>
                    <a:gd name="T26" fmla="*/ 537 w 812"/>
                    <a:gd name="T27" fmla="*/ 20 h 564"/>
                    <a:gd name="T28" fmla="*/ 497 w 812"/>
                    <a:gd name="T29" fmla="*/ 17 h 564"/>
                    <a:gd name="T30" fmla="*/ 477 w 812"/>
                    <a:gd name="T31" fmla="*/ 17 h 564"/>
                    <a:gd name="T32" fmla="*/ 465 w 812"/>
                    <a:gd name="T33" fmla="*/ 20 h 564"/>
                    <a:gd name="T34" fmla="*/ 515 w 812"/>
                    <a:gd name="T35" fmla="*/ 24 h 564"/>
                    <a:gd name="T36" fmla="*/ 525 w 812"/>
                    <a:gd name="T37" fmla="*/ 26 h 564"/>
                    <a:gd name="T38" fmla="*/ 541 w 812"/>
                    <a:gd name="T39" fmla="*/ 28 h 564"/>
                    <a:gd name="T40" fmla="*/ 507 w 812"/>
                    <a:gd name="T41" fmla="*/ 28 h 564"/>
                    <a:gd name="T42" fmla="*/ 485 w 812"/>
                    <a:gd name="T43" fmla="*/ 26 h 564"/>
                    <a:gd name="T44" fmla="*/ 437 w 812"/>
                    <a:gd name="T45" fmla="*/ 21 h 564"/>
                    <a:gd name="T46" fmla="*/ 441 w 812"/>
                    <a:gd name="T47" fmla="*/ 16 h 564"/>
                    <a:gd name="T48" fmla="*/ 437 w 812"/>
                    <a:gd name="T49" fmla="*/ 13 h 564"/>
                    <a:gd name="T50" fmla="*/ 427 w 812"/>
                    <a:gd name="T51" fmla="*/ 14 h 564"/>
                    <a:gd name="T52" fmla="*/ 386 w 812"/>
                    <a:gd name="T53" fmla="*/ 13 h 564"/>
                    <a:gd name="T54" fmla="*/ 360 w 812"/>
                    <a:gd name="T55" fmla="*/ 9 h 564"/>
                    <a:gd name="T56" fmla="*/ 330 w 812"/>
                    <a:gd name="T57" fmla="*/ 9 h 564"/>
                    <a:gd name="T58" fmla="*/ 288 w 812"/>
                    <a:gd name="T59" fmla="*/ 9 h 564"/>
                    <a:gd name="T60" fmla="*/ 242 w 812"/>
                    <a:gd name="T61" fmla="*/ 11 h 564"/>
                    <a:gd name="T62" fmla="*/ 196 w 812"/>
                    <a:gd name="T63" fmla="*/ 13 h 564"/>
                    <a:gd name="T64" fmla="*/ 184 w 812"/>
                    <a:gd name="T65" fmla="*/ 13 h 564"/>
                    <a:gd name="T66" fmla="*/ 160 w 812"/>
                    <a:gd name="T67" fmla="*/ 16 h 564"/>
                    <a:gd name="T68" fmla="*/ 152 w 812"/>
                    <a:gd name="T69" fmla="*/ 17 h 564"/>
                    <a:gd name="T70" fmla="*/ 128 w 812"/>
                    <a:gd name="T71" fmla="*/ 20 h 564"/>
                    <a:gd name="T72" fmla="*/ 94 w 812"/>
                    <a:gd name="T73" fmla="*/ 20 h 564"/>
                    <a:gd name="T74" fmla="*/ 66 w 812"/>
                    <a:gd name="T75" fmla="*/ 13 h 564"/>
                    <a:gd name="T76" fmla="*/ 72 w 812"/>
                    <a:gd name="T77" fmla="*/ 7 h 564"/>
                    <a:gd name="T78" fmla="*/ 44 w 812"/>
                    <a:gd name="T79" fmla="*/ 9 h 564"/>
                    <a:gd name="T80" fmla="*/ 20 w 812"/>
                    <a:gd name="T81" fmla="*/ 7 h 564"/>
                    <a:gd name="T82" fmla="*/ 24 w 812"/>
                    <a:gd name="T83" fmla="*/ 7 h 564"/>
                    <a:gd name="T84" fmla="*/ 0 w 812"/>
                    <a:gd name="T85" fmla="*/ 5 h 564"/>
                    <a:gd name="T86" fmla="*/ 813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9" name="Freeform 48"/>
                <p:cNvSpPr>
                  <a:spLocks/>
                </p:cNvSpPr>
                <p:nvPr userDrawn="1"/>
              </p:nvSpPr>
              <p:spPr bwMode="ltGray">
                <a:xfrm>
                  <a:off x="1770" y="671"/>
                  <a:ext cx="45" cy="71"/>
                </a:xfrm>
                <a:custGeom>
                  <a:avLst/>
                  <a:gdLst>
                    <a:gd name="T0" fmla="*/ 7 w 43"/>
                    <a:gd name="T1" fmla="*/ 3 h 85"/>
                    <a:gd name="T2" fmla="*/ 32 w 43"/>
                    <a:gd name="T3" fmla="*/ 3 h 85"/>
                    <a:gd name="T4" fmla="*/ 73 w 43"/>
                    <a:gd name="T5" fmla="*/ 3 h 85"/>
                    <a:gd name="T6" fmla="*/ 35 w 43"/>
                    <a:gd name="T7" fmla="*/ 6 h 85"/>
                    <a:gd name="T8" fmla="*/ 1 w 43"/>
                    <a:gd name="T9" fmla="*/ 5 h 85"/>
                    <a:gd name="T10" fmla="*/ 7 w 43"/>
                    <a:gd name="T11" fmla="*/ 3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0" name="Freeform 49"/>
                <p:cNvSpPr>
                  <a:spLocks/>
                </p:cNvSpPr>
                <p:nvPr userDrawn="1"/>
              </p:nvSpPr>
              <p:spPr bwMode="ltGray">
                <a:xfrm>
                  <a:off x="2394" y="431"/>
                  <a:ext cx="42" cy="59"/>
                </a:xfrm>
                <a:custGeom>
                  <a:avLst/>
                  <a:gdLst>
                    <a:gd name="T0" fmla="*/ 11 w 44"/>
                    <a:gd name="T1" fmla="*/ 2 h 74"/>
                    <a:gd name="T2" fmla="*/ 14 w 44"/>
                    <a:gd name="T3" fmla="*/ 2 h 74"/>
                    <a:gd name="T4" fmla="*/ 23 w 44"/>
                    <a:gd name="T5" fmla="*/ 2 h 74"/>
                    <a:gd name="T6" fmla="*/ 21 w 44"/>
                    <a:gd name="T7" fmla="*/ 2 h 74"/>
                    <a:gd name="T8" fmla="*/ 11 w 44"/>
                    <a:gd name="T9" fmla="*/ 2 h 74"/>
                    <a:gd name="T10" fmla="*/ 7 w 44"/>
                    <a:gd name="T11" fmla="*/ 2 h 74"/>
                    <a:gd name="T12" fmla="*/ 3 w 44"/>
                    <a:gd name="T13" fmla="*/ 2 h 74"/>
                    <a:gd name="T14" fmla="*/ 11 w 44"/>
                    <a:gd name="T15" fmla="*/ 2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1" name="Freeform 50"/>
                <p:cNvSpPr>
                  <a:spLocks/>
                </p:cNvSpPr>
                <p:nvPr userDrawn="1"/>
              </p:nvSpPr>
              <p:spPr bwMode="ltGray">
                <a:xfrm>
                  <a:off x="2513" y="402"/>
                  <a:ext cx="21" cy="24"/>
                </a:xfrm>
                <a:custGeom>
                  <a:avLst/>
                  <a:gdLst>
                    <a:gd name="T0" fmla="*/ 7 w 20"/>
                    <a:gd name="T1" fmla="*/ 2 h 30"/>
                    <a:gd name="T2" fmla="*/ 5 w 20"/>
                    <a:gd name="T3" fmla="*/ 2 h 30"/>
                    <a:gd name="T4" fmla="*/ 7 w 20"/>
                    <a:gd name="T5" fmla="*/ 2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2" name="Freeform 51"/>
                <p:cNvSpPr>
                  <a:spLocks/>
                </p:cNvSpPr>
                <p:nvPr userDrawn="1"/>
              </p:nvSpPr>
              <p:spPr bwMode="ltGray">
                <a:xfrm>
                  <a:off x="333" y="169"/>
                  <a:ext cx="1015" cy="866"/>
                </a:xfrm>
                <a:custGeom>
                  <a:avLst/>
                  <a:gdLst>
                    <a:gd name="T0" fmla="*/ 187232 w 682"/>
                    <a:gd name="T1" fmla="*/ 347720 h 557"/>
                    <a:gd name="T2" fmla="*/ 189101 w 682"/>
                    <a:gd name="T3" fmla="*/ 338147 h 557"/>
                    <a:gd name="T4" fmla="*/ 194652 w 682"/>
                    <a:gd name="T5" fmla="*/ 309636 h 557"/>
                    <a:gd name="T6" fmla="*/ 120394 w 682"/>
                    <a:gd name="T7" fmla="*/ 214838 h 557"/>
                    <a:gd name="T8" fmla="*/ 109830 w 682"/>
                    <a:gd name="T9" fmla="*/ 259318 h 557"/>
                    <a:gd name="T10" fmla="*/ 117972 w 682"/>
                    <a:gd name="T11" fmla="*/ 416544 h 557"/>
                    <a:gd name="T12" fmla="*/ 109830 w 682"/>
                    <a:gd name="T13" fmla="*/ 370326 h 557"/>
                    <a:gd name="T14" fmla="*/ 94255 w 682"/>
                    <a:gd name="T15" fmla="*/ 329386 h 557"/>
                    <a:gd name="T16" fmla="*/ 95431 w 682"/>
                    <a:gd name="T17" fmla="*/ 309636 h 557"/>
                    <a:gd name="T18" fmla="*/ 96319 w 682"/>
                    <a:gd name="T19" fmla="*/ 295619 h 557"/>
                    <a:gd name="T20" fmla="*/ 85614 w 682"/>
                    <a:gd name="T21" fmla="*/ 281141 h 557"/>
                    <a:gd name="T22" fmla="*/ 75558 w 682"/>
                    <a:gd name="T23" fmla="*/ 259318 h 557"/>
                    <a:gd name="T24" fmla="*/ 57526 w 682"/>
                    <a:gd name="T25" fmla="*/ 265078 h 557"/>
                    <a:gd name="T26" fmla="*/ 49245 w 682"/>
                    <a:gd name="T27" fmla="*/ 273580 h 557"/>
                    <a:gd name="T28" fmla="*/ 30353 w 682"/>
                    <a:gd name="T29" fmla="*/ 273580 h 557"/>
                    <a:gd name="T30" fmla="*/ 8641 w 682"/>
                    <a:gd name="T31" fmla="*/ 233862 h 557"/>
                    <a:gd name="T32" fmla="*/ 4249 w 682"/>
                    <a:gd name="T33" fmla="*/ 221516 h 557"/>
                    <a:gd name="T34" fmla="*/ 0 w 682"/>
                    <a:gd name="T35" fmla="*/ 197501 h 557"/>
                    <a:gd name="T36" fmla="*/ 9412 w 682"/>
                    <a:gd name="T37" fmla="*/ 159775 h 557"/>
                    <a:gd name="T38" fmla="*/ 12530 w 682"/>
                    <a:gd name="T39" fmla="*/ 135508 h 557"/>
                    <a:gd name="T40" fmla="*/ 19868 w 682"/>
                    <a:gd name="T41" fmla="*/ 106855 h 557"/>
                    <a:gd name="T42" fmla="*/ 31690 w 682"/>
                    <a:gd name="T43" fmla="*/ 86727 h 557"/>
                    <a:gd name="T44" fmla="*/ 65210 w 682"/>
                    <a:gd name="T45" fmla="*/ 50262 h 557"/>
                    <a:gd name="T46" fmla="*/ 85614 w 682"/>
                    <a:gd name="T47" fmla="*/ 22602 h 557"/>
                    <a:gd name="T48" fmla="*/ 100366 w 682"/>
                    <a:gd name="T49" fmla="*/ 4327 h 557"/>
                    <a:gd name="T50" fmla="*/ 141319 w 682"/>
                    <a:gd name="T51" fmla="*/ 1600 h 557"/>
                    <a:gd name="T52" fmla="*/ 154814 w 682"/>
                    <a:gd name="T53" fmla="*/ 0 h 557"/>
                    <a:gd name="T54" fmla="*/ 149372 w 682"/>
                    <a:gd name="T55" fmla="*/ 25282 h 557"/>
                    <a:gd name="T56" fmla="*/ 172398 w 682"/>
                    <a:gd name="T57" fmla="*/ 63221 h 557"/>
                    <a:gd name="T58" fmla="*/ 193527 w 682"/>
                    <a:gd name="T59" fmla="*/ 55469 h 557"/>
                    <a:gd name="T60" fmla="*/ 205840 w 682"/>
                    <a:gd name="T61" fmla="*/ 61113 h 557"/>
                    <a:gd name="T62" fmla="*/ 217472 w 682"/>
                    <a:gd name="T63" fmla="*/ 72794 h 557"/>
                    <a:gd name="T64" fmla="*/ 222720 w 682"/>
                    <a:gd name="T65" fmla="*/ 140878 h 557"/>
                    <a:gd name="T66" fmla="*/ 222720 w 682"/>
                    <a:gd name="T67" fmla="*/ 179906 h 557"/>
                    <a:gd name="T68" fmla="*/ 232980 w 682"/>
                    <a:gd name="T69" fmla="*/ 212134 h 557"/>
                    <a:gd name="T70" fmla="*/ 251195 w 682"/>
                    <a:gd name="T71" fmla="*/ 224812 h 557"/>
                    <a:gd name="T72" fmla="*/ 264567 w 682"/>
                    <a:gd name="T73" fmla="*/ 221516 h 557"/>
                    <a:gd name="T74" fmla="*/ 258338 w 682"/>
                    <a:gd name="T75" fmla="*/ 254971 h 557"/>
                    <a:gd name="T76" fmla="*/ 232980 w 682"/>
                    <a:gd name="T77" fmla="*/ 305277 h 557"/>
                    <a:gd name="T78" fmla="*/ 213342 w 682"/>
                    <a:gd name="T79" fmla="*/ 363599 h 557"/>
                    <a:gd name="T80" fmla="*/ 216406 w 682"/>
                    <a:gd name="T81" fmla="*/ 380855 h 557"/>
                    <a:gd name="T82" fmla="*/ 169227 w 682"/>
                    <a:gd name="T83" fmla="*/ 416544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3" name="Freeform 52"/>
                <p:cNvSpPr>
                  <a:spLocks/>
                </p:cNvSpPr>
                <p:nvPr userDrawn="1"/>
              </p:nvSpPr>
              <p:spPr bwMode="ltGray">
                <a:xfrm>
                  <a:off x="727" y="495"/>
                  <a:ext cx="382" cy="540"/>
                </a:xfrm>
                <a:custGeom>
                  <a:avLst/>
                  <a:gdLst>
                    <a:gd name="T0" fmla="*/ 92770 w 257"/>
                    <a:gd name="T1" fmla="*/ 263634 h 347"/>
                    <a:gd name="T2" fmla="*/ 88889 w 257"/>
                    <a:gd name="T3" fmla="*/ 228571 h 347"/>
                    <a:gd name="T4" fmla="*/ 82985 w 257"/>
                    <a:gd name="T5" fmla="*/ 218842 h 347"/>
                    <a:gd name="T6" fmla="*/ 82344 w 257"/>
                    <a:gd name="T7" fmla="*/ 204870 h 347"/>
                    <a:gd name="T8" fmla="*/ 79892 w 257"/>
                    <a:gd name="T9" fmla="*/ 193026 h 347"/>
                    <a:gd name="T10" fmla="*/ 79892 w 257"/>
                    <a:gd name="T11" fmla="*/ 173891 h 347"/>
                    <a:gd name="T12" fmla="*/ 79197 w 257"/>
                    <a:gd name="T13" fmla="*/ 162534 h 347"/>
                    <a:gd name="T14" fmla="*/ 87065 w 257"/>
                    <a:gd name="T15" fmla="*/ 153508 h 347"/>
                    <a:gd name="T16" fmla="*/ 98170 w 257"/>
                    <a:gd name="T17" fmla="*/ 150100 h 347"/>
                    <a:gd name="T18" fmla="*/ 98170 w 257"/>
                    <a:gd name="T19" fmla="*/ 103672 h 347"/>
                    <a:gd name="T20" fmla="*/ 20591 w 257"/>
                    <a:gd name="T21" fmla="*/ 72923 h 347"/>
                    <a:gd name="T22" fmla="*/ 12355 w 257"/>
                    <a:gd name="T23" fmla="*/ 74595 h 347"/>
                    <a:gd name="T24" fmla="*/ 6270 w 257"/>
                    <a:gd name="T25" fmla="*/ 77564 h 347"/>
                    <a:gd name="T26" fmla="*/ 0 w 257"/>
                    <a:gd name="T27" fmla="*/ 113482 h 347"/>
                    <a:gd name="T28" fmla="*/ 35407 w 257"/>
                    <a:gd name="T29" fmla="*/ 262845 h 347"/>
                    <a:gd name="T30" fmla="*/ 92770 w 257"/>
                    <a:gd name="T31" fmla="*/ 263634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4" name="Freeform 53"/>
                <p:cNvSpPr>
                  <a:spLocks/>
                </p:cNvSpPr>
                <p:nvPr userDrawn="1"/>
              </p:nvSpPr>
              <p:spPr bwMode="ltGray">
                <a:xfrm>
                  <a:off x="1400" y="896"/>
                  <a:ext cx="16" cy="29"/>
                </a:xfrm>
                <a:custGeom>
                  <a:avLst/>
                  <a:gdLst>
                    <a:gd name="T0" fmla="*/ 3 w 19"/>
                    <a:gd name="T1" fmla="*/ 2 h 37"/>
                    <a:gd name="T2" fmla="*/ 3 w 19"/>
                    <a:gd name="T3" fmla="*/ 2 h 37"/>
                    <a:gd name="T4" fmla="*/ 3 w 19"/>
                    <a:gd name="T5" fmla="*/ 2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5" name="Freeform 54"/>
                <p:cNvSpPr>
                  <a:spLocks/>
                </p:cNvSpPr>
                <p:nvPr userDrawn="1"/>
              </p:nvSpPr>
              <p:spPr bwMode="ltGray">
                <a:xfrm>
                  <a:off x="1379" y="617"/>
                  <a:ext cx="21" cy="17"/>
                </a:xfrm>
                <a:custGeom>
                  <a:avLst/>
                  <a:gdLst>
                    <a:gd name="T0" fmla="*/ 11 w 22"/>
                    <a:gd name="T1" fmla="*/ 3 h 20"/>
                    <a:gd name="T2" fmla="*/ 11 w 22"/>
                    <a:gd name="T3" fmla="*/ 0 h 20"/>
                    <a:gd name="T4" fmla="*/ 11 w 22"/>
                    <a:gd name="T5" fmla="*/ 3 h 20"/>
                    <a:gd name="T6" fmla="*/ 8 w 22"/>
                    <a:gd name="T7" fmla="*/ 3 h 20"/>
                    <a:gd name="T8" fmla="*/ 11 w 22"/>
                    <a:gd name="T9" fmla="*/ 3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6" name="Freeform 55"/>
                <p:cNvSpPr>
                  <a:spLocks/>
                </p:cNvSpPr>
                <p:nvPr userDrawn="1"/>
              </p:nvSpPr>
              <p:spPr bwMode="ltGray">
                <a:xfrm>
                  <a:off x="453" y="275"/>
                  <a:ext cx="58" cy="24"/>
                </a:xfrm>
                <a:custGeom>
                  <a:avLst/>
                  <a:gdLst>
                    <a:gd name="T0" fmla="*/ 24 w 57"/>
                    <a:gd name="T1" fmla="*/ 2 h 30"/>
                    <a:gd name="T2" fmla="*/ 47 w 57"/>
                    <a:gd name="T3" fmla="*/ 2 h 30"/>
                    <a:gd name="T4" fmla="*/ 51 w 57"/>
                    <a:gd name="T5" fmla="*/ 2 h 30"/>
                    <a:gd name="T6" fmla="*/ 24 w 57"/>
                    <a:gd name="T7" fmla="*/ 2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7" name="Freeform 56"/>
                <p:cNvSpPr>
                  <a:spLocks/>
                </p:cNvSpPr>
                <p:nvPr userDrawn="1"/>
              </p:nvSpPr>
              <p:spPr bwMode="ltGray">
                <a:xfrm>
                  <a:off x="1161" y="50"/>
                  <a:ext cx="691" cy="569"/>
                </a:xfrm>
                <a:custGeom>
                  <a:avLst/>
                  <a:gdLst>
                    <a:gd name="T0" fmla="*/ 458 w 693"/>
                    <a:gd name="T1" fmla="*/ 23 h 696"/>
                    <a:gd name="T2" fmla="*/ 378 w 693"/>
                    <a:gd name="T3" fmla="*/ 22 h 696"/>
                    <a:gd name="T4" fmla="*/ 310 w 693"/>
                    <a:gd name="T5" fmla="*/ 20 h 696"/>
                    <a:gd name="T6" fmla="*/ 250 w 693"/>
                    <a:gd name="T7" fmla="*/ 20 h 696"/>
                    <a:gd name="T8" fmla="*/ 222 w 693"/>
                    <a:gd name="T9" fmla="*/ 20 h 696"/>
                    <a:gd name="T10" fmla="*/ 246 w 693"/>
                    <a:gd name="T11" fmla="*/ 20 h 696"/>
                    <a:gd name="T12" fmla="*/ 278 w 693"/>
                    <a:gd name="T13" fmla="*/ 23 h 696"/>
                    <a:gd name="T14" fmla="*/ 306 w 693"/>
                    <a:gd name="T15" fmla="*/ 24 h 696"/>
                    <a:gd name="T16" fmla="*/ 318 w 693"/>
                    <a:gd name="T17" fmla="*/ 25 h 696"/>
                    <a:gd name="T18" fmla="*/ 298 w 693"/>
                    <a:gd name="T19" fmla="*/ 27 h 696"/>
                    <a:gd name="T20" fmla="*/ 246 w 693"/>
                    <a:gd name="T21" fmla="*/ 31 h 696"/>
                    <a:gd name="T22" fmla="*/ 210 w 693"/>
                    <a:gd name="T23" fmla="*/ 31 h 696"/>
                    <a:gd name="T24" fmla="*/ 97 w 693"/>
                    <a:gd name="T25" fmla="*/ 34 h 696"/>
                    <a:gd name="T26" fmla="*/ 77 w 693"/>
                    <a:gd name="T27" fmla="*/ 31 h 696"/>
                    <a:gd name="T28" fmla="*/ 45 w 693"/>
                    <a:gd name="T29" fmla="*/ 25 h 696"/>
                    <a:gd name="T30" fmla="*/ 33 w 693"/>
                    <a:gd name="T31" fmla="*/ 22 h 696"/>
                    <a:gd name="T32" fmla="*/ 53 w 693"/>
                    <a:gd name="T33" fmla="*/ 16 h 696"/>
                    <a:gd name="T34" fmla="*/ 17 w 693"/>
                    <a:gd name="T35" fmla="*/ 20 h 696"/>
                    <a:gd name="T36" fmla="*/ 81 w 693"/>
                    <a:gd name="T37" fmla="*/ 13 h 696"/>
                    <a:gd name="T38" fmla="*/ 113 w 693"/>
                    <a:gd name="T39" fmla="*/ 11 h 696"/>
                    <a:gd name="T40" fmla="*/ 37 w 693"/>
                    <a:gd name="T41" fmla="*/ 11 h 696"/>
                    <a:gd name="T42" fmla="*/ 1 w 693"/>
                    <a:gd name="T43" fmla="*/ 9 h 696"/>
                    <a:gd name="T44" fmla="*/ 25 w 693"/>
                    <a:gd name="T45" fmla="*/ 7 h 696"/>
                    <a:gd name="T46" fmla="*/ 97 w 693"/>
                    <a:gd name="T47" fmla="*/ 6 h 696"/>
                    <a:gd name="T48" fmla="*/ 206 w 693"/>
                    <a:gd name="T49" fmla="*/ 6 h 696"/>
                    <a:gd name="T50" fmla="*/ 214 w 693"/>
                    <a:gd name="T51" fmla="*/ 3 h 696"/>
                    <a:gd name="T52" fmla="*/ 246 w 693"/>
                    <a:gd name="T53" fmla="*/ 0 h 696"/>
                    <a:gd name="T54" fmla="*/ 342 w 693"/>
                    <a:gd name="T55" fmla="*/ 2 h 696"/>
                    <a:gd name="T56" fmla="*/ 314 w 693"/>
                    <a:gd name="T57" fmla="*/ 4 h 696"/>
                    <a:gd name="T58" fmla="*/ 286 w 693"/>
                    <a:gd name="T59" fmla="*/ 9 h 696"/>
                    <a:gd name="T60" fmla="*/ 346 w 693"/>
                    <a:gd name="T61" fmla="*/ 9 h 696"/>
                    <a:gd name="T62" fmla="*/ 358 w 693"/>
                    <a:gd name="T63" fmla="*/ 7 h 696"/>
                    <a:gd name="T64" fmla="*/ 402 w 693"/>
                    <a:gd name="T65" fmla="*/ 5 h 696"/>
                    <a:gd name="T66" fmla="*/ 482 w 693"/>
                    <a:gd name="T67" fmla="*/ 4 h 696"/>
                    <a:gd name="T68" fmla="*/ 509 w 693"/>
                    <a:gd name="T69" fmla="*/ 2 h 696"/>
                    <a:gd name="T70" fmla="*/ 515 w 693"/>
                    <a:gd name="T71" fmla="*/ 23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8" name="Freeform 57"/>
                <p:cNvSpPr>
                  <a:spLocks/>
                </p:cNvSpPr>
                <p:nvPr userDrawn="1"/>
              </p:nvSpPr>
              <p:spPr bwMode="ltGray">
                <a:xfrm>
                  <a:off x="689" y="6"/>
                  <a:ext cx="1386" cy="232"/>
                </a:xfrm>
                <a:custGeom>
                  <a:avLst/>
                  <a:gdLst>
                    <a:gd name="T0" fmla="*/ 322484 w 931"/>
                    <a:gd name="T1" fmla="*/ 0 h 149"/>
                    <a:gd name="T2" fmla="*/ 56001 w 931"/>
                    <a:gd name="T3" fmla="*/ 22213 h 149"/>
                    <a:gd name="T4" fmla="*/ 35417 w 931"/>
                    <a:gd name="T5" fmla="*/ 31868 h 149"/>
                    <a:gd name="T6" fmla="*/ 24195 w 931"/>
                    <a:gd name="T7" fmla="*/ 31868 h 149"/>
                    <a:gd name="T8" fmla="*/ 8661 w 931"/>
                    <a:gd name="T9" fmla="*/ 59081 h 149"/>
                    <a:gd name="T10" fmla="*/ 0 w 931"/>
                    <a:gd name="T11" fmla="*/ 80255 h 149"/>
                    <a:gd name="T12" fmla="*/ 23090 w 931"/>
                    <a:gd name="T13" fmla="*/ 88232 h 149"/>
                    <a:gd name="T14" fmla="*/ 37828 w 931"/>
                    <a:gd name="T15" fmla="*/ 73261 h 149"/>
                    <a:gd name="T16" fmla="*/ 42315 w 931"/>
                    <a:gd name="T17" fmla="*/ 64535 h 149"/>
                    <a:gd name="T18" fmla="*/ 65428 w 931"/>
                    <a:gd name="T19" fmla="*/ 39804 h 149"/>
                    <a:gd name="T20" fmla="*/ 84064 w 931"/>
                    <a:gd name="T21" fmla="*/ 35339 h 149"/>
                    <a:gd name="T22" fmla="*/ 92816 w 931"/>
                    <a:gd name="T23" fmla="*/ 71702 h 149"/>
                    <a:gd name="T24" fmla="*/ 73559 w 931"/>
                    <a:gd name="T25" fmla="*/ 83853 h 149"/>
                    <a:gd name="T26" fmla="*/ 90257 w 931"/>
                    <a:gd name="T27" fmla="*/ 86714 h 149"/>
                    <a:gd name="T28" fmla="*/ 97739 w 931"/>
                    <a:gd name="T29" fmla="*/ 68857 h 149"/>
                    <a:gd name="T30" fmla="*/ 104063 w 931"/>
                    <a:gd name="T31" fmla="*/ 70402 h 149"/>
                    <a:gd name="T32" fmla="*/ 98920 w 931"/>
                    <a:gd name="T33" fmla="*/ 41447 h 149"/>
                    <a:gd name="T34" fmla="*/ 104063 w 931"/>
                    <a:gd name="T35" fmla="*/ 33925 h 149"/>
                    <a:gd name="T36" fmla="*/ 108175 w 931"/>
                    <a:gd name="T37" fmla="*/ 67406 h 149"/>
                    <a:gd name="T38" fmla="*/ 104063 w 931"/>
                    <a:gd name="T39" fmla="*/ 86714 h 149"/>
                    <a:gd name="T40" fmla="*/ 115962 w 931"/>
                    <a:gd name="T41" fmla="*/ 99534 h 149"/>
                    <a:gd name="T42" fmla="*/ 116856 w 931"/>
                    <a:gd name="T43" fmla="*/ 70402 h 149"/>
                    <a:gd name="T44" fmla="*/ 129502 w 931"/>
                    <a:gd name="T45" fmla="*/ 78774 h 149"/>
                    <a:gd name="T46" fmla="*/ 149396 w 931"/>
                    <a:gd name="T47" fmla="*/ 56200 h 149"/>
                    <a:gd name="T48" fmla="*/ 159996 w 931"/>
                    <a:gd name="T49" fmla="*/ 38199 h 149"/>
                    <a:gd name="T50" fmla="*/ 171877 w 931"/>
                    <a:gd name="T51" fmla="*/ 42666 h 149"/>
                    <a:gd name="T52" fmla="*/ 177916 w 931"/>
                    <a:gd name="T53" fmla="*/ 38199 h 149"/>
                    <a:gd name="T54" fmla="*/ 168598 w 931"/>
                    <a:gd name="T55" fmla="*/ 33925 h 149"/>
                    <a:gd name="T56" fmla="*/ 185481 w 931"/>
                    <a:gd name="T57" fmla="*/ 26619 h 149"/>
                    <a:gd name="T58" fmla="*/ 212709 w 931"/>
                    <a:gd name="T59" fmla="*/ 41447 h 149"/>
                    <a:gd name="T60" fmla="*/ 227233 w 931"/>
                    <a:gd name="T61" fmla="*/ 31868 h 149"/>
                    <a:gd name="T62" fmla="*/ 228223 w 931"/>
                    <a:gd name="T63" fmla="*/ 48398 h 149"/>
                    <a:gd name="T64" fmla="*/ 222108 w 931"/>
                    <a:gd name="T65" fmla="*/ 77261 h 149"/>
                    <a:gd name="T66" fmla="*/ 239084 w 931"/>
                    <a:gd name="T67" fmla="*/ 67406 h 149"/>
                    <a:gd name="T68" fmla="*/ 243996 w 931"/>
                    <a:gd name="T69" fmla="*/ 61628 h 149"/>
                    <a:gd name="T70" fmla="*/ 253491 w 931"/>
                    <a:gd name="T71" fmla="*/ 46638 h 149"/>
                    <a:gd name="T72" fmla="*/ 310491 w 931"/>
                    <a:gd name="T73" fmla="*/ 64535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9" name="Freeform 58"/>
                <p:cNvSpPr>
                  <a:spLocks/>
                </p:cNvSpPr>
                <p:nvPr userDrawn="1"/>
              </p:nvSpPr>
              <p:spPr bwMode="ltGray">
                <a:xfrm>
                  <a:off x="971" y="91"/>
                  <a:ext cx="30" cy="25"/>
                </a:xfrm>
                <a:custGeom>
                  <a:avLst/>
                  <a:gdLst>
                    <a:gd name="T0" fmla="*/ 3 w 31"/>
                    <a:gd name="T1" fmla="*/ 3 h 30"/>
                    <a:gd name="T2" fmla="*/ 16 w 31"/>
                    <a:gd name="T3" fmla="*/ 0 h 30"/>
                    <a:gd name="T4" fmla="*/ 15 w 31"/>
                    <a:gd name="T5" fmla="*/ 3 h 30"/>
                    <a:gd name="T6" fmla="*/ 3 w 31"/>
                    <a:gd name="T7" fmla="*/ 3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0" name="Freeform 59"/>
                <p:cNvSpPr>
                  <a:spLocks/>
                </p:cNvSpPr>
                <p:nvPr userDrawn="1"/>
              </p:nvSpPr>
              <p:spPr bwMode="ltGray">
                <a:xfrm>
                  <a:off x="935" y="125"/>
                  <a:ext cx="45" cy="27"/>
                </a:xfrm>
                <a:custGeom>
                  <a:avLst/>
                  <a:gdLst>
                    <a:gd name="T0" fmla="*/ 6 w 44"/>
                    <a:gd name="T1" fmla="*/ 3 h 32"/>
                    <a:gd name="T2" fmla="*/ 37 w 44"/>
                    <a:gd name="T3" fmla="*/ 0 h 32"/>
                    <a:gd name="T4" fmla="*/ 53 w 44"/>
                    <a:gd name="T5" fmla="*/ 3 h 32"/>
                    <a:gd name="T6" fmla="*/ 6 w 44"/>
                    <a:gd name="T7" fmla="*/ 3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1" name="Freeform 60"/>
                <p:cNvSpPr>
                  <a:spLocks/>
                </p:cNvSpPr>
                <p:nvPr userDrawn="1"/>
              </p:nvSpPr>
              <p:spPr bwMode="ltGray">
                <a:xfrm>
                  <a:off x="1081" y="226"/>
                  <a:ext cx="75" cy="14"/>
                </a:xfrm>
                <a:custGeom>
                  <a:avLst/>
                  <a:gdLst>
                    <a:gd name="T0" fmla="*/ 37 w 76"/>
                    <a:gd name="T1" fmla="*/ 2 h 18"/>
                    <a:gd name="T2" fmla="*/ 25 w 76"/>
                    <a:gd name="T3" fmla="*/ 2 h 18"/>
                    <a:gd name="T4" fmla="*/ 37 w 76"/>
                    <a:gd name="T5" fmla="*/ 2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2" name="Freeform 61"/>
                <p:cNvSpPr>
                  <a:spLocks/>
                </p:cNvSpPr>
                <p:nvPr userDrawn="1"/>
              </p:nvSpPr>
              <p:spPr bwMode="ltGray">
                <a:xfrm>
                  <a:off x="1210" y="223"/>
                  <a:ext cx="42" cy="37"/>
                </a:xfrm>
                <a:custGeom>
                  <a:avLst/>
                  <a:gdLst>
                    <a:gd name="T0" fmla="*/ 0 w 42"/>
                    <a:gd name="T1" fmla="*/ 3 h 44"/>
                    <a:gd name="T2" fmla="*/ 12 w 42"/>
                    <a:gd name="T3" fmla="*/ 3 h 44"/>
                    <a:gd name="T4" fmla="*/ 0 w 42"/>
                    <a:gd name="T5" fmla="*/ 3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3" name="Freeform 62"/>
                <p:cNvSpPr>
                  <a:spLocks/>
                </p:cNvSpPr>
                <p:nvPr userDrawn="1"/>
              </p:nvSpPr>
              <p:spPr bwMode="ltGray">
                <a:xfrm>
                  <a:off x="865" y="123"/>
                  <a:ext cx="33" cy="24"/>
                </a:xfrm>
                <a:custGeom>
                  <a:avLst/>
                  <a:gdLst>
                    <a:gd name="T0" fmla="*/ 7 w 31"/>
                    <a:gd name="T1" fmla="*/ 2 h 30"/>
                    <a:gd name="T2" fmla="*/ 78 w 31"/>
                    <a:gd name="T3" fmla="*/ 2 h 30"/>
                    <a:gd name="T4" fmla="*/ 7 w 31"/>
                    <a:gd name="T5" fmla="*/ 2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nvGrpSpPr>
              <p:cNvPr id="10" name="Group 63"/>
              <p:cNvGrpSpPr>
                <a:grpSpLocks/>
              </p:cNvGrpSpPr>
              <p:nvPr userDrawn="1"/>
            </p:nvGrpSpPr>
            <p:grpSpPr bwMode="auto">
              <a:xfrm>
                <a:off x="7" y="-154"/>
                <a:ext cx="5739" cy="418"/>
                <a:chOff x="1056" y="111"/>
                <a:chExt cx="2448" cy="418"/>
              </a:xfrm>
            </p:grpSpPr>
            <p:sp>
              <p:nvSpPr>
                <p:cNvPr id="27" name="Line 64"/>
                <p:cNvSpPr>
                  <a:spLocks noChangeShapeType="1"/>
                </p:cNvSpPr>
                <p:nvPr/>
              </p:nvSpPr>
              <p:spPr bwMode="white">
                <a:xfrm>
                  <a:off x="1056" y="332"/>
                  <a:ext cx="244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8" name="Line 65"/>
                <p:cNvSpPr>
                  <a:spLocks noChangeShapeType="1"/>
                </p:cNvSpPr>
                <p:nvPr/>
              </p:nvSpPr>
              <p:spPr bwMode="white">
                <a:xfrm>
                  <a:off x="125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9" name="Line 66"/>
                <p:cNvSpPr>
                  <a:spLocks noChangeShapeType="1"/>
                </p:cNvSpPr>
                <p:nvPr/>
              </p:nvSpPr>
              <p:spPr bwMode="white">
                <a:xfrm>
                  <a:off x="148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0" name="Line 67"/>
                <p:cNvSpPr>
                  <a:spLocks noChangeShapeType="1"/>
                </p:cNvSpPr>
                <p:nvPr/>
              </p:nvSpPr>
              <p:spPr bwMode="white">
                <a:xfrm>
                  <a:off x="171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1" name="Line 68"/>
                <p:cNvSpPr>
                  <a:spLocks noChangeShapeType="1"/>
                </p:cNvSpPr>
                <p:nvPr/>
              </p:nvSpPr>
              <p:spPr bwMode="white">
                <a:xfrm>
                  <a:off x="193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2" name="Line 69"/>
                <p:cNvSpPr>
                  <a:spLocks noChangeShapeType="1"/>
                </p:cNvSpPr>
                <p:nvPr/>
              </p:nvSpPr>
              <p:spPr bwMode="white">
                <a:xfrm>
                  <a:off x="216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3" name="Line 70"/>
                <p:cNvSpPr>
                  <a:spLocks noChangeShapeType="1"/>
                </p:cNvSpPr>
                <p:nvPr/>
              </p:nvSpPr>
              <p:spPr bwMode="white">
                <a:xfrm>
                  <a:off x="239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4" name="Line 71"/>
                <p:cNvSpPr>
                  <a:spLocks noChangeShapeType="1"/>
                </p:cNvSpPr>
                <p:nvPr/>
              </p:nvSpPr>
              <p:spPr bwMode="white">
                <a:xfrm>
                  <a:off x="262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5" name="Line 72"/>
                <p:cNvSpPr>
                  <a:spLocks noChangeShapeType="1"/>
                </p:cNvSpPr>
                <p:nvPr/>
              </p:nvSpPr>
              <p:spPr bwMode="white">
                <a:xfrm>
                  <a:off x="285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6" name="Line 73"/>
                <p:cNvSpPr>
                  <a:spLocks noChangeShapeType="1"/>
                </p:cNvSpPr>
                <p:nvPr/>
              </p:nvSpPr>
              <p:spPr bwMode="white">
                <a:xfrm>
                  <a:off x="307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7" name="Line 74"/>
                <p:cNvSpPr>
                  <a:spLocks noChangeShapeType="1"/>
                </p:cNvSpPr>
                <p:nvPr/>
              </p:nvSpPr>
              <p:spPr bwMode="white">
                <a:xfrm>
                  <a:off x="330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nvGrpSpPr>
              <p:cNvPr id="11" name="Group 75"/>
              <p:cNvGrpSpPr>
                <a:grpSpLocks/>
              </p:cNvGrpSpPr>
              <p:nvPr userDrawn="1"/>
            </p:nvGrpSpPr>
            <p:grpSpPr bwMode="auto">
              <a:xfrm>
                <a:off x="-1261" y="-1"/>
                <a:ext cx="2098" cy="1030"/>
                <a:chOff x="1208" y="109"/>
                <a:chExt cx="2098" cy="423"/>
              </a:xfrm>
            </p:grpSpPr>
            <p:sp>
              <p:nvSpPr>
                <p:cNvPr id="12" name="Line 76"/>
                <p:cNvSpPr>
                  <a:spLocks noChangeShapeType="1"/>
                </p:cNvSpPr>
                <p:nvPr/>
              </p:nvSpPr>
              <p:spPr bwMode="ltGray">
                <a:xfrm>
                  <a:off x="2850" y="110"/>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3" name="Line 77"/>
                <p:cNvSpPr>
                  <a:spLocks noChangeShapeType="1"/>
                </p:cNvSpPr>
                <p:nvPr/>
              </p:nvSpPr>
              <p:spPr bwMode="ltGray">
                <a:xfrm>
                  <a:off x="2972" y="332"/>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4" name="Line 78"/>
                <p:cNvSpPr>
                  <a:spLocks noChangeShapeType="1"/>
                </p:cNvSpPr>
                <p:nvPr/>
              </p:nvSpPr>
              <p:spPr bwMode="ltGray">
                <a:xfrm>
                  <a:off x="3078" y="350"/>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5" name="Line 79"/>
                <p:cNvSpPr>
                  <a:spLocks noChangeShapeType="1"/>
                </p:cNvSpPr>
                <p:nvPr/>
              </p:nvSpPr>
              <p:spPr bwMode="ltGray">
                <a:xfrm>
                  <a:off x="3306" y="450"/>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6" name="Line 80"/>
                <p:cNvSpPr>
                  <a:spLocks noChangeShapeType="1"/>
                </p:cNvSpPr>
                <p:nvPr/>
              </p:nvSpPr>
              <p:spPr bwMode="ltGray">
                <a:xfrm>
                  <a:off x="2166" y="114"/>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7" name="Line 81"/>
                <p:cNvSpPr>
                  <a:spLocks noChangeShapeType="1"/>
                </p:cNvSpPr>
                <p:nvPr/>
              </p:nvSpPr>
              <p:spPr bwMode="ltGray">
                <a:xfrm>
                  <a:off x="1938" y="111"/>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8" name="Line 82"/>
                <p:cNvSpPr>
                  <a:spLocks noChangeShapeType="1"/>
                </p:cNvSpPr>
                <p:nvPr/>
              </p:nvSpPr>
              <p:spPr bwMode="ltGray">
                <a:xfrm flipH="1">
                  <a:off x="1912" y="332"/>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9" name="Line 83"/>
                <p:cNvSpPr>
                  <a:spLocks noChangeShapeType="1"/>
                </p:cNvSpPr>
                <p:nvPr/>
              </p:nvSpPr>
              <p:spPr bwMode="ltGray">
                <a:xfrm>
                  <a:off x="1778" y="332"/>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0" name="Line 84"/>
                <p:cNvSpPr>
                  <a:spLocks noChangeShapeType="1"/>
                </p:cNvSpPr>
                <p:nvPr/>
              </p:nvSpPr>
              <p:spPr bwMode="ltGray">
                <a:xfrm flipH="1">
                  <a:off x="1578" y="332"/>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1" name="Line 85"/>
                <p:cNvSpPr>
                  <a:spLocks noChangeShapeType="1"/>
                </p:cNvSpPr>
                <p:nvPr/>
              </p:nvSpPr>
              <p:spPr bwMode="ltGray">
                <a:xfrm>
                  <a:off x="1208" y="332"/>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2" name="Line 86"/>
                <p:cNvSpPr>
                  <a:spLocks noChangeShapeType="1"/>
                </p:cNvSpPr>
                <p:nvPr/>
              </p:nvSpPr>
              <p:spPr bwMode="ltGray">
                <a:xfrm>
                  <a:off x="1480" y="234"/>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3" name="Line 87"/>
                <p:cNvSpPr>
                  <a:spLocks noChangeShapeType="1"/>
                </p:cNvSpPr>
                <p:nvPr/>
              </p:nvSpPr>
              <p:spPr bwMode="ltGray">
                <a:xfrm>
                  <a:off x="1254" y="252"/>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4" name="Line 88"/>
                <p:cNvSpPr>
                  <a:spLocks noChangeShapeType="1"/>
                </p:cNvSpPr>
                <p:nvPr/>
              </p:nvSpPr>
              <p:spPr bwMode="ltGray">
                <a:xfrm flipH="1" flipV="1">
                  <a:off x="1482" y="109"/>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5" name="Line 89"/>
                <p:cNvSpPr>
                  <a:spLocks noChangeShapeType="1"/>
                </p:cNvSpPr>
                <p:nvPr/>
              </p:nvSpPr>
              <p:spPr bwMode="ltGray">
                <a:xfrm>
                  <a:off x="1710" y="180"/>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6" name="Line 90"/>
                <p:cNvSpPr>
                  <a:spLocks noChangeShapeType="1"/>
                </p:cNvSpPr>
                <p:nvPr/>
              </p:nvSpPr>
              <p:spPr bwMode="ltGray">
                <a:xfrm flipV="1">
                  <a:off x="1710" y="111"/>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pic>
          <p:nvPicPr>
            <p:cNvPr id="7" name="Picture 91" descr="earth"/>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gray">
            <a:xfrm>
              <a:off x="336" y="1566"/>
              <a:ext cx="690"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12" name="Rectangle 92"/>
          <p:cNvSpPr>
            <a:spLocks noGrp="1" noChangeArrowheads="1"/>
          </p:cNvSpPr>
          <p:nvPr>
            <p:ph type="ctrTitle"/>
          </p:nvPr>
        </p:nvSpPr>
        <p:spPr>
          <a:xfrm>
            <a:off x="1828800" y="1828800"/>
            <a:ext cx="6934200" cy="2362200"/>
          </a:xfrm>
        </p:spPr>
        <p:txBody>
          <a:bodyPr/>
          <a:lstStyle>
            <a:lvl1pPr>
              <a:defRPr/>
            </a:lvl1pPr>
          </a:lstStyle>
          <a:p>
            <a:r>
              <a:rPr lang="en-US"/>
              <a:t>Click to edit Master title style</a:t>
            </a:r>
            <a:endParaRPr lang="en-US" dirty="0"/>
          </a:p>
        </p:txBody>
      </p:sp>
      <p:sp>
        <p:nvSpPr>
          <p:cNvPr id="5213" name="Rectangle 93"/>
          <p:cNvSpPr>
            <a:spLocks noGrp="1" noChangeArrowheads="1"/>
          </p:cNvSpPr>
          <p:nvPr>
            <p:ph type="subTitle" idx="1"/>
          </p:nvPr>
        </p:nvSpPr>
        <p:spPr>
          <a:xfrm>
            <a:off x="1828800" y="4572000"/>
            <a:ext cx="6934200" cy="1295400"/>
          </a:xfrm>
        </p:spPr>
        <p:txBody>
          <a:bodyPr/>
          <a:lstStyle>
            <a:lvl1pPr marL="0" indent="0">
              <a:buFontTx/>
              <a:buNone/>
              <a:defRPr/>
            </a:lvl1pPr>
          </a:lstStyle>
          <a:p>
            <a:r>
              <a:rPr lang="en-US"/>
              <a:t>Click to edit Master subtitle style</a:t>
            </a:r>
          </a:p>
        </p:txBody>
      </p:sp>
      <p:sp>
        <p:nvSpPr>
          <p:cNvPr id="94" name="Rectangle 94"/>
          <p:cNvSpPr>
            <a:spLocks noGrp="1" noChangeArrowheads="1"/>
          </p:cNvSpPr>
          <p:nvPr>
            <p:ph type="dt" sz="half" idx="10"/>
          </p:nvPr>
        </p:nvSpPr>
        <p:spPr>
          <a:xfrm>
            <a:off x="533400" y="6324600"/>
            <a:ext cx="1905000" cy="457200"/>
          </a:xfrm>
        </p:spPr>
        <p:txBody>
          <a:bodyPr/>
          <a:lstStyle>
            <a:lvl1pPr>
              <a:defRPr smtClean="0"/>
            </a:lvl1pPr>
          </a:lstStyle>
          <a:p>
            <a:fld id="{81DB8C79-38FE-4736-A430-7EF125B9AB7D}" type="datetime1">
              <a:rPr lang="en-CA" smtClean="0"/>
              <a:t>2021-05-27</a:t>
            </a:fld>
            <a:endParaRPr lang="en-CA"/>
          </a:p>
        </p:txBody>
      </p:sp>
      <p:sp>
        <p:nvSpPr>
          <p:cNvPr id="95" name="Rectangle 95"/>
          <p:cNvSpPr>
            <a:spLocks noGrp="1" noChangeArrowheads="1"/>
          </p:cNvSpPr>
          <p:nvPr>
            <p:ph type="ftr" sz="quarter" idx="11"/>
          </p:nvPr>
        </p:nvSpPr>
        <p:spPr>
          <a:xfrm>
            <a:off x="1905000" y="6324600"/>
            <a:ext cx="5791200" cy="457200"/>
          </a:xfrm>
        </p:spPr>
        <p:txBody>
          <a:bodyPr/>
          <a:lstStyle>
            <a:lvl1pPr>
              <a:defRPr smtClean="0"/>
            </a:lvl1pPr>
          </a:lstStyle>
          <a:p>
            <a:r>
              <a:rPr lang="en-US"/>
              <a:t>Machine Learning in Business, 3rd Ed. Copyright  © John C. Hull 2021</a:t>
            </a:r>
            <a:endParaRPr lang="en-CA"/>
          </a:p>
        </p:txBody>
      </p:sp>
      <p:sp>
        <p:nvSpPr>
          <p:cNvPr id="96" name="Rectangle 96"/>
          <p:cNvSpPr>
            <a:spLocks noGrp="1" noChangeArrowheads="1"/>
          </p:cNvSpPr>
          <p:nvPr>
            <p:ph type="sldNum" sz="quarter" idx="12"/>
          </p:nvPr>
        </p:nvSpPr>
        <p:spPr>
          <a:xfrm>
            <a:off x="6858000" y="6324600"/>
            <a:ext cx="1905000" cy="457200"/>
          </a:xfrm>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899206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100"/>
            </a:lvl1pPr>
            <a:lvl2pPr>
              <a:defRPr sz="18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fld id="{02A014B0-1428-434A-A24B-607844D50ABF}" type="datetime1">
              <a:rPr lang="en-CA" smtClean="0"/>
              <a:t>2021-05-27</a:t>
            </a:fld>
            <a:endParaRPr lang="en-CA"/>
          </a:p>
        </p:txBody>
      </p:sp>
      <p:sp>
        <p:nvSpPr>
          <p:cNvPr id="5" name="Footer Placeholder 4"/>
          <p:cNvSpPr>
            <a:spLocks noGrp="1"/>
          </p:cNvSpPr>
          <p:nvPr>
            <p:ph type="ftr" sz="quarter" idx="11"/>
          </p:nvPr>
        </p:nvSpPr>
        <p:spPr>
          <a:xfrm>
            <a:off x="1600200" y="6248400"/>
            <a:ext cx="5029200" cy="457200"/>
          </a:xfrm>
        </p:spPr>
        <p:txBody>
          <a:bodyPr/>
          <a:lstStyle>
            <a:lvl1pPr>
              <a:defRPr smtClean="0"/>
            </a:lvl1pPr>
          </a:lstStyle>
          <a:p>
            <a:r>
              <a:rPr lang="en-US"/>
              <a:t>Machine Learning in Business, 3rd Ed. Copyright  © John C. Hull 2021</a:t>
            </a:r>
            <a:endParaRPr lang="en-CA"/>
          </a:p>
        </p:txBody>
      </p:sp>
      <p:sp>
        <p:nvSpPr>
          <p:cNvPr id="6" name="Slide Number Placeholder 5"/>
          <p:cNvSpPr>
            <a:spLocks noGrp="1"/>
          </p:cNvSpPr>
          <p:nvPr>
            <p:ph type="sldNum" sz="quarter" idx="12"/>
          </p:nvPr>
        </p:nvSpPr>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004633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fld id="{72C6C6A4-6F10-45CA-B738-DD79C69F572C}" type="datetime1">
              <a:rPr lang="en-CA" smtClean="0"/>
              <a:t>2021-05-27</a:t>
            </a:fld>
            <a:endParaRPr lang="en-CA"/>
          </a:p>
        </p:txBody>
      </p:sp>
      <p:sp>
        <p:nvSpPr>
          <p:cNvPr id="5"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6"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856398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2147888"/>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147888"/>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B73552EE-051E-4269-8AE4-83DDC9D3FBF2}" type="datetime1">
              <a:rPr lang="en-CA" smtClean="0"/>
              <a:t>2021-05-27</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7"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2702590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fld id="{2CA18C56-715B-484B-A370-6B3F13F3BF8D}" type="datetime1">
              <a:rPr lang="en-CA" smtClean="0"/>
              <a:t>2021-05-27</a:t>
            </a:fld>
            <a:endParaRPr lang="en-CA"/>
          </a:p>
        </p:txBody>
      </p:sp>
      <p:sp>
        <p:nvSpPr>
          <p:cNvPr id="8"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9"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76695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fld id="{4A512FEB-0CF3-4165-AA43-84FF6C2DD3FB}" type="datetime1">
              <a:rPr lang="en-CA" smtClean="0"/>
              <a:t>2021-05-27</a:t>
            </a:fld>
            <a:endParaRPr lang="en-CA"/>
          </a:p>
        </p:txBody>
      </p:sp>
      <p:sp>
        <p:nvSpPr>
          <p:cNvPr id="4"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5"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1909410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4C5F96D3-0CD4-490F-BF6D-A7E00F9C66D4}" type="datetime1">
              <a:rPr lang="en-CA" smtClean="0"/>
              <a:t>2021-05-27</a:t>
            </a:fld>
            <a:endParaRPr lang="en-CA"/>
          </a:p>
        </p:txBody>
      </p:sp>
      <p:sp>
        <p:nvSpPr>
          <p:cNvPr id="3"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4"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401681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CAF5220D-1DCB-4094-848F-75977193CB39}" type="datetime1">
              <a:rPr lang="en-CA" smtClean="0"/>
              <a:t>2021-05-27</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7"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4079828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CB80619D-2ABB-44AF-9859-A2347495F545}" type="datetime1">
              <a:rPr lang="en-CA" smtClean="0"/>
              <a:t>2021-05-27</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7"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245219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4B644362-45A7-44C2-A4C4-733855D815AE}" type="datetime1">
              <a:rPr lang="en-CA" smtClean="0"/>
              <a:t>2021-05-27</a:t>
            </a:fld>
            <a:endParaRPr lang="en-CA"/>
          </a:p>
        </p:txBody>
      </p:sp>
      <p:sp>
        <p:nvSpPr>
          <p:cNvPr id="5"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6"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502955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05564" y="930277"/>
            <a:ext cx="2052637" cy="53324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46064" y="930277"/>
            <a:ext cx="6007100" cy="53324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32E18A78-B5B5-408A-8FC7-FC3ED57491A6}" type="datetime1">
              <a:rPr lang="en-CA" smtClean="0"/>
              <a:t>2021-05-27</a:t>
            </a:fld>
            <a:endParaRPr lang="en-CA"/>
          </a:p>
        </p:txBody>
      </p:sp>
      <p:sp>
        <p:nvSpPr>
          <p:cNvPr id="5"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6"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1107564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614C409B-8975-49CB-8FBF-83D62AA6D52B}" type="datetime1">
              <a:rPr lang="en-CA" smtClean="0"/>
              <a:t>2021-05-27</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7"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125513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719265"/>
            <a:ext cx="4038600" cy="2128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4000502"/>
            <a:ext cx="4038600" cy="213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fld id="{29BCBB52-C6B8-47D4-A89D-F299D738F609}" type="datetime1">
              <a:rPr lang="en-CA" smtClean="0"/>
              <a:t>2021-05-27</a:t>
            </a:fld>
            <a:endParaRPr lang="en-CA"/>
          </a:p>
        </p:txBody>
      </p:sp>
      <p:sp>
        <p:nvSpPr>
          <p:cNvPr id="7"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8"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1811418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yan - Blank">
    <p:spTree>
      <p:nvGrpSpPr>
        <p:cNvPr id="1" name=""/>
        <p:cNvGrpSpPr/>
        <p:nvPr/>
      </p:nvGrpSpPr>
      <p:grpSpPr>
        <a:xfrm>
          <a:off x="0" y="0"/>
          <a:ext cx="0" cy="0"/>
          <a:chOff x="0" y="0"/>
          <a:chExt cx="0" cy="0"/>
        </a:xfrm>
      </p:grpSpPr>
      <p:sp>
        <p:nvSpPr>
          <p:cNvPr id="2" name="Title 1"/>
          <p:cNvSpPr>
            <a:spLocks noGrp="1"/>
          </p:cNvSpPr>
          <p:nvPr>
            <p:ph type="ctrTitle"/>
          </p:nvPr>
        </p:nvSpPr>
        <p:spPr>
          <a:xfrm>
            <a:off x="251521" y="274638"/>
            <a:ext cx="7200800" cy="563564"/>
          </a:xfrm>
        </p:spPr>
        <p:txBody>
          <a:bodyPr anchor="b"/>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884442B3-0234-4333-8BCD-39F0A44E537A}" type="datetime1">
              <a:rPr lang="en-CA" smtClean="0"/>
              <a:t>2021-05-27</a:t>
            </a:fld>
            <a:endParaRPr lang="en-CA"/>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US"/>
              <a:t>Machine Learning in Business, 3rd Ed. Copyright  © John C. Hull 2021</a:t>
            </a:r>
            <a:endParaRPr lang="en-CA"/>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979D778-5668-409F-BE61-8F31D5437AFC}" type="slidenum">
              <a:rPr lang="en-CA" smtClean="0"/>
              <a:t>‹#›</a:t>
            </a:fld>
            <a:endParaRPr lang="en-CA"/>
          </a:p>
        </p:txBody>
      </p:sp>
      <p:sp>
        <p:nvSpPr>
          <p:cNvPr id="3" name="Subtitle 2"/>
          <p:cNvSpPr>
            <a:spLocks noGrp="1"/>
          </p:cNvSpPr>
          <p:nvPr>
            <p:ph type="subTitle" idx="1"/>
          </p:nvPr>
        </p:nvSpPr>
        <p:spPr>
          <a:xfrm>
            <a:off x="251521" y="838201"/>
            <a:ext cx="7200800" cy="533400"/>
          </a:xfrm>
        </p:spPr>
        <p:txBody>
          <a:bodyPr anchor="t">
            <a:normAutofit/>
          </a:bodyPr>
          <a:lstStyle>
            <a:lvl1pPr marL="0" indent="0" algn="l">
              <a:buNone/>
              <a:defRPr sz="1350" b="0">
                <a:solidFill>
                  <a:schemeClr val="bg1">
                    <a:lumMod val="65000"/>
                  </a:schemeClr>
                </a:solidFill>
                <a:latin typeface="Arial" panose="020B0604020202020204" pitchFamily="34" charset="0"/>
                <a:cs typeface="Arial" panose="020B0604020202020204"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12" name="Content Placeholder 2"/>
          <p:cNvSpPr>
            <a:spLocks noGrp="1"/>
          </p:cNvSpPr>
          <p:nvPr>
            <p:ph idx="14"/>
          </p:nvPr>
        </p:nvSpPr>
        <p:spPr>
          <a:xfrm>
            <a:off x="251520" y="1484784"/>
            <a:ext cx="8637640" cy="4752528"/>
          </a:xfrm>
        </p:spPr>
        <p:txBody>
          <a:bodyPr/>
          <a:lstStyle>
            <a:lvl1pPr>
              <a:defRPr>
                <a:latin typeface="Arial" panose="020B0604020202020204" pitchFamily="34" charset="0"/>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2005514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050" smtClean="0">
                <a:latin typeface="Arial" charset="0"/>
                <a:cs typeface="Arial" charset="0"/>
              </a:defRPr>
            </a:lvl1pPr>
          </a:lstStyle>
          <a:p>
            <a:fld id="{ED7D9194-7A7C-4C79-BA9F-5F6119BEC813}" type="datetime1">
              <a:rPr lang="en-CA" smtClean="0"/>
              <a:t>2021-05-27</a:t>
            </a:fld>
            <a:endParaRPr lang="en-CA"/>
          </a:p>
        </p:txBody>
      </p:sp>
      <p:sp>
        <p:nvSpPr>
          <p:cNvPr id="4101" name="Rectangle 5"/>
          <p:cNvSpPr>
            <a:spLocks noGrp="1" noChangeArrowheads="1"/>
          </p:cNvSpPr>
          <p:nvPr>
            <p:ph type="ftr" sz="quarter" idx="3"/>
          </p:nvPr>
        </p:nvSpPr>
        <p:spPr bwMode="auto">
          <a:xfrm>
            <a:off x="1828800" y="6324600"/>
            <a:ext cx="5486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fontAlgn="auto" hangingPunct="1">
              <a:spcBef>
                <a:spcPts val="0"/>
              </a:spcBef>
              <a:spcAft>
                <a:spcPts val="0"/>
              </a:spcAft>
              <a:defRPr sz="1050" smtClean="0">
                <a:latin typeface="Arial" charset="0"/>
                <a:cs typeface="Arial" charset="0"/>
              </a:defRPr>
            </a:lvl1pPr>
          </a:lstStyle>
          <a:p>
            <a:r>
              <a:rPr lang="en-US"/>
              <a:t>Machine Learning in Business, 3rd Ed. Copyright  © John C. Hull 2021</a:t>
            </a:r>
            <a:endParaRPr lang="en-CA"/>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50">
                <a:latin typeface="Arial" panose="020B0604020202020204" pitchFamily="34" charset="0"/>
              </a:defRPr>
            </a:lvl1pPr>
          </a:lstStyle>
          <a:p>
            <a:fld id="{F979D778-5668-409F-BE61-8F31D5437AFC}" type="slidenum">
              <a:rPr lang="en-CA" smtClean="0"/>
              <a:t>‹#›</a:t>
            </a:fld>
            <a:endParaRPr lang="en-CA"/>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sz="1350"/>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0 w 15"/>
                      <a:gd name="T1" fmla="*/ 0 h 23"/>
                      <a:gd name="T2" fmla="*/ 0 w 15"/>
                      <a:gd name="T3" fmla="*/ 0 h 23"/>
                      <a:gd name="T4" fmla="*/ 0 w 15"/>
                      <a:gd name="T5" fmla="*/ 0 h 23"/>
                      <a:gd name="T6" fmla="*/ 0 w 15"/>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9" name="Freeform 13"/>
                  <p:cNvSpPr>
                    <a:spLocks/>
                  </p:cNvSpPr>
                  <p:nvPr/>
                </p:nvSpPr>
                <p:spPr bwMode="ltGray">
                  <a:xfrm>
                    <a:off x="2332" y="660"/>
                    <a:ext cx="9" cy="8"/>
                  </a:xfrm>
                  <a:custGeom>
                    <a:avLst/>
                    <a:gdLst>
                      <a:gd name="T0" fmla="*/ 0 w 20"/>
                      <a:gd name="T1" fmla="*/ 0 h 23"/>
                      <a:gd name="T2" fmla="*/ 0 w 20"/>
                      <a:gd name="T3" fmla="*/ 0 h 23"/>
                      <a:gd name="T4" fmla="*/ 0 w 20"/>
                      <a:gd name="T5" fmla="*/ 0 h 23"/>
                      <a:gd name="T6" fmla="*/ 0 w 20"/>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0" name="Freeform 14"/>
                  <p:cNvSpPr>
                    <a:spLocks/>
                  </p:cNvSpPr>
                  <p:nvPr/>
                </p:nvSpPr>
                <p:spPr bwMode="ltGray">
                  <a:xfrm>
                    <a:off x="2120"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1" name="Freeform 15"/>
                  <p:cNvSpPr>
                    <a:spLocks/>
                  </p:cNvSpPr>
                  <p:nvPr/>
                </p:nvSpPr>
                <p:spPr bwMode="ltGray">
                  <a:xfrm>
                    <a:off x="1967"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2" name="Freeform 16"/>
                  <p:cNvSpPr>
                    <a:spLocks/>
                  </p:cNvSpPr>
                  <p:nvPr/>
                </p:nvSpPr>
                <p:spPr bwMode="ltGray">
                  <a:xfrm>
                    <a:off x="1921"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3" name="Freeform 17"/>
                  <p:cNvSpPr>
                    <a:spLocks/>
                  </p:cNvSpPr>
                  <p:nvPr/>
                </p:nvSpPr>
                <p:spPr bwMode="ltGray">
                  <a:xfrm>
                    <a:off x="1892"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4" name="Freeform 18"/>
                  <p:cNvSpPr>
                    <a:spLocks/>
                  </p:cNvSpPr>
                  <p:nvPr/>
                </p:nvSpPr>
                <p:spPr bwMode="ltGray">
                  <a:xfrm>
                    <a:off x="1735"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5" name="Freeform 19"/>
                  <p:cNvSpPr>
                    <a:spLocks/>
                  </p:cNvSpPr>
                  <p:nvPr/>
                </p:nvSpPr>
                <p:spPr bwMode="ltGray">
                  <a:xfrm>
                    <a:off x="1827"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6" name="Freeform 20"/>
                  <p:cNvSpPr>
                    <a:spLocks/>
                  </p:cNvSpPr>
                  <p:nvPr/>
                </p:nvSpPr>
                <p:spPr bwMode="ltGray">
                  <a:xfrm>
                    <a:off x="1892"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7" name="Freeform 21"/>
                  <p:cNvSpPr>
                    <a:spLocks/>
                  </p:cNvSpPr>
                  <p:nvPr/>
                </p:nvSpPr>
                <p:spPr bwMode="ltGray">
                  <a:xfrm>
                    <a:off x="1890"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8" name="Freeform 22"/>
                  <p:cNvSpPr>
                    <a:spLocks/>
                  </p:cNvSpPr>
                  <p:nvPr/>
                </p:nvSpPr>
                <p:spPr bwMode="ltGray">
                  <a:xfrm>
                    <a:off x="1944"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9" name="Freeform 23"/>
                  <p:cNvSpPr>
                    <a:spLocks/>
                  </p:cNvSpPr>
                  <p:nvPr/>
                </p:nvSpPr>
                <p:spPr bwMode="ltGray">
                  <a:xfrm>
                    <a:off x="1948"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0" name="Freeform 24"/>
                  <p:cNvSpPr>
                    <a:spLocks/>
                  </p:cNvSpPr>
                  <p:nvPr/>
                </p:nvSpPr>
                <p:spPr bwMode="ltGray">
                  <a:xfrm>
                    <a:off x="1969"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1" name="Freeform 25"/>
                  <p:cNvSpPr>
                    <a:spLocks/>
                  </p:cNvSpPr>
                  <p:nvPr/>
                </p:nvSpPr>
                <p:spPr bwMode="ltGray">
                  <a:xfrm>
                    <a:off x="1976"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2" name="Freeform 26"/>
                  <p:cNvSpPr>
                    <a:spLocks/>
                  </p:cNvSpPr>
                  <p:nvPr/>
                </p:nvSpPr>
                <p:spPr bwMode="ltGray">
                  <a:xfrm>
                    <a:off x="2082"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3" name="Freeform 27"/>
                  <p:cNvSpPr>
                    <a:spLocks/>
                  </p:cNvSpPr>
                  <p:nvPr/>
                </p:nvSpPr>
                <p:spPr bwMode="ltGray">
                  <a:xfrm>
                    <a:off x="2152"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4" name="Freeform 28"/>
                  <p:cNvSpPr>
                    <a:spLocks/>
                  </p:cNvSpPr>
                  <p:nvPr/>
                </p:nvSpPr>
                <p:spPr bwMode="ltGray">
                  <a:xfrm>
                    <a:off x="2194" y="584"/>
                    <a:ext cx="11" cy="8"/>
                  </a:xfrm>
                  <a:custGeom>
                    <a:avLst/>
                    <a:gdLst>
                      <a:gd name="T0" fmla="*/ 0 w 26"/>
                      <a:gd name="T1" fmla="*/ 0 h 22"/>
                      <a:gd name="T2" fmla="*/ 0 w 26"/>
                      <a:gd name="T3" fmla="*/ 0 h 22"/>
                      <a:gd name="T4" fmla="*/ 0 w 26"/>
                      <a:gd name="T5" fmla="*/ 0 h 22"/>
                      <a:gd name="T6" fmla="*/ 0 w 26"/>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5" name="Freeform 29"/>
                  <p:cNvSpPr>
                    <a:spLocks/>
                  </p:cNvSpPr>
                  <p:nvPr/>
                </p:nvSpPr>
                <p:spPr bwMode="ltGray">
                  <a:xfrm>
                    <a:off x="2059"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6" name="Freeform 30"/>
                  <p:cNvSpPr>
                    <a:spLocks/>
                  </p:cNvSpPr>
                  <p:nvPr/>
                </p:nvSpPr>
                <p:spPr bwMode="ltGray">
                  <a:xfrm>
                    <a:off x="1988"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7" name="Freeform 31"/>
                  <p:cNvSpPr>
                    <a:spLocks/>
                  </p:cNvSpPr>
                  <p:nvPr/>
                </p:nvSpPr>
                <p:spPr bwMode="ltGray">
                  <a:xfrm>
                    <a:off x="1910"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8" name="Freeform 32"/>
                  <p:cNvSpPr>
                    <a:spLocks/>
                  </p:cNvSpPr>
                  <p:nvPr/>
                </p:nvSpPr>
                <p:spPr bwMode="ltGray">
                  <a:xfrm>
                    <a:off x="1899"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9" name="Freeform 33"/>
                  <p:cNvSpPr>
                    <a:spLocks/>
                  </p:cNvSpPr>
                  <p:nvPr/>
                </p:nvSpPr>
                <p:spPr bwMode="ltGray">
                  <a:xfrm>
                    <a:off x="1909"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0" name="Freeform 34"/>
                  <p:cNvSpPr>
                    <a:spLocks/>
                  </p:cNvSpPr>
                  <p:nvPr/>
                </p:nvSpPr>
                <p:spPr bwMode="ltGray">
                  <a:xfrm>
                    <a:off x="1881"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1" name="Freeform 35"/>
                  <p:cNvSpPr>
                    <a:spLocks/>
                  </p:cNvSpPr>
                  <p:nvPr/>
                </p:nvSpPr>
                <p:spPr bwMode="ltGray">
                  <a:xfrm>
                    <a:off x="2930" y="489"/>
                    <a:ext cx="299" cy="179"/>
                  </a:xfrm>
                  <a:custGeom>
                    <a:avLst/>
                    <a:gdLst>
                      <a:gd name="T0" fmla="*/ 1 w 471"/>
                      <a:gd name="T1" fmla="*/ 1 h 281"/>
                      <a:gd name="T2" fmla="*/ 1 w 471"/>
                      <a:gd name="T3" fmla="*/ 1 h 281"/>
                      <a:gd name="T4" fmla="*/ 1 w 471"/>
                      <a:gd name="T5" fmla="*/ 1 h 281"/>
                      <a:gd name="T6" fmla="*/ 1 w 471"/>
                      <a:gd name="T7" fmla="*/ 1 h 281"/>
                      <a:gd name="T8" fmla="*/ 1 w 471"/>
                      <a:gd name="T9" fmla="*/ 1 h 281"/>
                      <a:gd name="T10" fmla="*/ 0 w 471"/>
                      <a:gd name="T11" fmla="*/ 1 h 281"/>
                      <a:gd name="T12" fmla="*/ 1 w 471"/>
                      <a:gd name="T13" fmla="*/ 1 h 281"/>
                      <a:gd name="T14" fmla="*/ 1 w 471"/>
                      <a:gd name="T15" fmla="*/ 1 h 281"/>
                      <a:gd name="T16" fmla="*/ 1 w 471"/>
                      <a:gd name="T17" fmla="*/ 1 h 281"/>
                      <a:gd name="T18" fmla="*/ 1 w 471"/>
                      <a:gd name="T19" fmla="*/ 1 h 281"/>
                      <a:gd name="T20" fmla="*/ 1 w 471"/>
                      <a:gd name="T21" fmla="*/ 1 h 281"/>
                      <a:gd name="T22" fmla="*/ 1 w 471"/>
                      <a:gd name="T23" fmla="*/ 1 h 281"/>
                      <a:gd name="T24" fmla="*/ 1 w 471"/>
                      <a:gd name="T25" fmla="*/ 1 h 281"/>
                      <a:gd name="T26" fmla="*/ 1 w 471"/>
                      <a:gd name="T27" fmla="*/ 1 h 281"/>
                      <a:gd name="T28" fmla="*/ 1 w 471"/>
                      <a:gd name="T29" fmla="*/ 1 h 281"/>
                      <a:gd name="T30" fmla="*/ 1 w 471"/>
                      <a:gd name="T31" fmla="*/ 1 h 281"/>
                      <a:gd name="T32" fmla="*/ 1 w 471"/>
                      <a:gd name="T33" fmla="*/ 1 h 281"/>
                      <a:gd name="T34" fmla="*/ 1 w 471"/>
                      <a:gd name="T35" fmla="*/ 0 h 281"/>
                      <a:gd name="T36" fmla="*/ 1 w 471"/>
                      <a:gd name="T37" fmla="*/ 1 h 281"/>
                      <a:gd name="T38" fmla="*/ 1 w 471"/>
                      <a:gd name="T39" fmla="*/ 1 h 281"/>
                      <a:gd name="T40" fmla="*/ 1 w 471"/>
                      <a:gd name="T41" fmla="*/ 1 h 281"/>
                      <a:gd name="T42" fmla="*/ 1 w 471"/>
                      <a:gd name="T43" fmla="*/ 1 h 281"/>
                      <a:gd name="T44" fmla="*/ 1 w 471"/>
                      <a:gd name="T45" fmla="*/ 1 h 281"/>
                      <a:gd name="T46" fmla="*/ 1 w 471"/>
                      <a:gd name="T47" fmla="*/ 1 h 281"/>
                      <a:gd name="T48" fmla="*/ 1 w 471"/>
                      <a:gd name="T49" fmla="*/ 1 h 281"/>
                      <a:gd name="T50" fmla="*/ 1 w 471"/>
                      <a:gd name="T51" fmla="*/ 1 h 281"/>
                      <a:gd name="T52" fmla="*/ 1 w 471"/>
                      <a:gd name="T53" fmla="*/ 1 h 281"/>
                      <a:gd name="T54" fmla="*/ 1 w 471"/>
                      <a:gd name="T55" fmla="*/ 1 h 281"/>
                      <a:gd name="T56" fmla="*/ 1 w 471"/>
                      <a:gd name="T57" fmla="*/ 1 h 281"/>
                      <a:gd name="T58" fmla="*/ 1 w 471"/>
                      <a:gd name="T59" fmla="*/ 1 h 281"/>
                      <a:gd name="T60" fmla="*/ 1 w 471"/>
                      <a:gd name="T61" fmla="*/ 1 h 281"/>
                      <a:gd name="T62" fmla="*/ 1 w 471"/>
                      <a:gd name="T63" fmla="*/ 1 h 281"/>
                      <a:gd name="T64" fmla="*/ 1 w 471"/>
                      <a:gd name="T65" fmla="*/ 1 h 281"/>
                      <a:gd name="T66" fmla="*/ 1 w 471"/>
                      <a:gd name="T67" fmla="*/ 1 h 281"/>
                      <a:gd name="T68" fmla="*/ 1 w 471"/>
                      <a:gd name="T69" fmla="*/ 1 h 281"/>
                      <a:gd name="T70" fmla="*/ 1 w 471"/>
                      <a:gd name="T71" fmla="*/ 1 h 281"/>
                      <a:gd name="T72" fmla="*/ 1 w 471"/>
                      <a:gd name="T73" fmla="*/ 1 h 281"/>
                      <a:gd name="T74" fmla="*/ 1 w 471"/>
                      <a:gd name="T75" fmla="*/ 1 h 281"/>
                      <a:gd name="T76" fmla="*/ 1 w 471"/>
                      <a:gd name="T77" fmla="*/ 1 h 281"/>
                      <a:gd name="T78" fmla="*/ 1 w 471"/>
                      <a:gd name="T79" fmla="*/ 1 h 281"/>
                      <a:gd name="T80" fmla="*/ 1 w 471"/>
                      <a:gd name="T81" fmla="*/ 1 h 281"/>
                      <a:gd name="T82" fmla="*/ 1 w 471"/>
                      <a:gd name="T83" fmla="*/ 1 h 281"/>
                      <a:gd name="T84" fmla="*/ 1 w 471"/>
                      <a:gd name="T85" fmla="*/ 1 h 281"/>
                      <a:gd name="T86" fmla="*/ 1 w 471"/>
                      <a:gd name="T87" fmla="*/ 1 h 281"/>
                      <a:gd name="T88" fmla="*/ 1 w 471"/>
                      <a:gd name="T89" fmla="*/ 1 h 281"/>
                      <a:gd name="T90" fmla="*/ 1 w 471"/>
                      <a:gd name="T91" fmla="*/ 1 h 281"/>
                      <a:gd name="T92" fmla="*/ 1 w 471"/>
                      <a:gd name="T93" fmla="*/ 1 h 281"/>
                      <a:gd name="T94" fmla="*/ 1 w 471"/>
                      <a:gd name="T95" fmla="*/ 1 h 281"/>
                      <a:gd name="T96" fmla="*/ 1 w 471"/>
                      <a:gd name="T97" fmla="*/ 1 h 281"/>
                      <a:gd name="T98" fmla="*/ 1 w 471"/>
                      <a:gd name="T99" fmla="*/ 1 h 281"/>
                      <a:gd name="T100" fmla="*/ 1 w 471"/>
                      <a:gd name="T101" fmla="*/ 1 h 281"/>
                      <a:gd name="T102" fmla="*/ 1 w 471"/>
                      <a:gd name="T103" fmla="*/ 1 h 281"/>
                      <a:gd name="T104" fmla="*/ 1 w 471"/>
                      <a:gd name="T105" fmla="*/ 1 h 281"/>
                      <a:gd name="T106" fmla="*/ 1 w 471"/>
                      <a:gd name="T107" fmla="*/ 1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2" name="Freeform 36"/>
                  <p:cNvSpPr>
                    <a:spLocks/>
                  </p:cNvSpPr>
                  <p:nvPr/>
                </p:nvSpPr>
                <p:spPr bwMode="ltGray">
                  <a:xfrm>
                    <a:off x="2534" y="242"/>
                    <a:ext cx="420" cy="283"/>
                  </a:xfrm>
                  <a:custGeom>
                    <a:avLst/>
                    <a:gdLst>
                      <a:gd name="T0" fmla="*/ 0 w 984"/>
                      <a:gd name="T1" fmla="*/ 0 h 844"/>
                      <a:gd name="T2" fmla="*/ 0 w 984"/>
                      <a:gd name="T3" fmla="*/ 0 h 844"/>
                      <a:gd name="T4" fmla="*/ 0 w 984"/>
                      <a:gd name="T5" fmla="*/ 0 h 844"/>
                      <a:gd name="T6" fmla="*/ 0 w 984"/>
                      <a:gd name="T7" fmla="*/ 0 h 844"/>
                      <a:gd name="T8" fmla="*/ 0 w 984"/>
                      <a:gd name="T9" fmla="*/ 0 h 844"/>
                      <a:gd name="T10" fmla="*/ 0 w 984"/>
                      <a:gd name="T11" fmla="*/ 0 h 844"/>
                      <a:gd name="T12" fmla="*/ 0 w 984"/>
                      <a:gd name="T13" fmla="*/ 0 h 844"/>
                      <a:gd name="T14" fmla="*/ 0 w 984"/>
                      <a:gd name="T15" fmla="*/ 0 h 844"/>
                      <a:gd name="T16" fmla="*/ 0 w 984"/>
                      <a:gd name="T17" fmla="*/ 0 h 844"/>
                      <a:gd name="T18" fmla="*/ 0 w 984"/>
                      <a:gd name="T19" fmla="*/ 0 h 844"/>
                      <a:gd name="T20" fmla="*/ 0 w 984"/>
                      <a:gd name="T21" fmla="*/ 0 h 844"/>
                      <a:gd name="T22" fmla="*/ 0 w 984"/>
                      <a:gd name="T23" fmla="*/ 0 h 844"/>
                      <a:gd name="T24" fmla="*/ 0 w 984"/>
                      <a:gd name="T25" fmla="*/ 0 h 844"/>
                      <a:gd name="T26" fmla="*/ 0 w 984"/>
                      <a:gd name="T27" fmla="*/ 0 h 844"/>
                      <a:gd name="T28" fmla="*/ 0 w 984"/>
                      <a:gd name="T29" fmla="*/ 0 h 844"/>
                      <a:gd name="T30" fmla="*/ 0 w 984"/>
                      <a:gd name="T31" fmla="*/ 0 h 844"/>
                      <a:gd name="T32" fmla="*/ 0 w 984"/>
                      <a:gd name="T33" fmla="*/ 0 h 844"/>
                      <a:gd name="T34" fmla="*/ 0 w 984"/>
                      <a:gd name="T35" fmla="*/ 0 h 844"/>
                      <a:gd name="T36" fmla="*/ 0 w 984"/>
                      <a:gd name="T37" fmla="*/ 0 h 844"/>
                      <a:gd name="T38" fmla="*/ 0 w 984"/>
                      <a:gd name="T39" fmla="*/ 0 h 844"/>
                      <a:gd name="T40" fmla="*/ 0 w 984"/>
                      <a:gd name="T41" fmla="*/ 0 h 844"/>
                      <a:gd name="T42" fmla="*/ 0 w 984"/>
                      <a:gd name="T43" fmla="*/ 0 h 844"/>
                      <a:gd name="T44" fmla="*/ 0 w 984"/>
                      <a:gd name="T45" fmla="*/ 0 h 844"/>
                      <a:gd name="T46" fmla="*/ 0 w 984"/>
                      <a:gd name="T47" fmla="*/ 0 h 844"/>
                      <a:gd name="T48" fmla="*/ 0 w 984"/>
                      <a:gd name="T49" fmla="*/ 0 h 844"/>
                      <a:gd name="T50" fmla="*/ 0 w 984"/>
                      <a:gd name="T51" fmla="*/ 0 h 844"/>
                      <a:gd name="T52" fmla="*/ 0 w 984"/>
                      <a:gd name="T53" fmla="*/ 0 h 844"/>
                      <a:gd name="T54" fmla="*/ 0 w 984"/>
                      <a:gd name="T55" fmla="*/ 0 h 844"/>
                      <a:gd name="T56" fmla="*/ 0 w 984"/>
                      <a:gd name="T57" fmla="*/ 0 h 844"/>
                      <a:gd name="T58" fmla="*/ 0 w 984"/>
                      <a:gd name="T59" fmla="*/ 0 h 844"/>
                      <a:gd name="T60" fmla="*/ 0 w 984"/>
                      <a:gd name="T61" fmla="*/ 0 h 844"/>
                      <a:gd name="T62" fmla="*/ 0 w 984"/>
                      <a:gd name="T63" fmla="*/ 0 h 844"/>
                      <a:gd name="T64" fmla="*/ 0 w 984"/>
                      <a:gd name="T65" fmla="*/ 0 h 844"/>
                      <a:gd name="T66" fmla="*/ 0 w 984"/>
                      <a:gd name="T67" fmla="*/ 0 h 844"/>
                      <a:gd name="T68" fmla="*/ 0 w 984"/>
                      <a:gd name="T69" fmla="*/ 0 h 844"/>
                      <a:gd name="T70" fmla="*/ 0 w 984"/>
                      <a:gd name="T71" fmla="*/ 0 h 844"/>
                      <a:gd name="T72" fmla="*/ 0 w 984"/>
                      <a:gd name="T73" fmla="*/ 0 h 844"/>
                      <a:gd name="T74" fmla="*/ 0 w 984"/>
                      <a:gd name="T75" fmla="*/ 0 h 844"/>
                      <a:gd name="T76" fmla="*/ 0 w 984"/>
                      <a:gd name="T77" fmla="*/ 0 h 844"/>
                      <a:gd name="T78" fmla="*/ 0 w 984"/>
                      <a:gd name="T79" fmla="*/ 0 h 844"/>
                      <a:gd name="T80" fmla="*/ 0 w 984"/>
                      <a:gd name="T81" fmla="*/ 0 h 844"/>
                      <a:gd name="T82" fmla="*/ 0 w 984"/>
                      <a:gd name="T83" fmla="*/ 0 h 844"/>
                      <a:gd name="T84" fmla="*/ 0 w 984"/>
                      <a:gd name="T85" fmla="*/ 0 h 844"/>
                      <a:gd name="T86" fmla="*/ 0 w 984"/>
                      <a:gd name="T87" fmla="*/ 0 h 844"/>
                      <a:gd name="T88" fmla="*/ 0 w 984"/>
                      <a:gd name="T89" fmla="*/ 0 h 844"/>
                      <a:gd name="T90" fmla="*/ 0 w 984"/>
                      <a:gd name="T91" fmla="*/ 0 h 844"/>
                      <a:gd name="T92" fmla="*/ 0 w 984"/>
                      <a:gd name="T93" fmla="*/ 0 h 844"/>
                      <a:gd name="T94" fmla="*/ 0 w 984"/>
                      <a:gd name="T95" fmla="*/ 0 h 844"/>
                      <a:gd name="T96" fmla="*/ 0 w 984"/>
                      <a:gd name="T97" fmla="*/ 0 h 844"/>
                      <a:gd name="T98" fmla="*/ 0 w 984"/>
                      <a:gd name="T99" fmla="*/ 0 h 844"/>
                      <a:gd name="T100" fmla="*/ 0 w 984"/>
                      <a:gd name="T101" fmla="*/ 0 h 844"/>
                      <a:gd name="T102" fmla="*/ 0 w 984"/>
                      <a:gd name="T103" fmla="*/ 0 h 844"/>
                      <a:gd name="T104" fmla="*/ 0 w 984"/>
                      <a:gd name="T105" fmla="*/ 0 h 844"/>
                      <a:gd name="T106" fmla="*/ 0 w 984"/>
                      <a:gd name="T107" fmla="*/ 0 h 844"/>
                      <a:gd name="T108" fmla="*/ 0 w 984"/>
                      <a:gd name="T109" fmla="*/ 0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3" name="Freeform 37"/>
                  <p:cNvSpPr>
                    <a:spLocks/>
                  </p:cNvSpPr>
                  <p:nvPr/>
                </p:nvSpPr>
                <p:spPr bwMode="ltGray">
                  <a:xfrm>
                    <a:off x="2405" y="445"/>
                    <a:ext cx="15" cy="16"/>
                  </a:xfrm>
                  <a:custGeom>
                    <a:avLst/>
                    <a:gdLst>
                      <a:gd name="T0" fmla="*/ 0 w 36"/>
                      <a:gd name="T1" fmla="*/ 0 h 48"/>
                      <a:gd name="T2" fmla="*/ 0 w 36"/>
                      <a:gd name="T3" fmla="*/ 0 h 48"/>
                      <a:gd name="T4" fmla="*/ 0 w 36"/>
                      <a:gd name="T5" fmla="*/ 0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4" name="Freeform 38"/>
                  <p:cNvSpPr>
                    <a:spLocks/>
                  </p:cNvSpPr>
                  <p:nvPr/>
                </p:nvSpPr>
                <p:spPr bwMode="ltGray">
                  <a:xfrm>
                    <a:off x="2393" y="439"/>
                    <a:ext cx="16" cy="12"/>
                  </a:xfrm>
                  <a:custGeom>
                    <a:avLst/>
                    <a:gdLst>
                      <a:gd name="T0" fmla="*/ 0 w 36"/>
                      <a:gd name="T1" fmla="*/ 0 h 37"/>
                      <a:gd name="T2" fmla="*/ 0 w 36"/>
                      <a:gd name="T3" fmla="*/ 0 h 37"/>
                      <a:gd name="T4" fmla="*/ 0 w 36"/>
                      <a:gd name="T5" fmla="*/ 0 h 37"/>
                      <a:gd name="T6" fmla="*/ 0 w 36"/>
                      <a:gd name="T7" fmla="*/ 0 h 37"/>
                      <a:gd name="T8" fmla="*/ 0 w 36"/>
                      <a:gd name="T9" fmla="*/ 0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5" name="Freeform 39"/>
                  <p:cNvSpPr>
                    <a:spLocks/>
                  </p:cNvSpPr>
                  <p:nvPr/>
                </p:nvSpPr>
                <p:spPr bwMode="ltGray">
                  <a:xfrm>
                    <a:off x="2878" y="406"/>
                    <a:ext cx="73" cy="33"/>
                  </a:xfrm>
                  <a:custGeom>
                    <a:avLst/>
                    <a:gdLst>
                      <a:gd name="T0" fmla="*/ 0 w 170"/>
                      <a:gd name="T1" fmla="*/ 0 h 96"/>
                      <a:gd name="T2" fmla="*/ 0 w 170"/>
                      <a:gd name="T3" fmla="*/ 0 h 96"/>
                      <a:gd name="T4" fmla="*/ 0 w 170"/>
                      <a:gd name="T5" fmla="*/ 0 h 96"/>
                      <a:gd name="T6" fmla="*/ 0 w 170"/>
                      <a:gd name="T7" fmla="*/ 0 h 96"/>
                      <a:gd name="T8" fmla="*/ 0 w 170"/>
                      <a:gd name="T9" fmla="*/ 0 h 96"/>
                      <a:gd name="T10" fmla="*/ 0 w 170"/>
                      <a:gd name="T11" fmla="*/ 0 h 96"/>
                      <a:gd name="T12" fmla="*/ 0 w 170"/>
                      <a:gd name="T13" fmla="*/ 0 h 96"/>
                      <a:gd name="T14" fmla="*/ 0 w 170"/>
                      <a:gd name="T15" fmla="*/ 0 h 96"/>
                      <a:gd name="T16" fmla="*/ 0 w 170"/>
                      <a:gd name="T17" fmla="*/ 0 h 96"/>
                      <a:gd name="T18" fmla="*/ 0 w 170"/>
                      <a:gd name="T19" fmla="*/ 0 h 96"/>
                      <a:gd name="T20" fmla="*/ 0 w 170"/>
                      <a:gd name="T21" fmla="*/ 0 h 96"/>
                      <a:gd name="T22" fmla="*/ 0 w 170"/>
                      <a:gd name="T23" fmla="*/ 0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6" name="Freeform 40"/>
                  <p:cNvSpPr>
                    <a:spLocks/>
                  </p:cNvSpPr>
                  <p:nvPr/>
                </p:nvSpPr>
                <p:spPr bwMode="ltGray">
                  <a:xfrm>
                    <a:off x="2955" y="433"/>
                    <a:ext cx="59" cy="15"/>
                  </a:xfrm>
                  <a:custGeom>
                    <a:avLst/>
                    <a:gdLst>
                      <a:gd name="T0" fmla="*/ 0 w 138"/>
                      <a:gd name="T1" fmla="*/ 0 h 44"/>
                      <a:gd name="T2" fmla="*/ 0 w 138"/>
                      <a:gd name="T3" fmla="*/ 0 h 44"/>
                      <a:gd name="T4" fmla="*/ 0 w 138"/>
                      <a:gd name="T5" fmla="*/ 0 h 44"/>
                      <a:gd name="T6" fmla="*/ 0 w 138"/>
                      <a:gd name="T7" fmla="*/ 0 h 44"/>
                      <a:gd name="T8" fmla="*/ 0 w 138"/>
                      <a:gd name="T9" fmla="*/ 0 h 44"/>
                      <a:gd name="T10" fmla="*/ 0 w 138"/>
                      <a:gd name="T11" fmla="*/ 0 h 44"/>
                      <a:gd name="T12" fmla="*/ 0 w 138"/>
                      <a:gd name="T13" fmla="*/ 0 h 44"/>
                      <a:gd name="T14" fmla="*/ 0 w 138"/>
                      <a:gd name="T15" fmla="*/ 0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7" name="Freeform 41"/>
                  <p:cNvSpPr>
                    <a:spLocks/>
                  </p:cNvSpPr>
                  <p:nvPr/>
                </p:nvSpPr>
                <p:spPr bwMode="ltGray">
                  <a:xfrm>
                    <a:off x="2924" y="441"/>
                    <a:ext cx="24" cy="14"/>
                  </a:xfrm>
                  <a:custGeom>
                    <a:avLst/>
                    <a:gdLst>
                      <a:gd name="T0" fmla="*/ 0 w 57"/>
                      <a:gd name="T1" fmla="*/ 0 h 42"/>
                      <a:gd name="T2" fmla="*/ 0 w 57"/>
                      <a:gd name="T3" fmla="*/ 0 h 42"/>
                      <a:gd name="T4" fmla="*/ 0 w 57"/>
                      <a:gd name="T5" fmla="*/ 0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8" name="Freeform 42"/>
                  <p:cNvSpPr>
                    <a:spLocks/>
                  </p:cNvSpPr>
                  <p:nvPr/>
                </p:nvSpPr>
                <p:spPr bwMode="ltGray">
                  <a:xfrm>
                    <a:off x="2908" y="398"/>
                    <a:ext cx="16" cy="18"/>
                  </a:xfrm>
                  <a:custGeom>
                    <a:avLst/>
                    <a:gdLst>
                      <a:gd name="T0" fmla="*/ 0 w 39"/>
                      <a:gd name="T1" fmla="*/ 0 h 52"/>
                      <a:gd name="T2" fmla="*/ 0 w 39"/>
                      <a:gd name="T3" fmla="*/ 0 h 52"/>
                      <a:gd name="T4" fmla="*/ 0 w 39"/>
                      <a:gd name="T5" fmla="*/ 0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9" name="Freeform 43"/>
                  <p:cNvSpPr>
                    <a:spLocks/>
                  </p:cNvSpPr>
                  <p:nvPr/>
                </p:nvSpPr>
                <p:spPr bwMode="ltGray">
                  <a:xfrm>
                    <a:off x="3035" y="452"/>
                    <a:ext cx="19" cy="27"/>
                  </a:xfrm>
                  <a:custGeom>
                    <a:avLst/>
                    <a:gdLst>
                      <a:gd name="T0" fmla="*/ 0 w 44"/>
                      <a:gd name="T1" fmla="*/ 0 h 80"/>
                      <a:gd name="T2" fmla="*/ 0 w 44"/>
                      <a:gd name="T3" fmla="*/ 0 h 80"/>
                      <a:gd name="T4" fmla="*/ 0 w 44"/>
                      <a:gd name="T5" fmla="*/ 0 h 80"/>
                      <a:gd name="T6" fmla="*/ 0 w 44"/>
                      <a:gd name="T7" fmla="*/ 0 h 80"/>
                      <a:gd name="T8" fmla="*/ 0 w 44"/>
                      <a:gd name="T9" fmla="*/ 0 h 80"/>
                      <a:gd name="T10" fmla="*/ 0 w 44"/>
                      <a:gd name="T11" fmla="*/ 0 h 80"/>
                      <a:gd name="T12" fmla="*/ 0 w 44"/>
                      <a:gd name="T13" fmla="*/ 0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0" name="Freeform 44"/>
                  <p:cNvSpPr>
                    <a:spLocks/>
                  </p:cNvSpPr>
                  <p:nvPr/>
                </p:nvSpPr>
                <p:spPr bwMode="ltGray">
                  <a:xfrm>
                    <a:off x="2696" y="247"/>
                    <a:ext cx="205" cy="41"/>
                  </a:xfrm>
                  <a:custGeom>
                    <a:avLst/>
                    <a:gdLst>
                      <a:gd name="T0" fmla="*/ 1 w 323"/>
                      <a:gd name="T1" fmla="*/ 1 h 64"/>
                      <a:gd name="T2" fmla="*/ 1 w 323"/>
                      <a:gd name="T3" fmla="*/ 1 h 64"/>
                      <a:gd name="T4" fmla="*/ 1 w 323"/>
                      <a:gd name="T5" fmla="*/ 0 h 64"/>
                      <a:gd name="T6" fmla="*/ 1 w 323"/>
                      <a:gd name="T7" fmla="*/ 0 h 64"/>
                      <a:gd name="T8" fmla="*/ 1 w 323"/>
                      <a:gd name="T9" fmla="*/ 1 h 64"/>
                      <a:gd name="T10" fmla="*/ 1 w 323"/>
                      <a:gd name="T11" fmla="*/ 1 h 64"/>
                      <a:gd name="T12" fmla="*/ 1 w 323"/>
                      <a:gd name="T13" fmla="*/ 1 h 64"/>
                      <a:gd name="T14" fmla="*/ 1 w 323"/>
                      <a:gd name="T15" fmla="*/ 1 h 64"/>
                      <a:gd name="T16" fmla="*/ 1 w 323"/>
                      <a:gd name="T17" fmla="*/ 1 h 64"/>
                      <a:gd name="T18" fmla="*/ 1 w 323"/>
                      <a:gd name="T19" fmla="*/ 1 h 64"/>
                      <a:gd name="T20" fmla="*/ 1 w 323"/>
                      <a:gd name="T21" fmla="*/ 1 h 64"/>
                      <a:gd name="T22" fmla="*/ 1 w 323"/>
                      <a:gd name="T23" fmla="*/ 1 h 64"/>
                      <a:gd name="T24" fmla="*/ 1 w 323"/>
                      <a:gd name="T25" fmla="*/ 1 h 64"/>
                      <a:gd name="T26" fmla="*/ 1 w 323"/>
                      <a:gd name="T27" fmla="*/ 1 h 64"/>
                      <a:gd name="T28" fmla="*/ 1 w 323"/>
                      <a:gd name="T29" fmla="*/ 1 h 64"/>
                      <a:gd name="T30" fmla="*/ 1 w 323"/>
                      <a:gd name="T31" fmla="*/ 1 h 64"/>
                      <a:gd name="T32" fmla="*/ 1 w 323"/>
                      <a:gd name="T33" fmla="*/ 1 h 64"/>
                      <a:gd name="T34" fmla="*/ 1 w 323"/>
                      <a:gd name="T35" fmla="*/ 1 h 64"/>
                      <a:gd name="T36" fmla="*/ 1 w 323"/>
                      <a:gd name="T37" fmla="*/ 1 h 64"/>
                      <a:gd name="T38" fmla="*/ 1 w 323"/>
                      <a:gd name="T39" fmla="*/ 1 h 64"/>
                      <a:gd name="T40" fmla="*/ 1 w 323"/>
                      <a:gd name="T41" fmla="*/ 1 h 64"/>
                      <a:gd name="T42" fmla="*/ 1 w 323"/>
                      <a:gd name="T43" fmla="*/ 1 h 64"/>
                      <a:gd name="T44" fmla="*/ 1 w 323"/>
                      <a:gd name="T45" fmla="*/ 1 h 64"/>
                      <a:gd name="T46" fmla="*/ 1 w 323"/>
                      <a:gd name="T47" fmla="*/ 1 h 64"/>
                      <a:gd name="T48" fmla="*/ 1 w 323"/>
                      <a:gd name="T49" fmla="*/ 1 h 64"/>
                      <a:gd name="T50" fmla="*/ 1 w 323"/>
                      <a:gd name="T51" fmla="*/ 1 h 64"/>
                      <a:gd name="T52" fmla="*/ 1 w 323"/>
                      <a:gd name="T53" fmla="*/ 0 h 64"/>
                      <a:gd name="T54" fmla="*/ 1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1" name="Freeform 45"/>
                  <p:cNvSpPr>
                    <a:spLocks/>
                  </p:cNvSpPr>
                  <p:nvPr/>
                </p:nvSpPr>
                <p:spPr bwMode="ltGray">
                  <a:xfrm>
                    <a:off x="2515" y="246"/>
                    <a:ext cx="190" cy="20"/>
                  </a:xfrm>
                  <a:custGeom>
                    <a:avLst/>
                    <a:gdLst>
                      <a:gd name="T0" fmla="*/ 1 w 300"/>
                      <a:gd name="T1" fmla="*/ 1 h 31"/>
                      <a:gd name="T2" fmla="*/ 1 w 300"/>
                      <a:gd name="T3" fmla="*/ 1 h 31"/>
                      <a:gd name="T4" fmla="*/ 1 w 300"/>
                      <a:gd name="T5" fmla="*/ 0 h 31"/>
                      <a:gd name="T6" fmla="*/ 1 w 300"/>
                      <a:gd name="T7" fmla="*/ 1 h 31"/>
                      <a:gd name="T8" fmla="*/ 1 w 300"/>
                      <a:gd name="T9" fmla="*/ 1 h 31"/>
                      <a:gd name="T10" fmla="*/ 1 w 300"/>
                      <a:gd name="T11" fmla="*/ 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2" name="Freeform 46"/>
                  <p:cNvSpPr>
                    <a:spLocks/>
                  </p:cNvSpPr>
                  <p:nvPr/>
                </p:nvSpPr>
                <p:spPr bwMode="ltGray">
                  <a:xfrm>
                    <a:off x="2096"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4" name="Freeform 48"/>
                  <p:cNvSpPr>
                    <a:spLocks/>
                  </p:cNvSpPr>
                  <p:nvPr/>
                </p:nvSpPr>
                <p:spPr bwMode="ltGray">
                  <a:xfrm>
                    <a:off x="2043" y="241"/>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5" name="Freeform 49"/>
                  <p:cNvSpPr>
                    <a:spLocks/>
                  </p:cNvSpPr>
                  <p:nvPr/>
                </p:nvSpPr>
                <p:spPr bwMode="ltGray">
                  <a:xfrm>
                    <a:off x="2031"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6" name="Freeform 50"/>
                  <p:cNvSpPr>
                    <a:spLocks/>
                  </p:cNvSpPr>
                  <p:nvPr/>
                </p:nvSpPr>
                <p:spPr bwMode="ltGray">
                  <a:xfrm>
                    <a:off x="1968"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7" name="Freeform 51"/>
                  <p:cNvSpPr>
                    <a:spLocks/>
                  </p:cNvSpPr>
                  <p:nvPr/>
                </p:nvSpPr>
                <p:spPr bwMode="ltGray">
                  <a:xfrm>
                    <a:off x="2021"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8" name="Freeform 52"/>
                  <p:cNvSpPr>
                    <a:spLocks/>
                  </p:cNvSpPr>
                  <p:nvPr/>
                </p:nvSpPr>
                <p:spPr bwMode="ltGray">
                  <a:xfrm>
                    <a:off x="1573"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9" name="Freeform 53"/>
                  <p:cNvSpPr>
                    <a:spLocks/>
                  </p:cNvSpPr>
                  <p:nvPr/>
                </p:nvSpPr>
                <p:spPr bwMode="ltGray">
                  <a:xfrm>
                    <a:off x="1634"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0" name="Freeform 54"/>
                  <p:cNvSpPr>
                    <a:spLocks/>
                  </p:cNvSpPr>
                  <p:nvPr/>
                </p:nvSpPr>
                <p:spPr bwMode="ltGray">
                  <a:xfrm>
                    <a:off x="1900"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1" name="Freeform 55"/>
                  <p:cNvSpPr>
                    <a:spLocks/>
                  </p:cNvSpPr>
                  <p:nvPr/>
                </p:nvSpPr>
                <p:spPr bwMode="ltGray">
                  <a:xfrm>
                    <a:off x="1951"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2" name="Freeform 56"/>
                  <p:cNvSpPr>
                    <a:spLocks/>
                  </p:cNvSpPr>
                  <p:nvPr/>
                </p:nvSpPr>
                <p:spPr bwMode="ltGray">
                  <a:xfrm>
                    <a:off x="1021" y="314"/>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3" name="Freeform 57"/>
                  <p:cNvSpPr>
                    <a:spLocks/>
                  </p:cNvSpPr>
                  <p:nvPr/>
                </p:nvSpPr>
                <p:spPr bwMode="ltGray">
                  <a:xfrm>
                    <a:off x="1189" y="447"/>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4" name="Freeform 58"/>
                  <p:cNvSpPr>
                    <a:spLocks/>
                  </p:cNvSpPr>
                  <p:nvPr/>
                </p:nvSpPr>
                <p:spPr bwMode="ltGray">
                  <a:xfrm>
                    <a:off x="1476"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5" name="Freeform 59"/>
                  <p:cNvSpPr>
                    <a:spLocks/>
                  </p:cNvSpPr>
                  <p:nvPr/>
                </p:nvSpPr>
                <p:spPr bwMode="ltGray">
                  <a:xfrm>
                    <a:off x="1467"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6" name="Freeform 60"/>
                  <p:cNvSpPr>
                    <a:spLocks/>
                  </p:cNvSpPr>
                  <p:nvPr/>
                </p:nvSpPr>
                <p:spPr bwMode="ltGray">
                  <a:xfrm>
                    <a:off x="1072"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7" name="Freeform 61"/>
                  <p:cNvSpPr>
                    <a:spLocks/>
                  </p:cNvSpPr>
                  <p:nvPr/>
                </p:nvSpPr>
                <p:spPr bwMode="ltGray">
                  <a:xfrm>
                    <a:off x="1374"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8" name="Freeform 62"/>
                  <p:cNvSpPr>
                    <a:spLocks/>
                  </p:cNvSpPr>
                  <p:nvPr/>
                </p:nvSpPr>
                <p:spPr bwMode="ltGray">
                  <a:xfrm>
                    <a:off x="1173"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9" name="Freeform 63"/>
                  <p:cNvSpPr>
                    <a:spLocks/>
                  </p:cNvSpPr>
                  <p:nvPr/>
                </p:nvSpPr>
                <p:spPr bwMode="ltGray">
                  <a:xfrm>
                    <a:off x="1293"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0" name="Freeform 64"/>
                  <p:cNvSpPr>
                    <a:spLocks/>
                  </p:cNvSpPr>
                  <p:nvPr/>
                </p:nvSpPr>
                <p:spPr bwMode="ltGray">
                  <a:xfrm>
                    <a:off x="1278"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1" name="Freeform 65"/>
                  <p:cNvSpPr>
                    <a:spLocks/>
                  </p:cNvSpPr>
                  <p:nvPr/>
                </p:nvSpPr>
                <p:spPr bwMode="ltGray">
                  <a:xfrm>
                    <a:off x="1340"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2" name="Freeform 66"/>
                  <p:cNvSpPr>
                    <a:spLocks/>
                  </p:cNvSpPr>
                  <p:nvPr/>
                </p:nvSpPr>
                <p:spPr bwMode="ltGray">
                  <a:xfrm>
                    <a:off x="1395"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3" name="Freeform 67"/>
                  <p:cNvSpPr>
                    <a:spLocks/>
                  </p:cNvSpPr>
                  <p:nvPr/>
                </p:nvSpPr>
                <p:spPr bwMode="ltGray">
                  <a:xfrm>
                    <a:off x="1248"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7" name="Freeform 70"/>
                  <p:cNvSpPr>
                    <a:spLocks/>
                  </p:cNvSpPr>
                  <p:nvPr/>
                </p:nvSpPr>
                <p:spPr bwMode="ltGray">
                  <a:xfrm>
                    <a:off x="4655"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8" name="Freeform 71"/>
                  <p:cNvSpPr>
                    <a:spLocks/>
                  </p:cNvSpPr>
                  <p:nvPr/>
                </p:nvSpPr>
                <p:spPr bwMode="ltGray">
                  <a:xfrm>
                    <a:off x="4609"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9" name="Freeform 72"/>
                  <p:cNvSpPr>
                    <a:spLocks/>
                  </p:cNvSpPr>
                  <p:nvPr/>
                </p:nvSpPr>
                <p:spPr bwMode="ltGray">
                  <a:xfrm>
                    <a:off x="4580"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0" name="Freeform 73"/>
                  <p:cNvSpPr>
                    <a:spLocks/>
                  </p:cNvSpPr>
                  <p:nvPr/>
                </p:nvSpPr>
                <p:spPr bwMode="ltGray">
                  <a:xfrm>
                    <a:off x="4423"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1" name="Freeform 74"/>
                  <p:cNvSpPr>
                    <a:spLocks/>
                  </p:cNvSpPr>
                  <p:nvPr/>
                </p:nvSpPr>
                <p:spPr bwMode="ltGray">
                  <a:xfrm>
                    <a:off x="4515"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2" name="Freeform 75"/>
                  <p:cNvSpPr>
                    <a:spLocks/>
                  </p:cNvSpPr>
                  <p:nvPr/>
                </p:nvSpPr>
                <p:spPr bwMode="ltGray">
                  <a:xfrm>
                    <a:off x="4580"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3" name="Freeform 76"/>
                  <p:cNvSpPr>
                    <a:spLocks/>
                  </p:cNvSpPr>
                  <p:nvPr/>
                </p:nvSpPr>
                <p:spPr bwMode="ltGray">
                  <a:xfrm>
                    <a:off x="4578"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4" name="Freeform 77"/>
                  <p:cNvSpPr>
                    <a:spLocks/>
                  </p:cNvSpPr>
                  <p:nvPr/>
                </p:nvSpPr>
                <p:spPr bwMode="ltGray">
                  <a:xfrm>
                    <a:off x="4632"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5" name="Freeform 78"/>
                  <p:cNvSpPr>
                    <a:spLocks/>
                  </p:cNvSpPr>
                  <p:nvPr/>
                </p:nvSpPr>
                <p:spPr bwMode="ltGray">
                  <a:xfrm>
                    <a:off x="4636"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6" name="Freeform 79"/>
                  <p:cNvSpPr>
                    <a:spLocks/>
                  </p:cNvSpPr>
                  <p:nvPr/>
                </p:nvSpPr>
                <p:spPr bwMode="ltGray">
                  <a:xfrm>
                    <a:off x="4657"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7" name="Freeform 80"/>
                  <p:cNvSpPr>
                    <a:spLocks/>
                  </p:cNvSpPr>
                  <p:nvPr/>
                </p:nvSpPr>
                <p:spPr bwMode="ltGray">
                  <a:xfrm>
                    <a:off x="4664"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8" name="Freeform 81"/>
                  <p:cNvSpPr>
                    <a:spLocks/>
                  </p:cNvSpPr>
                  <p:nvPr/>
                </p:nvSpPr>
                <p:spPr bwMode="ltGray">
                  <a:xfrm>
                    <a:off x="4770"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9" name="Freeform 82"/>
                  <p:cNvSpPr>
                    <a:spLocks/>
                  </p:cNvSpPr>
                  <p:nvPr/>
                </p:nvSpPr>
                <p:spPr bwMode="ltGray">
                  <a:xfrm>
                    <a:off x="4840"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0" name="Freeform 83"/>
                  <p:cNvSpPr>
                    <a:spLocks/>
                  </p:cNvSpPr>
                  <p:nvPr/>
                </p:nvSpPr>
                <p:spPr bwMode="ltGray">
                  <a:xfrm>
                    <a:off x="4747"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1" name="Freeform 84"/>
                  <p:cNvSpPr>
                    <a:spLocks/>
                  </p:cNvSpPr>
                  <p:nvPr/>
                </p:nvSpPr>
                <p:spPr bwMode="ltGray">
                  <a:xfrm>
                    <a:off x="4676"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2" name="Freeform 85"/>
                  <p:cNvSpPr>
                    <a:spLocks/>
                  </p:cNvSpPr>
                  <p:nvPr/>
                </p:nvSpPr>
                <p:spPr bwMode="ltGray">
                  <a:xfrm>
                    <a:off x="4598"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3" name="Freeform 86"/>
                  <p:cNvSpPr>
                    <a:spLocks/>
                  </p:cNvSpPr>
                  <p:nvPr/>
                </p:nvSpPr>
                <p:spPr bwMode="ltGray">
                  <a:xfrm>
                    <a:off x="4587"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4" name="Freeform 87"/>
                  <p:cNvSpPr>
                    <a:spLocks/>
                  </p:cNvSpPr>
                  <p:nvPr/>
                </p:nvSpPr>
                <p:spPr bwMode="ltGray">
                  <a:xfrm>
                    <a:off x="4597"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5" name="Freeform 88"/>
                  <p:cNvSpPr>
                    <a:spLocks/>
                  </p:cNvSpPr>
                  <p:nvPr/>
                </p:nvSpPr>
                <p:spPr bwMode="ltGray">
                  <a:xfrm>
                    <a:off x="4569"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6" name="Freeform 89"/>
                  <p:cNvSpPr>
                    <a:spLocks/>
                  </p:cNvSpPr>
                  <p:nvPr/>
                </p:nvSpPr>
                <p:spPr bwMode="ltGray">
                  <a:xfrm>
                    <a:off x="4784"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8" name="Freeform 91"/>
                  <p:cNvSpPr>
                    <a:spLocks/>
                  </p:cNvSpPr>
                  <p:nvPr/>
                </p:nvSpPr>
                <p:spPr bwMode="ltGray">
                  <a:xfrm>
                    <a:off x="4731" y="240"/>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9" name="Freeform 92"/>
                  <p:cNvSpPr>
                    <a:spLocks/>
                  </p:cNvSpPr>
                  <p:nvPr/>
                </p:nvSpPr>
                <p:spPr bwMode="ltGray">
                  <a:xfrm>
                    <a:off x="4719"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0" name="Freeform 93"/>
                  <p:cNvSpPr>
                    <a:spLocks/>
                  </p:cNvSpPr>
                  <p:nvPr/>
                </p:nvSpPr>
                <p:spPr bwMode="ltGray">
                  <a:xfrm>
                    <a:off x="4656"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1" name="Freeform 94"/>
                  <p:cNvSpPr>
                    <a:spLocks/>
                  </p:cNvSpPr>
                  <p:nvPr/>
                </p:nvSpPr>
                <p:spPr bwMode="ltGray">
                  <a:xfrm>
                    <a:off x="4709"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2" name="Freeform 95"/>
                  <p:cNvSpPr>
                    <a:spLocks/>
                  </p:cNvSpPr>
                  <p:nvPr/>
                </p:nvSpPr>
                <p:spPr bwMode="ltGray">
                  <a:xfrm>
                    <a:off x="4261"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3" name="Freeform 96"/>
                  <p:cNvSpPr>
                    <a:spLocks/>
                  </p:cNvSpPr>
                  <p:nvPr/>
                </p:nvSpPr>
                <p:spPr bwMode="ltGray">
                  <a:xfrm>
                    <a:off x="4322"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4" name="Freeform 97"/>
                  <p:cNvSpPr>
                    <a:spLocks/>
                  </p:cNvSpPr>
                  <p:nvPr/>
                </p:nvSpPr>
                <p:spPr bwMode="ltGray">
                  <a:xfrm>
                    <a:off x="4588"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5" name="Freeform 98"/>
                  <p:cNvSpPr>
                    <a:spLocks/>
                  </p:cNvSpPr>
                  <p:nvPr/>
                </p:nvSpPr>
                <p:spPr bwMode="ltGray">
                  <a:xfrm>
                    <a:off x="4639"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6" name="Freeform 99"/>
                  <p:cNvSpPr>
                    <a:spLocks/>
                  </p:cNvSpPr>
                  <p:nvPr/>
                </p:nvSpPr>
                <p:spPr bwMode="ltGray">
                  <a:xfrm>
                    <a:off x="3709" y="315"/>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7" name="Freeform 100"/>
                  <p:cNvSpPr>
                    <a:spLocks/>
                  </p:cNvSpPr>
                  <p:nvPr/>
                </p:nvSpPr>
                <p:spPr bwMode="ltGray">
                  <a:xfrm>
                    <a:off x="3877" y="448"/>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8" name="Freeform 101"/>
                  <p:cNvSpPr>
                    <a:spLocks/>
                  </p:cNvSpPr>
                  <p:nvPr/>
                </p:nvSpPr>
                <p:spPr bwMode="ltGray">
                  <a:xfrm>
                    <a:off x="4164"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9" name="Freeform 102"/>
                  <p:cNvSpPr>
                    <a:spLocks/>
                  </p:cNvSpPr>
                  <p:nvPr/>
                </p:nvSpPr>
                <p:spPr bwMode="ltGray">
                  <a:xfrm>
                    <a:off x="4155"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0" name="Freeform 103"/>
                  <p:cNvSpPr>
                    <a:spLocks/>
                  </p:cNvSpPr>
                  <p:nvPr/>
                </p:nvSpPr>
                <p:spPr bwMode="ltGray">
                  <a:xfrm>
                    <a:off x="3760"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1" name="Freeform 104"/>
                  <p:cNvSpPr>
                    <a:spLocks/>
                  </p:cNvSpPr>
                  <p:nvPr/>
                </p:nvSpPr>
                <p:spPr bwMode="ltGray">
                  <a:xfrm>
                    <a:off x="4062"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2" name="Freeform 105"/>
                  <p:cNvSpPr>
                    <a:spLocks/>
                  </p:cNvSpPr>
                  <p:nvPr/>
                </p:nvSpPr>
                <p:spPr bwMode="ltGray">
                  <a:xfrm>
                    <a:off x="3861"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3" name="Freeform 106"/>
                  <p:cNvSpPr>
                    <a:spLocks/>
                  </p:cNvSpPr>
                  <p:nvPr/>
                </p:nvSpPr>
                <p:spPr bwMode="ltGray">
                  <a:xfrm>
                    <a:off x="3981"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4" name="Freeform 107"/>
                  <p:cNvSpPr>
                    <a:spLocks/>
                  </p:cNvSpPr>
                  <p:nvPr/>
                </p:nvSpPr>
                <p:spPr bwMode="ltGray">
                  <a:xfrm>
                    <a:off x="3966"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5" name="Freeform 108"/>
                  <p:cNvSpPr>
                    <a:spLocks/>
                  </p:cNvSpPr>
                  <p:nvPr/>
                </p:nvSpPr>
                <p:spPr bwMode="ltGray">
                  <a:xfrm>
                    <a:off x="4028"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6" name="Freeform 109"/>
                  <p:cNvSpPr>
                    <a:spLocks/>
                  </p:cNvSpPr>
                  <p:nvPr/>
                </p:nvSpPr>
                <p:spPr bwMode="ltGray">
                  <a:xfrm>
                    <a:off x="4083"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7" name="Freeform 110"/>
                  <p:cNvSpPr>
                    <a:spLocks/>
                  </p:cNvSpPr>
                  <p:nvPr/>
                </p:nvSpPr>
                <p:spPr bwMode="ltGray">
                  <a:xfrm>
                    <a:off x="3936"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pic>
          <p:nvPicPr>
            <p:cNvPr id="1033" name="Picture 159" descr="earth"/>
            <p:cNvPicPr>
              <a:picLocks noChangeAspect="1" noChangeArrowheads="1"/>
            </p:cNvPicPr>
            <p:nvPr userDrawn="1"/>
          </p:nvPicPr>
          <p:blipFill>
            <a:blip r:embed="rId16">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7093817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dt="0"/>
  <p:txStyles>
    <p:titleStyle>
      <a:lvl1pPr algn="l" rtl="0" eaLnBrk="1" fontAlgn="base" hangingPunct="1">
        <a:spcBef>
          <a:spcPct val="0"/>
        </a:spcBef>
        <a:spcAft>
          <a:spcPct val="0"/>
        </a:spcAft>
        <a:defRPr sz="3300" b="1" i="1">
          <a:solidFill>
            <a:schemeClr val="tx2"/>
          </a:solidFill>
          <a:latin typeface="+mj-lt"/>
          <a:ea typeface="+mj-ea"/>
          <a:cs typeface="+mj-cs"/>
        </a:defRPr>
      </a:lvl1pPr>
      <a:lvl2pPr algn="l" rtl="0" eaLnBrk="1" fontAlgn="base" hangingPunct="1">
        <a:spcBef>
          <a:spcPct val="0"/>
        </a:spcBef>
        <a:spcAft>
          <a:spcPct val="0"/>
        </a:spcAft>
        <a:defRPr sz="3300" b="1" i="1">
          <a:solidFill>
            <a:schemeClr val="tx2"/>
          </a:solidFill>
          <a:latin typeface="Times New Roman" pitchFamily="18" charset="0"/>
        </a:defRPr>
      </a:lvl2pPr>
      <a:lvl3pPr algn="l" rtl="0" eaLnBrk="1" fontAlgn="base" hangingPunct="1">
        <a:spcBef>
          <a:spcPct val="0"/>
        </a:spcBef>
        <a:spcAft>
          <a:spcPct val="0"/>
        </a:spcAft>
        <a:defRPr sz="3300" b="1" i="1">
          <a:solidFill>
            <a:schemeClr val="tx2"/>
          </a:solidFill>
          <a:latin typeface="Times New Roman" pitchFamily="18" charset="0"/>
        </a:defRPr>
      </a:lvl3pPr>
      <a:lvl4pPr algn="l" rtl="0" eaLnBrk="1" fontAlgn="base" hangingPunct="1">
        <a:spcBef>
          <a:spcPct val="0"/>
        </a:spcBef>
        <a:spcAft>
          <a:spcPct val="0"/>
        </a:spcAft>
        <a:defRPr sz="3300" b="1" i="1">
          <a:solidFill>
            <a:schemeClr val="tx2"/>
          </a:solidFill>
          <a:latin typeface="Times New Roman" pitchFamily="18" charset="0"/>
        </a:defRPr>
      </a:lvl4pPr>
      <a:lvl5pPr algn="l" rtl="0" eaLnBrk="1" fontAlgn="base" hangingPunct="1">
        <a:spcBef>
          <a:spcPct val="0"/>
        </a:spcBef>
        <a:spcAft>
          <a:spcPct val="0"/>
        </a:spcAft>
        <a:defRPr sz="3300" b="1" i="1">
          <a:solidFill>
            <a:schemeClr val="tx2"/>
          </a:solidFill>
          <a:latin typeface="Times New Roman" pitchFamily="18" charset="0"/>
        </a:defRPr>
      </a:lvl5pPr>
      <a:lvl6pPr marL="342900" algn="l" rtl="0" eaLnBrk="1" fontAlgn="base" hangingPunct="1">
        <a:spcBef>
          <a:spcPct val="0"/>
        </a:spcBef>
        <a:spcAft>
          <a:spcPct val="0"/>
        </a:spcAft>
        <a:defRPr sz="3300" i="1">
          <a:solidFill>
            <a:schemeClr val="tx2"/>
          </a:solidFill>
          <a:latin typeface="Times New Roman" pitchFamily="18" charset="0"/>
        </a:defRPr>
      </a:lvl6pPr>
      <a:lvl7pPr marL="685800" algn="l" rtl="0" eaLnBrk="1" fontAlgn="base" hangingPunct="1">
        <a:spcBef>
          <a:spcPct val="0"/>
        </a:spcBef>
        <a:spcAft>
          <a:spcPct val="0"/>
        </a:spcAft>
        <a:defRPr sz="3300" i="1">
          <a:solidFill>
            <a:schemeClr val="tx2"/>
          </a:solidFill>
          <a:latin typeface="Times New Roman" pitchFamily="18" charset="0"/>
        </a:defRPr>
      </a:lvl7pPr>
      <a:lvl8pPr marL="1028700" algn="l" rtl="0" eaLnBrk="1" fontAlgn="base" hangingPunct="1">
        <a:spcBef>
          <a:spcPct val="0"/>
        </a:spcBef>
        <a:spcAft>
          <a:spcPct val="0"/>
        </a:spcAft>
        <a:defRPr sz="3300" i="1">
          <a:solidFill>
            <a:schemeClr val="tx2"/>
          </a:solidFill>
          <a:latin typeface="Times New Roman" pitchFamily="18" charset="0"/>
        </a:defRPr>
      </a:lvl8pPr>
      <a:lvl9pPr marL="1371600" algn="l" rtl="0" eaLnBrk="1" fontAlgn="base" hangingPunct="1">
        <a:spcBef>
          <a:spcPct val="0"/>
        </a:spcBef>
        <a:spcAft>
          <a:spcPct val="0"/>
        </a:spcAft>
        <a:defRPr sz="3300" i="1">
          <a:solidFill>
            <a:schemeClr val="tx2"/>
          </a:solidFill>
          <a:latin typeface="Times New Roman" pitchFamily="18" charset="0"/>
        </a:defRPr>
      </a:lvl9pPr>
    </p:titleStyle>
    <p:bodyStyle>
      <a:lvl1pPr marL="257175" indent="-257175" algn="l" rtl="0" eaLnBrk="1" fontAlgn="base" hangingPunct="1">
        <a:spcBef>
          <a:spcPct val="20000"/>
        </a:spcBef>
        <a:spcAft>
          <a:spcPct val="0"/>
        </a:spcAft>
        <a:buBlip>
          <a:blip r:embed="rId17"/>
        </a:buBlip>
        <a:defRPr sz="2100">
          <a:solidFill>
            <a:schemeClr val="tx1"/>
          </a:solidFill>
          <a:latin typeface="Arial" pitchFamily="34" charset="0"/>
          <a:ea typeface="+mn-ea"/>
          <a:cs typeface="Arial" pitchFamily="34" charset="0"/>
        </a:defRPr>
      </a:lvl1pPr>
      <a:lvl2pPr marL="557213" indent="-214313" algn="l" rtl="0" eaLnBrk="1" fontAlgn="base" hangingPunct="1">
        <a:spcBef>
          <a:spcPct val="20000"/>
        </a:spcBef>
        <a:spcAft>
          <a:spcPct val="0"/>
        </a:spcAft>
        <a:buSzPct val="75000"/>
        <a:buBlip>
          <a:blip r:embed="rId18"/>
        </a:buBlip>
        <a:defRPr sz="1800">
          <a:solidFill>
            <a:schemeClr val="tx1"/>
          </a:solidFill>
          <a:latin typeface="Arial" pitchFamily="34" charset="0"/>
          <a:cs typeface="Arial" pitchFamily="34" charset="0"/>
        </a:defRPr>
      </a:lvl2pPr>
      <a:lvl3pPr marL="857250" indent="-171450" algn="l" rtl="0" eaLnBrk="1" fontAlgn="base" hangingPunct="1">
        <a:spcBef>
          <a:spcPct val="20000"/>
        </a:spcBef>
        <a:spcAft>
          <a:spcPct val="0"/>
        </a:spcAft>
        <a:buChar char="•"/>
        <a:defRPr sz="1800">
          <a:solidFill>
            <a:schemeClr val="tx1"/>
          </a:solidFill>
          <a:latin typeface="+mn-lt"/>
          <a:cs typeface="Arial" charset="0"/>
        </a:defRPr>
      </a:lvl3pPr>
      <a:lvl4pPr marL="1200150" indent="-171450" algn="l" rtl="0" eaLnBrk="1" fontAlgn="base" hangingPunct="1">
        <a:spcBef>
          <a:spcPct val="20000"/>
        </a:spcBef>
        <a:spcAft>
          <a:spcPct val="0"/>
        </a:spcAft>
        <a:buChar char="–"/>
        <a:defRPr sz="1500">
          <a:solidFill>
            <a:schemeClr val="tx1"/>
          </a:solidFill>
          <a:latin typeface="+mn-lt"/>
          <a:cs typeface="Arial" charset="0"/>
        </a:defRPr>
      </a:lvl4pPr>
      <a:lvl5pPr marL="1543050" indent="-171450" algn="l" rtl="0" eaLnBrk="1" fontAlgn="base" hangingPunct="1">
        <a:spcBef>
          <a:spcPct val="20000"/>
        </a:spcBef>
        <a:spcAft>
          <a:spcPct val="0"/>
        </a:spcAft>
        <a:buClr>
          <a:schemeClr val="tx2"/>
        </a:buClr>
        <a:buChar char="–"/>
        <a:defRPr sz="1500">
          <a:solidFill>
            <a:schemeClr val="tx1"/>
          </a:solidFill>
          <a:latin typeface="+mn-lt"/>
          <a:cs typeface="Arial" charset="0"/>
        </a:defRPr>
      </a:lvl5pPr>
      <a:lvl6pPr marL="1885950" indent="-171450" algn="l" rtl="0" eaLnBrk="1" fontAlgn="base" hangingPunct="1">
        <a:spcBef>
          <a:spcPct val="20000"/>
        </a:spcBef>
        <a:spcAft>
          <a:spcPct val="0"/>
        </a:spcAft>
        <a:buClr>
          <a:schemeClr val="tx2"/>
        </a:buClr>
        <a:buChar char="–"/>
        <a:defRPr sz="1500">
          <a:solidFill>
            <a:schemeClr val="tx1"/>
          </a:solidFill>
          <a:latin typeface="+mn-lt"/>
        </a:defRPr>
      </a:lvl6pPr>
      <a:lvl7pPr marL="2228850" indent="-171450" algn="l" rtl="0" eaLnBrk="1" fontAlgn="base" hangingPunct="1">
        <a:spcBef>
          <a:spcPct val="20000"/>
        </a:spcBef>
        <a:spcAft>
          <a:spcPct val="0"/>
        </a:spcAft>
        <a:buClr>
          <a:schemeClr val="tx2"/>
        </a:buClr>
        <a:buChar char="–"/>
        <a:defRPr sz="1500">
          <a:solidFill>
            <a:schemeClr val="tx1"/>
          </a:solidFill>
          <a:latin typeface="+mn-lt"/>
        </a:defRPr>
      </a:lvl7pPr>
      <a:lvl8pPr marL="2571750" indent="-171450" algn="l" rtl="0" eaLnBrk="1" fontAlgn="base" hangingPunct="1">
        <a:spcBef>
          <a:spcPct val="20000"/>
        </a:spcBef>
        <a:spcAft>
          <a:spcPct val="0"/>
        </a:spcAft>
        <a:buClr>
          <a:schemeClr val="tx2"/>
        </a:buClr>
        <a:buChar char="–"/>
        <a:defRPr sz="1500">
          <a:solidFill>
            <a:schemeClr val="tx1"/>
          </a:solidFill>
          <a:latin typeface="+mn-lt"/>
        </a:defRPr>
      </a:lvl8pPr>
      <a:lvl9pPr marL="2914650" indent="-171450" algn="l" rtl="0" eaLnBrk="1" fontAlgn="base" hangingPunct="1">
        <a:spcBef>
          <a:spcPct val="20000"/>
        </a:spcBef>
        <a:spcAft>
          <a:spcPct val="0"/>
        </a:spcAft>
        <a:buClr>
          <a:schemeClr val="tx2"/>
        </a:buClr>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5.wmf"/><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828800"/>
            <a:ext cx="5681272" cy="2362200"/>
          </a:xfrm>
        </p:spPr>
        <p:txBody>
          <a:bodyPr/>
          <a:lstStyle/>
          <a:p>
            <a:r>
              <a:rPr lang="en-US" dirty="0"/>
              <a:t>Machine Learning </a:t>
            </a:r>
            <a:r>
              <a:rPr lang="en-US"/>
              <a:t>in Business, </a:t>
            </a:r>
            <a:r>
              <a:rPr lang="en-US" dirty="0"/>
              <a:t>3</a:t>
            </a:r>
            <a:r>
              <a:rPr lang="en-US" baseline="30000" dirty="0"/>
              <a:t>rd</a:t>
            </a:r>
            <a:r>
              <a:rPr lang="en-US" dirty="0"/>
              <a:t> Edition </a:t>
            </a:r>
            <a:endParaRPr lang="en-CA" dirty="0"/>
          </a:p>
        </p:txBody>
      </p:sp>
      <p:sp>
        <p:nvSpPr>
          <p:cNvPr id="3" name="Subtitle 2"/>
          <p:cNvSpPr>
            <a:spLocks noGrp="1"/>
          </p:cNvSpPr>
          <p:nvPr>
            <p:ph type="subTitle" idx="1"/>
          </p:nvPr>
        </p:nvSpPr>
        <p:spPr>
          <a:xfrm>
            <a:off x="1835696" y="4149080"/>
            <a:ext cx="6934200" cy="1295400"/>
          </a:xfrm>
        </p:spPr>
        <p:txBody>
          <a:bodyPr>
            <a:noAutofit/>
          </a:bodyPr>
          <a:lstStyle/>
          <a:p>
            <a:r>
              <a:rPr lang="en-US" sz="3200" dirty="0"/>
              <a:t>Chapter 3: Supervised Learning: Linear and Logistic Regression</a:t>
            </a:r>
            <a:endParaRPr lang="en-CA" sz="3200"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1</a:t>
            </a:fld>
            <a:endParaRPr lang="en-CA"/>
          </a:p>
        </p:txBody>
      </p:sp>
    </p:spTree>
    <p:extLst>
      <p:ext uri="{BB962C8B-B14F-4D97-AF65-F5344CB8AC3E}">
        <p14:creationId xmlns:p14="http://schemas.microsoft.com/office/powerpoint/2010/main" val="2609102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Regression</a:t>
            </a:r>
            <a:endParaRPr lang="en-CA" dirty="0"/>
          </a:p>
        </p:txBody>
      </p:sp>
      <p:sp>
        <p:nvSpPr>
          <p:cNvPr id="3" name="Content Placeholder 2"/>
          <p:cNvSpPr>
            <a:spLocks noGrp="1"/>
          </p:cNvSpPr>
          <p:nvPr>
            <p:ph idx="1"/>
          </p:nvPr>
        </p:nvSpPr>
        <p:spPr/>
        <p:txBody>
          <a:bodyPr/>
          <a:lstStyle/>
          <a:p>
            <a:r>
              <a:rPr lang="en-US" sz="2400" dirty="0"/>
              <a:t>Linear regression is a very popular tool because once you have made the assumption that the model is linear you do not need huge amount of data</a:t>
            </a:r>
          </a:p>
          <a:p>
            <a:r>
              <a:rPr lang="en-US" sz="2400" dirty="0"/>
              <a:t>In ML we refer to the constant term as the bias and the coefficients as weights</a:t>
            </a:r>
          </a:p>
          <a:p>
            <a:pPr marL="0" indent="0">
              <a:buNone/>
            </a:pPr>
            <a:endParaRPr lang="en-CA"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2E8C09BE-1715-42CA-A91A-E7B0E09A3015}" type="slidenum">
              <a:rPr lang="en-CA" smtClean="0"/>
              <a:t>2</a:t>
            </a:fld>
            <a:endParaRPr lang="en-CA" dirty="0"/>
          </a:p>
        </p:txBody>
      </p:sp>
    </p:spTree>
    <p:extLst>
      <p:ext uri="{BB962C8B-B14F-4D97-AF65-F5344CB8AC3E}">
        <p14:creationId xmlns:p14="http://schemas.microsoft.com/office/powerpoint/2010/main" val="759096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Linear Regression </a:t>
            </a:r>
            <a:r>
              <a:rPr lang="en-CA" sz="2100" dirty="0"/>
              <a:t>continued</a:t>
            </a:r>
          </a:p>
        </p:txBody>
      </p:sp>
      <p:sp>
        <p:nvSpPr>
          <p:cNvPr id="3" name="Content Placeholder 2"/>
          <p:cNvSpPr>
            <a:spLocks noGrp="1"/>
          </p:cNvSpPr>
          <p:nvPr>
            <p:ph idx="1"/>
          </p:nvPr>
        </p:nvSpPr>
        <p:spPr>
          <a:xfrm>
            <a:off x="685800" y="2103437"/>
            <a:ext cx="7772400" cy="4114800"/>
          </a:xfrm>
        </p:spPr>
        <p:txBody>
          <a:bodyPr/>
          <a:lstStyle/>
          <a:p>
            <a:pPr marL="0" indent="0">
              <a:buNone/>
            </a:pPr>
            <a:r>
              <a:rPr lang="en-US" dirty="0"/>
              <a:t>Assume</a:t>
            </a:r>
            <a:r>
              <a:rPr lang="en-US" dirty="0">
                <a:latin typeface="+mj-lt"/>
              </a:rPr>
              <a:t> </a:t>
            </a:r>
            <a:r>
              <a:rPr lang="en-US" i="1" dirty="0">
                <a:latin typeface="+mj-lt"/>
              </a:rPr>
              <a:t>n</a:t>
            </a:r>
            <a:r>
              <a:rPr lang="en-US" dirty="0">
                <a:latin typeface="+mj-lt"/>
              </a:rPr>
              <a:t> </a:t>
            </a:r>
            <a:r>
              <a:rPr lang="en-US" dirty="0"/>
              <a:t>observations and </a:t>
            </a:r>
            <a:r>
              <a:rPr lang="en-US" i="1" dirty="0">
                <a:latin typeface="+mj-lt"/>
              </a:rPr>
              <a:t>m</a:t>
            </a:r>
            <a:r>
              <a:rPr lang="en-US" dirty="0">
                <a:latin typeface="+mj-lt"/>
              </a:rPr>
              <a:t> </a:t>
            </a:r>
            <a:r>
              <a:rPr lang="en-US" dirty="0"/>
              <a:t>features. Model is</a:t>
            </a:r>
            <a:endParaRPr lang="en-CA" dirty="0"/>
          </a:p>
          <a:p>
            <a:pPr marL="0" indent="0" algn="ctr">
              <a:buNone/>
            </a:pPr>
            <a:r>
              <a:rPr lang="en-CA" i="1" dirty="0">
                <a:latin typeface="+mj-lt"/>
              </a:rPr>
              <a:t>Y = a+b</a:t>
            </a:r>
            <a:r>
              <a:rPr lang="en-CA" baseline="-25000" dirty="0">
                <a:latin typeface="+mj-lt"/>
              </a:rPr>
              <a:t>1</a:t>
            </a:r>
            <a:r>
              <a:rPr lang="en-CA" i="1" dirty="0">
                <a:latin typeface="+mj-lt"/>
              </a:rPr>
              <a:t>X</a:t>
            </a:r>
            <a:r>
              <a:rPr lang="en-CA" baseline="-25000" dirty="0">
                <a:latin typeface="+mj-lt"/>
              </a:rPr>
              <a:t>1</a:t>
            </a:r>
            <a:r>
              <a:rPr lang="en-CA" i="1" dirty="0">
                <a:latin typeface="+mj-lt"/>
              </a:rPr>
              <a:t>+b</a:t>
            </a:r>
            <a:r>
              <a:rPr lang="en-CA" baseline="-25000" dirty="0">
                <a:latin typeface="+mj-lt"/>
              </a:rPr>
              <a:t>2</a:t>
            </a:r>
            <a:r>
              <a:rPr lang="en-CA" i="1" dirty="0">
                <a:latin typeface="+mj-lt"/>
              </a:rPr>
              <a:t>X</a:t>
            </a:r>
            <a:r>
              <a:rPr lang="en-CA" baseline="-25000" dirty="0">
                <a:latin typeface="+mj-lt"/>
              </a:rPr>
              <a:t>2</a:t>
            </a:r>
            <a:r>
              <a:rPr lang="en-CA" i="1" dirty="0">
                <a:latin typeface="+mj-lt"/>
              </a:rPr>
              <a:t>+….+</a:t>
            </a:r>
            <a:r>
              <a:rPr lang="en-CA" i="1" dirty="0" err="1">
                <a:latin typeface="+mj-lt"/>
              </a:rPr>
              <a:t>b</a:t>
            </a:r>
            <a:r>
              <a:rPr lang="en-CA" i="1" baseline="-25000" dirty="0" err="1">
                <a:latin typeface="+mj-lt"/>
              </a:rPr>
              <a:t>m</a:t>
            </a:r>
            <a:r>
              <a:rPr lang="en-CA" i="1" dirty="0" err="1">
                <a:latin typeface="+mj-lt"/>
              </a:rPr>
              <a:t>X</a:t>
            </a:r>
            <a:r>
              <a:rPr lang="en-CA" i="1" baseline="-25000" dirty="0" err="1">
                <a:latin typeface="+mj-lt"/>
              </a:rPr>
              <a:t>m</a:t>
            </a:r>
            <a:r>
              <a:rPr lang="en-CA" i="1" dirty="0" err="1">
                <a:latin typeface="+mj-lt"/>
              </a:rPr>
              <a:t>+</a:t>
            </a:r>
            <a:r>
              <a:rPr lang="en-CA" dirty="0" err="1">
                <a:latin typeface="Symbol" panose="05050102010706020507" pitchFamily="18" charset="2"/>
              </a:rPr>
              <a:t>e</a:t>
            </a:r>
            <a:endParaRPr lang="en-CA" dirty="0">
              <a:latin typeface="Symbol" panose="05050102010706020507" pitchFamily="18" charset="2"/>
            </a:endParaRPr>
          </a:p>
          <a:p>
            <a:pPr marL="0" indent="0">
              <a:buNone/>
            </a:pPr>
            <a:r>
              <a:rPr lang="en-CA" dirty="0"/>
              <a:t>Standard approach is to choose </a:t>
            </a:r>
            <a:r>
              <a:rPr lang="en-CA" i="1" dirty="0">
                <a:latin typeface="+mj-lt"/>
              </a:rPr>
              <a:t>a</a:t>
            </a:r>
            <a:r>
              <a:rPr lang="en-CA" dirty="0"/>
              <a:t> and the</a:t>
            </a:r>
            <a:r>
              <a:rPr lang="en-CA" i="1" dirty="0">
                <a:latin typeface="+mj-lt"/>
              </a:rPr>
              <a:t> b</a:t>
            </a:r>
            <a:r>
              <a:rPr lang="en-CA" i="1" baseline="-25000" dirty="0">
                <a:latin typeface="+mj-lt"/>
              </a:rPr>
              <a:t>i</a:t>
            </a:r>
            <a:r>
              <a:rPr lang="en-CA" i="1" dirty="0">
                <a:latin typeface="+mj-lt"/>
              </a:rPr>
              <a:t> </a:t>
            </a:r>
            <a:r>
              <a:rPr lang="en-CA" dirty="0"/>
              <a:t>to minimize the mean square error (</a:t>
            </a:r>
            <a:r>
              <a:rPr lang="en-CA" dirty="0" err="1"/>
              <a:t>mse</a:t>
            </a:r>
            <a:r>
              <a:rPr lang="en-CA" dirty="0"/>
              <a:t>). </a:t>
            </a:r>
          </a:p>
          <a:p>
            <a:pPr marL="0" indent="0">
              <a:buNone/>
            </a:pPr>
            <a:endParaRPr lang="en-CA" dirty="0">
              <a:latin typeface="+mj-lt"/>
            </a:endParaRPr>
          </a:p>
          <a:p>
            <a:pPr marL="0" indent="0">
              <a:buNone/>
            </a:pPr>
            <a:endParaRPr lang="en-CA" dirty="0">
              <a:latin typeface="+mj-lt"/>
            </a:endParaRPr>
          </a:p>
          <a:p>
            <a:pPr marL="0" indent="0">
              <a:buNone/>
            </a:pPr>
            <a:r>
              <a:rPr lang="en-CA" dirty="0"/>
              <a:t>This can be done analytically by inverting a matrix. Alternatively a numerical (gradient descent) method can be used</a:t>
            </a:r>
          </a:p>
          <a:p>
            <a:pPr marL="0" indent="0">
              <a:buNone/>
            </a:pPr>
            <a:endParaRPr lang="en-CA"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2E8C09BE-1715-42CA-A91A-E7B0E09A3015}" type="slidenum">
              <a:rPr lang="en-CA" smtClean="0"/>
              <a:t>3</a:t>
            </a:fld>
            <a:endParaRPr lang="en-CA"/>
          </a:p>
        </p:txBody>
      </p:sp>
      <p:graphicFrame>
        <p:nvGraphicFramePr>
          <p:cNvPr id="6" name="Object 5"/>
          <p:cNvGraphicFramePr>
            <a:graphicFrameLocks noChangeAspect="1"/>
          </p:cNvGraphicFramePr>
          <p:nvPr>
            <p:extLst>
              <p:ext uri="{D42A27DB-BD31-4B8C-83A1-F6EECF244321}">
                <p14:modId xmlns:p14="http://schemas.microsoft.com/office/powerpoint/2010/main" val="1229669149"/>
              </p:ext>
            </p:extLst>
          </p:nvPr>
        </p:nvGraphicFramePr>
        <p:xfrm>
          <a:off x="4229100" y="3353991"/>
          <a:ext cx="685800" cy="148828"/>
        </p:xfrm>
        <a:graphic>
          <a:graphicData uri="http://schemas.openxmlformats.org/presentationml/2006/ole">
            <mc:AlternateContent xmlns:mc="http://schemas.openxmlformats.org/markup-compatibility/2006">
              <mc:Choice xmlns:v="urn:schemas-microsoft-com:vml" Requires="v">
                <p:oleObj name="Equation" r:id="rId2" imgW="914400" imgH="198720" progId="Equation.DSMT4">
                  <p:embed/>
                </p:oleObj>
              </mc:Choice>
              <mc:Fallback>
                <p:oleObj name="Equation" r:id="rId2" imgW="914400" imgH="198720" progId="Equation.DSMT4">
                  <p:embed/>
                  <p:pic>
                    <p:nvPicPr>
                      <p:cNvPr id="6" name="Object 5"/>
                      <p:cNvPicPr/>
                      <p:nvPr/>
                    </p:nvPicPr>
                    <p:blipFill>
                      <a:blip r:embed="rId3"/>
                      <a:stretch>
                        <a:fillRect/>
                      </a:stretch>
                    </p:blipFill>
                    <p:spPr>
                      <a:xfrm>
                        <a:off x="4229100" y="3353991"/>
                        <a:ext cx="685800" cy="148828"/>
                      </a:xfrm>
                      <a:prstGeom prst="rect">
                        <a:avLst/>
                      </a:prstGeom>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2352148281"/>
              </p:ext>
            </p:extLst>
          </p:nvPr>
        </p:nvGraphicFramePr>
        <p:xfrm>
          <a:off x="1577975" y="3668713"/>
          <a:ext cx="4494213" cy="663575"/>
        </p:xfrm>
        <a:graphic>
          <a:graphicData uri="http://schemas.openxmlformats.org/presentationml/2006/ole">
            <mc:AlternateContent xmlns:mc="http://schemas.openxmlformats.org/markup-compatibility/2006">
              <mc:Choice xmlns:v="urn:schemas-microsoft-com:vml" Requires="v">
                <p:oleObj name="Equation" r:id="rId4" imgW="3174840" imgH="469800" progId="Equation.DSMT4">
                  <p:embed/>
                </p:oleObj>
              </mc:Choice>
              <mc:Fallback>
                <p:oleObj name="Equation" r:id="rId4" imgW="3174840" imgH="469800" progId="Equation.DSMT4">
                  <p:embed/>
                  <p:pic>
                    <p:nvPicPr>
                      <p:cNvPr id="7" name="Object 6"/>
                      <p:cNvPicPr/>
                      <p:nvPr/>
                    </p:nvPicPr>
                    <p:blipFill>
                      <a:blip r:embed="rId5"/>
                      <a:stretch>
                        <a:fillRect/>
                      </a:stretch>
                    </p:blipFill>
                    <p:spPr>
                      <a:xfrm>
                        <a:off x="1577975" y="3668713"/>
                        <a:ext cx="4494213" cy="663575"/>
                      </a:xfrm>
                      <a:prstGeom prst="rect">
                        <a:avLst/>
                      </a:prstGeom>
                    </p:spPr>
                  </p:pic>
                </p:oleObj>
              </mc:Fallback>
            </mc:AlternateContent>
          </a:graphicData>
        </a:graphic>
      </p:graphicFrame>
    </p:spTree>
    <p:extLst>
      <p:ext uri="{BB962C8B-B14F-4D97-AF65-F5344CB8AC3E}">
        <p14:creationId xmlns:p14="http://schemas.microsoft.com/office/powerpoint/2010/main" val="1871141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062" y="930275"/>
            <a:ext cx="8214369" cy="1143000"/>
          </a:xfrm>
        </p:spPr>
        <p:txBody>
          <a:bodyPr/>
          <a:lstStyle/>
          <a:p>
            <a:r>
              <a:rPr lang="en-US" dirty="0"/>
              <a:t>Gradient Descent </a:t>
            </a:r>
            <a:r>
              <a:rPr lang="en-US" sz="2400" dirty="0"/>
              <a:t>(brief description: more details when neural networks are discussed)</a:t>
            </a:r>
            <a:endParaRPr lang="en-CA" sz="2400" dirty="0"/>
          </a:p>
        </p:txBody>
      </p:sp>
      <p:sp>
        <p:nvSpPr>
          <p:cNvPr id="3" name="Content Placeholder 2"/>
          <p:cNvSpPr>
            <a:spLocks noGrp="1"/>
          </p:cNvSpPr>
          <p:nvPr>
            <p:ph idx="1"/>
          </p:nvPr>
        </p:nvSpPr>
        <p:spPr/>
        <p:txBody>
          <a:bodyPr/>
          <a:lstStyle/>
          <a:p>
            <a:r>
              <a:rPr lang="en-US" dirty="0"/>
              <a:t>The objective is to minimize a function by changing parameters. Steps are as follows:</a:t>
            </a:r>
          </a:p>
          <a:p>
            <a:pPr marL="685800" lvl="1" indent="-342900">
              <a:buFont typeface="+mj-lt"/>
              <a:buAutoNum type="arabicPeriod"/>
            </a:pPr>
            <a:r>
              <a:rPr lang="en-US" dirty="0"/>
              <a:t>Choose starting value for parameters</a:t>
            </a:r>
          </a:p>
          <a:p>
            <a:pPr marL="685800" lvl="1" indent="-342900">
              <a:buFont typeface="+mj-lt"/>
              <a:buAutoNum type="arabicPeriod"/>
            </a:pPr>
            <a:r>
              <a:rPr lang="en-US" dirty="0"/>
              <a:t>Find the steepest slope: i.e. the direction in which parameter have to be changed to reduce the objective function by the greatest amount</a:t>
            </a:r>
          </a:p>
          <a:p>
            <a:pPr marL="685800" lvl="1" indent="-342900">
              <a:buFont typeface="+mj-lt"/>
              <a:buAutoNum type="arabicPeriod"/>
            </a:pPr>
            <a:r>
              <a:rPr lang="en-US" dirty="0"/>
              <a:t>Take a step down the valley in the direction of the steepest slope</a:t>
            </a:r>
            <a:endParaRPr lang="en-CA" dirty="0"/>
          </a:p>
          <a:p>
            <a:pPr marL="685800" lvl="1" indent="-342900">
              <a:buFont typeface="+mj-lt"/>
              <a:buAutoNum type="arabicPeriod"/>
            </a:pPr>
            <a:r>
              <a:rPr lang="en-US" dirty="0"/>
              <a:t>Repeat steps 2 and 3</a:t>
            </a:r>
          </a:p>
          <a:p>
            <a:pPr marL="685800" lvl="1" indent="-342900">
              <a:buFont typeface="+mj-lt"/>
              <a:buAutoNum type="arabicPeriod"/>
            </a:pPr>
            <a:r>
              <a:rPr lang="en-US" dirty="0"/>
              <a:t>Continue until you reach the bottom of the valley</a:t>
            </a:r>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4</a:t>
            </a:fld>
            <a:endParaRPr lang="en-CA"/>
          </a:p>
        </p:txBody>
      </p:sp>
    </p:spTree>
    <p:extLst>
      <p:ext uri="{BB962C8B-B14F-4D97-AF65-F5344CB8AC3E}">
        <p14:creationId xmlns:p14="http://schemas.microsoft.com/office/powerpoint/2010/main" val="25105264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Categorical Features</a:t>
            </a:r>
          </a:p>
        </p:txBody>
      </p:sp>
      <p:sp>
        <p:nvSpPr>
          <p:cNvPr id="3" name="Content Placeholder 2"/>
          <p:cNvSpPr>
            <a:spLocks noGrp="1"/>
          </p:cNvSpPr>
          <p:nvPr>
            <p:ph idx="1"/>
          </p:nvPr>
        </p:nvSpPr>
        <p:spPr/>
        <p:txBody>
          <a:bodyPr/>
          <a:lstStyle/>
          <a:p>
            <a:r>
              <a:rPr lang="en-CA" dirty="0"/>
              <a:t>Categorical features are features where there are a number of non-numerical alternatives </a:t>
            </a:r>
          </a:p>
          <a:p>
            <a:r>
              <a:rPr lang="en-CA" dirty="0"/>
              <a:t>We can define a dummy variable for each alternative. The variable equals 1 if the alternative is true and zero otherwise. This is known as one-hot encoding</a:t>
            </a:r>
          </a:p>
          <a:p>
            <a:r>
              <a:rPr lang="en-CA" dirty="0"/>
              <a:t>But sometimes we do not have to do this because there is a natural ordering of variables, e.g.:</a:t>
            </a:r>
          </a:p>
          <a:p>
            <a:pPr marL="685800" lvl="2" indent="0">
              <a:buNone/>
            </a:pPr>
            <a:r>
              <a:rPr lang="en-CA" dirty="0"/>
              <a:t>	small=1, medium=2, large=3</a:t>
            </a:r>
          </a:p>
          <a:p>
            <a:pPr marL="685800" lvl="2" indent="0">
              <a:buNone/>
            </a:pPr>
            <a:r>
              <a:rPr lang="en-CA" dirty="0"/>
              <a:t>   assist. prof=1, assoc. prof=2, full prof =3</a:t>
            </a:r>
          </a:p>
          <a:p>
            <a:pPr marL="0" indent="0">
              <a:buNone/>
            </a:pPr>
            <a:endParaRPr lang="en-CA" dirty="0"/>
          </a:p>
          <a:p>
            <a:pPr marL="0" indent="0">
              <a:buNone/>
            </a:pPr>
            <a:endParaRPr lang="en-CA"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2E8C09BE-1715-42CA-A91A-E7B0E09A3015}" type="slidenum">
              <a:rPr lang="en-CA" smtClean="0"/>
              <a:t>5</a:t>
            </a:fld>
            <a:endParaRPr lang="en-CA" dirty="0"/>
          </a:p>
        </p:txBody>
      </p:sp>
    </p:spTree>
    <p:extLst>
      <p:ext uri="{BB962C8B-B14F-4D97-AF65-F5344CB8AC3E}">
        <p14:creationId xmlns:p14="http://schemas.microsoft.com/office/powerpoint/2010/main" val="22328184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Dummy Variable Trap</a:t>
            </a:r>
            <a:endParaRPr lang="en-CA"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Suppose we have a constant term and a number of dummy variables (equal to 0 or 1)</a:t>
                </a:r>
              </a:p>
              <a:p>
                <a:r>
                  <a:rPr lang="en-US" dirty="0"/>
                  <a:t>There is then no unique solution because, for any </a:t>
                </a:r>
                <a:r>
                  <a:rPr lang="en-US" i="1" dirty="0">
                    <a:latin typeface="+mj-lt"/>
                  </a:rPr>
                  <a:t>C</a:t>
                </a:r>
                <a:r>
                  <a:rPr lang="en-US" dirty="0"/>
                  <a:t>,  we can add </a:t>
                </a:r>
                <a:r>
                  <a:rPr lang="en-US" i="1" dirty="0">
                    <a:latin typeface="+mj-lt"/>
                  </a:rPr>
                  <a:t>C</a:t>
                </a:r>
                <a:r>
                  <a:rPr lang="en-US" dirty="0"/>
                  <a:t> to the constant term and subtract </a:t>
                </a:r>
                <a:r>
                  <a:rPr lang="en-US" i="1" dirty="0">
                    <a:latin typeface="+mj-lt"/>
                  </a:rPr>
                  <a:t>C</a:t>
                </a:r>
                <a:r>
                  <a:rPr lang="en-US" dirty="0"/>
                  <a:t> from each of the dummy variables without changing the prediction</a:t>
                </a:r>
              </a:p>
              <a:p>
                <a:r>
                  <a:rPr lang="en-US" dirty="0"/>
                  <a:t>Consider:  </a:t>
                </a:r>
                <a14:m>
                  <m:oMath xmlns:m="http://schemas.openxmlformats.org/officeDocument/2006/math">
                    <m:r>
                      <a:rPr lang="en-CA" b="0" i="1" smtClean="0">
                        <a:latin typeface="Cambria Math" panose="02040503050406030204" pitchFamily="18" charset="0"/>
                      </a:rPr>
                      <m:t>𝑌</m:t>
                    </m:r>
                    <m:r>
                      <a:rPr lang="en-CA" b="0" i="1" smtClean="0">
                        <a:latin typeface="Cambria Math" panose="02040503050406030204" pitchFamily="18" charset="0"/>
                      </a:rPr>
                      <m:t>=</m:t>
                    </m:r>
                    <m:r>
                      <a:rPr lang="en-CA" b="0" i="1" smtClean="0">
                        <a:latin typeface="Cambria Math" panose="02040503050406030204" pitchFamily="18" charset="0"/>
                      </a:rPr>
                      <m:t>𝑎</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𝑏</m:t>
                        </m:r>
                      </m:e>
                      <m:sub>
                        <m:r>
                          <a:rPr lang="en-CA" b="0" i="1" smtClean="0">
                            <a:latin typeface="Cambria Math" panose="02040503050406030204" pitchFamily="18" charset="0"/>
                          </a:rPr>
                          <m:t>1</m:t>
                        </m:r>
                      </m:sub>
                    </m:sSub>
                    <m:sSub>
                      <m:sSubPr>
                        <m:ctrlPr>
                          <a:rPr lang="en-CA" b="0" i="1" smtClean="0">
                            <a:latin typeface="Cambria Math" panose="02040503050406030204" pitchFamily="18" charset="0"/>
                          </a:rPr>
                        </m:ctrlPr>
                      </m:sSubPr>
                      <m:e>
                        <m:r>
                          <a:rPr lang="en-CA" b="0" i="1" smtClean="0">
                            <a:latin typeface="Cambria Math" panose="02040503050406030204" pitchFamily="18" charset="0"/>
                          </a:rPr>
                          <m:t>𝑣</m:t>
                        </m:r>
                      </m:e>
                      <m:sub>
                        <m:r>
                          <a:rPr lang="en-CA" b="0" i="1" smtClean="0">
                            <a:latin typeface="Cambria Math" panose="02040503050406030204" pitchFamily="18" charset="0"/>
                          </a:rPr>
                          <m:t>1</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𝑏</m:t>
                        </m:r>
                      </m:e>
                      <m:sub>
                        <m:r>
                          <a:rPr lang="en-CA" b="0" i="1" smtClean="0">
                            <a:latin typeface="Cambria Math" panose="02040503050406030204" pitchFamily="18" charset="0"/>
                          </a:rPr>
                          <m:t>2</m:t>
                        </m:r>
                      </m:sub>
                    </m:sSub>
                    <m:sSub>
                      <m:sSubPr>
                        <m:ctrlPr>
                          <a:rPr lang="en-CA" b="0" i="1" smtClean="0">
                            <a:latin typeface="Cambria Math" panose="02040503050406030204" pitchFamily="18" charset="0"/>
                          </a:rPr>
                        </m:ctrlPr>
                      </m:sSubPr>
                      <m:e>
                        <m:r>
                          <a:rPr lang="en-CA" b="0" i="1" smtClean="0">
                            <a:latin typeface="Cambria Math" panose="02040503050406030204" pitchFamily="18" charset="0"/>
                          </a:rPr>
                          <m:t>𝑣</m:t>
                        </m:r>
                      </m:e>
                      <m:sub>
                        <m:r>
                          <a:rPr lang="en-CA" b="0" i="1" smtClean="0">
                            <a:latin typeface="Cambria Math" panose="02040503050406030204" pitchFamily="18" charset="0"/>
                          </a:rPr>
                          <m:t>2</m:t>
                        </m:r>
                      </m:sub>
                    </m:sSub>
                    <m:r>
                      <a:rPr lang="en-CA" b="0" i="1" smtClean="0">
                        <a:latin typeface="Cambria Math" panose="02040503050406030204" pitchFamily="18" charset="0"/>
                      </a:rPr>
                      <m:t>+</m:t>
                    </m:r>
                    <m:r>
                      <a:rPr lang="en-CA" b="0" i="1" smtClean="0">
                        <a:latin typeface="Cambria Math" panose="02040503050406030204" pitchFamily="18" charset="0"/>
                        <a:ea typeface="Cambria Math" panose="02040503050406030204" pitchFamily="18" charset="0"/>
                      </a:rPr>
                      <m:t>𝜀</m:t>
                    </m:r>
                  </m:oMath>
                </a14:m>
                <a:endParaRPr lang="en-US" dirty="0">
                  <a:latin typeface="Symbol" panose="05050102010706020507" pitchFamily="18" charset="2"/>
                </a:endParaRPr>
              </a:p>
              <a:p>
                <a:pPr marL="271463" indent="-271463">
                  <a:buNone/>
                </a:pPr>
                <a:r>
                  <a:rPr lang="en-US" dirty="0"/>
                  <a:t>    where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𝑣</m:t>
                        </m:r>
                      </m:e>
                      <m:sub>
                        <m:r>
                          <a:rPr lang="en-CA" i="1">
                            <a:latin typeface="Cambria Math" panose="02040503050406030204" pitchFamily="18" charset="0"/>
                          </a:rPr>
                          <m:t>1</m:t>
                        </m:r>
                      </m:sub>
                    </m:sSub>
                    <m:r>
                      <a:rPr lang="en-CA" i="1">
                        <a:latin typeface="Cambria Math" panose="02040503050406030204" pitchFamily="18" charset="0"/>
                      </a:rPr>
                      <m:t> </m:t>
                    </m:r>
                  </m:oMath>
                </a14:m>
                <a:r>
                  <a:rPr lang="en-US" dirty="0"/>
                  <a:t>and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𝑣</m:t>
                        </m:r>
                      </m:e>
                      <m:sub>
                        <m:r>
                          <a:rPr lang="en-CA" i="1">
                            <a:latin typeface="Cambria Math" panose="02040503050406030204" pitchFamily="18" charset="0"/>
                          </a:rPr>
                          <m:t>2</m:t>
                        </m:r>
                      </m:sub>
                    </m:sSub>
                  </m:oMath>
                </a14:m>
                <a:r>
                  <a:rPr lang="en-US" dirty="0"/>
                  <a:t> are dummy variables so that when one is 0     the other is 1. This is equivalent to</a:t>
                </a:r>
              </a:p>
              <a:p>
                <a:pPr marL="271463" indent="-271463">
                  <a:buNone/>
                </a:pPr>
                <a14:m>
                  <m:oMathPara xmlns:m="http://schemas.openxmlformats.org/officeDocument/2006/math">
                    <m:oMathParaPr>
                      <m:jc m:val="centerGroup"/>
                    </m:oMathParaPr>
                    <m:oMath xmlns:m="http://schemas.openxmlformats.org/officeDocument/2006/math">
                      <m:r>
                        <a:rPr lang="en-CA" i="1">
                          <a:latin typeface="Cambria Math" panose="02040503050406030204" pitchFamily="18" charset="0"/>
                        </a:rPr>
                        <m:t>𝑌</m:t>
                      </m:r>
                      <m:r>
                        <a:rPr lang="en-CA" i="1">
                          <a:latin typeface="Cambria Math" panose="02040503050406030204" pitchFamily="18" charset="0"/>
                        </a:rPr>
                        <m:t>=</m:t>
                      </m:r>
                      <m:d>
                        <m:dPr>
                          <m:ctrlPr>
                            <a:rPr lang="en-CA" b="0" i="1" smtClean="0">
                              <a:latin typeface="Cambria Math" panose="02040503050406030204" pitchFamily="18" charset="0"/>
                            </a:rPr>
                          </m:ctrlPr>
                        </m:dPr>
                        <m:e>
                          <m:r>
                            <a:rPr lang="en-CA" i="1">
                              <a:latin typeface="Cambria Math" panose="02040503050406030204" pitchFamily="18" charset="0"/>
                            </a:rPr>
                            <m:t>𝑎</m:t>
                          </m:r>
                          <m:r>
                            <a:rPr lang="en-CA" b="0" i="1" smtClean="0">
                              <a:latin typeface="Cambria Math" panose="02040503050406030204" pitchFamily="18" charset="0"/>
                            </a:rPr>
                            <m:t>+</m:t>
                          </m:r>
                          <m:r>
                            <a:rPr lang="en-CA" b="0" i="1" smtClean="0">
                              <a:latin typeface="Cambria Math" panose="02040503050406030204" pitchFamily="18" charset="0"/>
                            </a:rPr>
                            <m:t>𝐶</m:t>
                          </m:r>
                        </m:e>
                      </m:d>
                      <m:r>
                        <a:rPr lang="en-CA" i="1">
                          <a:latin typeface="Cambria Math" panose="02040503050406030204" pitchFamily="18" charset="0"/>
                        </a:rPr>
                        <m:t>+….+</m:t>
                      </m:r>
                      <m:r>
                        <a:rPr lang="en-CA" b="0" i="1" smtClean="0">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𝑏</m:t>
                          </m:r>
                        </m:e>
                        <m:sub>
                          <m:r>
                            <a:rPr lang="en-CA" i="1">
                              <a:latin typeface="Cambria Math" panose="02040503050406030204" pitchFamily="18" charset="0"/>
                            </a:rPr>
                            <m:t>1</m:t>
                          </m:r>
                        </m:sub>
                      </m:sSub>
                      <m:r>
                        <a:rPr lang="en-CA" b="0" i="1" smtClean="0">
                          <a:latin typeface="Cambria Math" panose="02040503050406030204" pitchFamily="18" charset="0"/>
                        </a:rPr>
                        <m:t>−</m:t>
                      </m:r>
                      <m:r>
                        <a:rPr lang="en-CA" b="0" i="1" smtClean="0">
                          <a:latin typeface="Cambria Math" panose="02040503050406030204" pitchFamily="18" charset="0"/>
                        </a:rPr>
                        <m:t>𝐶</m:t>
                      </m:r>
                      <m:sSub>
                        <m:sSubPr>
                          <m:ctrlPr>
                            <a:rPr lang="en-CA" i="1">
                              <a:latin typeface="Cambria Math" panose="02040503050406030204" pitchFamily="18" charset="0"/>
                            </a:rPr>
                          </m:ctrlPr>
                        </m:sSubPr>
                        <m:e>
                          <m:r>
                            <a:rPr lang="en-CA" b="0" i="1" smtClean="0">
                              <a:latin typeface="Cambria Math" panose="02040503050406030204" pitchFamily="18" charset="0"/>
                            </a:rPr>
                            <m:t>)</m:t>
                          </m:r>
                          <m:r>
                            <a:rPr lang="en-CA" i="1">
                              <a:latin typeface="Cambria Math" panose="02040503050406030204" pitchFamily="18" charset="0"/>
                            </a:rPr>
                            <m:t>𝑣</m:t>
                          </m:r>
                        </m:e>
                        <m:sub>
                          <m:r>
                            <a:rPr lang="en-CA" i="1">
                              <a:latin typeface="Cambria Math" panose="02040503050406030204" pitchFamily="18" charset="0"/>
                            </a:rPr>
                            <m:t>1</m:t>
                          </m:r>
                        </m:sub>
                      </m:sSub>
                      <m:r>
                        <a:rPr lang="en-CA" i="1">
                          <a:latin typeface="Cambria Math" panose="02040503050406030204" pitchFamily="18" charset="0"/>
                        </a:rPr>
                        <m:t>+</m:t>
                      </m:r>
                      <m:sSub>
                        <m:sSubPr>
                          <m:ctrlPr>
                            <a:rPr lang="en-CA" i="1">
                              <a:latin typeface="Cambria Math" panose="02040503050406030204" pitchFamily="18" charset="0"/>
                            </a:rPr>
                          </m:ctrlPr>
                        </m:sSubPr>
                        <m:e>
                          <m:r>
                            <a:rPr lang="en-CA" b="0" i="1" smtClean="0">
                              <a:latin typeface="Cambria Math" panose="02040503050406030204" pitchFamily="18" charset="0"/>
                            </a:rPr>
                            <m:t>(</m:t>
                          </m:r>
                          <m:r>
                            <a:rPr lang="en-CA" i="1">
                              <a:latin typeface="Cambria Math" panose="02040503050406030204" pitchFamily="18" charset="0"/>
                            </a:rPr>
                            <m:t>𝑏</m:t>
                          </m:r>
                        </m:e>
                        <m:sub>
                          <m:r>
                            <a:rPr lang="en-CA" i="1">
                              <a:latin typeface="Cambria Math" panose="02040503050406030204" pitchFamily="18" charset="0"/>
                            </a:rPr>
                            <m:t>2</m:t>
                          </m:r>
                        </m:sub>
                      </m:sSub>
                      <m:r>
                        <a:rPr lang="en-CA" b="0" i="1" smtClean="0">
                          <a:latin typeface="Cambria Math" panose="02040503050406030204" pitchFamily="18" charset="0"/>
                        </a:rPr>
                        <m:t>−</m:t>
                      </m:r>
                      <m:r>
                        <a:rPr lang="en-CA" b="0" i="1" smtClean="0">
                          <a:latin typeface="Cambria Math" panose="02040503050406030204" pitchFamily="18" charset="0"/>
                        </a:rPr>
                        <m:t>𝐶</m:t>
                      </m:r>
                      <m:r>
                        <a:rPr lang="en-CA" b="0" i="1" smtClean="0">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𝑣</m:t>
                          </m:r>
                        </m:e>
                        <m:sub>
                          <m:r>
                            <a:rPr lang="en-CA" i="1">
                              <a:latin typeface="Cambria Math" panose="02040503050406030204" pitchFamily="18" charset="0"/>
                            </a:rPr>
                            <m:t>2</m:t>
                          </m:r>
                        </m:sub>
                      </m:sSub>
                      <m:r>
                        <a:rPr lang="en-CA" i="1">
                          <a:latin typeface="Cambria Math" panose="02040503050406030204" pitchFamily="18" charset="0"/>
                        </a:rPr>
                        <m:t>+</m:t>
                      </m:r>
                      <m:r>
                        <a:rPr lang="en-CA" i="1">
                          <a:latin typeface="Cambria Math" panose="02040503050406030204" pitchFamily="18" charset="0"/>
                          <a:ea typeface="Cambria Math" panose="02040503050406030204" pitchFamily="18" charset="0"/>
                        </a:rPr>
                        <m:t>𝜀</m:t>
                      </m:r>
                    </m:oMath>
                  </m:oMathPara>
                </a14:m>
                <a:endParaRPr lang="en-US" dirty="0"/>
              </a:p>
              <a:p>
                <a:r>
                  <a:rPr lang="en-US" dirty="0"/>
                  <a:t>Regularization (to be discussed) solves this problem</a:t>
                </a:r>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889" r="-2353"/>
                </a:stretch>
              </a:blipFill>
            </p:spPr>
            <p:txBody>
              <a:bodyPr/>
              <a:lstStyle/>
              <a:p>
                <a:r>
                  <a:rPr lang="en-CA">
                    <a:noFill/>
                  </a:rPr>
                  <a:t> </a:t>
                </a:r>
              </a:p>
            </p:txBody>
          </p:sp>
        </mc:Fallback>
      </mc:AlternateContent>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6</a:t>
            </a:fld>
            <a:endParaRPr lang="en-CA"/>
          </a:p>
        </p:txBody>
      </p:sp>
    </p:spTree>
    <p:extLst>
      <p:ext uri="{BB962C8B-B14F-4D97-AF65-F5344CB8AC3E}">
        <p14:creationId xmlns:p14="http://schemas.microsoft.com/office/powerpoint/2010/main" val="16448062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E00B2-029B-47F8-85AE-70C96D055AA7}"/>
              </a:ext>
            </a:extLst>
          </p:cNvPr>
          <p:cNvSpPr>
            <a:spLocks noGrp="1"/>
          </p:cNvSpPr>
          <p:nvPr>
            <p:ph type="title"/>
          </p:nvPr>
        </p:nvSpPr>
        <p:spPr/>
        <p:txBody>
          <a:bodyPr/>
          <a:lstStyle/>
          <a:p>
            <a:r>
              <a:rPr lang="en-CA" dirty="0"/>
              <a:t>The Correlation Problem</a:t>
            </a:r>
          </a:p>
        </p:txBody>
      </p:sp>
      <p:sp>
        <p:nvSpPr>
          <p:cNvPr id="3" name="Content Placeholder 2">
            <a:extLst>
              <a:ext uri="{FF2B5EF4-FFF2-40B4-BE49-F238E27FC236}">
                <a16:creationId xmlns:a16="http://schemas.microsoft.com/office/drawing/2014/main" id="{D31301A2-0819-47CE-AE61-B8111EA7C03A}"/>
              </a:ext>
            </a:extLst>
          </p:cNvPr>
          <p:cNvSpPr>
            <a:spLocks noGrp="1"/>
          </p:cNvSpPr>
          <p:nvPr>
            <p:ph idx="1"/>
          </p:nvPr>
        </p:nvSpPr>
        <p:spPr/>
        <p:txBody>
          <a:bodyPr/>
          <a:lstStyle/>
          <a:p>
            <a:r>
              <a:rPr lang="en-CA" dirty="0"/>
              <a:t>Suppose two features to estimate house price are</a:t>
            </a:r>
          </a:p>
          <a:p>
            <a:pPr lvl="1"/>
            <a:r>
              <a:rPr lang="en-CA" dirty="0"/>
              <a:t>X</a:t>
            </a:r>
            <a:r>
              <a:rPr lang="en-CA" baseline="-25000" dirty="0"/>
              <a:t>1</a:t>
            </a:r>
            <a:r>
              <a:rPr lang="en-CA" dirty="0"/>
              <a:t>: Square feet of basement</a:t>
            </a:r>
          </a:p>
          <a:p>
            <a:pPr lvl="1"/>
            <a:r>
              <a:rPr lang="en-CA" dirty="0"/>
              <a:t>X</a:t>
            </a:r>
            <a:r>
              <a:rPr lang="en-CA" baseline="-25000" dirty="0"/>
              <a:t>2</a:t>
            </a:r>
            <a:r>
              <a:rPr lang="en-CA" dirty="0"/>
              <a:t>: Square feet of first floor</a:t>
            </a:r>
          </a:p>
          <a:p>
            <a:pPr lvl="1"/>
            <a:endParaRPr lang="en-CA" dirty="0"/>
          </a:p>
          <a:p>
            <a:pPr marL="342900" lvl="1" indent="0">
              <a:buNone/>
            </a:pPr>
            <a:r>
              <a:rPr lang="en-CA" dirty="0"/>
              <a:t>Best fit to training set might be:</a:t>
            </a:r>
          </a:p>
          <a:p>
            <a:pPr marL="342900" lvl="1" indent="0">
              <a:buNone/>
            </a:pPr>
            <a:endParaRPr lang="en-CA" dirty="0"/>
          </a:p>
          <a:p>
            <a:pPr marL="342900" lvl="1" indent="0">
              <a:buNone/>
            </a:pPr>
            <a:r>
              <a:rPr lang="en-CA" dirty="0"/>
              <a:t>Price($’000s) = 10X</a:t>
            </a:r>
            <a:r>
              <a:rPr lang="en-CA" baseline="-25000" dirty="0"/>
              <a:t>1</a:t>
            </a:r>
            <a:r>
              <a:rPr lang="en-CA" dirty="0"/>
              <a:t>−9.5X</a:t>
            </a:r>
            <a:r>
              <a:rPr lang="en-CA" baseline="-25000" dirty="0"/>
              <a:t>2</a:t>
            </a:r>
          </a:p>
          <a:p>
            <a:pPr marL="342900" lvl="1" indent="0">
              <a:buNone/>
            </a:pPr>
            <a:endParaRPr lang="en-CA" baseline="-25000" dirty="0"/>
          </a:p>
          <a:p>
            <a:pPr marL="342900" lvl="1" indent="0">
              <a:buNone/>
            </a:pPr>
            <a:r>
              <a:rPr lang="en-CA" dirty="0"/>
              <a:t>This almost certainly overfits. A better model is something similar to:</a:t>
            </a:r>
          </a:p>
          <a:p>
            <a:pPr marL="342900" lvl="1" indent="0">
              <a:buNone/>
            </a:pPr>
            <a:endParaRPr lang="en-CA" dirty="0"/>
          </a:p>
          <a:p>
            <a:pPr marL="342900" lvl="1" indent="0">
              <a:buNone/>
            </a:pPr>
            <a:r>
              <a:rPr lang="en-CA" dirty="0"/>
              <a:t>Price($’000s) = 0.5X</a:t>
            </a:r>
            <a:r>
              <a:rPr lang="en-CA" baseline="-25000" dirty="0"/>
              <a:t>1   </a:t>
            </a:r>
            <a:r>
              <a:rPr lang="en-CA" dirty="0"/>
              <a:t> or Price($’000s) = 0.5X</a:t>
            </a:r>
            <a:r>
              <a:rPr lang="en-CA" baseline="-25000" dirty="0"/>
              <a:t>2 </a:t>
            </a:r>
            <a:endParaRPr lang="en-CA" dirty="0"/>
          </a:p>
        </p:txBody>
      </p:sp>
      <p:sp>
        <p:nvSpPr>
          <p:cNvPr id="4" name="Footer Placeholder 3">
            <a:extLst>
              <a:ext uri="{FF2B5EF4-FFF2-40B4-BE49-F238E27FC236}">
                <a16:creationId xmlns:a16="http://schemas.microsoft.com/office/drawing/2014/main" id="{477B3CA3-CF43-4102-9A67-08518F11EA85}"/>
              </a:ext>
            </a:extLst>
          </p:cNvPr>
          <p:cNvSpPr>
            <a:spLocks noGrp="1"/>
          </p:cNvSpPr>
          <p:nvPr>
            <p:ph type="ftr" sz="quarter" idx="11"/>
          </p:nvPr>
        </p:nvSpPr>
        <p:spPr/>
        <p:txBody>
          <a:bodyPr/>
          <a:lstStyle/>
          <a:p>
            <a:r>
              <a:rPr lang="en-US"/>
              <a:t>Machine Learning in Business, 3rd Ed. Copyright  © John C. Hull 2021</a:t>
            </a:r>
            <a:endParaRPr lang="en-CA" dirty="0"/>
          </a:p>
        </p:txBody>
      </p:sp>
      <p:sp>
        <p:nvSpPr>
          <p:cNvPr id="5" name="Slide Number Placeholder 4">
            <a:extLst>
              <a:ext uri="{FF2B5EF4-FFF2-40B4-BE49-F238E27FC236}">
                <a16:creationId xmlns:a16="http://schemas.microsoft.com/office/drawing/2014/main" id="{D18DE8BC-F4EB-456E-A3CA-568F6C916D0F}"/>
              </a:ext>
            </a:extLst>
          </p:cNvPr>
          <p:cNvSpPr>
            <a:spLocks noGrp="1"/>
          </p:cNvSpPr>
          <p:nvPr>
            <p:ph type="sldNum" sz="quarter" idx="12"/>
          </p:nvPr>
        </p:nvSpPr>
        <p:spPr/>
        <p:txBody>
          <a:bodyPr/>
          <a:lstStyle/>
          <a:p>
            <a:fld id="{F979D778-5668-409F-BE61-8F31D5437AFC}" type="slidenum">
              <a:rPr lang="en-CA" smtClean="0"/>
              <a:t>7</a:t>
            </a:fld>
            <a:endParaRPr lang="en-CA"/>
          </a:p>
        </p:txBody>
      </p:sp>
    </p:spTree>
    <p:extLst>
      <p:ext uri="{BB962C8B-B14F-4D97-AF65-F5344CB8AC3E}">
        <p14:creationId xmlns:p14="http://schemas.microsoft.com/office/powerpoint/2010/main" val="2112859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Regularization</a:t>
            </a:r>
          </a:p>
        </p:txBody>
      </p:sp>
      <p:sp>
        <p:nvSpPr>
          <p:cNvPr id="3" name="Content Placeholder 2"/>
          <p:cNvSpPr>
            <a:spLocks noGrp="1"/>
          </p:cNvSpPr>
          <p:nvPr>
            <p:ph idx="1"/>
          </p:nvPr>
        </p:nvSpPr>
        <p:spPr/>
        <p:txBody>
          <a:bodyPr/>
          <a:lstStyle/>
          <a:p>
            <a:r>
              <a:rPr lang="en-CA" dirty="0"/>
              <a:t>Regularization is a way of avoiding overfitting and possibly simplifying the model by reducing the number of features. </a:t>
            </a:r>
          </a:p>
          <a:p>
            <a:pPr marL="0" indent="0">
              <a:buNone/>
            </a:pPr>
            <a:r>
              <a:rPr lang="en-CA" dirty="0"/>
              <a:t>   Alternatives:</a:t>
            </a:r>
          </a:p>
          <a:p>
            <a:pPr lvl="1"/>
            <a:r>
              <a:rPr lang="en-CA" dirty="0"/>
              <a:t>Ridge </a:t>
            </a:r>
          </a:p>
          <a:p>
            <a:pPr lvl="1"/>
            <a:r>
              <a:rPr lang="en-CA" dirty="0"/>
              <a:t>Lasso</a:t>
            </a:r>
          </a:p>
          <a:p>
            <a:pPr lvl="1"/>
            <a:r>
              <a:rPr lang="en-CA" dirty="0"/>
              <a:t>Elastic net</a:t>
            </a:r>
          </a:p>
          <a:p>
            <a:endParaRPr lang="en-CA" dirty="0"/>
          </a:p>
          <a:p>
            <a:r>
              <a:rPr lang="en-CA" dirty="0"/>
              <a:t>We must first scale feature values</a:t>
            </a:r>
          </a:p>
          <a:p>
            <a:pPr marL="342900" lvl="1" indent="0">
              <a:buNone/>
            </a:pPr>
            <a:endParaRPr lang="en-CA" dirty="0"/>
          </a:p>
          <a:p>
            <a:pPr lvl="1"/>
            <a:endParaRPr lang="en-CA" dirty="0"/>
          </a:p>
          <a:p>
            <a:pPr lvl="1"/>
            <a:endParaRPr lang="en-CA" dirty="0"/>
          </a:p>
          <a:p>
            <a:endParaRPr lang="en-CA" dirty="0"/>
          </a:p>
          <a:p>
            <a:endParaRPr lang="en-CA"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8</a:t>
            </a:fld>
            <a:endParaRPr lang="en-CA"/>
          </a:p>
        </p:txBody>
      </p:sp>
    </p:spTree>
    <p:extLst>
      <p:ext uri="{BB962C8B-B14F-4D97-AF65-F5344CB8AC3E}">
        <p14:creationId xmlns:p14="http://schemas.microsoft.com/office/powerpoint/2010/main" val="18829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105191"/>
            <a:ext cx="7772400" cy="857250"/>
          </a:xfrm>
        </p:spPr>
        <p:txBody>
          <a:bodyPr/>
          <a:lstStyle/>
          <a:p>
            <a:r>
              <a:rPr lang="en-CA" dirty="0"/>
              <a:t>Ridge regression </a:t>
            </a:r>
            <a:r>
              <a:rPr lang="en-CA" sz="2800" dirty="0"/>
              <a:t>(analytic solution)</a:t>
            </a:r>
          </a:p>
        </p:txBody>
      </p:sp>
      <p:sp>
        <p:nvSpPr>
          <p:cNvPr id="3" name="Content Placeholder 2"/>
          <p:cNvSpPr>
            <a:spLocks noGrp="1"/>
          </p:cNvSpPr>
          <p:nvPr>
            <p:ph idx="1"/>
          </p:nvPr>
        </p:nvSpPr>
        <p:spPr/>
        <p:txBody>
          <a:bodyPr/>
          <a:lstStyle/>
          <a:p>
            <a:r>
              <a:rPr lang="en-CA" sz="2400" dirty="0"/>
              <a:t>Reduce magnitude of regression coefficients by choosing a parameter </a:t>
            </a:r>
            <a:r>
              <a:rPr lang="en-CA" sz="2400" dirty="0">
                <a:latin typeface="Symbol" panose="05050102010706020507" pitchFamily="18" charset="2"/>
              </a:rPr>
              <a:t>l</a:t>
            </a:r>
            <a:r>
              <a:rPr lang="en-CA" sz="2400" dirty="0"/>
              <a:t> and minimizing</a:t>
            </a:r>
          </a:p>
          <a:p>
            <a:pPr marL="0" indent="0">
              <a:buNone/>
            </a:pPr>
            <a:endParaRPr lang="en-CA" sz="2400" dirty="0"/>
          </a:p>
          <a:p>
            <a:pPr marL="0" indent="0">
              <a:buNone/>
            </a:pPr>
            <a:endParaRPr lang="en-CA" sz="2400" dirty="0"/>
          </a:p>
          <a:p>
            <a:r>
              <a:rPr lang="en-CA" sz="2400" dirty="0"/>
              <a:t>What happens as </a:t>
            </a:r>
            <a:r>
              <a:rPr lang="en-CA" sz="2400" dirty="0">
                <a:latin typeface="Symbol" panose="05050102010706020507" pitchFamily="18" charset="2"/>
              </a:rPr>
              <a:t>l</a:t>
            </a:r>
            <a:r>
              <a:rPr lang="en-CA" sz="2400" dirty="0"/>
              <a:t> increases?</a:t>
            </a:r>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2E8C09BE-1715-42CA-A91A-E7B0E09A3015}" type="slidenum">
              <a:rPr lang="en-CA" smtClean="0"/>
              <a:t>9</a:t>
            </a:fld>
            <a:endParaRPr lang="en-CA"/>
          </a:p>
        </p:txBody>
      </p:sp>
      <p:graphicFrame>
        <p:nvGraphicFramePr>
          <p:cNvPr id="6" name="Object 5"/>
          <p:cNvGraphicFramePr>
            <a:graphicFrameLocks noChangeAspect="1"/>
          </p:cNvGraphicFramePr>
          <p:nvPr>
            <p:extLst>
              <p:ext uri="{D42A27DB-BD31-4B8C-83A1-F6EECF244321}">
                <p14:modId xmlns:p14="http://schemas.microsoft.com/office/powerpoint/2010/main" val="3203650139"/>
              </p:ext>
            </p:extLst>
          </p:nvPr>
        </p:nvGraphicFramePr>
        <p:xfrm>
          <a:off x="3203848" y="3068960"/>
          <a:ext cx="1512168" cy="786881"/>
        </p:xfrm>
        <a:graphic>
          <a:graphicData uri="http://schemas.openxmlformats.org/presentationml/2006/ole">
            <mc:AlternateContent xmlns:mc="http://schemas.openxmlformats.org/markup-compatibility/2006">
              <mc:Choice xmlns:v="urn:schemas-microsoft-com:vml" Requires="v">
                <p:oleObj name="Equation" r:id="rId2" imgW="825480" imgH="431640" progId="Equation.DSMT4">
                  <p:embed/>
                </p:oleObj>
              </mc:Choice>
              <mc:Fallback>
                <p:oleObj name="Equation" r:id="rId2" imgW="825480" imgH="431640" progId="Equation.DSMT4">
                  <p:embed/>
                  <p:pic>
                    <p:nvPicPr>
                      <p:cNvPr id="6" name="Object 5"/>
                      <p:cNvPicPr/>
                      <p:nvPr/>
                    </p:nvPicPr>
                    <p:blipFill>
                      <a:blip r:embed="rId3"/>
                      <a:stretch>
                        <a:fillRect/>
                      </a:stretch>
                    </p:blipFill>
                    <p:spPr>
                      <a:xfrm>
                        <a:off x="3203848" y="3068960"/>
                        <a:ext cx="1512168" cy="786881"/>
                      </a:xfrm>
                      <a:prstGeom prst="rect">
                        <a:avLst/>
                      </a:prstGeom>
                    </p:spPr>
                  </p:pic>
                </p:oleObj>
              </mc:Fallback>
            </mc:AlternateContent>
          </a:graphicData>
        </a:graphic>
      </p:graphicFrame>
    </p:spTree>
    <p:extLst>
      <p:ext uri="{BB962C8B-B14F-4D97-AF65-F5344CB8AC3E}">
        <p14:creationId xmlns:p14="http://schemas.microsoft.com/office/powerpoint/2010/main" val="34560747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Lasso Regression </a:t>
            </a:r>
            <a:r>
              <a:rPr lang="en-CA" sz="2800" dirty="0"/>
              <a:t>(must use gradient descent)</a:t>
            </a:r>
          </a:p>
        </p:txBody>
      </p:sp>
      <p:sp>
        <p:nvSpPr>
          <p:cNvPr id="3" name="Content Placeholder 2"/>
          <p:cNvSpPr>
            <a:spLocks noGrp="1"/>
          </p:cNvSpPr>
          <p:nvPr>
            <p:ph idx="1"/>
          </p:nvPr>
        </p:nvSpPr>
        <p:spPr/>
        <p:txBody>
          <a:bodyPr/>
          <a:lstStyle/>
          <a:p>
            <a:r>
              <a:rPr lang="en-CA" sz="2400" dirty="0"/>
              <a:t>Similar to ridge regression except we minimize</a:t>
            </a:r>
          </a:p>
          <a:p>
            <a:pPr marL="0" indent="0">
              <a:buNone/>
            </a:pPr>
            <a:endParaRPr lang="en-CA" sz="2400" dirty="0"/>
          </a:p>
          <a:p>
            <a:endParaRPr lang="en-CA" sz="2400" dirty="0"/>
          </a:p>
          <a:p>
            <a:r>
              <a:rPr lang="en-CA" sz="2400" dirty="0"/>
              <a:t>This has the effect of completely eliminating the less important features </a:t>
            </a:r>
          </a:p>
          <a:p>
            <a:endParaRPr lang="en-CA" dirty="0"/>
          </a:p>
          <a:p>
            <a:endParaRPr lang="en-CA" dirty="0"/>
          </a:p>
          <a:p>
            <a:pPr marL="0" indent="0">
              <a:buNone/>
            </a:pPr>
            <a:endParaRPr lang="en-CA"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2E8C09BE-1715-42CA-A91A-E7B0E09A3015}" type="slidenum">
              <a:rPr lang="en-CA" smtClean="0"/>
              <a:t>10</a:t>
            </a:fld>
            <a:endParaRPr lang="en-CA"/>
          </a:p>
        </p:txBody>
      </p:sp>
      <p:graphicFrame>
        <p:nvGraphicFramePr>
          <p:cNvPr id="6" name="Object 5"/>
          <p:cNvGraphicFramePr>
            <a:graphicFrameLocks noChangeAspect="1"/>
          </p:cNvGraphicFramePr>
          <p:nvPr>
            <p:extLst>
              <p:ext uri="{D42A27DB-BD31-4B8C-83A1-F6EECF244321}">
                <p14:modId xmlns:p14="http://schemas.microsoft.com/office/powerpoint/2010/main" val="4203213562"/>
              </p:ext>
            </p:extLst>
          </p:nvPr>
        </p:nvGraphicFramePr>
        <p:xfrm>
          <a:off x="2987824" y="2708920"/>
          <a:ext cx="1631897" cy="825624"/>
        </p:xfrm>
        <a:graphic>
          <a:graphicData uri="http://schemas.openxmlformats.org/presentationml/2006/ole">
            <mc:AlternateContent xmlns:mc="http://schemas.openxmlformats.org/markup-compatibility/2006">
              <mc:Choice xmlns:v="urn:schemas-microsoft-com:vml" Requires="v">
                <p:oleObj name="Equation" r:id="rId2" imgW="850680" imgH="431640" progId="Equation.DSMT4">
                  <p:embed/>
                </p:oleObj>
              </mc:Choice>
              <mc:Fallback>
                <p:oleObj name="Equation" r:id="rId2" imgW="850680" imgH="431640" progId="Equation.DSMT4">
                  <p:embed/>
                  <p:pic>
                    <p:nvPicPr>
                      <p:cNvPr id="6" name="Object 5"/>
                      <p:cNvPicPr/>
                      <p:nvPr/>
                    </p:nvPicPr>
                    <p:blipFill>
                      <a:blip r:embed="rId3"/>
                      <a:stretch>
                        <a:fillRect/>
                      </a:stretch>
                    </p:blipFill>
                    <p:spPr>
                      <a:xfrm>
                        <a:off x="2987824" y="2708920"/>
                        <a:ext cx="1631897" cy="825624"/>
                      </a:xfrm>
                      <a:prstGeom prst="rect">
                        <a:avLst/>
                      </a:prstGeom>
                    </p:spPr>
                  </p:pic>
                </p:oleObj>
              </mc:Fallback>
            </mc:AlternateContent>
          </a:graphicData>
        </a:graphic>
      </p:graphicFrame>
    </p:spTree>
    <p:extLst>
      <p:ext uri="{BB962C8B-B14F-4D97-AF65-F5344CB8AC3E}">
        <p14:creationId xmlns:p14="http://schemas.microsoft.com/office/powerpoint/2010/main" val="1062879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Elastic Net Regression </a:t>
            </a:r>
            <a:r>
              <a:rPr lang="en-CA" sz="2400" dirty="0"/>
              <a:t>(must use gradient descent)</a:t>
            </a:r>
          </a:p>
        </p:txBody>
      </p:sp>
      <p:sp>
        <p:nvSpPr>
          <p:cNvPr id="3" name="Content Placeholder 2"/>
          <p:cNvSpPr>
            <a:spLocks noGrp="1"/>
          </p:cNvSpPr>
          <p:nvPr>
            <p:ph idx="1"/>
          </p:nvPr>
        </p:nvSpPr>
        <p:spPr/>
        <p:txBody>
          <a:bodyPr/>
          <a:lstStyle/>
          <a:p>
            <a:r>
              <a:rPr lang="en-CA" sz="2400" dirty="0"/>
              <a:t>Middle ground between Ridge and Lasso</a:t>
            </a:r>
          </a:p>
          <a:p>
            <a:r>
              <a:rPr lang="en-CA" sz="2400" dirty="0"/>
              <a:t>Minimize</a:t>
            </a:r>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2E8C09BE-1715-42CA-A91A-E7B0E09A3015}" type="slidenum">
              <a:rPr lang="en-CA" smtClean="0"/>
              <a:t>11</a:t>
            </a:fld>
            <a:endParaRPr lang="en-CA"/>
          </a:p>
        </p:txBody>
      </p:sp>
      <p:graphicFrame>
        <p:nvGraphicFramePr>
          <p:cNvPr id="6" name="Object 5"/>
          <p:cNvGraphicFramePr>
            <a:graphicFrameLocks noChangeAspect="1"/>
          </p:cNvGraphicFramePr>
          <p:nvPr>
            <p:extLst>
              <p:ext uri="{D42A27DB-BD31-4B8C-83A1-F6EECF244321}">
                <p14:modId xmlns:p14="http://schemas.microsoft.com/office/powerpoint/2010/main" val="2035440646"/>
              </p:ext>
            </p:extLst>
          </p:nvPr>
        </p:nvGraphicFramePr>
        <p:xfrm>
          <a:off x="1907703" y="3429000"/>
          <a:ext cx="3152457" cy="896442"/>
        </p:xfrm>
        <a:graphic>
          <a:graphicData uri="http://schemas.openxmlformats.org/presentationml/2006/ole">
            <mc:AlternateContent xmlns:mc="http://schemas.openxmlformats.org/markup-compatibility/2006">
              <mc:Choice xmlns:v="urn:schemas-microsoft-com:vml" Requires="v">
                <p:oleObj name="Equation" r:id="rId2" imgW="1511280" imgH="431640" progId="Equation.DSMT4">
                  <p:embed/>
                </p:oleObj>
              </mc:Choice>
              <mc:Fallback>
                <p:oleObj name="Equation" r:id="rId2" imgW="1511280" imgH="431640" progId="Equation.DSMT4">
                  <p:embed/>
                  <p:pic>
                    <p:nvPicPr>
                      <p:cNvPr id="6" name="Object 5"/>
                      <p:cNvPicPr/>
                      <p:nvPr/>
                    </p:nvPicPr>
                    <p:blipFill>
                      <a:blip r:embed="rId3"/>
                      <a:stretch>
                        <a:fillRect/>
                      </a:stretch>
                    </p:blipFill>
                    <p:spPr>
                      <a:xfrm>
                        <a:off x="1907703" y="3429000"/>
                        <a:ext cx="3152457" cy="896442"/>
                      </a:xfrm>
                      <a:prstGeom prst="rect">
                        <a:avLst/>
                      </a:prstGeom>
                    </p:spPr>
                  </p:pic>
                </p:oleObj>
              </mc:Fallback>
            </mc:AlternateContent>
          </a:graphicData>
        </a:graphic>
      </p:graphicFrame>
    </p:spTree>
    <p:extLst>
      <p:ext uri="{BB962C8B-B14F-4D97-AF65-F5344CB8AC3E}">
        <p14:creationId xmlns:p14="http://schemas.microsoft.com/office/powerpoint/2010/main" val="1218767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Baby Example (from Chapter 1)</a:t>
            </a:r>
            <a:endParaRPr lang="en-CA" dirty="0"/>
          </a:p>
        </p:txBody>
      </p:sp>
      <p:graphicFrame>
        <p:nvGraphicFramePr>
          <p:cNvPr id="4" name="Table 3"/>
          <p:cNvGraphicFramePr>
            <a:graphicFrameLocks noGrp="1"/>
          </p:cNvGraphicFramePr>
          <p:nvPr>
            <p:extLst>
              <p:ext uri="{D42A27DB-BD31-4B8C-83A1-F6EECF244321}">
                <p14:modId xmlns:p14="http://schemas.microsoft.com/office/powerpoint/2010/main" val="85273580"/>
              </p:ext>
            </p:extLst>
          </p:nvPr>
        </p:nvGraphicFramePr>
        <p:xfrm>
          <a:off x="1763688" y="2132860"/>
          <a:ext cx="5472608" cy="3672405"/>
        </p:xfrm>
        <a:graphic>
          <a:graphicData uri="http://schemas.openxmlformats.org/drawingml/2006/table">
            <a:tbl>
              <a:tblPr firstRow="1" firstCol="1" bandRow="1">
                <a:tableStyleId>{5940675A-B579-460E-94D1-54222C63F5DA}</a:tableStyleId>
              </a:tblPr>
              <a:tblGrid>
                <a:gridCol w="2662093">
                  <a:extLst>
                    <a:ext uri="{9D8B030D-6E8A-4147-A177-3AD203B41FA5}">
                      <a16:colId xmlns:a16="http://schemas.microsoft.com/office/drawing/2014/main" val="20000"/>
                    </a:ext>
                  </a:extLst>
                </a:gridCol>
                <a:gridCol w="2810515">
                  <a:extLst>
                    <a:ext uri="{9D8B030D-6E8A-4147-A177-3AD203B41FA5}">
                      <a16:colId xmlns:a16="http://schemas.microsoft.com/office/drawing/2014/main" val="20001"/>
                    </a:ext>
                  </a:extLst>
                </a:gridCol>
              </a:tblGrid>
              <a:tr h="333855">
                <a:tc>
                  <a:txBody>
                    <a:bodyPr/>
                    <a:lstStyle/>
                    <a:p>
                      <a:pPr indent="180340" algn="ctr">
                        <a:lnSpc>
                          <a:spcPct val="106000"/>
                        </a:lnSpc>
                        <a:spcAft>
                          <a:spcPts val="0"/>
                        </a:spcAft>
                      </a:pPr>
                      <a:r>
                        <a:rPr lang="en-CA" sz="1600" dirty="0">
                          <a:effectLst/>
                        </a:rPr>
                        <a:t>Age (years)</a:t>
                      </a:r>
                      <a:endParaRPr lang="en-CA" sz="1600" dirty="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1600">
                          <a:effectLst/>
                        </a:rPr>
                        <a:t>Salary ($)</a:t>
                      </a:r>
                      <a:endParaRPr lang="en-CA" sz="160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333855">
                <a:tc>
                  <a:txBody>
                    <a:bodyPr/>
                    <a:lstStyle/>
                    <a:p>
                      <a:pPr indent="180340" algn="ctr">
                        <a:lnSpc>
                          <a:spcPct val="106000"/>
                        </a:lnSpc>
                        <a:spcAft>
                          <a:spcPts val="0"/>
                        </a:spcAft>
                      </a:pPr>
                      <a:r>
                        <a:rPr lang="en-CA" sz="1600" dirty="0">
                          <a:effectLst/>
                        </a:rPr>
                        <a:t>25</a:t>
                      </a:r>
                      <a:endParaRPr lang="en-CA" sz="1600" dirty="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1600">
                          <a:effectLst/>
                        </a:rPr>
                        <a:t>135,000</a:t>
                      </a:r>
                      <a:endParaRPr lang="en-CA" sz="1600">
                        <a:effectLst/>
                        <a:latin typeface="Calibri"/>
                        <a:ea typeface="Calibri"/>
                        <a:cs typeface="Times New Roman"/>
                      </a:endParaRPr>
                    </a:p>
                  </a:txBody>
                  <a:tcPr marL="68580" marR="68580" marT="0" marB="0"/>
                </a:tc>
                <a:extLst>
                  <a:ext uri="{0D108BD9-81ED-4DB2-BD59-A6C34878D82A}">
                    <a16:rowId xmlns:a16="http://schemas.microsoft.com/office/drawing/2014/main" val="10001"/>
                  </a:ext>
                </a:extLst>
              </a:tr>
              <a:tr h="333855">
                <a:tc>
                  <a:txBody>
                    <a:bodyPr/>
                    <a:lstStyle/>
                    <a:p>
                      <a:pPr indent="180340" algn="ctr">
                        <a:lnSpc>
                          <a:spcPct val="106000"/>
                        </a:lnSpc>
                        <a:spcAft>
                          <a:spcPts val="0"/>
                        </a:spcAft>
                      </a:pPr>
                      <a:r>
                        <a:rPr lang="en-CA" sz="1600" dirty="0">
                          <a:effectLst/>
                        </a:rPr>
                        <a:t>55</a:t>
                      </a:r>
                      <a:endParaRPr lang="en-CA" sz="1600" dirty="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1600">
                          <a:effectLst/>
                        </a:rPr>
                        <a:t>260,000</a:t>
                      </a:r>
                      <a:endParaRPr lang="en-CA" sz="160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333855">
                <a:tc>
                  <a:txBody>
                    <a:bodyPr/>
                    <a:lstStyle/>
                    <a:p>
                      <a:pPr indent="180340" algn="ctr">
                        <a:lnSpc>
                          <a:spcPct val="106000"/>
                        </a:lnSpc>
                        <a:spcAft>
                          <a:spcPts val="0"/>
                        </a:spcAft>
                      </a:pPr>
                      <a:r>
                        <a:rPr lang="en-CA" sz="1600" dirty="0">
                          <a:effectLst/>
                        </a:rPr>
                        <a:t>27</a:t>
                      </a:r>
                      <a:endParaRPr lang="en-CA" sz="1600" dirty="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1600">
                          <a:effectLst/>
                        </a:rPr>
                        <a:t>105,000</a:t>
                      </a:r>
                      <a:endParaRPr lang="en-CA" sz="160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r h="333855">
                <a:tc>
                  <a:txBody>
                    <a:bodyPr/>
                    <a:lstStyle/>
                    <a:p>
                      <a:pPr indent="180340" algn="ctr">
                        <a:lnSpc>
                          <a:spcPct val="106000"/>
                        </a:lnSpc>
                        <a:spcAft>
                          <a:spcPts val="0"/>
                        </a:spcAft>
                      </a:pPr>
                      <a:r>
                        <a:rPr lang="en-CA" sz="1600" dirty="0">
                          <a:effectLst/>
                        </a:rPr>
                        <a:t>35</a:t>
                      </a:r>
                      <a:endParaRPr lang="en-CA" sz="1600" dirty="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1600">
                          <a:effectLst/>
                        </a:rPr>
                        <a:t>220,000</a:t>
                      </a:r>
                      <a:endParaRPr lang="en-CA" sz="1600">
                        <a:effectLst/>
                        <a:latin typeface="Calibri"/>
                        <a:ea typeface="Calibri"/>
                        <a:cs typeface="Times New Roman"/>
                      </a:endParaRPr>
                    </a:p>
                  </a:txBody>
                  <a:tcPr marL="68580" marR="68580" marT="0" marB="0"/>
                </a:tc>
                <a:extLst>
                  <a:ext uri="{0D108BD9-81ED-4DB2-BD59-A6C34878D82A}">
                    <a16:rowId xmlns:a16="http://schemas.microsoft.com/office/drawing/2014/main" val="10004"/>
                  </a:ext>
                </a:extLst>
              </a:tr>
              <a:tr h="333855">
                <a:tc>
                  <a:txBody>
                    <a:bodyPr/>
                    <a:lstStyle/>
                    <a:p>
                      <a:pPr indent="180340" algn="ctr">
                        <a:lnSpc>
                          <a:spcPct val="106000"/>
                        </a:lnSpc>
                        <a:spcAft>
                          <a:spcPts val="0"/>
                        </a:spcAft>
                      </a:pPr>
                      <a:r>
                        <a:rPr lang="en-CA" sz="1600" dirty="0">
                          <a:effectLst/>
                        </a:rPr>
                        <a:t>60</a:t>
                      </a:r>
                      <a:endParaRPr lang="en-CA" sz="1600" dirty="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1600">
                          <a:effectLst/>
                        </a:rPr>
                        <a:t>240,000</a:t>
                      </a:r>
                      <a:endParaRPr lang="en-CA" sz="1600">
                        <a:effectLst/>
                        <a:latin typeface="Calibri"/>
                        <a:ea typeface="Calibri"/>
                        <a:cs typeface="Times New Roman"/>
                      </a:endParaRPr>
                    </a:p>
                  </a:txBody>
                  <a:tcPr marL="68580" marR="68580" marT="0" marB="0"/>
                </a:tc>
                <a:extLst>
                  <a:ext uri="{0D108BD9-81ED-4DB2-BD59-A6C34878D82A}">
                    <a16:rowId xmlns:a16="http://schemas.microsoft.com/office/drawing/2014/main" val="10005"/>
                  </a:ext>
                </a:extLst>
              </a:tr>
              <a:tr h="333855">
                <a:tc>
                  <a:txBody>
                    <a:bodyPr/>
                    <a:lstStyle/>
                    <a:p>
                      <a:pPr indent="180340" algn="ctr">
                        <a:lnSpc>
                          <a:spcPct val="106000"/>
                        </a:lnSpc>
                        <a:spcAft>
                          <a:spcPts val="0"/>
                        </a:spcAft>
                      </a:pPr>
                      <a:r>
                        <a:rPr lang="en-CA" sz="1600">
                          <a:effectLst/>
                        </a:rPr>
                        <a:t>65</a:t>
                      </a:r>
                      <a:endParaRPr lang="en-CA" sz="160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1600" dirty="0">
                          <a:effectLst/>
                        </a:rPr>
                        <a:t>265,000</a:t>
                      </a:r>
                      <a:endParaRPr lang="en-CA" sz="1600" dirty="0">
                        <a:effectLst/>
                        <a:latin typeface="Calibri"/>
                        <a:ea typeface="Calibri"/>
                        <a:cs typeface="Times New Roman"/>
                      </a:endParaRPr>
                    </a:p>
                  </a:txBody>
                  <a:tcPr marL="68580" marR="68580" marT="0" marB="0"/>
                </a:tc>
                <a:extLst>
                  <a:ext uri="{0D108BD9-81ED-4DB2-BD59-A6C34878D82A}">
                    <a16:rowId xmlns:a16="http://schemas.microsoft.com/office/drawing/2014/main" val="10006"/>
                  </a:ext>
                </a:extLst>
              </a:tr>
              <a:tr h="333855">
                <a:tc>
                  <a:txBody>
                    <a:bodyPr/>
                    <a:lstStyle/>
                    <a:p>
                      <a:pPr indent="180340" algn="ctr">
                        <a:lnSpc>
                          <a:spcPct val="106000"/>
                        </a:lnSpc>
                        <a:spcAft>
                          <a:spcPts val="0"/>
                        </a:spcAft>
                      </a:pPr>
                      <a:r>
                        <a:rPr lang="en-CA" sz="1600">
                          <a:effectLst/>
                        </a:rPr>
                        <a:t>45</a:t>
                      </a:r>
                      <a:endParaRPr lang="en-CA" sz="160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1600" dirty="0">
                          <a:effectLst/>
                        </a:rPr>
                        <a:t>270,000</a:t>
                      </a:r>
                      <a:endParaRPr lang="en-CA" sz="1600" dirty="0">
                        <a:effectLst/>
                        <a:latin typeface="Calibri"/>
                        <a:ea typeface="Calibri"/>
                        <a:cs typeface="Times New Roman"/>
                      </a:endParaRPr>
                    </a:p>
                  </a:txBody>
                  <a:tcPr marL="68580" marR="68580" marT="0" marB="0"/>
                </a:tc>
                <a:extLst>
                  <a:ext uri="{0D108BD9-81ED-4DB2-BD59-A6C34878D82A}">
                    <a16:rowId xmlns:a16="http://schemas.microsoft.com/office/drawing/2014/main" val="10007"/>
                  </a:ext>
                </a:extLst>
              </a:tr>
              <a:tr h="333855">
                <a:tc>
                  <a:txBody>
                    <a:bodyPr/>
                    <a:lstStyle/>
                    <a:p>
                      <a:pPr indent="180340" algn="ctr">
                        <a:lnSpc>
                          <a:spcPct val="106000"/>
                        </a:lnSpc>
                        <a:spcAft>
                          <a:spcPts val="0"/>
                        </a:spcAft>
                      </a:pPr>
                      <a:r>
                        <a:rPr lang="en-CA" sz="1600">
                          <a:effectLst/>
                        </a:rPr>
                        <a:t>40</a:t>
                      </a:r>
                      <a:endParaRPr lang="en-CA" sz="160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1600" dirty="0">
                          <a:effectLst/>
                        </a:rPr>
                        <a:t>300,000</a:t>
                      </a:r>
                      <a:endParaRPr lang="en-CA" sz="1600" dirty="0">
                        <a:effectLst/>
                        <a:latin typeface="Calibri"/>
                        <a:ea typeface="Calibri"/>
                        <a:cs typeface="Times New Roman"/>
                      </a:endParaRPr>
                    </a:p>
                  </a:txBody>
                  <a:tcPr marL="68580" marR="68580" marT="0" marB="0"/>
                </a:tc>
                <a:extLst>
                  <a:ext uri="{0D108BD9-81ED-4DB2-BD59-A6C34878D82A}">
                    <a16:rowId xmlns:a16="http://schemas.microsoft.com/office/drawing/2014/main" val="10008"/>
                  </a:ext>
                </a:extLst>
              </a:tr>
              <a:tr h="333855">
                <a:tc>
                  <a:txBody>
                    <a:bodyPr/>
                    <a:lstStyle/>
                    <a:p>
                      <a:pPr indent="180340" algn="ctr">
                        <a:lnSpc>
                          <a:spcPct val="106000"/>
                        </a:lnSpc>
                        <a:spcAft>
                          <a:spcPts val="0"/>
                        </a:spcAft>
                      </a:pPr>
                      <a:r>
                        <a:rPr lang="en-CA" sz="1600">
                          <a:effectLst/>
                        </a:rPr>
                        <a:t>50</a:t>
                      </a:r>
                      <a:endParaRPr lang="en-CA" sz="160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1600" dirty="0">
                          <a:effectLst/>
                        </a:rPr>
                        <a:t>265,000</a:t>
                      </a:r>
                      <a:endParaRPr lang="en-CA" sz="1600" dirty="0">
                        <a:effectLst/>
                        <a:latin typeface="Calibri"/>
                        <a:ea typeface="Calibri"/>
                        <a:cs typeface="Times New Roman"/>
                      </a:endParaRPr>
                    </a:p>
                  </a:txBody>
                  <a:tcPr marL="68580" marR="68580" marT="0" marB="0"/>
                </a:tc>
                <a:extLst>
                  <a:ext uri="{0D108BD9-81ED-4DB2-BD59-A6C34878D82A}">
                    <a16:rowId xmlns:a16="http://schemas.microsoft.com/office/drawing/2014/main" val="10009"/>
                  </a:ext>
                </a:extLst>
              </a:tr>
              <a:tr h="333855">
                <a:tc>
                  <a:txBody>
                    <a:bodyPr/>
                    <a:lstStyle/>
                    <a:p>
                      <a:pPr indent="180340" algn="ctr">
                        <a:lnSpc>
                          <a:spcPct val="106000"/>
                        </a:lnSpc>
                        <a:spcAft>
                          <a:spcPts val="0"/>
                        </a:spcAft>
                      </a:pPr>
                      <a:r>
                        <a:rPr lang="en-CA" sz="1600">
                          <a:effectLst/>
                        </a:rPr>
                        <a:t>30</a:t>
                      </a:r>
                      <a:endParaRPr lang="en-CA" sz="160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1600" dirty="0">
                          <a:effectLst/>
                        </a:rPr>
                        <a:t>105,000</a:t>
                      </a:r>
                      <a:endParaRPr lang="en-CA" sz="1600" dirty="0">
                        <a:effectLst/>
                        <a:latin typeface="Calibri"/>
                        <a:ea typeface="Calibri"/>
                        <a:cs typeface="Times New Roman"/>
                      </a:endParaRPr>
                    </a:p>
                  </a:txBody>
                  <a:tcPr marL="68580" marR="68580" marT="0" marB="0"/>
                </a:tc>
                <a:extLst>
                  <a:ext uri="{0D108BD9-81ED-4DB2-BD59-A6C34878D82A}">
                    <a16:rowId xmlns:a16="http://schemas.microsoft.com/office/drawing/2014/main" val="10010"/>
                  </a:ext>
                </a:extLst>
              </a:tr>
            </a:tbl>
          </a:graphicData>
        </a:graphic>
      </p:graphicFrame>
      <p:sp>
        <p:nvSpPr>
          <p:cNvPr id="3" name="Footer Placeholder 2"/>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12</a:t>
            </a:fld>
            <a:endParaRPr lang="en-CA"/>
          </a:p>
        </p:txBody>
      </p:sp>
    </p:spTree>
    <p:extLst>
      <p:ext uri="{BB962C8B-B14F-4D97-AF65-F5344CB8AC3E}">
        <p14:creationId xmlns:p14="http://schemas.microsoft.com/office/powerpoint/2010/main" val="40722023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Baby Example </a:t>
            </a:r>
            <a:r>
              <a:rPr lang="en-US" sz="2400" dirty="0"/>
              <a:t>continued</a:t>
            </a:r>
            <a:endParaRPr lang="en-CA" sz="24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We apply regularization to the model:</a:t>
                </a:r>
              </a:p>
              <a:p>
                <a:pPr marL="0" indent="0" algn="ctr">
                  <a:buNone/>
                </a:pPr>
                <a:endParaRPr lang="en-US" dirty="0"/>
              </a:p>
              <a:p>
                <a:pPr marL="0" indent="0" algn="ctr">
                  <a:buNone/>
                </a:pPr>
                <a14:m>
                  <m:oMath xmlns:m="http://schemas.openxmlformats.org/officeDocument/2006/math">
                    <m:r>
                      <a:rPr lang="en-US" b="0" i="1" smtClean="0">
                        <a:latin typeface="Cambria Math"/>
                      </a:rPr>
                      <m:t>𝑌</m:t>
                    </m:r>
                    <m:r>
                      <a:rPr lang="en-US" b="0" i="1" smtClean="0">
                        <a:latin typeface="Cambria Math"/>
                      </a:rPr>
                      <m:t>=</m:t>
                    </m:r>
                    <m:r>
                      <a:rPr lang="en-US" b="0" i="1" smtClean="0">
                        <a:latin typeface="Cambria Math"/>
                      </a:rPr>
                      <m:t>𝑎</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𝑏</m:t>
                        </m:r>
                      </m:e>
                      <m:sub>
                        <m:r>
                          <a:rPr lang="en-US" b="0" i="1" smtClean="0">
                            <a:latin typeface="Cambria Math"/>
                          </a:rPr>
                          <m:t>1</m:t>
                        </m:r>
                      </m:sub>
                    </m:sSub>
                    <m:r>
                      <a:rPr lang="en-US" b="0" i="1" smtClean="0">
                        <a:latin typeface="Cambria Math"/>
                      </a:rPr>
                      <m:t>𝑋</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𝑏</m:t>
                        </m:r>
                      </m:e>
                      <m:sub>
                        <m:r>
                          <a:rPr lang="en-US" b="0" i="1" smtClean="0">
                            <a:latin typeface="Cambria Math"/>
                          </a:rPr>
                          <m:t>2</m:t>
                        </m:r>
                      </m:sub>
                    </m:sSub>
                    <m:sSup>
                      <m:sSupPr>
                        <m:ctrlPr>
                          <a:rPr lang="en-US" b="0" i="1" smtClean="0">
                            <a:latin typeface="Cambria Math" panose="02040503050406030204" pitchFamily="18" charset="0"/>
                          </a:rPr>
                        </m:ctrlPr>
                      </m:sSupPr>
                      <m:e>
                        <m:r>
                          <a:rPr lang="en-US" b="0" i="1" smtClean="0">
                            <a:latin typeface="Cambria Math"/>
                          </a:rPr>
                          <m:t>𝑋</m:t>
                        </m:r>
                      </m:e>
                      <m:sup>
                        <m:r>
                          <a:rPr lang="en-US" b="0" i="1" smtClean="0">
                            <a:latin typeface="Cambria Math"/>
                          </a:rPr>
                          <m:t>2</m:t>
                        </m:r>
                      </m:sup>
                    </m:sSup>
                  </m:oMath>
                </a14:m>
                <a:r>
                  <a:rPr lang="en-US" dirty="0"/>
                  <a:t> </a:t>
                </a:r>
                <a14:m>
                  <m:oMath xmlns:m="http://schemas.openxmlformats.org/officeDocument/2006/math">
                    <m:r>
                      <a:rPr lang="en-US" i="1">
                        <a:latin typeface="Cambria Math"/>
                      </a:rPr>
                      <m:t>+</m:t>
                    </m:r>
                    <m:sSub>
                      <m:sSubPr>
                        <m:ctrlPr>
                          <a:rPr lang="en-US" i="1">
                            <a:latin typeface="Cambria Math" panose="02040503050406030204" pitchFamily="18" charset="0"/>
                          </a:rPr>
                        </m:ctrlPr>
                      </m:sSubPr>
                      <m:e>
                        <m:r>
                          <a:rPr lang="en-US" i="1">
                            <a:latin typeface="Cambria Math"/>
                          </a:rPr>
                          <m:t>𝑏</m:t>
                        </m:r>
                      </m:e>
                      <m:sub>
                        <m:r>
                          <a:rPr lang="en-US" b="0" i="1" smtClean="0">
                            <a:latin typeface="Cambria Math"/>
                          </a:rPr>
                          <m:t>3</m:t>
                        </m:r>
                      </m:sub>
                    </m:sSub>
                    <m:sSup>
                      <m:sSupPr>
                        <m:ctrlPr>
                          <a:rPr lang="en-US" i="1">
                            <a:latin typeface="Cambria Math" panose="02040503050406030204" pitchFamily="18" charset="0"/>
                          </a:rPr>
                        </m:ctrlPr>
                      </m:sSupPr>
                      <m:e>
                        <m:r>
                          <a:rPr lang="en-US" i="1">
                            <a:latin typeface="Cambria Math"/>
                          </a:rPr>
                          <m:t>𝑋</m:t>
                        </m:r>
                      </m:e>
                      <m:sup>
                        <m:r>
                          <a:rPr lang="en-US" b="0" i="1" smtClean="0">
                            <a:latin typeface="Cambria Math"/>
                          </a:rPr>
                          <m:t>3</m:t>
                        </m:r>
                      </m:sup>
                    </m:sSup>
                  </m:oMath>
                </a14:m>
                <a:r>
                  <a:rPr lang="en-US" dirty="0"/>
                  <a:t> </a:t>
                </a:r>
                <a14:m>
                  <m:oMath xmlns:m="http://schemas.openxmlformats.org/officeDocument/2006/math">
                    <m:r>
                      <a:rPr lang="en-US" i="1">
                        <a:latin typeface="Cambria Math"/>
                      </a:rPr>
                      <m:t>+</m:t>
                    </m:r>
                    <m:sSub>
                      <m:sSubPr>
                        <m:ctrlPr>
                          <a:rPr lang="en-US" i="1">
                            <a:latin typeface="Cambria Math" panose="02040503050406030204" pitchFamily="18" charset="0"/>
                          </a:rPr>
                        </m:ctrlPr>
                      </m:sSubPr>
                      <m:e>
                        <m:r>
                          <a:rPr lang="en-US" i="1">
                            <a:latin typeface="Cambria Math"/>
                          </a:rPr>
                          <m:t>𝑏</m:t>
                        </m:r>
                      </m:e>
                      <m:sub>
                        <m:r>
                          <a:rPr lang="en-US" b="0" i="1" smtClean="0">
                            <a:latin typeface="Cambria Math"/>
                          </a:rPr>
                          <m:t>4</m:t>
                        </m:r>
                      </m:sub>
                    </m:sSub>
                    <m:sSup>
                      <m:sSupPr>
                        <m:ctrlPr>
                          <a:rPr lang="en-US" i="1">
                            <a:latin typeface="Cambria Math" panose="02040503050406030204" pitchFamily="18" charset="0"/>
                          </a:rPr>
                        </m:ctrlPr>
                      </m:sSupPr>
                      <m:e>
                        <m:r>
                          <a:rPr lang="en-US" i="1">
                            <a:latin typeface="Cambria Math"/>
                          </a:rPr>
                          <m:t>𝑋</m:t>
                        </m:r>
                      </m:e>
                      <m:sup>
                        <m:r>
                          <a:rPr lang="en-US" b="0" i="1" smtClean="0">
                            <a:latin typeface="Cambria Math"/>
                          </a:rPr>
                          <m:t>4</m:t>
                        </m:r>
                      </m:sup>
                    </m:sSup>
                  </m:oMath>
                </a14:m>
                <a:r>
                  <a:rPr lang="en-US" dirty="0"/>
                  <a:t> </a:t>
                </a:r>
                <a14:m>
                  <m:oMath xmlns:m="http://schemas.openxmlformats.org/officeDocument/2006/math">
                    <m:r>
                      <a:rPr lang="en-US" i="1">
                        <a:latin typeface="Cambria Math"/>
                      </a:rPr>
                      <m:t>+</m:t>
                    </m:r>
                    <m:sSub>
                      <m:sSubPr>
                        <m:ctrlPr>
                          <a:rPr lang="en-US" i="1">
                            <a:latin typeface="Cambria Math" panose="02040503050406030204" pitchFamily="18" charset="0"/>
                          </a:rPr>
                        </m:ctrlPr>
                      </m:sSubPr>
                      <m:e>
                        <m:r>
                          <a:rPr lang="en-US" i="1">
                            <a:latin typeface="Cambria Math"/>
                          </a:rPr>
                          <m:t>𝑏</m:t>
                        </m:r>
                      </m:e>
                      <m:sub>
                        <m:r>
                          <a:rPr lang="en-US" b="0" i="1" smtClean="0">
                            <a:latin typeface="Cambria Math"/>
                          </a:rPr>
                          <m:t>5</m:t>
                        </m:r>
                      </m:sub>
                    </m:sSub>
                    <m:sSup>
                      <m:sSupPr>
                        <m:ctrlPr>
                          <a:rPr lang="en-US" i="1">
                            <a:latin typeface="Cambria Math" panose="02040503050406030204" pitchFamily="18" charset="0"/>
                          </a:rPr>
                        </m:ctrlPr>
                      </m:sSupPr>
                      <m:e>
                        <m:r>
                          <a:rPr lang="en-US" i="1">
                            <a:latin typeface="Cambria Math"/>
                          </a:rPr>
                          <m:t>𝑋</m:t>
                        </m:r>
                      </m:e>
                      <m:sup>
                        <m:r>
                          <a:rPr lang="en-US" b="0" i="1" smtClean="0">
                            <a:latin typeface="Cambria Math"/>
                          </a:rPr>
                          <m:t>5</m:t>
                        </m:r>
                      </m:sup>
                    </m:sSup>
                  </m:oMath>
                </a14:m>
                <a:endParaRPr lang="en-CA" dirty="0"/>
              </a:p>
              <a:p>
                <a:pPr marL="0" indent="0" algn="ctr">
                  <a:buNone/>
                </a:pPr>
                <a:endParaRPr lang="en-US" dirty="0"/>
              </a:p>
              <a:p>
                <a:pPr marL="0" indent="0">
                  <a:buNone/>
                </a:pPr>
                <a:r>
                  <a:rPr lang="en-US" dirty="0"/>
                  <a:t>    where </a:t>
                </a:r>
                <a:r>
                  <a:rPr lang="en-US" i="1" dirty="0">
                    <a:latin typeface="+mj-lt"/>
                  </a:rPr>
                  <a:t>Y</a:t>
                </a:r>
                <a:r>
                  <a:rPr lang="en-US" dirty="0"/>
                  <a:t> is salary and </a:t>
                </a:r>
                <a:r>
                  <a:rPr lang="en-US" i="1" dirty="0">
                    <a:latin typeface="+mj-lt"/>
                  </a:rPr>
                  <a:t>X</a:t>
                </a:r>
                <a:r>
                  <a:rPr lang="en-US" dirty="0"/>
                  <a:t> is age</a:t>
                </a:r>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889"/>
                </a:stretch>
              </a:blipFill>
            </p:spPr>
            <p:txBody>
              <a:bodyPr/>
              <a:lstStyle/>
              <a:p>
                <a:r>
                  <a:rPr lang="en-CA">
                    <a:noFill/>
                  </a:rPr>
                  <a:t> </a:t>
                </a:r>
              </a:p>
            </p:txBody>
          </p:sp>
        </mc:Fallback>
      </mc:AlternateContent>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13</a:t>
            </a:fld>
            <a:endParaRPr lang="en-CA"/>
          </a:p>
        </p:txBody>
      </p:sp>
    </p:spTree>
    <p:extLst>
      <p:ext uri="{BB962C8B-B14F-4D97-AF65-F5344CB8AC3E}">
        <p14:creationId xmlns:p14="http://schemas.microsoft.com/office/powerpoint/2010/main" val="39425709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with Z-score scaling (Table 3.3)</a:t>
            </a:r>
            <a:endParaRPr lang="en-CA" dirty="0"/>
          </a:p>
        </p:txBody>
      </p:sp>
      <p:graphicFrame>
        <p:nvGraphicFramePr>
          <p:cNvPr id="3" name="Table 2"/>
          <p:cNvGraphicFramePr>
            <a:graphicFrameLocks noGrp="1"/>
          </p:cNvGraphicFramePr>
          <p:nvPr>
            <p:extLst>
              <p:ext uri="{D42A27DB-BD31-4B8C-83A1-F6EECF244321}">
                <p14:modId xmlns:p14="http://schemas.microsoft.com/office/powerpoint/2010/main" val="2526319916"/>
              </p:ext>
            </p:extLst>
          </p:nvPr>
        </p:nvGraphicFramePr>
        <p:xfrm>
          <a:off x="1403648" y="1988840"/>
          <a:ext cx="6038439" cy="3744411"/>
        </p:xfrm>
        <a:graphic>
          <a:graphicData uri="http://schemas.openxmlformats.org/drawingml/2006/table">
            <a:tbl>
              <a:tblPr firstRow="1" firstCol="1" bandRow="1">
                <a:tableStyleId>{5940675A-B579-460E-94D1-54222C63F5DA}</a:tableStyleId>
              </a:tblPr>
              <a:tblGrid>
                <a:gridCol w="935887">
                  <a:extLst>
                    <a:ext uri="{9D8B030D-6E8A-4147-A177-3AD203B41FA5}">
                      <a16:colId xmlns:a16="http://schemas.microsoft.com/office/drawing/2014/main" val="20000"/>
                    </a:ext>
                  </a:extLst>
                </a:gridCol>
                <a:gridCol w="879472">
                  <a:extLst>
                    <a:ext uri="{9D8B030D-6E8A-4147-A177-3AD203B41FA5}">
                      <a16:colId xmlns:a16="http://schemas.microsoft.com/office/drawing/2014/main" val="20001"/>
                    </a:ext>
                  </a:extLst>
                </a:gridCol>
                <a:gridCol w="1055770">
                  <a:extLst>
                    <a:ext uri="{9D8B030D-6E8A-4147-A177-3AD203B41FA5}">
                      <a16:colId xmlns:a16="http://schemas.microsoft.com/office/drawing/2014/main" val="20002"/>
                    </a:ext>
                  </a:extLst>
                </a:gridCol>
                <a:gridCol w="1055770">
                  <a:extLst>
                    <a:ext uri="{9D8B030D-6E8A-4147-A177-3AD203B41FA5}">
                      <a16:colId xmlns:a16="http://schemas.microsoft.com/office/drawing/2014/main" val="20003"/>
                    </a:ext>
                  </a:extLst>
                </a:gridCol>
                <a:gridCol w="1055770">
                  <a:extLst>
                    <a:ext uri="{9D8B030D-6E8A-4147-A177-3AD203B41FA5}">
                      <a16:colId xmlns:a16="http://schemas.microsoft.com/office/drawing/2014/main" val="20004"/>
                    </a:ext>
                  </a:extLst>
                </a:gridCol>
                <a:gridCol w="1055770">
                  <a:extLst>
                    <a:ext uri="{9D8B030D-6E8A-4147-A177-3AD203B41FA5}">
                      <a16:colId xmlns:a16="http://schemas.microsoft.com/office/drawing/2014/main" val="20005"/>
                    </a:ext>
                  </a:extLst>
                </a:gridCol>
              </a:tblGrid>
              <a:tr h="340401">
                <a:tc>
                  <a:txBody>
                    <a:bodyPr/>
                    <a:lstStyle/>
                    <a:p>
                      <a:pPr algn="ctr">
                        <a:lnSpc>
                          <a:spcPct val="106000"/>
                        </a:lnSpc>
                        <a:spcAft>
                          <a:spcPts val="0"/>
                        </a:spcAft>
                      </a:pPr>
                      <a:r>
                        <a:rPr lang="en-CA" sz="1600" dirty="0" err="1">
                          <a:effectLst/>
                        </a:rPr>
                        <a:t>Observ</a:t>
                      </a:r>
                      <a:r>
                        <a:rPr lang="en-CA" sz="1600" dirty="0">
                          <a:effectLst/>
                        </a:rPr>
                        <a:t>.</a:t>
                      </a:r>
                      <a:endParaRPr lang="en-CA" sz="16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X</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X</a:t>
                      </a:r>
                      <a:r>
                        <a:rPr lang="en-CA" sz="1600" baseline="30000">
                          <a:effectLst/>
                        </a:rPr>
                        <a:t>2</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X</a:t>
                      </a:r>
                      <a:r>
                        <a:rPr lang="en-CA" sz="1600" baseline="30000">
                          <a:effectLst/>
                        </a:rPr>
                        <a:t>3</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X</a:t>
                      </a:r>
                      <a:r>
                        <a:rPr lang="en-CA" sz="1600" baseline="30000">
                          <a:effectLst/>
                        </a:rPr>
                        <a:t>4</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X</a:t>
                      </a:r>
                      <a:r>
                        <a:rPr lang="en-CA" sz="1600" baseline="30000">
                          <a:effectLst/>
                        </a:rPr>
                        <a:t>5</a:t>
                      </a:r>
                      <a:endParaRPr lang="en-CA" sz="160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340401">
                <a:tc>
                  <a:txBody>
                    <a:bodyPr/>
                    <a:lstStyle/>
                    <a:p>
                      <a:pPr algn="ctr">
                        <a:lnSpc>
                          <a:spcPct val="106000"/>
                        </a:lnSpc>
                        <a:spcAft>
                          <a:spcPts val="0"/>
                        </a:spcAft>
                      </a:pPr>
                      <a:r>
                        <a:rPr lang="en-CA" sz="1600">
                          <a:effectLst/>
                        </a:rPr>
                        <a:t>1</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−1.290</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−1.128</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−0.988</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−0.874</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−0.782</a:t>
                      </a:r>
                      <a:endParaRPr lang="en-CA" sz="1600">
                        <a:effectLst/>
                        <a:latin typeface="Calibri"/>
                        <a:ea typeface="Calibri"/>
                        <a:cs typeface="Times New Roman"/>
                      </a:endParaRPr>
                    </a:p>
                  </a:txBody>
                  <a:tcPr marL="68580" marR="68580" marT="0" marB="0"/>
                </a:tc>
                <a:extLst>
                  <a:ext uri="{0D108BD9-81ED-4DB2-BD59-A6C34878D82A}">
                    <a16:rowId xmlns:a16="http://schemas.microsoft.com/office/drawing/2014/main" val="10001"/>
                  </a:ext>
                </a:extLst>
              </a:tr>
              <a:tr h="340401">
                <a:tc>
                  <a:txBody>
                    <a:bodyPr/>
                    <a:lstStyle/>
                    <a:p>
                      <a:pPr algn="ctr">
                        <a:lnSpc>
                          <a:spcPct val="106000"/>
                        </a:lnSpc>
                        <a:spcAft>
                          <a:spcPts val="0"/>
                        </a:spcAft>
                      </a:pPr>
                      <a:r>
                        <a:rPr lang="en-CA" sz="1600">
                          <a:effectLst/>
                        </a:rPr>
                        <a:t>2</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  0.836</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dirty="0">
                          <a:effectLst/>
                        </a:rPr>
                        <a:t>   0.778</a:t>
                      </a:r>
                      <a:endParaRPr lang="en-CA" sz="16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   0.693</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   0.592</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   0.486</a:t>
                      </a:r>
                      <a:endParaRPr lang="en-CA" sz="160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340401">
                <a:tc>
                  <a:txBody>
                    <a:bodyPr/>
                    <a:lstStyle/>
                    <a:p>
                      <a:pPr algn="ctr">
                        <a:lnSpc>
                          <a:spcPct val="106000"/>
                        </a:lnSpc>
                        <a:spcAft>
                          <a:spcPts val="0"/>
                        </a:spcAft>
                      </a:pPr>
                      <a:r>
                        <a:rPr lang="en-CA" sz="1600">
                          <a:effectLst/>
                        </a:rPr>
                        <a:t>3</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−1.148</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−1.046</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dirty="0">
                          <a:effectLst/>
                        </a:rPr>
                        <a:t>−0.943</a:t>
                      </a:r>
                      <a:endParaRPr lang="en-CA" sz="16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−0.850</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−0.770</a:t>
                      </a:r>
                      <a:endParaRPr lang="en-CA" sz="160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r h="340401">
                <a:tc>
                  <a:txBody>
                    <a:bodyPr/>
                    <a:lstStyle/>
                    <a:p>
                      <a:pPr algn="ctr">
                        <a:lnSpc>
                          <a:spcPct val="106000"/>
                        </a:lnSpc>
                        <a:spcAft>
                          <a:spcPts val="0"/>
                        </a:spcAft>
                      </a:pPr>
                      <a:r>
                        <a:rPr lang="en-CA" sz="1600">
                          <a:effectLst/>
                        </a:rPr>
                        <a:t>4</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−0.581</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−0.652</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dirty="0">
                          <a:effectLst/>
                        </a:rPr>
                        <a:t>−0.684</a:t>
                      </a:r>
                      <a:endParaRPr lang="en-CA" sz="16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dirty="0">
                          <a:effectLst/>
                        </a:rPr>
                        <a:t>−0.688</a:t>
                      </a:r>
                      <a:endParaRPr lang="en-CA" sz="16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−0.672</a:t>
                      </a:r>
                      <a:endParaRPr lang="en-CA" sz="1600">
                        <a:effectLst/>
                        <a:latin typeface="Calibri"/>
                        <a:ea typeface="Calibri"/>
                        <a:cs typeface="Times New Roman"/>
                      </a:endParaRPr>
                    </a:p>
                  </a:txBody>
                  <a:tcPr marL="68580" marR="68580" marT="0" marB="0"/>
                </a:tc>
                <a:extLst>
                  <a:ext uri="{0D108BD9-81ED-4DB2-BD59-A6C34878D82A}">
                    <a16:rowId xmlns:a16="http://schemas.microsoft.com/office/drawing/2014/main" val="10004"/>
                  </a:ext>
                </a:extLst>
              </a:tr>
              <a:tr h="340401">
                <a:tc>
                  <a:txBody>
                    <a:bodyPr/>
                    <a:lstStyle/>
                    <a:p>
                      <a:pPr algn="ctr">
                        <a:lnSpc>
                          <a:spcPct val="106000"/>
                        </a:lnSpc>
                        <a:spcAft>
                          <a:spcPts val="0"/>
                        </a:spcAft>
                      </a:pPr>
                      <a:r>
                        <a:rPr lang="en-CA" sz="1600">
                          <a:effectLst/>
                        </a:rPr>
                        <a:t>5</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  1.191</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   1.235</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  1.247</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dirty="0">
                          <a:effectLst/>
                        </a:rPr>
                        <a:t>   1.230</a:t>
                      </a:r>
                      <a:endParaRPr lang="en-CA" sz="16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   1.191</a:t>
                      </a:r>
                      <a:endParaRPr lang="en-CA" sz="1600">
                        <a:effectLst/>
                        <a:latin typeface="Calibri"/>
                        <a:ea typeface="Calibri"/>
                        <a:cs typeface="Times New Roman"/>
                      </a:endParaRPr>
                    </a:p>
                  </a:txBody>
                  <a:tcPr marL="68580" marR="68580" marT="0" marB="0"/>
                </a:tc>
                <a:extLst>
                  <a:ext uri="{0D108BD9-81ED-4DB2-BD59-A6C34878D82A}">
                    <a16:rowId xmlns:a16="http://schemas.microsoft.com/office/drawing/2014/main" val="10005"/>
                  </a:ext>
                </a:extLst>
              </a:tr>
              <a:tr h="340401">
                <a:tc>
                  <a:txBody>
                    <a:bodyPr/>
                    <a:lstStyle/>
                    <a:p>
                      <a:pPr algn="ctr">
                        <a:lnSpc>
                          <a:spcPct val="106000"/>
                        </a:lnSpc>
                        <a:spcAft>
                          <a:spcPts val="0"/>
                        </a:spcAft>
                      </a:pPr>
                      <a:r>
                        <a:rPr lang="en-CA" sz="1600">
                          <a:effectLst/>
                        </a:rPr>
                        <a:t>6</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  1.545</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   1.731</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   1.901</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dirty="0">
                          <a:effectLst/>
                        </a:rPr>
                        <a:t>   2.048</a:t>
                      </a:r>
                      <a:endParaRPr lang="en-CA" sz="16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   2.174</a:t>
                      </a:r>
                      <a:endParaRPr lang="en-CA" sz="1600">
                        <a:effectLst/>
                        <a:latin typeface="Calibri"/>
                        <a:ea typeface="Calibri"/>
                        <a:cs typeface="Times New Roman"/>
                      </a:endParaRPr>
                    </a:p>
                  </a:txBody>
                  <a:tcPr marL="68580" marR="68580" marT="0" marB="0"/>
                </a:tc>
                <a:extLst>
                  <a:ext uri="{0D108BD9-81ED-4DB2-BD59-A6C34878D82A}">
                    <a16:rowId xmlns:a16="http://schemas.microsoft.com/office/drawing/2014/main" val="10006"/>
                  </a:ext>
                </a:extLst>
              </a:tr>
              <a:tr h="340401">
                <a:tc>
                  <a:txBody>
                    <a:bodyPr/>
                    <a:lstStyle/>
                    <a:p>
                      <a:pPr algn="ctr">
                        <a:lnSpc>
                          <a:spcPct val="106000"/>
                        </a:lnSpc>
                        <a:spcAft>
                          <a:spcPts val="0"/>
                        </a:spcAft>
                      </a:pPr>
                      <a:r>
                        <a:rPr lang="en-CA" sz="1600">
                          <a:effectLst/>
                        </a:rPr>
                        <a:t>7</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  0.128</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−0.016</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−0.146</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dirty="0">
                          <a:effectLst/>
                        </a:rPr>
                        <a:t>−0.253</a:t>
                      </a:r>
                      <a:endParaRPr lang="en-CA" sz="16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−0.333</a:t>
                      </a:r>
                      <a:endParaRPr lang="en-CA" sz="1600">
                        <a:effectLst/>
                        <a:latin typeface="Calibri"/>
                        <a:ea typeface="Calibri"/>
                        <a:cs typeface="Times New Roman"/>
                      </a:endParaRPr>
                    </a:p>
                  </a:txBody>
                  <a:tcPr marL="68580" marR="68580" marT="0" marB="0"/>
                </a:tc>
                <a:extLst>
                  <a:ext uri="{0D108BD9-81ED-4DB2-BD59-A6C34878D82A}">
                    <a16:rowId xmlns:a16="http://schemas.microsoft.com/office/drawing/2014/main" val="10007"/>
                  </a:ext>
                </a:extLst>
              </a:tr>
              <a:tr h="340401">
                <a:tc>
                  <a:txBody>
                    <a:bodyPr/>
                    <a:lstStyle/>
                    <a:p>
                      <a:pPr algn="ctr">
                        <a:lnSpc>
                          <a:spcPct val="106000"/>
                        </a:lnSpc>
                        <a:spcAft>
                          <a:spcPts val="0"/>
                        </a:spcAft>
                      </a:pPr>
                      <a:r>
                        <a:rPr lang="en-CA" sz="1600">
                          <a:effectLst/>
                        </a:rPr>
                        <a:t>8</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−0.227</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−0.354</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−0.449</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dirty="0">
                          <a:effectLst/>
                        </a:rPr>
                        <a:t>−0.511</a:t>
                      </a:r>
                      <a:endParaRPr lang="en-CA" sz="16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dirty="0">
                          <a:effectLst/>
                        </a:rPr>
                        <a:t>−0.544</a:t>
                      </a:r>
                      <a:endParaRPr lang="en-CA" sz="1600" dirty="0">
                        <a:effectLst/>
                        <a:latin typeface="Calibri"/>
                        <a:ea typeface="Calibri"/>
                        <a:cs typeface="Times New Roman"/>
                      </a:endParaRPr>
                    </a:p>
                  </a:txBody>
                  <a:tcPr marL="68580" marR="68580" marT="0" marB="0"/>
                </a:tc>
                <a:extLst>
                  <a:ext uri="{0D108BD9-81ED-4DB2-BD59-A6C34878D82A}">
                    <a16:rowId xmlns:a16="http://schemas.microsoft.com/office/drawing/2014/main" val="10008"/>
                  </a:ext>
                </a:extLst>
              </a:tr>
              <a:tr h="340401">
                <a:tc>
                  <a:txBody>
                    <a:bodyPr/>
                    <a:lstStyle/>
                    <a:p>
                      <a:pPr indent="635" algn="ctr">
                        <a:lnSpc>
                          <a:spcPct val="106000"/>
                        </a:lnSpc>
                        <a:spcAft>
                          <a:spcPts val="0"/>
                        </a:spcAft>
                      </a:pPr>
                      <a:r>
                        <a:rPr lang="en-CA" sz="1600">
                          <a:effectLst/>
                        </a:rPr>
                        <a:t>9</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  0.482</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   0.361</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   0.232</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   0.107</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dirty="0">
                          <a:effectLst/>
                        </a:rPr>
                        <a:t>−0.004</a:t>
                      </a:r>
                      <a:endParaRPr lang="en-CA" sz="1600" dirty="0">
                        <a:effectLst/>
                        <a:latin typeface="Calibri"/>
                        <a:ea typeface="Calibri"/>
                        <a:cs typeface="Times New Roman"/>
                      </a:endParaRPr>
                    </a:p>
                  </a:txBody>
                  <a:tcPr marL="68580" marR="68580" marT="0" marB="0"/>
                </a:tc>
                <a:extLst>
                  <a:ext uri="{0D108BD9-81ED-4DB2-BD59-A6C34878D82A}">
                    <a16:rowId xmlns:a16="http://schemas.microsoft.com/office/drawing/2014/main" val="10009"/>
                  </a:ext>
                </a:extLst>
              </a:tr>
              <a:tr h="340401">
                <a:tc>
                  <a:txBody>
                    <a:bodyPr/>
                    <a:lstStyle/>
                    <a:p>
                      <a:pPr algn="ctr">
                        <a:lnSpc>
                          <a:spcPct val="106000"/>
                        </a:lnSpc>
                        <a:spcAft>
                          <a:spcPts val="0"/>
                        </a:spcAft>
                      </a:pPr>
                      <a:r>
                        <a:rPr lang="en-CA" sz="1600">
                          <a:effectLst/>
                        </a:rPr>
                        <a:t>10</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−0.936</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−0.910</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−0.861</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a:effectLst/>
                        </a:rPr>
                        <a:t>−0.803</a:t>
                      </a:r>
                      <a:endParaRPr lang="en-CA" sz="16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1600" dirty="0">
                          <a:effectLst/>
                        </a:rPr>
                        <a:t>−0.745</a:t>
                      </a:r>
                      <a:endParaRPr lang="en-CA" sz="1600" dirty="0">
                        <a:effectLst/>
                        <a:latin typeface="Calibri"/>
                        <a:ea typeface="Calibri"/>
                        <a:cs typeface="Times New Roman"/>
                      </a:endParaRPr>
                    </a:p>
                  </a:txBody>
                  <a:tcPr marL="68580" marR="68580" marT="0" marB="0"/>
                </a:tc>
                <a:extLst>
                  <a:ext uri="{0D108BD9-81ED-4DB2-BD59-A6C34878D82A}">
                    <a16:rowId xmlns:a16="http://schemas.microsoft.com/office/drawing/2014/main" val="10010"/>
                  </a:ext>
                </a:extLst>
              </a:tr>
            </a:tbl>
          </a:graphicData>
        </a:graphic>
      </p:graphicFrame>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14</a:t>
            </a:fld>
            <a:endParaRPr lang="en-CA"/>
          </a:p>
        </p:txBody>
      </p:sp>
    </p:spTree>
    <p:extLst>
      <p:ext uri="{BB962C8B-B14F-4D97-AF65-F5344CB8AC3E}">
        <p14:creationId xmlns:p14="http://schemas.microsoft.com/office/powerpoint/2010/main" val="2973574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Ridge Results, Table 3.4 (</a:t>
            </a:r>
            <a:r>
              <a:rPr lang="en-US" dirty="0">
                <a:latin typeface="Symbol" panose="05050102010706020507" pitchFamily="18" charset="2"/>
              </a:rPr>
              <a:t>l</a:t>
            </a:r>
            <a:r>
              <a:rPr lang="en-US" dirty="0"/>
              <a:t>=0.02 is similar to quadratic model)</a:t>
            </a:r>
            <a:endParaRPr lang="en-CA" dirty="0"/>
          </a:p>
        </p:txBody>
      </p:sp>
      <p:graphicFrame>
        <p:nvGraphicFramePr>
          <p:cNvPr id="4" name="Table 3"/>
          <p:cNvGraphicFramePr>
            <a:graphicFrameLocks noGrp="1"/>
          </p:cNvGraphicFramePr>
          <p:nvPr>
            <p:extLst>
              <p:ext uri="{D42A27DB-BD31-4B8C-83A1-F6EECF244321}">
                <p14:modId xmlns:p14="http://schemas.microsoft.com/office/powerpoint/2010/main" val="2304254200"/>
              </p:ext>
            </p:extLst>
          </p:nvPr>
        </p:nvGraphicFramePr>
        <p:xfrm>
          <a:off x="899592" y="2312817"/>
          <a:ext cx="7128792" cy="2088232"/>
        </p:xfrm>
        <a:graphic>
          <a:graphicData uri="http://schemas.openxmlformats.org/drawingml/2006/table">
            <a:tbl>
              <a:tblPr firstRow="1" firstCol="1" bandRow="1">
                <a:tableStyleId>{5940675A-B579-460E-94D1-54222C63F5DA}</a:tableStyleId>
              </a:tblPr>
              <a:tblGrid>
                <a:gridCol w="760714">
                  <a:extLst>
                    <a:ext uri="{9D8B030D-6E8A-4147-A177-3AD203B41FA5}">
                      <a16:colId xmlns:a16="http://schemas.microsoft.com/office/drawing/2014/main" val="20000"/>
                    </a:ext>
                  </a:extLst>
                </a:gridCol>
                <a:gridCol w="905120">
                  <a:extLst>
                    <a:ext uri="{9D8B030D-6E8A-4147-A177-3AD203B41FA5}">
                      <a16:colId xmlns:a16="http://schemas.microsoft.com/office/drawing/2014/main" val="20001"/>
                    </a:ext>
                  </a:extLst>
                </a:gridCol>
                <a:gridCol w="1075315">
                  <a:extLst>
                    <a:ext uri="{9D8B030D-6E8A-4147-A177-3AD203B41FA5}">
                      <a16:colId xmlns:a16="http://schemas.microsoft.com/office/drawing/2014/main" val="20002"/>
                    </a:ext>
                  </a:extLst>
                </a:gridCol>
                <a:gridCol w="1094654">
                  <a:extLst>
                    <a:ext uri="{9D8B030D-6E8A-4147-A177-3AD203B41FA5}">
                      <a16:colId xmlns:a16="http://schemas.microsoft.com/office/drawing/2014/main" val="20003"/>
                    </a:ext>
                  </a:extLst>
                </a:gridCol>
                <a:gridCol w="1095944">
                  <a:extLst>
                    <a:ext uri="{9D8B030D-6E8A-4147-A177-3AD203B41FA5}">
                      <a16:colId xmlns:a16="http://schemas.microsoft.com/office/drawing/2014/main" val="20004"/>
                    </a:ext>
                  </a:extLst>
                </a:gridCol>
                <a:gridCol w="1099811">
                  <a:extLst>
                    <a:ext uri="{9D8B030D-6E8A-4147-A177-3AD203B41FA5}">
                      <a16:colId xmlns:a16="http://schemas.microsoft.com/office/drawing/2014/main" val="20005"/>
                    </a:ext>
                  </a:extLst>
                </a:gridCol>
                <a:gridCol w="1097234">
                  <a:extLst>
                    <a:ext uri="{9D8B030D-6E8A-4147-A177-3AD203B41FA5}">
                      <a16:colId xmlns:a16="http://schemas.microsoft.com/office/drawing/2014/main" val="20006"/>
                    </a:ext>
                  </a:extLst>
                </a:gridCol>
              </a:tblGrid>
              <a:tr h="576064">
                <a:tc>
                  <a:txBody>
                    <a:bodyPr/>
                    <a:lstStyle/>
                    <a:p>
                      <a:pPr algn="ctr">
                        <a:lnSpc>
                          <a:spcPct val="106000"/>
                        </a:lnSpc>
                        <a:spcAft>
                          <a:spcPts val="0"/>
                        </a:spcAft>
                        <a:tabLst>
                          <a:tab pos="1260475" algn="l"/>
                        </a:tabLst>
                      </a:pPr>
                      <a:r>
                        <a:rPr lang="en-CA" sz="1600" b="1" dirty="0">
                          <a:effectLst/>
                          <a:latin typeface="Symbol" panose="05050102010706020507" pitchFamily="18" charset="2"/>
                        </a:rPr>
                        <a:t>l</a:t>
                      </a:r>
                      <a:endParaRPr lang="en-CA" sz="1600" b="1" dirty="0">
                        <a:effectLst/>
                        <a:latin typeface="Symbol" panose="05050102010706020507" pitchFamily="18" charset="2"/>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1600" i="1" dirty="0">
                          <a:effectLst/>
                          <a:latin typeface="+mj-lt"/>
                        </a:rPr>
                        <a:t>a</a:t>
                      </a:r>
                      <a:endParaRPr lang="en-CA" sz="1600" i="1"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1600" i="1" dirty="0">
                          <a:effectLst/>
                          <a:latin typeface="+mj-lt"/>
                        </a:rPr>
                        <a:t>b</a:t>
                      </a:r>
                      <a:r>
                        <a:rPr lang="en-CA" sz="1600" i="0" baseline="-25000" dirty="0">
                          <a:effectLst/>
                          <a:latin typeface="+mj-lt"/>
                        </a:rPr>
                        <a:t>1</a:t>
                      </a:r>
                      <a:endParaRPr lang="en-CA" sz="1600" i="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1600" i="1" dirty="0">
                          <a:effectLst/>
                          <a:latin typeface="+mj-lt"/>
                        </a:rPr>
                        <a:t>b</a:t>
                      </a:r>
                      <a:r>
                        <a:rPr lang="en-CA" sz="1600" i="0" baseline="-25000" dirty="0">
                          <a:effectLst/>
                          <a:latin typeface="+mj-lt"/>
                        </a:rPr>
                        <a:t>2</a:t>
                      </a:r>
                      <a:endParaRPr lang="en-CA" sz="1600" i="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1600" i="1" dirty="0">
                          <a:effectLst/>
                          <a:latin typeface="+mj-lt"/>
                        </a:rPr>
                        <a:t>b</a:t>
                      </a:r>
                      <a:r>
                        <a:rPr lang="en-CA" sz="1600" i="0" baseline="-25000" dirty="0">
                          <a:effectLst/>
                          <a:latin typeface="+mj-lt"/>
                        </a:rPr>
                        <a:t>3</a:t>
                      </a:r>
                      <a:endParaRPr lang="en-CA" sz="1600" i="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1600" i="1" dirty="0">
                          <a:effectLst/>
                          <a:latin typeface="+mj-lt"/>
                        </a:rPr>
                        <a:t>b</a:t>
                      </a:r>
                      <a:r>
                        <a:rPr lang="en-CA" sz="1600" i="0" baseline="-25000" dirty="0">
                          <a:effectLst/>
                          <a:latin typeface="+mj-lt"/>
                        </a:rPr>
                        <a:t>4</a:t>
                      </a:r>
                      <a:endParaRPr lang="en-CA" sz="1600" i="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1600" i="1" dirty="0">
                          <a:effectLst/>
                          <a:latin typeface="+mj-lt"/>
                        </a:rPr>
                        <a:t>b</a:t>
                      </a:r>
                      <a:r>
                        <a:rPr lang="en-CA" sz="1600" i="0" baseline="-25000" dirty="0">
                          <a:effectLst/>
                          <a:latin typeface="+mj-lt"/>
                        </a:rPr>
                        <a:t>5</a:t>
                      </a:r>
                      <a:endParaRPr lang="en-CA" sz="1600" i="0" dirty="0">
                        <a:effectLst/>
                        <a:latin typeface="+mj-lt"/>
                        <a:ea typeface="Calibri"/>
                        <a:cs typeface="Times New Roman"/>
                      </a:endParaRPr>
                    </a:p>
                  </a:txBody>
                  <a:tcPr marL="68580" marR="68580" marT="0" marB="0"/>
                </a:tc>
                <a:extLst>
                  <a:ext uri="{0D108BD9-81ED-4DB2-BD59-A6C34878D82A}">
                    <a16:rowId xmlns:a16="http://schemas.microsoft.com/office/drawing/2014/main" val="10000"/>
                  </a:ext>
                </a:extLst>
              </a:tr>
              <a:tr h="504056">
                <a:tc>
                  <a:txBody>
                    <a:bodyPr/>
                    <a:lstStyle/>
                    <a:p>
                      <a:pPr algn="ctr">
                        <a:lnSpc>
                          <a:spcPct val="106000"/>
                        </a:lnSpc>
                        <a:spcAft>
                          <a:spcPts val="0"/>
                        </a:spcAft>
                        <a:tabLst>
                          <a:tab pos="1260475" algn="l"/>
                        </a:tabLst>
                      </a:pPr>
                      <a:r>
                        <a:rPr lang="en-US" sz="1600" b="1" dirty="0">
                          <a:effectLst/>
                          <a:latin typeface="+mj-lt"/>
                          <a:ea typeface="Calibri"/>
                          <a:cs typeface="Times New Roman"/>
                        </a:rPr>
                        <a:t>0</a:t>
                      </a:r>
                      <a:endParaRPr lang="en-CA" sz="1600" b="1"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US" sz="1600" dirty="0">
                          <a:effectLst/>
                          <a:latin typeface="+mj-lt"/>
                          <a:ea typeface="Calibri"/>
                          <a:cs typeface="Times New Roman"/>
                        </a:rPr>
                        <a:t>216.5</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1600" dirty="0">
                          <a:effectLst/>
                          <a:latin typeface="+mj-lt"/>
                          <a:ea typeface="Calibri"/>
                          <a:cs typeface="Times New Roman"/>
                        </a:rPr>
                        <a:t>−32,623</a:t>
                      </a:r>
                    </a:p>
                  </a:txBody>
                  <a:tcPr marL="68580" marR="68580" marT="0" marB="0"/>
                </a:tc>
                <a:tc>
                  <a:txBody>
                    <a:bodyPr/>
                    <a:lstStyle/>
                    <a:p>
                      <a:pPr algn="ctr">
                        <a:lnSpc>
                          <a:spcPct val="106000"/>
                        </a:lnSpc>
                        <a:spcAft>
                          <a:spcPts val="0"/>
                        </a:spcAft>
                        <a:tabLst>
                          <a:tab pos="1260475" algn="l"/>
                        </a:tabLst>
                      </a:pPr>
                      <a:r>
                        <a:rPr lang="en-US" sz="1600" dirty="0">
                          <a:effectLst/>
                          <a:latin typeface="+mj-lt"/>
                          <a:ea typeface="Calibri"/>
                          <a:cs typeface="Times New Roman"/>
                        </a:rPr>
                        <a:t>135,403</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1600" kern="1200" dirty="0">
                          <a:solidFill>
                            <a:schemeClr val="tx1"/>
                          </a:solidFill>
                          <a:effectLst/>
                          <a:latin typeface="+mj-lt"/>
                          <a:ea typeface="Calibri"/>
                          <a:cs typeface="Times New Roman"/>
                        </a:rPr>
                        <a:t>−215,493</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US" sz="1600" dirty="0">
                          <a:effectLst/>
                          <a:latin typeface="+mj-lt"/>
                          <a:ea typeface="Calibri"/>
                          <a:cs typeface="Times New Roman"/>
                        </a:rPr>
                        <a:t>155,315</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1600" kern="1200" dirty="0">
                          <a:solidFill>
                            <a:schemeClr val="tx1"/>
                          </a:solidFill>
                          <a:effectLst/>
                          <a:latin typeface="+mj-lt"/>
                          <a:ea typeface="Calibri"/>
                          <a:cs typeface="Times New Roman"/>
                        </a:rPr>
                        <a:t>−42,559</a:t>
                      </a:r>
                      <a:endParaRPr lang="en-CA" sz="1600" dirty="0">
                        <a:effectLst/>
                        <a:latin typeface="+mj-lt"/>
                        <a:ea typeface="Calibri"/>
                        <a:cs typeface="Times New Roman"/>
                      </a:endParaRPr>
                    </a:p>
                  </a:txBody>
                  <a:tcPr marL="68580" marR="68580" marT="0" marB="0"/>
                </a:tc>
                <a:extLst>
                  <a:ext uri="{0D108BD9-81ED-4DB2-BD59-A6C34878D82A}">
                    <a16:rowId xmlns:a16="http://schemas.microsoft.com/office/drawing/2014/main" val="10001"/>
                  </a:ext>
                </a:extLst>
              </a:tr>
              <a:tr h="504056">
                <a:tc>
                  <a:txBody>
                    <a:bodyPr/>
                    <a:lstStyle/>
                    <a:p>
                      <a:pPr algn="ctr">
                        <a:lnSpc>
                          <a:spcPct val="106000"/>
                        </a:lnSpc>
                        <a:spcAft>
                          <a:spcPts val="0"/>
                        </a:spcAft>
                        <a:tabLst>
                          <a:tab pos="1260475" algn="l"/>
                        </a:tabLst>
                      </a:pPr>
                      <a:r>
                        <a:rPr lang="en-CA" sz="1600" b="1" dirty="0">
                          <a:effectLst/>
                          <a:latin typeface="+mj-lt"/>
                        </a:rPr>
                        <a:t>0.02</a:t>
                      </a:r>
                      <a:endParaRPr lang="en-CA" sz="1600" b="1"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1600" dirty="0">
                          <a:effectLst/>
                          <a:latin typeface="+mj-lt"/>
                        </a:rPr>
                        <a:t>216.5</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1600" dirty="0">
                          <a:effectLst/>
                          <a:latin typeface="+mj-lt"/>
                        </a:rPr>
                        <a:t>97.8</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1600" dirty="0">
                          <a:effectLst/>
                          <a:latin typeface="+mj-lt"/>
                        </a:rPr>
                        <a:t>36.6</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1600" dirty="0">
                          <a:effectLst/>
                          <a:latin typeface="+mj-lt"/>
                        </a:rPr>
                        <a:t>−8.5</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1600" dirty="0">
                          <a:effectLst/>
                          <a:latin typeface="+mj-lt"/>
                        </a:rPr>
                        <a:t>   35.0</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1600" dirty="0">
                          <a:effectLst/>
                          <a:latin typeface="+mj-lt"/>
                        </a:rPr>
                        <a:t>−44.6</a:t>
                      </a:r>
                      <a:endParaRPr lang="en-CA" sz="1600" dirty="0">
                        <a:effectLst/>
                        <a:latin typeface="+mj-lt"/>
                        <a:ea typeface="Calibri"/>
                        <a:cs typeface="Times New Roman"/>
                      </a:endParaRPr>
                    </a:p>
                  </a:txBody>
                  <a:tcPr marL="68580" marR="68580" marT="0" marB="0"/>
                </a:tc>
                <a:extLst>
                  <a:ext uri="{0D108BD9-81ED-4DB2-BD59-A6C34878D82A}">
                    <a16:rowId xmlns:a16="http://schemas.microsoft.com/office/drawing/2014/main" val="10002"/>
                  </a:ext>
                </a:extLst>
              </a:tr>
              <a:tr h="504056">
                <a:tc>
                  <a:txBody>
                    <a:bodyPr/>
                    <a:lstStyle/>
                    <a:p>
                      <a:pPr algn="ctr">
                        <a:lnSpc>
                          <a:spcPct val="106000"/>
                        </a:lnSpc>
                        <a:spcAft>
                          <a:spcPts val="0"/>
                        </a:spcAft>
                        <a:tabLst>
                          <a:tab pos="1260475" algn="l"/>
                        </a:tabLst>
                      </a:pPr>
                      <a:r>
                        <a:rPr lang="en-CA" sz="1600" b="1" dirty="0">
                          <a:effectLst/>
                          <a:latin typeface="+mj-lt"/>
                        </a:rPr>
                        <a:t>0.10</a:t>
                      </a:r>
                      <a:endParaRPr lang="en-CA" sz="1600" b="1"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1600">
                          <a:effectLst/>
                          <a:latin typeface="+mj-lt"/>
                        </a:rPr>
                        <a:t>216.5</a:t>
                      </a:r>
                      <a:endParaRPr lang="en-CA" sz="160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1600">
                          <a:effectLst/>
                          <a:latin typeface="+mj-lt"/>
                        </a:rPr>
                        <a:t>56.5</a:t>
                      </a:r>
                      <a:endParaRPr lang="en-CA" sz="160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1600" dirty="0">
                          <a:effectLst/>
                          <a:latin typeface="+mj-lt"/>
                        </a:rPr>
                        <a:t>28.1</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1600" dirty="0">
                          <a:effectLst/>
                          <a:latin typeface="+mj-lt"/>
                        </a:rPr>
                        <a:t>   3.7</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1600" dirty="0">
                          <a:effectLst/>
                          <a:latin typeface="+mj-lt"/>
                        </a:rPr>
                        <a:t>−15.1</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1600" dirty="0">
                          <a:effectLst/>
                          <a:latin typeface="+mj-lt"/>
                        </a:rPr>
                        <a:t>−28.4</a:t>
                      </a:r>
                      <a:endParaRPr lang="en-CA" sz="1600" dirty="0">
                        <a:effectLst/>
                        <a:latin typeface="+mj-lt"/>
                        <a:ea typeface="Calibri"/>
                        <a:cs typeface="Times New Roman"/>
                      </a:endParaRPr>
                    </a:p>
                  </a:txBody>
                  <a:tcPr marL="68580" marR="68580" marT="0" marB="0"/>
                </a:tc>
                <a:extLst>
                  <a:ext uri="{0D108BD9-81ED-4DB2-BD59-A6C34878D82A}">
                    <a16:rowId xmlns:a16="http://schemas.microsoft.com/office/drawing/2014/main" val="10003"/>
                  </a:ext>
                </a:extLst>
              </a:tr>
            </a:tbl>
          </a:graphicData>
        </a:graphic>
      </p:graphicFrame>
      <p:sp>
        <p:nvSpPr>
          <p:cNvPr id="5" name="Rectangle 1"/>
          <p:cNvSpPr>
            <a:spLocks noChangeArrowheads="1"/>
          </p:cNvSpPr>
          <p:nvPr/>
        </p:nvSpPr>
        <p:spPr bwMode="auto">
          <a:xfrm>
            <a:off x="2816225" y="3908732"/>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3" name="Footer Placeholder 2"/>
          <p:cNvSpPr>
            <a:spLocks noGrp="1"/>
          </p:cNvSpPr>
          <p:nvPr>
            <p:ph type="ftr" sz="quarter" idx="11"/>
          </p:nvPr>
        </p:nvSpPr>
        <p:spPr/>
        <p:txBody>
          <a:bodyPr/>
          <a:lstStyle/>
          <a:p>
            <a:r>
              <a:rPr lang="en-US"/>
              <a:t>Machine Learning in Business, 3rd Ed. Copyright  © John C. Hull 2021</a:t>
            </a:r>
            <a:endParaRPr lang="en-CA"/>
          </a:p>
        </p:txBody>
      </p:sp>
      <p:sp>
        <p:nvSpPr>
          <p:cNvPr id="6" name="Slide Number Placeholder 5"/>
          <p:cNvSpPr>
            <a:spLocks noGrp="1"/>
          </p:cNvSpPr>
          <p:nvPr>
            <p:ph type="sldNum" sz="quarter" idx="12"/>
          </p:nvPr>
        </p:nvSpPr>
        <p:spPr/>
        <p:txBody>
          <a:bodyPr/>
          <a:lstStyle/>
          <a:p>
            <a:fld id="{F979D778-5668-409F-BE61-8F31D5437AFC}" type="slidenum">
              <a:rPr lang="en-CA" smtClean="0"/>
              <a:t>15</a:t>
            </a:fld>
            <a:endParaRPr lang="en-CA"/>
          </a:p>
        </p:txBody>
      </p:sp>
    </p:spTree>
    <p:extLst>
      <p:ext uri="{BB962C8B-B14F-4D97-AF65-F5344CB8AC3E}">
        <p14:creationId xmlns:p14="http://schemas.microsoft.com/office/powerpoint/2010/main" val="3688495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Lasso Results, Table 3.5 (</a:t>
            </a:r>
            <a:r>
              <a:rPr lang="en-US" dirty="0">
                <a:latin typeface="Symbol" panose="05050102010706020507" pitchFamily="18" charset="2"/>
              </a:rPr>
              <a:t>l</a:t>
            </a:r>
            <a:r>
              <a:rPr lang="en-US" dirty="0"/>
              <a:t>=1 is similar to the quadratic model)</a:t>
            </a:r>
            <a:endParaRPr lang="en-CA" dirty="0"/>
          </a:p>
        </p:txBody>
      </p:sp>
      <p:graphicFrame>
        <p:nvGraphicFramePr>
          <p:cNvPr id="3" name="Table 2"/>
          <p:cNvGraphicFramePr>
            <a:graphicFrameLocks noGrp="1"/>
          </p:cNvGraphicFramePr>
          <p:nvPr>
            <p:extLst>
              <p:ext uri="{D42A27DB-BD31-4B8C-83A1-F6EECF244321}">
                <p14:modId xmlns:p14="http://schemas.microsoft.com/office/powerpoint/2010/main" val="3795858902"/>
              </p:ext>
            </p:extLst>
          </p:nvPr>
        </p:nvGraphicFramePr>
        <p:xfrm>
          <a:off x="971600" y="2256187"/>
          <a:ext cx="7560838" cy="2396949"/>
        </p:xfrm>
        <a:graphic>
          <a:graphicData uri="http://schemas.openxmlformats.org/drawingml/2006/table">
            <a:tbl>
              <a:tblPr firstRow="1" firstCol="1" bandRow="1">
                <a:tableStyleId>{5940675A-B579-460E-94D1-54222C63F5DA}</a:tableStyleId>
              </a:tblPr>
              <a:tblGrid>
                <a:gridCol w="933437">
                  <a:extLst>
                    <a:ext uri="{9D8B030D-6E8A-4147-A177-3AD203B41FA5}">
                      <a16:colId xmlns:a16="http://schemas.microsoft.com/office/drawing/2014/main" val="20000"/>
                    </a:ext>
                  </a:extLst>
                </a:gridCol>
                <a:gridCol w="907980">
                  <a:extLst>
                    <a:ext uri="{9D8B030D-6E8A-4147-A177-3AD203B41FA5}">
                      <a16:colId xmlns:a16="http://schemas.microsoft.com/office/drawing/2014/main" val="20001"/>
                    </a:ext>
                  </a:extLst>
                </a:gridCol>
                <a:gridCol w="1091030">
                  <a:extLst>
                    <a:ext uri="{9D8B030D-6E8A-4147-A177-3AD203B41FA5}">
                      <a16:colId xmlns:a16="http://schemas.microsoft.com/office/drawing/2014/main" val="20002"/>
                    </a:ext>
                  </a:extLst>
                </a:gridCol>
                <a:gridCol w="1197709">
                  <a:extLst>
                    <a:ext uri="{9D8B030D-6E8A-4147-A177-3AD203B41FA5}">
                      <a16:colId xmlns:a16="http://schemas.microsoft.com/office/drawing/2014/main" val="20003"/>
                    </a:ext>
                  </a:extLst>
                </a:gridCol>
                <a:gridCol w="1055873">
                  <a:extLst>
                    <a:ext uri="{9D8B030D-6E8A-4147-A177-3AD203B41FA5}">
                      <a16:colId xmlns:a16="http://schemas.microsoft.com/office/drawing/2014/main" val="20004"/>
                    </a:ext>
                  </a:extLst>
                </a:gridCol>
                <a:gridCol w="1264383">
                  <a:extLst>
                    <a:ext uri="{9D8B030D-6E8A-4147-A177-3AD203B41FA5}">
                      <a16:colId xmlns:a16="http://schemas.microsoft.com/office/drawing/2014/main" val="20005"/>
                    </a:ext>
                  </a:extLst>
                </a:gridCol>
                <a:gridCol w="1110426">
                  <a:extLst>
                    <a:ext uri="{9D8B030D-6E8A-4147-A177-3AD203B41FA5}">
                      <a16:colId xmlns:a16="http://schemas.microsoft.com/office/drawing/2014/main" val="20006"/>
                    </a:ext>
                  </a:extLst>
                </a:gridCol>
              </a:tblGrid>
              <a:tr h="576063">
                <a:tc>
                  <a:txBody>
                    <a:bodyPr/>
                    <a:lstStyle/>
                    <a:p>
                      <a:pPr algn="ctr">
                        <a:lnSpc>
                          <a:spcPct val="106000"/>
                        </a:lnSpc>
                        <a:spcAft>
                          <a:spcPts val="0"/>
                        </a:spcAft>
                      </a:pPr>
                      <a:r>
                        <a:rPr lang="en-CA" sz="1600" b="1" dirty="0">
                          <a:effectLst/>
                          <a:latin typeface="Symbol" panose="05050102010706020507" pitchFamily="18" charset="2"/>
                        </a:rPr>
                        <a:t>l</a:t>
                      </a:r>
                      <a:endParaRPr lang="en-CA" sz="1600" b="1" dirty="0">
                        <a:effectLst/>
                        <a:latin typeface="Symbol" panose="05050102010706020507" pitchFamily="18" charset="2"/>
                        <a:ea typeface="Calibri"/>
                        <a:cs typeface="Times New Roman"/>
                      </a:endParaRPr>
                    </a:p>
                  </a:txBody>
                  <a:tcPr marL="68580" marR="68580" marT="0" marB="0"/>
                </a:tc>
                <a:tc>
                  <a:txBody>
                    <a:bodyPr/>
                    <a:lstStyle/>
                    <a:p>
                      <a:pPr algn="ctr">
                        <a:lnSpc>
                          <a:spcPct val="106000"/>
                        </a:lnSpc>
                        <a:spcAft>
                          <a:spcPts val="0"/>
                        </a:spcAft>
                      </a:pPr>
                      <a:r>
                        <a:rPr lang="en-CA" sz="1600" i="1" dirty="0">
                          <a:effectLst/>
                          <a:latin typeface="+mj-lt"/>
                        </a:rPr>
                        <a:t>a</a:t>
                      </a:r>
                      <a:endParaRPr lang="en-CA" sz="1600" i="1"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1600" i="1" dirty="0">
                          <a:effectLst/>
                          <a:latin typeface="+mj-lt"/>
                        </a:rPr>
                        <a:t>b</a:t>
                      </a:r>
                      <a:r>
                        <a:rPr lang="en-CA" sz="1600" i="0" baseline="-25000" dirty="0">
                          <a:effectLst/>
                          <a:latin typeface="+mj-lt"/>
                        </a:rPr>
                        <a:t>1</a:t>
                      </a:r>
                      <a:endParaRPr lang="en-CA" sz="1600" i="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1600" i="1" dirty="0">
                          <a:effectLst/>
                          <a:latin typeface="+mj-lt"/>
                        </a:rPr>
                        <a:t>b</a:t>
                      </a:r>
                      <a:r>
                        <a:rPr lang="en-CA" sz="1600" i="0" baseline="-25000" dirty="0">
                          <a:effectLst/>
                          <a:latin typeface="+mj-lt"/>
                        </a:rPr>
                        <a:t>2</a:t>
                      </a:r>
                      <a:endParaRPr lang="en-CA" sz="1600" i="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1600" i="1" dirty="0">
                          <a:effectLst/>
                          <a:latin typeface="+mj-lt"/>
                        </a:rPr>
                        <a:t>b</a:t>
                      </a:r>
                      <a:r>
                        <a:rPr lang="en-CA" sz="1600" i="0" baseline="-25000" dirty="0">
                          <a:effectLst/>
                          <a:latin typeface="+mj-lt"/>
                        </a:rPr>
                        <a:t>3</a:t>
                      </a:r>
                      <a:endParaRPr lang="en-CA" sz="1600" i="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1600" i="1" dirty="0">
                          <a:effectLst/>
                          <a:latin typeface="+mj-lt"/>
                        </a:rPr>
                        <a:t>B</a:t>
                      </a:r>
                      <a:r>
                        <a:rPr lang="en-CA" sz="1600" i="0" baseline="-25000" dirty="0">
                          <a:effectLst/>
                          <a:latin typeface="+mj-lt"/>
                        </a:rPr>
                        <a:t>4</a:t>
                      </a:r>
                      <a:endParaRPr lang="en-CA" sz="1600" i="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1600" i="1" dirty="0">
                          <a:effectLst/>
                          <a:latin typeface="+mj-lt"/>
                        </a:rPr>
                        <a:t>b</a:t>
                      </a:r>
                      <a:r>
                        <a:rPr lang="en-CA" sz="1600" i="0" baseline="-25000" dirty="0">
                          <a:effectLst/>
                          <a:latin typeface="+mj-lt"/>
                        </a:rPr>
                        <a:t>5</a:t>
                      </a:r>
                      <a:endParaRPr lang="en-CA" sz="1600" i="0" dirty="0">
                        <a:effectLst/>
                        <a:latin typeface="+mj-lt"/>
                        <a:ea typeface="Calibri"/>
                        <a:cs typeface="Times New Roman"/>
                      </a:endParaRPr>
                    </a:p>
                  </a:txBody>
                  <a:tcPr marL="68580" marR="68580" marT="0" marB="0"/>
                </a:tc>
                <a:extLst>
                  <a:ext uri="{0D108BD9-81ED-4DB2-BD59-A6C34878D82A}">
                    <a16:rowId xmlns:a16="http://schemas.microsoft.com/office/drawing/2014/main" val="10000"/>
                  </a:ext>
                </a:extLst>
              </a:tr>
              <a:tr h="432048">
                <a:tc>
                  <a:txBody>
                    <a:bodyPr/>
                    <a:lstStyle/>
                    <a:p>
                      <a:pPr algn="ctr">
                        <a:lnSpc>
                          <a:spcPct val="106000"/>
                        </a:lnSpc>
                        <a:spcAft>
                          <a:spcPts val="0"/>
                        </a:spcAft>
                        <a:tabLst>
                          <a:tab pos="1260475" algn="l"/>
                        </a:tabLst>
                      </a:pPr>
                      <a:r>
                        <a:rPr lang="en-US" sz="1600" b="1" dirty="0">
                          <a:effectLst/>
                          <a:latin typeface="Calibri"/>
                          <a:ea typeface="Calibri"/>
                          <a:cs typeface="Times New Roman"/>
                        </a:rPr>
                        <a:t>0</a:t>
                      </a:r>
                      <a:endParaRPr lang="en-CA" sz="1600" b="1" dirty="0">
                        <a:effectLst/>
                        <a:latin typeface="Calibri"/>
                        <a:ea typeface="Calibri"/>
                        <a:cs typeface="Times New Roman"/>
                      </a:endParaRPr>
                    </a:p>
                  </a:txBody>
                  <a:tcPr marL="68580" marR="68580" marT="0" marB="0"/>
                </a:tc>
                <a:tc>
                  <a:txBody>
                    <a:bodyPr/>
                    <a:lstStyle/>
                    <a:p>
                      <a:pPr algn="ctr">
                        <a:lnSpc>
                          <a:spcPct val="106000"/>
                        </a:lnSpc>
                        <a:spcAft>
                          <a:spcPts val="0"/>
                        </a:spcAft>
                        <a:tabLst>
                          <a:tab pos="1260475" algn="l"/>
                        </a:tabLst>
                      </a:pPr>
                      <a:r>
                        <a:rPr lang="en-US" sz="1600" dirty="0">
                          <a:effectLst/>
                          <a:latin typeface="+mj-lt"/>
                          <a:ea typeface="Calibri"/>
                          <a:cs typeface="Times New Roman"/>
                        </a:rPr>
                        <a:t>216.5</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1600" dirty="0">
                          <a:effectLst/>
                          <a:latin typeface="+mj-lt"/>
                          <a:ea typeface="Calibri"/>
                          <a:cs typeface="Times New Roman"/>
                        </a:rPr>
                        <a:t>−32,623</a:t>
                      </a:r>
                    </a:p>
                  </a:txBody>
                  <a:tcPr marL="68580" marR="68580" marT="0" marB="0"/>
                </a:tc>
                <a:tc>
                  <a:txBody>
                    <a:bodyPr/>
                    <a:lstStyle/>
                    <a:p>
                      <a:pPr algn="ctr">
                        <a:lnSpc>
                          <a:spcPct val="106000"/>
                        </a:lnSpc>
                        <a:spcAft>
                          <a:spcPts val="0"/>
                        </a:spcAft>
                        <a:tabLst>
                          <a:tab pos="1260475" algn="l"/>
                        </a:tabLst>
                      </a:pPr>
                      <a:r>
                        <a:rPr lang="en-US" sz="1600" dirty="0">
                          <a:effectLst/>
                          <a:latin typeface="+mj-lt"/>
                          <a:ea typeface="Calibri"/>
                          <a:cs typeface="Times New Roman"/>
                        </a:rPr>
                        <a:t>135,403</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1600" kern="1200" dirty="0">
                          <a:solidFill>
                            <a:schemeClr val="tx1"/>
                          </a:solidFill>
                          <a:effectLst/>
                          <a:latin typeface="+mj-lt"/>
                          <a:ea typeface="Calibri"/>
                          <a:cs typeface="Times New Roman"/>
                        </a:rPr>
                        <a:t>−215,493</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US" sz="1600" dirty="0">
                          <a:effectLst/>
                          <a:latin typeface="+mj-lt"/>
                          <a:ea typeface="Calibri"/>
                          <a:cs typeface="Times New Roman"/>
                        </a:rPr>
                        <a:t>155,315</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1600" kern="1200" dirty="0">
                          <a:solidFill>
                            <a:schemeClr val="tx1"/>
                          </a:solidFill>
                          <a:effectLst/>
                          <a:latin typeface="+mj-lt"/>
                          <a:ea typeface="Calibri"/>
                          <a:cs typeface="Times New Roman"/>
                        </a:rPr>
                        <a:t>−42,559</a:t>
                      </a:r>
                      <a:endParaRPr lang="en-CA" sz="1600" dirty="0">
                        <a:effectLst/>
                        <a:latin typeface="+mj-lt"/>
                        <a:ea typeface="Calibri"/>
                        <a:cs typeface="Times New Roman"/>
                      </a:endParaRPr>
                    </a:p>
                  </a:txBody>
                  <a:tcPr marL="68580" marR="68580" marT="0" marB="0"/>
                </a:tc>
                <a:extLst>
                  <a:ext uri="{0D108BD9-81ED-4DB2-BD59-A6C34878D82A}">
                    <a16:rowId xmlns:a16="http://schemas.microsoft.com/office/drawing/2014/main" val="10001"/>
                  </a:ext>
                </a:extLst>
              </a:tr>
              <a:tr h="432048">
                <a:tc>
                  <a:txBody>
                    <a:bodyPr/>
                    <a:lstStyle/>
                    <a:p>
                      <a:pPr algn="ctr">
                        <a:lnSpc>
                          <a:spcPct val="106000"/>
                        </a:lnSpc>
                        <a:spcAft>
                          <a:spcPts val="0"/>
                        </a:spcAft>
                      </a:pPr>
                      <a:r>
                        <a:rPr lang="en-CA" sz="1600" b="1" dirty="0">
                          <a:effectLst/>
                          <a:latin typeface="+mj-lt"/>
                        </a:rPr>
                        <a:t>0.02</a:t>
                      </a:r>
                      <a:endParaRPr lang="en-CA" sz="1600" b="1"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1600" dirty="0">
                          <a:effectLst/>
                          <a:latin typeface="+mj-lt"/>
                        </a:rPr>
                        <a:t>216.5</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1600" dirty="0">
                          <a:effectLst/>
                          <a:latin typeface="+mj-lt"/>
                        </a:rPr>
                        <a:t>−646.4</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1600" dirty="0">
                          <a:effectLst/>
                          <a:latin typeface="+mj-lt"/>
                        </a:rPr>
                        <a:t>2,046.6</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1600" dirty="0">
                          <a:effectLst/>
                          <a:latin typeface="+mj-lt"/>
                        </a:rPr>
                        <a:t>0.0</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1600" dirty="0">
                          <a:effectLst/>
                          <a:latin typeface="+mj-lt"/>
                        </a:rPr>
                        <a:t>−3,351.0</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1600" dirty="0">
                          <a:effectLst/>
                          <a:latin typeface="+mj-lt"/>
                        </a:rPr>
                        <a:t>2,007.9</a:t>
                      </a:r>
                      <a:endParaRPr lang="en-CA" sz="1600" dirty="0">
                        <a:effectLst/>
                        <a:latin typeface="+mj-lt"/>
                        <a:ea typeface="Calibri"/>
                        <a:cs typeface="Times New Roman"/>
                      </a:endParaRPr>
                    </a:p>
                  </a:txBody>
                  <a:tcPr marL="68580" marR="68580" marT="0" marB="0"/>
                </a:tc>
                <a:extLst>
                  <a:ext uri="{0D108BD9-81ED-4DB2-BD59-A6C34878D82A}">
                    <a16:rowId xmlns:a16="http://schemas.microsoft.com/office/drawing/2014/main" val="10002"/>
                  </a:ext>
                </a:extLst>
              </a:tr>
              <a:tr h="432048">
                <a:tc>
                  <a:txBody>
                    <a:bodyPr/>
                    <a:lstStyle/>
                    <a:p>
                      <a:pPr algn="ctr">
                        <a:lnSpc>
                          <a:spcPct val="106000"/>
                        </a:lnSpc>
                        <a:spcAft>
                          <a:spcPts val="0"/>
                        </a:spcAft>
                      </a:pPr>
                      <a:r>
                        <a:rPr lang="en-CA" sz="1600" b="1">
                          <a:effectLst/>
                          <a:latin typeface="+mj-lt"/>
                        </a:rPr>
                        <a:t>0.1</a:t>
                      </a:r>
                      <a:endParaRPr lang="en-CA" sz="1600" b="1">
                        <a:effectLst/>
                        <a:latin typeface="+mj-lt"/>
                        <a:ea typeface="Calibri"/>
                        <a:cs typeface="Times New Roman"/>
                      </a:endParaRPr>
                    </a:p>
                  </a:txBody>
                  <a:tcPr marL="68580" marR="68580" marT="0" marB="0"/>
                </a:tc>
                <a:tc>
                  <a:txBody>
                    <a:bodyPr/>
                    <a:lstStyle/>
                    <a:p>
                      <a:pPr algn="ctr">
                        <a:lnSpc>
                          <a:spcPct val="106000"/>
                        </a:lnSpc>
                        <a:spcAft>
                          <a:spcPts val="0"/>
                        </a:spcAft>
                      </a:pPr>
                      <a:r>
                        <a:rPr lang="en-CA" sz="1600">
                          <a:effectLst/>
                          <a:latin typeface="+mj-lt"/>
                        </a:rPr>
                        <a:t>216.5</a:t>
                      </a:r>
                      <a:endParaRPr lang="en-CA" sz="1600">
                        <a:effectLst/>
                        <a:latin typeface="+mj-lt"/>
                        <a:ea typeface="Calibri"/>
                        <a:cs typeface="Times New Roman"/>
                      </a:endParaRPr>
                    </a:p>
                  </a:txBody>
                  <a:tcPr marL="68580" marR="68580" marT="0" marB="0"/>
                </a:tc>
                <a:tc>
                  <a:txBody>
                    <a:bodyPr/>
                    <a:lstStyle/>
                    <a:p>
                      <a:pPr algn="ctr">
                        <a:lnSpc>
                          <a:spcPct val="106000"/>
                        </a:lnSpc>
                        <a:spcAft>
                          <a:spcPts val="0"/>
                        </a:spcAft>
                      </a:pPr>
                      <a:r>
                        <a:rPr lang="en-CA" sz="1600">
                          <a:effectLst/>
                          <a:latin typeface="+mj-lt"/>
                        </a:rPr>
                        <a:t>355.4</a:t>
                      </a:r>
                      <a:endParaRPr lang="en-CA" sz="1600">
                        <a:effectLst/>
                        <a:latin typeface="+mj-lt"/>
                        <a:ea typeface="Calibri"/>
                        <a:cs typeface="Times New Roman"/>
                      </a:endParaRPr>
                    </a:p>
                  </a:txBody>
                  <a:tcPr marL="68580" marR="68580" marT="0" marB="0"/>
                </a:tc>
                <a:tc>
                  <a:txBody>
                    <a:bodyPr/>
                    <a:lstStyle/>
                    <a:p>
                      <a:pPr algn="ctr">
                        <a:lnSpc>
                          <a:spcPct val="106000"/>
                        </a:lnSpc>
                        <a:spcAft>
                          <a:spcPts val="0"/>
                        </a:spcAft>
                      </a:pPr>
                      <a:r>
                        <a:rPr lang="en-CA" sz="1600" dirty="0">
                          <a:effectLst/>
                          <a:latin typeface="+mj-lt"/>
                        </a:rPr>
                        <a:t>0.0</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1600" dirty="0">
                          <a:effectLst/>
                          <a:latin typeface="+mj-lt"/>
                        </a:rPr>
                        <a:t>−494.8</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1600">
                          <a:effectLst/>
                          <a:latin typeface="+mj-lt"/>
                        </a:rPr>
                        <a:t>0.0</a:t>
                      </a:r>
                      <a:endParaRPr lang="en-CA" sz="1600">
                        <a:effectLst/>
                        <a:latin typeface="+mj-lt"/>
                        <a:ea typeface="Calibri"/>
                        <a:cs typeface="Times New Roman"/>
                      </a:endParaRPr>
                    </a:p>
                  </a:txBody>
                  <a:tcPr marL="68580" marR="68580" marT="0" marB="0"/>
                </a:tc>
                <a:tc>
                  <a:txBody>
                    <a:bodyPr/>
                    <a:lstStyle/>
                    <a:p>
                      <a:pPr algn="ctr">
                        <a:lnSpc>
                          <a:spcPct val="106000"/>
                        </a:lnSpc>
                        <a:spcAft>
                          <a:spcPts val="0"/>
                        </a:spcAft>
                      </a:pPr>
                      <a:r>
                        <a:rPr lang="en-CA" sz="1600">
                          <a:effectLst/>
                          <a:latin typeface="+mj-lt"/>
                        </a:rPr>
                        <a:t>196.5</a:t>
                      </a:r>
                      <a:endParaRPr lang="en-CA" sz="1600">
                        <a:effectLst/>
                        <a:latin typeface="+mj-lt"/>
                        <a:ea typeface="Calibri"/>
                        <a:cs typeface="Times New Roman"/>
                      </a:endParaRPr>
                    </a:p>
                  </a:txBody>
                  <a:tcPr marL="68580" marR="68580" marT="0" marB="0"/>
                </a:tc>
                <a:extLst>
                  <a:ext uri="{0D108BD9-81ED-4DB2-BD59-A6C34878D82A}">
                    <a16:rowId xmlns:a16="http://schemas.microsoft.com/office/drawing/2014/main" val="10003"/>
                  </a:ext>
                </a:extLst>
              </a:tr>
              <a:tr h="524742">
                <a:tc>
                  <a:txBody>
                    <a:bodyPr/>
                    <a:lstStyle/>
                    <a:p>
                      <a:pPr algn="ctr">
                        <a:lnSpc>
                          <a:spcPct val="106000"/>
                        </a:lnSpc>
                        <a:spcAft>
                          <a:spcPts val="0"/>
                        </a:spcAft>
                      </a:pPr>
                      <a:r>
                        <a:rPr lang="en-CA" sz="1600" b="1" dirty="0">
                          <a:effectLst/>
                          <a:latin typeface="+mj-lt"/>
                        </a:rPr>
                        <a:t>1</a:t>
                      </a:r>
                      <a:endParaRPr lang="en-CA" sz="1600" b="1"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1600">
                          <a:effectLst/>
                          <a:latin typeface="+mj-lt"/>
                        </a:rPr>
                        <a:t>216.5</a:t>
                      </a:r>
                      <a:endParaRPr lang="en-CA" sz="1600">
                        <a:effectLst/>
                        <a:latin typeface="+mj-lt"/>
                        <a:ea typeface="Calibri"/>
                        <a:cs typeface="Times New Roman"/>
                      </a:endParaRPr>
                    </a:p>
                  </a:txBody>
                  <a:tcPr marL="68580" marR="68580" marT="0" marB="0"/>
                </a:tc>
                <a:tc>
                  <a:txBody>
                    <a:bodyPr/>
                    <a:lstStyle/>
                    <a:p>
                      <a:pPr algn="ctr">
                        <a:lnSpc>
                          <a:spcPct val="106000"/>
                        </a:lnSpc>
                        <a:spcAft>
                          <a:spcPts val="0"/>
                        </a:spcAft>
                      </a:pPr>
                      <a:r>
                        <a:rPr lang="en-CA" sz="1600">
                          <a:effectLst/>
                          <a:latin typeface="+mj-lt"/>
                        </a:rPr>
                        <a:t>147.4</a:t>
                      </a:r>
                      <a:endParaRPr lang="en-CA" sz="1600">
                        <a:effectLst/>
                        <a:latin typeface="+mj-lt"/>
                        <a:ea typeface="Calibri"/>
                        <a:cs typeface="Times New Roman"/>
                      </a:endParaRPr>
                    </a:p>
                  </a:txBody>
                  <a:tcPr marL="68580" marR="68580" marT="0" marB="0"/>
                </a:tc>
                <a:tc>
                  <a:txBody>
                    <a:bodyPr/>
                    <a:lstStyle/>
                    <a:p>
                      <a:pPr algn="ctr">
                        <a:lnSpc>
                          <a:spcPct val="106000"/>
                        </a:lnSpc>
                        <a:spcAft>
                          <a:spcPts val="0"/>
                        </a:spcAft>
                      </a:pPr>
                      <a:r>
                        <a:rPr lang="en-CA" sz="1600">
                          <a:effectLst/>
                          <a:latin typeface="+mj-lt"/>
                        </a:rPr>
                        <a:t>0.0</a:t>
                      </a:r>
                      <a:endParaRPr lang="en-CA" sz="1600">
                        <a:effectLst/>
                        <a:latin typeface="+mj-lt"/>
                        <a:ea typeface="Calibri"/>
                        <a:cs typeface="Times New Roman"/>
                      </a:endParaRPr>
                    </a:p>
                  </a:txBody>
                  <a:tcPr marL="68580" marR="68580" marT="0" marB="0"/>
                </a:tc>
                <a:tc>
                  <a:txBody>
                    <a:bodyPr/>
                    <a:lstStyle/>
                    <a:p>
                      <a:pPr algn="ctr">
                        <a:lnSpc>
                          <a:spcPct val="106000"/>
                        </a:lnSpc>
                        <a:spcAft>
                          <a:spcPts val="0"/>
                        </a:spcAft>
                      </a:pPr>
                      <a:r>
                        <a:rPr lang="en-CA" sz="1600">
                          <a:effectLst/>
                          <a:latin typeface="+mj-lt"/>
                        </a:rPr>
                        <a:t>0.0</a:t>
                      </a:r>
                      <a:endParaRPr lang="en-CA" sz="1600">
                        <a:effectLst/>
                        <a:latin typeface="+mj-lt"/>
                        <a:ea typeface="Calibri"/>
                        <a:cs typeface="Times New Roman"/>
                      </a:endParaRPr>
                    </a:p>
                  </a:txBody>
                  <a:tcPr marL="68580" marR="68580" marT="0" marB="0"/>
                </a:tc>
                <a:tc>
                  <a:txBody>
                    <a:bodyPr/>
                    <a:lstStyle/>
                    <a:p>
                      <a:pPr algn="ctr">
                        <a:lnSpc>
                          <a:spcPct val="106000"/>
                        </a:lnSpc>
                        <a:spcAft>
                          <a:spcPts val="0"/>
                        </a:spcAft>
                      </a:pPr>
                      <a:r>
                        <a:rPr lang="en-CA" sz="1600" dirty="0">
                          <a:effectLst/>
                          <a:latin typeface="+mj-lt"/>
                        </a:rPr>
                        <a:t>−99.3</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1600" dirty="0">
                          <a:effectLst/>
                          <a:latin typeface="+mj-lt"/>
                        </a:rPr>
                        <a:t>0.0</a:t>
                      </a:r>
                      <a:endParaRPr lang="en-CA" sz="1600" dirty="0">
                        <a:effectLst/>
                        <a:latin typeface="+mj-lt"/>
                        <a:ea typeface="Calibri"/>
                        <a:cs typeface="Times New Roman"/>
                      </a:endParaRPr>
                    </a:p>
                  </a:txBody>
                  <a:tcPr marL="68580" marR="68580" marT="0" marB="0"/>
                </a:tc>
                <a:extLst>
                  <a:ext uri="{0D108BD9-81ED-4DB2-BD59-A6C34878D82A}">
                    <a16:rowId xmlns:a16="http://schemas.microsoft.com/office/drawing/2014/main" val="10004"/>
                  </a:ext>
                </a:extLst>
              </a:tr>
            </a:tbl>
          </a:graphicData>
        </a:graphic>
      </p:graphicFrame>
      <p:sp>
        <p:nvSpPr>
          <p:cNvPr id="4" name="Rectangle 1"/>
          <p:cNvSpPr>
            <a:spLocks noChangeArrowheads="1"/>
          </p:cNvSpPr>
          <p:nvPr/>
        </p:nvSpPr>
        <p:spPr bwMode="auto">
          <a:xfrm>
            <a:off x="2590800" y="35829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CA" altLang="en-US" sz="1100" b="0" i="0" u="none" strike="noStrike" cap="none" normalizeH="0" baseline="0">
                <a:ln>
                  <a:noFill/>
                </a:ln>
                <a:solidFill>
                  <a:schemeClr val="tx1"/>
                </a:solidFill>
                <a:effectLst/>
                <a:latin typeface="Cambria" pitchFamily="18" charset="0"/>
                <a:ea typeface="Calibri" pitchFamily="34" charset="0"/>
                <a:cs typeface="Times New Roman" pitchFamily="18" charset="0"/>
              </a:rPr>
              <a:t>	</a:t>
            </a:r>
            <a:endParaRPr kumimoji="0" lang="en-CA" altLang="en-US" sz="1800" b="0" i="0" u="none" strike="noStrike" cap="none" normalizeH="0" baseline="0">
              <a:ln>
                <a:noFill/>
              </a:ln>
              <a:solidFill>
                <a:schemeClr val="tx1"/>
              </a:solidFill>
              <a:effectLst/>
              <a:latin typeface="Arial" pitchFamily="34" charset="0"/>
              <a:cs typeface="Arial" pitchFamily="34" charset="0"/>
            </a:endParaRPr>
          </a:p>
        </p:txBody>
      </p:sp>
      <p:sp>
        <p:nvSpPr>
          <p:cNvPr id="5" name="Footer Placeholder 4"/>
          <p:cNvSpPr>
            <a:spLocks noGrp="1"/>
          </p:cNvSpPr>
          <p:nvPr>
            <p:ph type="ftr" sz="quarter" idx="11"/>
          </p:nvPr>
        </p:nvSpPr>
        <p:spPr/>
        <p:txBody>
          <a:bodyPr/>
          <a:lstStyle/>
          <a:p>
            <a:r>
              <a:rPr lang="en-US"/>
              <a:t>Machine Learning in Business, 3rd Ed. Copyright  © John C. Hull 2021</a:t>
            </a:r>
            <a:endParaRPr lang="en-CA"/>
          </a:p>
        </p:txBody>
      </p:sp>
      <p:sp>
        <p:nvSpPr>
          <p:cNvPr id="6" name="Slide Number Placeholder 5"/>
          <p:cNvSpPr>
            <a:spLocks noGrp="1"/>
          </p:cNvSpPr>
          <p:nvPr>
            <p:ph type="sldNum" sz="quarter" idx="12"/>
          </p:nvPr>
        </p:nvSpPr>
        <p:spPr/>
        <p:txBody>
          <a:bodyPr/>
          <a:lstStyle/>
          <a:p>
            <a:fld id="{F979D778-5668-409F-BE61-8F31D5437AFC}" type="slidenum">
              <a:rPr lang="en-CA" smtClean="0"/>
              <a:t>16</a:t>
            </a:fld>
            <a:endParaRPr lang="en-CA"/>
          </a:p>
        </p:txBody>
      </p:sp>
    </p:spTree>
    <p:extLst>
      <p:ext uri="{BB962C8B-B14F-4D97-AF65-F5344CB8AC3E}">
        <p14:creationId xmlns:p14="http://schemas.microsoft.com/office/powerpoint/2010/main" val="20511353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Elastic Net Results: </a:t>
            </a:r>
            <a:r>
              <a:rPr lang="en-US" i="0" dirty="0">
                <a:latin typeface="Symbol" panose="05050102010706020507" pitchFamily="18" charset="2"/>
              </a:rPr>
              <a:t>l</a:t>
            </a:r>
            <a:r>
              <a:rPr lang="en-US" baseline="-25000" dirty="0"/>
              <a:t>1</a:t>
            </a:r>
            <a:r>
              <a:rPr lang="en-US" dirty="0"/>
              <a:t> = 0.02, </a:t>
            </a:r>
            <a:r>
              <a:rPr lang="en-US" i="0" dirty="0">
                <a:latin typeface="Symbol" panose="05050102010706020507" pitchFamily="18" charset="2"/>
              </a:rPr>
              <a:t>l</a:t>
            </a:r>
            <a:r>
              <a:rPr lang="en-US" baseline="-25000" dirty="0"/>
              <a:t>2</a:t>
            </a:r>
            <a:r>
              <a:rPr lang="en-US" dirty="0"/>
              <a:t>=1</a:t>
            </a:r>
            <a:endParaRPr lang="en-CA" dirty="0"/>
          </a:p>
        </p:txBody>
      </p:sp>
      <mc:AlternateContent xmlns:mc="http://schemas.openxmlformats.org/markup-compatibility/2006" xmlns:a14="http://schemas.microsoft.com/office/drawing/2010/main">
        <mc:Choice Requires="a14">
          <p:sp>
            <p:nvSpPr>
              <p:cNvPr id="3" name="Rectangle 2"/>
              <p:cNvSpPr/>
              <p:nvPr/>
            </p:nvSpPr>
            <p:spPr>
              <a:xfrm>
                <a:off x="827584" y="3080122"/>
                <a:ext cx="7056784" cy="49872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CA" sz="2400" i="1">
                          <a:latin typeface="Cambria Math"/>
                        </a:rPr>
                        <m:t>𝑌</m:t>
                      </m:r>
                      <m:r>
                        <a:rPr lang="en-CA" sz="2400" i="1">
                          <a:latin typeface="Cambria Math"/>
                        </a:rPr>
                        <m:t>=216.5+96.7</m:t>
                      </m:r>
                      <m:r>
                        <a:rPr lang="en-CA" sz="2400" i="1">
                          <a:latin typeface="Cambria Math"/>
                        </a:rPr>
                        <m:t>𝑋</m:t>
                      </m:r>
                      <m:r>
                        <a:rPr lang="en-CA" sz="2400" i="1">
                          <a:latin typeface="Cambria Math"/>
                        </a:rPr>
                        <m:t>+21.1</m:t>
                      </m:r>
                      <m:sSup>
                        <m:sSupPr>
                          <m:ctrlPr>
                            <a:rPr lang="en-CA" sz="2400" i="1">
                              <a:latin typeface="Cambria Math" panose="02040503050406030204" pitchFamily="18" charset="0"/>
                            </a:rPr>
                          </m:ctrlPr>
                        </m:sSupPr>
                        <m:e>
                          <m:r>
                            <a:rPr lang="en-CA" sz="2400" i="1">
                              <a:latin typeface="Cambria Math"/>
                            </a:rPr>
                            <m:t>𝑋</m:t>
                          </m:r>
                        </m:e>
                        <m:sup>
                          <m:r>
                            <a:rPr lang="en-CA" sz="2400" i="1">
                              <a:latin typeface="Cambria Math"/>
                            </a:rPr>
                            <m:t>2</m:t>
                          </m:r>
                        </m:sup>
                      </m:sSup>
                      <m:r>
                        <a:rPr lang="en-CA" sz="2400" i="1">
                          <a:latin typeface="Cambria Math"/>
                        </a:rPr>
                        <m:t>−26.0</m:t>
                      </m:r>
                      <m:sSup>
                        <m:sSupPr>
                          <m:ctrlPr>
                            <a:rPr lang="en-CA" sz="2400" i="1">
                              <a:latin typeface="Cambria Math" panose="02040503050406030204" pitchFamily="18" charset="0"/>
                            </a:rPr>
                          </m:ctrlPr>
                        </m:sSupPr>
                        <m:e>
                          <m:r>
                            <a:rPr lang="en-CA" sz="2400" i="1">
                              <a:latin typeface="Cambria Math"/>
                            </a:rPr>
                            <m:t>𝑋</m:t>
                          </m:r>
                        </m:e>
                        <m:sup>
                          <m:r>
                            <a:rPr lang="en-CA" sz="2400" i="1">
                              <a:latin typeface="Cambria Math"/>
                            </a:rPr>
                            <m:t>4</m:t>
                          </m:r>
                        </m:sup>
                      </m:sSup>
                      <m:r>
                        <a:rPr lang="en-CA" sz="2400" i="1">
                          <a:latin typeface="Cambria Math"/>
                        </a:rPr>
                        <m:t>−45.5</m:t>
                      </m:r>
                      <m:sSup>
                        <m:sSupPr>
                          <m:ctrlPr>
                            <a:rPr lang="en-CA" sz="2400" i="1">
                              <a:latin typeface="Cambria Math" panose="02040503050406030204" pitchFamily="18" charset="0"/>
                            </a:rPr>
                          </m:ctrlPr>
                        </m:sSupPr>
                        <m:e>
                          <m:r>
                            <a:rPr lang="en-CA" sz="2400" i="1">
                              <a:latin typeface="Cambria Math"/>
                            </a:rPr>
                            <m:t>𝑋</m:t>
                          </m:r>
                        </m:e>
                        <m:sup>
                          <m:r>
                            <a:rPr lang="en-CA" sz="2400" i="1">
                              <a:latin typeface="Cambria Math"/>
                            </a:rPr>
                            <m:t>5</m:t>
                          </m:r>
                        </m:sup>
                      </m:sSup>
                    </m:oMath>
                  </m:oMathPara>
                </a14:m>
                <a:endParaRPr lang="en-CA" sz="2400" dirty="0"/>
              </a:p>
            </p:txBody>
          </p:sp>
        </mc:Choice>
        <mc:Fallback xmlns="">
          <p:sp>
            <p:nvSpPr>
              <p:cNvPr id="3" name="Rectangle 2"/>
              <p:cNvSpPr>
                <a:spLocks noRot="1" noChangeAspect="1" noMove="1" noResize="1" noEditPoints="1" noAdjustHandles="1" noChangeArrowheads="1" noChangeShapeType="1" noTextEdit="1"/>
              </p:cNvSpPr>
              <p:nvPr/>
            </p:nvSpPr>
            <p:spPr>
              <a:xfrm>
                <a:off x="827584" y="3080122"/>
                <a:ext cx="7056784" cy="498726"/>
              </a:xfrm>
              <a:prstGeom prst="rect">
                <a:avLst/>
              </a:prstGeom>
              <a:blipFill rotWithShape="1">
                <a:blip r:embed="rId2"/>
                <a:stretch>
                  <a:fillRect/>
                </a:stretch>
              </a:blipFill>
            </p:spPr>
            <p:txBody>
              <a:bodyPr/>
              <a:lstStyle/>
              <a:p>
                <a:r>
                  <a:rPr lang="en-CA">
                    <a:noFill/>
                  </a:rPr>
                  <a:t> </a:t>
                </a:r>
              </a:p>
            </p:txBody>
          </p:sp>
        </mc:Fallback>
      </mc:AlternateContent>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17</a:t>
            </a:fld>
            <a:endParaRPr lang="en-CA"/>
          </a:p>
        </p:txBody>
      </p:sp>
    </p:spTree>
    <p:extLst>
      <p:ext uri="{BB962C8B-B14F-4D97-AF65-F5344CB8AC3E}">
        <p14:creationId xmlns:p14="http://schemas.microsoft.com/office/powerpoint/2010/main" val="2755503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Iowa House Price Case Study</a:t>
            </a:r>
            <a:endParaRPr lang="en-CA" dirty="0"/>
          </a:p>
        </p:txBody>
      </p:sp>
      <p:sp>
        <p:nvSpPr>
          <p:cNvPr id="3" name="Content Placeholder 2"/>
          <p:cNvSpPr>
            <a:spLocks noGrp="1"/>
          </p:cNvSpPr>
          <p:nvPr>
            <p:ph idx="1"/>
          </p:nvPr>
        </p:nvSpPr>
        <p:spPr/>
        <p:txBody>
          <a:bodyPr/>
          <a:lstStyle/>
          <a:p>
            <a:r>
              <a:rPr lang="en-US" dirty="0"/>
              <a:t>The objective is to predict the prices of houses in Iowa from features</a:t>
            </a:r>
          </a:p>
          <a:p>
            <a:r>
              <a:rPr lang="en-US" dirty="0"/>
              <a:t>800 observations in training set, 600 in validation set, and 508 in test set</a:t>
            </a:r>
            <a:endParaRPr lang="en-CA"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18</a:t>
            </a:fld>
            <a:endParaRPr lang="en-CA"/>
          </a:p>
        </p:txBody>
      </p:sp>
    </p:spTree>
    <p:extLst>
      <p:ext uri="{BB962C8B-B14F-4D97-AF65-F5344CB8AC3E}">
        <p14:creationId xmlns:p14="http://schemas.microsoft.com/office/powerpoint/2010/main" val="26756524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01802"/>
            <a:ext cx="8591872" cy="1143000"/>
          </a:xfrm>
        </p:spPr>
        <p:txBody>
          <a:bodyPr/>
          <a:lstStyle/>
          <a:p>
            <a:r>
              <a:rPr lang="en-US" dirty="0"/>
              <a:t>Iowa House Price Results (No regularization)</a:t>
            </a:r>
            <a:endParaRPr lang="en-CA" dirty="0"/>
          </a:p>
        </p:txBody>
      </p:sp>
      <p:sp>
        <p:nvSpPr>
          <p:cNvPr id="3" name="Content Placeholder 2"/>
          <p:cNvSpPr>
            <a:spLocks noGrp="1"/>
          </p:cNvSpPr>
          <p:nvPr>
            <p:ph idx="1"/>
          </p:nvPr>
        </p:nvSpPr>
        <p:spPr>
          <a:xfrm>
            <a:off x="685800" y="1540787"/>
            <a:ext cx="7772400" cy="4114800"/>
          </a:xfrm>
        </p:spPr>
        <p:txBody>
          <a:bodyPr/>
          <a:lstStyle/>
          <a:p>
            <a:pPr marL="0" indent="0">
              <a:buNone/>
            </a:pPr>
            <a:r>
              <a:rPr lang="en-US" dirty="0"/>
              <a:t>2 categorical variables included. Natural ordering for Basement quality. 25 dummy variables created for neighborhood</a:t>
            </a:r>
            <a:endParaRPr lang="en-CA"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2E8C09BE-1715-42CA-A91A-E7B0E09A3015}" type="slidenum">
              <a:rPr lang="en-CA" smtClean="0"/>
              <a:t>19</a:t>
            </a:fld>
            <a:endParaRPr lang="en-CA"/>
          </a:p>
        </p:txBody>
      </p:sp>
      <p:graphicFrame>
        <p:nvGraphicFramePr>
          <p:cNvPr id="6" name="Table 5"/>
          <p:cNvGraphicFramePr>
            <a:graphicFrameLocks noGrp="1"/>
          </p:cNvGraphicFramePr>
          <p:nvPr>
            <p:extLst>
              <p:ext uri="{D42A27DB-BD31-4B8C-83A1-F6EECF244321}">
                <p14:modId xmlns:p14="http://schemas.microsoft.com/office/powerpoint/2010/main" val="596905538"/>
              </p:ext>
            </p:extLst>
          </p:nvPr>
        </p:nvGraphicFramePr>
        <p:xfrm>
          <a:off x="838925" y="2576334"/>
          <a:ext cx="6096000" cy="3574276"/>
        </p:xfrm>
        <a:graphic>
          <a:graphicData uri="http://schemas.openxmlformats.org/drawingml/2006/table">
            <a:tbl>
              <a:tblPr firstRow="1" bandRow="1">
                <a:tableStyleId>{5940675A-B579-460E-94D1-54222C63F5DA}</a:tableStyleId>
              </a:tblPr>
              <a:tblGrid>
                <a:gridCol w="3048000">
                  <a:extLst>
                    <a:ext uri="{9D8B030D-6E8A-4147-A177-3AD203B41FA5}">
                      <a16:colId xmlns:a16="http://schemas.microsoft.com/office/drawing/2014/main" val="155100773"/>
                    </a:ext>
                  </a:extLst>
                </a:gridCol>
                <a:gridCol w="3048000">
                  <a:extLst>
                    <a:ext uri="{9D8B030D-6E8A-4147-A177-3AD203B41FA5}">
                      <a16:colId xmlns:a16="http://schemas.microsoft.com/office/drawing/2014/main" val="3097741650"/>
                    </a:ext>
                  </a:extLst>
                </a:gridCol>
              </a:tblGrid>
              <a:tr h="278130">
                <a:tc>
                  <a:txBody>
                    <a:bodyPr/>
                    <a:lstStyle/>
                    <a:p>
                      <a:r>
                        <a:rPr lang="en-CA" sz="1000" dirty="0"/>
                        <a:t>Lot area (</a:t>
                      </a:r>
                      <a:r>
                        <a:rPr lang="en-CA" sz="1000" dirty="0" err="1"/>
                        <a:t>squ</a:t>
                      </a:r>
                      <a:r>
                        <a:rPr lang="en-CA" sz="1000" dirty="0"/>
                        <a:t> </a:t>
                      </a:r>
                      <a:r>
                        <a:rPr lang="en-CA" sz="1000" dirty="0" err="1"/>
                        <a:t>ft</a:t>
                      </a:r>
                      <a:r>
                        <a:rPr lang="en-CA" sz="1000" dirty="0"/>
                        <a:t>)                                        0.08</a:t>
                      </a:r>
                    </a:p>
                  </a:txBody>
                  <a:tcPr marL="68580" marR="68580" marT="34290" marB="34290"/>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CA" sz="1000" dirty="0"/>
                        <a:t>Number</a:t>
                      </a:r>
                      <a:r>
                        <a:rPr lang="en-CA" sz="1000" baseline="0" dirty="0"/>
                        <a:t> of</a:t>
                      </a:r>
                      <a:r>
                        <a:rPr lang="en-CA" sz="1000" dirty="0"/>
                        <a:t> half bathrooms                            0.02</a:t>
                      </a:r>
                    </a:p>
                  </a:txBody>
                  <a:tcPr marL="68580" marR="68580" marT="34290" marB="34290"/>
                </a:tc>
                <a:extLst>
                  <a:ext uri="{0D108BD9-81ED-4DB2-BD59-A6C34878D82A}">
                    <a16:rowId xmlns:a16="http://schemas.microsoft.com/office/drawing/2014/main" val="3843894096"/>
                  </a:ext>
                </a:extLst>
              </a:tr>
              <a:tr h="278130">
                <a:tc>
                  <a:txBody>
                    <a:bodyPr/>
                    <a:lstStyle/>
                    <a:p>
                      <a:r>
                        <a:rPr lang="en-CA" sz="1000" dirty="0"/>
                        <a:t>Overall quality (scale from 1 to 10)             </a:t>
                      </a:r>
                      <a:r>
                        <a:rPr lang="en-CA" sz="1000" baseline="0" dirty="0"/>
                        <a:t> </a:t>
                      </a:r>
                      <a:r>
                        <a:rPr lang="en-CA" sz="1000" dirty="0"/>
                        <a:t>0.21</a:t>
                      </a:r>
                    </a:p>
                  </a:txBody>
                  <a:tcPr marL="68580" marR="68580" marT="34290" marB="34290"/>
                </a:tc>
                <a:tc>
                  <a:txBody>
                    <a:bodyPr/>
                    <a:lstStyle/>
                    <a:p>
                      <a:r>
                        <a:rPr lang="en-CA" sz="1000" dirty="0"/>
                        <a:t>Number of bedrooms                                  −0.08</a:t>
                      </a:r>
                    </a:p>
                  </a:txBody>
                  <a:tcPr marL="68580" marR="68580" marT="34290" marB="34290"/>
                </a:tc>
                <a:extLst>
                  <a:ext uri="{0D108BD9-81ED-4DB2-BD59-A6C34878D82A}">
                    <a16:rowId xmlns:a16="http://schemas.microsoft.com/office/drawing/2014/main" val="3049408159"/>
                  </a:ext>
                </a:extLst>
              </a:tr>
              <a:tr h="27813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CA" sz="1000" dirty="0"/>
                        <a:t>Overall condition (scale from 1 to 10)          0.10</a:t>
                      </a:r>
                    </a:p>
                  </a:txBody>
                  <a:tcPr marL="68580" marR="68580" marT="34290" marB="34290"/>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CA" sz="1000" dirty="0"/>
                        <a:t>Total rooms above grade                              0.08</a:t>
                      </a:r>
                    </a:p>
                  </a:txBody>
                  <a:tcPr marL="68580" marR="68580" marT="34290" marB="34290"/>
                </a:tc>
                <a:extLst>
                  <a:ext uri="{0D108BD9-81ED-4DB2-BD59-A6C34878D82A}">
                    <a16:rowId xmlns:a16="http://schemas.microsoft.com/office/drawing/2014/main" val="84872482"/>
                  </a:ext>
                </a:extLst>
              </a:tr>
              <a:tr h="278130">
                <a:tc>
                  <a:txBody>
                    <a:bodyPr/>
                    <a:lstStyle/>
                    <a:p>
                      <a:r>
                        <a:rPr lang="en-CA" sz="1000" dirty="0"/>
                        <a:t>Year built                                                  0.16</a:t>
                      </a:r>
                    </a:p>
                  </a:txBody>
                  <a:tcPr marL="68580" marR="68580" marT="34290" marB="34290"/>
                </a:tc>
                <a:tc>
                  <a:txBody>
                    <a:bodyPr/>
                    <a:lstStyle/>
                    <a:p>
                      <a:r>
                        <a:rPr lang="en-CA" sz="1000" dirty="0"/>
                        <a:t>Number of fireplaces                                    0.03</a:t>
                      </a:r>
                    </a:p>
                  </a:txBody>
                  <a:tcPr marL="68580" marR="68580" marT="34290" marB="34290"/>
                </a:tc>
                <a:extLst>
                  <a:ext uri="{0D108BD9-81ED-4DB2-BD59-A6C34878D82A}">
                    <a16:rowId xmlns:a16="http://schemas.microsoft.com/office/drawing/2014/main" val="3767584082"/>
                  </a:ext>
                </a:extLst>
              </a:tr>
              <a:tr h="324346">
                <a:tc>
                  <a:txBody>
                    <a:bodyPr/>
                    <a:lstStyle/>
                    <a:p>
                      <a:r>
                        <a:rPr lang="en-CA" sz="1000" dirty="0"/>
                        <a:t>Year remodeled                                         0.03</a:t>
                      </a:r>
                    </a:p>
                  </a:txBody>
                  <a:tcPr marL="68580" marR="68580" marT="34290" marB="34290"/>
                </a:tc>
                <a:tc>
                  <a:txBody>
                    <a:bodyPr/>
                    <a:lstStyle/>
                    <a:p>
                      <a:r>
                        <a:rPr lang="en-CA" sz="1000" dirty="0"/>
                        <a:t>Parking spaces in garage                              0.04</a:t>
                      </a:r>
                    </a:p>
                  </a:txBody>
                  <a:tcPr marL="68580" marR="68580" marT="34290" marB="34290"/>
                </a:tc>
                <a:extLst>
                  <a:ext uri="{0D108BD9-81ED-4DB2-BD59-A6C34878D82A}">
                    <a16:rowId xmlns:a16="http://schemas.microsoft.com/office/drawing/2014/main" val="438649923"/>
                  </a:ext>
                </a:extLst>
              </a:tr>
              <a:tr h="27813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CA" sz="1000" dirty="0"/>
                        <a:t>Basement finished </a:t>
                      </a:r>
                      <a:r>
                        <a:rPr lang="en-CA" sz="1000" dirty="0" err="1"/>
                        <a:t>squ</a:t>
                      </a:r>
                      <a:r>
                        <a:rPr lang="en-CA" sz="1000" dirty="0"/>
                        <a:t> </a:t>
                      </a:r>
                      <a:r>
                        <a:rPr lang="en-CA" sz="1000" dirty="0" err="1"/>
                        <a:t>ft</a:t>
                      </a:r>
                      <a:r>
                        <a:rPr lang="en-CA" sz="1000" dirty="0"/>
                        <a:t>                            0.09</a:t>
                      </a:r>
                    </a:p>
                  </a:txBody>
                  <a:tcPr marL="68580" marR="68580" marT="34290" marB="34290"/>
                </a:tc>
                <a:tc>
                  <a:txBody>
                    <a:bodyPr/>
                    <a:lstStyle/>
                    <a:p>
                      <a:r>
                        <a:rPr lang="en-CA" sz="1000" dirty="0"/>
                        <a:t>Garage area (</a:t>
                      </a:r>
                      <a:r>
                        <a:rPr lang="en-CA" sz="1000" dirty="0" err="1"/>
                        <a:t>squ</a:t>
                      </a:r>
                      <a:r>
                        <a:rPr lang="en-CA" sz="1000" dirty="0"/>
                        <a:t> </a:t>
                      </a:r>
                      <a:r>
                        <a:rPr lang="en-CA" sz="1000" dirty="0" err="1"/>
                        <a:t>ft</a:t>
                      </a:r>
                      <a:r>
                        <a:rPr lang="en-CA" sz="1000" dirty="0"/>
                        <a:t>)                                    0.05</a:t>
                      </a:r>
                    </a:p>
                  </a:txBody>
                  <a:tcPr marL="68580" marR="68580" marT="34290" marB="34290"/>
                </a:tc>
                <a:extLst>
                  <a:ext uri="{0D108BD9-81ED-4DB2-BD59-A6C34878D82A}">
                    <a16:rowId xmlns:a16="http://schemas.microsoft.com/office/drawing/2014/main" val="1384908015"/>
                  </a:ext>
                </a:extLst>
              </a:tr>
              <a:tr h="278130">
                <a:tc>
                  <a:txBody>
                    <a:bodyPr/>
                    <a:lstStyle/>
                    <a:p>
                      <a:r>
                        <a:rPr lang="en-CA" sz="1000" dirty="0"/>
                        <a:t>Basement unfinished </a:t>
                      </a:r>
                      <a:r>
                        <a:rPr lang="en-CA" sz="1000" dirty="0" err="1"/>
                        <a:t>squ</a:t>
                      </a:r>
                      <a:r>
                        <a:rPr lang="en-CA" sz="1000" dirty="0"/>
                        <a:t> </a:t>
                      </a:r>
                      <a:r>
                        <a:rPr lang="en-CA" sz="1000" dirty="0" err="1"/>
                        <a:t>ft</a:t>
                      </a:r>
                      <a:r>
                        <a:rPr lang="en-CA" sz="1000" dirty="0"/>
                        <a:t>                      −0.03</a:t>
                      </a:r>
                    </a:p>
                  </a:txBody>
                  <a:tcPr marL="68580" marR="68580" marT="34290" marB="34290"/>
                </a:tc>
                <a:tc>
                  <a:txBody>
                    <a:bodyPr/>
                    <a:lstStyle/>
                    <a:p>
                      <a:r>
                        <a:rPr lang="en-CA" sz="1000" dirty="0"/>
                        <a:t>Wood</a:t>
                      </a:r>
                      <a:r>
                        <a:rPr lang="en-CA" sz="1000" baseline="0" dirty="0"/>
                        <a:t> deck (</a:t>
                      </a:r>
                      <a:r>
                        <a:rPr lang="en-CA" sz="1000" baseline="0" dirty="0" err="1"/>
                        <a:t>squ</a:t>
                      </a:r>
                      <a:r>
                        <a:rPr lang="en-CA" sz="1000" baseline="0" dirty="0"/>
                        <a:t> </a:t>
                      </a:r>
                      <a:r>
                        <a:rPr lang="en-CA" sz="1000" baseline="0" dirty="0" err="1"/>
                        <a:t>ft</a:t>
                      </a:r>
                      <a:r>
                        <a:rPr lang="en-CA" sz="1000" baseline="0" dirty="0"/>
                        <a:t>)                                      0.02</a:t>
                      </a:r>
                      <a:endParaRPr lang="en-CA" sz="1000" dirty="0"/>
                    </a:p>
                  </a:txBody>
                  <a:tcPr marL="68580" marR="68580" marT="34290" marB="34290"/>
                </a:tc>
                <a:extLst>
                  <a:ext uri="{0D108BD9-81ED-4DB2-BD59-A6C34878D82A}">
                    <a16:rowId xmlns:a16="http://schemas.microsoft.com/office/drawing/2014/main" val="3702138763"/>
                  </a:ext>
                </a:extLst>
              </a:tr>
              <a:tr h="278130">
                <a:tc>
                  <a:txBody>
                    <a:bodyPr/>
                    <a:lstStyle/>
                    <a:p>
                      <a:r>
                        <a:rPr lang="en-CA" sz="1000" dirty="0"/>
                        <a:t>Total basement </a:t>
                      </a:r>
                      <a:r>
                        <a:rPr lang="en-CA" sz="1000" dirty="0" err="1"/>
                        <a:t>squ</a:t>
                      </a:r>
                      <a:r>
                        <a:rPr lang="en-CA" sz="1000" dirty="0"/>
                        <a:t> </a:t>
                      </a:r>
                      <a:r>
                        <a:rPr lang="en-CA" sz="1000" dirty="0" err="1"/>
                        <a:t>ft</a:t>
                      </a:r>
                      <a:r>
                        <a:rPr lang="en-CA" sz="1000" dirty="0"/>
                        <a:t>                                0.14</a:t>
                      </a:r>
                    </a:p>
                  </a:txBody>
                  <a:tcPr marL="68580" marR="68580" marT="34290" marB="34290"/>
                </a:tc>
                <a:tc>
                  <a:txBody>
                    <a:bodyPr/>
                    <a:lstStyle/>
                    <a:p>
                      <a:r>
                        <a:rPr lang="en-CA" sz="1000" dirty="0"/>
                        <a:t>Open porch (</a:t>
                      </a:r>
                      <a:r>
                        <a:rPr lang="en-CA" sz="1000" dirty="0" err="1"/>
                        <a:t>squ</a:t>
                      </a:r>
                      <a:r>
                        <a:rPr lang="en-CA" sz="1000" dirty="0"/>
                        <a:t> </a:t>
                      </a:r>
                      <a:r>
                        <a:rPr lang="en-CA" sz="1000" dirty="0" err="1"/>
                        <a:t>ft</a:t>
                      </a:r>
                      <a:r>
                        <a:rPr lang="en-CA" sz="1000" dirty="0"/>
                        <a:t>)                                     0.03</a:t>
                      </a:r>
                    </a:p>
                  </a:txBody>
                  <a:tcPr marL="68580" marR="68580" marT="34290" marB="34290"/>
                </a:tc>
                <a:extLst>
                  <a:ext uri="{0D108BD9-81ED-4DB2-BD59-A6C34878D82A}">
                    <a16:rowId xmlns:a16="http://schemas.microsoft.com/office/drawing/2014/main" val="1054929590"/>
                  </a:ext>
                </a:extLst>
              </a:tr>
              <a:tr h="278130">
                <a:tc>
                  <a:txBody>
                    <a:bodyPr/>
                    <a:lstStyle/>
                    <a:p>
                      <a:r>
                        <a:rPr lang="en-CA" sz="1000" dirty="0"/>
                        <a:t>1st floor </a:t>
                      </a:r>
                      <a:r>
                        <a:rPr lang="en-CA" sz="1000" dirty="0" err="1"/>
                        <a:t>squ</a:t>
                      </a:r>
                      <a:r>
                        <a:rPr lang="en-CA" sz="1000" dirty="0"/>
                        <a:t> </a:t>
                      </a:r>
                      <a:r>
                        <a:rPr lang="en-CA" sz="1000" dirty="0" err="1"/>
                        <a:t>ft</a:t>
                      </a:r>
                      <a:r>
                        <a:rPr lang="en-CA" sz="1000" dirty="0"/>
                        <a:t>                                          0.15</a:t>
                      </a:r>
                    </a:p>
                  </a:txBody>
                  <a:tcPr marL="68580" marR="68580" marT="34290" marB="34290"/>
                </a:tc>
                <a:tc>
                  <a:txBody>
                    <a:bodyPr/>
                    <a:lstStyle/>
                    <a:p>
                      <a:r>
                        <a:rPr lang="en-CA" sz="1000" dirty="0"/>
                        <a:t>Enclosed porch (</a:t>
                      </a:r>
                      <a:r>
                        <a:rPr lang="en-CA" sz="1000" dirty="0" err="1"/>
                        <a:t>squ</a:t>
                      </a:r>
                      <a:r>
                        <a:rPr lang="en-CA" sz="1000" dirty="0"/>
                        <a:t> ft0                                0.01</a:t>
                      </a:r>
                    </a:p>
                  </a:txBody>
                  <a:tcPr marL="68580" marR="68580" marT="34290" marB="34290"/>
                </a:tc>
                <a:extLst>
                  <a:ext uri="{0D108BD9-81ED-4DB2-BD59-A6C34878D82A}">
                    <a16:rowId xmlns:a16="http://schemas.microsoft.com/office/drawing/2014/main" val="2865322861"/>
                  </a:ext>
                </a:extLst>
              </a:tr>
              <a:tr h="278130">
                <a:tc>
                  <a:txBody>
                    <a:bodyPr/>
                    <a:lstStyle/>
                    <a:p>
                      <a:r>
                        <a:rPr lang="en-CA" sz="1000" dirty="0"/>
                        <a:t>2</a:t>
                      </a:r>
                      <a:r>
                        <a:rPr lang="en-CA" sz="1000" baseline="30000" dirty="0"/>
                        <a:t>nd</a:t>
                      </a:r>
                      <a:r>
                        <a:rPr lang="en-CA" sz="1000" dirty="0"/>
                        <a:t> floor </a:t>
                      </a:r>
                      <a:r>
                        <a:rPr lang="en-CA" sz="1000" dirty="0" err="1"/>
                        <a:t>squ</a:t>
                      </a:r>
                      <a:r>
                        <a:rPr lang="en-CA" sz="1000" dirty="0"/>
                        <a:t> </a:t>
                      </a:r>
                      <a:r>
                        <a:rPr lang="en-CA" sz="1000" dirty="0" err="1"/>
                        <a:t>ft</a:t>
                      </a:r>
                      <a:r>
                        <a:rPr lang="en-CA" sz="1000" dirty="0"/>
                        <a:t>                                          0.13</a:t>
                      </a:r>
                    </a:p>
                  </a:txBody>
                  <a:tcPr marL="68580" marR="68580" marT="34290" marB="34290"/>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CA" sz="1000" dirty="0"/>
                        <a:t>Neighborhood (25 alternatives)         −0.05 to 0.12</a:t>
                      </a:r>
                    </a:p>
                    <a:p>
                      <a:endParaRPr lang="en-CA" sz="1000" dirty="0"/>
                    </a:p>
                  </a:txBody>
                  <a:tcPr marL="68580" marR="68580" marT="34290" marB="34290"/>
                </a:tc>
                <a:extLst>
                  <a:ext uri="{0D108BD9-81ED-4DB2-BD59-A6C34878D82A}">
                    <a16:rowId xmlns:a16="http://schemas.microsoft.com/office/drawing/2014/main" val="2145760892"/>
                  </a:ext>
                </a:extLst>
              </a:tr>
              <a:tr h="278130">
                <a:tc>
                  <a:txBody>
                    <a:bodyPr/>
                    <a:lstStyle/>
                    <a:p>
                      <a:r>
                        <a:rPr lang="en-CA" sz="1000" dirty="0"/>
                        <a:t>Living area                                               0.16</a:t>
                      </a:r>
                    </a:p>
                  </a:txBody>
                  <a:tcPr marL="68580" marR="68580" marT="34290" marB="34290"/>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CA" sz="1000" dirty="0"/>
                        <a:t>Basement</a:t>
                      </a:r>
                      <a:r>
                        <a:rPr lang="en-CA" sz="1000" baseline="0" dirty="0"/>
                        <a:t> quality </a:t>
                      </a:r>
                      <a:r>
                        <a:rPr lang="en-CA" sz="1000" dirty="0"/>
                        <a:t>(6 natural ordering)            0.01</a:t>
                      </a:r>
                    </a:p>
                    <a:p>
                      <a:endParaRPr lang="en-CA" sz="1000" dirty="0"/>
                    </a:p>
                  </a:txBody>
                  <a:tcPr marL="68580" marR="68580" marT="34290" marB="34290"/>
                </a:tc>
                <a:extLst>
                  <a:ext uri="{0D108BD9-81ED-4DB2-BD59-A6C34878D82A}">
                    <a16:rowId xmlns:a16="http://schemas.microsoft.com/office/drawing/2014/main" val="300265579"/>
                  </a:ext>
                </a:extLst>
              </a:tr>
              <a:tr h="278130">
                <a:tc>
                  <a:txBody>
                    <a:bodyPr/>
                    <a:lstStyle/>
                    <a:p>
                      <a:r>
                        <a:rPr lang="en-CA" sz="1000" dirty="0"/>
                        <a:t>Number</a:t>
                      </a:r>
                      <a:r>
                        <a:rPr lang="en-CA" sz="1000" baseline="0" dirty="0"/>
                        <a:t> of full bathrooms                         </a:t>
                      </a:r>
                      <a:r>
                        <a:rPr lang="en-CA" sz="1000" dirty="0"/>
                        <a:t>−</a:t>
                      </a:r>
                      <a:r>
                        <a:rPr lang="en-CA" sz="1000" baseline="0" dirty="0"/>
                        <a:t>0.02</a:t>
                      </a:r>
                      <a:endParaRPr lang="en-CA" sz="1000" dirty="0"/>
                    </a:p>
                  </a:txBody>
                  <a:tcPr marL="68580" marR="68580" marT="34290" marB="34290"/>
                </a:tc>
                <a:tc>
                  <a:txBody>
                    <a:bodyPr/>
                    <a:lstStyle/>
                    <a:p>
                      <a:endParaRPr lang="en-CA" sz="1000" dirty="0"/>
                    </a:p>
                  </a:txBody>
                  <a:tcPr marL="68580" marR="68580" marT="34290" marB="34290"/>
                </a:tc>
                <a:extLst>
                  <a:ext uri="{0D108BD9-81ED-4DB2-BD59-A6C34878D82A}">
                    <a16:rowId xmlns:a16="http://schemas.microsoft.com/office/drawing/2014/main" val="156050822"/>
                  </a:ext>
                </a:extLst>
              </a:tr>
            </a:tbl>
          </a:graphicData>
        </a:graphic>
      </p:graphicFrame>
    </p:spTree>
    <p:extLst>
      <p:ext uri="{BB962C8B-B14F-4D97-AF65-F5344CB8AC3E}">
        <p14:creationId xmlns:p14="http://schemas.microsoft.com/office/powerpoint/2010/main" val="2592377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1992" y="1052736"/>
            <a:ext cx="8755062" cy="857250"/>
          </a:xfrm>
        </p:spPr>
        <p:txBody>
          <a:bodyPr/>
          <a:lstStyle/>
          <a:p>
            <a:r>
              <a:rPr lang="en-CA" dirty="0"/>
              <a:t>Ridge Results for validation set (Figure 3.8)</a:t>
            </a:r>
            <a:endParaRPr lang="en-CA" sz="2400"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2E8C09BE-1715-42CA-A91A-E7B0E09A3015}" type="slidenum">
              <a:rPr lang="en-CA" smtClean="0"/>
              <a:t>20</a:t>
            </a:fld>
            <a:endParaRPr lang="en-CA"/>
          </a:p>
        </p:txBody>
      </p:sp>
      <p:pic>
        <p:nvPicPr>
          <p:cNvPr id="8" name="Picture 7"/>
          <p:cNvPicPr>
            <a:picLocks noChangeAspect="1"/>
          </p:cNvPicPr>
          <p:nvPr/>
        </p:nvPicPr>
        <p:blipFill>
          <a:blip r:embed="rId2"/>
          <a:stretch>
            <a:fillRect/>
          </a:stretch>
        </p:blipFill>
        <p:spPr>
          <a:xfrm>
            <a:off x="974377" y="2029320"/>
            <a:ext cx="6899473" cy="4142880"/>
          </a:xfrm>
          <a:prstGeom prst="rect">
            <a:avLst/>
          </a:prstGeom>
        </p:spPr>
      </p:pic>
    </p:spTree>
    <p:extLst>
      <p:ext uri="{BB962C8B-B14F-4D97-AF65-F5344CB8AC3E}">
        <p14:creationId xmlns:p14="http://schemas.microsoft.com/office/powerpoint/2010/main" val="492778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987" y="1109662"/>
            <a:ext cx="8582025" cy="857250"/>
          </a:xfrm>
        </p:spPr>
        <p:txBody>
          <a:bodyPr/>
          <a:lstStyle/>
          <a:p>
            <a:r>
              <a:rPr lang="en-CA" dirty="0"/>
              <a:t>Lasso Results for validation set (Figure 3.9)</a:t>
            </a:r>
            <a:endParaRPr lang="en-CA" sz="2800"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2E8C09BE-1715-42CA-A91A-E7B0E09A3015}" type="slidenum">
              <a:rPr lang="en-CA" smtClean="0"/>
              <a:t>21</a:t>
            </a:fld>
            <a:endParaRPr lang="en-CA"/>
          </a:p>
        </p:txBody>
      </p:sp>
      <p:sp>
        <p:nvSpPr>
          <p:cNvPr id="7" name="Content Placeholder 6"/>
          <p:cNvSpPr>
            <a:spLocks noGrp="1"/>
          </p:cNvSpPr>
          <p:nvPr>
            <p:ph idx="1"/>
          </p:nvPr>
        </p:nvSpPr>
        <p:spPr/>
        <p:txBody>
          <a:bodyPr/>
          <a:lstStyle/>
          <a:p>
            <a:pPr marL="0" indent="0">
              <a:buNone/>
            </a:pPr>
            <a:r>
              <a:rPr lang="en-CA" dirty="0"/>
              <a:t> </a:t>
            </a:r>
          </a:p>
        </p:txBody>
      </p:sp>
      <p:pic>
        <p:nvPicPr>
          <p:cNvPr id="3" name="Picture 2"/>
          <p:cNvPicPr>
            <a:picLocks noChangeAspect="1"/>
          </p:cNvPicPr>
          <p:nvPr/>
        </p:nvPicPr>
        <p:blipFill>
          <a:blip r:embed="rId2"/>
          <a:stretch>
            <a:fillRect/>
          </a:stretch>
        </p:blipFill>
        <p:spPr>
          <a:xfrm>
            <a:off x="1094299" y="2029320"/>
            <a:ext cx="6288758" cy="3776168"/>
          </a:xfrm>
          <a:prstGeom prst="rect">
            <a:avLst/>
          </a:prstGeom>
        </p:spPr>
      </p:pic>
    </p:spTree>
    <p:extLst>
      <p:ext uri="{BB962C8B-B14F-4D97-AF65-F5344CB8AC3E}">
        <p14:creationId xmlns:p14="http://schemas.microsoft.com/office/powerpoint/2010/main" val="28411363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980728"/>
            <a:ext cx="8206680" cy="1143000"/>
          </a:xfrm>
        </p:spPr>
        <p:txBody>
          <a:bodyPr/>
          <a:lstStyle/>
          <a:p>
            <a:r>
              <a:rPr lang="en-CA" dirty="0"/>
              <a:t>Non-zero weights for Lasso when </a:t>
            </a:r>
            <a:r>
              <a:rPr lang="en-CA" dirty="0">
                <a:latin typeface="Symbol" panose="05050102010706020507" pitchFamily="18" charset="2"/>
              </a:rPr>
              <a:t>l</a:t>
            </a:r>
            <a:r>
              <a:rPr lang="en-CA" dirty="0"/>
              <a:t>=0.1 (overall quality and total living area were most important) </a:t>
            </a:r>
          </a:p>
        </p:txBody>
      </p:sp>
      <p:sp>
        <p:nvSpPr>
          <p:cNvPr id="3" name="Content Placeholder 2"/>
          <p:cNvSpPr>
            <a:spLocks noGrp="1"/>
          </p:cNvSpPr>
          <p:nvPr>
            <p:ph idx="1"/>
          </p:nvPr>
        </p:nvSpPr>
        <p:spPr>
          <a:xfrm>
            <a:off x="685800" y="2362200"/>
            <a:ext cx="7772400" cy="4114800"/>
          </a:xfrm>
        </p:spPr>
        <p:txBody>
          <a:bodyPr/>
          <a:lstStyle/>
          <a:p>
            <a:pPr marL="0" indent="0">
              <a:buNone/>
            </a:pPr>
            <a:r>
              <a:rPr lang="en-US" dirty="0"/>
              <a:t> </a:t>
            </a:r>
            <a:endParaRPr lang="en-CA"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2E8C09BE-1715-42CA-A91A-E7B0E09A3015}" type="slidenum">
              <a:rPr lang="en-CA" smtClean="0"/>
              <a:t>22</a:t>
            </a:fld>
            <a:endParaRPr lang="en-CA"/>
          </a:p>
        </p:txBody>
      </p:sp>
      <p:graphicFrame>
        <p:nvGraphicFramePr>
          <p:cNvPr id="6" name="Table 5"/>
          <p:cNvGraphicFramePr>
            <a:graphicFrameLocks noGrp="1"/>
          </p:cNvGraphicFramePr>
          <p:nvPr>
            <p:extLst>
              <p:ext uri="{D42A27DB-BD31-4B8C-83A1-F6EECF244321}">
                <p14:modId xmlns:p14="http://schemas.microsoft.com/office/powerpoint/2010/main" val="351340145"/>
              </p:ext>
            </p:extLst>
          </p:nvPr>
        </p:nvGraphicFramePr>
        <p:xfrm>
          <a:off x="1115616" y="2492897"/>
          <a:ext cx="6696744" cy="3466046"/>
        </p:xfrm>
        <a:graphic>
          <a:graphicData uri="http://schemas.openxmlformats.org/drawingml/2006/table">
            <a:tbl>
              <a:tblPr firstRow="1" firstCol="1" bandRow="1">
                <a:tableStyleId>{5940675A-B579-460E-94D1-54222C63F5DA}</a:tableStyleId>
              </a:tblPr>
              <a:tblGrid>
                <a:gridCol w="4325119">
                  <a:extLst>
                    <a:ext uri="{9D8B030D-6E8A-4147-A177-3AD203B41FA5}">
                      <a16:colId xmlns:a16="http://schemas.microsoft.com/office/drawing/2014/main" val="20000"/>
                    </a:ext>
                  </a:extLst>
                </a:gridCol>
                <a:gridCol w="2371625">
                  <a:extLst>
                    <a:ext uri="{9D8B030D-6E8A-4147-A177-3AD203B41FA5}">
                      <a16:colId xmlns:a16="http://schemas.microsoft.com/office/drawing/2014/main" val="20001"/>
                    </a:ext>
                  </a:extLst>
                </a:gridCol>
              </a:tblGrid>
              <a:tr h="224806">
                <a:tc>
                  <a:txBody>
                    <a:bodyPr/>
                    <a:lstStyle/>
                    <a:p>
                      <a:pPr algn="just">
                        <a:lnSpc>
                          <a:spcPct val="106000"/>
                        </a:lnSpc>
                        <a:spcAft>
                          <a:spcPts val="0"/>
                        </a:spcAft>
                        <a:tabLst>
                          <a:tab pos="3838575" algn="l"/>
                        </a:tabLst>
                      </a:pPr>
                      <a:r>
                        <a:rPr lang="en-CA" sz="1600" b="1" dirty="0">
                          <a:effectLst/>
                          <a:latin typeface="+mj-lt"/>
                        </a:rPr>
                        <a:t>Feature</a:t>
                      </a:r>
                      <a:endParaRPr lang="en-CA" sz="1600" b="1" dirty="0">
                        <a:effectLst/>
                        <a:latin typeface="+mj-lt"/>
                        <a:ea typeface="Calibri"/>
                        <a:cs typeface="Times New Roman"/>
                      </a:endParaRPr>
                    </a:p>
                  </a:txBody>
                  <a:tcPr marL="68580" marR="68580" marT="0" marB="0"/>
                </a:tc>
                <a:tc>
                  <a:txBody>
                    <a:bodyPr/>
                    <a:lstStyle/>
                    <a:p>
                      <a:pPr algn="ctr">
                        <a:lnSpc>
                          <a:spcPct val="106000"/>
                        </a:lnSpc>
                        <a:spcAft>
                          <a:spcPts val="0"/>
                        </a:spcAft>
                        <a:tabLst>
                          <a:tab pos="3838575" algn="l"/>
                        </a:tabLst>
                      </a:pPr>
                      <a:r>
                        <a:rPr lang="en-CA" sz="1600" b="1" dirty="0">
                          <a:effectLst/>
                          <a:latin typeface="+mj-lt"/>
                        </a:rPr>
                        <a:t>Weight</a:t>
                      </a:r>
                      <a:endParaRPr lang="en-CA" sz="1600" b="1" dirty="0">
                        <a:effectLst/>
                        <a:latin typeface="+mj-lt"/>
                        <a:ea typeface="Calibri"/>
                        <a:cs typeface="Times New Roman"/>
                      </a:endParaRPr>
                    </a:p>
                  </a:txBody>
                  <a:tcPr marL="68580" marR="68580" marT="0" marB="0"/>
                </a:tc>
                <a:extLst>
                  <a:ext uri="{0D108BD9-81ED-4DB2-BD59-A6C34878D82A}">
                    <a16:rowId xmlns:a16="http://schemas.microsoft.com/office/drawing/2014/main" val="10000"/>
                  </a:ext>
                </a:extLst>
              </a:tr>
              <a:tr h="224806">
                <a:tc>
                  <a:txBody>
                    <a:bodyPr/>
                    <a:lstStyle/>
                    <a:p>
                      <a:pPr algn="just">
                        <a:lnSpc>
                          <a:spcPct val="106000"/>
                        </a:lnSpc>
                        <a:spcAft>
                          <a:spcPts val="0"/>
                        </a:spcAft>
                        <a:tabLst>
                          <a:tab pos="3838575" algn="l"/>
                        </a:tabLst>
                      </a:pPr>
                      <a:r>
                        <a:rPr lang="en-CA" sz="1600" dirty="0">
                          <a:effectLst/>
                          <a:latin typeface="+mj-lt"/>
                        </a:rPr>
                        <a:t>Lot Area (square feet)</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tabLst>
                          <a:tab pos="3838575" algn="l"/>
                        </a:tabLst>
                      </a:pPr>
                      <a:r>
                        <a:rPr lang="en-CA" sz="1600">
                          <a:effectLst/>
                          <a:latin typeface="+mj-lt"/>
                        </a:rPr>
                        <a:t>0.04</a:t>
                      </a:r>
                      <a:endParaRPr lang="en-CA" sz="1600">
                        <a:effectLst/>
                        <a:latin typeface="+mj-lt"/>
                        <a:ea typeface="Calibri"/>
                        <a:cs typeface="Times New Roman"/>
                      </a:endParaRPr>
                    </a:p>
                  </a:txBody>
                  <a:tcPr marL="68580" marR="68580" marT="0" marB="0"/>
                </a:tc>
                <a:extLst>
                  <a:ext uri="{0D108BD9-81ED-4DB2-BD59-A6C34878D82A}">
                    <a16:rowId xmlns:a16="http://schemas.microsoft.com/office/drawing/2014/main" val="10001"/>
                  </a:ext>
                </a:extLst>
              </a:tr>
              <a:tr h="224806">
                <a:tc>
                  <a:txBody>
                    <a:bodyPr/>
                    <a:lstStyle/>
                    <a:p>
                      <a:pPr algn="just">
                        <a:lnSpc>
                          <a:spcPct val="106000"/>
                        </a:lnSpc>
                        <a:spcAft>
                          <a:spcPts val="0"/>
                        </a:spcAft>
                        <a:tabLst>
                          <a:tab pos="3838575" algn="l"/>
                        </a:tabLst>
                      </a:pPr>
                      <a:r>
                        <a:rPr lang="en-CA" sz="1600" dirty="0">
                          <a:effectLst/>
                          <a:latin typeface="+mj-lt"/>
                        </a:rPr>
                        <a:t>Overall quality (Scale from 1 to 10)</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tabLst>
                          <a:tab pos="3838575" algn="l"/>
                        </a:tabLst>
                      </a:pPr>
                      <a:r>
                        <a:rPr lang="en-CA" sz="1600">
                          <a:effectLst/>
                          <a:latin typeface="+mj-lt"/>
                        </a:rPr>
                        <a:t>0.30</a:t>
                      </a:r>
                      <a:endParaRPr lang="en-CA" sz="1600">
                        <a:effectLst/>
                        <a:latin typeface="+mj-lt"/>
                        <a:ea typeface="Calibri"/>
                        <a:cs typeface="Times New Roman"/>
                      </a:endParaRPr>
                    </a:p>
                  </a:txBody>
                  <a:tcPr marL="68580" marR="68580" marT="0" marB="0"/>
                </a:tc>
                <a:extLst>
                  <a:ext uri="{0D108BD9-81ED-4DB2-BD59-A6C34878D82A}">
                    <a16:rowId xmlns:a16="http://schemas.microsoft.com/office/drawing/2014/main" val="10002"/>
                  </a:ext>
                </a:extLst>
              </a:tr>
              <a:tr h="224806">
                <a:tc>
                  <a:txBody>
                    <a:bodyPr/>
                    <a:lstStyle/>
                    <a:p>
                      <a:pPr algn="just">
                        <a:lnSpc>
                          <a:spcPct val="106000"/>
                        </a:lnSpc>
                        <a:spcAft>
                          <a:spcPts val="0"/>
                        </a:spcAft>
                        <a:tabLst>
                          <a:tab pos="3838575" algn="l"/>
                        </a:tabLst>
                      </a:pPr>
                      <a:r>
                        <a:rPr lang="en-CA" sz="1600" dirty="0">
                          <a:effectLst/>
                          <a:latin typeface="+mj-lt"/>
                        </a:rPr>
                        <a:t>Year built</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tabLst>
                          <a:tab pos="3838575" algn="l"/>
                        </a:tabLst>
                      </a:pPr>
                      <a:r>
                        <a:rPr lang="en-CA" sz="1600">
                          <a:effectLst/>
                          <a:latin typeface="+mj-lt"/>
                        </a:rPr>
                        <a:t>0.05</a:t>
                      </a:r>
                      <a:endParaRPr lang="en-CA" sz="1600">
                        <a:effectLst/>
                        <a:latin typeface="+mj-lt"/>
                        <a:ea typeface="Calibri"/>
                        <a:cs typeface="Times New Roman"/>
                      </a:endParaRPr>
                    </a:p>
                  </a:txBody>
                  <a:tcPr marL="68580" marR="68580" marT="0" marB="0"/>
                </a:tc>
                <a:extLst>
                  <a:ext uri="{0D108BD9-81ED-4DB2-BD59-A6C34878D82A}">
                    <a16:rowId xmlns:a16="http://schemas.microsoft.com/office/drawing/2014/main" val="10003"/>
                  </a:ext>
                </a:extLst>
              </a:tr>
              <a:tr h="224806">
                <a:tc>
                  <a:txBody>
                    <a:bodyPr/>
                    <a:lstStyle/>
                    <a:p>
                      <a:pPr algn="just">
                        <a:lnSpc>
                          <a:spcPct val="106000"/>
                        </a:lnSpc>
                        <a:spcAft>
                          <a:spcPts val="0"/>
                        </a:spcAft>
                        <a:tabLst>
                          <a:tab pos="3838575" algn="l"/>
                        </a:tabLst>
                      </a:pPr>
                      <a:r>
                        <a:rPr lang="en-CA" sz="1600" dirty="0">
                          <a:effectLst/>
                          <a:latin typeface="+mj-lt"/>
                        </a:rPr>
                        <a:t>Year remodeled </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tabLst>
                          <a:tab pos="3838575" algn="l"/>
                        </a:tabLst>
                      </a:pPr>
                      <a:r>
                        <a:rPr lang="en-CA" sz="1600">
                          <a:effectLst/>
                          <a:latin typeface="+mj-lt"/>
                        </a:rPr>
                        <a:t>0.06</a:t>
                      </a:r>
                      <a:endParaRPr lang="en-CA" sz="1600">
                        <a:effectLst/>
                        <a:latin typeface="+mj-lt"/>
                        <a:ea typeface="Calibri"/>
                        <a:cs typeface="Times New Roman"/>
                      </a:endParaRPr>
                    </a:p>
                  </a:txBody>
                  <a:tcPr marL="68580" marR="68580" marT="0" marB="0"/>
                </a:tc>
                <a:extLst>
                  <a:ext uri="{0D108BD9-81ED-4DB2-BD59-A6C34878D82A}">
                    <a16:rowId xmlns:a16="http://schemas.microsoft.com/office/drawing/2014/main" val="10004"/>
                  </a:ext>
                </a:extLst>
              </a:tr>
              <a:tr h="224806">
                <a:tc>
                  <a:txBody>
                    <a:bodyPr/>
                    <a:lstStyle/>
                    <a:p>
                      <a:pPr algn="just">
                        <a:lnSpc>
                          <a:spcPct val="106000"/>
                        </a:lnSpc>
                        <a:spcAft>
                          <a:spcPts val="0"/>
                        </a:spcAft>
                        <a:tabLst>
                          <a:tab pos="3838575" algn="l"/>
                        </a:tabLst>
                      </a:pPr>
                      <a:r>
                        <a:rPr lang="en-CA" sz="1600" dirty="0">
                          <a:effectLst/>
                          <a:latin typeface="+mj-lt"/>
                        </a:rPr>
                        <a:t>Finished basement (square feet)</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tabLst>
                          <a:tab pos="3838575" algn="l"/>
                        </a:tabLst>
                      </a:pPr>
                      <a:r>
                        <a:rPr lang="en-CA" sz="1600" dirty="0">
                          <a:effectLst/>
                          <a:latin typeface="+mj-lt"/>
                        </a:rPr>
                        <a:t>0.12</a:t>
                      </a:r>
                      <a:endParaRPr lang="en-CA" sz="1600" dirty="0">
                        <a:effectLst/>
                        <a:latin typeface="+mj-lt"/>
                        <a:ea typeface="Calibri"/>
                        <a:cs typeface="Times New Roman"/>
                      </a:endParaRPr>
                    </a:p>
                  </a:txBody>
                  <a:tcPr marL="68580" marR="68580" marT="0" marB="0"/>
                </a:tc>
                <a:extLst>
                  <a:ext uri="{0D108BD9-81ED-4DB2-BD59-A6C34878D82A}">
                    <a16:rowId xmlns:a16="http://schemas.microsoft.com/office/drawing/2014/main" val="10005"/>
                  </a:ext>
                </a:extLst>
              </a:tr>
              <a:tr h="224806">
                <a:tc>
                  <a:txBody>
                    <a:bodyPr/>
                    <a:lstStyle/>
                    <a:p>
                      <a:pPr algn="just">
                        <a:lnSpc>
                          <a:spcPct val="106000"/>
                        </a:lnSpc>
                        <a:spcAft>
                          <a:spcPts val="0"/>
                        </a:spcAft>
                        <a:tabLst>
                          <a:tab pos="3838575" algn="l"/>
                        </a:tabLst>
                      </a:pPr>
                      <a:r>
                        <a:rPr lang="en-CA" sz="1600" dirty="0">
                          <a:effectLst/>
                          <a:latin typeface="+mj-lt"/>
                        </a:rPr>
                        <a:t>Total basement (square feet)</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tabLst>
                          <a:tab pos="3838575" algn="l"/>
                        </a:tabLst>
                      </a:pPr>
                      <a:r>
                        <a:rPr lang="en-CA" sz="1600" dirty="0">
                          <a:effectLst/>
                          <a:latin typeface="+mj-lt"/>
                        </a:rPr>
                        <a:t>0.10</a:t>
                      </a:r>
                      <a:endParaRPr lang="en-CA" sz="1600" dirty="0">
                        <a:effectLst/>
                        <a:latin typeface="+mj-lt"/>
                        <a:ea typeface="Calibri"/>
                        <a:cs typeface="Times New Roman"/>
                      </a:endParaRPr>
                    </a:p>
                  </a:txBody>
                  <a:tcPr marL="68580" marR="68580" marT="0" marB="0"/>
                </a:tc>
                <a:extLst>
                  <a:ext uri="{0D108BD9-81ED-4DB2-BD59-A6C34878D82A}">
                    <a16:rowId xmlns:a16="http://schemas.microsoft.com/office/drawing/2014/main" val="10006"/>
                  </a:ext>
                </a:extLst>
              </a:tr>
              <a:tr h="224806">
                <a:tc>
                  <a:txBody>
                    <a:bodyPr/>
                    <a:lstStyle/>
                    <a:p>
                      <a:pPr algn="just">
                        <a:lnSpc>
                          <a:spcPct val="106000"/>
                        </a:lnSpc>
                        <a:spcAft>
                          <a:spcPts val="0"/>
                        </a:spcAft>
                        <a:tabLst>
                          <a:tab pos="3838575" algn="l"/>
                        </a:tabLst>
                      </a:pPr>
                      <a:r>
                        <a:rPr lang="en-CA" sz="1600" dirty="0">
                          <a:effectLst/>
                          <a:latin typeface="+mj-lt"/>
                        </a:rPr>
                        <a:t>First floor (square feet)</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tabLst>
                          <a:tab pos="3838575" algn="l"/>
                        </a:tabLst>
                      </a:pPr>
                      <a:r>
                        <a:rPr lang="en-CA" sz="1600">
                          <a:effectLst/>
                          <a:latin typeface="+mj-lt"/>
                        </a:rPr>
                        <a:t>0.03</a:t>
                      </a:r>
                      <a:endParaRPr lang="en-CA" sz="1600">
                        <a:effectLst/>
                        <a:latin typeface="+mj-lt"/>
                        <a:ea typeface="Calibri"/>
                        <a:cs typeface="Times New Roman"/>
                      </a:endParaRPr>
                    </a:p>
                  </a:txBody>
                  <a:tcPr marL="68580" marR="68580" marT="0" marB="0"/>
                </a:tc>
                <a:extLst>
                  <a:ext uri="{0D108BD9-81ED-4DB2-BD59-A6C34878D82A}">
                    <a16:rowId xmlns:a16="http://schemas.microsoft.com/office/drawing/2014/main" val="10007"/>
                  </a:ext>
                </a:extLst>
              </a:tr>
              <a:tr h="224806">
                <a:tc>
                  <a:txBody>
                    <a:bodyPr/>
                    <a:lstStyle/>
                    <a:p>
                      <a:pPr algn="just">
                        <a:lnSpc>
                          <a:spcPct val="106000"/>
                        </a:lnSpc>
                        <a:spcAft>
                          <a:spcPts val="0"/>
                        </a:spcAft>
                        <a:tabLst>
                          <a:tab pos="3838575" algn="l"/>
                        </a:tabLst>
                      </a:pPr>
                      <a:r>
                        <a:rPr lang="en-CA" sz="1600">
                          <a:effectLst/>
                          <a:latin typeface="+mj-lt"/>
                        </a:rPr>
                        <a:t>Living area (square feet)</a:t>
                      </a:r>
                      <a:endParaRPr lang="en-CA" sz="1600">
                        <a:effectLst/>
                        <a:latin typeface="+mj-lt"/>
                        <a:ea typeface="Calibri"/>
                        <a:cs typeface="Times New Roman"/>
                      </a:endParaRPr>
                    </a:p>
                  </a:txBody>
                  <a:tcPr marL="68580" marR="68580" marT="0" marB="0"/>
                </a:tc>
                <a:tc>
                  <a:txBody>
                    <a:bodyPr/>
                    <a:lstStyle/>
                    <a:p>
                      <a:pPr algn="ctr">
                        <a:lnSpc>
                          <a:spcPct val="106000"/>
                        </a:lnSpc>
                        <a:spcAft>
                          <a:spcPts val="0"/>
                        </a:spcAft>
                        <a:tabLst>
                          <a:tab pos="3838575" algn="l"/>
                        </a:tabLst>
                      </a:pPr>
                      <a:r>
                        <a:rPr lang="en-CA" sz="1600" dirty="0">
                          <a:effectLst/>
                          <a:latin typeface="+mj-lt"/>
                        </a:rPr>
                        <a:t>0.30</a:t>
                      </a:r>
                      <a:endParaRPr lang="en-CA" sz="1600" dirty="0">
                        <a:effectLst/>
                        <a:latin typeface="+mj-lt"/>
                        <a:ea typeface="Calibri"/>
                        <a:cs typeface="Times New Roman"/>
                      </a:endParaRPr>
                    </a:p>
                  </a:txBody>
                  <a:tcPr marL="68580" marR="68580" marT="0" marB="0"/>
                </a:tc>
                <a:extLst>
                  <a:ext uri="{0D108BD9-81ED-4DB2-BD59-A6C34878D82A}">
                    <a16:rowId xmlns:a16="http://schemas.microsoft.com/office/drawing/2014/main" val="10008"/>
                  </a:ext>
                </a:extLst>
              </a:tr>
              <a:tr h="224806">
                <a:tc>
                  <a:txBody>
                    <a:bodyPr/>
                    <a:lstStyle/>
                    <a:p>
                      <a:pPr algn="just">
                        <a:lnSpc>
                          <a:spcPct val="106000"/>
                        </a:lnSpc>
                        <a:spcAft>
                          <a:spcPts val="0"/>
                        </a:spcAft>
                        <a:tabLst>
                          <a:tab pos="3838575" algn="l"/>
                        </a:tabLst>
                      </a:pPr>
                      <a:r>
                        <a:rPr lang="en-CA" sz="1600" dirty="0">
                          <a:effectLst/>
                          <a:latin typeface="+mj-lt"/>
                        </a:rPr>
                        <a:t>Number of fireplaces</a:t>
                      </a:r>
                      <a:endParaRPr lang="en-CA" sz="1600" dirty="0">
                        <a:effectLst/>
                        <a:latin typeface="+mj-lt"/>
                        <a:ea typeface="Calibri"/>
                        <a:cs typeface="Times New Roman"/>
                      </a:endParaRPr>
                    </a:p>
                  </a:txBody>
                  <a:tcPr marL="68580" marR="68580" marT="0" marB="0"/>
                </a:tc>
                <a:tc>
                  <a:txBody>
                    <a:bodyPr/>
                    <a:lstStyle/>
                    <a:p>
                      <a:pPr algn="ctr">
                        <a:lnSpc>
                          <a:spcPct val="106000"/>
                        </a:lnSpc>
                        <a:spcAft>
                          <a:spcPts val="0"/>
                        </a:spcAft>
                        <a:tabLst>
                          <a:tab pos="3838575" algn="l"/>
                        </a:tabLst>
                      </a:pPr>
                      <a:r>
                        <a:rPr lang="en-CA" sz="1600" dirty="0">
                          <a:effectLst/>
                          <a:latin typeface="+mj-lt"/>
                        </a:rPr>
                        <a:t>0.02</a:t>
                      </a:r>
                      <a:endParaRPr lang="en-CA" sz="1600" dirty="0">
                        <a:effectLst/>
                        <a:latin typeface="+mj-lt"/>
                        <a:ea typeface="Calibri"/>
                        <a:cs typeface="Times New Roman"/>
                      </a:endParaRPr>
                    </a:p>
                  </a:txBody>
                  <a:tcPr marL="68580" marR="68580" marT="0" marB="0"/>
                </a:tc>
                <a:extLst>
                  <a:ext uri="{0D108BD9-81ED-4DB2-BD59-A6C34878D82A}">
                    <a16:rowId xmlns:a16="http://schemas.microsoft.com/office/drawing/2014/main" val="10009"/>
                  </a:ext>
                </a:extLst>
              </a:tr>
              <a:tr h="224806">
                <a:tc>
                  <a:txBody>
                    <a:bodyPr/>
                    <a:lstStyle/>
                    <a:p>
                      <a:pPr algn="just">
                        <a:lnSpc>
                          <a:spcPct val="106000"/>
                        </a:lnSpc>
                        <a:spcAft>
                          <a:spcPts val="0"/>
                        </a:spcAft>
                        <a:tabLst>
                          <a:tab pos="3838575" algn="l"/>
                        </a:tabLst>
                      </a:pPr>
                      <a:r>
                        <a:rPr lang="en-CA" sz="1600">
                          <a:effectLst/>
                          <a:latin typeface="+mj-lt"/>
                        </a:rPr>
                        <a:t>Parking spaces in garage</a:t>
                      </a:r>
                      <a:endParaRPr lang="en-CA" sz="1600">
                        <a:effectLst/>
                        <a:latin typeface="+mj-lt"/>
                        <a:ea typeface="Calibri"/>
                        <a:cs typeface="Times New Roman"/>
                      </a:endParaRPr>
                    </a:p>
                  </a:txBody>
                  <a:tcPr marL="68580" marR="68580" marT="0" marB="0"/>
                </a:tc>
                <a:tc>
                  <a:txBody>
                    <a:bodyPr/>
                    <a:lstStyle/>
                    <a:p>
                      <a:pPr algn="ctr">
                        <a:lnSpc>
                          <a:spcPct val="106000"/>
                        </a:lnSpc>
                        <a:spcAft>
                          <a:spcPts val="0"/>
                        </a:spcAft>
                        <a:tabLst>
                          <a:tab pos="3838575" algn="l"/>
                        </a:tabLst>
                      </a:pPr>
                      <a:r>
                        <a:rPr lang="en-CA" sz="1600" dirty="0">
                          <a:effectLst/>
                          <a:latin typeface="+mj-lt"/>
                        </a:rPr>
                        <a:t>0.03</a:t>
                      </a:r>
                      <a:endParaRPr lang="en-CA" sz="1600" dirty="0">
                        <a:effectLst/>
                        <a:latin typeface="+mj-lt"/>
                        <a:ea typeface="Calibri"/>
                        <a:cs typeface="Times New Roman"/>
                      </a:endParaRPr>
                    </a:p>
                  </a:txBody>
                  <a:tcPr marL="68580" marR="68580" marT="0" marB="0"/>
                </a:tc>
                <a:extLst>
                  <a:ext uri="{0D108BD9-81ED-4DB2-BD59-A6C34878D82A}">
                    <a16:rowId xmlns:a16="http://schemas.microsoft.com/office/drawing/2014/main" val="10010"/>
                  </a:ext>
                </a:extLst>
              </a:tr>
              <a:tr h="224806">
                <a:tc>
                  <a:txBody>
                    <a:bodyPr/>
                    <a:lstStyle/>
                    <a:p>
                      <a:pPr algn="just">
                        <a:lnSpc>
                          <a:spcPct val="106000"/>
                        </a:lnSpc>
                        <a:spcAft>
                          <a:spcPts val="0"/>
                        </a:spcAft>
                        <a:tabLst>
                          <a:tab pos="3838575" algn="l"/>
                        </a:tabLst>
                      </a:pPr>
                      <a:r>
                        <a:rPr lang="en-CA" sz="1600">
                          <a:effectLst/>
                          <a:latin typeface="+mj-lt"/>
                        </a:rPr>
                        <a:t>Garage area (square feet)</a:t>
                      </a:r>
                      <a:endParaRPr lang="en-CA" sz="1600">
                        <a:effectLst/>
                        <a:latin typeface="+mj-lt"/>
                        <a:ea typeface="Calibri"/>
                        <a:cs typeface="Times New Roman"/>
                      </a:endParaRPr>
                    </a:p>
                  </a:txBody>
                  <a:tcPr marL="68580" marR="68580" marT="0" marB="0"/>
                </a:tc>
                <a:tc>
                  <a:txBody>
                    <a:bodyPr/>
                    <a:lstStyle/>
                    <a:p>
                      <a:pPr algn="ctr">
                        <a:lnSpc>
                          <a:spcPct val="106000"/>
                        </a:lnSpc>
                        <a:spcAft>
                          <a:spcPts val="0"/>
                        </a:spcAft>
                        <a:tabLst>
                          <a:tab pos="3838575" algn="l"/>
                        </a:tabLst>
                      </a:pPr>
                      <a:r>
                        <a:rPr lang="en-CA" sz="1600" dirty="0">
                          <a:effectLst/>
                          <a:latin typeface="+mj-lt"/>
                        </a:rPr>
                        <a:t>0.07</a:t>
                      </a:r>
                      <a:endParaRPr lang="en-CA" sz="1600" dirty="0">
                        <a:effectLst/>
                        <a:latin typeface="+mj-lt"/>
                        <a:ea typeface="Calibri"/>
                        <a:cs typeface="Times New Roman"/>
                      </a:endParaRPr>
                    </a:p>
                  </a:txBody>
                  <a:tcPr marL="68580" marR="68580" marT="0" marB="0"/>
                </a:tc>
                <a:extLst>
                  <a:ext uri="{0D108BD9-81ED-4DB2-BD59-A6C34878D82A}">
                    <a16:rowId xmlns:a16="http://schemas.microsoft.com/office/drawing/2014/main" val="10011"/>
                  </a:ext>
                </a:extLst>
              </a:tr>
              <a:tr h="326663">
                <a:tc>
                  <a:txBody>
                    <a:bodyPr/>
                    <a:lstStyle/>
                    <a:p>
                      <a:pPr marL="236220" indent="-236220" algn="just">
                        <a:lnSpc>
                          <a:spcPct val="106000"/>
                        </a:lnSpc>
                        <a:spcAft>
                          <a:spcPts val="0"/>
                        </a:spcAft>
                        <a:tabLst>
                          <a:tab pos="3838575" algn="l"/>
                        </a:tabLst>
                      </a:pPr>
                      <a:r>
                        <a:rPr lang="en-CA" sz="1600">
                          <a:effectLst/>
                          <a:latin typeface="+mj-lt"/>
                        </a:rPr>
                        <a:t>Neighborhoods (3 out of 25 non-zero)</a:t>
                      </a:r>
                      <a:endParaRPr lang="en-CA" sz="1600">
                        <a:effectLst/>
                        <a:latin typeface="+mj-lt"/>
                        <a:ea typeface="Calibri"/>
                        <a:cs typeface="Times New Roman"/>
                      </a:endParaRPr>
                    </a:p>
                  </a:txBody>
                  <a:tcPr marL="68580" marR="68580" marT="0" marB="0"/>
                </a:tc>
                <a:tc>
                  <a:txBody>
                    <a:bodyPr/>
                    <a:lstStyle/>
                    <a:p>
                      <a:pPr algn="ctr">
                        <a:lnSpc>
                          <a:spcPct val="106000"/>
                        </a:lnSpc>
                        <a:spcAft>
                          <a:spcPts val="0"/>
                        </a:spcAft>
                        <a:tabLst>
                          <a:tab pos="3838575" algn="l"/>
                        </a:tabLst>
                      </a:pPr>
                      <a:r>
                        <a:rPr lang="en-CA" sz="1600" dirty="0">
                          <a:effectLst/>
                          <a:latin typeface="+mj-lt"/>
                        </a:rPr>
                        <a:t>0.01, 0.02, and 0.08</a:t>
                      </a:r>
                      <a:endParaRPr lang="en-CA" sz="1600" dirty="0">
                        <a:effectLst/>
                        <a:latin typeface="+mj-lt"/>
                        <a:ea typeface="Calibri"/>
                        <a:cs typeface="Times New Roman"/>
                      </a:endParaRPr>
                    </a:p>
                  </a:txBody>
                  <a:tcPr marL="68580" marR="68580" marT="0" marB="0"/>
                </a:tc>
                <a:extLst>
                  <a:ext uri="{0D108BD9-81ED-4DB2-BD59-A6C34878D82A}">
                    <a16:rowId xmlns:a16="http://schemas.microsoft.com/office/drawing/2014/main" val="10012"/>
                  </a:ext>
                </a:extLst>
              </a:tr>
              <a:tr h="224806">
                <a:tc>
                  <a:txBody>
                    <a:bodyPr/>
                    <a:lstStyle/>
                    <a:p>
                      <a:pPr marL="236220" indent="-236220" algn="just">
                        <a:lnSpc>
                          <a:spcPct val="106000"/>
                        </a:lnSpc>
                        <a:spcAft>
                          <a:spcPts val="0"/>
                        </a:spcAft>
                        <a:tabLst>
                          <a:tab pos="3838575" algn="l"/>
                        </a:tabLst>
                      </a:pPr>
                      <a:r>
                        <a:rPr lang="en-CA" sz="1600">
                          <a:effectLst/>
                          <a:latin typeface="+mj-lt"/>
                        </a:rPr>
                        <a:t>Basement quality</a:t>
                      </a:r>
                      <a:endParaRPr lang="en-CA" sz="1600">
                        <a:effectLst/>
                        <a:latin typeface="+mj-lt"/>
                        <a:ea typeface="Calibri"/>
                        <a:cs typeface="Times New Roman"/>
                      </a:endParaRPr>
                    </a:p>
                  </a:txBody>
                  <a:tcPr marL="68580" marR="68580" marT="0" marB="0"/>
                </a:tc>
                <a:tc>
                  <a:txBody>
                    <a:bodyPr/>
                    <a:lstStyle/>
                    <a:p>
                      <a:pPr algn="ctr">
                        <a:lnSpc>
                          <a:spcPct val="106000"/>
                        </a:lnSpc>
                        <a:spcAft>
                          <a:spcPts val="0"/>
                        </a:spcAft>
                        <a:tabLst>
                          <a:tab pos="3838575" algn="l"/>
                        </a:tabLst>
                      </a:pPr>
                      <a:r>
                        <a:rPr lang="en-CA" sz="1600" dirty="0">
                          <a:effectLst/>
                          <a:latin typeface="+mj-lt"/>
                        </a:rPr>
                        <a:t>0.02</a:t>
                      </a:r>
                      <a:endParaRPr lang="en-CA" sz="1600" dirty="0">
                        <a:effectLst/>
                        <a:latin typeface="+mj-lt"/>
                        <a:ea typeface="Calibri"/>
                        <a:cs typeface="Times New Roman"/>
                      </a:endParaRPr>
                    </a:p>
                  </a:txBody>
                  <a:tcPr marL="68580" marR="68580" marT="0" marB="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3935055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of Iowa House Price Results</a:t>
            </a:r>
            <a:endParaRPr lang="en-CA" dirty="0"/>
          </a:p>
        </p:txBody>
      </p:sp>
      <p:sp>
        <p:nvSpPr>
          <p:cNvPr id="3" name="Content Placeholder 2"/>
          <p:cNvSpPr>
            <a:spLocks noGrp="1"/>
          </p:cNvSpPr>
          <p:nvPr>
            <p:ph idx="1"/>
          </p:nvPr>
        </p:nvSpPr>
        <p:spPr>
          <a:xfrm>
            <a:off x="685800" y="2194520"/>
            <a:ext cx="7772400" cy="4114800"/>
          </a:xfrm>
        </p:spPr>
        <p:txBody>
          <a:bodyPr/>
          <a:lstStyle/>
          <a:p>
            <a:r>
              <a:rPr lang="en-US" dirty="0"/>
              <a:t>With no regularization correlation there is overfitting. Some weights are negative when we would expect them to be positive</a:t>
            </a:r>
          </a:p>
          <a:p>
            <a:r>
              <a:rPr lang="en-US" dirty="0"/>
              <a:t>Improvements from Ridge is modest</a:t>
            </a:r>
          </a:p>
          <a:p>
            <a:r>
              <a:rPr lang="en-US" dirty="0"/>
              <a:t>Lasso leads to a much bigger improvement in this case</a:t>
            </a:r>
          </a:p>
          <a:p>
            <a:r>
              <a:rPr lang="en-US" dirty="0"/>
              <a:t>Elastic net similar to Lasso in this case</a:t>
            </a:r>
          </a:p>
          <a:p>
            <a:r>
              <a:rPr lang="en-US" dirty="0"/>
              <a:t>Mean squared error for test set for Lasso with </a:t>
            </a:r>
            <a:r>
              <a:rPr lang="en-US" dirty="0">
                <a:latin typeface="Symbol" panose="05050102010706020507" pitchFamily="18" charset="2"/>
              </a:rPr>
              <a:t>l</a:t>
            </a:r>
            <a:r>
              <a:rPr lang="en-US" dirty="0"/>
              <a:t>=0.1 is 14.7% so that 85.3% of variance is explained (compared with 88.6% when there is no regularization)</a:t>
            </a:r>
            <a:endParaRPr lang="en-CA"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23</a:t>
            </a:fld>
            <a:endParaRPr lang="en-CA"/>
          </a:p>
        </p:txBody>
      </p:sp>
    </p:spTree>
    <p:extLst>
      <p:ext uri="{BB962C8B-B14F-4D97-AF65-F5344CB8AC3E}">
        <p14:creationId xmlns:p14="http://schemas.microsoft.com/office/powerpoint/2010/main" val="27788826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Logistic Regression</a:t>
            </a:r>
            <a:endParaRPr lang="en-CA"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The objective is to classify observations into a “positive outcome” and “negative outcome” using data on features</a:t>
                </a:r>
              </a:p>
              <a:p>
                <a:r>
                  <a:rPr lang="en-US" dirty="0"/>
                  <a:t>Probability of a positive outcome is assumed to be a sigmoid function:</a:t>
                </a:r>
              </a:p>
              <a:p>
                <a:pPr marL="0" indent="0">
                  <a:buNone/>
                </a:pPr>
                <a14:m>
                  <m:oMathPara xmlns:m="http://schemas.openxmlformats.org/officeDocument/2006/math">
                    <m:oMathParaPr>
                      <m:jc m:val="centerGroup"/>
                    </m:oMathParaPr>
                    <m:oMath xmlns:m="http://schemas.openxmlformats.org/officeDocument/2006/math">
                      <m:r>
                        <a:rPr lang="en-CA" i="1">
                          <a:latin typeface="Cambria Math"/>
                        </a:rPr>
                        <m:t>𝑄</m:t>
                      </m:r>
                      <m:r>
                        <a:rPr lang="en-CA" i="1">
                          <a:latin typeface="Cambria Math"/>
                        </a:rPr>
                        <m:t>=</m:t>
                      </m:r>
                      <m:f>
                        <m:fPr>
                          <m:ctrlPr>
                            <a:rPr lang="en-CA" i="1">
                              <a:latin typeface="Cambria Math" panose="02040503050406030204" pitchFamily="18" charset="0"/>
                            </a:rPr>
                          </m:ctrlPr>
                        </m:fPr>
                        <m:num>
                          <m:r>
                            <a:rPr lang="en-CA" i="1">
                              <a:latin typeface="Cambria Math"/>
                            </a:rPr>
                            <m:t>1</m:t>
                          </m:r>
                        </m:num>
                        <m:den>
                          <m:r>
                            <a:rPr lang="en-CA" i="1">
                              <a:latin typeface="Cambria Math"/>
                            </a:rPr>
                            <m:t>1+</m:t>
                          </m:r>
                          <m:sSup>
                            <m:sSupPr>
                              <m:ctrlPr>
                                <a:rPr lang="en-CA" i="1">
                                  <a:latin typeface="Cambria Math" panose="02040503050406030204" pitchFamily="18" charset="0"/>
                                </a:rPr>
                              </m:ctrlPr>
                            </m:sSupPr>
                            <m:e>
                              <m:r>
                                <a:rPr lang="en-CA" i="1">
                                  <a:latin typeface="Cambria Math"/>
                                </a:rPr>
                                <m:t>𝑒</m:t>
                              </m:r>
                            </m:e>
                            <m:sup>
                              <m:r>
                                <a:rPr lang="en-CA" i="1">
                                  <a:latin typeface="Cambria Math"/>
                                </a:rPr>
                                <m:t>−</m:t>
                              </m:r>
                              <m:r>
                                <a:rPr lang="en-CA" i="1">
                                  <a:latin typeface="Cambria Math"/>
                                </a:rPr>
                                <m:t>𝑌</m:t>
                              </m:r>
                            </m:sup>
                          </m:sSup>
                        </m:den>
                      </m:f>
                    </m:oMath>
                  </m:oMathPara>
                </a14:m>
                <a:endParaRPr lang="en-CA" dirty="0"/>
              </a:p>
              <a:p>
                <a:pPr marL="0" indent="0">
                  <a:buNone/>
                </a:pPr>
                <a:r>
                  <a:rPr lang="en-US" dirty="0"/>
                  <a:t>   where</a:t>
                </a:r>
                <a:r>
                  <a:rPr lang="en-US" i="1" dirty="0"/>
                  <a:t> </a:t>
                </a:r>
                <a:r>
                  <a:rPr lang="en-US" i="1" dirty="0">
                    <a:latin typeface="+mj-lt"/>
                  </a:rPr>
                  <a:t>Y</a:t>
                </a:r>
                <a:r>
                  <a:rPr lang="en-US" i="1" dirty="0"/>
                  <a:t> </a:t>
                </a:r>
                <a:r>
                  <a:rPr lang="en-US" dirty="0"/>
                  <a:t>is related linearly to the values of the features: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CA" i="1">
                          <a:latin typeface="Cambria Math"/>
                        </a:rPr>
                        <m:t>𝑌</m:t>
                      </m:r>
                      <m:r>
                        <a:rPr lang="en-CA" i="1">
                          <a:latin typeface="Cambria Math"/>
                        </a:rPr>
                        <m:t>=</m:t>
                      </m:r>
                      <m:r>
                        <a:rPr lang="en-CA" i="1">
                          <a:latin typeface="Cambria Math"/>
                        </a:rPr>
                        <m:t>𝑎</m:t>
                      </m:r>
                      <m:r>
                        <a:rPr lang="en-CA" i="1">
                          <a:latin typeface="Cambria Math"/>
                        </a:rPr>
                        <m:t>+</m:t>
                      </m:r>
                      <m:sSub>
                        <m:sSubPr>
                          <m:ctrlPr>
                            <a:rPr lang="en-CA" i="1">
                              <a:latin typeface="Cambria Math" panose="02040503050406030204" pitchFamily="18" charset="0"/>
                            </a:rPr>
                          </m:ctrlPr>
                        </m:sSubPr>
                        <m:e>
                          <m:r>
                            <a:rPr lang="en-CA" i="1">
                              <a:latin typeface="Cambria Math"/>
                            </a:rPr>
                            <m:t>𝑏</m:t>
                          </m:r>
                        </m:e>
                        <m:sub>
                          <m:r>
                            <a:rPr lang="en-CA" i="1">
                              <a:latin typeface="Cambria Math"/>
                            </a:rPr>
                            <m:t>1</m:t>
                          </m:r>
                        </m:sub>
                      </m:sSub>
                      <m:sSub>
                        <m:sSubPr>
                          <m:ctrlPr>
                            <a:rPr lang="en-CA" i="1">
                              <a:latin typeface="Cambria Math" panose="02040503050406030204" pitchFamily="18" charset="0"/>
                            </a:rPr>
                          </m:ctrlPr>
                        </m:sSubPr>
                        <m:e>
                          <m:r>
                            <a:rPr lang="en-CA" i="1">
                              <a:latin typeface="Cambria Math"/>
                            </a:rPr>
                            <m:t>𝑋</m:t>
                          </m:r>
                        </m:e>
                        <m:sub>
                          <m:r>
                            <a:rPr lang="en-CA" i="1">
                              <a:latin typeface="Cambria Math"/>
                            </a:rPr>
                            <m:t>1</m:t>
                          </m:r>
                        </m:sub>
                      </m:sSub>
                      <m:r>
                        <a:rPr lang="en-CA" i="1">
                          <a:latin typeface="Cambria Math"/>
                        </a:rPr>
                        <m:t>+</m:t>
                      </m:r>
                      <m:sSub>
                        <m:sSubPr>
                          <m:ctrlPr>
                            <a:rPr lang="en-CA" i="1">
                              <a:latin typeface="Cambria Math" panose="02040503050406030204" pitchFamily="18" charset="0"/>
                            </a:rPr>
                          </m:ctrlPr>
                        </m:sSubPr>
                        <m:e>
                          <m:r>
                            <a:rPr lang="en-CA" i="1">
                              <a:latin typeface="Cambria Math"/>
                            </a:rPr>
                            <m:t>𝑏</m:t>
                          </m:r>
                        </m:e>
                        <m:sub>
                          <m:r>
                            <a:rPr lang="en-CA" i="1">
                              <a:latin typeface="Cambria Math"/>
                            </a:rPr>
                            <m:t>2</m:t>
                          </m:r>
                        </m:sub>
                      </m:sSub>
                      <m:sSub>
                        <m:sSubPr>
                          <m:ctrlPr>
                            <a:rPr lang="en-CA" i="1">
                              <a:latin typeface="Cambria Math" panose="02040503050406030204" pitchFamily="18" charset="0"/>
                            </a:rPr>
                          </m:ctrlPr>
                        </m:sSubPr>
                        <m:e>
                          <m:r>
                            <a:rPr lang="en-CA" i="1">
                              <a:latin typeface="Cambria Math"/>
                            </a:rPr>
                            <m:t>𝑋</m:t>
                          </m:r>
                        </m:e>
                        <m:sub>
                          <m:r>
                            <a:rPr lang="en-CA" i="1">
                              <a:latin typeface="Cambria Math"/>
                            </a:rPr>
                            <m:t>2</m:t>
                          </m:r>
                        </m:sub>
                      </m:sSub>
                      <m:r>
                        <a:rPr lang="en-CA" i="1">
                          <a:latin typeface="Cambria Math"/>
                        </a:rPr>
                        <m:t>+⋯+</m:t>
                      </m:r>
                      <m:sSub>
                        <m:sSubPr>
                          <m:ctrlPr>
                            <a:rPr lang="en-CA" i="1">
                              <a:latin typeface="Cambria Math" panose="02040503050406030204" pitchFamily="18" charset="0"/>
                            </a:rPr>
                          </m:ctrlPr>
                        </m:sSubPr>
                        <m:e>
                          <m:r>
                            <a:rPr lang="en-CA" i="1">
                              <a:latin typeface="Cambria Math"/>
                            </a:rPr>
                            <m:t>𝑋</m:t>
                          </m:r>
                        </m:e>
                        <m:sub>
                          <m:r>
                            <a:rPr lang="en-CA" i="1">
                              <a:latin typeface="Cambria Math"/>
                            </a:rPr>
                            <m:t>𝑚</m:t>
                          </m:r>
                        </m:sub>
                      </m:sSub>
                    </m:oMath>
                  </m:oMathPara>
                </a14:m>
                <a:endParaRPr lang="en-CA" dirty="0"/>
              </a:p>
              <a:p>
                <a:pPr marL="0" indent="0">
                  <a:buNone/>
                </a:pPr>
                <a:endParaRPr lang="en-US" dirty="0"/>
              </a:p>
              <a:p>
                <a:pPr marL="0" indent="0">
                  <a:buNone/>
                </a:pPr>
                <a:endParaRPr lang="en-US" dirty="0"/>
              </a:p>
              <a:p>
                <a:pPr marL="0" indent="0">
                  <a:buNone/>
                </a:pPr>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889"/>
                </a:stretch>
              </a:blipFill>
            </p:spPr>
            <p:txBody>
              <a:bodyPr/>
              <a:lstStyle/>
              <a:p>
                <a:r>
                  <a:rPr lang="en-CA">
                    <a:noFill/>
                  </a:rPr>
                  <a:t> </a:t>
                </a:r>
              </a:p>
            </p:txBody>
          </p:sp>
        </mc:Fallback>
      </mc:AlternateContent>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24</a:t>
            </a:fld>
            <a:endParaRPr lang="en-CA"/>
          </a:p>
        </p:txBody>
      </p:sp>
    </p:spTree>
    <p:extLst>
      <p:ext uri="{BB962C8B-B14F-4D97-AF65-F5344CB8AC3E}">
        <p14:creationId xmlns:p14="http://schemas.microsoft.com/office/powerpoint/2010/main" val="29521192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Sigmoid Function (Figure 3.10)</a:t>
            </a:r>
            <a:endParaRPr lang="en-CA" dirty="0"/>
          </a:p>
        </p:txBody>
      </p:sp>
      <p:pic>
        <p:nvPicPr>
          <p:cNvPr id="3" name="Picture 2"/>
          <p:cNvPicPr/>
          <p:nvPr/>
        </p:nvPicPr>
        <p:blipFill>
          <a:blip r:embed="rId2">
            <a:extLst>
              <a:ext uri="{28A0092B-C50C-407E-A947-70E740481C1C}">
                <a14:useLocalDpi xmlns:a14="http://schemas.microsoft.com/office/drawing/2010/main" val="0"/>
              </a:ext>
            </a:extLst>
          </a:blip>
          <a:srcRect/>
          <a:stretch>
            <a:fillRect/>
          </a:stretch>
        </p:blipFill>
        <p:spPr bwMode="auto">
          <a:xfrm>
            <a:off x="1043608" y="2060849"/>
            <a:ext cx="6408712" cy="3456384"/>
          </a:xfrm>
          <a:prstGeom prst="rect">
            <a:avLst/>
          </a:prstGeom>
          <a:noFill/>
          <a:ln>
            <a:noFill/>
          </a:ln>
        </p:spPr>
      </p:pic>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25</a:t>
            </a:fld>
            <a:endParaRPr lang="en-CA"/>
          </a:p>
        </p:txBody>
      </p:sp>
    </p:spTree>
    <p:extLst>
      <p:ext uri="{BB962C8B-B14F-4D97-AF65-F5344CB8AC3E}">
        <p14:creationId xmlns:p14="http://schemas.microsoft.com/office/powerpoint/2010/main" val="323984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Maximum Likelihood Estimation</a:t>
            </a:r>
            <a:endParaRPr lang="en-CA"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sz="1800" dirty="0"/>
                  <a:t>We use the training set to maximize</a:t>
                </a:r>
              </a:p>
              <a:p>
                <a:pPr marL="0" indent="0">
                  <a:buNone/>
                </a:pPr>
                <a14:m>
                  <m:oMathPara xmlns:m="http://schemas.openxmlformats.org/officeDocument/2006/math">
                    <m:oMathParaPr>
                      <m:jc m:val="centerGroup"/>
                    </m:oMathParaPr>
                    <m:oMath xmlns:m="http://schemas.openxmlformats.org/officeDocument/2006/math">
                      <m:nary>
                        <m:naryPr>
                          <m:chr m:val="∑"/>
                          <m:limLoc m:val="undOvr"/>
                          <m:supHide m:val="on"/>
                          <m:ctrlPr>
                            <a:rPr lang="en-CA" sz="1800" i="1" smtClean="0">
                              <a:latin typeface="Cambria Math" panose="02040503050406030204" pitchFamily="18" charset="0"/>
                            </a:rPr>
                          </m:ctrlPr>
                        </m:naryPr>
                        <m:sub>
                          <m:eqArr>
                            <m:eqArrPr>
                              <m:ctrlPr>
                                <a:rPr lang="en-CA" sz="1800" i="1">
                                  <a:latin typeface="Cambria Math" panose="02040503050406030204" pitchFamily="18" charset="0"/>
                                </a:rPr>
                              </m:ctrlPr>
                            </m:eqArrPr>
                            <m:e>
                              <m:r>
                                <m:rPr>
                                  <m:sty m:val="p"/>
                                </m:rPr>
                                <a:rPr lang="en-CA" sz="1800">
                                  <a:latin typeface="Cambria Math"/>
                                </a:rPr>
                                <m:t>Positive</m:t>
                              </m:r>
                              <m:r>
                                <a:rPr lang="en-CA" sz="1800">
                                  <a:latin typeface="Cambria Math"/>
                                </a:rPr>
                                <m:t> </m:t>
                              </m:r>
                            </m:e>
                            <m:e>
                              <m:r>
                                <m:rPr>
                                  <m:sty m:val="p"/>
                                </m:rPr>
                                <a:rPr lang="en-CA" sz="1800">
                                  <a:latin typeface="Cambria Math"/>
                                </a:rPr>
                                <m:t>Outcomes</m:t>
                              </m:r>
                            </m:e>
                          </m:eqArr>
                        </m:sub>
                        <m:sup/>
                        <m:e>
                          <m:func>
                            <m:funcPr>
                              <m:ctrlPr>
                                <a:rPr lang="en-CA" sz="1800" i="1">
                                  <a:latin typeface="Cambria Math" panose="02040503050406030204" pitchFamily="18" charset="0"/>
                                </a:rPr>
                              </m:ctrlPr>
                            </m:funcPr>
                            <m:fName>
                              <m:r>
                                <m:rPr>
                                  <m:sty m:val="p"/>
                                </m:rPr>
                                <a:rPr lang="en-CA" sz="1800">
                                  <a:latin typeface="Cambria Math"/>
                                </a:rPr>
                                <m:t>ln</m:t>
                              </m:r>
                            </m:fName>
                            <m:e>
                              <m:d>
                                <m:dPr>
                                  <m:ctrlPr>
                                    <a:rPr lang="en-CA" sz="1800" i="1">
                                      <a:latin typeface="Cambria Math" panose="02040503050406030204" pitchFamily="18" charset="0"/>
                                    </a:rPr>
                                  </m:ctrlPr>
                                </m:dPr>
                                <m:e>
                                  <m:r>
                                    <a:rPr lang="en-CA" sz="1800" i="1">
                                      <a:latin typeface="Cambria Math"/>
                                    </a:rPr>
                                    <m:t>𝑄</m:t>
                                  </m:r>
                                </m:e>
                              </m:d>
                            </m:e>
                          </m:func>
                          <m:r>
                            <a:rPr lang="en-CA" sz="1800" i="1">
                              <a:latin typeface="Cambria Math"/>
                            </a:rPr>
                            <m:t>+</m:t>
                          </m:r>
                          <m:nary>
                            <m:naryPr>
                              <m:chr m:val="∑"/>
                              <m:limLoc m:val="undOvr"/>
                              <m:supHide m:val="on"/>
                              <m:ctrlPr>
                                <a:rPr lang="en-CA" sz="1800" i="1">
                                  <a:latin typeface="Cambria Math" panose="02040503050406030204" pitchFamily="18" charset="0"/>
                                </a:rPr>
                              </m:ctrlPr>
                            </m:naryPr>
                            <m:sub>
                              <m:eqArr>
                                <m:eqArrPr>
                                  <m:ctrlPr>
                                    <a:rPr lang="en-CA" sz="1800" i="1">
                                      <a:latin typeface="Cambria Math" panose="02040503050406030204" pitchFamily="18" charset="0"/>
                                    </a:rPr>
                                  </m:ctrlPr>
                                </m:eqArrPr>
                                <m:e>
                                  <m:r>
                                    <m:rPr>
                                      <m:sty m:val="p"/>
                                    </m:rPr>
                                    <a:rPr lang="en-CA" sz="1800">
                                      <a:latin typeface="Cambria Math"/>
                                    </a:rPr>
                                    <m:t>Negative</m:t>
                                  </m:r>
                                  <m:r>
                                    <a:rPr lang="en-CA" sz="1800">
                                      <a:latin typeface="Cambria Math"/>
                                    </a:rPr>
                                    <m:t> </m:t>
                                  </m:r>
                                </m:e>
                                <m:e>
                                  <m:r>
                                    <m:rPr>
                                      <m:sty m:val="p"/>
                                    </m:rPr>
                                    <a:rPr lang="en-CA" sz="1800">
                                      <a:latin typeface="Cambria Math"/>
                                    </a:rPr>
                                    <m:t>Outcomes</m:t>
                                  </m:r>
                                </m:e>
                              </m:eqArr>
                            </m:sub>
                            <m:sup/>
                            <m:e>
                              <m:r>
                                <m:rPr>
                                  <m:sty m:val="p"/>
                                </m:rPr>
                                <a:rPr lang="en-CA" sz="1800">
                                  <a:latin typeface="Cambria Math"/>
                                </a:rPr>
                                <m:t>ln</m:t>
                              </m:r>
                              <m:r>
                                <a:rPr lang="en-CA" sz="1800">
                                  <a:latin typeface="Cambria Math"/>
                                </a:rPr>
                                <m:t>⁡</m:t>
                              </m:r>
                              <m:r>
                                <a:rPr lang="en-CA" sz="1800" i="1">
                                  <a:latin typeface="Cambria Math"/>
                                </a:rPr>
                                <m:t>(1−</m:t>
                              </m:r>
                              <m:r>
                                <a:rPr lang="en-CA" sz="1800" i="1">
                                  <a:latin typeface="Cambria Math"/>
                                </a:rPr>
                                <m:t>𝑄</m:t>
                              </m:r>
                              <m:r>
                                <a:rPr lang="en-CA" sz="1800" i="1">
                                  <a:latin typeface="Cambria Math"/>
                                </a:rPr>
                                <m:t>)</m:t>
                              </m:r>
                            </m:e>
                          </m:nary>
                        </m:e>
                      </m:nary>
                    </m:oMath>
                  </m:oMathPara>
                </a14:m>
                <a:endParaRPr lang="en-US" sz="1800" dirty="0"/>
              </a:p>
              <a:p>
                <a:pPr marL="0" indent="0">
                  <a:buNone/>
                </a:pPr>
                <a:r>
                  <a:rPr lang="en-US" sz="1800" dirty="0"/>
                  <a:t>Equivalently we can minimize a cost function</a:t>
                </a:r>
              </a:p>
              <a:p>
                <a:pPr marL="0" indent="0">
                  <a:buNone/>
                </a:pPr>
                <a14:m>
                  <m:oMathPara xmlns:m="http://schemas.openxmlformats.org/officeDocument/2006/math">
                    <m:oMathParaPr>
                      <m:jc m:val="centerGroup"/>
                    </m:oMathParaPr>
                    <m:oMath xmlns:m="http://schemas.openxmlformats.org/officeDocument/2006/math">
                      <m:f>
                        <m:fPr>
                          <m:ctrlPr>
                            <a:rPr lang="en-US" sz="1800" i="1" smtClean="0">
                              <a:latin typeface="Cambria Math" panose="02040503050406030204" pitchFamily="18" charset="0"/>
                            </a:rPr>
                          </m:ctrlPr>
                        </m:fPr>
                        <m:num>
                          <m:r>
                            <a:rPr lang="en-CA" sz="1800" b="0" i="1" smtClean="0">
                              <a:latin typeface="Cambria Math" panose="02040503050406030204" pitchFamily="18" charset="0"/>
                            </a:rPr>
                            <m:t>1</m:t>
                          </m:r>
                        </m:num>
                        <m:den>
                          <m:r>
                            <a:rPr lang="en-CA" sz="1800" b="0" i="1" smtClean="0">
                              <a:latin typeface="Cambria Math" panose="02040503050406030204" pitchFamily="18" charset="0"/>
                            </a:rPr>
                            <m:t>𝑛</m:t>
                          </m:r>
                        </m:den>
                      </m:f>
                      <m:d>
                        <m:dPr>
                          <m:begChr m:val="["/>
                          <m:endChr m:val="]"/>
                          <m:ctrlPr>
                            <a:rPr lang="en-US" sz="1800" i="1" smtClean="0">
                              <a:latin typeface="Cambria Math" panose="02040503050406030204" pitchFamily="18" charset="0"/>
                            </a:rPr>
                          </m:ctrlPr>
                        </m:dPr>
                        <m:e>
                          <m:r>
                            <a:rPr lang="en-CA" sz="1800" b="0" i="1" smtClean="0">
                              <a:latin typeface="Cambria Math" panose="02040503050406030204" pitchFamily="18" charset="0"/>
                            </a:rPr>
                            <m:t>−</m:t>
                          </m:r>
                          <m:nary>
                            <m:naryPr>
                              <m:chr m:val="∑"/>
                              <m:limLoc m:val="undOvr"/>
                              <m:supHide m:val="on"/>
                              <m:ctrlPr>
                                <a:rPr lang="en-CA" sz="1800" i="1">
                                  <a:latin typeface="Cambria Math" panose="02040503050406030204" pitchFamily="18" charset="0"/>
                                </a:rPr>
                              </m:ctrlPr>
                            </m:naryPr>
                            <m:sub>
                              <m:eqArr>
                                <m:eqArrPr>
                                  <m:ctrlPr>
                                    <a:rPr lang="en-CA" sz="1800" i="1">
                                      <a:latin typeface="Cambria Math" panose="02040503050406030204" pitchFamily="18" charset="0"/>
                                    </a:rPr>
                                  </m:ctrlPr>
                                </m:eqArrPr>
                                <m:e>
                                  <m:r>
                                    <m:rPr>
                                      <m:sty m:val="p"/>
                                    </m:rPr>
                                    <a:rPr lang="en-CA" sz="1800">
                                      <a:latin typeface="Cambria Math"/>
                                    </a:rPr>
                                    <m:t>Positive</m:t>
                                  </m:r>
                                  <m:r>
                                    <a:rPr lang="en-CA" sz="1800">
                                      <a:latin typeface="Cambria Math"/>
                                    </a:rPr>
                                    <m:t> </m:t>
                                  </m:r>
                                </m:e>
                                <m:e>
                                  <m:r>
                                    <m:rPr>
                                      <m:sty m:val="p"/>
                                    </m:rPr>
                                    <a:rPr lang="en-CA" sz="1800">
                                      <a:latin typeface="Cambria Math"/>
                                    </a:rPr>
                                    <m:t>Outcomes</m:t>
                                  </m:r>
                                </m:e>
                              </m:eqArr>
                            </m:sub>
                            <m:sup/>
                            <m:e>
                              <m:func>
                                <m:funcPr>
                                  <m:ctrlPr>
                                    <a:rPr lang="en-CA" sz="1800" i="1">
                                      <a:latin typeface="Cambria Math" panose="02040503050406030204" pitchFamily="18" charset="0"/>
                                    </a:rPr>
                                  </m:ctrlPr>
                                </m:funcPr>
                                <m:fName>
                                  <m:r>
                                    <m:rPr>
                                      <m:sty m:val="p"/>
                                    </m:rPr>
                                    <a:rPr lang="en-CA" sz="1800">
                                      <a:latin typeface="Cambria Math"/>
                                    </a:rPr>
                                    <m:t>ln</m:t>
                                  </m:r>
                                </m:fName>
                                <m:e>
                                  <m:d>
                                    <m:dPr>
                                      <m:ctrlPr>
                                        <a:rPr lang="en-CA" sz="1800" i="1">
                                          <a:latin typeface="Cambria Math" panose="02040503050406030204" pitchFamily="18" charset="0"/>
                                        </a:rPr>
                                      </m:ctrlPr>
                                    </m:dPr>
                                    <m:e>
                                      <m:r>
                                        <a:rPr lang="en-CA" sz="1800" i="1">
                                          <a:latin typeface="Cambria Math"/>
                                        </a:rPr>
                                        <m:t>𝑄</m:t>
                                      </m:r>
                                    </m:e>
                                  </m:d>
                                </m:e>
                              </m:func>
                              <m:r>
                                <a:rPr lang="en-CA" sz="1800" b="0" i="1" smtClean="0">
                                  <a:latin typeface="Cambria Math" panose="02040503050406030204" pitchFamily="18" charset="0"/>
                                </a:rPr>
                                <m:t>−</m:t>
                              </m:r>
                              <m:nary>
                                <m:naryPr>
                                  <m:chr m:val="∑"/>
                                  <m:limLoc m:val="undOvr"/>
                                  <m:supHide m:val="on"/>
                                  <m:ctrlPr>
                                    <a:rPr lang="en-CA" sz="1800" i="1">
                                      <a:latin typeface="Cambria Math" panose="02040503050406030204" pitchFamily="18" charset="0"/>
                                    </a:rPr>
                                  </m:ctrlPr>
                                </m:naryPr>
                                <m:sub>
                                  <m:eqArr>
                                    <m:eqArrPr>
                                      <m:ctrlPr>
                                        <a:rPr lang="en-CA" sz="1800" i="1">
                                          <a:latin typeface="Cambria Math" panose="02040503050406030204" pitchFamily="18" charset="0"/>
                                        </a:rPr>
                                      </m:ctrlPr>
                                    </m:eqArrPr>
                                    <m:e>
                                      <m:r>
                                        <m:rPr>
                                          <m:sty m:val="p"/>
                                        </m:rPr>
                                        <a:rPr lang="en-CA" sz="1800">
                                          <a:latin typeface="Cambria Math"/>
                                        </a:rPr>
                                        <m:t>Negative</m:t>
                                      </m:r>
                                      <m:r>
                                        <a:rPr lang="en-CA" sz="1800">
                                          <a:latin typeface="Cambria Math"/>
                                        </a:rPr>
                                        <m:t> </m:t>
                                      </m:r>
                                    </m:e>
                                    <m:e>
                                      <m:r>
                                        <m:rPr>
                                          <m:sty m:val="p"/>
                                        </m:rPr>
                                        <a:rPr lang="en-CA" sz="1800">
                                          <a:latin typeface="Cambria Math"/>
                                        </a:rPr>
                                        <m:t>Outcomes</m:t>
                                      </m:r>
                                    </m:e>
                                  </m:eqArr>
                                </m:sub>
                                <m:sup/>
                                <m:e>
                                  <m:r>
                                    <m:rPr>
                                      <m:sty m:val="p"/>
                                    </m:rPr>
                                    <a:rPr lang="en-CA" sz="1800">
                                      <a:latin typeface="Cambria Math"/>
                                    </a:rPr>
                                    <m:t>ln</m:t>
                                  </m:r>
                                  <m:r>
                                    <a:rPr lang="en-CA" sz="1800">
                                      <a:latin typeface="Cambria Math"/>
                                    </a:rPr>
                                    <m:t>⁡</m:t>
                                  </m:r>
                                  <m:r>
                                    <a:rPr lang="en-CA" sz="1800" i="1">
                                      <a:latin typeface="Cambria Math"/>
                                    </a:rPr>
                                    <m:t>(1−</m:t>
                                  </m:r>
                                  <m:r>
                                    <a:rPr lang="en-CA" sz="1800" i="1">
                                      <a:latin typeface="Cambria Math"/>
                                    </a:rPr>
                                    <m:t>𝑄</m:t>
                                  </m:r>
                                  <m:r>
                                    <a:rPr lang="en-CA" sz="1800" i="1">
                                      <a:latin typeface="Cambria Math"/>
                                    </a:rPr>
                                    <m:t>)</m:t>
                                  </m:r>
                                </m:e>
                              </m:nary>
                            </m:e>
                          </m:nary>
                        </m:e>
                      </m:d>
                    </m:oMath>
                  </m:oMathPara>
                </a14:m>
                <a:endParaRPr lang="en-US" sz="1800" dirty="0"/>
              </a:p>
              <a:p>
                <a:pPr marL="0" indent="0">
                  <a:buNone/>
                </a:pPr>
                <a:endParaRPr lang="en-US" sz="1800" dirty="0"/>
              </a:p>
              <a:p>
                <a:r>
                  <a:rPr lang="en-US" sz="1800" dirty="0"/>
                  <a:t>This maximization (minimization)  cannot be done analytically but we can use a gradient ascent algorithm</a:t>
                </a:r>
              </a:p>
              <a:p>
                <a:r>
                  <a:rPr lang="en-US" sz="1800" dirty="0"/>
                  <a:t>To include regularization we can add </a:t>
                </a:r>
                <a14:m>
                  <m:oMath xmlns:m="http://schemas.openxmlformats.org/officeDocument/2006/math">
                    <m:nary>
                      <m:naryPr>
                        <m:chr m:val="∑"/>
                        <m:subHide m:val="on"/>
                        <m:supHide m:val="on"/>
                        <m:ctrlPr>
                          <a:rPr lang="en-US" sz="1800" i="1" smtClean="0">
                            <a:latin typeface="Cambria Math" panose="02040503050406030204" pitchFamily="18" charset="0"/>
                          </a:rPr>
                        </m:ctrlPr>
                      </m:naryPr>
                      <m:sub/>
                      <m:sup/>
                      <m:e>
                        <m:sSubSup>
                          <m:sSubSupPr>
                            <m:ctrlPr>
                              <a:rPr lang="en-US" sz="1800" i="1" smtClean="0">
                                <a:latin typeface="Cambria Math" panose="02040503050406030204" pitchFamily="18" charset="0"/>
                              </a:rPr>
                            </m:ctrlPr>
                          </m:sSubSupPr>
                          <m:e>
                            <m:r>
                              <a:rPr lang="en-CA" sz="1800" b="0" i="1" smtClean="0">
                                <a:latin typeface="Cambria Math" panose="02040503050406030204" pitchFamily="18" charset="0"/>
                              </a:rPr>
                              <m:t>𝑏</m:t>
                            </m:r>
                          </m:e>
                          <m:sub>
                            <m:r>
                              <a:rPr lang="en-CA" sz="1800" b="0" i="1" smtClean="0">
                                <a:latin typeface="Cambria Math" panose="02040503050406030204" pitchFamily="18" charset="0"/>
                              </a:rPr>
                              <m:t>𝑗</m:t>
                            </m:r>
                          </m:sub>
                          <m:sup>
                            <m:r>
                              <a:rPr lang="en-CA" sz="1800" b="0" i="1" smtClean="0">
                                <a:latin typeface="Cambria Math" panose="02040503050406030204" pitchFamily="18" charset="0"/>
                              </a:rPr>
                              <m:t>2</m:t>
                            </m:r>
                          </m:sup>
                        </m:sSubSup>
                      </m:e>
                    </m:nary>
                  </m:oMath>
                </a14:m>
                <a:r>
                  <a:rPr lang="en-US" sz="1800" dirty="0"/>
                  <a:t> or </a:t>
                </a:r>
                <a14:m>
                  <m:oMath xmlns:m="http://schemas.openxmlformats.org/officeDocument/2006/math">
                    <m:nary>
                      <m:naryPr>
                        <m:chr m:val="∑"/>
                        <m:subHide m:val="on"/>
                        <m:supHide m:val="on"/>
                        <m:ctrlPr>
                          <a:rPr lang="en-US" sz="1800" i="1" smtClean="0">
                            <a:latin typeface="Cambria Math" panose="02040503050406030204" pitchFamily="18" charset="0"/>
                          </a:rPr>
                        </m:ctrlPr>
                      </m:naryPr>
                      <m:sub/>
                      <m:sup/>
                      <m:e>
                        <m:d>
                          <m:dPr>
                            <m:begChr m:val="|"/>
                            <m:endChr m:val=""/>
                            <m:ctrlPr>
                              <a:rPr lang="en-US" sz="1800" i="1" smtClean="0">
                                <a:latin typeface="Cambria Math" panose="02040503050406030204" pitchFamily="18" charset="0"/>
                              </a:rPr>
                            </m:ctrlPr>
                          </m:dPr>
                          <m:e>
                            <m:d>
                              <m:dPr>
                                <m:begChr m:val=""/>
                                <m:endChr m:val="|"/>
                                <m:ctrlPr>
                                  <a:rPr lang="en-US" sz="1800" i="1" smtClean="0">
                                    <a:latin typeface="Cambria Math" panose="02040503050406030204" pitchFamily="18" charset="0"/>
                                  </a:rPr>
                                </m:ctrlPr>
                              </m:dPr>
                              <m:e>
                                <m:sSub>
                                  <m:sSubPr>
                                    <m:ctrlPr>
                                      <a:rPr lang="en-US" sz="1800" i="1" smtClean="0">
                                        <a:latin typeface="Cambria Math" panose="02040503050406030204" pitchFamily="18" charset="0"/>
                                      </a:rPr>
                                    </m:ctrlPr>
                                  </m:sSubPr>
                                  <m:e>
                                    <m:r>
                                      <a:rPr lang="en-CA" sz="1800" b="0" i="1" smtClean="0">
                                        <a:latin typeface="Cambria Math" panose="02040503050406030204" pitchFamily="18" charset="0"/>
                                      </a:rPr>
                                      <m:t>𝑏</m:t>
                                    </m:r>
                                  </m:e>
                                  <m:sub>
                                    <m:r>
                                      <a:rPr lang="en-CA" sz="1800" b="0" i="1" smtClean="0">
                                        <a:latin typeface="Cambria Math" panose="02040503050406030204" pitchFamily="18" charset="0"/>
                                      </a:rPr>
                                      <m:t>𝑗</m:t>
                                    </m:r>
                                  </m:sub>
                                </m:sSub>
                              </m:e>
                            </m:d>
                          </m:e>
                        </m:d>
                      </m:e>
                    </m:nary>
                  </m:oMath>
                </a14:m>
                <a:r>
                  <a:rPr lang="en-US" sz="1800" dirty="0"/>
                  <a:t> to the expression that is minimized</a:t>
                </a:r>
              </a:p>
              <a:p>
                <a:pPr marL="0" indent="0">
                  <a:buNone/>
                </a:pP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06" t="-741" r="-941" b="-13481"/>
                </a:stretch>
              </a:blipFill>
            </p:spPr>
            <p:txBody>
              <a:bodyPr/>
              <a:lstStyle/>
              <a:p>
                <a:r>
                  <a:rPr lang="en-CA">
                    <a:noFill/>
                  </a:rPr>
                  <a:t> </a:t>
                </a:r>
              </a:p>
            </p:txBody>
          </p:sp>
        </mc:Fallback>
      </mc:AlternateContent>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26</a:t>
            </a:fld>
            <a:endParaRPr lang="en-CA"/>
          </a:p>
        </p:txBody>
      </p:sp>
    </p:spTree>
    <p:extLst>
      <p:ext uri="{BB962C8B-B14F-4D97-AF65-F5344CB8AC3E}">
        <p14:creationId xmlns:p14="http://schemas.microsoft.com/office/powerpoint/2010/main" val="33473643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Lending Club Case Study</a:t>
            </a:r>
          </a:p>
        </p:txBody>
      </p:sp>
      <p:sp>
        <p:nvSpPr>
          <p:cNvPr id="3" name="Content Placeholder 2"/>
          <p:cNvSpPr>
            <a:spLocks noGrp="1"/>
          </p:cNvSpPr>
          <p:nvPr>
            <p:ph idx="1"/>
          </p:nvPr>
        </p:nvSpPr>
        <p:spPr/>
        <p:txBody>
          <a:bodyPr/>
          <a:lstStyle/>
          <a:p>
            <a:r>
              <a:rPr lang="en-US" dirty="0"/>
              <a:t>Data consists of loans made and whether they proved to be good or defaulted. </a:t>
            </a:r>
          </a:p>
          <a:p>
            <a:r>
              <a:rPr lang="en-US" dirty="0"/>
              <a:t>We use only four features</a:t>
            </a:r>
          </a:p>
          <a:p>
            <a:pPr lvl="1"/>
            <a:r>
              <a:rPr lang="en-CA" dirty="0"/>
              <a:t>Home ownership (rent vs. own)</a:t>
            </a:r>
          </a:p>
          <a:p>
            <a:pPr lvl="1"/>
            <a:r>
              <a:rPr lang="en-CA" dirty="0"/>
              <a:t>Income</a:t>
            </a:r>
          </a:p>
          <a:p>
            <a:pPr lvl="1"/>
            <a:r>
              <a:rPr lang="en-CA" dirty="0"/>
              <a:t>Debt to income</a:t>
            </a:r>
          </a:p>
          <a:p>
            <a:pPr lvl="1"/>
            <a:r>
              <a:rPr lang="en-CA" dirty="0"/>
              <a:t>Credit score</a:t>
            </a:r>
            <a:endParaRPr lang="en-US" dirty="0"/>
          </a:p>
          <a:p>
            <a:r>
              <a:rPr lang="en-US" dirty="0" err="1"/>
              <a:t>Dat</a:t>
            </a:r>
            <a:r>
              <a:rPr lang="en-US" dirty="0"/>
              <a:t> set has 12,290 observations (9,733 good loans “Fully Paid” and 2,557 defaulting loans “Charged Off”). 7,000 loans were put in training set, 3,000 in validation set, and 2,290 in test set</a:t>
            </a:r>
            <a:endParaRPr lang="en-CA"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2E8C09BE-1715-42CA-A91A-E7B0E09A3015}" type="slidenum">
              <a:rPr lang="en-CA" smtClean="0"/>
              <a:t>27</a:t>
            </a:fld>
            <a:endParaRPr lang="en-CA"/>
          </a:p>
        </p:txBody>
      </p:sp>
    </p:spTree>
    <p:extLst>
      <p:ext uri="{BB962C8B-B14F-4D97-AF65-F5344CB8AC3E}">
        <p14:creationId xmlns:p14="http://schemas.microsoft.com/office/powerpoint/2010/main" val="18487438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700" dirty="0"/>
              <a:t>The Data (Table 3.8)</a:t>
            </a:r>
            <a:endParaRPr lang="en-CA" sz="2700" i="0"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719471444"/>
              </p:ext>
            </p:extLst>
          </p:nvPr>
        </p:nvGraphicFramePr>
        <p:xfrm>
          <a:off x="827584" y="2276872"/>
          <a:ext cx="6800851" cy="2918460"/>
        </p:xfrm>
        <a:graphic>
          <a:graphicData uri="http://schemas.openxmlformats.org/drawingml/2006/table">
            <a:tbl>
              <a:tblPr firstRow="1" bandRow="1">
                <a:tableStyleId>{5940675A-B579-460E-94D1-54222C63F5DA}</a:tableStyleId>
              </a:tblPr>
              <a:tblGrid>
                <a:gridCol w="1331777">
                  <a:extLst>
                    <a:ext uri="{9D8B030D-6E8A-4147-A177-3AD203B41FA5}">
                      <a16:colId xmlns:a16="http://schemas.microsoft.com/office/drawing/2014/main" val="1013518420"/>
                    </a:ext>
                  </a:extLst>
                </a:gridCol>
                <a:gridCol w="1331777">
                  <a:extLst>
                    <a:ext uri="{9D8B030D-6E8A-4147-A177-3AD203B41FA5}">
                      <a16:colId xmlns:a16="http://schemas.microsoft.com/office/drawing/2014/main" val="20001"/>
                    </a:ext>
                  </a:extLst>
                </a:gridCol>
                <a:gridCol w="1304224">
                  <a:extLst>
                    <a:ext uri="{9D8B030D-6E8A-4147-A177-3AD203B41FA5}">
                      <a16:colId xmlns:a16="http://schemas.microsoft.com/office/drawing/2014/main" val="3818158830"/>
                    </a:ext>
                  </a:extLst>
                </a:gridCol>
                <a:gridCol w="1270481">
                  <a:extLst>
                    <a:ext uri="{9D8B030D-6E8A-4147-A177-3AD203B41FA5}">
                      <a16:colId xmlns:a16="http://schemas.microsoft.com/office/drawing/2014/main" val="40524044"/>
                    </a:ext>
                  </a:extLst>
                </a:gridCol>
                <a:gridCol w="1562592">
                  <a:extLst>
                    <a:ext uri="{9D8B030D-6E8A-4147-A177-3AD203B41FA5}">
                      <a16:colId xmlns:a16="http://schemas.microsoft.com/office/drawing/2014/main" val="20002"/>
                    </a:ext>
                  </a:extLst>
                </a:gridCol>
              </a:tblGrid>
              <a:tr h="848529">
                <a:tc>
                  <a:txBody>
                    <a:bodyPr/>
                    <a:lstStyle/>
                    <a:p>
                      <a:pPr algn="ctr"/>
                      <a:r>
                        <a:rPr lang="en-CA" sz="1600" dirty="0"/>
                        <a:t>Home Ownership</a:t>
                      </a:r>
                    </a:p>
                    <a:p>
                      <a:pPr algn="ctr"/>
                      <a:r>
                        <a:rPr lang="en-CA" sz="1600" dirty="0"/>
                        <a:t>1=owns, 0 =rents</a:t>
                      </a:r>
                    </a:p>
                  </a:txBody>
                  <a:tcPr marL="68580" marR="68580" marT="34290" marB="34290"/>
                </a:tc>
                <a:tc>
                  <a:txBody>
                    <a:bodyPr/>
                    <a:lstStyle/>
                    <a:p>
                      <a:pPr algn="ctr"/>
                      <a:r>
                        <a:rPr lang="en-US" sz="1600" dirty="0"/>
                        <a:t>Income ($’000)</a:t>
                      </a:r>
                      <a:endParaRPr lang="en-CA" sz="1600" dirty="0"/>
                    </a:p>
                  </a:txBody>
                  <a:tcPr marL="68580" marR="68580" marT="34290" marB="34290"/>
                </a:tc>
                <a:tc>
                  <a:txBody>
                    <a:bodyPr/>
                    <a:lstStyle/>
                    <a:p>
                      <a:pPr algn="ctr"/>
                      <a:r>
                        <a:rPr lang="en-CA" sz="1600" dirty="0"/>
                        <a:t>Debt to Income (%)</a:t>
                      </a:r>
                    </a:p>
                  </a:txBody>
                  <a:tcPr marL="68580" marR="68580" marT="34290" marB="34290"/>
                </a:tc>
                <a:tc>
                  <a:txBody>
                    <a:bodyPr/>
                    <a:lstStyle/>
                    <a:p>
                      <a:pPr algn="ctr"/>
                      <a:r>
                        <a:rPr lang="en-CA" sz="1600" dirty="0"/>
                        <a:t>Credit score</a:t>
                      </a:r>
                    </a:p>
                  </a:txBody>
                  <a:tcPr marL="68580" marR="68580" marT="34290" marB="34290"/>
                </a:tc>
                <a:tc>
                  <a:txBody>
                    <a:bodyPr/>
                    <a:lstStyle/>
                    <a:p>
                      <a:pPr algn="ctr"/>
                      <a:r>
                        <a:rPr lang="en-US" sz="1600" dirty="0"/>
                        <a:t>1=Good,</a:t>
                      </a:r>
                      <a:r>
                        <a:rPr lang="en-US" sz="1600" baseline="0" dirty="0"/>
                        <a:t> 0=Default</a:t>
                      </a:r>
                      <a:endParaRPr lang="en-CA" sz="1600" dirty="0"/>
                    </a:p>
                  </a:txBody>
                  <a:tcPr marL="68580" marR="68580" marT="34290" marB="34290"/>
                </a:tc>
                <a:extLst>
                  <a:ext uri="{0D108BD9-81ED-4DB2-BD59-A6C34878D82A}">
                    <a16:rowId xmlns:a16="http://schemas.microsoft.com/office/drawing/2014/main" val="10000"/>
                  </a:ext>
                </a:extLst>
              </a:tr>
              <a:tr h="278130">
                <a:tc>
                  <a:txBody>
                    <a:bodyPr/>
                    <a:lstStyle/>
                    <a:p>
                      <a:pPr algn="ctr"/>
                      <a:r>
                        <a:rPr lang="en-CA" sz="1600" dirty="0"/>
                        <a:t>1</a:t>
                      </a:r>
                    </a:p>
                  </a:txBody>
                  <a:tcPr marL="68580" marR="68580" marT="34290" marB="34290"/>
                </a:tc>
                <a:tc>
                  <a:txBody>
                    <a:bodyPr/>
                    <a:lstStyle/>
                    <a:p>
                      <a:pPr algn="ctr"/>
                      <a:r>
                        <a:rPr lang="en-US" sz="1600" dirty="0"/>
                        <a:t>44.304</a:t>
                      </a:r>
                      <a:endParaRPr lang="en-CA" sz="1600" dirty="0"/>
                    </a:p>
                  </a:txBody>
                  <a:tcPr marL="68580" marR="68580" marT="34290" marB="34290"/>
                </a:tc>
                <a:tc>
                  <a:txBody>
                    <a:bodyPr/>
                    <a:lstStyle/>
                    <a:p>
                      <a:pPr algn="ctr"/>
                      <a:r>
                        <a:rPr lang="en-CA" sz="1600" dirty="0"/>
                        <a:t>18.47</a:t>
                      </a:r>
                    </a:p>
                  </a:txBody>
                  <a:tcPr marL="68580" marR="68580" marT="34290" marB="34290"/>
                </a:tc>
                <a:tc>
                  <a:txBody>
                    <a:bodyPr/>
                    <a:lstStyle/>
                    <a:p>
                      <a:pPr algn="ctr"/>
                      <a:r>
                        <a:rPr lang="en-CA" sz="1600" dirty="0"/>
                        <a:t>690</a:t>
                      </a:r>
                    </a:p>
                  </a:txBody>
                  <a:tcPr marL="68580" marR="68580" marT="34290" marB="34290"/>
                </a:tc>
                <a:tc>
                  <a:txBody>
                    <a:bodyPr/>
                    <a:lstStyle/>
                    <a:p>
                      <a:pPr algn="ctr"/>
                      <a:r>
                        <a:rPr lang="en-US" sz="1600" dirty="0"/>
                        <a:t>0</a:t>
                      </a:r>
                      <a:endParaRPr lang="en-CA" sz="1600" dirty="0"/>
                    </a:p>
                  </a:txBody>
                  <a:tcPr marL="68580" marR="68580" marT="34290" marB="34290"/>
                </a:tc>
                <a:extLst>
                  <a:ext uri="{0D108BD9-81ED-4DB2-BD59-A6C34878D82A}">
                    <a16:rowId xmlns:a16="http://schemas.microsoft.com/office/drawing/2014/main" val="10001"/>
                  </a:ext>
                </a:extLst>
              </a:tr>
              <a:tr h="278130">
                <a:tc>
                  <a:txBody>
                    <a:bodyPr/>
                    <a:lstStyle/>
                    <a:p>
                      <a:pPr algn="ctr"/>
                      <a:r>
                        <a:rPr lang="en-CA" sz="1600" dirty="0"/>
                        <a:t>0</a:t>
                      </a:r>
                    </a:p>
                  </a:txBody>
                  <a:tcPr marL="68580" marR="68580" marT="34290" marB="34290"/>
                </a:tc>
                <a:tc>
                  <a:txBody>
                    <a:bodyPr/>
                    <a:lstStyle/>
                    <a:p>
                      <a:pPr algn="ctr"/>
                      <a:r>
                        <a:rPr lang="en-US" sz="1600" dirty="0"/>
                        <a:t>50.000</a:t>
                      </a:r>
                      <a:endParaRPr lang="en-CA" sz="1600" dirty="0"/>
                    </a:p>
                  </a:txBody>
                  <a:tcPr marL="68580" marR="68580" marT="34290" marB="34290"/>
                </a:tc>
                <a:tc>
                  <a:txBody>
                    <a:bodyPr/>
                    <a:lstStyle/>
                    <a:p>
                      <a:pPr algn="ctr"/>
                      <a:r>
                        <a:rPr lang="en-CA" sz="1600" dirty="0"/>
                        <a:t>29.62</a:t>
                      </a:r>
                    </a:p>
                  </a:txBody>
                  <a:tcPr marL="68580" marR="68580" marT="34290" marB="34290"/>
                </a:tc>
                <a:tc>
                  <a:txBody>
                    <a:bodyPr/>
                    <a:lstStyle/>
                    <a:p>
                      <a:pPr algn="ctr"/>
                      <a:r>
                        <a:rPr lang="en-CA" sz="1600" dirty="0"/>
                        <a:t>735</a:t>
                      </a:r>
                    </a:p>
                  </a:txBody>
                  <a:tcPr marL="68580" marR="68580" marT="34290" marB="34290"/>
                </a:tc>
                <a:tc>
                  <a:txBody>
                    <a:bodyPr/>
                    <a:lstStyle/>
                    <a:p>
                      <a:pPr algn="ctr"/>
                      <a:r>
                        <a:rPr lang="en-US" sz="1600" dirty="0"/>
                        <a:t>1</a:t>
                      </a:r>
                      <a:endParaRPr lang="en-CA" sz="1600" dirty="0"/>
                    </a:p>
                  </a:txBody>
                  <a:tcPr marL="68580" marR="68580" marT="34290" marB="34290"/>
                </a:tc>
                <a:extLst>
                  <a:ext uri="{0D108BD9-81ED-4DB2-BD59-A6C34878D82A}">
                    <a16:rowId xmlns:a16="http://schemas.microsoft.com/office/drawing/2014/main" val="10002"/>
                  </a:ext>
                </a:extLst>
              </a:tr>
              <a:tr h="278130">
                <a:tc>
                  <a:txBody>
                    <a:bodyPr/>
                    <a:lstStyle/>
                    <a:p>
                      <a:pPr algn="ctr"/>
                      <a:r>
                        <a:rPr lang="en-CA" sz="1600" dirty="0"/>
                        <a:t>0</a:t>
                      </a:r>
                    </a:p>
                  </a:txBody>
                  <a:tcPr marL="68580" marR="68580" marT="34290" marB="34290"/>
                </a:tc>
                <a:tc>
                  <a:txBody>
                    <a:bodyPr/>
                    <a:lstStyle/>
                    <a:p>
                      <a:pPr algn="ctr"/>
                      <a:r>
                        <a:rPr lang="en-US" sz="1600" dirty="0"/>
                        <a:t>64.400</a:t>
                      </a:r>
                      <a:endParaRPr lang="en-CA" sz="1600" dirty="0"/>
                    </a:p>
                  </a:txBody>
                  <a:tcPr marL="68580" marR="68580" marT="34290" marB="34290"/>
                </a:tc>
                <a:tc>
                  <a:txBody>
                    <a:bodyPr/>
                    <a:lstStyle/>
                    <a:p>
                      <a:pPr algn="ctr"/>
                      <a:r>
                        <a:rPr lang="en-CA" sz="1600" dirty="0"/>
                        <a:t>16.68</a:t>
                      </a:r>
                    </a:p>
                  </a:txBody>
                  <a:tcPr marL="68580" marR="68580" marT="34290" marB="34290"/>
                </a:tc>
                <a:tc>
                  <a:txBody>
                    <a:bodyPr/>
                    <a:lstStyle/>
                    <a:p>
                      <a:pPr algn="ctr"/>
                      <a:r>
                        <a:rPr lang="en-CA" sz="1600" dirty="0"/>
                        <a:t>675</a:t>
                      </a:r>
                    </a:p>
                  </a:txBody>
                  <a:tcPr marL="68580" marR="68580" marT="34290" marB="34290"/>
                </a:tc>
                <a:tc>
                  <a:txBody>
                    <a:bodyPr/>
                    <a:lstStyle/>
                    <a:p>
                      <a:pPr algn="ctr"/>
                      <a:r>
                        <a:rPr lang="en-US" sz="1600" dirty="0"/>
                        <a:t>1</a:t>
                      </a:r>
                      <a:endParaRPr lang="en-CA" sz="1600" dirty="0"/>
                    </a:p>
                  </a:txBody>
                  <a:tcPr marL="68580" marR="68580" marT="34290" marB="34290"/>
                </a:tc>
                <a:extLst>
                  <a:ext uri="{0D108BD9-81ED-4DB2-BD59-A6C34878D82A}">
                    <a16:rowId xmlns:a16="http://schemas.microsoft.com/office/drawing/2014/main" val="10003"/>
                  </a:ext>
                </a:extLst>
              </a:tr>
              <a:tr h="278130">
                <a:tc>
                  <a:txBody>
                    <a:bodyPr/>
                    <a:lstStyle/>
                    <a:p>
                      <a:pPr algn="ctr"/>
                      <a:r>
                        <a:rPr lang="en-CA" sz="1600" dirty="0"/>
                        <a:t>0</a:t>
                      </a:r>
                    </a:p>
                  </a:txBody>
                  <a:tcPr marL="68580" marR="68580" marT="34290" marB="34290"/>
                </a:tc>
                <a:tc>
                  <a:txBody>
                    <a:bodyPr/>
                    <a:lstStyle/>
                    <a:p>
                      <a:pPr algn="ctr"/>
                      <a:r>
                        <a:rPr lang="en-US" sz="1600" dirty="0"/>
                        <a:t>38.500</a:t>
                      </a:r>
                      <a:endParaRPr lang="en-CA" sz="1600" dirty="0"/>
                    </a:p>
                  </a:txBody>
                  <a:tcPr marL="68580" marR="68580" marT="34290" marB="34290"/>
                </a:tc>
                <a:tc>
                  <a:txBody>
                    <a:bodyPr/>
                    <a:lstStyle/>
                    <a:p>
                      <a:pPr algn="ctr"/>
                      <a:r>
                        <a:rPr lang="en-CA" sz="1600" dirty="0"/>
                        <a:t>33.73</a:t>
                      </a:r>
                    </a:p>
                  </a:txBody>
                  <a:tcPr marL="68580" marR="68580" marT="34290" marB="34290"/>
                </a:tc>
                <a:tc>
                  <a:txBody>
                    <a:bodyPr/>
                    <a:lstStyle/>
                    <a:p>
                      <a:pPr algn="ctr"/>
                      <a:r>
                        <a:rPr lang="en-CA" sz="1600" dirty="0"/>
                        <a:t>660</a:t>
                      </a:r>
                    </a:p>
                  </a:txBody>
                  <a:tcPr marL="68580" marR="68580" marT="34290" marB="34290"/>
                </a:tc>
                <a:tc>
                  <a:txBody>
                    <a:bodyPr/>
                    <a:lstStyle/>
                    <a:p>
                      <a:pPr algn="ctr"/>
                      <a:r>
                        <a:rPr lang="en-US" sz="1600" dirty="0"/>
                        <a:t>0</a:t>
                      </a:r>
                      <a:endParaRPr lang="en-CA" sz="1600" dirty="0"/>
                    </a:p>
                  </a:txBody>
                  <a:tcPr marL="68580" marR="68580" marT="34290" marB="34290"/>
                </a:tc>
                <a:extLst>
                  <a:ext uri="{0D108BD9-81ED-4DB2-BD59-A6C34878D82A}">
                    <a16:rowId xmlns:a16="http://schemas.microsoft.com/office/drawing/2014/main" val="10004"/>
                  </a:ext>
                </a:extLst>
              </a:tr>
              <a:tr h="278130">
                <a:tc>
                  <a:txBody>
                    <a:bodyPr/>
                    <a:lstStyle/>
                    <a:p>
                      <a:pPr algn="ctr"/>
                      <a:endParaRPr lang="en-CA" sz="1600" dirty="0"/>
                    </a:p>
                  </a:txBody>
                  <a:tcPr marL="68580" marR="68580" marT="34290" marB="34290"/>
                </a:tc>
                <a:tc>
                  <a:txBody>
                    <a:bodyPr/>
                    <a:lstStyle/>
                    <a:p>
                      <a:pPr algn="ctr"/>
                      <a:r>
                        <a:rPr lang="en-US" sz="1600" dirty="0"/>
                        <a:t>….</a:t>
                      </a:r>
                      <a:endParaRPr lang="en-CA" sz="1600" dirty="0"/>
                    </a:p>
                  </a:txBody>
                  <a:tcPr marL="68580" marR="68580" marT="34290" marB="34290"/>
                </a:tc>
                <a:tc>
                  <a:txBody>
                    <a:bodyPr/>
                    <a:lstStyle/>
                    <a:p>
                      <a:pPr algn="ctr"/>
                      <a:endParaRPr lang="en-CA" sz="1600" dirty="0"/>
                    </a:p>
                  </a:txBody>
                  <a:tcPr marL="68580" marR="68580" marT="34290" marB="34290"/>
                </a:tc>
                <a:tc>
                  <a:txBody>
                    <a:bodyPr/>
                    <a:lstStyle/>
                    <a:p>
                      <a:pPr algn="ctr"/>
                      <a:endParaRPr lang="en-CA" sz="1600" dirty="0"/>
                    </a:p>
                  </a:txBody>
                  <a:tcPr marL="68580" marR="68580" marT="34290" marB="34290"/>
                </a:tc>
                <a:tc>
                  <a:txBody>
                    <a:bodyPr/>
                    <a:lstStyle/>
                    <a:p>
                      <a:pPr algn="ctr"/>
                      <a:r>
                        <a:rPr lang="en-US" sz="1600" dirty="0"/>
                        <a:t>….</a:t>
                      </a:r>
                      <a:endParaRPr lang="en-CA" sz="1600" dirty="0"/>
                    </a:p>
                  </a:txBody>
                  <a:tcPr marL="68580" marR="68580" marT="34290" marB="34290"/>
                </a:tc>
                <a:extLst>
                  <a:ext uri="{0D108BD9-81ED-4DB2-BD59-A6C34878D82A}">
                    <a16:rowId xmlns:a16="http://schemas.microsoft.com/office/drawing/2014/main" val="10005"/>
                  </a:ext>
                </a:extLst>
              </a:tr>
              <a:tr h="278130">
                <a:tc>
                  <a:txBody>
                    <a:bodyPr/>
                    <a:lstStyle/>
                    <a:p>
                      <a:pPr algn="ctr"/>
                      <a:endParaRPr lang="en-CA" sz="1600" dirty="0"/>
                    </a:p>
                  </a:txBody>
                  <a:tcPr marL="68580" marR="68580" marT="34290" marB="34290"/>
                </a:tc>
                <a:tc>
                  <a:txBody>
                    <a:bodyPr/>
                    <a:lstStyle/>
                    <a:p>
                      <a:pPr algn="ctr"/>
                      <a:r>
                        <a:rPr lang="en-US" sz="1600" dirty="0"/>
                        <a:t>…..</a:t>
                      </a:r>
                      <a:endParaRPr lang="en-CA" sz="1600" dirty="0"/>
                    </a:p>
                  </a:txBody>
                  <a:tcPr marL="68580" marR="68580" marT="34290" marB="34290"/>
                </a:tc>
                <a:tc>
                  <a:txBody>
                    <a:bodyPr/>
                    <a:lstStyle/>
                    <a:p>
                      <a:pPr algn="ctr"/>
                      <a:endParaRPr lang="en-CA" sz="1600" dirty="0"/>
                    </a:p>
                  </a:txBody>
                  <a:tcPr marL="68580" marR="68580" marT="34290" marB="34290"/>
                </a:tc>
                <a:tc>
                  <a:txBody>
                    <a:bodyPr/>
                    <a:lstStyle/>
                    <a:p>
                      <a:pPr algn="ctr"/>
                      <a:endParaRPr lang="en-CA" sz="1600" dirty="0"/>
                    </a:p>
                  </a:txBody>
                  <a:tcPr marL="68580" marR="68580" marT="34290" marB="34290"/>
                </a:tc>
                <a:tc>
                  <a:txBody>
                    <a:bodyPr/>
                    <a:lstStyle/>
                    <a:p>
                      <a:pPr algn="ctr"/>
                      <a:r>
                        <a:rPr lang="en-US" sz="1600" dirty="0"/>
                        <a:t>….</a:t>
                      </a:r>
                      <a:endParaRPr lang="en-CA" sz="1600" dirty="0"/>
                    </a:p>
                  </a:txBody>
                  <a:tcPr marL="68580" marR="68580" marT="34290" marB="34290"/>
                </a:tc>
                <a:extLst>
                  <a:ext uri="{0D108BD9-81ED-4DB2-BD59-A6C34878D82A}">
                    <a16:rowId xmlns:a16="http://schemas.microsoft.com/office/drawing/2014/main" val="10006"/>
                  </a:ext>
                </a:extLst>
              </a:tr>
            </a:tbl>
          </a:graphicData>
        </a:graphic>
      </p:graphicFrame>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2E8C09BE-1715-42CA-A91A-E7B0E09A3015}" type="slidenum">
              <a:rPr lang="en-CA" smtClean="0"/>
              <a:t>28</a:t>
            </a:fld>
            <a:endParaRPr lang="en-CA"/>
          </a:p>
        </p:txBody>
      </p:sp>
    </p:spTree>
    <p:extLst>
      <p:ext uri="{BB962C8B-B14F-4D97-AF65-F5344CB8AC3E}">
        <p14:creationId xmlns:p14="http://schemas.microsoft.com/office/powerpoint/2010/main" val="38156309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Results for Lending Club Training Set (Unscaled data)</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9552" y="2060848"/>
                <a:ext cx="7772400" cy="3086100"/>
              </a:xfrm>
            </p:spPr>
            <p:txBody>
              <a:bodyPr/>
              <a:lstStyle/>
              <a:p>
                <a:pPr marL="0" indent="0">
                  <a:buNone/>
                </a:pPr>
                <a:endParaRPr lang="en-US" i="1" dirty="0"/>
              </a:p>
              <a:p>
                <a:pPr marL="0" indent="0">
                  <a:buNone/>
                </a:pPr>
                <a:r>
                  <a:rPr lang="en-US" i="1" dirty="0">
                    <a:latin typeface="+mj-lt"/>
                  </a:rPr>
                  <a:t>X</a:t>
                </a:r>
                <a:r>
                  <a:rPr lang="en-US" i="1" baseline="-25000" dirty="0"/>
                  <a:t>1</a:t>
                </a:r>
                <a:r>
                  <a:rPr lang="en-US" i="1" dirty="0"/>
                  <a:t>= Home Ownership</a:t>
                </a:r>
              </a:p>
              <a:p>
                <a:pPr marL="0" indent="0">
                  <a:buNone/>
                </a:pPr>
                <a:r>
                  <a:rPr lang="en-US" i="1" dirty="0">
                    <a:latin typeface="+mj-lt"/>
                  </a:rPr>
                  <a:t>X</a:t>
                </a:r>
                <a:r>
                  <a:rPr lang="en-US" i="1" baseline="-25000" dirty="0"/>
                  <a:t>2</a:t>
                </a:r>
                <a:r>
                  <a:rPr lang="en-US" i="1" baseline="30000" dirty="0"/>
                  <a:t>=</a:t>
                </a:r>
                <a:r>
                  <a:rPr lang="en-US" i="1" dirty="0"/>
                  <a:t> Income</a:t>
                </a:r>
              </a:p>
              <a:p>
                <a:pPr marL="0" indent="0">
                  <a:buNone/>
                </a:pPr>
                <a:r>
                  <a:rPr lang="en-US" i="1" dirty="0">
                    <a:latin typeface="+mj-lt"/>
                  </a:rPr>
                  <a:t>X</a:t>
                </a:r>
                <a:r>
                  <a:rPr lang="en-US" i="1" baseline="-25000" dirty="0"/>
                  <a:t>3</a:t>
                </a:r>
                <a:r>
                  <a:rPr lang="en-US" i="1" dirty="0"/>
                  <a:t>= Debt to income ratio</a:t>
                </a:r>
                <a:endParaRPr lang="en-CA" i="1" dirty="0"/>
              </a:p>
              <a:p>
                <a:pPr marL="0" indent="0">
                  <a:buNone/>
                </a:pPr>
                <a:r>
                  <a:rPr lang="en-US" i="1" dirty="0">
                    <a:latin typeface="+mj-lt"/>
                  </a:rPr>
                  <a:t>X</a:t>
                </a:r>
                <a:r>
                  <a:rPr lang="en-US" i="1" baseline="-25000" dirty="0"/>
                  <a:t>4</a:t>
                </a:r>
                <a:r>
                  <a:rPr lang="en-US" i="1" dirty="0"/>
                  <a:t> = Credit score</a:t>
                </a:r>
                <a:endParaRPr lang="en-CA" i="1" dirty="0"/>
              </a:p>
              <a:p>
                <a:pPr marL="0" indent="0">
                  <a:buNone/>
                </a:pPr>
                <a:endParaRPr lang="en-CA" i="1" dirty="0"/>
              </a:p>
              <a:p>
                <a:pPr marL="0" indent="0">
                  <a:buNone/>
                </a:pPr>
                <a14:m>
                  <m:oMathPara xmlns:m="http://schemas.openxmlformats.org/officeDocument/2006/math">
                    <m:oMathParaPr>
                      <m:jc m:val="centerGroup"/>
                    </m:oMathParaPr>
                    <m:oMath xmlns:m="http://schemas.openxmlformats.org/officeDocument/2006/math">
                      <m:r>
                        <a:rPr lang="en-CA" i="1">
                          <a:latin typeface="Cambria Math"/>
                        </a:rPr>
                        <m:t>𝑌</m:t>
                      </m:r>
                      <m:r>
                        <a:rPr lang="en-CA" i="1">
                          <a:latin typeface="Cambria Math"/>
                        </a:rPr>
                        <m:t>=−6.1546+0.2971+0.0006</m:t>
                      </m:r>
                      <m:sSub>
                        <m:sSubPr>
                          <m:ctrlPr>
                            <a:rPr lang="en-CA" i="1">
                              <a:latin typeface="Cambria Math" panose="02040503050406030204" pitchFamily="18" charset="0"/>
                            </a:rPr>
                          </m:ctrlPr>
                        </m:sSubPr>
                        <m:e>
                          <m:r>
                            <a:rPr lang="en-CA" i="1">
                              <a:latin typeface="Cambria Math"/>
                            </a:rPr>
                            <m:t>𝑋</m:t>
                          </m:r>
                        </m:e>
                        <m:sub>
                          <m:r>
                            <a:rPr lang="en-CA" i="1">
                              <a:latin typeface="Cambria Math"/>
                            </a:rPr>
                            <m:t>2</m:t>
                          </m:r>
                        </m:sub>
                      </m:sSub>
                      <m:r>
                        <a:rPr lang="en-CA" i="1">
                          <a:latin typeface="Cambria Math"/>
                        </a:rPr>
                        <m:t>−0.0</m:t>
                      </m:r>
                      <m:r>
                        <a:rPr lang="en-CA" b="0" i="1" smtClean="0">
                          <a:latin typeface="Cambria Math" panose="02040503050406030204" pitchFamily="18" charset="0"/>
                        </a:rPr>
                        <m:t>365</m:t>
                      </m:r>
                      <m:sSub>
                        <m:sSubPr>
                          <m:ctrlPr>
                            <a:rPr lang="en-CA" i="1">
                              <a:latin typeface="Cambria Math" panose="02040503050406030204" pitchFamily="18" charset="0"/>
                            </a:rPr>
                          </m:ctrlPr>
                        </m:sSubPr>
                        <m:e>
                          <m:r>
                            <a:rPr lang="en-CA" i="1">
                              <a:latin typeface="Cambria Math"/>
                            </a:rPr>
                            <m:t>𝑋</m:t>
                          </m:r>
                        </m:e>
                        <m:sub>
                          <m:r>
                            <a:rPr lang="en-CA" i="1">
                              <a:latin typeface="Cambria Math"/>
                            </a:rPr>
                            <m:t>3</m:t>
                          </m:r>
                        </m:sub>
                      </m:sSub>
                      <m:r>
                        <a:rPr lang="en-CA" i="1">
                          <a:latin typeface="Cambria Math"/>
                        </a:rPr>
                        <m:t>+0.011</m:t>
                      </m:r>
                      <m:r>
                        <a:rPr lang="en-CA" b="0" i="1" smtClean="0">
                          <a:latin typeface="Cambria Math" panose="02040503050406030204" pitchFamily="18" charset="0"/>
                        </a:rPr>
                        <m:t>5</m:t>
                      </m:r>
                    </m:oMath>
                  </m:oMathPara>
                </a14:m>
                <a:endParaRPr lang="en-CA" dirty="0"/>
              </a:p>
              <a:p>
                <a:pPr marL="0" indent="0">
                  <a:buNone/>
                </a:pPr>
                <a:endParaRPr lang="en-CA" dirty="0"/>
              </a:p>
              <a:p>
                <a:pPr marL="0" indent="0">
                  <a:buNone/>
                </a:pPr>
                <a:endParaRPr lang="en-CA" dirty="0">
                  <a:latin typeface="+mj-lt"/>
                </a:endParaRPr>
              </a:p>
              <a:p>
                <a:endParaRPr lang="en-CA" dirty="0">
                  <a:latin typeface="+mj-lt"/>
                </a:endParaRPr>
              </a:p>
              <a:p>
                <a:endParaRPr lang="en-CA" dirty="0">
                  <a:latin typeface="+mj-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9552" y="2060848"/>
                <a:ext cx="7772400" cy="3086100"/>
              </a:xfrm>
              <a:blipFill>
                <a:blip r:embed="rId2"/>
                <a:stretch>
                  <a:fillRect l="-941"/>
                </a:stretch>
              </a:blipFill>
            </p:spPr>
            <p:txBody>
              <a:bodyPr/>
              <a:lstStyle/>
              <a:p>
                <a:r>
                  <a:rPr lang="en-CA">
                    <a:noFill/>
                  </a:rPr>
                  <a:t> </a:t>
                </a:r>
              </a:p>
            </p:txBody>
          </p:sp>
        </mc:Fallback>
      </mc:AlternateContent>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2E8C09BE-1715-42CA-A91A-E7B0E09A3015}" type="slidenum">
              <a:rPr lang="en-CA" smtClean="0"/>
              <a:t>29</a:t>
            </a:fld>
            <a:endParaRPr lang="en-CA"/>
          </a:p>
        </p:txBody>
      </p:sp>
    </p:spTree>
    <p:extLst>
      <p:ext uri="{BB962C8B-B14F-4D97-AF65-F5344CB8AC3E}">
        <p14:creationId xmlns:p14="http://schemas.microsoft.com/office/powerpoint/2010/main" val="16011639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Criterion</a:t>
            </a:r>
            <a:endParaRPr lang="en-CA" dirty="0"/>
          </a:p>
        </p:txBody>
      </p:sp>
      <p:sp>
        <p:nvSpPr>
          <p:cNvPr id="3" name="Content Placeholder 2"/>
          <p:cNvSpPr>
            <a:spLocks noGrp="1"/>
          </p:cNvSpPr>
          <p:nvPr>
            <p:ph idx="1"/>
          </p:nvPr>
        </p:nvSpPr>
        <p:spPr>
          <a:xfrm>
            <a:off x="685800" y="1916832"/>
            <a:ext cx="7772400" cy="4345856"/>
          </a:xfrm>
        </p:spPr>
        <p:txBody>
          <a:bodyPr/>
          <a:lstStyle/>
          <a:p>
            <a:pPr marL="0" indent="0">
              <a:buNone/>
            </a:pPr>
            <a:endParaRPr lang="en-US" dirty="0"/>
          </a:p>
          <a:p>
            <a:r>
              <a:rPr lang="en-US" dirty="0"/>
              <a:t>The data set is imbalanced with more good loans than defaulting loans</a:t>
            </a:r>
          </a:p>
          <a:p>
            <a:r>
              <a:rPr lang="en-US" dirty="0"/>
              <a:t>There are procedures for creating a balanced data set</a:t>
            </a:r>
          </a:p>
          <a:p>
            <a:r>
              <a:rPr lang="en-US" dirty="0"/>
              <a:t>With a balanced data set we could classify an observation as positive if </a:t>
            </a:r>
            <a:r>
              <a:rPr lang="en-US" i="1" dirty="0">
                <a:latin typeface="+mj-lt"/>
              </a:rPr>
              <a:t>Q</a:t>
            </a:r>
            <a:r>
              <a:rPr lang="en-US" dirty="0">
                <a:latin typeface="+mj-lt"/>
              </a:rPr>
              <a:t> &gt; 0.5</a:t>
            </a:r>
            <a:r>
              <a:rPr lang="en-US" dirty="0"/>
              <a:t> and negative otherwise</a:t>
            </a:r>
          </a:p>
          <a:p>
            <a:r>
              <a:rPr lang="en-US" dirty="0"/>
              <a:t>However this does not consider the cost of misclassifying a bad loan and the lost profit from misclassifying a good loan</a:t>
            </a:r>
          </a:p>
          <a:p>
            <a:r>
              <a:rPr lang="en-US" dirty="0"/>
              <a:t>A better approach is to investigate different thresholds, </a:t>
            </a:r>
            <a:r>
              <a:rPr lang="en-US" i="1" dirty="0">
                <a:latin typeface="+mj-lt"/>
              </a:rPr>
              <a:t>Z</a:t>
            </a:r>
          </a:p>
          <a:p>
            <a:pPr lvl="1"/>
            <a:r>
              <a:rPr lang="en-US" dirty="0"/>
              <a:t>If </a:t>
            </a:r>
            <a:r>
              <a:rPr lang="en-US" i="1" dirty="0">
                <a:latin typeface="+mj-lt"/>
              </a:rPr>
              <a:t>Q </a:t>
            </a:r>
            <a:r>
              <a:rPr lang="en-US" dirty="0">
                <a:latin typeface="+mj-lt"/>
              </a:rPr>
              <a:t>&gt; </a:t>
            </a:r>
            <a:r>
              <a:rPr lang="en-US" i="1" dirty="0">
                <a:latin typeface="+mj-lt"/>
              </a:rPr>
              <a:t>Z</a:t>
            </a:r>
            <a:r>
              <a:rPr lang="en-US" dirty="0"/>
              <a:t> we accept a loan</a:t>
            </a:r>
          </a:p>
          <a:p>
            <a:pPr lvl="1"/>
            <a:r>
              <a:rPr lang="en-US" dirty="0"/>
              <a:t>If </a:t>
            </a:r>
            <a:r>
              <a:rPr lang="en-US" i="1" dirty="0">
                <a:latin typeface="+mj-lt"/>
              </a:rPr>
              <a:t>Q</a:t>
            </a:r>
            <a:r>
              <a:rPr lang="en-US" dirty="0">
                <a:latin typeface="+mj-lt"/>
              </a:rPr>
              <a:t> ≤ </a:t>
            </a:r>
            <a:r>
              <a:rPr lang="en-US" i="1" dirty="0">
                <a:latin typeface="+mj-lt"/>
              </a:rPr>
              <a:t>Z</a:t>
            </a:r>
            <a:r>
              <a:rPr lang="en-US" dirty="0">
                <a:latin typeface="+mj-lt"/>
              </a:rPr>
              <a:t> </a:t>
            </a:r>
            <a:r>
              <a:rPr lang="en-US" dirty="0"/>
              <a:t>we reject the loan</a:t>
            </a:r>
            <a:endParaRPr lang="en-CA"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30</a:t>
            </a:fld>
            <a:endParaRPr lang="en-CA"/>
          </a:p>
        </p:txBody>
      </p:sp>
    </p:spTree>
    <p:extLst>
      <p:ext uri="{BB962C8B-B14F-4D97-AF65-F5344CB8AC3E}">
        <p14:creationId xmlns:p14="http://schemas.microsoft.com/office/powerpoint/2010/main" val="32234676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062" y="930275"/>
            <a:ext cx="7926337" cy="1143000"/>
          </a:xfrm>
        </p:spPr>
        <p:txBody>
          <a:bodyPr/>
          <a:lstStyle/>
          <a:p>
            <a:r>
              <a:rPr lang="en-US" dirty="0"/>
              <a:t>Test Set Results (Tables 3.10, 3.11, and 3.12)</a:t>
            </a:r>
            <a:endParaRPr lang="en-CA" dirty="0"/>
          </a:p>
        </p:txBody>
      </p:sp>
      <p:graphicFrame>
        <p:nvGraphicFramePr>
          <p:cNvPr id="3" name="Table 2"/>
          <p:cNvGraphicFramePr>
            <a:graphicFrameLocks noGrp="1"/>
          </p:cNvGraphicFramePr>
          <p:nvPr>
            <p:extLst>
              <p:ext uri="{D42A27DB-BD31-4B8C-83A1-F6EECF244321}">
                <p14:modId xmlns:p14="http://schemas.microsoft.com/office/powerpoint/2010/main" val="3530998845"/>
              </p:ext>
            </p:extLst>
          </p:nvPr>
        </p:nvGraphicFramePr>
        <p:xfrm>
          <a:off x="3203848" y="2204864"/>
          <a:ext cx="3690619" cy="1122045"/>
        </p:xfrm>
        <a:graphic>
          <a:graphicData uri="http://schemas.openxmlformats.org/drawingml/2006/table">
            <a:tbl>
              <a:tblPr firstRow="1" firstCol="1" bandRow="1">
                <a:tableStyleId>{5940675A-B579-460E-94D1-54222C63F5DA}</a:tableStyleId>
              </a:tblPr>
              <a:tblGrid>
                <a:gridCol w="1397172">
                  <a:extLst>
                    <a:ext uri="{9D8B030D-6E8A-4147-A177-3AD203B41FA5}">
                      <a16:colId xmlns:a16="http://schemas.microsoft.com/office/drawing/2014/main" val="20000"/>
                    </a:ext>
                  </a:extLst>
                </a:gridCol>
                <a:gridCol w="1216010">
                  <a:extLst>
                    <a:ext uri="{9D8B030D-6E8A-4147-A177-3AD203B41FA5}">
                      <a16:colId xmlns:a16="http://schemas.microsoft.com/office/drawing/2014/main" val="20001"/>
                    </a:ext>
                  </a:extLst>
                </a:gridCol>
                <a:gridCol w="1077437">
                  <a:extLst>
                    <a:ext uri="{9D8B030D-6E8A-4147-A177-3AD203B41FA5}">
                      <a16:colId xmlns:a16="http://schemas.microsoft.com/office/drawing/2014/main" val="20002"/>
                    </a:ext>
                  </a:extLst>
                </a:gridCol>
              </a:tblGrid>
              <a:tr h="0">
                <a:tc>
                  <a:txBody>
                    <a:bodyPr/>
                    <a:lstStyle/>
                    <a:p>
                      <a:pPr indent="180340" algn="just">
                        <a:lnSpc>
                          <a:spcPct val="106000"/>
                        </a:lnSpc>
                        <a:spcAft>
                          <a:spcPts val="0"/>
                        </a:spcAft>
                        <a:tabLst>
                          <a:tab pos="3838575" algn="l"/>
                        </a:tabLst>
                      </a:pPr>
                      <a:r>
                        <a:rPr lang="en-CA" sz="1200" dirty="0">
                          <a:effectLst/>
                          <a:latin typeface="Arial" panose="020B0604020202020204" pitchFamily="34" charset="0"/>
                          <a:cs typeface="Arial" panose="020B0604020202020204" pitchFamily="34" charset="0"/>
                        </a:rPr>
                        <a:t> </a:t>
                      </a:r>
                      <a:endParaRPr lang="en-CA" sz="12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20320" algn="ctr">
                        <a:lnSpc>
                          <a:spcPct val="106000"/>
                        </a:lnSpc>
                        <a:spcAft>
                          <a:spcPts val="0"/>
                        </a:spcAft>
                        <a:tabLst>
                          <a:tab pos="3838575" algn="l"/>
                        </a:tabLst>
                      </a:pPr>
                      <a:r>
                        <a:rPr lang="en-CA" sz="1200" dirty="0">
                          <a:effectLst/>
                          <a:latin typeface="Arial" panose="020B0604020202020204" pitchFamily="34" charset="0"/>
                          <a:cs typeface="Arial" panose="020B0604020202020204" pitchFamily="34" charset="0"/>
                        </a:rPr>
                        <a:t>Predict no default</a:t>
                      </a:r>
                      <a:endParaRPr lang="en-CA" sz="12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algn="ctr">
                        <a:lnSpc>
                          <a:spcPct val="106000"/>
                        </a:lnSpc>
                        <a:spcAft>
                          <a:spcPts val="0"/>
                        </a:spcAft>
                        <a:tabLst>
                          <a:tab pos="3838575" algn="l"/>
                        </a:tabLst>
                      </a:pPr>
                      <a:r>
                        <a:rPr lang="en-CA" sz="1200">
                          <a:effectLst/>
                          <a:latin typeface="Arial" panose="020B0604020202020204" pitchFamily="34" charset="0"/>
                          <a:cs typeface="Arial" panose="020B0604020202020204" pitchFamily="34" charset="0"/>
                        </a:rPr>
                        <a:t>Predict default</a:t>
                      </a:r>
                      <a:endParaRPr lang="en-CA" sz="120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val="10000"/>
                  </a:ext>
                </a:extLst>
              </a:tr>
              <a:tr h="0">
                <a:tc>
                  <a:txBody>
                    <a:bodyPr/>
                    <a:lstStyle/>
                    <a:p>
                      <a:pPr algn="ctr">
                        <a:lnSpc>
                          <a:spcPct val="106000"/>
                        </a:lnSpc>
                        <a:spcAft>
                          <a:spcPts val="0"/>
                        </a:spcAft>
                        <a:tabLst>
                          <a:tab pos="3838575" algn="l"/>
                        </a:tabLst>
                      </a:pPr>
                      <a:r>
                        <a:rPr lang="en-CA" sz="1200" dirty="0">
                          <a:effectLst/>
                          <a:latin typeface="Arial" panose="020B0604020202020204" pitchFamily="34" charset="0"/>
                          <a:cs typeface="Arial" panose="020B0604020202020204" pitchFamily="34" charset="0"/>
                        </a:rPr>
                        <a:t>Outcome positive (no default)</a:t>
                      </a:r>
                      <a:endParaRPr lang="en-CA" sz="12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20320" algn="ctr">
                        <a:lnSpc>
                          <a:spcPct val="106000"/>
                        </a:lnSpc>
                        <a:spcAft>
                          <a:spcPts val="0"/>
                        </a:spcAft>
                        <a:tabLst>
                          <a:tab pos="3838575" algn="l"/>
                        </a:tabLst>
                      </a:pPr>
                      <a:r>
                        <a:rPr lang="en-CA" sz="1200" dirty="0">
                          <a:effectLst/>
                          <a:latin typeface="Arial" panose="020B0604020202020204" pitchFamily="34" charset="0"/>
                          <a:cs typeface="Arial" panose="020B0604020202020204" pitchFamily="34" charset="0"/>
                        </a:rPr>
                        <a:t>60.83%</a:t>
                      </a:r>
                      <a:endParaRPr lang="en-CA" sz="12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algn="ctr">
                        <a:lnSpc>
                          <a:spcPct val="106000"/>
                        </a:lnSpc>
                        <a:spcAft>
                          <a:spcPts val="0"/>
                        </a:spcAft>
                        <a:tabLst>
                          <a:tab pos="3838575" algn="l"/>
                        </a:tabLst>
                      </a:pPr>
                      <a:r>
                        <a:rPr lang="en-CA" sz="1200" dirty="0">
                          <a:effectLst/>
                          <a:latin typeface="Arial" panose="020B0604020202020204" pitchFamily="34" charset="0"/>
                          <a:cs typeface="Arial" panose="020B0604020202020204" pitchFamily="34" charset="0"/>
                        </a:rPr>
                        <a:t>18.34%</a:t>
                      </a:r>
                      <a:endParaRPr lang="en-CA" sz="1200" dirty="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val="10001"/>
                  </a:ext>
                </a:extLst>
              </a:tr>
              <a:tr h="0">
                <a:tc>
                  <a:txBody>
                    <a:bodyPr/>
                    <a:lstStyle/>
                    <a:p>
                      <a:pPr algn="ctr">
                        <a:lnSpc>
                          <a:spcPct val="106000"/>
                        </a:lnSpc>
                        <a:spcAft>
                          <a:spcPts val="0"/>
                        </a:spcAft>
                        <a:tabLst>
                          <a:tab pos="3838575" algn="l"/>
                        </a:tabLst>
                      </a:pPr>
                      <a:r>
                        <a:rPr lang="en-CA" sz="1200">
                          <a:effectLst/>
                          <a:latin typeface="Arial" panose="020B0604020202020204" pitchFamily="34" charset="0"/>
                          <a:cs typeface="Arial" panose="020B0604020202020204" pitchFamily="34" charset="0"/>
                        </a:rPr>
                        <a:t>Outcome negative (default)</a:t>
                      </a:r>
                      <a:endParaRPr lang="en-CA" sz="120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20320" algn="ctr">
                        <a:lnSpc>
                          <a:spcPct val="106000"/>
                        </a:lnSpc>
                        <a:spcAft>
                          <a:spcPts val="0"/>
                        </a:spcAft>
                        <a:tabLst>
                          <a:tab pos="3838575" algn="l"/>
                        </a:tabLst>
                      </a:pPr>
                      <a:r>
                        <a:rPr lang="en-CA" sz="1200" dirty="0">
                          <a:effectLst/>
                          <a:latin typeface="Arial" panose="020B0604020202020204" pitchFamily="34" charset="0"/>
                          <a:cs typeface="Arial" panose="020B0604020202020204" pitchFamily="34" charset="0"/>
                        </a:rPr>
                        <a:t>11.70%</a:t>
                      </a:r>
                      <a:endParaRPr lang="en-CA" sz="12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algn="ctr">
                        <a:lnSpc>
                          <a:spcPct val="106000"/>
                        </a:lnSpc>
                        <a:spcAft>
                          <a:spcPts val="0"/>
                        </a:spcAft>
                        <a:tabLst>
                          <a:tab pos="3838575" algn="l"/>
                        </a:tabLst>
                      </a:pPr>
                      <a:r>
                        <a:rPr lang="en-CA" sz="1200" dirty="0">
                          <a:effectLst/>
                          <a:latin typeface="Arial" panose="020B0604020202020204" pitchFamily="34" charset="0"/>
                          <a:cs typeface="Arial" panose="020B0604020202020204" pitchFamily="34" charset="0"/>
                        </a:rPr>
                        <a:t>9.13%</a:t>
                      </a:r>
                      <a:endParaRPr lang="en-CA" sz="1200" dirty="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val="10002"/>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391358132"/>
              </p:ext>
            </p:extLst>
          </p:nvPr>
        </p:nvGraphicFramePr>
        <p:xfrm>
          <a:off x="3275856" y="3501009"/>
          <a:ext cx="3672409" cy="1122045"/>
        </p:xfrm>
        <a:graphic>
          <a:graphicData uri="http://schemas.openxmlformats.org/drawingml/2006/table">
            <a:tbl>
              <a:tblPr firstRow="1" firstCol="1" bandRow="1">
                <a:tableStyleId>{5940675A-B579-460E-94D1-54222C63F5DA}</a:tableStyleId>
              </a:tblPr>
              <a:tblGrid>
                <a:gridCol w="1368152">
                  <a:extLst>
                    <a:ext uri="{9D8B030D-6E8A-4147-A177-3AD203B41FA5}">
                      <a16:colId xmlns:a16="http://schemas.microsoft.com/office/drawing/2014/main" val="20000"/>
                    </a:ext>
                  </a:extLst>
                </a:gridCol>
                <a:gridCol w="1190092">
                  <a:extLst>
                    <a:ext uri="{9D8B030D-6E8A-4147-A177-3AD203B41FA5}">
                      <a16:colId xmlns:a16="http://schemas.microsoft.com/office/drawing/2014/main" val="20001"/>
                    </a:ext>
                  </a:extLst>
                </a:gridCol>
                <a:gridCol w="1114165">
                  <a:extLst>
                    <a:ext uri="{9D8B030D-6E8A-4147-A177-3AD203B41FA5}">
                      <a16:colId xmlns:a16="http://schemas.microsoft.com/office/drawing/2014/main" val="20002"/>
                    </a:ext>
                  </a:extLst>
                </a:gridCol>
              </a:tblGrid>
              <a:tr h="360040">
                <a:tc>
                  <a:txBody>
                    <a:bodyPr/>
                    <a:lstStyle/>
                    <a:p>
                      <a:pPr indent="180340" algn="just">
                        <a:lnSpc>
                          <a:spcPct val="106000"/>
                        </a:lnSpc>
                        <a:spcAft>
                          <a:spcPts val="0"/>
                        </a:spcAft>
                        <a:tabLst>
                          <a:tab pos="3838575" algn="l"/>
                        </a:tabLst>
                      </a:pPr>
                      <a:r>
                        <a:rPr lang="en-CA" sz="1200" dirty="0">
                          <a:effectLst/>
                          <a:latin typeface="Arial" panose="020B0604020202020204" pitchFamily="34" charset="0"/>
                          <a:cs typeface="Arial" panose="020B0604020202020204" pitchFamily="34" charset="0"/>
                        </a:rPr>
                        <a:t> </a:t>
                      </a:r>
                      <a:endParaRPr lang="en-CA" sz="12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180340" algn="ctr">
                        <a:lnSpc>
                          <a:spcPct val="106000"/>
                        </a:lnSpc>
                        <a:spcAft>
                          <a:spcPts val="0"/>
                        </a:spcAft>
                        <a:tabLst>
                          <a:tab pos="3838575" algn="l"/>
                        </a:tabLst>
                      </a:pPr>
                      <a:r>
                        <a:rPr lang="en-CA" sz="1200" dirty="0">
                          <a:effectLst/>
                          <a:latin typeface="Arial" panose="020B0604020202020204" pitchFamily="34" charset="0"/>
                          <a:cs typeface="Arial" panose="020B0604020202020204" pitchFamily="34" charset="0"/>
                        </a:rPr>
                        <a:t>Predict no default</a:t>
                      </a:r>
                      <a:endParaRPr lang="en-CA" sz="12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180340" algn="ctr">
                        <a:lnSpc>
                          <a:spcPct val="106000"/>
                        </a:lnSpc>
                        <a:spcAft>
                          <a:spcPts val="0"/>
                        </a:spcAft>
                        <a:tabLst>
                          <a:tab pos="3838575" algn="l"/>
                        </a:tabLst>
                      </a:pPr>
                      <a:r>
                        <a:rPr lang="en-CA" sz="1200">
                          <a:effectLst/>
                          <a:latin typeface="Arial" panose="020B0604020202020204" pitchFamily="34" charset="0"/>
                          <a:cs typeface="Arial" panose="020B0604020202020204" pitchFamily="34" charset="0"/>
                        </a:rPr>
                        <a:t>Predict default</a:t>
                      </a:r>
                      <a:endParaRPr lang="en-CA" sz="120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val="10000"/>
                  </a:ext>
                </a:extLst>
              </a:tr>
              <a:tr h="116065">
                <a:tc>
                  <a:txBody>
                    <a:bodyPr/>
                    <a:lstStyle/>
                    <a:p>
                      <a:pPr marL="0" indent="0" algn="ctr">
                        <a:lnSpc>
                          <a:spcPct val="106000"/>
                        </a:lnSpc>
                        <a:spcAft>
                          <a:spcPts val="0"/>
                        </a:spcAft>
                        <a:tabLst>
                          <a:tab pos="3838575" algn="l"/>
                        </a:tabLst>
                      </a:pPr>
                      <a:r>
                        <a:rPr lang="en-CA" sz="1200" dirty="0">
                          <a:effectLst/>
                          <a:latin typeface="Arial" panose="020B0604020202020204" pitchFamily="34" charset="0"/>
                          <a:cs typeface="Arial" panose="020B0604020202020204" pitchFamily="34" charset="0"/>
                        </a:rPr>
                        <a:t>Outcome</a:t>
                      </a:r>
                      <a:r>
                        <a:rPr lang="en-CA" sz="1200" baseline="0" dirty="0">
                          <a:effectLst/>
                          <a:latin typeface="Arial" panose="020B0604020202020204" pitchFamily="34" charset="0"/>
                          <a:cs typeface="Arial" panose="020B0604020202020204" pitchFamily="34" charset="0"/>
                        </a:rPr>
                        <a:t> </a:t>
                      </a:r>
                      <a:r>
                        <a:rPr lang="en-CA" sz="1200" dirty="0">
                          <a:effectLst/>
                          <a:latin typeface="Arial" panose="020B0604020202020204" pitchFamily="34" charset="0"/>
                          <a:cs typeface="Arial" panose="020B0604020202020204" pitchFamily="34" charset="0"/>
                        </a:rPr>
                        <a:t>positive (no default)</a:t>
                      </a:r>
                      <a:endParaRPr lang="en-CA" sz="12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180340" algn="ctr">
                        <a:lnSpc>
                          <a:spcPct val="106000"/>
                        </a:lnSpc>
                        <a:spcAft>
                          <a:spcPts val="0"/>
                        </a:spcAft>
                        <a:tabLst>
                          <a:tab pos="3838575" algn="l"/>
                        </a:tabLst>
                      </a:pPr>
                      <a:r>
                        <a:rPr lang="en-CA" sz="1200" dirty="0">
                          <a:effectLst/>
                          <a:latin typeface="Arial" panose="020B0604020202020204" pitchFamily="34" charset="0"/>
                          <a:cs typeface="Arial" panose="020B0604020202020204" pitchFamily="34" charset="0"/>
                        </a:rPr>
                        <a:t>42.71%</a:t>
                      </a:r>
                      <a:endParaRPr lang="en-CA" sz="12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180340" algn="ctr">
                        <a:lnSpc>
                          <a:spcPct val="106000"/>
                        </a:lnSpc>
                        <a:spcAft>
                          <a:spcPts val="0"/>
                        </a:spcAft>
                        <a:tabLst>
                          <a:tab pos="3838575" algn="l"/>
                        </a:tabLst>
                      </a:pPr>
                      <a:r>
                        <a:rPr lang="en-CA" sz="1200" dirty="0">
                          <a:effectLst/>
                          <a:latin typeface="Arial" panose="020B0604020202020204" pitchFamily="34" charset="0"/>
                          <a:cs typeface="Arial" panose="020B0604020202020204" pitchFamily="34" charset="0"/>
                        </a:rPr>
                        <a:t>36.46%</a:t>
                      </a:r>
                      <a:endParaRPr lang="en-CA" sz="1200" dirty="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val="10001"/>
                  </a:ext>
                </a:extLst>
              </a:tr>
              <a:tr h="360040">
                <a:tc>
                  <a:txBody>
                    <a:bodyPr/>
                    <a:lstStyle/>
                    <a:p>
                      <a:pPr indent="180340" algn="ctr">
                        <a:lnSpc>
                          <a:spcPct val="106000"/>
                        </a:lnSpc>
                        <a:spcAft>
                          <a:spcPts val="0"/>
                        </a:spcAft>
                        <a:tabLst>
                          <a:tab pos="3838575" algn="l"/>
                        </a:tabLst>
                      </a:pPr>
                      <a:r>
                        <a:rPr lang="en-CA" sz="1200" dirty="0">
                          <a:effectLst/>
                          <a:latin typeface="Arial" panose="020B0604020202020204" pitchFamily="34" charset="0"/>
                          <a:cs typeface="Arial" panose="020B0604020202020204" pitchFamily="34" charset="0"/>
                        </a:rPr>
                        <a:t>Outcome negative (default)</a:t>
                      </a:r>
                      <a:endParaRPr lang="en-CA" sz="12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180340" algn="ctr">
                        <a:lnSpc>
                          <a:spcPct val="106000"/>
                        </a:lnSpc>
                        <a:spcAft>
                          <a:spcPts val="0"/>
                        </a:spcAft>
                        <a:tabLst>
                          <a:tab pos="3838575" algn="l"/>
                        </a:tabLst>
                      </a:pPr>
                      <a:r>
                        <a:rPr lang="en-CA" sz="1200" dirty="0">
                          <a:effectLst/>
                          <a:latin typeface="Arial" panose="020B0604020202020204" pitchFamily="34" charset="0"/>
                          <a:cs typeface="Arial" panose="020B0604020202020204" pitchFamily="34" charset="0"/>
                        </a:rPr>
                        <a:t>6.46%</a:t>
                      </a:r>
                      <a:endParaRPr lang="en-CA" sz="12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180340" algn="ctr">
                        <a:lnSpc>
                          <a:spcPct val="106000"/>
                        </a:lnSpc>
                        <a:spcAft>
                          <a:spcPts val="0"/>
                        </a:spcAft>
                        <a:tabLst>
                          <a:tab pos="3838575" algn="l"/>
                        </a:tabLst>
                      </a:pPr>
                      <a:r>
                        <a:rPr lang="en-CA" sz="1200" dirty="0">
                          <a:effectLst/>
                          <a:latin typeface="Arial" panose="020B0604020202020204" pitchFamily="34" charset="0"/>
                          <a:cs typeface="Arial" panose="020B0604020202020204" pitchFamily="34" charset="0"/>
                        </a:rPr>
                        <a:t>14.76%</a:t>
                      </a:r>
                      <a:endParaRPr lang="en-CA" sz="1200" dirty="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468087730"/>
              </p:ext>
            </p:extLst>
          </p:nvPr>
        </p:nvGraphicFramePr>
        <p:xfrm>
          <a:off x="3275856" y="4869160"/>
          <a:ext cx="3672408" cy="1122045"/>
        </p:xfrm>
        <a:graphic>
          <a:graphicData uri="http://schemas.openxmlformats.org/drawingml/2006/table">
            <a:tbl>
              <a:tblPr firstRow="1" firstCol="1" bandRow="1">
                <a:tableStyleId>{5940675A-B579-460E-94D1-54222C63F5DA}</a:tableStyleId>
              </a:tblPr>
              <a:tblGrid>
                <a:gridCol w="1372790">
                  <a:extLst>
                    <a:ext uri="{9D8B030D-6E8A-4147-A177-3AD203B41FA5}">
                      <a16:colId xmlns:a16="http://schemas.microsoft.com/office/drawing/2014/main" val="20000"/>
                    </a:ext>
                  </a:extLst>
                </a:gridCol>
                <a:gridCol w="1257461">
                  <a:extLst>
                    <a:ext uri="{9D8B030D-6E8A-4147-A177-3AD203B41FA5}">
                      <a16:colId xmlns:a16="http://schemas.microsoft.com/office/drawing/2014/main" val="20001"/>
                    </a:ext>
                  </a:extLst>
                </a:gridCol>
                <a:gridCol w="1042157">
                  <a:extLst>
                    <a:ext uri="{9D8B030D-6E8A-4147-A177-3AD203B41FA5}">
                      <a16:colId xmlns:a16="http://schemas.microsoft.com/office/drawing/2014/main" val="20002"/>
                    </a:ext>
                  </a:extLst>
                </a:gridCol>
              </a:tblGrid>
              <a:tr h="360040">
                <a:tc>
                  <a:txBody>
                    <a:bodyPr/>
                    <a:lstStyle/>
                    <a:p>
                      <a:pPr indent="180340" algn="just">
                        <a:lnSpc>
                          <a:spcPct val="106000"/>
                        </a:lnSpc>
                        <a:spcAft>
                          <a:spcPts val="0"/>
                        </a:spcAft>
                        <a:tabLst>
                          <a:tab pos="3838575" algn="l"/>
                        </a:tabLst>
                      </a:pPr>
                      <a:r>
                        <a:rPr lang="en-CA" sz="1200" dirty="0">
                          <a:effectLst/>
                          <a:latin typeface="Arial" panose="020B0604020202020204" pitchFamily="34" charset="0"/>
                          <a:cs typeface="Arial" panose="020B0604020202020204" pitchFamily="34" charset="0"/>
                        </a:rPr>
                        <a:t> </a:t>
                      </a:r>
                      <a:endParaRPr lang="en-CA" sz="12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20320" algn="ctr">
                        <a:lnSpc>
                          <a:spcPct val="106000"/>
                        </a:lnSpc>
                        <a:spcAft>
                          <a:spcPts val="0"/>
                        </a:spcAft>
                        <a:tabLst>
                          <a:tab pos="3838575" algn="l"/>
                        </a:tabLst>
                      </a:pPr>
                      <a:r>
                        <a:rPr lang="en-CA" sz="1200" dirty="0">
                          <a:effectLst/>
                          <a:latin typeface="Arial" panose="020B0604020202020204" pitchFamily="34" charset="0"/>
                          <a:cs typeface="Arial" panose="020B0604020202020204" pitchFamily="34" charset="0"/>
                        </a:rPr>
                        <a:t>Predict no default</a:t>
                      </a:r>
                      <a:endParaRPr lang="en-CA" sz="12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algn="ctr">
                        <a:lnSpc>
                          <a:spcPct val="106000"/>
                        </a:lnSpc>
                        <a:spcAft>
                          <a:spcPts val="0"/>
                        </a:spcAft>
                        <a:tabLst>
                          <a:tab pos="3838575" algn="l"/>
                        </a:tabLst>
                      </a:pPr>
                      <a:r>
                        <a:rPr lang="en-CA" sz="1200">
                          <a:effectLst/>
                          <a:latin typeface="Arial" panose="020B0604020202020204" pitchFamily="34" charset="0"/>
                          <a:cs typeface="Arial" panose="020B0604020202020204" pitchFamily="34" charset="0"/>
                        </a:rPr>
                        <a:t>Predict default</a:t>
                      </a:r>
                      <a:endParaRPr lang="en-CA" sz="120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val="10000"/>
                  </a:ext>
                </a:extLst>
              </a:tr>
              <a:tr h="360040">
                <a:tc>
                  <a:txBody>
                    <a:bodyPr/>
                    <a:lstStyle/>
                    <a:p>
                      <a:pPr algn="ctr">
                        <a:lnSpc>
                          <a:spcPct val="106000"/>
                        </a:lnSpc>
                        <a:spcAft>
                          <a:spcPts val="0"/>
                        </a:spcAft>
                        <a:tabLst>
                          <a:tab pos="3838575" algn="l"/>
                        </a:tabLst>
                      </a:pPr>
                      <a:r>
                        <a:rPr lang="en-CA" sz="1200">
                          <a:effectLst/>
                          <a:latin typeface="Arial" panose="020B0604020202020204" pitchFamily="34" charset="0"/>
                          <a:cs typeface="Arial" panose="020B0604020202020204" pitchFamily="34" charset="0"/>
                        </a:rPr>
                        <a:t>Outcome positive (no default)</a:t>
                      </a:r>
                      <a:endParaRPr lang="en-CA" sz="120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20320" algn="ctr">
                        <a:lnSpc>
                          <a:spcPct val="106000"/>
                        </a:lnSpc>
                        <a:spcAft>
                          <a:spcPts val="0"/>
                        </a:spcAft>
                        <a:tabLst>
                          <a:tab pos="3838575" algn="l"/>
                        </a:tabLst>
                      </a:pPr>
                      <a:r>
                        <a:rPr lang="en-CA" sz="1200" dirty="0">
                          <a:effectLst/>
                          <a:latin typeface="Arial" panose="020B0604020202020204" pitchFamily="34" charset="0"/>
                          <a:cs typeface="Arial" panose="020B0604020202020204" pitchFamily="34" charset="0"/>
                        </a:rPr>
                        <a:t>22.75%</a:t>
                      </a:r>
                      <a:endParaRPr lang="en-CA" sz="12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algn="ctr">
                        <a:lnSpc>
                          <a:spcPct val="106000"/>
                        </a:lnSpc>
                        <a:spcAft>
                          <a:spcPts val="0"/>
                        </a:spcAft>
                        <a:tabLst>
                          <a:tab pos="3838575" algn="l"/>
                        </a:tabLst>
                      </a:pPr>
                      <a:r>
                        <a:rPr lang="en-CA" sz="1200" dirty="0">
                          <a:effectLst/>
                          <a:latin typeface="Arial" panose="020B0604020202020204" pitchFamily="34" charset="0"/>
                          <a:cs typeface="Arial" panose="020B0604020202020204" pitchFamily="34" charset="0"/>
                        </a:rPr>
                        <a:t>56.42%</a:t>
                      </a:r>
                      <a:endParaRPr lang="en-CA" sz="1200" dirty="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val="10001"/>
                  </a:ext>
                </a:extLst>
              </a:tr>
              <a:tr h="360040">
                <a:tc>
                  <a:txBody>
                    <a:bodyPr/>
                    <a:lstStyle/>
                    <a:p>
                      <a:pPr algn="ctr">
                        <a:lnSpc>
                          <a:spcPct val="106000"/>
                        </a:lnSpc>
                        <a:spcAft>
                          <a:spcPts val="0"/>
                        </a:spcAft>
                        <a:tabLst>
                          <a:tab pos="3838575" algn="l"/>
                        </a:tabLst>
                      </a:pPr>
                      <a:r>
                        <a:rPr lang="en-CA" sz="1200">
                          <a:effectLst/>
                          <a:latin typeface="Arial" panose="020B0604020202020204" pitchFamily="34" charset="0"/>
                          <a:cs typeface="Arial" panose="020B0604020202020204" pitchFamily="34" charset="0"/>
                        </a:rPr>
                        <a:t>Outcome negative (default)</a:t>
                      </a:r>
                      <a:endParaRPr lang="en-CA" sz="120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20320" algn="ctr">
                        <a:lnSpc>
                          <a:spcPct val="106000"/>
                        </a:lnSpc>
                        <a:spcAft>
                          <a:spcPts val="0"/>
                        </a:spcAft>
                        <a:tabLst>
                          <a:tab pos="3838575" algn="l"/>
                        </a:tabLst>
                      </a:pPr>
                      <a:r>
                        <a:rPr lang="en-CA" sz="1200" dirty="0">
                          <a:effectLst/>
                          <a:latin typeface="Arial" panose="020B0604020202020204" pitchFamily="34" charset="0"/>
                          <a:cs typeface="Arial" panose="020B0604020202020204" pitchFamily="34" charset="0"/>
                        </a:rPr>
                        <a:t>3.01%</a:t>
                      </a:r>
                      <a:endParaRPr lang="en-CA" sz="12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algn="ctr">
                        <a:lnSpc>
                          <a:spcPct val="106000"/>
                        </a:lnSpc>
                        <a:spcAft>
                          <a:spcPts val="0"/>
                        </a:spcAft>
                        <a:tabLst>
                          <a:tab pos="3838575" algn="l"/>
                        </a:tabLst>
                      </a:pPr>
                      <a:r>
                        <a:rPr lang="en-CA" sz="1200" dirty="0">
                          <a:effectLst/>
                          <a:latin typeface="Arial" panose="020B0604020202020204" pitchFamily="34" charset="0"/>
                          <a:cs typeface="Arial" panose="020B0604020202020204" pitchFamily="34" charset="0"/>
                        </a:rPr>
                        <a:t>17.82%</a:t>
                      </a:r>
                      <a:endParaRPr lang="en-CA" sz="1200" dirty="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val="10002"/>
                  </a:ext>
                </a:extLst>
              </a:tr>
            </a:tbl>
          </a:graphicData>
        </a:graphic>
      </p:graphicFrame>
      <p:sp>
        <p:nvSpPr>
          <p:cNvPr id="6" name="TextBox 5"/>
          <p:cNvSpPr txBox="1"/>
          <p:nvPr/>
        </p:nvSpPr>
        <p:spPr>
          <a:xfrm>
            <a:off x="1038632" y="2660670"/>
            <a:ext cx="1080120" cy="369332"/>
          </a:xfrm>
          <a:prstGeom prst="rect">
            <a:avLst/>
          </a:prstGeom>
          <a:noFill/>
        </p:spPr>
        <p:txBody>
          <a:bodyPr wrap="square" rtlCol="0">
            <a:spAutoFit/>
          </a:bodyPr>
          <a:lstStyle/>
          <a:p>
            <a:r>
              <a:rPr lang="en-US" i="1" dirty="0">
                <a:latin typeface="+mj-lt"/>
              </a:rPr>
              <a:t>Z </a:t>
            </a:r>
            <a:r>
              <a:rPr lang="en-US" dirty="0">
                <a:latin typeface="+mj-lt"/>
              </a:rPr>
              <a:t>= 0.75:</a:t>
            </a:r>
            <a:endParaRPr lang="en-CA" dirty="0">
              <a:latin typeface="+mj-lt"/>
            </a:endParaRPr>
          </a:p>
        </p:txBody>
      </p:sp>
      <p:sp>
        <p:nvSpPr>
          <p:cNvPr id="7" name="TextBox 6"/>
          <p:cNvSpPr txBox="1"/>
          <p:nvPr/>
        </p:nvSpPr>
        <p:spPr>
          <a:xfrm>
            <a:off x="1113537" y="3944935"/>
            <a:ext cx="1080120" cy="369332"/>
          </a:xfrm>
          <a:prstGeom prst="rect">
            <a:avLst/>
          </a:prstGeom>
          <a:noFill/>
        </p:spPr>
        <p:txBody>
          <a:bodyPr wrap="square" rtlCol="0">
            <a:spAutoFit/>
          </a:bodyPr>
          <a:lstStyle/>
          <a:p>
            <a:r>
              <a:rPr lang="en-US" i="1" dirty="0">
                <a:latin typeface="+mj-lt"/>
              </a:rPr>
              <a:t>Z</a:t>
            </a:r>
            <a:r>
              <a:rPr lang="en-US" dirty="0">
                <a:latin typeface="+mj-lt"/>
              </a:rPr>
              <a:t>=0.80</a:t>
            </a:r>
            <a:r>
              <a:rPr lang="en-US" dirty="0"/>
              <a:t>:</a:t>
            </a:r>
            <a:endParaRPr lang="en-CA" dirty="0"/>
          </a:p>
        </p:txBody>
      </p:sp>
      <p:sp>
        <p:nvSpPr>
          <p:cNvPr id="8" name="TextBox 7"/>
          <p:cNvSpPr txBox="1"/>
          <p:nvPr/>
        </p:nvSpPr>
        <p:spPr>
          <a:xfrm>
            <a:off x="1124000" y="5229200"/>
            <a:ext cx="1080120" cy="369332"/>
          </a:xfrm>
          <a:prstGeom prst="rect">
            <a:avLst/>
          </a:prstGeom>
          <a:noFill/>
        </p:spPr>
        <p:txBody>
          <a:bodyPr wrap="square" rtlCol="0">
            <a:spAutoFit/>
          </a:bodyPr>
          <a:lstStyle/>
          <a:p>
            <a:r>
              <a:rPr lang="en-US" dirty="0">
                <a:latin typeface="+mj-lt"/>
              </a:rPr>
              <a:t>Z=0.85:</a:t>
            </a:r>
            <a:endParaRPr lang="en-CA" dirty="0">
              <a:latin typeface="+mj-lt"/>
            </a:endParaRPr>
          </a:p>
        </p:txBody>
      </p:sp>
      <p:sp>
        <p:nvSpPr>
          <p:cNvPr id="9" name="Footer Placeholder 8"/>
          <p:cNvSpPr>
            <a:spLocks noGrp="1"/>
          </p:cNvSpPr>
          <p:nvPr>
            <p:ph type="ftr" sz="quarter" idx="11"/>
          </p:nvPr>
        </p:nvSpPr>
        <p:spPr/>
        <p:txBody>
          <a:bodyPr/>
          <a:lstStyle/>
          <a:p>
            <a:r>
              <a:rPr lang="en-US"/>
              <a:t>Machine Learning in Business, 3rd Ed. Copyright  © John C. Hull 2021</a:t>
            </a:r>
            <a:endParaRPr lang="en-CA"/>
          </a:p>
        </p:txBody>
      </p:sp>
      <p:sp>
        <p:nvSpPr>
          <p:cNvPr id="10" name="Slide Number Placeholder 9"/>
          <p:cNvSpPr>
            <a:spLocks noGrp="1"/>
          </p:cNvSpPr>
          <p:nvPr>
            <p:ph type="sldNum" sz="quarter" idx="12"/>
          </p:nvPr>
        </p:nvSpPr>
        <p:spPr/>
        <p:txBody>
          <a:bodyPr/>
          <a:lstStyle/>
          <a:p>
            <a:fld id="{F979D778-5668-409F-BE61-8F31D5437AFC}" type="slidenum">
              <a:rPr lang="en-CA" smtClean="0"/>
              <a:t>31</a:t>
            </a:fld>
            <a:endParaRPr lang="en-CA"/>
          </a:p>
        </p:txBody>
      </p:sp>
    </p:spTree>
    <p:extLst>
      <p:ext uri="{BB962C8B-B14F-4D97-AF65-F5344CB8AC3E}">
        <p14:creationId xmlns:p14="http://schemas.microsoft.com/office/powerpoint/2010/main" val="33742404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37778" y="553233"/>
            <a:ext cx="7772400" cy="1143000"/>
          </a:xfrm>
        </p:spPr>
        <p:txBody>
          <a:bodyPr/>
          <a:lstStyle/>
          <a:p>
            <a:r>
              <a:rPr lang="en-CA" dirty="0"/>
              <a:t>The Confusion matrix and common ratios</a:t>
            </a:r>
          </a:p>
        </p:txBody>
      </p:sp>
      <p:sp>
        <p:nvSpPr>
          <p:cNvPr id="5" name="Content Placeholder 4"/>
          <p:cNvSpPr>
            <a:spLocks noGrp="1"/>
          </p:cNvSpPr>
          <p:nvPr>
            <p:ph idx="1"/>
          </p:nvPr>
        </p:nvSpPr>
        <p:spPr>
          <a:xfrm>
            <a:off x="1007830" y="1474440"/>
            <a:ext cx="7772400" cy="4114800"/>
          </a:xfrm>
        </p:spPr>
        <p:txBody>
          <a:bodyPr/>
          <a:lstStyle/>
          <a:p>
            <a:pPr marL="0" indent="0">
              <a:buNone/>
            </a:pPr>
            <a:r>
              <a:rPr lang="en-CA" dirty="0"/>
              <a:t>  </a:t>
            </a:r>
          </a:p>
        </p:txBody>
      </p:sp>
      <p:sp>
        <p:nvSpPr>
          <p:cNvPr id="2" name="Footer Placeholder 1"/>
          <p:cNvSpPr>
            <a:spLocks noGrp="1"/>
          </p:cNvSpPr>
          <p:nvPr>
            <p:ph type="ftr" sz="quarter" idx="11"/>
          </p:nvPr>
        </p:nvSpPr>
        <p:spPr/>
        <p:txBody>
          <a:bodyPr/>
          <a:lstStyle/>
          <a:p>
            <a:r>
              <a:rPr lang="en-US"/>
              <a:t>Machine Learning in Business, 3rd Ed. Copyright  © John C. Hull 2021</a:t>
            </a:r>
            <a:endParaRPr lang="en-CA"/>
          </a:p>
        </p:txBody>
      </p:sp>
      <p:sp>
        <p:nvSpPr>
          <p:cNvPr id="3" name="Slide Number Placeholder 2"/>
          <p:cNvSpPr>
            <a:spLocks noGrp="1"/>
          </p:cNvSpPr>
          <p:nvPr>
            <p:ph type="sldNum" sz="quarter" idx="12"/>
          </p:nvPr>
        </p:nvSpPr>
        <p:spPr/>
        <p:txBody>
          <a:bodyPr/>
          <a:lstStyle/>
          <a:p>
            <a:fld id="{2E8C09BE-1715-42CA-A91A-E7B0E09A3015}" type="slidenum">
              <a:rPr lang="en-CA" smtClean="0"/>
              <a:t>32</a:t>
            </a:fld>
            <a:endParaRPr lang="en-CA" dirty="0"/>
          </a:p>
        </p:txBody>
      </p:sp>
      <p:graphicFrame>
        <p:nvGraphicFramePr>
          <p:cNvPr id="6" name="Table 5"/>
          <p:cNvGraphicFramePr>
            <a:graphicFrameLocks noGrp="1"/>
          </p:cNvGraphicFramePr>
          <p:nvPr>
            <p:extLst>
              <p:ext uri="{D42A27DB-BD31-4B8C-83A1-F6EECF244321}">
                <p14:modId xmlns:p14="http://schemas.microsoft.com/office/powerpoint/2010/main" val="1263239305"/>
              </p:ext>
            </p:extLst>
          </p:nvPr>
        </p:nvGraphicFramePr>
        <p:xfrm>
          <a:off x="1142257" y="1869626"/>
          <a:ext cx="6080760" cy="865823"/>
        </p:xfrm>
        <a:graphic>
          <a:graphicData uri="http://schemas.openxmlformats.org/drawingml/2006/table">
            <a:tbl>
              <a:tblPr firstRow="1" firstCol="1" bandRow="1">
                <a:tableStyleId>{5940675A-B579-460E-94D1-54222C63F5DA}</a:tableStyleId>
              </a:tblPr>
              <a:tblGrid>
                <a:gridCol w="2026920">
                  <a:extLst>
                    <a:ext uri="{9D8B030D-6E8A-4147-A177-3AD203B41FA5}">
                      <a16:colId xmlns:a16="http://schemas.microsoft.com/office/drawing/2014/main" val="533857190"/>
                    </a:ext>
                  </a:extLst>
                </a:gridCol>
                <a:gridCol w="2026920">
                  <a:extLst>
                    <a:ext uri="{9D8B030D-6E8A-4147-A177-3AD203B41FA5}">
                      <a16:colId xmlns:a16="http://schemas.microsoft.com/office/drawing/2014/main" val="3526610518"/>
                    </a:ext>
                  </a:extLst>
                </a:gridCol>
                <a:gridCol w="2026920">
                  <a:extLst>
                    <a:ext uri="{9D8B030D-6E8A-4147-A177-3AD203B41FA5}">
                      <a16:colId xmlns:a16="http://schemas.microsoft.com/office/drawing/2014/main" val="2260066980"/>
                    </a:ext>
                  </a:extLst>
                </a:gridCol>
              </a:tblGrid>
              <a:tr h="0">
                <a:tc>
                  <a:txBody>
                    <a:bodyPr/>
                    <a:lstStyle/>
                    <a:p>
                      <a:pPr>
                        <a:lnSpc>
                          <a:spcPct val="150000"/>
                        </a:lnSpc>
                        <a:spcAft>
                          <a:spcPts val="0"/>
                        </a:spcAft>
                        <a:tabLst>
                          <a:tab pos="3838575" algn="l"/>
                        </a:tabLst>
                      </a:pPr>
                      <a:r>
                        <a:rPr lang="en-CA" sz="1200" dirty="0">
                          <a:effectLst/>
                        </a:rPr>
                        <a:t> </a:t>
                      </a:r>
                      <a:endParaRPr lang="en-C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6000"/>
                        </a:lnSpc>
                        <a:spcAft>
                          <a:spcPts val="0"/>
                        </a:spcAft>
                        <a:tabLst>
                          <a:tab pos="3838575" algn="l"/>
                        </a:tabLst>
                      </a:pPr>
                      <a:r>
                        <a:rPr lang="en-CA" sz="1200" dirty="0">
                          <a:effectLst/>
                        </a:rPr>
                        <a:t>Predict positive outcome</a:t>
                      </a:r>
                      <a:endParaRPr lang="en-CA" sz="1100" dirty="0">
                        <a:effectLst/>
                      </a:endParaRPr>
                    </a:p>
                    <a:p>
                      <a:pPr algn="ctr">
                        <a:lnSpc>
                          <a:spcPct val="106000"/>
                        </a:lnSpc>
                        <a:spcAft>
                          <a:spcPts val="0"/>
                        </a:spcAft>
                        <a:tabLst>
                          <a:tab pos="3838575" algn="l"/>
                        </a:tabLst>
                      </a:pPr>
                      <a:r>
                        <a:rPr lang="en-CA" sz="1200" dirty="0">
                          <a:effectLst/>
                        </a:rPr>
                        <a:t> </a:t>
                      </a:r>
                      <a:endParaRPr lang="en-C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6000"/>
                        </a:lnSpc>
                        <a:spcAft>
                          <a:spcPts val="0"/>
                        </a:spcAft>
                        <a:tabLst>
                          <a:tab pos="3838575" algn="l"/>
                        </a:tabLst>
                      </a:pPr>
                      <a:r>
                        <a:rPr lang="en-CA" sz="1200">
                          <a:effectLst/>
                        </a:rPr>
                        <a:t>Predict negative outcome</a:t>
                      </a:r>
                      <a:endParaRPr lang="en-CA" sz="1100">
                        <a:effectLst/>
                      </a:endParaRPr>
                    </a:p>
                    <a:p>
                      <a:pPr algn="ctr">
                        <a:lnSpc>
                          <a:spcPct val="106000"/>
                        </a:lnSpc>
                        <a:spcAft>
                          <a:spcPts val="0"/>
                        </a:spcAft>
                        <a:tabLst>
                          <a:tab pos="3838575" algn="l"/>
                        </a:tabLst>
                      </a:pPr>
                      <a:r>
                        <a:rPr lang="en-CA" sz="1200">
                          <a:effectLst/>
                        </a:rPr>
                        <a:t> </a:t>
                      </a:r>
                      <a:endParaRPr lang="en-C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10096208"/>
                  </a:ext>
                </a:extLst>
              </a:tr>
              <a:tr h="0">
                <a:tc>
                  <a:txBody>
                    <a:bodyPr/>
                    <a:lstStyle/>
                    <a:p>
                      <a:pPr>
                        <a:lnSpc>
                          <a:spcPct val="150000"/>
                        </a:lnSpc>
                        <a:spcAft>
                          <a:spcPts val="0"/>
                        </a:spcAft>
                        <a:tabLst>
                          <a:tab pos="3838575" algn="l"/>
                        </a:tabLst>
                      </a:pPr>
                      <a:r>
                        <a:rPr lang="en-CA" sz="1200">
                          <a:effectLst/>
                        </a:rPr>
                        <a:t>Outcome positive </a:t>
                      </a:r>
                      <a:endParaRPr lang="en-C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0"/>
                        </a:spcAft>
                        <a:tabLst>
                          <a:tab pos="3838575" algn="l"/>
                        </a:tabLst>
                      </a:pPr>
                      <a:r>
                        <a:rPr lang="en-CA" sz="1200">
                          <a:effectLst/>
                        </a:rPr>
                        <a:t>TP</a:t>
                      </a:r>
                      <a:endParaRPr lang="en-C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0"/>
                        </a:spcAft>
                        <a:tabLst>
                          <a:tab pos="3838575" algn="l"/>
                        </a:tabLst>
                      </a:pPr>
                      <a:r>
                        <a:rPr lang="en-CA" sz="1200">
                          <a:effectLst/>
                        </a:rPr>
                        <a:t>FN</a:t>
                      </a:r>
                      <a:endParaRPr lang="en-C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71715123"/>
                  </a:ext>
                </a:extLst>
              </a:tr>
              <a:tr h="0">
                <a:tc>
                  <a:txBody>
                    <a:bodyPr/>
                    <a:lstStyle/>
                    <a:p>
                      <a:pPr>
                        <a:lnSpc>
                          <a:spcPct val="150000"/>
                        </a:lnSpc>
                        <a:spcAft>
                          <a:spcPts val="0"/>
                        </a:spcAft>
                        <a:tabLst>
                          <a:tab pos="3838575" algn="l"/>
                        </a:tabLst>
                      </a:pPr>
                      <a:r>
                        <a:rPr lang="en-CA" sz="1200">
                          <a:effectLst/>
                        </a:rPr>
                        <a:t>Outcome negative </a:t>
                      </a:r>
                      <a:endParaRPr lang="en-C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0"/>
                        </a:spcAft>
                        <a:tabLst>
                          <a:tab pos="3838575" algn="l"/>
                        </a:tabLst>
                      </a:pPr>
                      <a:r>
                        <a:rPr lang="en-CA" sz="1200" dirty="0">
                          <a:effectLst/>
                        </a:rPr>
                        <a:t>FP</a:t>
                      </a:r>
                      <a:endParaRPr lang="en-C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0"/>
                        </a:spcAft>
                        <a:tabLst>
                          <a:tab pos="3838575" algn="l"/>
                        </a:tabLst>
                      </a:pPr>
                      <a:r>
                        <a:rPr lang="en-CA" sz="1200" dirty="0">
                          <a:effectLst/>
                        </a:rPr>
                        <a:t>TN</a:t>
                      </a:r>
                      <a:endParaRPr lang="en-C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43925308"/>
                  </a:ext>
                </a:extLst>
              </a:tr>
            </a:tbl>
          </a:graphicData>
        </a:graphic>
      </p:graphicFrame>
      <p:sp>
        <p:nvSpPr>
          <p:cNvPr id="7" name="Rectangle 1"/>
          <p:cNvSpPr>
            <a:spLocks noChangeArrowheads="1"/>
          </p:cNvSpPr>
          <p:nvPr/>
        </p:nvSpPr>
        <p:spPr bwMode="auto">
          <a:xfrm>
            <a:off x="1007830" y="2608422"/>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mc:AlternateContent xmlns:mc="http://schemas.openxmlformats.org/markup-compatibility/2006" xmlns:a14="http://schemas.microsoft.com/office/drawing/2010/main">
        <mc:Choice Requires="a14">
          <p:sp>
            <p:nvSpPr>
              <p:cNvPr id="8" name="Rectangle 7"/>
              <p:cNvSpPr/>
              <p:nvPr/>
            </p:nvSpPr>
            <p:spPr>
              <a:xfrm>
                <a:off x="1269871" y="2920770"/>
                <a:ext cx="6363443" cy="3556230"/>
              </a:xfrm>
              <a:prstGeom prst="rect">
                <a:avLst/>
              </a:prstGeom>
            </p:spPr>
            <p:txBody>
              <a:bodyPr wrap="square">
                <a:spAutoFit/>
              </a:bodyPr>
              <a:lstStyle/>
              <a:p>
                <a:pPr>
                  <a:spcAft>
                    <a:spcPts val="800"/>
                  </a:spcAft>
                  <a:tabLst>
                    <a:tab pos="3838575" algn="l"/>
                  </a:tabLst>
                </a:pPr>
                <a14:m>
                  <m:oMathPara xmlns:m="http://schemas.openxmlformats.org/officeDocument/2006/math">
                    <m:oMathParaPr>
                      <m:jc m:val="centerGroup"/>
                    </m:oMathParaPr>
                    <m:oMath xmlns:m="http://schemas.openxmlformats.org/officeDocument/2006/math">
                      <m:r>
                        <m:rPr>
                          <m:sty m:val="p"/>
                        </m:rPr>
                        <a:rPr lang="en-CA" sz="1400" smtClean="0">
                          <a:latin typeface="Cambria Math" panose="02040503050406030204" pitchFamily="18" charset="0"/>
                          <a:ea typeface="Times New Roman" panose="02020603050405020304" pitchFamily="18" charset="0"/>
                          <a:cs typeface="Times New Roman" panose="02020603050405020304" pitchFamily="18" charset="0"/>
                        </a:rPr>
                        <m:t>Accuracy</m:t>
                      </m:r>
                      <m:r>
                        <a:rPr lang="en-CA" sz="1400" i="1">
                          <a:latin typeface="Cambria Math" panose="02040503050406030204" pitchFamily="18" charset="0"/>
                          <a:ea typeface="Times New Roman" panose="02020603050405020304" pitchFamily="18" charset="0"/>
                          <a:cs typeface="Times New Roman" panose="02020603050405020304" pitchFamily="18" charset="0"/>
                        </a:rPr>
                        <m:t>= </m:t>
                      </m:r>
                      <m:f>
                        <m:fPr>
                          <m:ctrlPr>
                            <a:rPr lang="en-CA" sz="1400" i="1">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TP</m:t>
                          </m:r>
                          <m:r>
                            <a:rPr lang="en-CA" sz="14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TN</m:t>
                          </m:r>
                        </m:num>
                        <m:den>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TP</m:t>
                          </m:r>
                          <m:r>
                            <a:rPr lang="en-CA" sz="14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FN</m:t>
                          </m:r>
                          <m:r>
                            <a:rPr lang="en-CA" sz="14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FP</m:t>
                          </m:r>
                          <m:r>
                            <a:rPr lang="en-CA" sz="14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TN</m:t>
                          </m:r>
                        </m:den>
                      </m:f>
                    </m:oMath>
                  </m:oMathPara>
                </a14:m>
                <a:endParaRPr lang="en-CA" sz="14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tabLst>
                    <a:tab pos="3838575" algn="l"/>
                  </a:tabLst>
                </a:pPr>
                <a14:m>
                  <m:oMathPara xmlns:m="http://schemas.openxmlformats.org/officeDocument/2006/math">
                    <m:oMathParaPr>
                      <m:jc m:val="centerGroup"/>
                    </m:oMathParaPr>
                    <m:oMath xmlns:m="http://schemas.openxmlformats.org/officeDocument/2006/math">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True</m:t>
                      </m:r>
                      <m:r>
                        <a:rPr lang="en-CA" sz="1400">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Positive</m:t>
                      </m:r>
                      <m:r>
                        <a:rPr lang="en-CA" sz="1400">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Rate</m:t>
                      </m:r>
                      <m:r>
                        <a:rPr lang="en-CA" sz="1400" b="0" i="0" smtClean="0">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US" sz="1400" b="0" i="0" smtClean="0">
                          <a:latin typeface="Cambria Math" panose="02040503050406030204" pitchFamily="18" charset="0"/>
                          <a:ea typeface="Times New Roman" panose="02020603050405020304" pitchFamily="18" charset="0"/>
                          <a:cs typeface="Times New Roman" panose="02020603050405020304" pitchFamily="18" charset="0"/>
                        </a:rPr>
                        <m:t>TPR</m:t>
                      </m:r>
                      <m:r>
                        <a:rPr lang="en-US" sz="1400" b="0" i="0" smtClean="0">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CA" sz="1400" b="0" i="0" smtClean="0">
                          <a:latin typeface="Cambria Math" panose="02040503050406030204" pitchFamily="18" charset="0"/>
                          <a:ea typeface="Times New Roman" panose="02020603050405020304" pitchFamily="18" charset="0"/>
                          <a:cs typeface="Times New Roman" panose="02020603050405020304" pitchFamily="18" charset="0"/>
                        </a:rPr>
                        <m:t>also</m:t>
                      </m:r>
                      <m:r>
                        <a:rPr lang="en-CA" sz="1400" b="0" i="0" smtClean="0">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CA" sz="1400" b="0" i="0" smtClean="0">
                          <a:latin typeface="Cambria Math" panose="02040503050406030204" pitchFamily="18" charset="0"/>
                          <a:ea typeface="Times New Roman" panose="02020603050405020304" pitchFamily="18" charset="0"/>
                          <a:cs typeface="Times New Roman" panose="02020603050405020304" pitchFamily="18" charset="0"/>
                        </a:rPr>
                        <m:t>called</m:t>
                      </m:r>
                      <m:r>
                        <a:rPr lang="en-CA" sz="1400" b="0" i="0" smtClean="0">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CA" sz="1400" b="0" i="0" smtClean="0">
                          <a:latin typeface="Cambria Math" panose="02040503050406030204" pitchFamily="18" charset="0"/>
                          <a:ea typeface="Times New Roman" panose="02020603050405020304" pitchFamily="18" charset="0"/>
                          <a:cs typeface="Times New Roman" panose="02020603050405020304" pitchFamily="18" charset="0"/>
                        </a:rPr>
                        <m:t>sensitivity</m:t>
                      </m:r>
                      <m:r>
                        <a:rPr lang="en-CA" sz="1400" b="0" i="0" smtClean="0">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CA" sz="1400" b="0" i="0" smtClean="0">
                          <a:latin typeface="Cambria Math" panose="02040503050406030204" pitchFamily="18" charset="0"/>
                          <a:ea typeface="Times New Roman" panose="02020603050405020304" pitchFamily="18" charset="0"/>
                          <a:cs typeface="Times New Roman" panose="02020603050405020304" pitchFamily="18" charset="0"/>
                        </a:rPr>
                        <m:t>or</m:t>
                      </m:r>
                      <m:r>
                        <a:rPr lang="en-CA" sz="1400" b="0" i="0" smtClean="0">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CA" sz="1400" b="0" i="0" smtClean="0">
                          <a:latin typeface="Cambria Math" panose="02040503050406030204" pitchFamily="18" charset="0"/>
                          <a:ea typeface="Times New Roman" panose="02020603050405020304" pitchFamily="18" charset="0"/>
                          <a:cs typeface="Times New Roman" panose="02020603050405020304" pitchFamily="18" charset="0"/>
                        </a:rPr>
                        <m:t>recall</m:t>
                      </m:r>
                      <m:r>
                        <a:rPr lang="en-CA" sz="1400" b="0" i="0" smtClean="0">
                          <a:latin typeface="Cambria Math" panose="02040503050406030204" pitchFamily="18" charset="0"/>
                          <a:ea typeface="Times New Roman" panose="02020603050405020304" pitchFamily="18" charset="0"/>
                          <a:cs typeface="Times New Roman" panose="02020603050405020304" pitchFamily="18" charset="0"/>
                        </a:rPr>
                        <m:t>)</m:t>
                      </m:r>
                      <m:r>
                        <a:rPr lang="en-CA" sz="1400" i="1">
                          <a:latin typeface="Cambria Math" panose="02040503050406030204" pitchFamily="18" charset="0"/>
                          <a:ea typeface="Times New Roman" panose="02020603050405020304" pitchFamily="18" charset="0"/>
                          <a:cs typeface="Times New Roman" panose="02020603050405020304" pitchFamily="18" charset="0"/>
                        </a:rPr>
                        <m:t>= </m:t>
                      </m:r>
                      <m:f>
                        <m:fPr>
                          <m:ctrlPr>
                            <a:rPr lang="en-CA" sz="1400" i="1">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TP</m:t>
                          </m:r>
                        </m:num>
                        <m:den>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TP</m:t>
                          </m:r>
                          <m:r>
                            <a:rPr lang="en-CA" sz="14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FN</m:t>
                          </m:r>
                        </m:den>
                      </m:f>
                    </m:oMath>
                  </m:oMathPara>
                </a14:m>
                <a:endParaRPr lang="en-CA" sz="14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tabLst>
                    <a:tab pos="3838575" algn="l"/>
                  </a:tabLst>
                </a:pPr>
                <a14:m>
                  <m:oMathPara xmlns:m="http://schemas.openxmlformats.org/officeDocument/2006/math">
                    <m:oMathParaPr>
                      <m:jc m:val="centerGroup"/>
                    </m:oMathParaPr>
                    <m:oMath xmlns:m="http://schemas.openxmlformats.org/officeDocument/2006/math">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The</m:t>
                      </m:r>
                      <m:r>
                        <a:rPr lang="en-CA" sz="1400">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True</m:t>
                      </m:r>
                      <m:r>
                        <a:rPr lang="en-CA" sz="1400">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Negative</m:t>
                      </m:r>
                      <m:r>
                        <a:rPr lang="en-CA" sz="1400">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rate</m:t>
                      </m:r>
                      <m:d>
                        <m:dPr>
                          <m:ctrlPr>
                            <a:rPr lang="en-CA" sz="1400" b="0" i="1" smtClean="0">
                              <a:latin typeface="Cambria Math" panose="02040503050406030204" pitchFamily="18" charset="0"/>
                              <a:ea typeface="Times New Roman" panose="02020603050405020304" pitchFamily="18" charset="0"/>
                              <a:cs typeface="Times New Roman" panose="02020603050405020304" pitchFamily="18" charset="0"/>
                            </a:rPr>
                          </m:ctrlPr>
                        </m:dPr>
                        <m:e>
                          <m:r>
                            <m:rPr>
                              <m:sty m:val="p"/>
                            </m:rPr>
                            <a:rPr lang="en-CA" sz="1400" b="0" i="0" smtClean="0">
                              <a:latin typeface="Cambria Math" panose="02040503050406030204" pitchFamily="18" charset="0"/>
                              <a:ea typeface="Times New Roman" panose="02020603050405020304" pitchFamily="18" charset="0"/>
                              <a:cs typeface="Times New Roman" panose="02020603050405020304" pitchFamily="18" charset="0"/>
                            </a:rPr>
                            <m:t>also</m:t>
                          </m:r>
                          <m:r>
                            <a:rPr lang="en-CA" sz="1400" b="0" i="0" smtClean="0">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CA" sz="1400" b="0" i="0" smtClean="0">
                              <a:latin typeface="Cambria Math" panose="02040503050406030204" pitchFamily="18" charset="0"/>
                              <a:ea typeface="Times New Roman" panose="02020603050405020304" pitchFamily="18" charset="0"/>
                              <a:cs typeface="Times New Roman" panose="02020603050405020304" pitchFamily="18" charset="0"/>
                            </a:rPr>
                            <m:t>called</m:t>
                          </m:r>
                          <m:r>
                            <a:rPr lang="en-CA" sz="1400" b="0" i="0" smtClean="0">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CA" sz="1400" b="0" i="0" smtClean="0">
                              <a:latin typeface="Cambria Math" panose="02040503050406030204" pitchFamily="18" charset="0"/>
                              <a:ea typeface="Times New Roman" panose="02020603050405020304" pitchFamily="18" charset="0"/>
                              <a:cs typeface="Times New Roman" panose="02020603050405020304" pitchFamily="18" charset="0"/>
                            </a:rPr>
                            <m:t>specificity</m:t>
                          </m:r>
                        </m:e>
                      </m:d>
                      <m:r>
                        <a:rPr lang="en-CA" sz="1400" i="1">
                          <a:latin typeface="Cambria Math" panose="02040503050406030204" pitchFamily="18" charset="0"/>
                          <a:ea typeface="Times New Roman" panose="02020603050405020304" pitchFamily="18" charset="0"/>
                          <a:cs typeface="Times New Roman" panose="02020603050405020304" pitchFamily="18" charset="0"/>
                        </a:rPr>
                        <m:t>= </m:t>
                      </m:r>
                      <m:f>
                        <m:fPr>
                          <m:ctrlPr>
                            <a:rPr lang="en-CA" sz="1400" i="1">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TN</m:t>
                          </m:r>
                        </m:num>
                        <m:den>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TN</m:t>
                          </m:r>
                          <m:r>
                            <a:rPr lang="en-CA" sz="14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FP</m:t>
                          </m:r>
                        </m:den>
                      </m:f>
                    </m:oMath>
                  </m:oMathPara>
                </a14:m>
                <a:endParaRPr lang="en-CA" sz="14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tabLst>
                    <a:tab pos="3838575" algn="l"/>
                  </a:tabLst>
                </a:pPr>
                <a14:m>
                  <m:oMathPara xmlns:m="http://schemas.openxmlformats.org/officeDocument/2006/math">
                    <m:oMathParaPr>
                      <m:jc m:val="centerGroup"/>
                    </m:oMathParaPr>
                    <m:oMath xmlns:m="http://schemas.openxmlformats.org/officeDocument/2006/math">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The</m:t>
                      </m:r>
                      <m:r>
                        <a:rPr lang="en-CA" sz="1400">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False</m:t>
                      </m:r>
                      <m:r>
                        <a:rPr lang="en-CA" sz="1400">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Positive</m:t>
                      </m:r>
                      <m:r>
                        <a:rPr lang="en-CA" sz="1400">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Rate</m:t>
                      </m:r>
                      <m:r>
                        <a:rPr lang="en-CA" sz="1400" i="1">
                          <a:latin typeface="Cambria Math" panose="02040503050406030204" pitchFamily="18" charset="0"/>
                          <a:ea typeface="Times New Roman" panose="02020603050405020304" pitchFamily="18" charset="0"/>
                          <a:cs typeface="Times New Roman" panose="02020603050405020304" pitchFamily="18" charset="0"/>
                        </a:rPr>
                        <m:t>= </m:t>
                      </m:r>
                      <m:f>
                        <m:fPr>
                          <m:ctrlPr>
                            <a:rPr lang="en-CA" sz="1400" i="1">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FP</m:t>
                          </m:r>
                        </m:num>
                        <m:den>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TN</m:t>
                          </m:r>
                          <m:r>
                            <a:rPr lang="en-CA" sz="14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FP</m:t>
                          </m:r>
                        </m:den>
                      </m:f>
                    </m:oMath>
                  </m:oMathPara>
                </a14:m>
                <a:endParaRPr lang="en-CA"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tabLst>
                    <a:tab pos="3838575" algn="l"/>
                  </a:tabLst>
                </a:pPr>
                <a14:m>
                  <m:oMathPara xmlns:m="http://schemas.openxmlformats.org/officeDocument/2006/math">
                    <m:oMathParaPr>
                      <m:jc m:val="centerGroup"/>
                    </m:oMathParaPr>
                    <m:oMath xmlns:m="http://schemas.openxmlformats.org/officeDocument/2006/math">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Precisio</m:t>
                      </m:r>
                      <m:r>
                        <m:rPr>
                          <m:sty m:val="p"/>
                        </m:rPr>
                        <a:rPr lang="en-US" sz="1400" b="0" i="0" smtClean="0">
                          <a:latin typeface="Cambria Math" panose="02040503050406030204" pitchFamily="18" charset="0"/>
                          <a:ea typeface="Times New Roman" panose="02020603050405020304" pitchFamily="18" charset="0"/>
                          <a:cs typeface="Times New Roman" panose="02020603050405020304" pitchFamily="18" charset="0"/>
                        </a:rPr>
                        <m:t>n</m:t>
                      </m:r>
                      <m:r>
                        <a:rPr lang="en-US" sz="1400" b="0" i="0" smtClean="0">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US" sz="1400" b="0" i="0" smtClean="0">
                          <a:latin typeface="Cambria Math" panose="02040503050406030204" pitchFamily="18" charset="0"/>
                          <a:ea typeface="Times New Roman" panose="02020603050405020304" pitchFamily="18" charset="0"/>
                          <a:cs typeface="Times New Roman" panose="02020603050405020304" pitchFamily="18" charset="0"/>
                        </a:rPr>
                        <m:t>P</m:t>
                      </m:r>
                      <m:r>
                        <a:rPr lang="en-CA" sz="1400" i="1">
                          <a:latin typeface="Cambria Math" panose="02040503050406030204" pitchFamily="18" charset="0"/>
                          <a:ea typeface="Times New Roman" panose="02020603050405020304" pitchFamily="18" charset="0"/>
                          <a:cs typeface="Times New Roman" panose="02020603050405020304" pitchFamily="18" charset="0"/>
                        </a:rPr>
                        <m:t>= </m:t>
                      </m:r>
                      <m:f>
                        <m:fPr>
                          <m:ctrlPr>
                            <a:rPr lang="en-CA" sz="1400" i="1">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TP</m:t>
                          </m:r>
                        </m:num>
                        <m:den>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TP</m:t>
                          </m:r>
                          <m:r>
                            <a:rPr lang="en-CA" sz="14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CA" sz="1400">
                              <a:latin typeface="Cambria Math" panose="02040503050406030204" pitchFamily="18" charset="0"/>
                              <a:ea typeface="Times New Roman" panose="02020603050405020304" pitchFamily="18" charset="0"/>
                              <a:cs typeface="Times New Roman" panose="02020603050405020304" pitchFamily="18" charset="0"/>
                            </a:rPr>
                            <m:t>FP</m:t>
                          </m:r>
                        </m:den>
                      </m:f>
                    </m:oMath>
                  </m:oMathPara>
                </a14:m>
                <a:endParaRPr lang="en-US" sz="14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50000"/>
                  </a:lnSpc>
                  <a:spcAft>
                    <a:spcPts val="800"/>
                  </a:spcAft>
                  <a:tabLst>
                    <a:tab pos="3838575" algn="l"/>
                  </a:tabLst>
                </a:pPr>
                <a14:m>
                  <m:oMathPara xmlns:m="http://schemas.openxmlformats.org/officeDocument/2006/math">
                    <m:oMathParaPr>
                      <m:jc m:val="centerGroup"/>
                    </m:oMathParaPr>
                    <m:oMath xmlns:m="http://schemas.openxmlformats.org/officeDocument/2006/math">
                      <m:r>
                        <m:rPr>
                          <m:sty m:val="p"/>
                        </m:rPr>
                        <a:rPr lang="en-US" sz="1400" b="0" i="0" smtClean="0">
                          <a:effectLst/>
                          <a:latin typeface="Cambria Math" panose="02040503050406030204" pitchFamily="18" charset="0"/>
                          <a:ea typeface="Calibri" panose="020F0502020204030204" pitchFamily="34" charset="0"/>
                          <a:cs typeface="Times New Roman" panose="02020603050405020304" pitchFamily="18" charset="0"/>
                        </a:rPr>
                        <m:t>F</m:t>
                      </m:r>
                      <m:r>
                        <a:rPr lang="en-US" sz="1400" b="0" i="0" smtClean="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sz="1400" b="0" i="0" smtClean="0">
                          <a:effectLst/>
                          <a:latin typeface="Cambria Math" panose="02040503050406030204" pitchFamily="18" charset="0"/>
                          <a:ea typeface="Calibri" panose="020F0502020204030204" pitchFamily="34" charset="0"/>
                          <a:cs typeface="Times New Roman" panose="02020603050405020304" pitchFamily="18" charset="0"/>
                        </a:rPr>
                        <m:t>score</m:t>
                      </m:r>
                      <m:r>
                        <a:rPr lang="en-US" sz="1400" b="0" i="1" smtClean="0">
                          <a:effectLst/>
                          <a:latin typeface="Cambria Math" panose="02040503050406030204" pitchFamily="18" charset="0"/>
                          <a:ea typeface="Calibri" panose="020F0502020204030204" pitchFamily="34" charset="0"/>
                          <a:cs typeface="Times New Roman" panose="02020603050405020304" pitchFamily="18" charset="0"/>
                        </a:rPr>
                        <m:t>=2</m:t>
                      </m:r>
                      <m:r>
                        <a:rPr lang="en-US" sz="1400" b="0" i="1" smtClean="0">
                          <a:effectLst/>
                          <a:latin typeface="Cambria Math" panose="02040503050406030204" pitchFamily="18" charset="0"/>
                          <a:ea typeface="Cambria Math" panose="02040503050406030204" pitchFamily="18" charset="0"/>
                          <a:cs typeface="Times New Roman" panose="02020603050405020304" pitchFamily="18" charset="0"/>
                        </a:rPr>
                        <m:t>×</m:t>
                      </m:r>
                      <m:r>
                        <a:rPr lang="en-US" sz="1400" b="0" i="1" smtClean="0">
                          <a:effectLst/>
                          <a:latin typeface="Cambria Math" panose="02040503050406030204" pitchFamily="18" charset="0"/>
                          <a:ea typeface="Calibri" panose="020F0502020204030204" pitchFamily="34" charset="0"/>
                          <a:cs typeface="Times New Roman" panose="02020603050405020304" pitchFamily="18" charset="0"/>
                        </a:rPr>
                        <m:t> </m:t>
                      </m:r>
                      <m:f>
                        <m:fPr>
                          <m:ctrlPr>
                            <a:rPr lang="en-US" sz="1400" b="0" i="1" smtClean="0">
                              <a:effectLst/>
                              <a:latin typeface="Cambria Math" panose="02040503050406030204" pitchFamily="18" charset="0"/>
                              <a:cs typeface="Times New Roman" panose="02020603050405020304" pitchFamily="18" charset="0"/>
                            </a:rPr>
                          </m:ctrlPr>
                        </m:fPr>
                        <m:num>
                          <m:r>
                            <m:rPr>
                              <m:sty m:val="p"/>
                            </m:rPr>
                            <a:rPr lang="en-US" sz="1400" b="0" i="0" smtClean="0">
                              <a:effectLst/>
                              <a:latin typeface="Cambria Math" panose="02040503050406030204" pitchFamily="18" charset="0"/>
                              <a:cs typeface="Times New Roman" panose="02020603050405020304" pitchFamily="18" charset="0"/>
                            </a:rPr>
                            <m:t>P</m:t>
                          </m:r>
                          <m:r>
                            <a:rPr lang="en-US" sz="1400" b="0" i="0" smtClean="0">
                              <a:effectLst/>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sz="1400" b="0" i="0" smtClean="0">
                              <a:effectLst/>
                              <a:latin typeface="Cambria Math" panose="02040503050406030204" pitchFamily="18" charset="0"/>
                              <a:ea typeface="Cambria Math" panose="02040503050406030204" pitchFamily="18" charset="0"/>
                              <a:cs typeface="Times New Roman" panose="02020603050405020304" pitchFamily="18" charset="0"/>
                            </a:rPr>
                            <m:t>TPR</m:t>
                          </m:r>
                        </m:num>
                        <m:den>
                          <m:r>
                            <m:rPr>
                              <m:sty m:val="p"/>
                            </m:rPr>
                            <a:rPr lang="en-US" sz="1400" b="0" i="0" smtClean="0">
                              <a:effectLst/>
                              <a:latin typeface="Cambria Math" panose="02040503050406030204" pitchFamily="18" charset="0"/>
                              <a:cs typeface="Times New Roman" panose="02020603050405020304" pitchFamily="18" charset="0"/>
                            </a:rPr>
                            <m:t>P</m:t>
                          </m:r>
                          <m:r>
                            <a:rPr lang="en-US" sz="1400" b="0" i="0" smtClean="0">
                              <a:effectLst/>
                              <a:latin typeface="Cambria Math" panose="02040503050406030204" pitchFamily="18" charset="0"/>
                              <a:cs typeface="Times New Roman" panose="02020603050405020304" pitchFamily="18" charset="0"/>
                            </a:rPr>
                            <m:t>+</m:t>
                          </m:r>
                          <m:r>
                            <m:rPr>
                              <m:sty m:val="p"/>
                            </m:rPr>
                            <a:rPr lang="en-US" sz="1400" b="0" i="0" smtClean="0">
                              <a:effectLst/>
                              <a:latin typeface="Cambria Math" panose="02040503050406030204" pitchFamily="18" charset="0"/>
                              <a:cs typeface="Times New Roman" panose="02020603050405020304" pitchFamily="18" charset="0"/>
                            </a:rPr>
                            <m:t>TPR</m:t>
                          </m:r>
                        </m:den>
                      </m:f>
                    </m:oMath>
                  </m:oMathPara>
                </a14:m>
                <a:endParaRPr lang="en-CA"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1269871" y="2920770"/>
                <a:ext cx="6363443" cy="3556230"/>
              </a:xfrm>
              <a:prstGeom prst="rect">
                <a:avLst/>
              </a:prstGeom>
              <a:blipFill>
                <a:blip r:embed="rId2"/>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30384243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062" y="930275"/>
            <a:ext cx="7772401" cy="1143000"/>
          </a:xfrm>
        </p:spPr>
        <p:txBody>
          <a:bodyPr/>
          <a:lstStyle/>
          <a:p>
            <a:r>
              <a:rPr lang="en-CA" dirty="0"/>
              <a:t>Test Set Ratios for different Z values (Table 3.14)</a:t>
            </a:r>
          </a:p>
        </p:txBody>
      </p:sp>
      <p:sp>
        <p:nvSpPr>
          <p:cNvPr id="3" name="Content Placeholder 2"/>
          <p:cNvSpPr>
            <a:spLocks noGrp="1"/>
          </p:cNvSpPr>
          <p:nvPr>
            <p:ph idx="1"/>
          </p:nvPr>
        </p:nvSpPr>
        <p:spPr>
          <a:xfrm>
            <a:off x="685800" y="2609384"/>
            <a:ext cx="7332663" cy="3653303"/>
          </a:xfrm>
        </p:spPr>
        <p:txBody>
          <a:bodyPr/>
          <a:lstStyle/>
          <a:p>
            <a:pPr marL="0" indent="0">
              <a:buNone/>
            </a:pPr>
            <a:r>
              <a:rPr lang="en-CA" dirty="0"/>
              <a:t> </a:t>
            </a:r>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2E8C09BE-1715-42CA-A91A-E7B0E09A3015}" type="slidenum">
              <a:rPr lang="en-CA" smtClean="0"/>
              <a:t>33</a:t>
            </a:fld>
            <a:endParaRPr lang="en-CA"/>
          </a:p>
        </p:txBody>
      </p:sp>
      <p:graphicFrame>
        <p:nvGraphicFramePr>
          <p:cNvPr id="7" name="Table 6"/>
          <p:cNvGraphicFramePr>
            <a:graphicFrameLocks noGrp="1"/>
          </p:cNvGraphicFramePr>
          <p:nvPr>
            <p:extLst>
              <p:ext uri="{D42A27DB-BD31-4B8C-83A1-F6EECF244321}">
                <p14:modId xmlns:p14="http://schemas.microsoft.com/office/powerpoint/2010/main" val="531728193"/>
              </p:ext>
            </p:extLst>
          </p:nvPr>
        </p:nvGraphicFramePr>
        <p:xfrm>
          <a:off x="1547666" y="2749088"/>
          <a:ext cx="6336704" cy="2802093"/>
        </p:xfrm>
        <a:graphic>
          <a:graphicData uri="http://schemas.openxmlformats.org/drawingml/2006/table">
            <a:tbl>
              <a:tblPr firstRow="1" firstCol="1" bandRow="1">
                <a:tableStyleId>{5940675A-B579-460E-94D1-54222C63F5DA}</a:tableStyleId>
              </a:tblPr>
              <a:tblGrid>
                <a:gridCol w="1307450">
                  <a:extLst>
                    <a:ext uri="{9D8B030D-6E8A-4147-A177-3AD203B41FA5}">
                      <a16:colId xmlns:a16="http://schemas.microsoft.com/office/drawing/2014/main" val="20000"/>
                    </a:ext>
                  </a:extLst>
                </a:gridCol>
                <a:gridCol w="986434">
                  <a:extLst>
                    <a:ext uri="{9D8B030D-6E8A-4147-A177-3AD203B41FA5}">
                      <a16:colId xmlns:a16="http://schemas.microsoft.com/office/drawing/2014/main" val="3799051232"/>
                    </a:ext>
                  </a:extLst>
                </a:gridCol>
                <a:gridCol w="986434">
                  <a:extLst>
                    <a:ext uri="{9D8B030D-6E8A-4147-A177-3AD203B41FA5}">
                      <a16:colId xmlns:a16="http://schemas.microsoft.com/office/drawing/2014/main" val="20001"/>
                    </a:ext>
                  </a:extLst>
                </a:gridCol>
                <a:gridCol w="948876">
                  <a:extLst>
                    <a:ext uri="{9D8B030D-6E8A-4147-A177-3AD203B41FA5}">
                      <a16:colId xmlns:a16="http://schemas.microsoft.com/office/drawing/2014/main" val="20002"/>
                    </a:ext>
                  </a:extLst>
                </a:gridCol>
                <a:gridCol w="1053755">
                  <a:extLst>
                    <a:ext uri="{9D8B030D-6E8A-4147-A177-3AD203B41FA5}">
                      <a16:colId xmlns:a16="http://schemas.microsoft.com/office/drawing/2014/main" val="20003"/>
                    </a:ext>
                  </a:extLst>
                </a:gridCol>
                <a:gridCol w="1053755">
                  <a:extLst>
                    <a:ext uri="{9D8B030D-6E8A-4147-A177-3AD203B41FA5}">
                      <a16:colId xmlns:a16="http://schemas.microsoft.com/office/drawing/2014/main" val="2721818788"/>
                    </a:ext>
                  </a:extLst>
                </a:gridCol>
              </a:tblGrid>
              <a:tr h="0">
                <a:tc>
                  <a:txBody>
                    <a:bodyPr/>
                    <a:lstStyle/>
                    <a:p>
                      <a:pPr indent="-156845" algn="ctr">
                        <a:lnSpc>
                          <a:spcPct val="106000"/>
                        </a:lnSpc>
                        <a:spcAft>
                          <a:spcPts val="0"/>
                        </a:spcAft>
                        <a:tabLst>
                          <a:tab pos="3838575" algn="l"/>
                        </a:tabLst>
                      </a:pPr>
                      <a:r>
                        <a:rPr lang="en-CA" sz="1600" dirty="0">
                          <a:effectLst/>
                          <a:latin typeface="+mj-lt"/>
                        </a:rPr>
                        <a:t> </a:t>
                      </a:r>
                      <a:endParaRPr lang="en-CA" sz="16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1600" b="1" dirty="0">
                          <a:effectLst/>
                          <a:latin typeface="+mj-lt"/>
                          <a:ea typeface="Calibri"/>
                          <a:cs typeface="Times New Roman"/>
                        </a:rPr>
                        <a:t>Z=0.00</a:t>
                      </a:r>
                    </a:p>
                  </a:txBody>
                  <a:tcPr marL="68580" marR="68580" marT="0" marB="0"/>
                </a:tc>
                <a:tc>
                  <a:txBody>
                    <a:bodyPr/>
                    <a:lstStyle/>
                    <a:p>
                      <a:pPr indent="-156845" algn="ctr">
                        <a:lnSpc>
                          <a:spcPct val="106000"/>
                        </a:lnSpc>
                        <a:spcAft>
                          <a:spcPts val="0"/>
                        </a:spcAft>
                        <a:tabLst>
                          <a:tab pos="3838575" algn="l"/>
                        </a:tabLst>
                      </a:pPr>
                      <a:r>
                        <a:rPr lang="en-CA" sz="1600" b="1" dirty="0">
                          <a:effectLst/>
                          <a:latin typeface="+mj-lt"/>
                        </a:rPr>
                        <a:t>Z = 0.75</a:t>
                      </a:r>
                      <a:endParaRPr lang="en-CA" sz="1600" b="1"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1600" b="1" dirty="0">
                          <a:effectLst/>
                          <a:latin typeface="+mj-lt"/>
                        </a:rPr>
                        <a:t>Z = 0.80</a:t>
                      </a:r>
                      <a:endParaRPr lang="en-CA" sz="1600" b="1"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1600" b="1" dirty="0">
                          <a:effectLst/>
                          <a:latin typeface="+mj-lt"/>
                        </a:rPr>
                        <a:t>Z = 0.85</a:t>
                      </a:r>
                      <a:endParaRPr lang="en-CA" sz="1600" b="1"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1600" b="1" dirty="0">
                          <a:effectLst/>
                          <a:latin typeface="+mj-lt"/>
                          <a:ea typeface="Calibri"/>
                          <a:cs typeface="Times New Roman"/>
                        </a:rPr>
                        <a:t>Z=1.00</a:t>
                      </a:r>
                    </a:p>
                  </a:txBody>
                  <a:tcPr marL="68580" marR="68580" marT="0" marB="0"/>
                </a:tc>
                <a:extLst>
                  <a:ext uri="{0D108BD9-81ED-4DB2-BD59-A6C34878D82A}">
                    <a16:rowId xmlns:a16="http://schemas.microsoft.com/office/drawing/2014/main" val="10000"/>
                  </a:ext>
                </a:extLst>
              </a:tr>
              <a:tr h="353598">
                <a:tc>
                  <a:txBody>
                    <a:bodyPr/>
                    <a:lstStyle/>
                    <a:p>
                      <a:pPr algn="ctr">
                        <a:lnSpc>
                          <a:spcPct val="106000"/>
                        </a:lnSpc>
                        <a:spcAft>
                          <a:spcPts val="0"/>
                        </a:spcAft>
                        <a:tabLst>
                          <a:tab pos="3838575" algn="l"/>
                        </a:tabLst>
                      </a:pPr>
                      <a:r>
                        <a:rPr lang="en-CA" sz="1600" dirty="0">
                          <a:effectLst/>
                          <a:latin typeface="+mj-lt"/>
                        </a:rPr>
                        <a:t>Accuracy</a:t>
                      </a:r>
                      <a:endParaRPr lang="en-CA" sz="16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1600" dirty="0">
                          <a:effectLst/>
                          <a:latin typeface="+mj-lt"/>
                          <a:ea typeface="Calibri"/>
                          <a:cs typeface="Times New Roman"/>
                        </a:rPr>
                        <a:t>79.17%</a:t>
                      </a:r>
                    </a:p>
                  </a:txBody>
                  <a:tcPr marL="68580" marR="68580" marT="0" marB="0"/>
                </a:tc>
                <a:tc>
                  <a:txBody>
                    <a:bodyPr/>
                    <a:lstStyle/>
                    <a:p>
                      <a:pPr indent="-156845" algn="ctr">
                        <a:lnSpc>
                          <a:spcPct val="106000"/>
                        </a:lnSpc>
                        <a:spcAft>
                          <a:spcPts val="0"/>
                        </a:spcAft>
                        <a:tabLst>
                          <a:tab pos="3838575" algn="l"/>
                        </a:tabLst>
                      </a:pPr>
                      <a:r>
                        <a:rPr lang="en-CA" sz="1600" dirty="0">
                          <a:effectLst/>
                          <a:latin typeface="+mj-lt"/>
                        </a:rPr>
                        <a:t>69.96%</a:t>
                      </a:r>
                      <a:endParaRPr lang="en-CA" sz="16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1600" dirty="0">
                          <a:effectLst/>
                          <a:latin typeface="+mj-lt"/>
                        </a:rPr>
                        <a:t>57.07%</a:t>
                      </a:r>
                      <a:endParaRPr lang="en-CA" sz="16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1600" dirty="0">
                          <a:effectLst/>
                          <a:latin typeface="+mj-lt"/>
                        </a:rPr>
                        <a:t>40.57%</a:t>
                      </a:r>
                      <a:endParaRPr lang="en-CA" sz="16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1600" dirty="0">
                          <a:effectLst/>
                          <a:latin typeface="+mj-lt"/>
                          <a:ea typeface="Calibri"/>
                          <a:cs typeface="Times New Roman"/>
                        </a:rPr>
                        <a:t>20.83%</a:t>
                      </a:r>
                    </a:p>
                  </a:txBody>
                  <a:tcPr marL="68580" marR="68580" marT="0" marB="0"/>
                </a:tc>
                <a:extLst>
                  <a:ext uri="{0D108BD9-81ED-4DB2-BD59-A6C34878D82A}">
                    <a16:rowId xmlns:a16="http://schemas.microsoft.com/office/drawing/2014/main" val="10001"/>
                  </a:ext>
                </a:extLst>
              </a:tr>
              <a:tr h="444930">
                <a:tc>
                  <a:txBody>
                    <a:bodyPr/>
                    <a:lstStyle/>
                    <a:p>
                      <a:pPr algn="ctr">
                        <a:lnSpc>
                          <a:spcPct val="106000"/>
                        </a:lnSpc>
                        <a:spcAft>
                          <a:spcPts val="0"/>
                        </a:spcAft>
                        <a:tabLst>
                          <a:tab pos="3838575" algn="l"/>
                        </a:tabLst>
                      </a:pPr>
                      <a:r>
                        <a:rPr lang="en-CA" sz="1600" dirty="0">
                          <a:effectLst/>
                          <a:latin typeface="+mj-lt"/>
                        </a:rPr>
                        <a:t>True Positive Rate</a:t>
                      </a:r>
                      <a:endParaRPr lang="en-CA" sz="16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1600" dirty="0">
                          <a:effectLst/>
                          <a:latin typeface="+mj-lt"/>
                          <a:ea typeface="Calibri"/>
                          <a:cs typeface="Times New Roman"/>
                        </a:rPr>
                        <a:t>100.00%</a:t>
                      </a:r>
                    </a:p>
                  </a:txBody>
                  <a:tcPr marL="68580" marR="68580" marT="0" marB="0"/>
                </a:tc>
                <a:tc>
                  <a:txBody>
                    <a:bodyPr/>
                    <a:lstStyle/>
                    <a:p>
                      <a:pPr indent="-156845" algn="ctr">
                        <a:lnSpc>
                          <a:spcPct val="106000"/>
                        </a:lnSpc>
                        <a:spcAft>
                          <a:spcPts val="0"/>
                        </a:spcAft>
                        <a:tabLst>
                          <a:tab pos="3838575" algn="l"/>
                        </a:tabLst>
                      </a:pPr>
                      <a:r>
                        <a:rPr lang="en-CA" sz="1600" dirty="0">
                          <a:effectLst/>
                          <a:latin typeface="+mj-lt"/>
                        </a:rPr>
                        <a:t>76.83%</a:t>
                      </a:r>
                      <a:endParaRPr lang="en-CA" sz="16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1600" dirty="0">
                          <a:effectLst/>
                          <a:latin typeface="+mj-lt"/>
                        </a:rPr>
                        <a:t>53.94%</a:t>
                      </a:r>
                      <a:endParaRPr lang="en-CA" sz="16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1600" dirty="0">
                          <a:effectLst/>
                          <a:latin typeface="+mj-lt"/>
                        </a:rPr>
                        <a:t>28.74%</a:t>
                      </a:r>
                      <a:endParaRPr lang="en-CA" sz="16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1600" dirty="0">
                          <a:effectLst/>
                          <a:latin typeface="+mj-lt"/>
                          <a:ea typeface="Calibri"/>
                          <a:cs typeface="Times New Roman"/>
                        </a:rPr>
                        <a:t>0.00%</a:t>
                      </a:r>
                    </a:p>
                  </a:txBody>
                  <a:tcPr marL="68580" marR="68580" marT="0" marB="0"/>
                </a:tc>
                <a:extLst>
                  <a:ext uri="{0D108BD9-81ED-4DB2-BD59-A6C34878D82A}">
                    <a16:rowId xmlns:a16="http://schemas.microsoft.com/office/drawing/2014/main" val="10002"/>
                  </a:ext>
                </a:extLst>
              </a:tr>
              <a:tr h="360040">
                <a:tc>
                  <a:txBody>
                    <a:bodyPr/>
                    <a:lstStyle/>
                    <a:p>
                      <a:pPr algn="ctr">
                        <a:lnSpc>
                          <a:spcPct val="106000"/>
                        </a:lnSpc>
                        <a:spcAft>
                          <a:spcPts val="0"/>
                        </a:spcAft>
                        <a:tabLst>
                          <a:tab pos="3838575" algn="l"/>
                        </a:tabLst>
                      </a:pPr>
                      <a:r>
                        <a:rPr lang="en-CA" sz="1600" dirty="0">
                          <a:effectLst/>
                          <a:latin typeface="+mj-lt"/>
                        </a:rPr>
                        <a:t>True Negative Rate</a:t>
                      </a:r>
                      <a:endParaRPr lang="en-CA" sz="16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1600" dirty="0">
                          <a:effectLst/>
                          <a:latin typeface="+mj-lt"/>
                          <a:ea typeface="Calibri"/>
                          <a:cs typeface="Times New Roman"/>
                        </a:rPr>
                        <a:t>0.00%</a:t>
                      </a:r>
                    </a:p>
                  </a:txBody>
                  <a:tcPr marL="68580" marR="68580" marT="0" marB="0"/>
                </a:tc>
                <a:tc>
                  <a:txBody>
                    <a:bodyPr/>
                    <a:lstStyle/>
                    <a:p>
                      <a:pPr indent="-156845" algn="ctr">
                        <a:lnSpc>
                          <a:spcPct val="106000"/>
                        </a:lnSpc>
                        <a:spcAft>
                          <a:spcPts val="0"/>
                        </a:spcAft>
                        <a:tabLst>
                          <a:tab pos="3838575" algn="l"/>
                        </a:tabLst>
                      </a:pPr>
                      <a:r>
                        <a:rPr lang="en-CA" sz="1600" dirty="0">
                          <a:effectLst/>
                          <a:latin typeface="+mj-lt"/>
                        </a:rPr>
                        <a:t>43.82%</a:t>
                      </a:r>
                      <a:endParaRPr lang="en-CA" sz="16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1600" dirty="0">
                          <a:effectLst/>
                          <a:latin typeface="+mj-lt"/>
                        </a:rPr>
                        <a:t>68.97%</a:t>
                      </a:r>
                      <a:endParaRPr lang="en-CA" sz="16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1600" dirty="0">
                          <a:effectLst/>
                          <a:latin typeface="+mj-lt"/>
                        </a:rPr>
                        <a:t>85.53%</a:t>
                      </a:r>
                      <a:endParaRPr lang="en-CA" sz="16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1600" dirty="0">
                          <a:effectLst/>
                          <a:latin typeface="+mj-lt"/>
                          <a:ea typeface="Calibri"/>
                          <a:cs typeface="Times New Roman"/>
                        </a:rPr>
                        <a:t>100.00%</a:t>
                      </a:r>
                    </a:p>
                  </a:txBody>
                  <a:tcPr marL="68580" marR="68580" marT="0" marB="0"/>
                </a:tc>
                <a:extLst>
                  <a:ext uri="{0D108BD9-81ED-4DB2-BD59-A6C34878D82A}">
                    <a16:rowId xmlns:a16="http://schemas.microsoft.com/office/drawing/2014/main" val="10003"/>
                  </a:ext>
                </a:extLst>
              </a:tr>
              <a:tr h="360040">
                <a:tc>
                  <a:txBody>
                    <a:bodyPr/>
                    <a:lstStyle/>
                    <a:p>
                      <a:pPr algn="ctr">
                        <a:lnSpc>
                          <a:spcPct val="106000"/>
                        </a:lnSpc>
                        <a:spcAft>
                          <a:spcPts val="0"/>
                        </a:spcAft>
                        <a:tabLst>
                          <a:tab pos="3838575" algn="l"/>
                        </a:tabLst>
                      </a:pPr>
                      <a:r>
                        <a:rPr lang="en-CA" sz="1600">
                          <a:effectLst/>
                          <a:latin typeface="+mj-lt"/>
                        </a:rPr>
                        <a:t>False Positive Rate</a:t>
                      </a:r>
                      <a:endParaRPr lang="en-CA" sz="160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1600" dirty="0">
                          <a:effectLst/>
                          <a:latin typeface="+mj-lt"/>
                          <a:ea typeface="Calibri"/>
                          <a:cs typeface="Times New Roman"/>
                        </a:rPr>
                        <a:t>100.00%</a:t>
                      </a:r>
                    </a:p>
                  </a:txBody>
                  <a:tcPr marL="68580" marR="68580" marT="0" marB="0"/>
                </a:tc>
                <a:tc>
                  <a:txBody>
                    <a:bodyPr/>
                    <a:lstStyle/>
                    <a:p>
                      <a:pPr indent="-156845" algn="ctr">
                        <a:lnSpc>
                          <a:spcPct val="106000"/>
                        </a:lnSpc>
                        <a:spcAft>
                          <a:spcPts val="0"/>
                        </a:spcAft>
                        <a:tabLst>
                          <a:tab pos="3838575" algn="l"/>
                        </a:tabLst>
                      </a:pPr>
                      <a:r>
                        <a:rPr lang="en-CA" sz="1600" dirty="0">
                          <a:effectLst/>
                          <a:latin typeface="+mj-lt"/>
                        </a:rPr>
                        <a:t>56.18%</a:t>
                      </a:r>
                      <a:endParaRPr lang="en-CA" sz="16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1600" dirty="0">
                          <a:effectLst/>
                          <a:latin typeface="+mj-lt"/>
                        </a:rPr>
                        <a:t>31.03%</a:t>
                      </a:r>
                      <a:endParaRPr lang="en-CA" sz="16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1600" dirty="0">
                          <a:effectLst/>
                          <a:latin typeface="+mj-lt"/>
                        </a:rPr>
                        <a:t>14.47%</a:t>
                      </a:r>
                      <a:endParaRPr lang="en-CA" sz="16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1600" dirty="0">
                          <a:effectLst/>
                          <a:latin typeface="+mj-lt"/>
                          <a:ea typeface="Calibri"/>
                          <a:cs typeface="Times New Roman"/>
                        </a:rPr>
                        <a:t>0.00%</a:t>
                      </a:r>
                    </a:p>
                  </a:txBody>
                  <a:tcPr marL="68580" marR="68580" marT="0" marB="0"/>
                </a:tc>
                <a:extLst>
                  <a:ext uri="{0D108BD9-81ED-4DB2-BD59-A6C34878D82A}">
                    <a16:rowId xmlns:a16="http://schemas.microsoft.com/office/drawing/2014/main" val="10004"/>
                  </a:ext>
                </a:extLst>
              </a:tr>
              <a:tr h="353598">
                <a:tc>
                  <a:txBody>
                    <a:bodyPr/>
                    <a:lstStyle/>
                    <a:p>
                      <a:pPr algn="ctr">
                        <a:lnSpc>
                          <a:spcPct val="106000"/>
                        </a:lnSpc>
                        <a:spcAft>
                          <a:spcPts val="0"/>
                        </a:spcAft>
                        <a:tabLst>
                          <a:tab pos="3838575" algn="l"/>
                        </a:tabLst>
                      </a:pPr>
                      <a:r>
                        <a:rPr lang="en-CA" sz="1600" dirty="0">
                          <a:effectLst/>
                          <a:latin typeface="+mj-lt"/>
                        </a:rPr>
                        <a:t>Precision</a:t>
                      </a:r>
                      <a:endParaRPr lang="en-CA" sz="16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1600" dirty="0">
                          <a:effectLst/>
                          <a:latin typeface="+mj-lt"/>
                          <a:ea typeface="Calibri"/>
                          <a:cs typeface="Times New Roman"/>
                        </a:rPr>
                        <a:t>79.17%</a:t>
                      </a:r>
                    </a:p>
                  </a:txBody>
                  <a:tcPr marL="68580" marR="68580" marT="0" marB="0"/>
                </a:tc>
                <a:tc>
                  <a:txBody>
                    <a:bodyPr/>
                    <a:lstStyle/>
                    <a:p>
                      <a:pPr indent="-156845" algn="ctr">
                        <a:lnSpc>
                          <a:spcPct val="106000"/>
                        </a:lnSpc>
                        <a:spcAft>
                          <a:spcPts val="0"/>
                        </a:spcAft>
                        <a:tabLst>
                          <a:tab pos="3838575" algn="l"/>
                        </a:tabLst>
                      </a:pPr>
                      <a:r>
                        <a:rPr lang="en-CA" sz="1600" dirty="0">
                          <a:effectLst/>
                          <a:latin typeface="+mj-lt"/>
                        </a:rPr>
                        <a:t>83.87%</a:t>
                      </a:r>
                      <a:endParaRPr lang="en-CA" sz="16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1600" dirty="0">
                          <a:effectLst/>
                          <a:latin typeface="+mj-lt"/>
                        </a:rPr>
                        <a:t>86.86%</a:t>
                      </a:r>
                      <a:endParaRPr lang="en-CA" sz="16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1600" dirty="0">
                          <a:effectLst/>
                          <a:latin typeface="+mj-lt"/>
                        </a:rPr>
                        <a:t>88.31%</a:t>
                      </a:r>
                      <a:endParaRPr lang="en-CA" sz="16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1600" dirty="0" err="1">
                          <a:effectLst/>
                          <a:latin typeface="+mj-lt"/>
                          <a:ea typeface="Calibri"/>
                          <a:cs typeface="Times New Roman"/>
                        </a:rPr>
                        <a:t>n.a.</a:t>
                      </a:r>
                      <a:endParaRPr lang="en-CA" sz="1600" dirty="0">
                        <a:effectLst/>
                        <a:latin typeface="+mj-lt"/>
                        <a:ea typeface="Calibri"/>
                        <a:cs typeface="Times New Roman"/>
                      </a:endParaRPr>
                    </a:p>
                  </a:txBody>
                  <a:tcPr marL="68580" marR="68580" marT="0" marB="0"/>
                </a:tc>
                <a:extLst>
                  <a:ext uri="{0D108BD9-81ED-4DB2-BD59-A6C34878D82A}">
                    <a16:rowId xmlns:a16="http://schemas.microsoft.com/office/drawing/2014/main" val="10005"/>
                  </a:ext>
                </a:extLst>
              </a:tr>
              <a:tr h="353598">
                <a:tc>
                  <a:txBody>
                    <a:bodyPr/>
                    <a:lstStyle/>
                    <a:p>
                      <a:pPr algn="ctr">
                        <a:lnSpc>
                          <a:spcPct val="106000"/>
                        </a:lnSpc>
                        <a:spcAft>
                          <a:spcPts val="0"/>
                        </a:spcAft>
                        <a:tabLst>
                          <a:tab pos="3838575" algn="l"/>
                        </a:tabLst>
                      </a:pPr>
                      <a:r>
                        <a:rPr lang="en-US" sz="1600" dirty="0">
                          <a:effectLst/>
                          <a:latin typeface="+mj-lt"/>
                          <a:ea typeface="Calibri"/>
                          <a:cs typeface="Times New Roman"/>
                        </a:rPr>
                        <a:t>F-score</a:t>
                      </a:r>
                      <a:endParaRPr lang="en-CA" sz="16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1600" dirty="0">
                          <a:effectLst/>
                          <a:latin typeface="+mj-lt"/>
                          <a:ea typeface="Calibri"/>
                          <a:cs typeface="Times New Roman"/>
                        </a:rPr>
                        <a:t>88.37%</a:t>
                      </a:r>
                    </a:p>
                  </a:txBody>
                  <a:tcPr marL="68580" marR="68580" marT="0" marB="0"/>
                </a:tc>
                <a:tc>
                  <a:txBody>
                    <a:bodyPr/>
                    <a:lstStyle/>
                    <a:p>
                      <a:pPr indent="-156845" algn="ctr">
                        <a:lnSpc>
                          <a:spcPct val="106000"/>
                        </a:lnSpc>
                        <a:spcAft>
                          <a:spcPts val="0"/>
                        </a:spcAft>
                        <a:tabLst>
                          <a:tab pos="3838575" algn="l"/>
                        </a:tabLst>
                      </a:pPr>
                      <a:r>
                        <a:rPr lang="en-US" sz="1600" dirty="0">
                          <a:effectLst/>
                          <a:latin typeface="+mj-lt"/>
                          <a:ea typeface="Calibri"/>
                          <a:cs typeface="Times New Roman"/>
                        </a:rPr>
                        <a:t>80.20%</a:t>
                      </a:r>
                      <a:endParaRPr lang="en-CA" sz="16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US" sz="1600" dirty="0">
                          <a:effectLst/>
                          <a:latin typeface="+mj-lt"/>
                          <a:ea typeface="Calibri"/>
                          <a:cs typeface="Times New Roman"/>
                        </a:rPr>
                        <a:t>66.55%</a:t>
                      </a:r>
                      <a:endParaRPr lang="en-CA" sz="16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US" sz="1600" dirty="0">
                          <a:effectLst/>
                          <a:latin typeface="+mj-lt"/>
                          <a:ea typeface="Calibri"/>
                          <a:cs typeface="Times New Roman"/>
                        </a:rPr>
                        <a:t>43.36%</a:t>
                      </a:r>
                      <a:endParaRPr lang="en-CA" sz="16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1600">
                          <a:effectLst/>
                          <a:latin typeface="+mj-lt"/>
                          <a:ea typeface="Calibri"/>
                          <a:cs typeface="Times New Roman"/>
                        </a:rPr>
                        <a:t>n.a.</a:t>
                      </a:r>
                      <a:endParaRPr lang="en-CA" sz="1600" dirty="0">
                        <a:effectLst/>
                        <a:latin typeface="+mj-lt"/>
                        <a:ea typeface="Calibri"/>
                        <a:cs typeface="Times New Roman"/>
                      </a:endParaRPr>
                    </a:p>
                  </a:txBody>
                  <a:tcPr marL="68580" marR="68580" marT="0" marB="0"/>
                </a:tc>
                <a:extLst>
                  <a:ext uri="{0D108BD9-81ED-4DB2-BD59-A6C34878D82A}">
                    <a16:rowId xmlns:a16="http://schemas.microsoft.com/office/drawing/2014/main" val="4010082093"/>
                  </a:ext>
                </a:extLst>
              </a:tr>
            </a:tbl>
          </a:graphicData>
        </a:graphic>
      </p:graphicFrame>
    </p:spTree>
    <p:extLst>
      <p:ext uri="{BB962C8B-B14F-4D97-AF65-F5344CB8AC3E}">
        <p14:creationId xmlns:p14="http://schemas.microsoft.com/office/powerpoint/2010/main" val="28819849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062" y="930275"/>
            <a:ext cx="8142361" cy="1143000"/>
          </a:xfrm>
        </p:spPr>
        <p:txBody>
          <a:bodyPr/>
          <a:lstStyle/>
          <a:p>
            <a:r>
              <a:rPr lang="en-CA" sz="2700" dirty="0"/>
              <a:t>As we change the Z criterion we get an ROC curve (receiver operating characteristics) curve, Figure 3.11</a:t>
            </a:r>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2E8C09BE-1715-42CA-A91A-E7B0E09A3015}" type="slidenum">
              <a:rPr lang="en-CA" smtClean="0"/>
              <a:t>34</a:t>
            </a:fld>
            <a:endParaRPr lang="en-CA"/>
          </a:p>
        </p:txBody>
      </p:sp>
      <p:sp>
        <p:nvSpPr>
          <p:cNvPr id="3" name="Content Placeholder 2"/>
          <p:cNvSpPr>
            <a:spLocks noGrp="1"/>
          </p:cNvSpPr>
          <p:nvPr>
            <p:ph idx="1"/>
          </p:nvPr>
        </p:nvSpPr>
        <p:spPr/>
        <p:txBody>
          <a:bodyPr/>
          <a:lstStyle/>
          <a:p>
            <a:pPr marL="0" indent="0">
              <a:buNone/>
            </a:pPr>
            <a:r>
              <a:rPr lang="en-US" dirty="0"/>
              <a:t> </a:t>
            </a:r>
            <a:endParaRPr lang="en-CA" dirty="0"/>
          </a:p>
        </p:txBody>
      </p:sp>
      <p:pic>
        <p:nvPicPr>
          <p:cNvPr id="7" name="Picture 6">
            <a:extLst>
              <a:ext uri="{FF2B5EF4-FFF2-40B4-BE49-F238E27FC236}">
                <a16:creationId xmlns:a16="http://schemas.microsoft.com/office/drawing/2014/main" id="{CFE964C7-B138-4F1A-9270-EDB135181B82}"/>
              </a:ext>
            </a:extLst>
          </p:cNvPr>
          <p:cNvPicPr>
            <a:picLocks noChangeAspect="1"/>
          </p:cNvPicPr>
          <p:nvPr/>
        </p:nvPicPr>
        <p:blipFill>
          <a:blip r:embed="rId2"/>
          <a:stretch>
            <a:fillRect/>
          </a:stretch>
        </p:blipFill>
        <p:spPr>
          <a:xfrm>
            <a:off x="872448" y="2409824"/>
            <a:ext cx="6651879" cy="3625218"/>
          </a:xfrm>
          <a:prstGeom prst="rect">
            <a:avLst/>
          </a:prstGeom>
        </p:spPr>
      </p:pic>
    </p:spTree>
    <p:extLst>
      <p:ext uri="{BB962C8B-B14F-4D97-AF65-F5344CB8AC3E}">
        <p14:creationId xmlns:p14="http://schemas.microsoft.com/office/powerpoint/2010/main" val="13223566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Area Under Curve (AUC)</a:t>
            </a:r>
          </a:p>
        </p:txBody>
      </p:sp>
      <p:sp>
        <p:nvSpPr>
          <p:cNvPr id="3" name="Content Placeholder 2"/>
          <p:cNvSpPr>
            <a:spLocks noGrp="1"/>
          </p:cNvSpPr>
          <p:nvPr>
            <p:ph idx="1"/>
          </p:nvPr>
        </p:nvSpPr>
        <p:spPr/>
        <p:txBody>
          <a:bodyPr/>
          <a:lstStyle/>
          <a:p>
            <a:r>
              <a:rPr lang="en-CA" dirty="0"/>
              <a:t>The area under the curve is a popular way of summarizing the predictive ability of a model to estimate a binary variable</a:t>
            </a:r>
          </a:p>
          <a:p>
            <a:r>
              <a:rPr lang="en-CA" dirty="0"/>
              <a:t>When AUC =1 the model is perfect. </a:t>
            </a:r>
          </a:p>
          <a:p>
            <a:r>
              <a:rPr lang="en-CA" dirty="0"/>
              <a:t>When AUC =0.5 the model has no predictive ability</a:t>
            </a:r>
          </a:p>
          <a:p>
            <a:r>
              <a:rPr lang="en-CA" dirty="0"/>
              <a:t>When AUC &lt; 0.5 the model has negative predictive ability</a:t>
            </a:r>
          </a:p>
          <a:p>
            <a:r>
              <a:rPr lang="en-US" dirty="0"/>
              <a:t>In this case AUC = 0.6578</a:t>
            </a:r>
            <a:endParaRPr lang="en-CA"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2E8C09BE-1715-42CA-A91A-E7B0E09A3015}" type="slidenum">
              <a:rPr lang="en-CA" smtClean="0"/>
              <a:t>35</a:t>
            </a:fld>
            <a:endParaRPr lang="en-CA"/>
          </a:p>
        </p:txBody>
      </p:sp>
    </p:spTree>
    <p:extLst>
      <p:ext uri="{BB962C8B-B14F-4D97-AF65-F5344CB8AC3E}">
        <p14:creationId xmlns:p14="http://schemas.microsoft.com/office/powerpoint/2010/main" val="41753909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Choosing Z</a:t>
            </a:r>
            <a:endParaRPr lang="en-CA" dirty="0"/>
          </a:p>
        </p:txBody>
      </p:sp>
      <p:sp>
        <p:nvSpPr>
          <p:cNvPr id="3" name="Content Placeholder 2"/>
          <p:cNvSpPr>
            <a:spLocks noGrp="1"/>
          </p:cNvSpPr>
          <p:nvPr>
            <p:ph idx="1"/>
          </p:nvPr>
        </p:nvSpPr>
        <p:spPr/>
        <p:txBody>
          <a:bodyPr/>
          <a:lstStyle/>
          <a:p>
            <a:r>
              <a:rPr lang="en-US" dirty="0"/>
              <a:t>The value of</a:t>
            </a:r>
            <a:r>
              <a:rPr lang="en-US" i="1" dirty="0">
                <a:latin typeface="+mj-lt"/>
              </a:rPr>
              <a:t> Z</a:t>
            </a:r>
            <a:r>
              <a:rPr lang="en-US" dirty="0"/>
              <a:t> can be based on </a:t>
            </a:r>
          </a:p>
          <a:p>
            <a:pPr lvl="1"/>
            <a:r>
              <a:rPr lang="en-US" dirty="0"/>
              <a:t>The expected profit from a loan that is good, </a:t>
            </a:r>
            <a:r>
              <a:rPr lang="en-US" i="1" dirty="0">
                <a:latin typeface="+mj-lt"/>
              </a:rPr>
              <a:t>P</a:t>
            </a:r>
          </a:p>
          <a:p>
            <a:pPr lvl="1"/>
            <a:r>
              <a:rPr lang="en-US" dirty="0"/>
              <a:t>The expected loss from a loan that defaults, </a:t>
            </a:r>
            <a:r>
              <a:rPr lang="en-US" i="1" dirty="0">
                <a:latin typeface="+mj-lt"/>
              </a:rPr>
              <a:t>L</a:t>
            </a:r>
            <a:endParaRPr lang="en-CA" i="1" dirty="0">
              <a:latin typeface="+mj-lt"/>
            </a:endParaRPr>
          </a:p>
          <a:p>
            <a:pPr marL="0" indent="0">
              <a:buNone/>
            </a:pPr>
            <a:endParaRPr lang="en-US" dirty="0"/>
          </a:p>
          <a:p>
            <a:r>
              <a:rPr lang="en-US" dirty="0"/>
              <a:t>We need to maximize </a:t>
            </a:r>
            <a:r>
              <a:rPr lang="en-US" i="1" dirty="0">
                <a:latin typeface="+mj-lt"/>
              </a:rPr>
              <a:t>P×</a:t>
            </a:r>
            <a:r>
              <a:rPr lang="en-US" dirty="0">
                <a:latin typeface="+mj-lt"/>
              </a:rPr>
              <a:t>TP</a:t>
            </a:r>
            <a:r>
              <a:rPr lang="en-US" i="1" dirty="0">
                <a:latin typeface="+mj-lt"/>
              </a:rPr>
              <a:t>−L×</a:t>
            </a:r>
            <a:r>
              <a:rPr lang="en-US" dirty="0">
                <a:latin typeface="+mj-lt"/>
              </a:rPr>
              <a:t>FP</a:t>
            </a:r>
          </a:p>
          <a:p>
            <a:pPr lvl="1"/>
            <a:endParaRPr lang="en-US" i="1" dirty="0">
              <a:latin typeface="+mj-lt"/>
            </a:endParaRPr>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36</a:t>
            </a:fld>
            <a:endParaRPr lang="en-CA"/>
          </a:p>
        </p:txBody>
      </p:sp>
    </p:spTree>
    <p:extLst>
      <p:ext uri="{BB962C8B-B14F-4D97-AF65-F5344CB8AC3E}">
        <p14:creationId xmlns:p14="http://schemas.microsoft.com/office/powerpoint/2010/main" val="34297628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t>A  Simple Alternative to regression : k-nearest neighbors</a:t>
            </a:r>
            <a:endParaRPr lang="en-CA" sz="2400" dirty="0"/>
          </a:p>
        </p:txBody>
      </p:sp>
      <p:sp>
        <p:nvSpPr>
          <p:cNvPr id="3" name="Content Placeholder 2"/>
          <p:cNvSpPr>
            <a:spLocks noGrp="1"/>
          </p:cNvSpPr>
          <p:nvPr>
            <p:ph idx="1"/>
          </p:nvPr>
        </p:nvSpPr>
        <p:spPr/>
        <p:txBody>
          <a:bodyPr/>
          <a:lstStyle/>
          <a:p>
            <a:r>
              <a:rPr lang="en-US" sz="1800" dirty="0"/>
              <a:t>Normalize data</a:t>
            </a:r>
          </a:p>
          <a:p>
            <a:r>
              <a:rPr lang="en-US" sz="1800" dirty="0"/>
              <a:t>Measure the distance in </a:t>
            </a:r>
            <a:r>
              <a:rPr lang="en-US" sz="1800" i="1" dirty="0"/>
              <a:t>n</a:t>
            </a:r>
            <a:r>
              <a:rPr lang="en-US" sz="1800" dirty="0"/>
              <a:t>-dimensional space of the new data from the data for which there are labels (i.e. known outcomes)</a:t>
            </a:r>
          </a:p>
          <a:p>
            <a:r>
              <a:rPr lang="en-US" sz="1800" dirty="0"/>
              <a:t>Distance of point with feature values </a:t>
            </a:r>
            <a:r>
              <a:rPr lang="en-US" sz="1800" i="1" dirty="0"/>
              <a:t>x</a:t>
            </a:r>
            <a:r>
              <a:rPr lang="en-US" sz="1800" i="1" baseline="-25000" dirty="0"/>
              <a:t>i</a:t>
            </a:r>
            <a:r>
              <a:rPr lang="en-US" sz="1800" i="1" dirty="0"/>
              <a:t> </a:t>
            </a:r>
            <a:r>
              <a:rPr lang="en-US" sz="1800" dirty="0"/>
              <a:t>from point with feature values </a:t>
            </a:r>
            <a:r>
              <a:rPr lang="en-US" sz="1800" i="1" dirty="0" err="1"/>
              <a:t>y</a:t>
            </a:r>
            <a:r>
              <a:rPr lang="en-US" sz="1800" i="1" baseline="-25000" dirty="0" err="1"/>
              <a:t>i</a:t>
            </a:r>
            <a:r>
              <a:rPr lang="en-US" sz="1800" i="1" baseline="-25000" dirty="0"/>
              <a:t> </a:t>
            </a:r>
            <a:r>
              <a:rPr lang="en-US" sz="1800" dirty="0"/>
              <a:t> is </a:t>
            </a:r>
          </a:p>
          <a:p>
            <a:r>
              <a:rPr lang="en-US" sz="1800" dirty="0"/>
              <a:t>Choose the </a:t>
            </a:r>
            <a:r>
              <a:rPr lang="en-US" sz="1800" i="1" dirty="0"/>
              <a:t>k</a:t>
            </a:r>
            <a:r>
              <a:rPr lang="en-US" sz="1800" dirty="0"/>
              <a:t> closest data items and average their labels</a:t>
            </a:r>
          </a:p>
          <a:p>
            <a:r>
              <a:rPr lang="en-US" sz="1800" dirty="0"/>
              <a:t>For example, if you are forecasting car sales in a certain area with </a:t>
            </a:r>
            <a:r>
              <a:rPr lang="en-US" sz="1800" i="1" dirty="0"/>
              <a:t>k</a:t>
            </a:r>
            <a:r>
              <a:rPr lang="en-US" sz="1800" dirty="0"/>
              <a:t>=3 and the three nearest neighbors for GDP growth and interest rates give sales of 5.2, 5.4 and 5.6 million units, the forecast would be the average of these or 5.4 million units.</a:t>
            </a:r>
          </a:p>
          <a:p>
            <a:r>
              <a:rPr lang="en-US" sz="1800" dirty="0"/>
              <a:t>If you are forecasting whether a loan will default with </a:t>
            </a:r>
            <a:r>
              <a:rPr lang="en-US" sz="1800" i="1" dirty="0"/>
              <a:t>k</a:t>
            </a:r>
            <a:r>
              <a:rPr lang="en-US" sz="1800" dirty="0"/>
              <a:t>=5 and that of the five nearest neighbors four defaulted and one was good loan, you would estimate an 80% chance of default</a:t>
            </a:r>
            <a:endParaRPr lang="en-CA" sz="1800" dirty="0"/>
          </a:p>
        </p:txBody>
      </p:sp>
      <p:sp>
        <p:nvSpPr>
          <p:cNvPr id="4" name="Footer Placeholder 3"/>
          <p:cNvSpPr>
            <a:spLocks noGrp="1"/>
          </p:cNvSpPr>
          <p:nvPr>
            <p:ph type="ftr" sz="quarter" idx="11"/>
          </p:nvPr>
        </p:nvSpPr>
        <p:spPr>
          <a:xfrm>
            <a:off x="1607127" y="6262688"/>
            <a:ext cx="5029200" cy="457200"/>
          </a:xfrm>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2E8C09BE-1715-42CA-A91A-E7B0E09A3015}" type="slidenum">
              <a:rPr lang="en-CA" smtClean="0"/>
              <a:t>37</a:t>
            </a:fld>
            <a:endParaRPr lang="en-CA"/>
          </a:p>
        </p:txBody>
      </p:sp>
      <p:graphicFrame>
        <p:nvGraphicFramePr>
          <p:cNvPr id="7" name="Object 6"/>
          <p:cNvGraphicFramePr>
            <a:graphicFrameLocks noChangeAspect="1"/>
          </p:cNvGraphicFramePr>
          <p:nvPr>
            <p:extLst>
              <p:ext uri="{D42A27DB-BD31-4B8C-83A1-F6EECF244321}">
                <p14:modId xmlns:p14="http://schemas.microsoft.com/office/powerpoint/2010/main" val="1996905693"/>
              </p:ext>
            </p:extLst>
          </p:nvPr>
        </p:nvGraphicFramePr>
        <p:xfrm>
          <a:off x="1345322" y="3373299"/>
          <a:ext cx="844114" cy="396478"/>
        </p:xfrm>
        <a:graphic>
          <a:graphicData uri="http://schemas.openxmlformats.org/presentationml/2006/ole">
            <mc:AlternateContent xmlns:mc="http://schemas.openxmlformats.org/markup-compatibility/2006">
              <mc:Choice xmlns:v="urn:schemas-microsoft-com:vml" Requires="v">
                <p:oleObj name="Equation" r:id="rId2" imgW="838080" imgH="393480" progId="Equation.DSMT4">
                  <p:embed/>
                </p:oleObj>
              </mc:Choice>
              <mc:Fallback>
                <p:oleObj name="Equation" r:id="rId2" imgW="838080" imgH="393480" progId="Equation.DSMT4">
                  <p:embed/>
                  <p:pic>
                    <p:nvPicPr>
                      <p:cNvPr id="7" name="Object 6"/>
                      <p:cNvPicPr/>
                      <p:nvPr/>
                    </p:nvPicPr>
                    <p:blipFill>
                      <a:blip r:embed="rId3"/>
                      <a:stretch>
                        <a:fillRect/>
                      </a:stretch>
                    </p:blipFill>
                    <p:spPr>
                      <a:xfrm>
                        <a:off x="1345322" y="3373299"/>
                        <a:ext cx="844114" cy="396478"/>
                      </a:xfrm>
                      <a:prstGeom prst="rect">
                        <a:avLst/>
                      </a:prstGeom>
                    </p:spPr>
                  </p:pic>
                </p:oleObj>
              </mc:Fallback>
            </mc:AlternateContent>
          </a:graphicData>
        </a:graphic>
      </p:graphicFrame>
    </p:spTree>
    <p:extLst>
      <p:ext uri="{BB962C8B-B14F-4D97-AF65-F5344CB8AC3E}">
        <p14:creationId xmlns:p14="http://schemas.microsoft.com/office/powerpoint/2010/main" val="1542367044"/>
      </p:ext>
    </p:extLst>
  </p:cSld>
  <p:clrMapOvr>
    <a:masterClrMapping/>
  </p:clrMapOvr>
</p:sld>
</file>

<file path=ppt/theme/theme1.xml><?xml version="1.0" encoding="utf-8"?>
<a:theme xmlns:a="http://schemas.openxmlformats.org/drawingml/2006/main" name="Global">
  <a:themeElements>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DB470C54600C46B1B0C1FE5EDD1D1B" ma:contentTypeVersion="3" ma:contentTypeDescription="Create a new document." ma:contentTypeScope="" ma:versionID="14dc9d57259abab41c863f8d0f9e2276">
  <xsd:schema xmlns:xsd="http://www.w3.org/2001/XMLSchema" xmlns:xs="http://www.w3.org/2001/XMLSchema" xmlns:p="http://schemas.microsoft.com/office/2006/metadata/properties" xmlns:ns2="cd351f98-0ba7-41cd-87bd-5169e413bab1" targetNamespace="http://schemas.microsoft.com/office/2006/metadata/properties" ma:root="true" ma:fieldsID="f27d059874946e97d17eaa08f9af4415" ns2:_="">
    <xsd:import namespace="cd351f98-0ba7-41cd-87bd-5169e413bab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351f98-0ba7-41cd-87bd-5169e413ba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914FF1B-411A-45F0-A3DB-C0D53A535247}"/>
</file>

<file path=customXml/itemProps2.xml><?xml version="1.0" encoding="utf-8"?>
<ds:datastoreItem xmlns:ds="http://schemas.openxmlformats.org/officeDocument/2006/customXml" ds:itemID="{1CC91CEE-F48E-4628-8ECB-186AE7B5CFA4}"/>
</file>

<file path=customXml/itemProps3.xml><?xml version="1.0" encoding="utf-8"?>
<ds:datastoreItem xmlns:ds="http://schemas.openxmlformats.org/officeDocument/2006/customXml" ds:itemID="{EE6D8D6E-279E-4FE6-9028-7EE79F852D34}"/>
</file>

<file path=docProps/app.xml><?xml version="1.0" encoding="utf-8"?>
<Properties xmlns="http://schemas.openxmlformats.org/officeDocument/2006/extended-properties" xmlns:vt="http://schemas.openxmlformats.org/officeDocument/2006/docPropsVTypes">
  <Template>Chapter 2</Template>
  <TotalTime>702</TotalTime>
  <Words>2842</Words>
  <Application>Microsoft Office PowerPoint</Application>
  <PresentationFormat>On-screen Show (4:3)</PresentationFormat>
  <Paragraphs>566</Paragraphs>
  <Slides>37</Slides>
  <Notes>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46" baseType="lpstr">
      <vt:lpstr>Arial</vt:lpstr>
      <vt:lpstr>Calibri</vt:lpstr>
      <vt:lpstr>Cambria</vt:lpstr>
      <vt:lpstr>Cambria Math</vt:lpstr>
      <vt:lpstr>Symbol</vt:lpstr>
      <vt:lpstr>Tahoma</vt:lpstr>
      <vt:lpstr>Times New Roman</vt:lpstr>
      <vt:lpstr>Global</vt:lpstr>
      <vt:lpstr>Equation</vt:lpstr>
      <vt:lpstr>Machine Learning in Business, 3rd Edition </vt:lpstr>
      <vt:lpstr>Linear Regression</vt:lpstr>
      <vt:lpstr>Linear Regression continued</vt:lpstr>
      <vt:lpstr>Gradient Descent (brief description: more details when neural networks are discussed)</vt:lpstr>
      <vt:lpstr>Categorical Features</vt:lpstr>
      <vt:lpstr>Dummy Variable Trap</vt:lpstr>
      <vt:lpstr>The Correlation Problem</vt:lpstr>
      <vt:lpstr>Regularization</vt:lpstr>
      <vt:lpstr>Ridge regression (analytic solution)</vt:lpstr>
      <vt:lpstr>Lasso Regression (must use gradient descent)</vt:lpstr>
      <vt:lpstr>Elastic Net Regression (must use gradient descent)</vt:lpstr>
      <vt:lpstr>Baby Example (from Chapter 1)</vt:lpstr>
      <vt:lpstr>Baby Example continued</vt:lpstr>
      <vt:lpstr>Data with Z-score scaling (Table 3.3)</vt:lpstr>
      <vt:lpstr>Ridge Results, Table 3.4 (l=0.02 is similar to quadratic model)</vt:lpstr>
      <vt:lpstr>Lasso Results, Table 3.5 (l=1 is similar to the quadratic model)</vt:lpstr>
      <vt:lpstr>Elastic Net Results: l1 = 0.02, l2=1</vt:lpstr>
      <vt:lpstr>Iowa House Price Case Study</vt:lpstr>
      <vt:lpstr>Iowa House Price Results (No regularization)</vt:lpstr>
      <vt:lpstr>Ridge Results for validation set (Figure 3.8)</vt:lpstr>
      <vt:lpstr>Lasso Results for validation set (Figure 3.9)</vt:lpstr>
      <vt:lpstr>Non-zero weights for Lasso when l=0.1 (overall quality and total living area were most important) </vt:lpstr>
      <vt:lpstr>Summary of Iowa House Price Results</vt:lpstr>
      <vt:lpstr>Logistic Regression</vt:lpstr>
      <vt:lpstr>The Sigmoid Function (Figure 3.10)</vt:lpstr>
      <vt:lpstr>Maximum Likelihood Estimation</vt:lpstr>
      <vt:lpstr>Lending Club Case Study</vt:lpstr>
      <vt:lpstr>The Data (Table 3.8)</vt:lpstr>
      <vt:lpstr>Results for Lending Club Training Set (Unscaled data)</vt:lpstr>
      <vt:lpstr>Decision Criterion</vt:lpstr>
      <vt:lpstr>Test Set Results (Tables 3.10, 3.11, and 3.12)</vt:lpstr>
      <vt:lpstr>The Confusion matrix and common ratios</vt:lpstr>
      <vt:lpstr>Test Set Ratios for different Z values (Table 3.14)</vt:lpstr>
      <vt:lpstr>As we change the Z criterion we get an ROC curve (receiver operating characteristics) curve, Figure 3.11</vt:lpstr>
      <vt:lpstr>Area Under Curve (AUC)</vt:lpstr>
      <vt:lpstr>Choosing Z</vt:lpstr>
      <vt:lpstr>A  Simple Alternative to regression : k-nearest neighbors</vt:lpstr>
    </vt:vector>
  </TitlesOfParts>
  <Company>Joseph L. Rotman School of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Supervised Learning: Linear Regression</dc:title>
  <dc:subject>Machine Learning in Business</dc:subject>
  <dc:creator>hull</dc:creator>
  <cp:keywords>Chapter 3</cp:keywords>
  <dc:description>Copyright 2019 by John C. Hull. All Rights Reserved. Published 2019</dc:description>
  <cp:lastModifiedBy>John Hull</cp:lastModifiedBy>
  <cp:revision>50</cp:revision>
  <dcterms:created xsi:type="dcterms:W3CDTF">2019-07-16T22:03:37Z</dcterms:created>
  <dcterms:modified xsi:type="dcterms:W3CDTF">2021-05-28T00:12:26Z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0x01010034DB470C54600C46B1B0C1FE5EDD1D1B</vt:lpwstr>
  </property>
</Properties>
</file>