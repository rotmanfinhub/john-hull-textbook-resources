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36"/>
  </p:notesMasterIdLst>
  <p:sldIdLst>
    <p:sldId id="256" r:id="rId3"/>
    <p:sldId id="258" r:id="rId4"/>
    <p:sldId id="259" r:id="rId5"/>
    <p:sldId id="286" r:id="rId6"/>
    <p:sldId id="315" r:id="rId7"/>
    <p:sldId id="262" r:id="rId8"/>
    <p:sldId id="263" r:id="rId9"/>
    <p:sldId id="267" r:id="rId10"/>
    <p:sldId id="285" r:id="rId11"/>
    <p:sldId id="268" r:id="rId12"/>
    <p:sldId id="269" r:id="rId13"/>
    <p:sldId id="271" r:id="rId14"/>
    <p:sldId id="272" r:id="rId15"/>
    <p:sldId id="273" r:id="rId16"/>
    <p:sldId id="274" r:id="rId17"/>
    <p:sldId id="275" r:id="rId18"/>
    <p:sldId id="276" r:id="rId19"/>
    <p:sldId id="277" r:id="rId20"/>
    <p:sldId id="278" r:id="rId21"/>
    <p:sldId id="325" r:id="rId22"/>
    <p:sldId id="270" r:id="rId23"/>
    <p:sldId id="280" r:id="rId24"/>
    <p:sldId id="284" r:id="rId25"/>
    <p:sldId id="316" r:id="rId26"/>
    <p:sldId id="317" r:id="rId27"/>
    <p:sldId id="281" r:id="rId28"/>
    <p:sldId id="318" r:id="rId29"/>
    <p:sldId id="319" r:id="rId30"/>
    <p:sldId id="320" r:id="rId31"/>
    <p:sldId id="321" r:id="rId32"/>
    <p:sldId id="322" r:id="rId33"/>
    <p:sldId id="323" r:id="rId34"/>
    <p:sldId id="32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A0527B-D5D1-4B35-BC1E-99543E46F1F8}" v="1" dt="2021-05-28T15:55:18.6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84" y="444"/>
      </p:cViewPr>
      <p:guideLst>
        <p:guide orient="horz" pos="2160"/>
        <p:guide pos="2880"/>
      </p:guideLst>
    </p:cSldViewPr>
  </p:slideViewPr>
  <p:notesTextViewPr>
    <p:cViewPr>
      <p:scale>
        <a:sx n="1" d="1"/>
        <a:sy n="1" d="1"/>
      </p:scale>
      <p:origin x="0" y="0"/>
    </p:cViewPr>
  </p:notesTextViewPr>
  <p:sorterViewPr>
    <p:cViewPr>
      <p:scale>
        <a:sx n="100" d="100"/>
        <a:sy n="100" d="100"/>
      </p:scale>
      <p:origin x="0" y="-1245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45"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ustomXml" Target="../customXml/item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0" Type="http://schemas.openxmlformats.org/officeDocument/2006/relationships/slide" Target="slides/slide18.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ll" userId="b3f65f64fa01e6a6" providerId="LiveId" clId="{0AA0527B-D5D1-4B35-BC1E-99543E46F1F8}"/>
    <pc:docChg chg="custSel modSld">
      <pc:chgData name="John Hull" userId="b3f65f64fa01e6a6" providerId="LiveId" clId="{0AA0527B-D5D1-4B35-BC1E-99543E46F1F8}" dt="2021-05-28T16:41:46.898" v="242" actId="5793"/>
      <pc:docMkLst>
        <pc:docMk/>
      </pc:docMkLst>
      <pc:sldChg chg="modSp mod">
        <pc:chgData name="John Hull" userId="b3f65f64fa01e6a6" providerId="LiveId" clId="{0AA0527B-D5D1-4B35-BC1E-99543E46F1F8}" dt="2021-05-28T16:41:46.898" v="242" actId="5793"/>
        <pc:sldMkLst>
          <pc:docMk/>
          <pc:sldMk cId="2220360091" sldId="263"/>
        </pc:sldMkLst>
        <pc:spChg chg="mod">
          <ac:chgData name="John Hull" userId="b3f65f64fa01e6a6" providerId="LiveId" clId="{0AA0527B-D5D1-4B35-BC1E-99543E46F1F8}" dt="2021-05-28T16:41:46.898" v="242" actId="5793"/>
          <ac:spMkLst>
            <pc:docMk/>
            <pc:sldMk cId="2220360091" sldId="263"/>
            <ac:spMk id="3" creationId="{00000000-0000-0000-0000-000000000000}"/>
          </ac:spMkLst>
        </pc:spChg>
      </pc:sldChg>
      <pc:sldChg chg="modSp mod">
        <pc:chgData name="John Hull" userId="b3f65f64fa01e6a6" providerId="LiveId" clId="{0AA0527B-D5D1-4B35-BC1E-99543E46F1F8}" dt="2021-05-28T15:57:40.126" v="241" actId="20577"/>
        <pc:sldMkLst>
          <pc:docMk/>
          <pc:sldMk cId="4030780246" sldId="274"/>
        </pc:sldMkLst>
        <pc:spChg chg="mod">
          <ac:chgData name="John Hull" userId="b3f65f64fa01e6a6" providerId="LiveId" clId="{0AA0527B-D5D1-4B35-BC1E-99543E46F1F8}" dt="2021-05-28T15:57:40.126" v="241" actId="20577"/>
          <ac:spMkLst>
            <pc:docMk/>
            <pc:sldMk cId="4030780246" sldId="27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9BE6C6-E13E-4AA6-B3DE-1B7348933221}" type="datetimeFigureOut">
              <a:rPr lang="en-CA" smtClean="0"/>
              <a:t>2021-05-28</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E2A24-94B3-4CFC-9703-EECBE5CCBD91}" type="slidenum">
              <a:rPr lang="en-CA" smtClean="0"/>
              <a:t>‹#›</a:t>
            </a:fld>
            <a:endParaRPr lang="en-CA"/>
          </a:p>
        </p:txBody>
      </p:sp>
    </p:spTree>
    <p:extLst>
      <p:ext uri="{BB962C8B-B14F-4D97-AF65-F5344CB8AC3E}">
        <p14:creationId xmlns:p14="http://schemas.microsoft.com/office/powerpoint/2010/main" val="26499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551E2A24-94B3-4CFC-9703-EECBE5CCBD91}" type="slidenum">
              <a:rPr lang="en-CA" smtClean="0"/>
              <a:t>23</a:t>
            </a:fld>
            <a:endParaRPr lang="en-CA"/>
          </a:p>
        </p:txBody>
      </p:sp>
    </p:spTree>
    <p:extLst>
      <p:ext uri="{BB962C8B-B14F-4D97-AF65-F5344CB8AC3E}">
        <p14:creationId xmlns:p14="http://schemas.microsoft.com/office/powerpoint/2010/main" val="2381026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ACFEC2D0-5DE1-4BBC-823E-AE1939475151}" type="datetime1">
              <a:rPr lang="en-CA" smtClean="0"/>
              <a:t>2021-05-28</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a:t>Machine Learning in Business 3rd Ed. Copyright © John C. Hull 2021</a:t>
            </a:r>
            <a:endParaRPr lang="en-CA"/>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C200E593-CABB-4BC5-A877-A7DF9FEFEE67}" type="datetime1">
              <a:rPr lang="en-CA" smtClean="0"/>
              <a:t>2021-05-28</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361F4F12-CAF0-4205-9497-9A8F065822F6}" type="datetime1">
              <a:rPr lang="en-CA" smtClean="0"/>
              <a:t>2021-05-28</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701F3576-171A-4CAE-AEC7-9313653CFAA8}" type="datetime1">
              <a:rPr lang="en-CA" smtClean="0"/>
              <a:t>2021-05-28</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340293A5-D4AA-40A0-AFD6-604087E89497}" type="datetime1">
              <a:rPr lang="en-CA" smtClean="0"/>
              <a:t>2021-05-28</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9"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CB3AA503-2308-4726-A7D3-FEFD2D7200DB}" type="datetime1">
              <a:rPr lang="en-CA" smtClean="0"/>
              <a:t>2021-05-28</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6B2EF7E3-803C-404D-AADA-9AB37D88C8AB}" type="datetime1">
              <a:rPr lang="en-CA" smtClean="0"/>
              <a:t>2021-05-28</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4"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862B5889-9F9D-4C8A-8080-F083ED439E23}" type="datetime1">
              <a:rPr lang="en-CA" smtClean="0"/>
              <a:t>2021-05-28</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703DBA70-BEF8-4865-BEAC-DB10558A890E}" type="datetime1">
              <a:rPr lang="en-CA" smtClean="0"/>
              <a:t>2021-05-28</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2420AA54-3D62-4B23-8891-D3D71A4EE0B7}" type="datetime1">
              <a:rPr lang="en-CA" smtClean="0"/>
              <a:t>2021-05-28</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2DB3F031-EA35-4546-A90B-FE8C656F9BFA}" type="datetime1">
              <a:rPr lang="en-CA" smtClean="0"/>
              <a:t>2021-05-28</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5BB264DD-4664-41CD-8B0F-6F2AC1C4BC6E}" type="datetime1">
              <a:rPr lang="en-CA" smtClean="0"/>
              <a:t>2021-05-28</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35AF3202-BA29-488E-8405-7F0AA4F819D0}" type="datetime1">
              <a:rPr lang="en-CA" smtClean="0"/>
              <a:t>2021-05-28</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8"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7E1E236F-416A-4680-B867-EC16055F99DC}" type="datetime1">
              <a:rPr lang="en-CA" smtClean="0"/>
              <a:t>2021-05-28</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979D778-5668-409F-BE61-8F31D5437AFC}"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392AAF60-6656-4E9B-8C86-31C878BC9AA7}" type="datetime1">
              <a:rPr lang="en-CA" smtClean="0"/>
              <a:t>2021-05-28</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C19A25DC-C3C6-494B-A6AC-95602585722C}" type="datetime1">
              <a:rPr lang="en-CA" smtClean="0"/>
              <a:t>2021-05-28</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4E285484-A0F7-46C2-BD2B-9E5B37C637AB}" type="datetime1">
              <a:rPr lang="en-CA" smtClean="0"/>
              <a:t>2021-05-28</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25D901A8-EA06-4B69-9570-6980FD59D6FB}" type="datetime1">
              <a:rPr lang="en-CA" smtClean="0"/>
              <a:t>2021-05-28</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77" r:id="rId1"/>
    <p:sldLayoutId id="2147483676" r:id="rId2"/>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5"/>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6"/>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Machine Learning and Business, </a:t>
            </a:r>
            <a:br>
              <a:rPr lang="en-US" dirty="0"/>
            </a:br>
            <a:r>
              <a:rPr lang="en-US" dirty="0"/>
              <a:t>3</a:t>
            </a:r>
            <a:r>
              <a:rPr lang="en-US" baseline="30000" dirty="0"/>
              <a:t>rd</a:t>
            </a:r>
            <a:r>
              <a:rPr lang="en-US" dirty="0"/>
              <a:t> Edition</a:t>
            </a:r>
            <a:endParaRPr lang="en-CA" dirty="0"/>
          </a:p>
        </p:txBody>
      </p:sp>
      <p:sp>
        <p:nvSpPr>
          <p:cNvPr id="3" name="Subtitle 2"/>
          <p:cNvSpPr>
            <a:spLocks noGrp="1"/>
          </p:cNvSpPr>
          <p:nvPr>
            <p:ph type="subTitle" idx="1"/>
          </p:nvPr>
        </p:nvSpPr>
        <p:spPr>
          <a:xfrm>
            <a:off x="1835696" y="4149080"/>
            <a:ext cx="6934200" cy="1295400"/>
          </a:xfrm>
        </p:spPr>
        <p:txBody>
          <a:bodyPr>
            <a:noAutofit/>
          </a:bodyPr>
          <a:lstStyle/>
          <a:p>
            <a:r>
              <a:rPr lang="en-US" sz="3200" dirty="0"/>
              <a:t>Chapter 8:  Reinforcement Learning </a:t>
            </a:r>
            <a:endParaRPr lang="en-CA" sz="3200"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1</a:t>
            </a:fld>
            <a:endParaRPr lang="en-CA"/>
          </a:p>
        </p:txBody>
      </p:sp>
    </p:spTree>
    <p:extLst>
      <p:ext uri="{BB962C8B-B14F-4D97-AF65-F5344CB8AC3E}">
        <p14:creationId xmlns:p14="http://schemas.microsoft.com/office/powerpoint/2010/main" val="260910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Reinforcement Learning</a:t>
            </a:r>
          </a:p>
        </p:txBody>
      </p:sp>
      <p:sp>
        <p:nvSpPr>
          <p:cNvPr id="3" name="Content Placeholder 2"/>
          <p:cNvSpPr>
            <a:spLocks noGrp="1"/>
          </p:cNvSpPr>
          <p:nvPr>
            <p:ph idx="1"/>
          </p:nvPr>
        </p:nvSpPr>
        <p:spPr/>
        <p:txBody>
          <a:bodyPr/>
          <a:lstStyle/>
          <a:p>
            <a:r>
              <a:rPr lang="en-US" dirty="0"/>
              <a:t>Reinforcement learning is concerned with finding a strategy for taking a series of decisions rather than just one</a:t>
            </a:r>
          </a:p>
          <a:p>
            <a:r>
              <a:rPr lang="en-US" dirty="0"/>
              <a:t>The environment is usually changing unpredictably</a:t>
            </a: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2</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53104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Rewards and costs</a:t>
            </a:r>
            <a:endParaRPr lang="en-CA" dirty="0"/>
          </a:p>
        </p:txBody>
      </p:sp>
      <p:sp>
        <p:nvSpPr>
          <p:cNvPr id="3" name="Content Placeholder 2"/>
          <p:cNvSpPr>
            <a:spLocks noGrp="1"/>
          </p:cNvSpPr>
          <p:nvPr>
            <p:ph idx="1"/>
          </p:nvPr>
        </p:nvSpPr>
        <p:spPr/>
        <p:txBody>
          <a:bodyPr/>
          <a:lstStyle/>
          <a:p>
            <a:r>
              <a:rPr lang="en-US" dirty="0"/>
              <a:t>There are rewards and costs and the algorithm tries to maximize expected rewards (net of costs) in its interaction with the environment </a:t>
            </a:r>
          </a:p>
          <a:p>
            <a:r>
              <a:rPr lang="en-US" dirty="0"/>
              <a:t>Exploitation vs. Exploration (Should you choose best decision based on evidence to date or try something new?)</a:t>
            </a:r>
          </a:p>
          <a:p>
            <a:r>
              <a:rPr lang="en-US" dirty="0"/>
              <a:t>Action evaluated by the sum of expected rewards (net of costs) that come after it (possibly discounted)</a:t>
            </a:r>
          </a:p>
          <a:p>
            <a:pPr marL="0" indent="0">
              <a:buNone/>
            </a:pPr>
            <a:endParaRPr lang="en-US" dirty="0"/>
          </a:p>
          <a:p>
            <a:endParaRPr lang="en-US" dirty="0"/>
          </a:p>
          <a:p>
            <a:pPr marL="0" indent="0">
              <a:buNone/>
            </a:pPr>
            <a:r>
              <a:rPr lang="en-US" dirty="0"/>
              <a:t>    </a:t>
            </a: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3</a:t>
            </a:fld>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372178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841E5-DDE8-4DC4-8F41-EE626DC85650}"/>
              </a:ext>
            </a:extLst>
          </p:cNvPr>
          <p:cNvSpPr>
            <a:spLocks noGrp="1"/>
          </p:cNvSpPr>
          <p:nvPr>
            <p:ph type="title"/>
          </p:nvPr>
        </p:nvSpPr>
        <p:spPr/>
        <p:txBody>
          <a:bodyPr/>
          <a:lstStyle/>
          <a:p>
            <a:r>
              <a:rPr lang="en-CA" dirty="0"/>
              <a:t>Well known successes</a:t>
            </a:r>
          </a:p>
        </p:txBody>
      </p:sp>
      <p:sp>
        <p:nvSpPr>
          <p:cNvPr id="3" name="Content Placeholder 2">
            <a:extLst>
              <a:ext uri="{FF2B5EF4-FFF2-40B4-BE49-F238E27FC236}">
                <a16:creationId xmlns:a16="http://schemas.microsoft.com/office/drawing/2014/main" id="{CFE4AA48-6FE4-4F65-AA9E-C4311E55CBC6}"/>
              </a:ext>
            </a:extLst>
          </p:cNvPr>
          <p:cNvSpPr>
            <a:spLocks noGrp="1"/>
          </p:cNvSpPr>
          <p:nvPr>
            <p:ph idx="1"/>
          </p:nvPr>
        </p:nvSpPr>
        <p:spPr/>
        <p:txBody>
          <a:bodyPr/>
          <a:lstStyle/>
          <a:p>
            <a:r>
              <a:rPr lang="en-CA" dirty="0"/>
              <a:t>Has been used to develop software that can beat the best human players of games such as chess and Go</a:t>
            </a:r>
          </a:p>
          <a:p>
            <a:r>
              <a:rPr lang="en-CA" dirty="0"/>
              <a:t>In early attempts to play these games, software learned from games played by the best human players (</a:t>
            </a:r>
            <a:r>
              <a:rPr lang="en-CA" dirty="0" err="1"/>
              <a:t>e.g</a:t>
            </a:r>
            <a:r>
              <a:rPr lang="en-CA" dirty="0"/>
              <a:t> Stockfish)</a:t>
            </a:r>
          </a:p>
          <a:p>
            <a:r>
              <a:rPr lang="en-CA" dirty="0" err="1"/>
              <a:t>AlphaZero</a:t>
            </a:r>
            <a:r>
              <a:rPr lang="en-CA" dirty="0"/>
              <a:t> improved on these approaches by using reinforcement learning. Algorithm is only given the rules of the game and learns by playing against itself many times</a:t>
            </a:r>
          </a:p>
        </p:txBody>
      </p:sp>
      <p:sp>
        <p:nvSpPr>
          <p:cNvPr id="4" name="Footer Placeholder 3">
            <a:extLst>
              <a:ext uri="{FF2B5EF4-FFF2-40B4-BE49-F238E27FC236}">
                <a16:creationId xmlns:a16="http://schemas.microsoft.com/office/drawing/2014/main" id="{3560A5D0-405F-449B-8DFC-D0E3E30C3C85}"/>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a:extLst>
              <a:ext uri="{FF2B5EF4-FFF2-40B4-BE49-F238E27FC236}">
                <a16:creationId xmlns:a16="http://schemas.microsoft.com/office/drawing/2014/main" id="{AC1115FC-B20E-4344-B529-38AE8E76CCA9}"/>
              </a:ext>
            </a:extLst>
          </p:cNvPr>
          <p:cNvSpPr>
            <a:spLocks noGrp="1"/>
          </p:cNvSpPr>
          <p:nvPr>
            <p:ph type="sldNum" sz="quarter" idx="12"/>
          </p:nvPr>
        </p:nvSpPr>
        <p:spPr/>
        <p:txBody>
          <a:bodyPr/>
          <a:lstStyle/>
          <a:p>
            <a:fld id="{F979D778-5668-409F-BE61-8F31D5437AFC}" type="slidenum">
              <a:rPr lang="en-CA" smtClean="0"/>
              <a:t>4</a:t>
            </a:fld>
            <a:endParaRPr lang="en-CA"/>
          </a:p>
        </p:txBody>
      </p:sp>
    </p:spTree>
    <p:extLst>
      <p:ext uri="{BB962C8B-B14F-4D97-AF65-F5344CB8AC3E}">
        <p14:creationId xmlns:p14="http://schemas.microsoft.com/office/powerpoint/2010/main" val="261119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E37A6-C45F-4843-9824-38B4392A5E49}"/>
              </a:ext>
            </a:extLst>
          </p:cNvPr>
          <p:cNvSpPr>
            <a:spLocks noGrp="1"/>
          </p:cNvSpPr>
          <p:nvPr>
            <p:ph type="title"/>
          </p:nvPr>
        </p:nvSpPr>
        <p:spPr/>
        <p:txBody>
          <a:bodyPr/>
          <a:lstStyle/>
          <a:p>
            <a:r>
              <a:rPr lang="en-CA" dirty="0"/>
              <a:t>A Simple Example: K-armed bandits</a:t>
            </a:r>
          </a:p>
        </p:txBody>
      </p:sp>
      <p:sp>
        <p:nvSpPr>
          <p:cNvPr id="3" name="Content Placeholder 2">
            <a:extLst>
              <a:ext uri="{FF2B5EF4-FFF2-40B4-BE49-F238E27FC236}">
                <a16:creationId xmlns:a16="http://schemas.microsoft.com/office/drawing/2014/main" id="{2C88D3E4-0801-4A44-90E2-FF1474B10FC6}"/>
              </a:ext>
            </a:extLst>
          </p:cNvPr>
          <p:cNvSpPr>
            <a:spLocks noGrp="1"/>
          </p:cNvSpPr>
          <p:nvPr>
            <p:ph idx="1"/>
          </p:nvPr>
        </p:nvSpPr>
        <p:spPr/>
        <p:txBody>
          <a:bodyPr/>
          <a:lstStyle/>
          <a:p>
            <a:r>
              <a:rPr lang="en-CA" dirty="0"/>
              <a:t>You are in a casino and have to choose between </a:t>
            </a:r>
            <a:r>
              <a:rPr lang="en-CA" i="1" dirty="0">
                <a:latin typeface="Cambria" panose="02040503050406030204" pitchFamily="18" charset="0"/>
                <a:ea typeface="Cambria" panose="02040503050406030204" pitchFamily="18" charset="0"/>
              </a:rPr>
              <a:t>K</a:t>
            </a:r>
            <a:r>
              <a:rPr lang="en-CA" dirty="0"/>
              <a:t> levers</a:t>
            </a:r>
          </a:p>
          <a:p>
            <a:r>
              <a:rPr lang="en-CA" dirty="0"/>
              <a:t>Lever </a:t>
            </a:r>
            <a:r>
              <a:rPr lang="en-CA" i="1" dirty="0">
                <a:latin typeface="Cambria" panose="02040503050406030204" pitchFamily="18" charset="0"/>
                <a:ea typeface="Cambria" panose="02040503050406030204" pitchFamily="18" charset="0"/>
              </a:rPr>
              <a:t>k</a:t>
            </a:r>
            <a:r>
              <a:rPr lang="en-CA" dirty="0"/>
              <a:t> provides a return from a normal distribution with mean </a:t>
            </a:r>
            <a:r>
              <a:rPr lang="en-CA" i="1" dirty="0" err="1">
                <a:latin typeface="Cambria" panose="02040503050406030204" pitchFamily="18" charset="0"/>
                <a:ea typeface="Cambria" panose="02040503050406030204" pitchFamily="18" charset="0"/>
              </a:rPr>
              <a:t>m</a:t>
            </a:r>
            <a:r>
              <a:rPr lang="en-CA" i="1" baseline="-25000" dirty="0" err="1">
                <a:latin typeface="Cambria" panose="02040503050406030204" pitchFamily="18" charset="0"/>
                <a:ea typeface="Cambria" panose="02040503050406030204" pitchFamily="18" charset="0"/>
              </a:rPr>
              <a:t>k</a:t>
            </a:r>
            <a:r>
              <a:rPr lang="en-CA" dirty="0"/>
              <a:t> (which is unknown) and standard deviation 1</a:t>
            </a:r>
          </a:p>
          <a:p>
            <a:r>
              <a:rPr lang="en-CA" dirty="0"/>
              <a:t>Objective is to maximize your return over a large number of trials</a:t>
            </a:r>
          </a:p>
        </p:txBody>
      </p:sp>
      <p:sp>
        <p:nvSpPr>
          <p:cNvPr id="4" name="Footer Placeholder 3">
            <a:extLst>
              <a:ext uri="{FF2B5EF4-FFF2-40B4-BE49-F238E27FC236}">
                <a16:creationId xmlns:a16="http://schemas.microsoft.com/office/drawing/2014/main" id="{A1EEBE89-4F8A-4981-879D-8535BEFF08C5}"/>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a:extLst>
              <a:ext uri="{FF2B5EF4-FFF2-40B4-BE49-F238E27FC236}">
                <a16:creationId xmlns:a16="http://schemas.microsoft.com/office/drawing/2014/main" id="{8E6EB29A-AFD4-46A1-9E85-8B8B50119CA3}"/>
              </a:ext>
            </a:extLst>
          </p:cNvPr>
          <p:cNvSpPr>
            <a:spLocks noGrp="1"/>
          </p:cNvSpPr>
          <p:nvPr>
            <p:ph type="sldNum" sz="quarter" idx="12"/>
          </p:nvPr>
        </p:nvSpPr>
        <p:spPr/>
        <p:txBody>
          <a:bodyPr/>
          <a:lstStyle/>
          <a:p>
            <a:fld id="{F979D778-5668-409F-BE61-8F31D5437AFC}" type="slidenum">
              <a:rPr lang="en-CA" smtClean="0"/>
              <a:t>5</a:t>
            </a:fld>
            <a:endParaRPr lang="en-CA"/>
          </a:p>
        </p:txBody>
      </p:sp>
    </p:spTree>
    <p:extLst>
      <p:ext uri="{BB962C8B-B14F-4D97-AF65-F5344CB8AC3E}">
        <p14:creationId xmlns:p14="http://schemas.microsoft.com/office/powerpoint/2010/main" val="3916626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Strategy</a:t>
            </a:r>
          </a:p>
        </p:txBody>
      </p:sp>
      <p:sp>
        <p:nvSpPr>
          <p:cNvPr id="3" name="Content Placeholder 2"/>
          <p:cNvSpPr>
            <a:spLocks noGrp="1"/>
          </p:cNvSpPr>
          <p:nvPr>
            <p:ph idx="1"/>
          </p:nvPr>
        </p:nvSpPr>
        <p:spPr/>
        <p:txBody>
          <a:bodyPr/>
          <a:lstStyle/>
          <a:p>
            <a:r>
              <a:rPr lang="en-CA" sz="1800" dirty="0"/>
              <a:t>You keep records of the average return from choosing each lever</a:t>
            </a:r>
          </a:p>
          <a:p>
            <a:r>
              <a:rPr lang="en-CA" sz="1800" dirty="0"/>
              <a:t>At each turn you have to decide between</a:t>
            </a:r>
          </a:p>
          <a:p>
            <a:pPr lvl="2"/>
            <a:r>
              <a:rPr lang="en-CA" dirty="0"/>
              <a:t>Choose the lever that has given you the best average return so far (the “greedy action”)</a:t>
            </a:r>
          </a:p>
          <a:p>
            <a:pPr lvl="2"/>
            <a:r>
              <a:rPr lang="en-CA" dirty="0"/>
              <a:t>Try out a new action</a:t>
            </a:r>
          </a:p>
          <a:p>
            <a:r>
              <a:rPr lang="en-CA" sz="1800" dirty="0"/>
              <a:t>The first choice is exploitation; the second is exploration.</a:t>
            </a:r>
          </a:p>
          <a:p>
            <a:r>
              <a:rPr lang="en-CA" sz="1800" dirty="0"/>
              <a:t>We can choose a parameter </a:t>
            </a:r>
            <a:r>
              <a:rPr lang="en-CA" sz="1800" dirty="0">
                <a:latin typeface="Symbol" panose="05050102010706020507" pitchFamily="18" charset="2"/>
              </a:rPr>
              <a:t>e</a:t>
            </a:r>
            <a:r>
              <a:rPr lang="en-CA" sz="1800" dirty="0"/>
              <a:t> equal to the probability of exploration</a:t>
            </a:r>
            <a:endParaRPr lang="en-CA" sz="1800" dirty="0">
              <a:latin typeface="Symbol" panose="05050102010706020507" pitchFamily="18" charset="2"/>
            </a:endParaRPr>
          </a:p>
          <a:p>
            <a:r>
              <a:rPr lang="en-CA" sz="1800" dirty="0"/>
              <a:t>Exploitation maximizes the immediate expected return but exploration may do better in the long run</a:t>
            </a:r>
          </a:p>
          <a:p>
            <a:pPr marL="342900" lvl="1" indent="0">
              <a:buNone/>
            </a:pPr>
            <a:endParaRPr lang="en-CA" dirty="0"/>
          </a:p>
          <a:p>
            <a:pPr marL="342900" lvl="1" indent="0">
              <a:buNone/>
            </a:pP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6</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149866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1290168"/>
            <a:ext cx="7886700" cy="994172"/>
          </a:xfrm>
        </p:spPr>
        <p:txBody>
          <a:bodyPr/>
          <a:lstStyle/>
          <a:p>
            <a:r>
              <a:rPr lang="en-CA" sz="3000" dirty="0"/>
              <a:t>The Math (page 174)</a:t>
            </a:r>
          </a:p>
        </p:txBody>
      </p:sp>
      <p:sp>
        <p:nvSpPr>
          <p:cNvPr id="3" name="Content Placeholder 2"/>
          <p:cNvSpPr>
            <a:spLocks noGrp="1"/>
          </p:cNvSpPr>
          <p:nvPr>
            <p:ph idx="1"/>
          </p:nvPr>
        </p:nvSpPr>
        <p:spPr>
          <a:xfrm>
            <a:off x="396830" y="2135953"/>
            <a:ext cx="7886700" cy="3263504"/>
          </a:xfrm>
        </p:spPr>
        <p:txBody>
          <a:bodyPr>
            <a:normAutofit/>
          </a:bodyPr>
          <a:lstStyle/>
          <a:p>
            <a:r>
              <a:rPr lang="en-CA" dirty="0"/>
              <a:t>Suppose that lever </a:t>
            </a:r>
            <a:r>
              <a:rPr lang="en-CA" i="1" dirty="0">
                <a:latin typeface="+mj-lt"/>
              </a:rPr>
              <a:t>k </a:t>
            </a:r>
            <a:r>
              <a:rPr lang="en-CA" dirty="0"/>
              <a:t>has been chosen </a:t>
            </a:r>
            <a:r>
              <a:rPr lang="en-CA" i="1" dirty="0">
                <a:latin typeface="+mj-lt"/>
              </a:rPr>
              <a:t>n</a:t>
            </a:r>
            <a:r>
              <a:rPr lang="en-CA" dirty="0">
                <a:latin typeface="+mj-lt"/>
              </a:rPr>
              <a:t>−1</a:t>
            </a:r>
            <a:r>
              <a:rPr lang="en-CA" dirty="0"/>
              <a:t> times and the total reward on the </a:t>
            </a:r>
            <a:r>
              <a:rPr lang="en-CA" i="1" dirty="0" err="1">
                <a:latin typeface="+mj-lt"/>
              </a:rPr>
              <a:t>j</a:t>
            </a:r>
            <a:r>
              <a:rPr lang="en-CA" dirty="0" err="1"/>
              <a:t>th</a:t>
            </a:r>
            <a:r>
              <a:rPr lang="en-CA" dirty="0"/>
              <a:t> time it is chosen is </a:t>
            </a:r>
            <a:r>
              <a:rPr lang="en-CA" i="1" dirty="0" err="1">
                <a:latin typeface="+mj-lt"/>
              </a:rPr>
              <a:t>R</a:t>
            </a:r>
            <a:r>
              <a:rPr lang="en-CA" i="1" baseline="-25000" dirty="0" err="1">
                <a:latin typeface="+mj-lt"/>
              </a:rPr>
              <a:t>j</a:t>
            </a:r>
            <a:r>
              <a:rPr lang="en-CA" i="1" dirty="0">
                <a:latin typeface="+mj-lt"/>
              </a:rPr>
              <a:t> </a:t>
            </a:r>
          </a:p>
          <a:p>
            <a:r>
              <a:rPr lang="en-CA" dirty="0"/>
              <a:t>Expected reward is </a:t>
            </a:r>
          </a:p>
          <a:p>
            <a:pPr marL="0" indent="0">
              <a:buNone/>
            </a:pPr>
            <a:endParaRPr lang="en-CA" dirty="0"/>
          </a:p>
          <a:p>
            <a:endParaRPr lang="en-CA" dirty="0"/>
          </a:p>
          <a:p>
            <a:endParaRPr lang="en-CA" dirty="0"/>
          </a:p>
          <a:p>
            <a:r>
              <a:rPr lang="en-CA" dirty="0"/>
              <a:t>If </a:t>
            </a:r>
            <a:r>
              <a:rPr lang="en-CA" i="1" dirty="0">
                <a:latin typeface="+mj-lt"/>
              </a:rPr>
              <a:t>k</a:t>
            </a:r>
            <a:r>
              <a:rPr lang="en-CA" dirty="0"/>
              <a:t>th lever is chosen for the </a:t>
            </a:r>
            <a:r>
              <a:rPr lang="en-CA" i="1" dirty="0">
                <a:latin typeface="+mj-lt"/>
              </a:rPr>
              <a:t>n</a:t>
            </a:r>
            <a:r>
              <a:rPr lang="en-CA" dirty="0"/>
              <a:t>th time and produces a reward </a:t>
            </a:r>
            <a:r>
              <a:rPr lang="en-CA" i="1" dirty="0">
                <a:latin typeface="+mj-lt"/>
              </a:rPr>
              <a:t>R</a:t>
            </a:r>
            <a:r>
              <a:rPr lang="en-CA" i="1" baseline="-25000" dirty="0">
                <a:latin typeface="+mj-lt"/>
              </a:rPr>
              <a:t>n</a:t>
            </a:r>
          </a:p>
          <a:p>
            <a:pPr marL="0" indent="0">
              <a:buNone/>
            </a:pPr>
            <a:endParaRPr lang="en-CA" dirty="0"/>
          </a:p>
          <a:p>
            <a:endParaRPr lang="en-CA" dirty="0"/>
          </a:p>
          <a:p>
            <a:pPr marL="0" indent="0">
              <a:buNone/>
            </a:pPr>
            <a:endParaRPr lang="en-CA" baseline="-25000" dirty="0"/>
          </a:p>
          <a:p>
            <a:pPr marL="0" indent="0">
              <a:buNone/>
            </a:pPr>
            <a:endParaRPr lang="en-CA" baseline="-25000" dirty="0"/>
          </a:p>
          <a:p>
            <a:pPr marL="0" indent="0">
              <a:buNone/>
            </a:pPr>
            <a:endParaRPr lang="en-CA" baseline="-25000" dirty="0"/>
          </a:p>
          <a:p>
            <a:pPr marL="0" indent="0">
              <a:buNone/>
            </a:pPr>
            <a:endParaRPr lang="en-CA" baseline="-25000" dirty="0"/>
          </a:p>
          <a:p>
            <a:endParaRPr lang="en-CA" baseline="-25000" dirty="0"/>
          </a:p>
          <a:p>
            <a:endParaRPr lang="en-CA" dirty="0"/>
          </a:p>
          <a:p>
            <a:pPr marL="0" indent="0">
              <a:buNone/>
            </a:pPr>
            <a:endParaRPr lang="en-CA" dirty="0"/>
          </a:p>
          <a:p>
            <a:pPr marL="0" indent="0">
              <a:buNone/>
            </a:pPr>
            <a:endParaRPr lang="en-CA" i="1" baseline="-25000" dirty="0"/>
          </a:p>
          <a:p>
            <a:endParaRPr lang="en-CA" dirty="0"/>
          </a:p>
        </p:txBody>
      </p:sp>
      <p:graphicFrame>
        <p:nvGraphicFramePr>
          <p:cNvPr id="4" name="Object 3"/>
          <p:cNvGraphicFramePr>
            <a:graphicFrameLocks noChangeAspect="1"/>
          </p:cNvGraphicFramePr>
          <p:nvPr>
            <p:extLst>
              <p:ext uri="{D42A27DB-BD31-4B8C-83A1-F6EECF244321}">
                <p14:modId xmlns:p14="http://schemas.microsoft.com/office/powerpoint/2010/main" val="1484959338"/>
              </p:ext>
            </p:extLst>
          </p:nvPr>
        </p:nvGraphicFramePr>
        <p:xfrm>
          <a:off x="3448050" y="3398838"/>
          <a:ext cx="1593850" cy="641350"/>
        </p:xfrm>
        <a:graphic>
          <a:graphicData uri="http://schemas.openxmlformats.org/presentationml/2006/ole">
            <mc:AlternateContent xmlns:mc="http://schemas.openxmlformats.org/markup-compatibility/2006">
              <mc:Choice xmlns:v="urn:schemas-microsoft-com:vml" Requires="v">
                <p:oleObj name="Equation" r:id="rId2" imgW="1104840" imgH="444240" progId="Equation.DSMT4">
                  <p:embed/>
                </p:oleObj>
              </mc:Choice>
              <mc:Fallback>
                <p:oleObj name="Equation" r:id="rId2" imgW="1104840" imgH="444240" progId="Equation.DSMT4">
                  <p:embed/>
                  <p:pic>
                    <p:nvPicPr>
                      <p:cNvPr id="4" name="Object 3"/>
                      <p:cNvPicPr/>
                      <p:nvPr/>
                    </p:nvPicPr>
                    <p:blipFill>
                      <a:blip r:embed="rId3"/>
                      <a:stretch>
                        <a:fillRect/>
                      </a:stretch>
                    </p:blipFill>
                    <p:spPr>
                      <a:xfrm>
                        <a:off x="3448050" y="3398838"/>
                        <a:ext cx="1593850" cy="6413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121848300"/>
              </p:ext>
            </p:extLst>
          </p:nvPr>
        </p:nvGraphicFramePr>
        <p:xfrm>
          <a:off x="2962274" y="4889883"/>
          <a:ext cx="3219450" cy="622697"/>
        </p:xfrm>
        <a:graphic>
          <a:graphicData uri="http://schemas.openxmlformats.org/presentationml/2006/ole">
            <mc:AlternateContent xmlns:mc="http://schemas.openxmlformats.org/markup-compatibility/2006">
              <mc:Choice xmlns:v="urn:schemas-microsoft-com:vml" Requires="v">
                <p:oleObj name="Equation" r:id="rId4" imgW="2234880" imgH="431640" progId="Equation.DSMT4">
                  <p:embed/>
                </p:oleObj>
              </mc:Choice>
              <mc:Fallback>
                <p:oleObj name="Equation" r:id="rId4" imgW="2234880" imgH="431640" progId="Equation.DSMT4">
                  <p:embed/>
                  <p:pic>
                    <p:nvPicPr>
                      <p:cNvPr id="5" name="Object 4"/>
                      <p:cNvPicPr/>
                      <p:nvPr/>
                    </p:nvPicPr>
                    <p:blipFill>
                      <a:blip r:embed="rId5"/>
                      <a:stretch>
                        <a:fillRect/>
                      </a:stretch>
                    </p:blipFill>
                    <p:spPr>
                      <a:xfrm>
                        <a:off x="2962274" y="4889883"/>
                        <a:ext cx="3219450" cy="622697"/>
                      </a:xfrm>
                      <a:prstGeom prst="rect">
                        <a:avLst/>
                      </a:prstGeom>
                    </p:spPr>
                  </p:pic>
                </p:oleObj>
              </mc:Fallback>
            </mc:AlternateContent>
          </a:graphicData>
        </a:graphic>
      </p:graphicFrame>
      <p:sp>
        <p:nvSpPr>
          <p:cNvPr id="6" name="Slide Number Placeholder 5"/>
          <p:cNvSpPr>
            <a:spLocks noGrp="1"/>
          </p:cNvSpPr>
          <p:nvPr>
            <p:ph type="sldNum" sz="quarter" idx="12"/>
          </p:nvPr>
        </p:nvSpPr>
        <p:spPr/>
        <p:txBody>
          <a:bodyPr/>
          <a:lstStyle/>
          <a:p>
            <a:fld id="{B095A5CE-67BC-412D-BFFD-14F19C21C82C}" type="slidenum">
              <a:rPr lang="en-CA" smtClean="0"/>
              <a:t>7</a:t>
            </a:fld>
            <a:endParaRPr lang="en-CA" dirty="0"/>
          </a:p>
        </p:txBody>
      </p:sp>
      <p:sp>
        <p:nvSpPr>
          <p:cNvPr id="7" name="Footer Placeholder 6"/>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220360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exploration parameter </a:t>
            </a:r>
            <a:r>
              <a:rPr lang="en-CA" dirty="0">
                <a:latin typeface="Symbol" panose="05050102010706020507" pitchFamily="18" charset="2"/>
              </a:rPr>
              <a:t>e</a:t>
            </a:r>
            <a:endParaRPr lang="en-CA" dirty="0"/>
          </a:p>
        </p:txBody>
      </p:sp>
      <p:sp>
        <p:nvSpPr>
          <p:cNvPr id="3" name="Content Placeholder 2"/>
          <p:cNvSpPr>
            <a:spLocks noGrp="1"/>
          </p:cNvSpPr>
          <p:nvPr>
            <p:ph idx="1"/>
          </p:nvPr>
        </p:nvSpPr>
        <p:spPr/>
        <p:txBody>
          <a:bodyPr/>
          <a:lstStyle/>
          <a:p>
            <a:r>
              <a:rPr lang="en-CA" dirty="0"/>
              <a:t>The exploration parameter, </a:t>
            </a:r>
            <a:r>
              <a:rPr lang="en-CA" dirty="0">
                <a:latin typeface="Symbol" panose="05050102010706020507" pitchFamily="18" charset="2"/>
              </a:rPr>
              <a:t>e,</a:t>
            </a:r>
            <a:r>
              <a:rPr lang="en-CA" dirty="0"/>
              <a:t> is usually set equal to 1 initially and reduces as learning takes place. </a:t>
            </a:r>
          </a:p>
          <a:p>
            <a:r>
              <a:rPr lang="en-CA" dirty="0"/>
              <a:t>If the decay factor is </a:t>
            </a:r>
            <a:r>
              <a:rPr lang="en-CA" dirty="0">
                <a:latin typeface="Symbol" panose="05050102010706020507" pitchFamily="18" charset="2"/>
              </a:rPr>
              <a:t>b,</a:t>
            </a:r>
            <a:r>
              <a:rPr lang="en-CA" dirty="0"/>
              <a:t> the value of epsilon on a trial is </a:t>
            </a:r>
            <a:r>
              <a:rPr lang="en-CA" dirty="0">
                <a:latin typeface="Symbol" panose="05050102010706020507" pitchFamily="18" charset="2"/>
              </a:rPr>
              <a:t>b</a:t>
            </a:r>
            <a:r>
              <a:rPr lang="en-CA" dirty="0"/>
              <a:t> times its value on the previous trial</a:t>
            </a:r>
          </a:p>
        </p:txBody>
      </p:sp>
      <p:sp>
        <p:nvSpPr>
          <p:cNvPr id="4" name="Slide Number Placeholder 3"/>
          <p:cNvSpPr>
            <a:spLocks noGrp="1"/>
          </p:cNvSpPr>
          <p:nvPr>
            <p:ph type="sldNum" sz="quarter" idx="12"/>
          </p:nvPr>
        </p:nvSpPr>
        <p:spPr/>
        <p:txBody>
          <a:bodyPr/>
          <a:lstStyle/>
          <a:p>
            <a:fld id="{B095A5CE-67BC-412D-BFFD-14F19C21C82C}" type="slidenum">
              <a:rPr lang="en-CA" smtClean="0"/>
              <a:t>8</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3315532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1124744"/>
            <a:ext cx="7772400" cy="1143000"/>
          </a:xfrm>
        </p:spPr>
        <p:txBody>
          <a:bodyPr/>
          <a:lstStyle/>
          <a:p>
            <a:r>
              <a:rPr lang="en-CA" sz="2800" dirty="0"/>
              <a:t>4 bandits (m</a:t>
            </a:r>
            <a:r>
              <a:rPr lang="en-CA" sz="2800" baseline="-25000" dirty="0"/>
              <a:t>1</a:t>
            </a:r>
            <a:r>
              <a:rPr lang="en-CA" sz="2800" dirty="0"/>
              <a:t>=1.2, m</a:t>
            </a:r>
            <a:r>
              <a:rPr lang="en-CA" sz="2800" baseline="-25000" dirty="0"/>
              <a:t>2</a:t>
            </a:r>
            <a:r>
              <a:rPr lang="en-CA" sz="2800" dirty="0"/>
              <a:t>=1, m</a:t>
            </a:r>
            <a:r>
              <a:rPr lang="en-CA" sz="2800" baseline="-25000" dirty="0"/>
              <a:t>3</a:t>
            </a:r>
            <a:r>
              <a:rPr lang="en-CA" sz="2800" dirty="0"/>
              <a:t>=0.8, m</a:t>
            </a:r>
            <a:r>
              <a:rPr lang="en-CA" sz="2800" baseline="-25000" dirty="0"/>
              <a:t>4</a:t>
            </a:r>
            <a:r>
              <a:rPr lang="en-CA" sz="2800" dirty="0"/>
              <a:t>=1.4); </a:t>
            </a:r>
            <a:r>
              <a:rPr lang="en-US" sz="2800" dirty="0">
                <a:latin typeface="Symbol" panose="05050102010706020507" pitchFamily="18" charset="2"/>
              </a:rPr>
              <a:t>e</a:t>
            </a:r>
            <a:r>
              <a:rPr lang="en-US" sz="2800" dirty="0"/>
              <a:t> starts at 1 but has a decay factor of 0.99</a:t>
            </a:r>
            <a:br>
              <a:rPr lang="en-US" sz="2800" dirty="0"/>
            </a:br>
            <a:r>
              <a:rPr lang="en-US" sz="2800" dirty="0"/>
              <a:t>Initially Q-values are set equal to zero. (Table 8.3)</a:t>
            </a:r>
            <a:endParaRPr lang="en-CA" sz="2800"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9</a:t>
            </a:fld>
            <a:endParaRPr lang="en-CA"/>
          </a:p>
        </p:txBody>
      </p:sp>
      <p:sp>
        <p:nvSpPr>
          <p:cNvPr id="3" name="Content Placeholder 2">
            <a:extLst>
              <a:ext uri="{FF2B5EF4-FFF2-40B4-BE49-F238E27FC236}">
                <a16:creationId xmlns:a16="http://schemas.microsoft.com/office/drawing/2014/main" id="{FC351D05-1526-45EC-A44C-F35411791ABD}"/>
              </a:ext>
            </a:extLst>
          </p:cNvPr>
          <p:cNvSpPr>
            <a:spLocks noGrp="1"/>
          </p:cNvSpPr>
          <p:nvPr>
            <p:ph idx="1"/>
          </p:nvPr>
        </p:nvSpPr>
        <p:spPr/>
        <p:txBody>
          <a:bodyPr/>
          <a:lstStyle/>
          <a:p>
            <a:pPr marL="0" indent="0">
              <a:buNone/>
            </a:pPr>
            <a:r>
              <a:rPr lang="en-CA" dirty="0"/>
              <a:t>   </a:t>
            </a:r>
          </a:p>
        </p:txBody>
      </p:sp>
      <p:pic>
        <p:nvPicPr>
          <p:cNvPr id="7" name="Picture 6">
            <a:extLst>
              <a:ext uri="{FF2B5EF4-FFF2-40B4-BE49-F238E27FC236}">
                <a16:creationId xmlns:a16="http://schemas.microsoft.com/office/drawing/2014/main" id="{6015B5ED-0F25-41CC-819C-BB3B3D4562B1}"/>
              </a:ext>
            </a:extLst>
          </p:cNvPr>
          <p:cNvPicPr>
            <a:picLocks noChangeAspect="1"/>
          </p:cNvPicPr>
          <p:nvPr/>
        </p:nvPicPr>
        <p:blipFill>
          <a:blip r:embed="rId2"/>
          <a:stretch>
            <a:fillRect/>
          </a:stretch>
        </p:blipFill>
        <p:spPr>
          <a:xfrm>
            <a:off x="827584" y="2607469"/>
            <a:ext cx="7239000" cy="2406650"/>
          </a:xfrm>
          <a:prstGeom prst="rect">
            <a:avLst/>
          </a:prstGeom>
        </p:spPr>
      </p:pic>
      <p:sp>
        <p:nvSpPr>
          <p:cNvPr id="8" name="TextBox 7">
            <a:extLst>
              <a:ext uri="{FF2B5EF4-FFF2-40B4-BE49-F238E27FC236}">
                <a16:creationId xmlns:a16="http://schemas.microsoft.com/office/drawing/2014/main" id="{41E1BE4D-A9B2-4605-995C-636093C32F10}"/>
              </a:ext>
            </a:extLst>
          </p:cNvPr>
          <p:cNvSpPr txBox="1"/>
          <p:nvPr/>
        </p:nvSpPr>
        <p:spPr>
          <a:xfrm>
            <a:off x="827584" y="5348288"/>
            <a:ext cx="6336704" cy="646331"/>
          </a:xfrm>
          <a:prstGeom prst="rect">
            <a:avLst/>
          </a:prstGeom>
          <a:noFill/>
        </p:spPr>
        <p:txBody>
          <a:bodyPr wrap="square" rtlCol="0">
            <a:spAutoFit/>
          </a:bodyPr>
          <a:lstStyle/>
          <a:p>
            <a:r>
              <a:rPr lang="en-US" dirty="0"/>
              <a:t>Decay factors of 0.9 and 0.999 work tend to work less well (Tables 8.2 and 8.4)</a:t>
            </a:r>
            <a:endParaRPr lang="en-CA" dirty="0"/>
          </a:p>
        </p:txBody>
      </p:sp>
    </p:spTree>
    <p:extLst>
      <p:ext uri="{BB962C8B-B14F-4D97-AF65-F5344CB8AC3E}">
        <p14:creationId xmlns:p14="http://schemas.microsoft.com/office/powerpoint/2010/main" val="2404187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303986" y="3327624"/>
            <a:ext cx="569890" cy="51193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S</a:t>
            </a:r>
            <a:r>
              <a:rPr lang="en-CA" sz="1350" baseline="-25000" dirty="0"/>
              <a:t>0</a:t>
            </a:r>
            <a:endParaRPr lang="en-CA" sz="1350" dirty="0"/>
          </a:p>
        </p:txBody>
      </p:sp>
      <p:sp>
        <p:nvSpPr>
          <p:cNvPr id="3" name="Rectangle 2"/>
          <p:cNvSpPr/>
          <p:nvPr/>
        </p:nvSpPr>
        <p:spPr>
          <a:xfrm>
            <a:off x="2685246" y="3322747"/>
            <a:ext cx="811370" cy="5385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A</a:t>
            </a:r>
            <a:r>
              <a:rPr lang="en-CA" sz="1350" baseline="-25000" dirty="0"/>
              <a:t>0</a:t>
            </a:r>
            <a:endParaRPr lang="en-CA" sz="1350" dirty="0"/>
          </a:p>
        </p:txBody>
      </p:sp>
      <p:sp>
        <p:nvSpPr>
          <p:cNvPr id="4" name="Oval 3"/>
          <p:cNvSpPr/>
          <p:nvPr/>
        </p:nvSpPr>
        <p:spPr>
          <a:xfrm>
            <a:off x="4356279" y="326237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R</a:t>
            </a:r>
            <a:r>
              <a:rPr lang="en-CA" sz="1350" baseline="-25000" dirty="0"/>
              <a:t>1</a:t>
            </a:r>
            <a:endParaRPr lang="en-CA" sz="1350" dirty="0"/>
          </a:p>
          <a:p>
            <a:pPr algn="ctr"/>
            <a:r>
              <a:rPr lang="en-CA" sz="1350" dirty="0"/>
              <a:t>S</a:t>
            </a:r>
            <a:r>
              <a:rPr lang="en-CA" sz="1350" baseline="-25000" dirty="0"/>
              <a:t>1</a:t>
            </a:r>
            <a:endParaRPr lang="en-CA" sz="1350" dirty="0"/>
          </a:p>
        </p:txBody>
      </p:sp>
      <p:sp>
        <p:nvSpPr>
          <p:cNvPr id="6" name="Rectangle 5"/>
          <p:cNvSpPr/>
          <p:nvPr/>
        </p:nvSpPr>
        <p:spPr>
          <a:xfrm>
            <a:off x="5901743" y="3428996"/>
            <a:ext cx="859664" cy="51193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A</a:t>
            </a:r>
            <a:r>
              <a:rPr lang="en-CA" sz="1350" baseline="-25000" dirty="0"/>
              <a:t>1</a:t>
            </a:r>
            <a:endParaRPr lang="en-CA" sz="1350" dirty="0"/>
          </a:p>
        </p:txBody>
      </p:sp>
      <p:sp>
        <p:nvSpPr>
          <p:cNvPr id="7" name="Oval 6"/>
          <p:cNvSpPr/>
          <p:nvPr/>
        </p:nvSpPr>
        <p:spPr>
          <a:xfrm>
            <a:off x="7524480" y="4352253"/>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R</a:t>
            </a:r>
            <a:r>
              <a:rPr lang="en-CA" sz="1350" baseline="-25000" dirty="0"/>
              <a:t>2</a:t>
            </a:r>
            <a:endParaRPr lang="en-CA" sz="1350" dirty="0"/>
          </a:p>
          <a:p>
            <a:pPr algn="ctr"/>
            <a:r>
              <a:rPr lang="en-CA" sz="1350" dirty="0"/>
              <a:t>S</a:t>
            </a:r>
            <a:r>
              <a:rPr lang="en-CA" sz="1350" baseline="-25000" dirty="0"/>
              <a:t>2</a:t>
            </a:r>
            <a:endParaRPr lang="en-CA" sz="1350" dirty="0"/>
          </a:p>
        </p:txBody>
      </p:sp>
      <p:sp>
        <p:nvSpPr>
          <p:cNvPr id="8" name="Rectangle 7"/>
          <p:cNvSpPr/>
          <p:nvPr/>
        </p:nvSpPr>
        <p:spPr>
          <a:xfrm>
            <a:off x="5805153" y="4413426"/>
            <a:ext cx="859664" cy="51193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A</a:t>
            </a:r>
            <a:r>
              <a:rPr lang="en-CA" sz="1350" baseline="-25000" dirty="0"/>
              <a:t>2</a:t>
            </a:r>
            <a:endParaRPr lang="en-CA" sz="1350" dirty="0"/>
          </a:p>
        </p:txBody>
      </p:sp>
      <p:sp>
        <p:nvSpPr>
          <p:cNvPr id="9" name="Oval 8"/>
          <p:cNvSpPr/>
          <p:nvPr/>
        </p:nvSpPr>
        <p:spPr>
          <a:xfrm>
            <a:off x="4221050" y="4361908"/>
            <a:ext cx="685800" cy="6858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R</a:t>
            </a:r>
            <a:r>
              <a:rPr lang="en-CA" sz="1350" baseline="-25000" dirty="0"/>
              <a:t>3</a:t>
            </a:r>
            <a:endParaRPr lang="en-CA" sz="1350" dirty="0"/>
          </a:p>
          <a:p>
            <a:pPr algn="ctr"/>
            <a:r>
              <a:rPr lang="en-CA" sz="1350" dirty="0"/>
              <a:t>S</a:t>
            </a:r>
            <a:r>
              <a:rPr lang="en-CA" sz="1350" baseline="-25000" dirty="0"/>
              <a:t>3</a:t>
            </a:r>
            <a:endParaRPr lang="en-CA" sz="1350" dirty="0"/>
          </a:p>
        </p:txBody>
      </p:sp>
      <p:sp>
        <p:nvSpPr>
          <p:cNvPr id="10" name="Rectangle 9"/>
          <p:cNvSpPr/>
          <p:nvPr/>
        </p:nvSpPr>
        <p:spPr>
          <a:xfrm>
            <a:off x="2492062" y="4439185"/>
            <a:ext cx="859664" cy="51193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A</a:t>
            </a:r>
            <a:r>
              <a:rPr lang="en-CA" sz="1350" baseline="-25000" dirty="0"/>
              <a:t>3</a:t>
            </a:r>
            <a:endParaRPr lang="en-CA" sz="1350" dirty="0"/>
          </a:p>
        </p:txBody>
      </p:sp>
      <p:sp>
        <p:nvSpPr>
          <p:cNvPr id="5" name="Right Arrow 4"/>
          <p:cNvSpPr/>
          <p:nvPr/>
        </p:nvSpPr>
        <p:spPr>
          <a:xfrm>
            <a:off x="1898023" y="3512310"/>
            <a:ext cx="811370" cy="14256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sz="1350"/>
          </a:p>
        </p:txBody>
      </p:sp>
      <p:sp>
        <p:nvSpPr>
          <p:cNvPr id="12" name="Right Arrow 11"/>
          <p:cNvSpPr/>
          <p:nvPr/>
        </p:nvSpPr>
        <p:spPr>
          <a:xfrm>
            <a:off x="3496615" y="3535250"/>
            <a:ext cx="859664" cy="14971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sz="1350"/>
          </a:p>
        </p:txBody>
      </p:sp>
      <p:sp>
        <p:nvSpPr>
          <p:cNvPr id="13" name="Right Arrow 12"/>
          <p:cNvSpPr/>
          <p:nvPr/>
        </p:nvSpPr>
        <p:spPr>
          <a:xfrm>
            <a:off x="5042079" y="3570260"/>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4" name="Right Arrow 13"/>
          <p:cNvSpPr/>
          <p:nvPr/>
        </p:nvSpPr>
        <p:spPr>
          <a:xfrm rot="10800000">
            <a:off x="4926169" y="4620296"/>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5" name="Right Arrow 14"/>
          <p:cNvSpPr/>
          <p:nvPr/>
        </p:nvSpPr>
        <p:spPr>
          <a:xfrm rot="10800000">
            <a:off x="6664816" y="4642435"/>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6" name="Right Arrow 15"/>
          <p:cNvSpPr/>
          <p:nvPr/>
        </p:nvSpPr>
        <p:spPr>
          <a:xfrm rot="10800000">
            <a:off x="3361386" y="4669393"/>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1" name="Bent Arrow 10"/>
          <p:cNvSpPr/>
          <p:nvPr/>
        </p:nvSpPr>
        <p:spPr>
          <a:xfrm rot="5400000">
            <a:off x="7018806" y="3385600"/>
            <a:ext cx="709255" cy="1224053"/>
          </a:xfrm>
          <a:prstGeom prst="bentArrow">
            <a:avLst>
              <a:gd name="adj1" fmla="val 11867"/>
              <a:gd name="adj2" fmla="val 25000"/>
              <a:gd name="adj3" fmla="val 25000"/>
              <a:gd name="adj4" fmla="val 43750"/>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solidFill>
                <a:schemeClr val="tx1"/>
              </a:solidFill>
            </a:endParaRPr>
          </a:p>
        </p:txBody>
      </p:sp>
      <p:sp>
        <p:nvSpPr>
          <p:cNvPr id="18" name="Right Arrow 17"/>
          <p:cNvSpPr/>
          <p:nvPr/>
        </p:nvSpPr>
        <p:spPr>
          <a:xfrm rot="10800000">
            <a:off x="1603419" y="4629950"/>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7" name="TextBox 16"/>
          <p:cNvSpPr txBox="1"/>
          <p:nvPr/>
        </p:nvSpPr>
        <p:spPr>
          <a:xfrm>
            <a:off x="1303986" y="2592188"/>
            <a:ext cx="782391" cy="507831"/>
          </a:xfrm>
          <a:prstGeom prst="rect">
            <a:avLst/>
          </a:prstGeom>
          <a:noFill/>
        </p:spPr>
        <p:txBody>
          <a:bodyPr wrap="square" rtlCol="0">
            <a:spAutoFit/>
          </a:bodyPr>
          <a:lstStyle/>
          <a:p>
            <a:r>
              <a:rPr lang="en-CA" sz="1350" dirty="0"/>
              <a:t>Initial State</a:t>
            </a:r>
          </a:p>
        </p:txBody>
      </p:sp>
      <p:sp>
        <p:nvSpPr>
          <p:cNvPr id="19" name="TextBox 18"/>
          <p:cNvSpPr txBox="1"/>
          <p:nvPr/>
        </p:nvSpPr>
        <p:spPr>
          <a:xfrm>
            <a:off x="2504115" y="2613854"/>
            <a:ext cx="1173631" cy="507831"/>
          </a:xfrm>
          <a:prstGeom prst="rect">
            <a:avLst/>
          </a:prstGeom>
          <a:noFill/>
        </p:spPr>
        <p:txBody>
          <a:bodyPr wrap="square" rtlCol="0">
            <a:spAutoFit/>
          </a:bodyPr>
          <a:lstStyle/>
          <a:p>
            <a:pPr algn="ctr"/>
            <a:r>
              <a:rPr lang="en-CA" sz="1350" dirty="0"/>
              <a:t>Action Taken time 0</a:t>
            </a:r>
          </a:p>
        </p:txBody>
      </p:sp>
      <p:sp>
        <p:nvSpPr>
          <p:cNvPr id="20" name="TextBox 19"/>
          <p:cNvSpPr txBox="1"/>
          <p:nvPr/>
        </p:nvSpPr>
        <p:spPr>
          <a:xfrm>
            <a:off x="3926447" y="2606480"/>
            <a:ext cx="1293812" cy="507831"/>
          </a:xfrm>
          <a:prstGeom prst="rect">
            <a:avLst/>
          </a:prstGeom>
          <a:noFill/>
        </p:spPr>
        <p:txBody>
          <a:bodyPr wrap="square" rtlCol="0">
            <a:spAutoFit/>
          </a:bodyPr>
          <a:lstStyle/>
          <a:p>
            <a:pPr algn="ctr"/>
            <a:r>
              <a:rPr lang="en-CA" sz="1350" dirty="0"/>
              <a:t>Reward time 1 State time 1</a:t>
            </a:r>
          </a:p>
        </p:txBody>
      </p:sp>
      <p:sp>
        <p:nvSpPr>
          <p:cNvPr id="22" name="TextBox 21"/>
          <p:cNvSpPr txBox="1"/>
          <p:nvPr/>
        </p:nvSpPr>
        <p:spPr>
          <a:xfrm>
            <a:off x="5677757" y="2678227"/>
            <a:ext cx="1114454" cy="715581"/>
          </a:xfrm>
          <a:prstGeom prst="rect">
            <a:avLst/>
          </a:prstGeom>
          <a:noFill/>
        </p:spPr>
        <p:txBody>
          <a:bodyPr wrap="square" rtlCol="0">
            <a:spAutoFit/>
          </a:bodyPr>
          <a:lstStyle/>
          <a:p>
            <a:pPr algn="ctr"/>
            <a:r>
              <a:rPr lang="en-CA" sz="1350" dirty="0"/>
              <a:t>Action Taken time 1</a:t>
            </a:r>
          </a:p>
        </p:txBody>
      </p:sp>
      <p:sp>
        <p:nvSpPr>
          <p:cNvPr id="21" name="Title 20"/>
          <p:cNvSpPr>
            <a:spLocks noGrp="1"/>
          </p:cNvSpPr>
          <p:nvPr>
            <p:ph type="title"/>
          </p:nvPr>
        </p:nvSpPr>
        <p:spPr/>
        <p:txBody>
          <a:bodyPr/>
          <a:lstStyle/>
          <a:p>
            <a:r>
              <a:rPr lang="en-CA" dirty="0"/>
              <a:t>The More General Model: Actions and States (Figure 8.1)</a:t>
            </a:r>
          </a:p>
        </p:txBody>
      </p:sp>
      <p:sp>
        <p:nvSpPr>
          <p:cNvPr id="23" name="TextBox 22"/>
          <p:cNvSpPr txBox="1"/>
          <p:nvPr/>
        </p:nvSpPr>
        <p:spPr>
          <a:xfrm>
            <a:off x="7411987" y="5145455"/>
            <a:ext cx="1297067" cy="507831"/>
          </a:xfrm>
          <a:prstGeom prst="rect">
            <a:avLst/>
          </a:prstGeom>
          <a:noFill/>
        </p:spPr>
        <p:txBody>
          <a:bodyPr wrap="square" rtlCol="0">
            <a:spAutoFit/>
          </a:bodyPr>
          <a:lstStyle/>
          <a:p>
            <a:pPr algn="ctr"/>
            <a:r>
              <a:rPr lang="en-CA" sz="1350" dirty="0"/>
              <a:t>Reward time 2</a:t>
            </a:r>
          </a:p>
          <a:p>
            <a:pPr algn="ctr"/>
            <a:r>
              <a:rPr lang="en-CA" sz="1350" dirty="0"/>
              <a:t>State time 2</a:t>
            </a:r>
          </a:p>
        </p:txBody>
      </p:sp>
      <p:sp>
        <p:nvSpPr>
          <p:cNvPr id="24" name="TextBox 23"/>
          <p:cNvSpPr txBox="1"/>
          <p:nvPr/>
        </p:nvSpPr>
        <p:spPr>
          <a:xfrm>
            <a:off x="4132263" y="5126594"/>
            <a:ext cx="1297067" cy="507831"/>
          </a:xfrm>
          <a:prstGeom prst="rect">
            <a:avLst/>
          </a:prstGeom>
          <a:noFill/>
        </p:spPr>
        <p:txBody>
          <a:bodyPr wrap="square" rtlCol="0">
            <a:spAutoFit/>
          </a:bodyPr>
          <a:lstStyle/>
          <a:p>
            <a:pPr algn="ctr"/>
            <a:r>
              <a:rPr lang="en-CA" sz="1350" dirty="0"/>
              <a:t>Reward time 3</a:t>
            </a:r>
          </a:p>
          <a:p>
            <a:pPr algn="ctr"/>
            <a:r>
              <a:rPr lang="en-CA" sz="1350" dirty="0"/>
              <a:t>State time 3</a:t>
            </a:r>
          </a:p>
        </p:txBody>
      </p:sp>
      <p:sp>
        <p:nvSpPr>
          <p:cNvPr id="25" name="TextBox 24"/>
          <p:cNvSpPr txBox="1"/>
          <p:nvPr/>
        </p:nvSpPr>
        <p:spPr>
          <a:xfrm>
            <a:off x="5805153" y="5146213"/>
            <a:ext cx="1114454" cy="715581"/>
          </a:xfrm>
          <a:prstGeom prst="rect">
            <a:avLst/>
          </a:prstGeom>
          <a:noFill/>
        </p:spPr>
        <p:txBody>
          <a:bodyPr wrap="square" rtlCol="0">
            <a:spAutoFit/>
          </a:bodyPr>
          <a:lstStyle/>
          <a:p>
            <a:pPr algn="ctr"/>
            <a:r>
              <a:rPr lang="en-CA" sz="1350" dirty="0"/>
              <a:t>Action Taken time 2</a:t>
            </a:r>
          </a:p>
        </p:txBody>
      </p:sp>
      <p:sp>
        <p:nvSpPr>
          <p:cNvPr id="27" name="TextBox 26"/>
          <p:cNvSpPr txBox="1"/>
          <p:nvPr/>
        </p:nvSpPr>
        <p:spPr>
          <a:xfrm>
            <a:off x="2504116" y="5161515"/>
            <a:ext cx="1114454" cy="715581"/>
          </a:xfrm>
          <a:prstGeom prst="rect">
            <a:avLst/>
          </a:prstGeom>
          <a:noFill/>
        </p:spPr>
        <p:txBody>
          <a:bodyPr wrap="square" rtlCol="0">
            <a:spAutoFit/>
          </a:bodyPr>
          <a:lstStyle/>
          <a:p>
            <a:pPr algn="ctr"/>
            <a:r>
              <a:rPr lang="en-CA" sz="1350" dirty="0"/>
              <a:t>Action Taken time 3</a:t>
            </a:r>
          </a:p>
        </p:txBody>
      </p:sp>
      <p:sp>
        <p:nvSpPr>
          <p:cNvPr id="28" name="Slide Number Placeholder 27"/>
          <p:cNvSpPr>
            <a:spLocks noGrp="1"/>
          </p:cNvSpPr>
          <p:nvPr>
            <p:ph type="sldNum" sz="quarter" idx="12"/>
          </p:nvPr>
        </p:nvSpPr>
        <p:spPr/>
        <p:txBody>
          <a:bodyPr/>
          <a:lstStyle/>
          <a:p>
            <a:fld id="{B095A5CE-67BC-412D-BFFD-14F19C21C82C}" type="slidenum">
              <a:rPr lang="en-CA" smtClean="0"/>
              <a:t>10</a:t>
            </a:fld>
            <a:endParaRPr lang="en-CA"/>
          </a:p>
        </p:txBody>
      </p:sp>
      <p:sp>
        <p:nvSpPr>
          <p:cNvPr id="26" name="Footer Placeholder 25"/>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606833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Objective</a:t>
            </a:r>
          </a:p>
        </p:txBody>
      </p:sp>
      <p:sp>
        <p:nvSpPr>
          <p:cNvPr id="3" name="Content Placeholder 2"/>
          <p:cNvSpPr>
            <a:spLocks noGrp="1"/>
          </p:cNvSpPr>
          <p:nvPr>
            <p:ph idx="1"/>
          </p:nvPr>
        </p:nvSpPr>
        <p:spPr/>
        <p:txBody>
          <a:bodyPr/>
          <a:lstStyle/>
          <a:p>
            <a:r>
              <a:rPr lang="en-CA" dirty="0"/>
              <a:t>Objective could be to maximize the expected value of rewards</a:t>
            </a:r>
          </a:p>
          <a:p>
            <a:pPr marL="0" indent="0" algn="ctr">
              <a:buNone/>
            </a:pPr>
            <a:r>
              <a:rPr lang="en-CA" i="1" dirty="0">
                <a:latin typeface="+mj-lt"/>
              </a:rPr>
              <a:t>G</a:t>
            </a:r>
            <a:r>
              <a:rPr lang="en-CA" dirty="0"/>
              <a:t>=</a:t>
            </a:r>
            <a:r>
              <a:rPr lang="en-CA" i="1" dirty="0">
                <a:latin typeface="+mj-lt"/>
              </a:rPr>
              <a:t>R</a:t>
            </a:r>
            <a:r>
              <a:rPr lang="en-CA" baseline="-25000" dirty="0"/>
              <a:t>1</a:t>
            </a:r>
            <a:r>
              <a:rPr lang="en-CA" dirty="0"/>
              <a:t>+</a:t>
            </a:r>
            <a:r>
              <a:rPr lang="en-CA" i="1" dirty="0">
                <a:latin typeface="+mj-lt"/>
              </a:rPr>
              <a:t>R</a:t>
            </a:r>
            <a:r>
              <a:rPr lang="en-CA" baseline="-25000" dirty="0"/>
              <a:t>2</a:t>
            </a:r>
            <a:r>
              <a:rPr lang="en-CA" dirty="0"/>
              <a:t>+</a:t>
            </a:r>
            <a:r>
              <a:rPr lang="en-CA" i="1" dirty="0">
                <a:latin typeface="+mj-lt"/>
              </a:rPr>
              <a:t>R</a:t>
            </a:r>
            <a:r>
              <a:rPr lang="en-CA" baseline="-25000" dirty="0"/>
              <a:t>3</a:t>
            </a:r>
            <a:r>
              <a:rPr lang="en-CA" dirty="0"/>
              <a:t>+……+</a:t>
            </a:r>
            <a:r>
              <a:rPr lang="en-CA" i="1" dirty="0">
                <a:latin typeface="+mj-lt"/>
              </a:rPr>
              <a:t>R</a:t>
            </a:r>
            <a:r>
              <a:rPr lang="en-CA" i="1" baseline="-25000" dirty="0">
                <a:latin typeface="+mj-lt"/>
              </a:rPr>
              <a:t>T</a:t>
            </a:r>
            <a:endParaRPr lang="en-CA" dirty="0"/>
          </a:p>
          <a:p>
            <a:r>
              <a:rPr lang="en-CA" dirty="0"/>
              <a:t>In some cases, particularly when there is a long or infinite horizon, the objective is to maximize the expected value of discounted rewards:</a:t>
            </a:r>
          </a:p>
          <a:p>
            <a:pPr marL="0" indent="0">
              <a:buNone/>
            </a:pPr>
            <a:r>
              <a:rPr lang="en-US" dirty="0"/>
              <a:t>		</a:t>
            </a:r>
            <a:r>
              <a:rPr lang="en-CA" i="1" dirty="0">
                <a:latin typeface="+mj-lt"/>
              </a:rPr>
              <a:t>G</a:t>
            </a:r>
            <a:r>
              <a:rPr lang="en-CA" dirty="0">
                <a:latin typeface="+mj-lt"/>
              </a:rPr>
              <a:t>=</a:t>
            </a:r>
            <a:r>
              <a:rPr lang="en-CA" i="1" dirty="0">
                <a:latin typeface="+mj-lt"/>
              </a:rPr>
              <a:t>R</a:t>
            </a:r>
            <a:r>
              <a:rPr lang="en-CA" baseline="-25000" dirty="0">
                <a:latin typeface="+mj-lt"/>
              </a:rPr>
              <a:t>1</a:t>
            </a:r>
            <a:r>
              <a:rPr lang="en-CA" dirty="0">
                <a:latin typeface="+mj-lt"/>
              </a:rPr>
              <a:t>+</a:t>
            </a:r>
            <a:r>
              <a:rPr lang="en-CA" dirty="0">
                <a:latin typeface="Symbol" panose="05050102010706020507" pitchFamily="18" charset="2"/>
              </a:rPr>
              <a:t> g </a:t>
            </a:r>
            <a:r>
              <a:rPr lang="en-CA" i="1" dirty="0">
                <a:latin typeface="+mj-lt"/>
              </a:rPr>
              <a:t>R</a:t>
            </a:r>
            <a:r>
              <a:rPr lang="en-CA" baseline="-25000" dirty="0">
                <a:latin typeface="+mj-lt"/>
              </a:rPr>
              <a:t>2</a:t>
            </a:r>
            <a:r>
              <a:rPr lang="en-CA" dirty="0">
                <a:latin typeface="+mj-lt"/>
              </a:rPr>
              <a:t>+</a:t>
            </a:r>
            <a:r>
              <a:rPr lang="en-CA" dirty="0">
                <a:latin typeface="Symbol" panose="05050102010706020507" pitchFamily="18" charset="2"/>
              </a:rPr>
              <a:t> g</a:t>
            </a:r>
            <a:r>
              <a:rPr lang="en-CA" baseline="30000" dirty="0">
                <a:latin typeface="Symbol" panose="05050102010706020507" pitchFamily="18" charset="2"/>
              </a:rPr>
              <a:t>2</a:t>
            </a:r>
            <a:r>
              <a:rPr lang="en-CA" i="1" dirty="0">
                <a:latin typeface="+mj-lt"/>
              </a:rPr>
              <a:t>R</a:t>
            </a:r>
            <a:r>
              <a:rPr lang="en-CA" baseline="-25000" dirty="0">
                <a:latin typeface="+mj-lt"/>
              </a:rPr>
              <a:t>3</a:t>
            </a:r>
            <a:r>
              <a:rPr lang="en-CA" dirty="0">
                <a:latin typeface="+mj-lt"/>
              </a:rPr>
              <a:t>+……..</a:t>
            </a:r>
            <a:endParaRPr lang="en-CA" dirty="0"/>
          </a:p>
          <a:p>
            <a:pPr marL="0" indent="0">
              <a:buNone/>
            </a:pPr>
            <a:r>
              <a:rPr lang="en-CA" dirty="0"/>
              <a:t>   where </a:t>
            </a:r>
            <a:r>
              <a:rPr lang="en-CA" dirty="0">
                <a:latin typeface="Symbol" panose="05050102010706020507" pitchFamily="18" charset="2"/>
              </a:rPr>
              <a:t>g</a:t>
            </a:r>
            <a:r>
              <a:rPr lang="en-CA" dirty="0"/>
              <a:t> is a discount factor</a:t>
            </a:r>
          </a:p>
          <a:p>
            <a:pPr marL="0" indent="0">
              <a:buNone/>
            </a:pP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11</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1864731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1039636"/>
            <a:ext cx="7886700" cy="994172"/>
          </a:xfrm>
        </p:spPr>
        <p:txBody>
          <a:bodyPr/>
          <a:lstStyle/>
          <a:p>
            <a:r>
              <a:rPr lang="en-US" dirty="0"/>
              <a:t>Updating</a:t>
            </a:r>
            <a:endParaRPr lang="en-CA" dirty="0"/>
          </a:p>
        </p:txBody>
      </p:sp>
      <p:sp>
        <p:nvSpPr>
          <p:cNvPr id="3" name="Content Placeholder 2"/>
          <p:cNvSpPr>
            <a:spLocks noGrp="1"/>
          </p:cNvSpPr>
          <p:nvPr>
            <p:ph idx="1"/>
          </p:nvPr>
        </p:nvSpPr>
        <p:spPr>
          <a:xfrm>
            <a:off x="571500" y="2451540"/>
            <a:ext cx="7886700" cy="3263504"/>
          </a:xfrm>
        </p:spPr>
        <p:txBody>
          <a:bodyPr>
            <a:normAutofit/>
          </a:bodyPr>
          <a:lstStyle/>
          <a:p>
            <a:r>
              <a:rPr lang="en-CA" dirty="0"/>
              <a:t>Define </a:t>
            </a:r>
            <a:r>
              <a:rPr lang="en-CA" i="1" dirty="0">
                <a:latin typeface="+mj-lt"/>
              </a:rPr>
              <a:t>Q</a:t>
            </a:r>
            <a:r>
              <a:rPr lang="en-CA" dirty="0">
                <a:latin typeface="+mj-lt"/>
              </a:rPr>
              <a:t>(</a:t>
            </a:r>
            <a:r>
              <a:rPr lang="en-CA" i="1" dirty="0">
                <a:latin typeface="+mj-lt"/>
              </a:rPr>
              <a:t>S</a:t>
            </a:r>
            <a:r>
              <a:rPr lang="en-CA" dirty="0">
                <a:latin typeface="+mj-lt"/>
              </a:rPr>
              <a:t>,</a:t>
            </a:r>
            <a:r>
              <a:rPr lang="en-CA" i="1" dirty="0">
                <a:latin typeface="+mj-lt"/>
              </a:rPr>
              <a:t>A</a:t>
            </a:r>
            <a:r>
              <a:rPr lang="en-CA" dirty="0">
                <a:latin typeface="+mj-lt"/>
              </a:rPr>
              <a:t>) </a:t>
            </a:r>
            <a:r>
              <a:rPr lang="en-CA" dirty="0"/>
              <a:t>as the value of being in state </a:t>
            </a:r>
            <a:r>
              <a:rPr lang="en-CA" i="1" dirty="0">
                <a:latin typeface="+mj-lt"/>
              </a:rPr>
              <a:t>S</a:t>
            </a:r>
            <a:r>
              <a:rPr lang="en-CA" dirty="0"/>
              <a:t> and taking action </a:t>
            </a:r>
            <a:r>
              <a:rPr lang="en-CA" i="1" dirty="0">
                <a:latin typeface="+mj-lt"/>
              </a:rPr>
              <a:t>A</a:t>
            </a:r>
          </a:p>
          <a:p>
            <a:r>
              <a:rPr lang="en-CA" dirty="0"/>
              <a:t>Suppose we have just completed the </a:t>
            </a:r>
            <a:r>
              <a:rPr lang="en-CA" i="1" dirty="0">
                <a:latin typeface="+mj-lt"/>
              </a:rPr>
              <a:t>n</a:t>
            </a:r>
            <a:r>
              <a:rPr lang="en-CA" dirty="0"/>
              <a:t>th trial for state</a:t>
            </a:r>
            <a:r>
              <a:rPr lang="en-CA" dirty="0">
                <a:latin typeface="+mj-lt"/>
              </a:rPr>
              <a:t> S </a:t>
            </a:r>
            <a:r>
              <a:rPr lang="en-CA" dirty="0"/>
              <a:t>and action </a:t>
            </a:r>
            <a:r>
              <a:rPr lang="en-CA" i="1" dirty="0">
                <a:latin typeface="+mj-lt"/>
              </a:rPr>
              <a:t>A</a:t>
            </a:r>
            <a:r>
              <a:rPr lang="en-CA" dirty="0"/>
              <a:t>. Instead of </a:t>
            </a:r>
          </a:p>
          <a:p>
            <a:endParaRPr lang="en-CA" dirty="0"/>
          </a:p>
          <a:p>
            <a:pPr marL="0" indent="0">
              <a:buNone/>
            </a:pPr>
            <a:r>
              <a:rPr lang="en-CA" dirty="0"/>
              <a:t>     we usually set</a:t>
            </a:r>
          </a:p>
          <a:p>
            <a:endParaRPr lang="en-CA" dirty="0"/>
          </a:p>
          <a:p>
            <a:pPr marL="0" indent="0">
              <a:buNone/>
            </a:pPr>
            <a:endParaRPr lang="en-CA" dirty="0"/>
          </a:p>
        </p:txBody>
      </p:sp>
      <p:sp>
        <p:nvSpPr>
          <p:cNvPr id="6" name="Slide Number Placeholder 5"/>
          <p:cNvSpPr>
            <a:spLocks noGrp="1"/>
          </p:cNvSpPr>
          <p:nvPr>
            <p:ph type="sldNum" sz="quarter" idx="12"/>
          </p:nvPr>
        </p:nvSpPr>
        <p:spPr/>
        <p:txBody>
          <a:bodyPr/>
          <a:lstStyle/>
          <a:p>
            <a:fld id="{B095A5CE-67BC-412D-BFFD-14F19C21C82C}" type="slidenum">
              <a:rPr lang="en-CA" smtClean="0"/>
              <a:t>12</a:t>
            </a:fld>
            <a:endParaRPr lang="en-CA"/>
          </a:p>
        </p:txBody>
      </p:sp>
      <p:sp>
        <p:nvSpPr>
          <p:cNvPr id="7" name="Footer Placeholder 6"/>
          <p:cNvSpPr>
            <a:spLocks noGrp="1"/>
          </p:cNvSpPr>
          <p:nvPr>
            <p:ph type="ftr" sz="quarter" idx="11"/>
          </p:nvPr>
        </p:nvSpPr>
        <p:spPr/>
        <p:txBody>
          <a:bodyPr/>
          <a:lstStyle/>
          <a:p>
            <a:r>
              <a:rPr lang="en-US"/>
              <a:t>Machine Learning in Business 3rd Ed. Copyright © John C. Hull 2021</a:t>
            </a:r>
            <a:endParaRPr lang="en-CA"/>
          </a:p>
        </p:txBody>
      </p:sp>
      <p:graphicFrame>
        <p:nvGraphicFramePr>
          <p:cNvPr id="8" name="Object 7"/>
          <p:cNvGraphicFramePr>
            <a:graphicFrameLocks noChangeAspect="1"/>
          </p:cNvGraphicFramePr>
          <p:nvPr>
            <p:extLst>
              <p:ext uri="{D42A27DB-BD31-4B8C-83A1-F6EECF244321}">
                <p14:modId xmlns:p14="http://schemas.microsoft.com/office/powerpoint/2010/main" val="2759701223"/>
              </p:ext>
            </p:extLst>
          </p:nvPr>
        </p:nvGraphicFramePr>
        <p:xfrm>
          <a:off x="2212565" y="4791856"/>
          <a:ext cx="3943350" cy="411162"/>
        </p:xfrm>
        <a:graphic>
          <a:graphicData uri="http://schemas.openxmlformats.org/presentationml/2006/ole">
            <mc:AlternateContent xmlns:mc="http://schemas.openxmlformats.org/markup-compatibility/2006">
              <mc:Choice xmlns:v="urn:schemas-microsoft-com:vml" Requires="v">
                <p:oleObj name="Equation" r:id="rId2" imgW="2679480" imgH="279360" progId="Equation.DSMT4">
                  <p:embed/>
                </p:oleObj>
              </mc:Choice>
              <mc:Fallback>
                <p:oleObj name="Equation" r:id="rId2" imgW="2679480" imgH="279360" progId="Equation.DSMT4">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565" y="4791856"/>
                        <a:ext cx="394335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p:nvPr/>
        </p:nvSpPr>
        <p:spPr>
          <a:xfrm>
            <a:off x="755576" y="5371420"/>
            <a:ext cx="5400339" cy="415498"/>
          </a:xfrm>
          <a:prstGeom prst="rect">
            <a:avLst/>
          </a:prstGeom>
          <a:noFill/>
        </p:spPr>
        <p:txBody>
          <a:bodyPr wrap="square" rtlCol="0">
            <a:spAutoFit/>
          </a:bodyPr>
          <a:lstStyle/>
          <a:p>
            <a:r>
              <a:rPr lang="en-US" sz="2100" dirty="0">
                <a:latin typeface="Arial" panose="020B0604020202020204" pitchFamily="34" charset="0"/>
                <a:cs typeface="Arial" panose="020B0604020202020204" pitchFamily="34" charset="0"/>
              </a:rPr>
              <a:t>for some paramete</a:t>
            </a:r>
            <a:r>
              <a:rPr lang="en-US" sz="2100" dirty="0"/>
              <a:t>r </a:t>
            </a:r>
            <a:r>
              <a:rPr lang="en-US" sz="2100" dirty="0">
                <a:latin typeface="Symbol" panose="05050102010706020507" pitchFamily="18" charset="2"/>
              </a:rPr>
              <a:t>a</a:t>
            </a:r>
            <a:r>
              <a:rPr lang="en-US" sz="2100" dirty="0"/>
              <a:t> </a:t>
            </a:r>
            <a:r>
              <a:rPr lang="en-US" sz="2100" dirty="0">
                <a:latin typeface="Arial" panose="020B0604020202020204" pitchFamily="34" charset="0"/>
                <a:cs typeface="Arial" panose="020B0604020202020204" pitchFamily="34" charset="0"/>
              </a:rPr>
              <a:t>(e.g. 0.05)</a:t>
            </a:r>
            <a:endParaRPr lang="en-CA" sz="2100" dirty="0">
              <a:latin typeface="Arial" panose="020B0604020202020204" pitchFamily="34" charset="0"/>
              <a:cs typeface="Arial" panose="020B0604020202020204" pitchFamily="34"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494537776"/>
              </p:ext>
            </p:extLst>
          </p:nvPr>
        </p:nvGraphicFramePr>
        <p:xfrm>
          <a:off x="1835696" y="3756548"/>
          <a:ext cx="3960813" cy="579438"/>
        </p:xfrm>
        <a:graphic>
          <a:graphicData uri="http://schemas.openxmlformats.org/presentationml/2006/ole">
            <mc:AlternateContent xmlns:mc="http://schemas.openxmlformats.org/markup-compatibility/2006">
              <mc:Choice xmlns:v="urn:schemas-microsoft-com:vml" Requires="v">
                <p:oleObj name="Equation" r:id="rId4" imgW="2692080" imgH="393480" progId="Equation.DSMT4">
                  <p:embed/>
                </p:oleObj>
              </mc:Choice>
              <mc:Fallback>
                <p:oleObj name="Equation" r:id="rId4" imgW="2692080" imgH="393480" progId="Equation.DSMT4">
                  <p:embed/>
                  <p:pic>
                    <p:nvPicPr>
                      <p:cNvPr id="5" name="Object 4"/>
                      <p:cNvPicPr>
                        <a:picLocks noChangeAspect="1" noChangeArrowheads="1"/>
                      </p:cNvPicPr>
                      <p:nvPr/>
                    </p:nvPicPr>
                    <p:blipFill>
                      <a:blip r:embed="rId5"/>
                      <a:srcRect/>
                      <a:stretch>
                        <a:fillRect/>
                      </a:stretch>
                    </p:blipFill>
                    <p:spPr bwMode="auto">
                      <a:xfrm>
                        <a:off x="1835696" y="3756548"/>
                        <a:ext cx="3960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13055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CA" dirty="0"/>
              <a:t>A Simple Example: the game of </a:t>
            </a:r>
            <a:r>
              <a:rPr lang="en-CA" dirty="0" err="1"/>
              <a:t>Nim</a:t>
            </a:r>
            <a:endParaRPr lang="en-CA" dirty="0"/>
          </a:p>
        </p:txBody>
      </p:sp>
      <p:sp>
        <p:nvSpPr>
          <p:cNvPr id="4" name="Content Placeholder 3"/>
          <p:cNvSpPr>
            <a:spLocks noGrp="1"/>
          </p:cNvSpPr>
          <p:nvPr>
            <p:ph idx="1"/>
          </p:nvPr>
        </p:nvSpPr>
        <p:spPr/>
        <p:txBody>
          <a:bodyPr/>
          <a:lstStyle/>
          <a:p>
            <a:r>
              <a:rPr lang="en-CA" dirty="0"/>
              <a:t>There is a pile of </a:t>
            </a:r>
            <a:r>
              <a:rPr lang="en-CA" i="1" dirty="0">
                <a:latin typeface="+mj-lt"/>
              </a:rPr>
              <a:t>N</a:t>
            </a:r>
            <a:r>
              <a:rPr lang="en-CA" dirty="0"/>
              <a:t> matches. Two players take it in turns to pick up one, two, or three matches. </a:t>
            </a:r>
          </a:p>
          <a:p>
            <a:r>
              <a:rPr lang="en-CA" dirty="0"/>
              <a:t>Last player to pick up loses</a:t>
            </a:r>
          </a:p>
          <a:p>
            <a:r>
              <a:rPr lang="en-CA" dirty="0"/>
              <a:t>State is the number of matches. Action is number picked up. Reward occurs at the end (=+1 if you win and -1 if you lose)</a:t>
            </a:r>
          </a:p>
          <a:p>
            <a:r>
              <a:rPr lang="en-CA" dirty="0"/>
              <a:t>What is the optimal strategy?</a:t>
            </a:r>
          </a:p>
          <a:p>
            <a:r>
              <a:rPr lang="en-CA" dirty="0"/>
              <a:t>We can work back from the end of the game.</a:t>
            </a:r>
          </a:p>
          <a:p>
            <a:r>
              <a:rPr lang="en-CA" dirty="0"/>
              <a:t>What if it is your turn and there are 2, 3, 4, 5, 6,… matches?</a:t>
            </a:r>
          </a:p>
        </p:txBody>
      </p:sp>
      <p:sp>
        <p:nvSpPr>
          <p:cNvPr id="2" name="Slide Number Placeholder 1"/>
          <p:cNvSpPr>
            <a:spLocks noGrp="1"/>
          </p:cNvSpPr>
          <p:nvPr>
            <p:ph type="sldNum" sz="quarter" idx="12"/>
          </p:nvPr>
        </p:nvSpPr>
        <p:spPr/>
        <p:txBody>
          <a:bodyPr/>
          <a:lstStyle/>
          <a:p>
            <a:fld id="{B095A5CE-67BC-412D-BFFD-14F19C21C82C}" type="slidenum">
              <a:rPr lang="en-CA" smtClean="0"/>
              <a:t>13</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909388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Using Monte Carlo</a:t>
            </a:r>
          </a:p>
        </p:txBody>
      </p:sp>
      <p:sp>
        <p:nvSpPr>
          <p:cNvPr id="3" name="Content Placeholder 2"/>
          <p:cNvSpPr>
            <a:spLocks noGrp="1"/>
          </p:cNvSpPr>
          <p:nvPr>
            <p:ph idx="1"/>
          </p:nvPr>
        </p:nvSpPr>
        <p:spPr/>
        <p:txBody>
          <a:bodyPr>
            <a:normAutofit/>
          </a:bodyPr>
          <a:lstStyle/>
          <a:p>
            <a:r>
              <a:rPr lang="en-CA" dirty="0"/>
              <a:t>This works similarly to the 4-armed bandit example</a:t>
            </a:r>
          </a:p>
          <a:p>
            <a:r>
              <a:rPr lang="en-CA" dirty="0"/>
              <a:t>In that example we had 4 actions</a:t>
            </a:r>
          </a:p>
          <a:p>
            <a:r>
              <a:rPr lang="en-US" dirty="0"/>
              <a:t>Here we consider state-action combinations</a:t>
            </a:r>
            <a:endParaRPr lang="en-CA" dirty="0"/>
          </a:p>
          <a:p>
            <a:r>
              <a:rPr lang="en-CA" dirty="0"/>
              <a:t>Define </a:t>
            </a:r>
            <a:r>
              <a:rPr lang="en-CA" i="1" dirty="0">
                <a:latin typeface="+mj-lt"/>
              </a:rPr>
              <a:t>Q</a:t>
            </a:r>
            <a:r>
              <a:rPr lang="en-CA" dirty="0"/>
              <a:t>(</a:t>
            </a:r>
            <a:r>
              <a:rPr lang="en-CA" i="1" dirty="0">
                <a:latin typeface="+mj-lt"/>
              </a:rPr>
              <a:t>S,A</a:t>
            </a:r>
            <a:r>
              <a:rPr lang="en-CA" dirty="0"/>
              <a:t>) as the value of being in state </a:t>
            </a:r>
            <a:r>
              <a:rPr lang="en-CA" i="1" dirty="0">
                <a:latin typeface="+mj-lt"/>
              </a:rPr>
              <a:t>S</a:t>
            </a:r>
            <a:r>
              <a:rPr lang="en-CA" dirty="0"/>
              <a:t> when action </a:t>
            </a:r>
            <a:r>
              <a:rPr lang="en-CA" i="1" dirty="0">
                <a:latin typeface="+mj-lt"/>
              </a:rPr>
              <a:t>A</a:t>
            </a:r>
            <a:r>
              <a:rPr lang="en-CA" dirty="0"/>
              <a:t> is taken</a:t>
            </a:r>
          </a:p>
          <a:p>
            <a:r>
              <a:rPr lang="en-CA" dirty="0"/>
              <a:t>We might initially set all the </a:t>
            </a:r>
            <a:r>
              <a:rPr lang="en-CA" i="1" dirty="0">
                <a:latin typeface="+mj-lt"/>
              </a:rPr>
              <a:t>Q</a:t>
            </a:r>
            <a:r>
              <a:rPr lang="en-CA" dirty="0"/>
              <a:t>(</a:t>
            </a:r>
            <a:r>
              <a:rPr lang="en-CA" i="1" dirty="0">
                <a:latin typeface="+mj-lt"/>
              </a:rPr>
              <a:t>S,A</a:t>
            </a:r>
            <a:r>
              <a:rPr lang="en-CA" dirty="0"/>
              <a:t>) to zero</a:t>
            </a:r>
          </a:p>
          <a:p>
            <a:r>
              <a:rPr lang="en-CA" dirty="0"/>
              <a:t>We simulate a set of actions</a:t>
            </a:r>
          </a:p>
        </p:txBody>
      </p:sp>
      <p:sp>
        <p:nvSpPr>
          <p:cNvPr id="4" name="Slide Number Placeholder 3"/>
          <p:cNvSpPr>
            <a:spLocks noGrp="1"/>
          </p:cNvSpPr>
          <p:nvPr>
            <p:ph type="sldNum" sz="quarter" idx="12"/>
          </p:nvPr>
        </p:nvSpPr>
        <p:spPr/>
        <p:txBody>
          <a:bodyPr/>
          <a:lstStyle/>
          <a:p>
            <a:fld id="{B095A5CE-67BC-412D-BFFD-14F19C21C82C}" type="slidenum">
              <a:rPr lang="en-CA" smtClean="0"/>
              <a:t>14</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419447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Using Monte Carlo </a:t>
            </a:r>
            <a:r>
              <a:rPr lang="en-CA" sz="1800" dirty="0"/>
              <a:t>continued</a:t>
            </a:r>
          </a:p>
        </p:txBody>
      </p:sp>
      <p:sp>
        <p:nvSpPr>
          <p:cNvPr id="3" name="Content Placeholder 2"/>
          <p:cNvSpPr>
            <a:spLocks noGrp="1"/>
          </p:cNvSpPr>
          <p:nvPr>
            <p:ph idx="1"/>
          </p:nvPr>
        </p:nvSpPr>
        <p:spPr/>
        <p:txBody>
          <a:bodyPr/>
          <a:lstStyle/>
          <a:p>
            <a:r>
              <a:rPr lang="en-CA" dirty="0"/>
              <a:t>There is a chance (1-</a:t>
            </a:r>
            <a:r>
              <a:rPr lang="en-CA" dirty="0">
                <a:latin typeface="Symbol" panose="05050102010706020507" pitchFamily="18" charset="2"/>
              </a:rPr>
              <a:t>e</a:t>
            </a:r>
            <a:r>
              <a:rPr lang="en-CA" dirty="0"/>
              <a:t>) that we choose the best action so far for any given state and </a:t>
            </a:r>
            <a:r>
              <a:rPr lang="en-CA" dirty="0">
                <a:latin typeface="Symbol" panose="05050102010706020507" pitchFamily="18" charset="2"/>
              </a:rPr>
              <a:t>e</a:t>
            </a:r>
            <a:r>
              <a:rPr lang="en-CA" dirty="0"/>
              <a:t> that we randomly choose an action</a:t>
            </a:r>
          </a:p>
          <a:p>
            <a:r>
              <a:rPr lang="en-CA" dirty="0"/>
              <a:t>Define </a:t>
            </a:r>
            <a:r>
              <a:rPr lang="en-CA" i="1" dirty="0">
                <a:latin typeface="+mj-lt"/>
              </a:rPr>
              <a:t>G</a:t>
            </a:r>
            <a:r>
              <a:rPr lang="en-CA" dirty="0">
                <a:latin typeface="+mj-lt"/>
              </a:rPr>
              <a:t> </a:t>
            </a:r>
            <a:r>
              <a:rPr lang="en-CA" dirty="0"/>
              <a:t>as the total reward (possibly with discounting) for the complete set of actions taken in one trial</a:t>
            </a:r>
          </a:p>
          <a:p>
            <a:r>
              <a:rPr lang="en-CA" dirty="0"/>
              <a:t>For each {</a:t>
            </a:r>
            <a:r>
              <a:rPr lang="en-CA" i="1" dirty="0">
                <a:latin typeface="+mj-lt"/>
              </a:rPr>
              <a:t>S</a:t>
            </a:r>
            <a:r>
              <a:rPr lang="en-CA" dirty="0"/>
              <a:t>,</a:t>
            </a:r>
            <a:r>
              <a:rPr lang="en-CA" i="1" dirty="0">
                <a:latin typeface="+mj-lt"/>
              </a:rPr>
              <a:t>A</a:t>
            </a:r>
            <a:r>
              <a:rPr lang="en-CA" dirty="0"/>
              <a:t>} combination that is encountered on the trial we update as follows</a:t>
            </a:r>
          </a:p>
          <a:p>
            <a:endParaRPr lang="en-CA" dirty="0"/>
          </a:p>
          <a:p>
            <a:endParaRPr lang="en-CA" dirty="0"/>
          </a:p>
          <a:p>
            <a:r>
              <a:rPr lang="en-CA" dirty="0"/>
              <a:t>This gives more weight to recent trials. This because the strategy followed and therefore </a:t>
            </a:r>
            <a:r>
              <a:rPr lang="en-CA"/>
              <a:t>the </a:t>
            </a:r>
            <a:endParaRPr lang="en-CA" dirty="0"/>
          </a:p>
          <a:p>
            <a:pPr marL="0" indent="0">
              <a:buNone/>
            </a:pPr>
            <a:endParaRPr lang="en-CA" dirty="0"/>
          </a:p>
          <a:p>
            <a:pPr marL="0" indent="0">
              <a:buNone/>
            </a:pPr>
            <a:endParaRPr lang="en-CA" dirty="0"/>
          </a:p>
          <a:p>
            <a:endParaRPr lang="en-CA" i="1" dirty="0">
              <a:latin typeface="+mj-lt"/>
            </a:endParaRPr>
          </a:p>
          <a:p>
            <a:pPr marL="514350" lvl="2" indent="0">
              <a:buNone/>
            </a:pPr>
            <a:endParaRPr lang="en-CA" dirty="0"/>
          </a:p>
          <a:p>
            <a:pPr marL="0" indent="0">
              <a:buNone/>
            </a:pPr>
            <a:br>
              <a:rPr lang="en-CA" dirty="0"/>
            </a:br>
            <a:endParaRPr lang="en-CA" dirty="0"/>
          </a:p>
        </p:txBody>
      </p:sp>
      <p:graphicFrame>
        <p:nvGraphicFramePr>
          <p:cNvPr id="4" name="Object 3"/>
          <p:cNvGraphicFramePr>
            <a:graphicFrameLocks noChangeAspect="1"/>
          </p:cNvGraphicFramePr>
          <p:nvPr>
            <p:extLst>
              <p:ext uri="{D42A27DB-BD31-4B8C-83A1-F6EECF244321}">
                <p14:modId xmlns:p14="http://schemas.microsoft.com/office/powerpoint/2010/main" val="1315911732"/>
              </p:ext>
            </p:extLst>
          </p:nvPr>
        </p:nvGraphicFramePr>
        <p:xfrm>
          <a:off x="2160820" y="4376207"/>
          <a:ext cx="3942885" cy="411107"/>
        </p:xfrm>
        <a:graphic>
          <a:graphicData uri="http://schemas.openxmlformats.org/presentationml/2006/ole">
            <mc:AlternateContent xmlns:mc="http://schemas.openxmlformats.org/markup-compatibility/2006">
              <mc:Choice xmlns:v="urn:schemas-microsoft-com:vml" Requires="v">
                <p:oleObj name="Equation" r:id="rId2" imgW="2679480" imgH="279360" progId="Equation.DSMT4">
                  <p:embed/>
                </p:oleObj>
              </mc:Choice>
              <mc:Fallback>
                <p:oleObj name="Equation" r:id="rId2" imgW="2679480" imgH="279360" progId="Equation.DSMT4">
                  <p:embed/>
                  <p:pic>
                    <p:nvPicPr>
                      <p:cNvPr id="4" name="Object 3"/>
                      <p:cNvPicPr/>
                      <p:nvPr/>
                    </p:nvPicPr>
                    <p:blipFill>
                      <a:blip r:embed="rId3"/>
                      <a:stretch>
                        <a:fillRect/>
                      </a:stretch>
                    </p:blipFill>
                    <p:spPr>
                      <a:xfrm>
                        <a:off x="2160820" y="4376207"/>
                        <a:ext cx="3942885" cy="411107"/>
                      </a:xfrm>
                      <a:prstGeom prst="rect">
                        <a:avLst/>
                      </a:prstGeom>
                    </p:spPr>
                  </p:pic>
                </p:oleObj>
              </mc:Fallback>
            </mc:AlternateContent>
          </a:graphicData>
        </a:graphic>
      </p:graphicFrame>
      <p:sp>
        <p:nvSpPr>
          <p:cNvPr id="6" name="Slide Number Placeholder 5"/>
          <p:cNvSpPr>
            <a:spLocks noGrp="1"/>
          </p:cNvSpPr>
          <p:nvPr>
            <p:ph type="sldNum" sz="quarter" idx="12"/>
          </p:nvPr>
        </p:nvSpPr>
        <p:spPr/>
        <p:txBody>
          <a:bodyPr/>
          <a:lstStyle/>
          <a:p>
            <a:fld id="{B095A5CE-67BC-412D-BFFD-14F19C21C82C}" type="slidenum">
              <a:rPr lang="en-CA" smtClean="0"/>
              <a:t>15</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4030780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Nim</a:t>
            </a:r>
            <a:r>
              <a:rPr lang="en-CA" dirty="0"/>
              <a:t> with 8 matches in the pile initially</a:t>
            </a:r>
          </a:p>
        </p:txBody>
      </p:sp>
      <p:sp>
        <p:nvSpPr>
          <p:cNvPr id="3" name="Content Placeholder 2"/>
          <p:cNvSpPr>
            <a:spLocks noGrp="1"/>
          </p:cNvSpPr>
          <p:nvPr>
            <p:ph idx="1"/>
          </p:nvPr>
        </p:nvSpPr>
        <p:spPr/>
        <p:txBody>
          <a:bodyPr/>
          <a:lstStyle/>
          <a:p>
            <a:r>
              <a:rPr lang="en-CA" dirty="0"/>
              <a:t>Here are the initial values for the state/action combinations</a:t>
            </a:r>
          </a:p>
        </p:txBody>
      </p:sp>
      <p:graphicFrame>
        <p:nvGraphicFramePr>
          <p:cNvPr id="4" name="Table 3"/>
          <p:cNvGraphicFramePr>
            <a:graphicFrameLocks noGrp="1"/>
          </p:cNvGraphicFramePr>
          <p:nvPr>
            <p:extLst>
              <p:ext uri="{D42A27DB-BD31-4B8C-83A1-F6EECF244321}">
                <p14:modId xmlns:p14="http://schemas.microsoft.com/office/powerpoint/2010/main" val="1618025528"/>
              </p:ext>
            </p:extLst>
          </p:nvPr>
        </p:nvGraphicFramePr>
        <p:xfrm>
          <a:off x="1599548" y="3196893"/>
          <a:ext cx="5906152" cy="1390650"/>
        </p:xfrm>
        <a:graphic>
          <a:graphicData uri="http://schemas.openxmlformats.org/drawingml/2006/table">
            <a:tbl>
              <a:tblPr firstRow="1" bandRow="1">
                <a:tableStyleId>{5940675A-B579-460E-94D1-54222C63F5DA}</a:tableStyleId>
              </a:tblPr>
              <a:tblGrid>
                <a:gridCol w="738269">
                  <a:extLst>
                    <a:ext uri="{9D8B030D-6E8A-4147-A177-3AD203B41FA5}">
                      <a16:colId xmlns:a16="http://schemas.microsoft.com/office/drawing/2014/main" val="3037177258"/>
                    </a:ext>
                  </a:extLst>
                </a:gridCol>
                <a:gridCol w="738269">
                  <a:extLst>
                    <a:ext uri="{9D8B030D-6E8A-4147-A177-3AD203B41FA5}">
                      <a16:colId xmlns:a16="http://schemas.microsoft.com/office/drawing/2014/main" val="2476266144"/>
                    </a:ext>
                  </a:extLst>
                </a:gridCol>
                <a:gridCol w="738269">
                  <a:extLst>
                    <a:ext uri="{9D8B030D-6E8A-4147-A177-3AD203B41FA5}">
                      <a16:colId xmlns:a16="http://schemas.microsoft.com/office/drawing/2014/main" val="4086468150"/>
                    </a:ext>
                  </a:extLst>
                </a:gridCol>
                <a:gridCol w="738269">
                  <a:extLst>
                    <a:ext uri="{9D8B030D-6E8A-4147-A177-3AD203B41FA5}">
                      <a16:colId xmlns:a16="http://schemas.microsoft.com/office/drawing/2014/main" val="3439700802"/>
                    </a:ext>
                  </a:extLst>
                </a:gridCol>
                <a:gridCol w="738269">
                  <a:extLst>
                    <a:ext uri="{9D8B030D-6E8A-4147-A177-3AD203B41FA5}">
                      <a16:colId xmlns:a16="http://schemas.microsoft.com/office/drawing/2014/main" val="3995316740"/>
                    </a:ext>
                  </a:extLst>
                </a:gridCol>
                <a:gridCol w="738269">
                  <a:extLst>
                    <a:ext uri="{9D8B030D-6E8A-4147-A177-3AD203B41FA5}">
                      <a16:colId xmlns:a16="http://schemas.microsoft.com/office/drawing/2014/main" val="4154482727"/>
                    </a:ext>
                  </a:extLst>
                </a:gridCol>
                <a:gridCol w="738269">
                  <a:extLst>
                    <a:ext uri="{9D8B030D-6E8A-4147-A177-3AD203B41FA5}">
                      <a16:colId xmlns:a16="http://schemas.microsoft.com/office/drawing/2014/main" val="4063473904"/>
                    </a:ext>
                  </a:extLst>
                </a:gridCol>
                <a:gridCol w="738269">
                  <a:extLst>
                    <a:ext uri="{9D8B030D-6E8A-4147-A177-3AD203B41FA5}">
                      <a16:colId xmlns:a16="http://schemas.microsoft.com/office/drawing/2014/main" val="1461263076"/>
                    </a:ext>
                  </a:extLst>
                </a:gridCol>
              </a:tblGrid>
              <a:tr h="278130">
                <a:tc rowSpan="2">
                  <a:txBody>
                    <a:bodyPr/>
                    <a:lstStyle/>
                    <a:p>
                      <a:pPr algn="ctr"/>
                      <a:r>
                        <a:rPr lang="en-CA" sz="1000" dirty="0"/>
                        <a:t>Matches picked up</a:t>
                      </a:r>
                    </a:p>
                  </a:txBody>
                  <a:tcPr marL="68580" marR="68580" marT="34290" marB="34290"/>
                </a:tc>
                <a:tc gridSpan="7">
                  <a:txBody>
                    <a:bodyPr/>
                    <a:lstStyle/>
                    <a:p>
                      <a:pPr algn="ctr"/>
                      <a:r>
                        <a:rPr lang="en-CA" sz="1000" dirty="0"/>
                        <a:t>State (=number of matches left )</a:t>
                      </a:r>
                    </a:p>
                  </a:txBody>
                  <a:tcPr marL="68580" marR="68580" marT="34290" marB="34290"/>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extLst>
                  <a:ext uri="{0D108BD9-81ED-4DB2-BD59-A6C34878D82A}">
                    <a16:rowId xmlns:a16="http://schemas.microsoft.com/office/drawing/2014/main" val="3460039505"/>
                  </a:ext>
                </a:extLst>
              </a:tr>
              <a:tr h="278130">
                <a:tc vMerge="1">
                  <a:txBody>
                    <a:bodyPr/>
                    <a:lstStyle/>
                    <a:p>
                      <a:pPr algn="ctr"/>
                      <a:endParaRPr lang="en-CA" dirty="0"/>
                    </a:p>
                  </a:txBody>
                  <a:tcPr/>
                </a:tc>
                <a:tc>
                  <a:txBody>
                    <a:bodyPr/>
                    <a:lstStyle/>
                    <a:p>
                      <a:pPr algn="ctr"/>
                      <a:r>
                        <a:rPr lang="en-CA" sz="1000" dirty="0"/>
                        <a:t>2</a:t>
                      </a:r>
                    </a:p>
                  </a:txBody>
                  <a:tcPr marL="68580" marR="68580" marT="34290" marB="34290"/>
                </a:tc>
                <a:tc>
                  <a:txBody>
                    <a:bodyPr/>
                    <a:lstStyle/>
                    <a:p>
                      <a:pPr algn="ctr"/>
                      <a:r>
                        <a:rPr lang="en-CA" sz="1000" dirty="0"/>
                        <a:t>3</a:t>
                      </a:r>
                    </a:p>
                  </a:txBody>
                  <a:tcPr marL="68580" marR="68580" marT="34290" marB="34290"/>
                </a:tc>
                <a:tc>
                  <a:txBody>
                    <a:bodyPr/>
                    <a:lstStyle/>
                    <a:p>
                      <a:pPr algn="ctr"/>
                      <a:r>
                        <a:rPr lang="en-CA" sz="1000" dirty="0"/>
                        <a:t>4</a:t>
                      </a:r>
                    </a:p>
                  </a:txBody>
                  <a:tcPr marL="68580" marR="68580" marT="34290" marB="34290"/>
                </a:tc>
                <a:tc>
                  <a:txBody>
                    <a:bodyPr/>
                    <a:lstStyle/>
                    <a:p>
                      <a:pPr algn="ctr"/>
                      <a:r>
                        <a:rPr lang="en-CA" sz="1000" dirty="0"/>
                        <a:t>5</a:t>
                      </a:r>
                    </a:p>
                  </a:txBody>
                  <a:tcPr marL="68580" marR="68580" marT="34290" marB="34290"/>
                </a:tc>
                <a:tc>
                  <a:txBody>
                    <a:bodyPr/>
                    <a:lstStyle/>
                    <a:p>
                      <a:pPr algn="ctr"/>
                      <a:r>
                        <a:rPr lang="en-CA" sz="1000" dirty="0"/>
                        <a:t>6</a:t>
                      </a:r>
                    </a:p>
                  </a:txBody>
                  <a:tcPr marL="68580" marR="68580" marT="34290" marB="34290"/>
                </a:tc>
                <a:tc>
                  <a:txBody>
                    <a:bodyPr/>
                    <a:lstStyle/>
                    <a:p>
                      <a:pPr algn="ctr"/>
                      <a:r>
                        <a:rPr lang="en-CA" sz="1000" dirty="0"/>
                        <a:t>7</a:t>
                      </a:r>
                    </a:p>
                  </a:txBody>
                  <a:tcPr marL="68580" marR="68580" marT="34290" marB="34290"/>
                </a:tc>
                <a:tc>
                  <a:txBody>
                    <a:bodyPr/>
                    <a:lstStyle/>
                    <a:p>
                      <a:pPr algn="ctr"/>
                      <a:r>
                        <a:rPr lang="en-CA" sz="1000" dirty="0"/>
                        <a:t>8</a:t>
                      </a:r>
                    </a:p>
                  </a:txBody>
                  <a:tcPr marL="68580" marR="68580" marT="34290" marB="34290"/>
                </a:tc>
                <a:extLst>
                  <a:ext uri="{0D108BD9-81ED-4DB2-BD59-A6C34878D82A}">
                    <a16:rowId xmlns:a16="http://schemas.microsoft.com/office/drawing/2014/main" val="1207912334"/>
                  </a:ext>
                </a:extLst>
              </a:tr>
              <a:tr h="278130">
                <a:tc>
                  <a:txBody>
                    <a:bodyPr/>
                    <a:lstStyle/>
                    <a:p>
                      <a:pPr algn="ctr"/>
                      <a:r>
                        <a:rPr lang="en-CA" sz="1000" dirty="0"/>
                        <a:t>1</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extLst>
                  <a:ext uri="{0D108BD9-81ED-4DB2-BD59-A6C34878D82A}">
                    <a16:rowId xmlns:a16="http://schemas.microsoft.com/office/drawing/2014/main" val="3827211519"/>
                  </a:ext>
                </a:extLst>
              </a:tr>
              <a:tr h="278130">
                <a:tc>
                  <a:txBody>
                    <a:bodyPr/>
                    <a:lstStyle/>
                    <a:p>
                      <a:pPr algn="ctr"/>
                      <a:r>
                        <a:rPr lang="en-CA" sz="1000" dirty="0"/>
                        <a:t>2</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extLst>
                  <a:ext uri="{0D108BD9-81ED-4DB2-BD59-A6C34878D82A}">
                    <a16:rowId xmlns:a16="http://schemas.microsoft.com/office/drawing/2014/main" val="1410191458"/>
                  </a:ext>
                </a:extLst>
              </a:tr>
              <a:tr h="278130">
                <a:tc>
                  <a:txBody>
                    <a:bodyPr/>
                    <a:lstStyle/>
                    <a:p>
                      <a:pPr algn="ctr"/>
                      <a:r>
                        <a:rPr lang="en-CA" sz="1000" dirty="0"/>
                        <a:t>3</a:t>
                      </a:r>
                    </a:p>
                  </a:txBody>
                  <a:tcPr marL="68580" marR="68580" marT="34290" marB="34290"/>
                </a:tc>
                <a:tc>
                  <a:txBody>
                    <a:bodyPr/>
                    <a:lstStyle/>
                    <a:p>
                      <a:pPr algn="ctr"/>
                      <a:endParaRPr lang="en-CA" sz="1000" dirty="0"/>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extLst>
                  <a:ext uri="{0D108BD9-81ED-4DB2-BD59-A6C34878D82A}">
                    <a16:rowId xmlns:a16="http://schemas.microsoft.com/office/drawing/2014/main" val="3989086793"/>
                  </a:ext>
                </a:extLst>
              </a:tr>
            </a:tbl>
          </a:graphicData>
        </a:graphic>
      </p:graphicFrame>
      <p:sp>
        <p:nvSpPr>
          <p:cNvPr id="5" name="Slide Number Placeholder 4"/>
          <p:cNvSpPr>
            <a:spLocks noGrp="1"/>
          </p:cNvSpPr>
          <p:nvPr>
            <p:ph type="sldNum" sz="quarter" idx="12"/>
          </p:nvPr>
        </p:nvSpPr>
        <p:spPr/>
        <p:txBody>
          <a:bodyPr/>
          <a:lstStyle/>
          <a:p>
            <a:fld id="{B095A5CE-67BC-412D-BFFD-14F19C21C82C}" type="slidenum">
              <a:rPr lang="en-CA" smtClean="0"/>
              <a:t>16</a:t>
            </a:fld>
            <a:endParaRPr lang="en-CA"/>
          </a:p>
        </p:txBody>
      </p:sp>
      <p:sp>
        <p:nvSpPr>
          <p:cNvPr id="6" name="Footer Placeholder 5"/>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807362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Nim</a:t>
            </a:r>
            <a:r>
              <a:rPr lang="en-CA" dirty="0"/>
              <a:t> continued</a:t>
            </a:r>
          </a:p>
        </p:txBody>
      </p:sp>
      <p:sp>
        <p:nvSpPr>
          <p:cNvPr id="3" name="Content Placeholder 2"/>
          <p:cNvSpPr>
            <a:spLocks noGrp="1"/>
          </p:cNvSpPr>
          <p:nvPr>
            <p:ph idx="1"/>
          </p:nvPr>
        </p:nvSpPr>
        <p:spPr/>
        <p:txBody>
          <a:bodyPr>
            <a:normAutofit/>
          </a:bodyPr>
          <a:lstStyle/>
          <a:p>
            <a:r>
              <a:rPr lang="en-CA" dirty="0"/>
              <a:t>Opponent behaves randomly</a:t>
            </a:r>
          </a:p>
          <a:p>
            <a:r>
              <a:rPr lang="en-CA" dirty="0"/>
              <a:t>Reward for winning is 1; reward for losing is −1</a:t>
            </a:r>
          </a:p>
          <a:p>
            <a:pPr marL="0" indent="0">
              <a:buNone/>
            </a:pPr>
            <a:r>
              <a:rPr lang="en-CA" dirty="0"/>
              <a:t>The matches picked up on first simulation (with opponent’s choice in brackets) is</a:t>
            </a:r>
          </a:p>
          <a:p>
            <a:pPr marL="0" indent="0">
              <a:buNone/>
            </a:pPr>
            <a:r>
              <a:rPr lang="en-CA" dirty="0"/>
              <a:t>1,[3],1,[3]  (win)</a:t>
            </a:r>
          </a:p>
          <a:p>
            <a:pPr marL="0" indent="0">
              <a:buNone/>
            </a:pPr>
            <a:endParaRPr lang="en-CA" dirty="0"/>
          </a:p>
          <a:p>
            <a:pPr marL="0" indent="0">
              <a:buNone/>
            </a:pPr>
            <a:r>
              <a:rPr lang="en-CA" dirty="0"/>
              <a:t>We assign a gain, </a:t>
            </a:r>
            <a:r>
              <a:rPr lang="en-CA" i="1" dirty="0">
                <a:latin typeface="+mj-lt"/>
              </a:rPr>
              <a:t>G</a:t>
            </a:r>
            <a:r>
              <a:rPr lang="en-CA" dirty="0"/>
              <a:t>,  of 1 to:</a:t>
            </a:r>
          </a:p>
          <a:p>
            <a:pPr marL="225029" lvl="1" indent="0">
              <a:buNone/>
            </a:pPr>
            <a:r>
              <a:rPr lang="en-CA" dirty="0"/>
              <a:t>state 8, action 1</a:t>
            </a:r>
          </a:p>
          <a:p>
            <a:pPr marL="225029" lvl="1" indent="0">
              <a:buNone/>
            </a:pPr>
            <a:r>
              <a:rPr lang="en-CA" dirty="0"/>
              <a:t>state 4, action 1</a:t>
            </a:r>
          </a:p>
          <a:p>
            <a:pPr marL="0" indent="0">
              <a:buNone/>
            </a:pPr>
            <a:r>
              <a:rPr lang="en-CA" dirty="0"/>
              <a:t>and apply updating formula, setting </a:t>
            </a:r>
            <a:r>
              <a:rPr lang="en-CA" dirty="0">
                <a:latin typeface="Symbol" panose="05050102010706020507" pitchFamily="18" charset="2"/>
              </a:rPr>
              <a:t>a</a:t>
            </a:r>
            <a:r>
              <a:rPr lang="en-CA" dirty="0"/>
              <a:t> = 0.05</a:t>
            </a:r>
          </a:p>
          <a:p>
            <a:pPr marL="0" indent="0">
              <a:buNone/>
            </a:pP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17</a:t>
            </a:fld>
            <a:endParaRPr lang="en-CA"/>
          </a:p>
        </p:txBody>
      </p:sp>
      <p:graphicFrame>
        <p:nvGraphicFramePr>
          <p:cNvPr id="5" name="Object 4"/>
          <p:cNvGraphicFramePr>
            <a:graphicFrameLocks noChangeAspect="1"/>
          </p:cNvGraphicFramePr>
          <p:nvPr>
            <p:extLst>
              <p:ext uri="{D42A27DB-BD31-4B8C-83A1-F6EECF244321}">
                <p14:modId xmlns:p14="http://schemas.microsoft.com/office/powerpoint/2010/main" val="26105304"/>
              </p:ext>
            </p:extLst>
          </p:nvPr>
        </p:nvGraphicFramePr>
        <p:xfrm>
          <a:off x="2160588" y="5926535"/>
          <a:ext cx="3943350" cy="410766"/>
        </p:xfrm>
        <a:graphic>
          <a:graphicData uri="http://schemas.openxmlformats.org/presentationml/2006/ole">
            <mc:AlternateContent xmlns:mc="http://schemas.openxmlformats.org/markup-compatibility/2006">
              <mc:Choice xmlns:v="urn:schemas-microsoft-com:vml" Requires="v">
                <p:oleObj name="Equation" r:id="rId2" imgW="2679480" imgH="279360" progId="Equation.DSMT4">
                  <p:embed/>
                </p:oleObj>
              </mc:Choice>
              <mc:Fallback>
                <p:oleObj name="Equation" r:id="rId2" imgW="2679480" imgH="279360" progId="Equation.DSMT4">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588" y="5926535"/>
                        <a:ext cx="3943350" cy="410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685681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Nim</a:t>
            </a:r>
            <a:r>
              <a:rPr lang="en-CA" dirty="0"/>
              <a:t> after one trial (1,[3],1,[3])</a:t>
            </a:r>
          </a:p>
        </p:txBody>
      </p:sp>
      <p:sp>
        <p:nvSpPr>
          <p:cNvPr id="3" name="Content Placeholder 2"/>
          <p:cNvSpPr>
            <a:spLocks noGrp="1"/>
          </p:cNvSpPr>
          <p:nvPr>
            <p:ph idx="1"/>
          </p:nvPr>
        </p:nvSpPr>
        <p:spPr/>
        <p:txBody>
          <a:bodyPr/>
          <a:lstStyle/>
          <a:p>
            <a:pPr marL="0" indent="0">
              <a:buNone/>
            </a:pPr>
            <a:r>
              <a:rPr lang="en-CA" dirty="0"/>
              <a:t> </a:t>
            </a:r>
          </a:p>
        </p:txBody>
      </p:sp>
      <p:graphicFrame>
        <p:nvGraphicFramePr>
          <p:cNvPr id="4" name="Table 3"/>
          <p:cNvGraphicFramePr>
            <a:graphicFrameLocks noGrp="1"/>
          </p:cNvGraphicFramePr>
          <p:nvPr>
            <p:extLst>
              <p:ext uri="{D42A27DB-BD31-4B8C-83A1-F6EECF244321}">
                <p14:modId xmlns:p14="http://schemas.microsoft.com/office/powerpoint/2010/main" val="2393464213"/>
              </p:ext>
            </p:extLst>
          </p:nvPr>
        </p:nvGraphicFramePr>
        <p:xfrm>
          <a:off x="1133714" y="2968918"/>
          <a:ext cx="5906152" cy="1390025"/>
        </p:xfrm>
        <a:graphic>
          <a:graphicData uri="http://schemas.openxmlformats.org/drawingml/2006/table">
            <a:tbl>
              <a:tblPr firstRow="1" bandRow="1">
                <a:tableStyleId>{5940675A-B579-460E-94D1-54222C63F5DA}</a:tableStyleId>
              </a:tblPr>
              <a:tblGrid>
                <a:gridCol w="738269">
                  <a:extLst>
                    <a:ext uri="{9D8B030D-6E8A-4147-A177-3AD203B41FA5}">
                      <a16:colId xmlns:a16="http://schemas.microsoft.com/office/drawing/2014/main" val="3037177258"/>
                    </a:ext>
                  </a:extLst>
                </a:gridCol>
                <a:gridCol w="738269">
                  <a:extLst>
                    <a:ext uri="{9D8B030D-6E8A-4147-A177-3AD203B41FA5}">
                      <a16:colId xmlns:a16="http://schemas.microsoft.com/office/drawing/2014/main" val="2476266144"/>
                    </a:ext>
                  </a:extLst>
                </a:gridCol>
                <a:gridCol w="738269">
                  <a:extLst>
                    <a:ext uri="{9D8B030D-6E8A-4147-A177-3AD203B41FA5}">
                      <a16:colId xmlns:a16="http://schemas.microsoft.com/office/drawing/2014/main" val="4086468150"/>
                    </a:ext>
                  </a:extLst>
                </a:gridCol>
                <a:gridCol w="738269">
                  <a:extLst>
                    <a:ext uri="{9D8B030D-6E8A-4147-A177-3AD203B41FA5}">
                      <a16:colId xmlns:a16="http://schemas.microsoft.com/office/drawing/2014/main" val="3439700802"/>
                    </a:ext>
                  </a:extLst>
                </a:gridCol>
                <a:gridCol w="738269">
                  <a:extLst>
                    <a:ext uri="{9D8B030D-6E8A-4147-A177-3AD203B41FA5}">
                      <a16:colId xmlns:a16="http://schemas.microsoft.com/office/drawing/2014/main" val="3995316740"/>
                    </a:ext>
                  </a:extLst>
                </a:gridCol>
                <a:gridCol w="738269">
                  <a:extLst>
                    <a:ext uri="{9D8B030D-6E8A-4147-A177-3AD203B41FA5}">
                      <a16:colId xmlns:a16="http://schemas.microsoft.com/office/drawing/2014/main" val="4154482727"/>
                    </a:ext>
                  </a:extLst>
                </a:gridCol>
                <a:gridCol w="738269">
                  <a:extLst>
                    <a:ext uri="{9D8B030D-6E8A-4147-A177-3AD203B41FA5}">
                      <a16:colId xmlns:a16="http://schemas.microsoft.com/office/drawing/2014/main" val="4063473904"/>
                    </a:ext>
                  </a:extLst>
                </a:gridCol>
                <a:gridCol w="738269">
                  <a:extLst>
                    <a:ext uri="{9D8B030D-6E8A-4147-A177-3AD203B41FA5}">
                      <a16:colId xmlns:a16="http://schemas.microsoft.com/office/drawing/2014/main" val="1461263076"/>
                    </a:ext>
                  </a:extLst>
                </a:gridCol>
              </a:tblGrid>
              <a:tr h="277505">
                <a:tc rowSpan="2">
                  <a:txBody>
                    <a:bodyPr/>
                    <a:lstStyle/>
                    <a:p>
                      <a:pPr algn="ctr"/>
                      <a:r>
                        <a:rPr lang="en-CA" sz="1000" dirty="0"/>
                        <a:t>Matches picked up</a:t>
                      </a:r>
                    </a:p>
                  </a:txBody>
                  <a:tcPr marL="68580" marR="68580" marT="34290" marB="34290"/>
                </a:tc>
                <a:tc gridSpan="7">
                  <a:txBody>
                    <a:bodyPr/>
                    <a:lstStyle/>
                    <a:p>
                      <a:pPr algn="ctr"/>
                      <a:r>
                        <a:rPr lang="en-CA" sz="1000" dirty="0"/>
                        <a:t>State (=number of matches left )</a:t>
                      </a:r>
                    </a:p>
                  </a:txBody>
                  <a:tcPr marL="68580" marR="68580" marT="34290" marB="34290"/>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extLst>
                  <a:ext uri="{0D108BD9-81ED-4DB2-BD59-A6C34878D82A}">
                    <a16:rowId xmlns:a16="http://schemas.microsoft.com/office/drawing/2014/main" val="3460039505"/>
                  </a:ext>
                </a:extLst>
              </a:tr>
              <a:tr h="278130">
                <a:tc vMerge="1">
                  <a:txBody>
                    <a:bodyPr/>
                    <a:lstStyle/>
                    <a:p>
                      <a:pPr algn="ctr"/>
                      <a:endParaRPr lang="en-CA" dirty="0"/>
                    </a:p>
                  </a:txBody>
                  <a:tcPr/>
                </a:tc>
                <a:tc>
                  <a:txBody>
                    <a:bodyPr/>
                    <a:lstStyle/>
                    <a:p>
                      <a:pPr algn="ctr"/>
                      <a:r>
                        <a:rPr lang="en-CA" sz="1000" dirty="0"/>
                        <a:t>2</a:t>
                      </a:r>
                    </a:p>
                  </a:txBody>
                  <a:tcPr marL="68580" marR="68580" marT="34290" marB="34290"/>
                </a:tc>
                <a:tc>
                  <a:txBody>
                    <a:bodyPr/>
                    <a:lstStyle/>
                    <a:p>
                      <a:pPr algn="ctr"/>
                      <a:r>
                        <a:rPr lang="en-CA" sz="1000" dirty="0"/>
                        <a:t>3</a:t>
                      </a:r>
                    </a:p>
                  </a:txBody>
                  <a:tcPr marL="68580" marR="68580" marT="34290" marB="34290"/>
                </a:tc>
                <a:tc>
                  <a:txBody>
                    <a:bodyPr/>
                    <a:lstStyle/>
                    <a:p>
                      <a:pPr algn="ctr"/>
                      <a:r>
                        <a:rPr lang="en-CA" sz="1000" dirty="0"/>
                        <a:t>4</a:t>
                      </a:r>
                    </a:p>
                  </a:txBody>
                  <a:tcPr marL="68580" marR="68580" marT="34290" marB="34290"/>
                </a:tc>
                <a:tc>
                  <a:txBody>
                    <a:bodyPr/>
                    <a:lstStyle/>
                    <a:p>
                      <a:pPr algn="ctr"/>
                      <a:r>
                        <a:rPr lang="en-CA" sz="1000" dirty="0"/>
                        <a:t>5</a:t>
                      </a:r>
                    </a:p>
                  </a:txBody>
                  <a:tcPr marL="68580" marR="68580" marT="34290" marB="34290"/>
                </a:tc>
                <a:tc>
                  <a:txBody>
                    <a:bodyPr/>
                    <a:lstStyle/>
                    <a:p>
                      <a:pPr algn="ctr"/>
                      <a:r>
                        <a:rPr lang="en-CA" sz="1000" dirty="0"/>
                        <a:t>6</a:t>
                      </a:r>
                    </a:p>
                  </a:txBody>
                  <a:tcPr marL="68580" marR="68580" marT="34290" marB="34290"/>
                </a:tc>
                <a:tc>
                  <a:txBody>
                    <a:bodyPr/>
                    <a:lstStyle/>
                    <a:p>
                      <a:pPr algn="ctr"/>
                      <a:r>
                        <a:rPr lang="en-CA" sz="1000" dirty="0"/>
                        <a:t>7</a:t>
                      </a:r>
                    </a:p>
                  </a:txBody>
                  <a:tcPr marL="68580" marR="68580" marT="34290" marB="34290"/>
                </a:tc>
                <a:tc>
                  <a:txBody>
                    <a:bodyPr/>
                    <a:lstStyle/>
                    <a:p>
                      <a:pPr algn="ctr"/>
                      <a:r>
                        <a:rPr lang="en-CA" sz="1000" dirty="0"/>
                        <a:t>8</a:t>
                      </a:r>
                    </a:p>
                  </a:txBody>
                  <a:tcPr marL="68580" marR="68580" marT="34290" marB="34290"/>
                </a:tc>
                <a:extLst>
                  <a:ext uri="{0D108BD9-81ED-4DB2-BD59-A6C34878D82A}">
                    <a16:rowId xmlns:a16="http://schemas.microsoft.com/office/drawing/2014/main" val="1207912334"/>
                  </a:ext>
                </a:extLst>
              </a:tr>
              <a:tr h="278130">
                <a:tc>
                  <a:txBody>
                    <a:bodyPr/>
                    <a:lstStyle/>
                    <a:p>
                      <a:pPr algn="ctr"/>
                      <a:r>
                        <a:rPr lang="en-CA" sz="1000" dirty="0"/>
                        <a:t>1</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0.05</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0.05</a:t>
                      </a:r>
                    </a:p>
                  </a:txBody>
                  <a:tcPr marL="68580" marR="68580" marT="34290" marB="34290"/>
                </a:tc>
                <a:extLst>
                  <a:ext uri="{0D108BD9-81ED-4DB2-BD59-A6C34878D82A}">
                    <a16:rowId xmlns:a16="http://schemas.microsoft.com/office/drawing/2014/main" val="3827211519"/>
                  </a:ext>
                </a:extLst>
              </a:tr>
              <a:tr h="278130">
                <a:tc>
                  <a:txBody>
                    <a:bodyPr/>
                    <a:lstStyle/>
                    <a:p>
                      <a:pPr algn="ctr"/>
                      <a:r>
                        <a:rPr lang="en-CA" sz="1000" dirty="0"/>
                        <a:t>2</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extLst>
                  <a:ext uri="{0D108BD9-81ED-4DB2-BD59-A6C34878D82A}">
                    <a16:rowId xmlns:a16="http://schemas.microsoft.com/office/drawing/2014/main" val="1410191458"/>
                  </a:ext>
                </a:extLst>
              </a:tr>
              <a:tr h="278130">
                <a:tc>
                  <a:txBody>
                    <a:bodyPr/>
                    <a:lstStyle/>
                    <a:p>
                      <a:pPr algn="ctr"/>
                      <a:r>
                        <a:rPr lang="en-CA" sz="1000" dirty="0"/>
                        <a:t>3</a:t>
                      </a:r>
                    </a:p>
                  </a:txBody>
                  <a:tcPr marL="68580" marR="68580" marT="34290" marB="34290"/>
                </a:tc>
                <a:tc>
                  <a:txBody>
                    <a:bodyPr/>
                    <a:lstStyle/>
                    <a:p>
                      <a:pPr algn="ctr"/>
                      <a:endParaRPr lang="en-CA" sz="1000" dirty="0"/>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extLst>
                  <a:ext uri="{0D108BD9-81ED-4DB2-BD59-A6C34878D82A}">
                    <a16:rowId xmlns:a16="http://schemas.microsoft.com/office/drawing/2014/main" val="3989086793"/>
                  </a:ext>
                </a:extLst>
              </a:tr>
            </a:tbl>
          </a:graphicData>
        </a:graphic>
      </p:graphicFrame>
      <p:sp>
        <p:nvSpPr>
          <p:cNvPr id="5" name="Slide Number Placeholder 4"/>
          <p:cNvSpPr>
            <a:spLocks noGrp="1"/>
          </p:cNvSpPr>
          <p:nvPr>
            <p:ph type="sldNum" sz="quarter" idx="12"/>
          </p:nvPr>
        </p:nvSpPr>
        <p:spPr/>
        <p:txBody>
          <a:bodyPr/>
          <a:lstStyle/>
          <a:p>
            <a:fld id="{B095A5CE-67BC-412D-BFFD-14F19C21C82C}" type="slidenum">
              <a:rPr lang="en-CA" smtClean="0"/>
              <a:t>18</a:t>
            </a:fld>
            <a:endParaRPr lang="en-CA"/>
          </a:p>
        </p:txBody>
      </p:sp>
      <p:sp>
        <p:nvSpPr>
          <p:cNvPr id="6" name="Footer Placeholder 5"/>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875277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211" y="1470120"/>
            <a:ext cx="7772400" cy="857250"/>
          </a:xfrm>
        </p:spPr>
        <p:txBody>
          <a:bodyPr/>
          <a:lstStyle/>
          <a:p>
            <a:r>
              <a:rPr lang="en-CA" dirty="0"/>
              <a:t>Next trials</a:t>
            </a:r>
          </a:p>
        </p:txBody>
      </p:sp>
      <p:graphicFrame>
        <p:nvGraphicFramePr>
          <p:cNvPr id="4" name="Table 3"/>
          <p:cNvGraphicFramePr>
            <a:graphicFrameLocks noGrp="1"/>
          </p:cNvGraphicFramePr>
          <p:nvPr>
            <p:extLst>
              <p:ext uri="{D42A27DB-BD31-4B8C-83A1-F6EECF244321}">
                <p14:modId xmlns:p14="http://schemas.microsoft.com/office/powerpoint/2010/main" val="651121374"/>
              </p:ext>
            </p:extLst>
          </p:nvPr>
        </p:nvGraphicFramePr>
        <p:xfrm>
          <a:off x="1979712" y="2927637"/>
          <a:ext cx="5392600" cy="1259334"/>
        </p:xfrm>
        <a:graphic>
          <a:graphicData uri="http://schemas.openxmlformats.org/drawingml/2006/table">
            <a:tbl>
              <a:tblPr firstRow="1" bandRow="1">
                <a:tableStyleId>{5940675A-B579-460E-94D1-54222C63F5DA}</a:tableStyleId>
              </a:tblPr>
              <a:tblGrid>
                <a:gridCol w="674075">
                  <a:extLst>
                    <a:ext uri="{9D8B030D-6E8A-4147-A177-3AD203B41FA5}">
                      <a16:colId xmlns:a16="http://schemas.microsoft.com/office/drawing/2014/main" val="3037177258"/>
                    </a:ext>
                  </a:extLst>
                </a:gridCol>
                <a:gridCol w="674075">
                  <a:extLst>
                    <a:ext uri="{9D8B030D-6E8A-4147-A177-3AD203B41FA5}">
                      <a16:colId xmlns:a16="http://schemas.microsoft.com/office/drawing/2014/main" val="2476266144"/>
                    </a:ext>
                  </a:extLst>
                </a:gridCol>
                <a:gridCol w="674075">
                  <a:extLst>
                    <a:ext uri="{9D8B030D-6E8A-4147-A177-3AD203B41FA5}">
                      <a16:colId xmlns:a16="http://schemas.microsoft.com/office/drawing/2014/main" val="4086468150"/>
                    </a:ext>
                  </a:extLst>
                </a:gridCol>
                <a:gridCol w="674075">
                  <a:extLst>
                    <a:ext uri="{9D8B030D-6E8A-4147-A177-3AD203B41FA5}">
                      <a16:colId xmlns:a16="http://schemas.microsoft.com/office/drawing/2014/main" val="3439700802"/>
                    </a:ext>
                  </a:extLst>
                </a:gridCol>
                <a:gridCol w="674075">
                  <a:extLst>
                    <a:ext uri="{9D8B030D-6E8A-4147-A177-3AD203B41FA5}">
                      <a16:colId xmlns:a16="http://schemas.microsoft.com/office/drawing/2014/main" val="3995316740"/>
                    </a:ext>
                  </a:extLst>
                </a:gridCol>
                <a:gridCol w="674075">
                  <a:extLst>
                    <a:ext uri="{9D8B030D-6E8A-4147-A177-3AD203B41FA5}">
                      <a16:colId xmlns:a16="http://schemas.microsoft.com/office/drawing/2014/main" val="4154482727"/>
                    </a:ext>
                  </a:extLst>
                </a:gridCol>
                <a:gridCol w="674075">
                  <a:extLst>
                    <a:ext uri="{9D8B030D-6E8A-4147-A177-3AD203B41FA5}">
                      <a16:colId xmlns:a16="http://schemas.microsoft.com/office/drawing/2014/main" val="4063473904"/>
                    </a:ext>
                  </a:extLst>
                </a:gridCol>
                <a:gridCol w="674075">
                  <a:extLst>
                    <a:ext uri="{9D8B030D-6E8A-4147-A177-3AD203B41FA5}">
                      <a16:colId xmlns:a16="http://schemas.microsoft.com/office/drawing/2014/main" val="1461263076"/>
                    </a:ext>
                  </a:extLst>
                </a:gridCol>
              </a:tblGrid>
              <a:tr h="242068">
                <a:tc rowSpan="2">
                  <a:txBody>
                    <a:bodyPr/>
                    <a:lstStyle/>
                    <a:p>
                      <a:pPr algn="ctr"/>
                      <a:r>
                        <a:rPr lang="en-CA" sz="1000" dirty="0"/>
                        <a:t>Matches picked up</a:t>
                      </a:r>
                    </a:p>
                  </a:txBody>
                  <a:tcPr marL="68580" marR="68580" marT="34290" marB="34290"/>
                </a:tc>
                <a:tc gridSpan="7">
                  <a:txBody>
                    <a:bodyPr/>
                    <a:lstStyle/>
                    <a:p>
                      <a:pPr algn="ctr"/>
                      <a:r>
                        <a:rPr lang="en-CA" sz="1000" dirty="0"/>
                        <a:t>State (=number of matches left )</a:t>
                      </a:r>
                    </a:p>
                  </a:txBody>
                  <a:tcPr marL="68580" marR="68580" marT="34290" marB="34290"/>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extLst>
                  <a:ext uri="{0D108BD9-81ED-4DB2-BD59-A6C34878D82A}">
                    <a16:rowId xmlns:a16="http://schemas.microsoft.com/office/drawing/2014/main" val="3460039505"/>
                  </a:ext>
                </a:extLst>
              </a:tr>
              <a:tr h="289427">
                <a:tc vMerge="1">
                  <a:txBody>
                    <a:bodyPr/>
                    <a:lstStyle/>
                    <a:p>
                      <a:pPr algn="ctr"/>
                      <a:endParaRPr lang="en-CA" dirty="0"/>
                    </a:p>
                  </a:txBody>
                  <a:tcPr/>
                </a:tc>
                <a:tc>
                  <a:txBody>
                    <a:bodyPr/>
                    <a:lstStyle/>
                    <a:p>
                      <a:pPr algn="ctr"/>
                      <a:r>
                        <a:rPr lang="en-CA" sz="1000" dirty="0"/>
                        <a:t>2</a:t>
                      </a:r>
                    </a:p>
                  </a:txBody>
                  <a:tcPr marL="68580" marR="68580" marT="34290" marB="34290"/>
                </a:tc>
                <a:tc>
                  <a:txBody>
                    <a:bodyPr/>
                    <a:lstStyle/>
                    <a:p>
                      <a:pPr algn="ctr"/>
                      <a:r>
                        <a:rPr lang="en-CA" sz="1000" dirty="0"/>
                        <a:t>3</a:t>
                      </a:r>
                    </a:p>
                  </a:txBody>
                  <a:tcPr marL="68580" marR="68580" marT="34290" marB="34290"/>
                </a:tc>
                <a:tc>
                  <a:txBody>
                    <a:bodyPr/>
                    <a:lstStyle/>
                    <a:p>
                      <a:pPr algn="ctr"/>
                      <a:r>
                        <a:rPr lang="en-CA" sz="1000" dirty="0"/>
                        <a:t>4</a:t>
                      </a:r>
                    </a:p>
                  </a:txBody>
                  <a:tcPr marL="68580" marR="68580" marT="34290" marB="34290"/>
                </a:tc>
                <a:tc>
                  <a:txBody>
                    <a:bodyPr/>
                    <a:lstStyle/>
                    <a:p>
                      <a:pPr algn="ctr"/>
                      <a:r>
                        <a:rPr lang="en-CA" sz="1000" dirty="0"/>
                        <a:t>5</a:t>
                      </a:r>
                    </a:p>
                  </a:txBody>
                  <a:tcPr marL="68580" marR="68580" marT="34290" marB="34290"/>
                </a:tc>
                <a:tc>
                  <a:txBody>
                    <a:bodyPr/>
                    <a:lstStyle/>
                    <a:p>
                      <a:pPr algn="ctr"/>
                      <a:r>
                        <a:rPr lang="en-CA" sz="1000" dirty="0"/>
                        <a:t>6</a:t>
                      </a:r>
                    </a:p>
                  </a:txBody>
                  <a:tcPr marL="68580" marR="68580" marT="34290" marB="34290"/>
                </a:tc>
                <a:tc>
                  <a:txBody>
                    <a:bodyPr/>
                    <a:lstStyle/>
                    <a:p>
                      <a:pPr algn="ctr"/>
                      <a:r>
                        <a:rPr lang="en-CA" sz="1000" dirty="0"/>
                        <a:t>7</a:t>
                      </a:r>
                    </a:p>
                  </a:txBody>
                  <a:tcPr marL="68580" marR="68580" marT="34290" marB="34290"/>
                </a:tc>
                <a:tc>
                  <a:txBody>
                    <a:bodyPr/>
                    <a:lstStyle/>
                    <a:p>
                      <a:pPr algn="ctr"/>
                      <a:r>
                        <a:rPr lang="en-CA" sz="1000" dirty="0"/>
                        <a:t>8</a:t>
                      </a:r>
                    </a:p>
                  </a:txBody>
                  <a:tcPr marL="68580" marR="68580" marT="34290" marB="34290"/>
                </a:tc>
                <a:extLst>
                  <a:ext uri="{0D108BD9-81ED-4DB2-BD59-A6C34878D82A}">
                    <a16:rowId xmlns:a16="http://schemas.microsoft.com/office/drawing/2014/main" val="1207912334"/>
                  </a:ext>
                </a:extLst>
              </a:tr>
              <a:tr h="242613">
                <a:tc>
                  <a:txBody>
                    <a:bodyPr/>
                    <a:lstStyle/>
                    <a:p>
                      <a:pPr algn="ctr"/>
                      <a:r>
                        <a:rPr lang="en-CA" sz="1000" dirty="0"/>
                        <a:t>1</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0.05</a:t>
                      </a:r>
                    </a:p>
                  </a:txBody>
                  <a:tcPr marL="68580" marR="68580" marT="34290" marB="34290"/>
                </a:tc>
                <a:tc>
                  <a:txBody>
                    <a:bodyPr/>
                    <a:lstStyle/>
                    <a:p>
                      <a:pPr algn="ctr"/>
                      <a:r>
                        <a:rPr lang="en-CA" sz="1000" dirty="0"/>
                        <a:t>-0.05</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-0.0025</a:t>
                      </a:r>
                    </a:p>
                  </a:txBody>
                  <a:tcPr marL="68580" marR="68580" marT="34290" marB="34290"/>
                </a:tc>
                <a:extLst>
                  <a:ext uri="{0D108BD9-81ED-4DB2-BD59-A6C34878D82A}">
                    <a16:rowId xmlns:a16="http://schemas.microsoft.com/office/drawing/2014/main" val="3827211519"/>
                  </a:ext>
                </a:extLst>
              </a:tr>
              <a:tr h="242613">
                <a:tc>
                  <a:txBody>
                    <a:bodyPr/>
                    <a:lstStyle/>
                    <a:p>
                      <a:pPr algn="ctr"/>
                      <a:r>
                        <a:rPr lang="en-CA" sz="1000" dirty="0"/>
                        <a:t>2</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extLst>
                  <a:ext uri="{0D108BD9-81ED-4DB2-BD59-A6C34878D82A}">
                    <a16:rowId xmlns:a16="http://schemas.microsoft.com/office/drawing/2014/main" val="1410191458"/>
                  </a:ext>
                </a:extLst>
              </a:tr>
              <a:tr h="242613">
                <a:tc>
                  <a:txBody>
                    <a:bodyPr/>
                    <a:lstStyle/>
                    <a:p>
                      <a:pPr algn="ctr"/>
                      <a:r>
                        <a:rPr lang="en-CA" sz="1000" dirty="0"/>
                        <a:t>3</a:t>
                      </a:r>
                    </a:p>
                  </a:txBody>
                  <a:tcPr marL="68580" marR="68580" marT="34290" marB="34290"/>
                </a:tc>
                <a:tc>
                  <a:txBody>
                    <a:bodyPr/>
                    <a:lstStyle/>
                    <a:p>
                      <a:pPr algn="ctr"/>
                      <a:endParaRPr lang="en-CA" sz="1000" dirty="0"/>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tc>
                  <a:txBody>
                    <a:bodyPr/>
                    <a:lstStyle/>
                    <a:p>
                      <a:pPr algn="ctr"/>
                      <a:r>
                        <a:rPr lang="en-CA" sz="1000" dirty="0"/>
                        <a:t>0</a:t>
                      </a:r>
                    </a:p>
                  </a:txBody>
                  <a:tcPr marL="68580" marR="68580" marT="34290" marB="34290"/>
                </a:tc>
                <a:extLst>
                  <a:ext uri="{0D108BD9-81ED-4DB2-BD59-A6C34878D82A}">
                    <a16:rowId xmlns:a16="http://schemas.microsoft.com/office/drawing/2014/main" val="3989086793"/>
                  </a:ext>
                </a:extLst>
              </a:tr>
            </a:tbl>
          </a:graphicData>
        </a:graphic>
      </p:graphicFrame>
      <p:sp>
        <p:nvSpPr>
          <p:cNvPr id="6" name="TextBox 5"/>
          <p:cNvSpPr txBox="1"/>
          <p:nvPr/>
        </p:nvSpPr>
        <p:spPr>
          <a:xfrm>
            <a:off x="246064" y="3212976"/>
            <a:ext cx="1623197" cy="507831"/>
          </a:xfrm>
          <a:prstGeom prst="rect">
            <a:avLst/>
          </a:prstGeom>
          <a:noFill/>
        </p:spPr>
        <p:txBody>
          <a:bodyPr wrap="square" rtlCol="0">
            <a:spAutoFit/>
          </a:bodyPr>
          <a:lstStyle/>
          <a:p>
            <a:r>
              <a:rPr lang="en-CA" sz="1350" dirty="0"/>
              <a:t>  Second trial</a:t>
            </a:r>
          </a:p>
          <a:p>
            <a:r>
              <a:rPr lang="en-CA" sz="1350" dirty="0"/>
              <a:t>1,[2],1,[3],1 (lose)</a:t>
            </a:r>
          </a:p>
        </p:txBody>
      </p:sp>
      <p:sp>
        <p:nvSpPr>
          <p:cNvPr id="3" name="Slide Number Placeholder 2"/>
          <p:cNvSpPr>
            <a:spLocks noGrp="1"/>
          </p:cNvSpPr>
          <p:nvPr>
            <p:ph type="sldNum" sz="quarter" idx="12"/>
          </p:nvPr>
        </p:nvSpPr>
        <p:spPr/>
        <p:txBody>
          <a:bodyPr/>
          <a:lstStyle/>
          <a:p>
            <a:fld id="{B095A5CE-67BC-412D-BFFD-14F19C21C82C}" type="slidenum">
              <a:rPr lang="en-CA" smtClean="0"/>
              <a:t>19</a:t>
            </a:fld>
            <a:endParaRPr lang="en-CA"/>
          </a:p>
        </p:txBody>
      </p:sp>
      <p:sp>
        <p:nvSpPr>
          <p:cNvPr id="8" name="Footer Placeholder 7"/>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292918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64" y="945816"/>
            <a:ext cx="8820472" cy="857250"/>
          </a:xfrm>
        </p:spPr>
        <p:txBody>
          <a:bodyPr/>
          <a:lstStyle/>
          <a:p>
            <a:r>
              <a:rPr lang="en-CA" sz="3000" dirty="0"/>
              <a:t>Example of convergence, (Tables 8.9 to 8.11). </a:t>
            </a:r>
            <a:r>
              <a:rPr lang="en-CA" sz="3000" dirty="0">
                <a:latin typeface="Symbol" panose="05050102010706020507" pitchFamily="18" charset="2"/>
              </a:rPr>
              <a:t>e</a:t>
            </a:r>
            <a:r>
              <a:rPr lang="en-CA" sz="3000" dirty="0"/>
              <a:t> starts at 1 and has a decay factor of 0.9995</a:t>
            </a:r>
          </a:p>
        </p:txBody>
      </p:sp>
      <p:sp>
        <p:nvSpPr>
          <p:cNvPr id="5" name="Content Placeholder 4"/>
          <p:cNvSpPr>
            <a:spLocks noGrp="1"/>
          </p:cNvSpPr>
          <p:nvPr>
            <p:ph idx="1"/>
          </p:nvPr>
        </p:nvSpPr>
        <p:spPr>
          <a:xfrm>
            <a:off x="754743" y="2133600"/>
            <a:ext cx="7772400" cy="4114800"/>
          </a:xfrm>
        </p:spPr>
        <p:txBody>
          <a:bodyPr/>
          <a:lstStyle/>
          <a:p>
            <a:pPr marL="0" indent="0">
              <a:buNone/>
            </a:pPr>
            <a:r>
              <a:rPr lang="en-CA" dirty="0"/>
              <a:t> </a:t>
            </a:r>
          </a:p>
        </p:txBody>
      </p:sp>
      <p:sp>
        <p:nvSpPr>
          <p:cNvPr id="10" name="TextBox 9"/>
          <p:cNvSpPr txBox="1"/>
          <p:nvPr/>
        </p:nvSpPr>
        <p:spPr>
          <a:xfrm>
            <a:off x="927357" y="2437997"/>
            <a:ext cx="1353393" cy="507831"/>
          </a:xfrm>
          <a:prstGeom prst="rect">
            <a:avLst/>
          </a:prstGeom>
          <a:noFill/>
        </p:spPr>
        <p:txBody>
          <a:bodyPr wrap="square" rtlCol="0">
            <a:spAutoFit/>
          </a:bodyPr>
          <a:lstStyle/>
          <a:p>
            <a:r>
              <a:rPr lang="en-CA" sz="1350" dirty="0"/>
              <a:t>After 1,000 trials</a:t>
            </a:r>
          </a:p>
        </p:txBody>
      </p:sp>
      <p:sp>
        <p:nvSpPr>
          <p:cNvPr id="11" name="TextBox 10"/>
          <p:cNvSpPr txBox="1"/>
          <p:nvPr/>
        </p:nvSpPr>
        <p:spPr>
          <a:xfrm>
            <a:off x="920283" y="3722554"/>
            <a:ext cx="1353393" cy="507831"/>
          </a:xfrm>
          <a:prstGeom prst="rect">
            <a:avLst/>
          </a:prstGeom>
          <a:noFill/>
        </p:spPr>
        <p:txBody>
          <a:bodyPr wrap="square" rtlCol="0">
            <a:spAutoFit/>
          </a:bodyPr>
          <a:lstStyle/>
          <a:p>
            <a:r>
              <a:rPr lang="en-CA" sz="1350" dirty="0"/>
              <a:t>After 5,000 trials</a:t>
            </a:r>
          </a:p>
        </p:txBody>
      </p:sp>
      <p:sp>
        <p:nvSpPr>
          <p:cNvPr id="12" name="TextBox 11"/>
          <p:cNvSpPr txBox="1"/>
          <p:nvPr/>
        </p:nvSpPr>
        <p:spPr>
          <a:xfrm>
            <a:off x="927357" y="5007111"/>
            <a:ext cx="1353393" cy="507831"/>
          </a:xfrm>
          <a:prstGeom prst="rect">
            <a:avLst/>
          </a:prstGeom>
          <a:noFill/>
        </p:spPr>
        <p:txBody>
          <a:bodyPr wrap="square" rtlCol="0">
            <a:spAutoFit/>
          </a:bodyPr>
          <a:lstStyle/>
          <a:p>
            <a:r>
              <a:rPr lang="en-CA" sz="1350" dirty="0"/>
              <a:t>After 10,000 trials</a:t>
            </a:r>
          </a:p>
        </p:txBody>
      </p:sp>
      <p:sp>
        <p:nvSpPr>
          <p:cNvPr id="3" name="Slide Number Placeholder 2"/>
          <p:cNvSpPr>
            <a:spLocks noGrp="1"/>
          </p:cNvSpPr>
          <p:nvPr>
            <p:ph type="sldNum" sz="quarter" idx="12"/>
          </p:nvPr>
        </p:nvSpPr>
        <p:spPr/>
        <p:txBody>
          <a:bodyPr/>
          <a:lstStyle/>
          <a:p>
            <a:fld id="{B095A5CE-67BC-412D-BFFD-14F19C21C82C}" type="slidenum">
              <a:rPr lang="en-CA" smtClean="0"/>
              <a:t>20</a:t>
            </a:fld>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pic>
        <p:nvPicPr>
          <p:cNvPr id="13" name="Picture 12"/>
          <p:cNvPicPr>
            <a:picLocks noChangeAspect="1"/>
          </p:cNvPicPr>
          <p:nvPr/>
        </p:nvPicPr>
        <p:blipFill>
          <a:blip r:embed="rId2"/>
          <a:stretch>
            <a:fillRect/>
          </a:stretch>
        </p:blipFill>
        <p:spPr>
          <a:xfrm>
            <a:off x="2418434" y="2204826"/>
            <a:ext cx="5613826" cy="3713040"/>
          </a:xfrm>
          <a:prstGeom prst="rect">
            <a:avLst/>
          </a:prstGeom>
        </p:spPr>
      </p:pic>
    </p:spTree>
    <p:extLst>
      <p:ext uri="{BB962C8B-B14F-4D97-AF65-F5344CB8AC3E}">
        <p14:creationId xmlns:p14="http://schemas.microsoft.com/office/powerpoint/2010/main" val="822019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Programming</a:t>
            </a:r>
            <a:endParaRPr lang="en-CA" dirty="0"/>
          </a:p>
        </p:txBody>
      </p:sp>
      <p:sp>
        <p:nvSpPr>
          <p:cNvPr id="3" name="Content Placeholder 2"/>
          <p:cNvSpPr>
            <a:spLocks noGrp="1"/>
          </p:cNvSpPr>
          <p:nvPr>
            <p:ph idx="1"/>
          </p:nvPr>
        </p:nvSpPr>
        <p:spPr>
          <a:xfrm>
            <a:off x="683568" y="1700808"/>
            <a:ext cx="7772400" cy="4114800"/>
          </a:xfrm>
        </p:spPr>
        <p:txBody>
          <a:bodyPr/>
          <a:lstStyle/>
          <a:p>
            <a:pPr marL="0" indent="0">
              <a:buNone/>
            </a:pPr>
            <a:endParaRPr lang="en-US" sz="2400" dirty="0"/>
          </a:p>
          <a:p>
            <a:r>
              <a:rPr lang="en-US" sz="2400" dirty="0"/>
              <a:t>Simple sequential decision problems can be solved by dynamic programming where we work back from the end to the beginning calculating the optimal action in each state. The recursion formula for the value </a:t>
            </a:r>
            <a:r>
              <a:rPr lang="en-US" sz="2400" i="1" dirty="0">
                <a:latin typeface="+mj-lt"/>
              </a:rPr>
              <a:t>V</a:t>
            </a:r>
            <a:r>
              <a:rPr lang="en-US" sz="2400" dirty="0"/>
              <a:t>(</a:t>
            </a:r>
            <a:r>
              <a:rPr lang="en-US" sz="2400" i="1" dirty="0">
                <a:latin typeface="+mj-lt"/>
              </a:rPr>
              <a:t>S</a:t>
            </a:r>
            <a:r>
              <a:rPr lang="en-US" sz="2400" dirty="0"/>
              <a:t>) of being in state </a:t>
            </a:r>
            <a:r>
              <a:rPr lang="en-US" sz="2400" i="1" dirty="0">
                <a:latin typeface="+mj-lt"/>
              </a:rPr>
              <a:t>S</a:t>
            </a:r>
            <a:r>
              <a:rPr lang="en-US" sz="2400" dirty="0"/>
              <a:t> is  </a:t>
            </a:r>
          </a:p>
          <a:p>
            <a:pPr marL="0" indent="0">
              <a:buNone/>
            </a:pPr>
            <a:endParaRPr lang="en-US" sz="2400" dirty="0"/>
          </a:p>
          <a:p>
            <a:pPr marL="0" indent="0">
              <a:buNone/>
            </a:pPr>
            <a:r>
              <a:rPr lang="en-US" sz="2400" dirty="0"/>
              <a:t>     </a:t>
            </a:r>
          </a:p>
          <a:p>
            <a:r>
              <a:rPr lang="en-US" sz="2400" dirty="0"/>
              <a:t>An alternative to Monte Carlo simulation is temporal difference learning which uses the ideas underlying dynamic programming</a:t>
            </a:r>
            <a:endParaRPr lang="en-CA" sz="2400"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21</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1833206708"/>
              </p:ext>
            </p:extLst>
          </p:nvPr>
        </p:nvGraphicFramePr>
        <p:xfrm>
          <a:off x="2771800" y="4077072"/>
          <a:ext cx="3532291" cy="592832"/>
        </p:xfrm>
        <a:graphic>
          <a:graphicData uri="http://schemas.openxmlformats.org/presentationml/2006/ole">
            <mc:AlternateContent xmlns:mc="http://schemas.openxmlformats.org/markup-compatibility/2006">
              <mc:Choice xmlns:v="urn:schemas-microsoft-com:vml" Requires="v">
                <p:oleObj name="Equation" r:id="rId2" imgW="1815840" imgH="304560" progId="Equation.DSMT4">
                  <p:embed/>
                </p:oleObj>
              </mc:Choice>
              <mc:Fallback>
                <p:oleObj name="Equation" r:id="rId2" imgW="1815840" imgH="304560" progId="Equation.DSMT4">
                  <p:embed/>
                  <p:pic>
                    <p:nvPicPr>
                      <p:cNvPr id="6" name="Object 5"/>
                      <p:cNvPicPr/>
                      <p:nvPr/>
                    </p:nvPicPr>
                    <p:blipFill>
                      <a:blip r:embed="rId3"/>
                      <a:stretch>
                        <a:fillRect/>
                      </a:stretch>
                    </p:blipFill>
                    <p:spPr>
                      <a:xfrm>
                        <a:off x="2771800" y="4077072"/>
                        <a:ext cx="3532291" cy="592832"/>
                      </a:xfrm>
                      <a:prstGeom prst="rect">
                        <a:avLst/>
                      </a:prstGeom>
                    </p:spPr>
                  </p:pic>
                </p:oleObj>
              </mc:Fallback>
            </mc:AlternateContent>
          </a:graphicData>
        </a:graphic>
      </p:graphicFrame>
    </p:spTree>
    <p:extLst>
      <p:ext uri="{BB962C8B-B14F-4D97-AF65-F5344CB8AC3E}">
        <p14:creationId xmlns:p14="http://schemas.microsoft.com/office/powerpoint/2010/main" val="759510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Temporal difference learning</a:t>
            </a:r>
          </a:p>
        </p:txBody>
      </p:sp>
      <p:sp>
        <p:nvSpPr>
          <p:cNvPr id="3" name="Content Placeholder 2"/>
          <p:cNvSpPr>
            <a:spLocks noGrp="1"/>
          </p:cNvSpPr>
          <p:nvPr>
            <p:ph idx="1"/>
          </p:nvPr>
        </p:nvSpPr>
        <p:spPr>
          <a:xfrm>
            <a:off x="685800" y="2228850"/>
            <a:ext cx="7772400" cy="3086100"/>
          </a:xfrm>
        </p:spPr>
        <p:txBody>
          <a:bodyPr/>
          <a:lstStyle/>
          <a:p>
            <a:pPr marL="0" indent="0">
              <a:buNone/>
            </a:pPr>
            <a:r>
              <a:rPr lang="en-CA" dirty="0"/>
              <a:t>Instead of using </a:t>
            </a:r>
            <a:r>
              <a:rPr lang="en-CA" i="1" dirty="0">
                <a:latin typeface="+mj-lt"/>
              </a:rPr>
              <a:t>G</a:t>
            </a:r>
            <a:r>
              <a:rPr lang="en-CA" dirty="0"/>
              <a:t> (the total, possibly discounted, future rewards) to update, we can use the current value at the next step. The updating formula becomes</a:t>
            </a:r>
          </a:p>
          <a:p>
            <a:endParaRPr lang="en-CA" dirty="0"/>
          </a:p>
          <a:p>
            <a:pPr marL="0" indent="0">
              <a:buNone/>
            </a:pPr>
            <a:endParaRPr lang="en-CA" dirty="0"/>
          </a:p>
          <a:p>
            <a:pPr marL="202406" indent="0">
              <a:buNone/>
            </a:pPr>
            <a:r>
              <a:rPr lang="en-CA" dirty="0"/>
              <a:t>where </a:t>
            </a:r>
            <a:r>
              <a:rPr lang="en-CA" i="1" dirty="0">
                <a:latin typeface="+mj-lt"/>
              </a:rPr>
              <a:t>V</a:t>
            </a:r>
            <a:r>
              <a:rPr lang="en-CA" baseline="-25000" dirty="0"/>
              <a:t> </a:t>
            </a:r>
            <a:r>
              <a:rPr lang="en-CA" dirty="0"/>
              <a:t> is the current estimate of the value of being in the state reached at the end the next step. If </a:t>
            </a:r>
            <a:r>
              <a:rPr lang="en-CA" i="1" dirty="0">
                <a:latin typeface="+mj-lt"/>
              </a:rPr>
              <a:t>S*  </a:t>
            </a:r>
            <a:r>
              <a:rPr lang="en-CA" dirty="0"/>
              <a:t>is this state, </a:t>
            </a:r>
            <a:r>
              <a:rPr lang="en-CA" i="1" dirty="0">
                <a:latin typeface="+mj-lt"/>
              </a:rPr>
              <a:t>V</a:t>
            </a:r>
            <a:r>
              <a:rPr lang="en-CA" dirty="0"/>
              <a:t> is the current maximum value of  </a:t>
            </a:r>
            <a:r>
              <a:rPr lang="en-CA" i="1" dirty="0">
                <a:latin typeface="+mj-lt"/>
              </a:rPr>
              <a:t>Q</a:t>
            </a:r>
            <a:r>
              <a:rPr lang="en-CA" dirty="0"/>
              <a:t>(</a:t>
            </a:r>
            <a:r>
              <a:rPr lang="en-CA" i="1" dirty="0">
                <a:latin typeface="+mj-lt"/>
              </a:rPr>
              <a:t>S</a:t>
            </a:r>
            <a:r>
              <a:rPr lang="en-CA" dirty="0"/>
              <a:t>*,</a:t>
            </a:r>
            <a:r>
              <a:rPr lang="en-CA" i="1" dirty="0">
                <a:latin typeface="+mj-lt"/>
              </a:rPr>
              <a:t>A</a:t>
            </a:r>
            <a:r>
              <a:rPr lang="en-CA" dirty="0"/>
              <a:t>) across all actions </a:t>
            </a:r>
            <a:r>
              <a:rPr lang="en-CA" i="1" dirty="0">
                <a:latin typeface="+mj-lt"/>
              </a:rPr>
              <a:t>A</a:t>
            </a:r>
            <a:r>
              <a:rPr lang="en-CA" dirty="0"/>
              <a:t> that can be taken in the state.</a:t>
            </a:r>
          </a:p>
          <a:p>
            <a:pPr marL="202406" indent="0">
              <a:buNone/>
            </a:pPr>
            <a:r>
              <a:rPr lang="en-CA" dirty="0"/>
              <a:t>This is referred to a </a:t>
            </a:r>
            <a:r>
              <a:rPr lang="en-CA" i="1" dirty="0">
                <a:latin typeface="+mj-lt"/>
              </a:rPr>
              <a:t>Q</a:t>
            </a:r>
            <a:r>
              <a:rPr lang="en-CA" dirty="0"/>
              <a:t>-learning</a:t>
            </a:r>
          </a:p>
          <a:p>
            <a:pPr marL="0" indent="0">
              <a:buNone/>
            </a:pPr>
            <a:endParaRPr lang="en-CA" dirty="0"/>
          </a:p>
          <a:p>
            <a:pPr marL="197644" indent="-197644">
              <a:buNone/>
            </a:pPr>
            <a:r>
              <a:rPr lang="en-CA" dirty="0"/>
              <a:t>   </a:t>
            </a:r>
          </a:p>
          <a:p>
            <a:pPr marL="0" indent="0">
              <a:buNone/>
            </a:pPr>
            <a:endParaRPr lang="en-CA" dirty="0"/>
          </a:p>
        </p:txBody>
      </p:sp>
      <p:graphicFrame>
        <p:nvGraphicFramePr>
          <p:cNvPr id="7" name="Object 6"/>
          <p:cNvGraphicFramePr>
            <a:graphicFrameLocks noChangeAspect="1"/>
          </p:cNvGraphicFramePr>
          <p:nvPr>
            <p:extLst>
              <p:ext uri="{D42A27DB-BD31-4B8C-83A1-F6EECF244321}">
                <p14:modId xmlns:p14="http://schemas.microsoft.com/office/powerpoint/2010/main" val="3233992788"/>
              </p:ext>
            </p:extLst>
          </p:nvPr>
        </p:nvGraphicFramePr>
        <p:xfrm>
          <a:off x="1974850" y="3359150"/>
          <a:ext cx="4279900" cy="412750"/>
        </p:xfrm>
        <a:graphic>
          <a:graphicData uri="http://schemas.openxmlformats.org/presentationml/2006/ole">
            <mc:AlternateContent xmlns:mc="http://schemas.openxmlformats.org/markup-compatibility/2006">
              <mc:Choice xmlns:v="urn:schemas-microsoft-com:vml" Requires="v">
                <p:oleObj name="Equation" r:id="rId2" imgW="2908080" imgH="279360" progId="Equation.DSMT4">
                  <p:embed/>
                </p:oleObj>
              </mc:Choice>
              <mc:Fallback>
                <p:oleObj name="Equation" r:id="rId2" imgW="2908080" imgH="279360" progId="Equation.DSMT4">
                  <p:embed/>
                  <p:pic>
                    <p:nvPicPr>
                      <p:cNvPr id="7" name="Object 6"/>
                      <p:cNvPicPr/>
                      <p:nvPr/>
                    </p:nvPicPr>
                    <p:blipFill>
                      <a:blip r:embed="rId3"/>
                      <a:stretch>
                        <a:fillRect/>
                      </a:stretch>
                    </p:blipFill>
                    <p:spPr>
                      <a:xfrm>
                        <a:off x="1974850" y="3359150"/>
                        <a:ext cx="4279900" cy="412750"/>
                      </a:xfrm>
                      <a:prstGeom prst="rect">
                        <a:avLst/>
                      </a:prstGeom>
                    </p:spPr>
                  </p:pic>
                </p:oleObj>
              </mc:Fallback>
            </mc:AlternateContent>
          </a:graphicData>
        </a:graphic>
      </p:graphicFrame>
      <p:sp>
        <p:nvSpPr>
          <p:cNvPr id="11" name="Slide Number Placeholder 10"/>
          <p:cNvSpPr>
            <a:spLocks noGrp="1"/>
          </p:cNvSpPr>
          <p:nvPr>
            <p:ph type="sldNum" sz="quarter" idx="12"/>
          </p:nvPr>
        </p:nvSpPr>
        <p:spPr/>
        <p:txBody>
          <a:bodyPr/>
          <a:lstStyle/>
          <a:p>
            <a:fld id="{B095A5CE-67BC-412D-BFFD-14F19C21C82C}" type="slidenum">
              <a:rPr lang="en-CA" smtClean="0"/>
              <a:t>22</a:t>
            </a:fld>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1371256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3" y="930275"/>
            <a:ext cx="7772400" cy="698525"/>
          </a:xfrm>
        </p:spPr>
        <p:txBody>
          <a:bodyPr/>
          <a:lstStyle/>
          <a:p>
            <a:r>
              <a:rPr lang="en-CA" dirty="0"/>
              <a:t>Example (page 158-159)</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71600" y="1724830"/>
                <a:ext cx="7920880" cy="4114800"/>
              </a:xfrm>
            </p:spPr>
            <p:txBody>
              <a:bodyPr/>
              <a:lstStyle/>
              <a:p>
                <a:r>
                  <a:rPr lang="en-CA" dirty="0"/>
                  <a:t>Suppose that the current Q values are</a:t>
                </a:r>
              </a:p>
              <a:p>
                <a:endParaRPr lang="en-CA" dirty="0"/>
              </a:p>
              <a:p>
                <a:endParaRPr lang="en-CA" dirty="0"/>
              </a:p>
              <a:p>
                <a:pPr marL="0" indent="0">
                  <a:buNone/>
                </a:pPr>
                <a:endParaRPr lang="en-CA" dirty="0"/>
              </a:p>
              <a:p>
                <a:endParaRPr lang="en-CA" dirty="0"/>
              </a:p>
              <a:p>
                <a:r>
                  <a:rPr lang="en-CA" dirty="0"/>
                  <a:t>The next trial is 1,[1],1,[3],1,[1] (explore, exploit, exploit)</a:t>
                </a:r>
              </a:p>
              <a:p>
                <a:pPr marL="0" indent="0">
                  <a:buNone/>
                </a:pPr>
                <a:endParaRPr lang="en-CA" dirty="0"/>
              </a:p>
              <a:p>
                <a:pPr marL="0" indent="0">
                  <a:buNone/>
                </a:pPr>
                <a14:m>
                  <m:oMathPara xmlns:m="http://schemas.openxmlformats.org/officeDocument/2006/math">
                    <m:oMathParaPr>
                      <m:jc m:val="centerGroup"/>
                    </m:oMathParaPr>
                    <m:oMath xmlns:m="http://schemas.openxmlformats.org/officeDocument/2006/math">
                      <m:sSup>
                        <m:sSupPr>
                          <m:ctrlPr>
                            <a:rPr lang="en-CA" sz="2000" i="1" smtClean="0">
                              <a:latin typeface="Cambria Math" panose="02040503050406030204" pitchFamily="18" charset="0"/>
                            </a:rPr>
                          </m:ctrlPr>
                        </m:sSupPr>
                        <m:e>
                          <m:r>
                            <a:rPr lang="en-CA" sz="2000" i="1">
                              <a:latin typeface="Cambria Math" panose="02040503050406030204" pitchFamily="18" charset="0"/>
                            </a:rPr>
                            <m:t>𝑄</m:t>
                          </m:r>
                        </m:e>
                        <m:sup>
                          <m:r>
                            <a:rPr lang="en-CA" sz="2000" i="1">
                              <a:latin typeface="Cambria Math" panose="02040503050406030204" pitchFamily="18" charset="0"/>
                            </a:rPr>
                            <m:t>𝑛𝑒𝑤</m:t>
                          </m:r>
                        </m:sup>
                      </m:sSup>
                      <m:d>
                        <m:dPr>
                          <m:ctrlPr>
                            <a:rPr lang="en-CA" sz="2000" i="1">
                              <a:latin typeface="Cambria Math" panose="02040503050406030204" pitchFamily="18" charset="0"/>
                            </a:rPr>
                          </m:ctrlPr>
                        </m:dPr>
                        <m:e>
                          <m:r>
                            <a:rPr lang="en-CA" sz="2000" i="1">
                              <a:latin typeface="Cambria Math" panose="02040503050406030204" pitchFamily="18" charset="0"/>
                            </a:rPr>
                            <m:t>8,1</m:t>
                          </m:r>
                        </m:e>
                      </m:d>
                      <m:r>
                        <a:rPr lang="en-CA" sz="2000" i="1">
                          <a:latin typeface="Cambria Math" panose="02040503050406030204" pitchFamily="18" charset="0"/>
                        </a:rPr>
                        <m:t>=</m:t>
                      </m:r>
                      <m:sSup>
                        <m:sSupPr>
                          <m:ctrlPr>
                            <a:rPr lang="en-CA" sz="2000" i="1">
                              <a:latin typeface="Cambria Math" panose="02040503050406030204" pitchFamily="18" charset="0"/>
                            </a:rPr>
                          </m:ctrlPr>
                        </m:sSupPr>
                        <m:e>
                          <m:r>
                            <a:rPr lang="en-CA" sz="2000" i="1">
                              <a:latin typeface="Cambria Math" panose="02040503050406030204" pitchFamily="18" charset="0"/>
                            </a:rPr>
                            <m:t>𝑄</m:t>
                          </m:r>
                        </m:e>
                        <m:sup>
                          <m:r>
                            <a:rPr lang="en-CA" sz="2000" i="1">
                              <a:latin typeface="Cambria Math" panose="02040503050406030204" pitchFamily="18" charset="0"/>
                            </a:rPr>
                            <m:t>𝑜𝑙𝑑</m:t>
                          </m:r>
                        </m:sup>
                      </m:sSup>
                      <m:d>
                        <m:dPr>
                          <m:ctrlPr>
                            <a:rPr lang="en-CA" sz="2000" i="1">
                              <a:latin typeface="Cambria Math" panose="02040503050406030204" pitchFamily="18" charset="0"/>
                            </a:rPr>
                          </m:ctrlPr>
                        </m:dPr>
                        <m:e>
                          <m:r>
                            <a:rPr lang="en-CA" sz="2000" i="1">
                              <a:latin typeface="Cambria Math" panose="02040503050406030204" pitchFamily="18" charset="0"/>
                            </a:rPr>
                            <m:t>8,1</m:t>
                          </m:r>
                        </m:e>
                      </m:d>
                      <m:r>
                        <a:rPr lang="en-CA" sz="2000" i="1">
                          <a:latin typeface="Cambria Math" panose="02040503050406030204" pitchFamily="18" charset="0"/>
                        </a:rPr>
                        <m:t>+0.05</m:t>
                      </m:r>
                      <m:d>
                        <m:dPr>
                          <m:begChr m:val="["/>
                          <m:endChr m:val="]"/>
                          <m:ctrlPr>
                            <a:rPr lang="en-CA" sz="2000" i="1">
                              <a:latin typeface="Cambria Math" panose="02040503050406030204" pitchFamily="18" charset="0"/>
                            </a:rPr>
                          </m:ctrlPr>
                        </m:dPr>
                        <m:e>
                          <m:r>
                            <a:rPr lang="en-CA" sz="2000" i="1">
                              <a:latin typeface="Cambria Math" panose="02040503050406030204" pitchFamily="18" charset="0"/>
                            </a:rPr>
                            <m:t>𝑉</m:t>
                          </m:r>
                          <m:d>
                            <m:dPr>
                              <m:ctrlPr>
                                <a:rPr lang="en-CA" sz="2000" i="1">
                                  <a:latin typeface="Cambria Math" panose="02040503050406030204" pitchFamily="18" charset="0"/>
                                </a:rPr>
                              </m:ctrlPr>
                            </m:dPr>
                            <m:e>
                              <m:r>
                                <a:rPr lang="en-CA" sz="2000" i="1">
                                  <a:latin typeface="Cambria Math" panose="02040503050406030204" pitchFamily="18" charset="0"/>
                                </a:rPr>
                                <m:t>6</m:t>
                              </m:r>
                            </m:e>
                          </m:d>
                          <m:r>
                            <a:rPr lang="en-CA" sz="2000" i="1">
                              <a:latin typeface="Cambria Math" panose="02040503050406030204" pitchFamily="18" charset="0"/>
                            </a:rPr>
                            <m:t>−</m:t>
                          </m:r>
                          <m:sSup>
                            <m:sSupPr>
                              <m:ctrlPr>
                                <a:rPr lang="en-CA" sz="2000" i="1">
                                  <a:latin typeface="Cambria Math" panose="02040503050406030204" pitchFamily="18" charset="0"/>
                                </a:rPr>
                              </m:ctrlPr>
                            </m:sSupPr>
                            <m:e>
                              <m:r>
                                <a:rPr lang="en-CA" sz="2000" i="1">
                                  <a:latin typeface="Cambria Math" panose="02040503050406030204" pitchFamily="18" charset="0"/>
                                </a:rPr>
                                <m:t>𝑄</m:t>
                              </m:r>
                            </m:e>
                            <m:sup>
                              <m:r>
                                <a:rPr lang="en-CA" sz="2000" i="1">
                                  <a:latin typeface="Cambria Math" panose="02040503050406030204" pitchFamily="18" charset="0"/>
                                </a:rPr>
                                <m:t>𝑜𝑙𝑑</m:t>
                              </m:r>
                            </m:sup>
                          </m:sSup>
                          <m:d>
                            <m:dPr>
                              <m:ctrlPr>
                                <a:rPr lang="en-CA" sz="2000" i="1">
                                  <a:latin typeface="Cambria Math" panose="02040503050406030204" pitchFamily="18" charset="0"/>
                                </a:rPr>
                              </m:ctrlPr>
                            </m:dPr>
                            <m:e>
                              <m:r>
                                <a:rPr lang="en-CA" sz="2000" i="1">
                                  <a:latin typeface="Cambria Math" panose="02040503050406030204" pitchFamily="18" charset="0"/>
                                </a:rPr>
                                <m:t>8,1</m:t>
                              </m:r>
                            </m:e>
                          </m:d>
                        </m:e>
                      </m:d>
                    </m:oMath>
                  </m:oMathPara>
                </a14:m>
                <a:endParaRPr lang="en-CA" sz="2000" dirty="0">
                  <a:latin typeface="+mj-lt"/>
                </a:endParaRPr>
              </a:p>
              <a:p>
                <a:pPr marL="0" indent="0">
                  <a:buNone/>
                </a:pPr>
                <a:r>
                  <a:rPr lang="en-CA" sz="2000" dirty="0">
                    <a:latin typeface="+mj-lt"/>
                  </a:rPr>
                  <a:t>           </a:t>
                </a:r>
                <a14:m>
                  <m:oMath xmlns:m="http://schemas.openxmlformats.org/officeDocument/2006/math">
                    <m:r>
                      <a:rPr lang="en-CA" sz="2000" i="1">
                        <a:latin typeface="Cambria Math" panose="02040503050406030204" pitchFamily="18" charset="0"/>
                      </a:rPr>
                      <m:t>                          =0.</m:t>
                    </m:r>
                    <m:r>
                      <a:rPr lang="en-US" sz="2000" b="0" i="1" smtClean="0">
                        <a:latin typeface="Cambria Math" panose="02040503050406030204" pitchFamily="18" charset="0"/>
                      </a:rPr>
                      <m:t>786</m:t>
                    </m:r>
                    <m:r>
                      <a:rPr lang="en-CA" sz="2000" i="1">
                        <a:latin typeface="Cambria Math" panose="02040503050406030204" pitchFamily="18" charset="0"/>
                      </a:rPr>
                      <m:t>+0.05×</m:t>
                    </m:r>
                    <m:d>
                      <m:dPr>
                        <m:ctrlPr>
                          <a:rPr lang="en-CA" sz="2000" i="1">
                            <a:latin typeface="Cambria Math" panose="02040503050406030204" pitchFamily="18" charset="0"/>
                          </a:rPr>
                        </m:ctrlPr>
                      </m:dPr>
                      <m:e>
                        <m:r>
                          <a:rPr lang="en-CA" sz="2000" i="1">
                            <a:latin typeface="Cambria Math" panose="02040503050406030204" pitchFamily="18" charset="0"/>
                          </a:rPr>
                          <m:t>0.</m:t>
                        </m:r>
                        <m:r>
                          <a:rPr lang="en-US" sz="2000" b="0" i="1" smtClean="0">
                            <a:latin typeface="Cambria Math" panose="02040503050406030204" pitchFamily="18" charset="0"/>
                          </a:rPr>
                          <m:t>898</m:t>
                        </m:r>
                        <m:r>
                          <a:rPr lang="en-CA" sz="2000" i="1">
                            <a:latin typeface="Cambria Math" panose="02040503050406030204" pitchFamily="18" charset="0"/>
                          </a:rPr>
                          <m:t>−0.</m:t>
                        </m:r>
                        <m:r>
                          <a:rPr lang="en-US" sz="2000" b="0" i="1" smtClean="0">
                            <a:latin typeface="Cambria Math" panose="02040503050406030204" pitchFamily="18" charset="0"/>
                          </a:rPr>
                          <m:t>786</m:t>
                        </m:r>
                      </m:e>
                    </m:d>
                  </m:oMath>
                </a14:m>
                <a:r>
                  <a:rPr lang="en-CA" sz="2000" dirty="0">
                    <a:latin typeface="+mj-lt"/>
                  </a:rPr>
                  <a:t> = 0.792 		     </a:t>
                </a:r>
                <a14:m>
                  <m:oMath xmlns:m="http://schemas.openxmlformats.org/officeDocument/2006/math">
                    <m:sSup>
                      <m:sSupPr>
                        <m:ctrlPr>
                          <a:rPr lang="en-CA" sz="2000" i="1">
                            <a:latin typeface="Cambria Math" panose="02040503050406030204" pitchFamily="18" charset="0"/>
                          </a:rPr>
                        </m:ctrlPr>
                      </m:sSupPr>
                      <m:e>
                        <m:r>
                          <a:rPr lang="en-CA" sz="2000" i="1">
                            <a:latin typeface="Cambria Math" panose="02040503050406030204" pitchFamily="18" charset="0"/>
                          </a:rPr>
                          <m:t>𝑄</m:t>
                        </m:r>
                      </m:e>
                      <m:sup>
                        <m:r>
                          <a:rPr lang="en-CA" sz="2000" i="1">
                            <a:latin typeface="Cambria Math" panose="02040503050406030204" pitchFamily="18" charset="0"/>
                          </a:rPr>
                          <m:t>𝑛𝑒𝑤</m:t>
                        </m:r>
                      </m:sup>
                    </m:sSup>
                    <m:d>
                      <m:dPr>
                        <m:ctrlPr>
                          <a:rPr lang="en-CA" sz="2000" i="1">
                            <a:latin typeface="Cambria Math" panose="02040503050406030204" pitchFamily="18" charset="0"/>
                          </a:rPr>
                        </m:ctrlPr>
                      </m:dPr>
                      <m:e>
                        <m:r>
                          <a:rPr lang="en-CA" sz="2000" i="1">
                            <a:latin typeface="Cambria Math" panose="02040503050406030204" pitchFamily="18" charset="0"/>
                          </a:rPr>
                          <m:t>6,1</m:t>
                        </m:r>
                      </m:e>
                    </m:d>
                    <m:r>
                      <a:rPr lang="en-CA" sz="2000" i="1">
                        <a:latin typeface="Cambria Math" panose="02040503050406030204" pitchFamily="18" charset="0"/>
                      </a:rPr>
                      <m:t>=</m:t>
                    </m:r>
                    <m:sSup>
                      <m:sSupPr>
                        <m:ctrlPr>
                          <a:rPr lang="en-CA" sz="2000" i="1">
                            <a:latin typeface="Cambria Math" panose="02040503050406030204" pitchFamily="18" charset="0"/>
                          </a:rPr>
                        </m:ctrlPr>
                      </m:sSupPr>
                      <m:e>
                        <m:r>
                          <a:rPr lang="en-CA" sz="2000" i="1">
                            <a:latin typeface="Cambria Math" panose="02040503050406030204" pitchFamily="18" charset="0"/>
                          </a:rPr>
                          <m:t>𝑄</m:t>
                        </m:r>
                      </m:e>
                      <m:sup>
                        <m:r>
                          <a:rPr lang="en-CA" sz="2000" i="1">
                            <a:latin typeface="Cambria Math" panose="02040503050406030204" pitchFamily="18" charset="0"/>
                          </a:rPr>
                          <m:t>𝑜𝑙𝑑</m:t>
                        </m:r>
                      </m:sup>
                    </m:sSup>
                    <m:d>
                      <m:dPr>
                        <m:ctrlPr>
                          <a:rPr lang="en-CA" sz="2000" i="1">
                            <a:latin typeface="Cambria Math" panose="02040503050406030204" pitchFamily="18" charset="0"/>
                          </a:rPr>
                        </m:ctrlPr>
                      </m:dPr>
                      <m:e>
                        <m:r>
                          <a:rPr lang="en-CA" sz="2000" i="1">
                            <a:latin typeface="Cambria Math" panose="02040503050406030204" pitchFamily="18" charset="0"/>
                          </a:rPr>
                          <m:t>6,1</m:t>
                        </m:r>
                      </m:e>
                    </m:d>
                    <m:r>
                      <a:rPr lang="en-CA" sz="2000" i="1">
                        <a:latin typeface="Cambria Math" panose="02040503050406030204" pitchFamily="18" charset="0"/>
                      </a:rPr>
                      <m:t>+0.05</m:t>
                    </m:r>
                    <m:d>
                      <m:dPr>
                        <m:begChr m:val="["/>
                        <m:endChr m:val="]"/>
                        <m:ctrlPr>
                          <a:rPr lang="en-CA" sz="2000" i="1">
                            <a:latin typeface="Cambria Math" panose="02040503050406030204" pitchFamily="18" charset="0"/>
                          </a:rPr>
                        </m:ctrlPr>
                      </m:dPr>
                      <m:e>
                        <m:r>
                          <a:rPr lang="en-CA" sz="2000" i="1">
                            <a:latin typeface="Cambria Math" panose="02040503050406030204" pitchFamily="18" charset="0"/>
                          </a:rPr>
                          <m:t>𝑉</m:t>
                        </m:r>
                        <m:d>
                          <m:dPr>
                            <m:ctrlPr>
                              <a:rPr lang="en-CA" sz="2000" i="1">
                                <a:latin typeface="Cambria Math" panose="02040503050406030204" pitchFamily="18" charset="0"/>
                              </a:rPr>
                            </m:ctrlPr>
                          </m:dPr>
                          <m:e>
                            <m:r>
                              <a:rPr lang="en-CA" sz="2000" i="1">
                                <a:latin typeface="Cambria Math" panose="02040503050406030204" pitchFamily="18" charset="0"/>
                              </a:rPr>
                              <m:t>2</m:t>
                            </m:r>
                          </m:e>
                        </m:d>
                        <m:r>
                          <a:rPr lang="en-CA" sz="2000" i="1">
                            <a:latin typeface="Cambria Math" panose="02040503050406030204" pitchFamily="18" charset="0"/>
                          </a:rPr>
                          <m:t>−</m:t>
                        </m:r>
                        <m:sSup>
                          <m:sSupPr>
                            <m:ctrlPr>
                              <a:rPr lang="en-CA" sz="2000" i="1">
                                <a:latin typeface="Cambria Math" panose="02040503050406030204" pitchFamily="18" charset="0"/>
                              </a:rPr>
                            </m:ctrlPr>
                          </m:sSupPr>
                          <m:e>
                            <m:r>
                              <a:rPr lang="en-CA" sz="2000" i="1">
                                <a:latin typeface="Cambria Math" panose="02040503050406030204" pitchFamily="18" charset="0"/>
                              </a:rPr>
                              <m:t>𝑄</m:t>
                            </m:r>
                          </m:e>
                          <m:sup>
                            <m:r>
                              <a:rPr lang="en-CA" sz="2000" i="1">
                                <a:latin typeface="Cambria Math" panose="02040503050406030204" pitchFamily="18" charset="0"/>
                              </a:rPr>
                              <m:t>𝑜𝑙𝑑</m:t>
                            </m:r>
                          </m:sup>
                        </m:sSup>
                        <m:d>
                          <m:dPr>
                            <m:ctrlPr>
                              <a:rPr lang="en-CA" sz="2000" i="1">
                                <a:latin typeface="Cambria Math" panose="02040503050406030204" pitchFamily="18" charset="0"/>
                              </a:rPr>
                            </m:ctrlPr>
                          </m:dPr>
                          <m:e>
                            <m:r>
                              <a:rPr lang="en-CA" sz="2000" i="1">
                                <a:latin typeface="Cambria Math" panose="02040503050406030204" pitchFamily="18" charset="0"/>
                              </a:rPr>
                              <m:t>6,1</m:t>
                            </m:r>
                          </m:e>
                        </m:d>
                      </m:e>
                    </m:d>
                  </m:oMath>
                </a14:m>
                <a:endParaRPr lang="en-CA" sz="2000" dirty="0">
                  <a:latin typeface="+mj-lt"/>
                </a:endParaRPr>
              </a:p>
              <a:p>
                <a:pPr marL="0" indent="0">
                  <a:buNone/>
                </a:pPr>
                <a:r>
                  <a:rPr lang="en-CA" sz="2000" dirty="0">
                    <a:latin typeface="+mj-lt"/>
                  </a:rPr>
                  <a:t>                                  </a:t>
                </a:r>
                <a14:m>
                  <m:oMath xmlns:m="http://schemas.openxmlformats.org/officeDocument/2006/math">
                    <m:r>
                      <a:rPr lang="en-CA" sz="2000" i="1">
                        <a:latin typeface="Cambria Math" panose="02040503050406030204" pitchFamily="18" charset="0"/>
                      </a:rPr>
                      <m:t>=0.</m:t>
                    </m:r>
                    <m:r>
                      <a:rPr lang="en-US" sz="2000" b="0" i="1" smtClean="0">
                        <a:latin typeface="Cambria Math" panose="02040503050406030204" pitchFamily="18" charset="0"/>
                      </a:rPr>
                      <m:t>898</m:t>
                    </m:r>
                    <m:r>
                      <a:rPr lang="en-CA" sz="2000" i="1">
                        <a:latin typeface="Cambria Math" panose="02040503050406030204" pitchFamily="18" charset="0"/>
                      </a:rPr>
                      <m:t>+0.05×</m:t>
                    </m:r>
                    <m:d>
                      <m:dPr>
                        <m:ctrlPr>
                          <a:rPr lang="en-CA" sz="2000" i="1">
                            <a:latin typeface="Cambria Math" panose="02040503050406030204" pitchFamily="18" charset="0"/>
                          </a:rPr>
                        </m:ctrlPr>
                      </m:dPr>
                      <m:e>
                        <m:r>
                          <a:rPr lang="en-CA" sz="2000" i="1">
                            <a:latin typeface="Cambria Math" panose="02040503050406030204" pitchFamily="18" charset="0"/>
                          </a:rPr>
                          <m:t>1.000−0.</m:t>
                        </m:r>
                        <m:r>
                          <a:rPr lang="en-US" sz="2000" b="0" i="1" smtClean="0">
                            <a:latin typeface="Cambria Math" panose="02040503050406030204" pitchFamily="18" charset="0"/>
                          </a:rPr>
                          <m:t>898</m:t>
                        </m:r>
                      </m:e>
                    </m:d>
                    <m:r>
                      <a:rPr lang="en-CA" sz="2000" i="1">
                        <a:latin typeface="Cambria Math" panose="02040503050406030204" pitchFamily="18" charset="0"/>
                      </a:rPr>
                      <m:t>=0.</m:t>
                    </m:r>
                    <m:r>
                      <a:rPr lang="en-US" sz="2000" b="0" i="1" smtClean="0">
                        <a:latin typeface="Cambria Math" panose="02040503050406030204" pitchFamily="18" charset="0"/>
                      </a:rPr>
                      <m:t>903</m:t>
                    </m:r>
                  </m:oMath>
                </a14:m>
                <a:r>
                  <a:rPr lang="en-CA" sz="2000" dirty="0">
                    <a:latin typeface="+mj-lt"/>
                  </a:rPr>
                  <a:t> </a:t>
                </a:r>
              </a:p>
              <a:p>
                <a:pPr marL="685800" lvl="2" indent="0">
                  <a:buNone/>
                </a:pPr>
                <a:r>
                  <a:rPr lang="en-CA" sz="2000" i="1" dirty="0">
                    <a:latin typeface="+mj-lt"/>
                  </a:rPr>
                  <a:t>       </a:t>
                </a:r>
                <a14:m>
                  <m:oMath xmlns:m="http://schemas.openxmlformats.org/officeDocument/2006/math">
                    <m:sSup>
                      <m:sSupPr>
                        <m:ctrlPr>
                          <a:rPr lang="en-CA" sz="2000" i="1">
                            <a:latin typeface="Cambria Math" panose="02040503050406030204" pitchFamily="18" charset="0"/>
                          </a:rPr>
                        </m:ctrlPr>
                      </m:sSupPr>
                      <m:e>
                        <m:r>
                          <a:rPr lang="en-CA" sz="2000" i="1">
                            <a:latin typeface="Cambria Math" panose="02040503050406030204" pitchFamily="18" charset="0"/>
                          </a:rPr>
                          <m:t>𝑄</m:t>
                        </m:r>
                      </m:e>
                      <m:sup>
                        <m:r>
                          <a:rPr lang="en-CA" sz="2000" i="1">
                            <a:latin typeface="Cambria Math" panose="02040503050406030204" pitchFamily="18" charset="0"/>
                          </a:rPr>
                          <m:t>𝑛𝑒𝑤</m:t>
                        </m:r>
                      </m:sup>
                    </m:sSup>
                    <m:d>
                      <m:dPr>
                        <m:ctrlPr>
                          <a:rPr lang="en-CA" sz="2000" i="1">
                            <a:latin typeface="Cambria Math" panose="02040503050406030204" pitchFamily="18" charset="0"/>
                          </a:rPr>
                        </m:ctrlPr>
                      </m:dPr>
                      <m:e>
                        <m:r>
                          <a:rPr lang="en-CA" sz="2000" b="0" i="1" smtClean="0">
                            <a:latin typeface="Cambria Math" panose="02040503050406030204" pitchFamily="18" charset="0"/>
                          </a:rPr>
                          <m:t>2</m:t>
                        </m:r>
                        <m:r>
                          <a:rPr lang="en-CA" sz="2000" i="1">
                            <a:latin typeface="Cambria Math" panose="02040503050406030204" pitchFamily="18" charset="0"/>
                          </a:rPr>
                          <m:t>,1</m:t>
                        </m:r>
                      </m:e>
                    </m:d>
                    <m:r>
                      <a:rPr lang="en-CA" sz="2000" b="0" i="1" smtClean="0">
                        <a:latin typeface="Cambria Math" panose="02040503050406030204" pitchFamily="18" charset="0"/>
                      </a:rPr>
                      <m:t>=</m:t>
                    </m:r>
                    <m:r>
                      <a:rPr lang="en-US" sz="2000" b="0" i="1" smtClean="0">
                        <a:latin typeface="Cambria Math" panose="02040503050406030204" pitchFamily="18" charset="0"/>
                      </a:rPr>
                      <m:t>1.000</m:t>
                    </m:r>
                    <m:r>
                      <a:rPr lang="en-CA" sz="2000" i="1">
                        <a:latin typeface="Cambria Math" panose="02040503050406030204" pitchFamily="18" charset="0"/>
                      </a:rPr>
                      <m:t>+0.05×</m:t>
                    </m:r>
                    <m:d>
                      <m:dPr>
                        <m:ctrlPr>
                          <a:rPr lang="en-CA" sz="2000" i="1">
                            <a:latin typeface="Cambria Math" panose="02040503050406030204" pitchFamily="18" charset="0"/>
                          </a:rPr>
                        </m:ctrlPr>
                      </m:dPr>
                      <m:e>
                        <m:r>
                          <a:rPr lang="en-CA" sz="2000" i="1">
                            <a:latin typeface="Cambria Math" panose="02040503050406030204" pitchFamily="18" charset="0"/>
                          </a:rPr>
                          <m:t>1.000−</m:t>
                        </m:r>
                        <m:r>
                          <a:rPr lang="en-US" sz="2000" b="0" i="1" smtClean="0">
                            <a:latin typeface="Cambria Math" panose="02040503050406030204" pitchFamily="18" charset="0"/>
                          </a:rPr>
                          <m:t>1.000</m:t>
                        </m:r>
                      </m:e>
                    </m:d>
                  </m:oMath>
                </a14:m>
                <a:r>
                  <a:rPr lang="en-CA" dirty="0">
                    <a:solidFill>
                      <a:srgbClr val="FF0000"/>
                    </a:solidFill>
                  </a:rPr>
                  <a:t> </a:t>
                </a:r>
                <a:r>
                  <a:rPr lang="en-CA" dirty="0"/>
                  <a:t>= 1.000</a:t>
                </a:r>
              </a:p>
              <a:p>
                <a:pPr marL="0" indent="0">
                  <a:buNone/>
                </a:pPr>
                <a:endParaRPr lang="en-CA" dirty="0"/>
              </a:p>
              <a:p>
                <a:endParaRPr lang="en-CA" dirty="0"/>
              </a:p>
              <a:p>
                <a:endParaRPr lang="en-CA" dirty="0"/>
              </a:p>
              <a:p>
                <a:pPr marL="0" indent="0">
                  <a:buNone/>
                </a:pPr>
                <a:endParaRPr lang="en-CA" dirty="0"/>
              </a:p>
              <a:p>
                <a:pPr marL="0" indent="0">
                  <a:buNone/>
                </a:pPr>
                <a:endParaRPr lang="en-CA" dirty="0"/>
              </a:p>
              <a:p>
                <a:endParaRPr lang="en-CA"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71600" y="1724830"/>
                <a:ext cx="7920880" cy="4114800"/>
              </a:xfrm>
              <a:blipFill>
                <a:blip r:embed="rId3"/>
                <a:stretch>
                  <a:fillRect t="-889" b="-9926"/>
                </a:stretch>
              </a:blipFill>
            </p:spPr>
            <p:txBody>
              <a:bodyPr/>
              <a:lstStyle/>
              <a:p>
                <a:r>
                  <a:rPr lang="en-CA">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23</a:t>
            </a:fld>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pic>
        <p:nvPicPr>
          <p:cNvPr id="7" name="Picture 6"/>
          <p:cNvPicPr/>
          <p:nvPr/>
        </p:nvPicPr>
        <p:blipFill>
          <a:blip r:embed="rId4">
            <a:extLst>
              <a:ext uri="{28A0092B-C50C-407E-A947-70E740481C1C}">
                <a14:useLocalDpi xmlns:a14="http://schemas.microsoft.com/office/drawing/2010/main" val="0"/>
              </a:ext>
            </a:extLst>
          </a:blip>
          <a:srcRect/>
          <a:stretch>
            <a:fillRect/>
          </a:stretch>
        </p:blipFill>
        <p:spPr bwMode="auto">
          <a:xfrm>
            <a:off x="1259632" y="2276872"/>
            <a:ext cx="6552728" cy="1296144"/>
          </a:xfrm>
          <a:prstGeom prst="rect">
            <a:avLst/>
          </a:prstGeom>
          <a:noFill/>
          <a:ln>
            <a:noFill/>
          </a:ln>
        </p:spPr>
      </p:pic>
    </p:spTree>
    <p:extLst>
      <p:ext uri="{BB962C8B-B14F-4D97-AF65-F5344CB8AC3E}">
        <p14:creationId xmlns:p14="http://schemas.microsoft.com/office/powerpoint/2010/main" val="1219099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904346"/>
            <a:ext cx="8790434" cy="1143000"/>
          </a:xfrm>
        </p:spPr>
        <p:txBody>
          <a:bodyPr/>
          <a:lstStyle/>
          <a:p>
            <a:r>
              <a:rPr lang="en-CA" sz="3000" dirty="0"/>
              <a:t>Example of convergence. </a:t>
            </a:r>
            <a:r>
              <a:rPr lang="en-CA" sz="3000" dirty="0">
                <a:latin typeface="Symbol" panose="05050102010706020507" pitchFamily="18" charset="2"/>
              </a:rPr>
              <a:t>e</a:t>
            </a:r>
            <a:r>
              <a:rPr lang="en-CA" sz="3000" dirty="0"/>
              <a:t> starts at 1 and has a decay factor of 0.9995. Temporal Difference Learning (Tables 8.12, 8.13, 8.14)</a:t>
            </a:r>
          </a:p>
        </p:txBody>
      </p:sp>
      <p:sp>
        <p:nvSpPr>
          <p:cNvPr id="3" name="Footer Placeholder 2"/>
          <p:cNvSpPr>
            <a:spLocks noGrp="1"/>
          </p:cNvSpPr>
          <p:nvPr>
            <p:ph type="ftr" sz="quarter" idx="11"/>
          </p:nvPr>
        </p:nvSpPr>
        <p:spPr/>
        <p:txBody>
          <a:bodyPr/>
          <a:lstStyle/>
          <a:p>
            <a:r>
              <a:rPr lang="en-US"/>
              <a:t>Machine Learning in Business 3rd Ed. Copyright © John C. Hull 2021</a:t>
            </a:r>
            <a:endParaRPr lang="en-CA"/>
          </a:p>
        </p:txBody>
      </p:sp>
      <p:sp>
        <p:nvSpPr>
          <p:cNvPr id="4" name="Slide Number Placeholder 3"/>
          <p:cNvSpPr>
            <a:spLocks noGrp="1"/>
          </p:cNvSpPr>
          <p:nvPr>
            <p:ph type="sldNum" sz="quarter" idx="12"/>
          </p:nvPr>
        </p:nvSpPr>
        <p:spPr/>
        <p:txBody>
          <a:bodyPr/>
          <a:lstStyle/>
          <a:p>
            <a:fld id="{F979D778-5668-409F-BE61-8F31D5437AFC}" type="slidenum">
              <a:rPr lang="en-CA" smtClean="0"/>
              <a:t>24</a:t>
            </a:fld>
            <a:endParaRPr lang="en-CA"/>
          </a:p>
        </p:txBody>
      </p:sp>
      <p:sp>
        <p:nvSpPr>
          <p:cNvPr id="132" name="TextBox 131"/>
          <p:cNvSpPr txBox="1"/>
          <p:nvPr/>
        </p:nvSpPr>
        <p:spPr>
          <a:xfrm>
            <a:off x="996662" y="3955948"/>
            <a:ext cx="1353393" cy="507831"/>
          </a:xfrm>
          <a:prstGeom prst="rect">
            <a:avLst/>
          </a:prstGeom>
          <a:noFill/>
        </p:spPr>
        <p:txBody>
          <a:bodyPr wrap="square" rtlCol="0">
            <a:spAutoFit/>
          </a:bodyPr>
          <a:lstStyle/>
          <a:p>
            <a:r>
              <a:rPr lang="en-CA" sz="1350" dirty="0"/>
              <a:t>After 5,000 trials</a:t>
            </a:r>
          </a:p>
        </p:txBody>
      </p:sp>
      <p:sp>
        <p:nvSpPr>
          <p:cNvPr id="133" name="TextBox 132"/>
          <p:cNvSpPr txBox="1"/>
          <p:nvPr/>
        </p:nvSpPr>
        <p:spPr>
          <a:xfrm>
            <a:off x="996662" y="5369441"/>
            <a:ext cx="1353393" cy="507831"/>
          </a:xfrm>
          <a:prstGeom prst="rect">
            <a:avLst/>
          </a:prstGeom>
          <a:noFill/>
        </p:spPr>
        <p:txBody>
          <a:bodyPr wrap="square" rtlCol="0">
            <a:spAutoFit/>
          </a:bodyPr>
          <a:lstStyle/>
          <a:p>
            <a:r>
              <a:rPr lang="en-CA" sz="1350" dirty="0"/>
              <a:t>After 10,000 trials</a:t>
            </a:r>
          </a:p>
        </p:txBody>
      </p:sp>
      <p:sp>
        <p:nvSpPr>
          <p:cNvPr id="134" name="TextBox 133"/>
          <p:cNvSpPr txBox="1"/>
          <p:nvPr/>
        </p:nvSpPr>
        <p:spPr>
          <a:xfrm>
            <a:off x="979600" y="2637520"/>
            <a:ext cx="1216136" cy="507831"/>
          </a:xfrm>
          <a:prstGeom prst="rect">
            <a:avLst/>
          </a:prstGeom>
          <a:noFill/>
        </p:spPr>
        <p:txBody>
          <a:bodyPr wrap="square" rtlCol="0">
            <a:spAutoFit/>
          </a:bodyPr>
          <a:lstStyle/>
          <a:p>
            <a:r>
              <a:rPr lang="en-CA" sz="1350" dirty="0"/>
              <a:t>After 1,000 trials</a:t>
            </a:r>
          </a:p>
        </p:txBody>
      </p:sp>
      <p:pic>
        <p:nvPicPr>
          <p:cNvPr id="135" name="Picture 134"/>
          <p:cNvPicPr>
            <a:picLocks noChangeAspect="1"/>
          </p:cNvPicPr>
          <p:nvPr/>
        </p:nvPicPr>
        <p:blipFill>
          <a:blip r:embed="rId2"/>
          <a:stretch>
            <a:fillRect/>
          </a:stretch>
        </p:blipFill>
        <p:spPr>
          <a:xfrm>
            <a:off x="2555776" y="2380256"/>
            <a:ext cx="5613826" cy="3713040"/>
          </a:xfrm>
          <a:prstGeom prst="rect">
            <a:avLst/>
          </a:prstGeom>
        </p:spPr>
      </p:pic>
    </p:spTree>
    <p:extLst>
      <p:ext uri="{BB962C8B-B14F-4D97-AF65-F5344CB8AC3E}">
        <p14:creationId xmlns:p14="http://schemas.microsoft.com/office/powerpoint/2010/main" val="3964778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247A-708E-4161-ADB1-AB3758BDF6DE}"/>
              </a:ext>
            </a:extLst>
          </p:cNvPr>
          <p:cNvSpPr>
            <a:spLocks noGrp="1"/>
          </p:cNvSpPr>
          <p:nvPr>
            <p:ph type="title"/>
          </p:nvPr>
        </p:nvSpPr>
        <p:spPr/>
        <p:txBody>
          <a:bodyPr/>
          <a:lstStyle/>
          <a:p>
            <a:r>
              <a:rPr lang="en-CA" dirty="0"/>
              <a:t>Temporal Difference Results When Opponent Also Learns</a:t>
            </a:r>
          </a:p>
        </p:txBody>
      </p:sp>
      <p:sp>
        <p:nvSpPr>
          <p:cNvPr id="3" name="Footer Placeholder 2">
            <a:extLst>
              <a:ext uri="{FF2B5EF4-FFF2-40B4-BE49-F238E27FC236}">
                <a16:creationId xmlns:a16="http://schemas.microsoft.com/office/drawing/2014/main" id="{D670E5C5-B7D7-46CF-9E56-6390DAA6A2BE}"/>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4" name="Slide Number Placeholder 3">
            <a:extLst>
              <a:ext uri="{FF2B5EF4-FFF2-40B4-BE49-F238E27FC236}">
                <a16:creationId xmlns:a16="http://schemas.microsoft.com/office/drawing/2014/main" id="{32B702D1-2F59-473C-9F57-D727E2C758B8}"/>
              </a:ext>
            </a:extLst>
          </p:cNvPr>
          <p:cNvSpPr>
            <a:spLocks noGrp="1"/>
          </p:cNvSpPr>
          <p:nvPr>
            <p:ph type="sldNum" sz="quarter" idx="12"/>
          </p:nvPr>
        </p:nvSpPr>
        <p:spPr/>
        <p:txBody>
          <a:bodyPr/>
          <a:lstStyle/>
          <a:p>
            <a:fld id="{F979D778-5668-409F-BE61-8F31D5437AFC}" type="slidenum">
              <a:rPr lang="en-CA" smtClean="0"/>
              <a:t>25</a:t>
            </a:fld>
            <a:endParaRPr lang="en-CA"/>
          </a:p>
        </p:txBody>
      </p:sp>
      <p:pic>
        <p:nvPicPr>
          <p:cNvPr id="6" name="Picture 5">
            <a:extLst>
              <a:ext uri="{FF2B5EF4-FFF2-40B4-BE49-F238E27FC236}">
                <a16:creationId xmlns:a16="http://schemas.microsoft.com/office/drawing/2014/main" id="{EB6757D3-BDD7-4A30-BE21-007FCF8575CD}"/>
              </a:ext>
            </a:extLst>
          </p:cNvPr>
          <p:cNvPicPr>
            <a:picLocks noChangeAspect="1"/>
          </p:cNvPicPr>
          <p:nvPr/>
        </p:nvPicPr>
        <p:blipFill>
          <a:blip r:embed="rId2"/>
          <a:stretch>
            <a:fillRect/>
          </a:stretch>
        </p:blipFill>
        <p:spPr>
          <a:xfrm>
            <a:off x="2519363" y="2348880"/>
            <a:ext cx="5499100" cy="3511550"/>
          </a:xfrm>
          <a:prstGeom prst="rect">
            <a:avLst/>
          </a:prstGeom>
        </p:spPr>
      </p:pic>
      <p:sp>
        <p:nvSpPr>
          <p:cNvPr id="7" name="TextBox 6">
            <a:extLst>
              <a:ext uri="{FF2B5EF4-FFF2-40B4-BE49-F238E27FC236}">
                <a16:creationId xmlns:a16="http://schemas.microsoft.com/office/drawing/2014/main" id="{38F8ECD0-6B31-45A3-9DDE-CA19F5891531}"/>
              </a:ext>
            </a:extLst>
          </p:cNvPr>
          <p:cNvSpPr txBox="1"/>
          <p:nvPr/>
        </p:nvSpPr>
        <p:spPr>
          <a:xfrm>
            <a:off x="755576" y="2543973"/>
            <a:ext cx="1216136" cy="507831"/>
          </a:xfrm>
          <a:prstGeom prst="rect">
            <a:avLst/>
          </a:prstGeom>
          <a:noFill/>
        </p:spPr>
        <p:txBody>
          <a:bodyPr wrap="square" rtlCol="0">
            <a:spAutoFit/>
          </a:bodyPr>
          <a:lstStyle/>
          <a:p>
            <a:r>
              <a:rPr lang="en-CA" sz="1350" dirty="0"/>
              <a:t>After 1,000 trials</a:t>
            </a:r>
          </a:p>
        </p:txBody>
      </p:sp>
      <p:sp>
        <p:nvSpPr>
          <p:cNvPr id="8" name="TextBox 7">
            <a:extLst>
              <a:ext uri="{FF2B5EF4-FFF2-40B4-BE49-F238E27FC236}">
                <a16:creationId xmlns:a16="http://schemas.microsoft.com/office/drawing/2014/main" id="{39B63B97-AF5F-4E95-B093-D466FEAB286D}"/>
              </a:ext>
            </a:extLst>
          </p:cNvPr>
          <p:cNvSpPr txBox="1"/>
          <p:nvPr/>
        </p:nvSpPr>
        <p:spPr>
          <a:xfrm>
            <a:off x="755576" y="3885047"/>
            <a:ext cx="1353393" cy="507831"/>
          </a:xfrm>
          <a:prstGeom prst="rect">
            <a:avLst/>
          </a:prstGeom>
          <a:noFill/>
        </p:spPr>
        <p:txBody>
          <a:bodyPr wrap="square" rtlCol="0">
            <a:spAutoFit/>
          </a:bodyPr>
          <a:lstStyle/>
          <a:p>
            <a:r>
              <a:rPr lang="en-CA" sz="1350" dirty="0"/>
              <a:t>After 5,000 trials</a:t>
            </a:r>
          </a:p>
        </p:txBody>
      </p:sp>
      <p:sp>
        <p:nvSpPr>
          <p:cNvPr id="9" name="TextBox 8">
            <a:extLst>
              <a:ext uri="{FF2B5EF4-FFF2-40B4-BE49-F238E27FC236}">
                <a16:creationId xmlns:a16="http://schemas.microsoft.com/office/drawing/2014/main" id="{10208705-9472-4DB8-AA3B-EB082B969097}"/>
              </a:ext>
            </a:extLst>
          </p:cNvPr>
          <p:cNvSpPr txBox="1"/>
          <p:nvPr/>
        </p:nvSpPr>
        <p:spPr>
          <a:xfrm>
            <a:off x="755576" y="5104823"/>
            <a:ext cx="1353393" cy="507831"/>
          </a:xfrm>
          <a:prstGeom prst="rect">
            <a:avLst/>
          </a:prstGeom>
          <a:noFill/>
        </p:spPr>
        <p:txBody>
          <a:bodyPr wrap="square" rtlCol="0">
            <a:spAutoFit/>
          </a:bodyPr>
          <a:lstStyle/>
          <a:p>
            <a:r>
              <a:rPr lang="en-CA" sz="1350" dirty="0"/>
              <a:t>After 10,000 trials</a:t>
            </a:r>
          </a:p>
        </p:txBody>
      </p:sp>
    </p:spTree>
    <p:extLst>
      <p:ext uri="{BB962C8B-B14F-4D97-AF65-F5344CB8AC3E}">
        <p14:creationId xmlns:p14="http://schemas.microsoft.com/office/powerpoint/2010/main" val="2141363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n-step bootstrapping</a:t>
            </a:r>
          </a:p>
        </p:txBody>
      </p:sp>
      <p:sp>
        <p:nvSpPr>
          <p:cNvPr id="3" name="Content Placeholder 2"/>
          <p:cNvSpPr>
            <a:spLocks noGrp="1"/>
          </p:cNvSpPr>
          <p:nvPr>
            <p:ph idx="1"/>
          </p:nvPr>
        </p:nvSpPr>
        <p:spPr/>
        <p:txBody>
          <a:bodyPr/>
          <a:lstStyle/>
          <a:p>
            <a:r>
              <a:rPr lang="en-CA" dirty="0"/>
              <a:t>Monte Carlo bases updates on what happens over the complete life of the trial</a:t>
            </a:r>
          </a:p>
          <a:p>
            <a:r>
              <a:rPr lang="en-CA" dirty="0"/>
              <a:t>Temporal difference bases updates on what happens over the next period </a:t>
            </a:r>
          </a:p>
          <a:p>
            <a:r>
              <a:rPr lang="en-CA" i="1" dirty="0">
                <a:latin typeface="+mj-lt"/>
              </a:rPr>
              <a:t>n</a:t>
            </a:r>
            <a:r>
              <a:rPr lang="en-CA" dirty="0"/>
              <a:t>-step bootstrapping algorithms is between the two. It bases updates on what happens over the next</a:t>
            </a:r>
            <a:r>
              <a:rPr lang="en-CA" i="1" dirty="0">
                <a:latin typeface="+mj-lt"/>
              </a:rPr>
              <a:t> n </a:t>
            </a:r>
            <a:r>
              <a:rPr lang="en-CA" dirty="0"/>
              <a:t>periods</a:t>
            </a:r>
          </a:p>
          <a:p>
            <a:endParaRPr lang="en-CA" dirty="0"/>
          </a:p>
          <a:p>
            <a:pPr marL="0" indent="0">
              <a:buNone/>
            </a:pPr>
            <a:endParaRPr lang="en-CA" dirty="0"/>
          </a:p>
          <a:p>
            <a:pPr marL="0" indent="0">
              <a:buNone/>
            </a:pPr>
            <a:endParaRPr lang="en-CA" dirty="0"/>
          </a:p>
        </p:txBody>
      </p:sp>
      <p:sp>
        <p:nvSpPr>
          <p:cNvPr id="6" name="Slide Number Placeholder 5"/>
          <p:cNvSpPr>
            <a:spLocks noGrp="1"/>
          </p:cNvSpPr>
          <p:nvPr>
            <p:ph type="sldNum" sz="quarter" idx="12"/>
          </p:nvPr>
        </p:nvSpPr>
        <p:spPr/>
        <p:txBody>
          <a:bodyPr/>
          <a:lstStyle/>
          <a:p>
            <a:fld id="{B095A5CE-67BC-412D-BFFD-14F19C21C82C}" type="slidenum">
              <a:rPr lang="en-CA" smtClean="0"/>
              <a:t>26</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1611549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When there are many states or actions (or both)</a:t>
            </a:r>
          </a:p>
        </p:txBody>
      </p:sp>
      <p:sp>
        <p:nvSpPr>
          <p:cNvPr id="4" name="Content Placeholder 3"/>
          <p:cNvSpPr>
            <a:spLocks noGrp="1"/>
          </p:cNvSpPr>
          <p:nvPr>
            <p:ph idx="1"/>
          </p:nvPr>
        </p:nvSpPr>
        <p:spPr>
          <a:xfrm>
            <a:off x="685800" y="2060848"/>
            <a:ext cx="7772400" cy="4114800"/>
          </a:xfrm>
        </p:spPr>
        <p:txBody>
          <a:bodyPr/>
          <a:lstStyle/>
          <a:p>
            <a:r>
              <a:rPr lang="en-CA" dirty="0"/>
              <a:t>The cells of the state/action table do not get filled in very quickly</a:t>
            </a:r>
          </a:p>
          <a:p>
            <a:r>
              <a:rPr lang="en-CA" dirty="0"/>
              <a:t>It becomes necessary to estimate the </a:t>
            </a:r>
            <a:r>
              <a:rPr lang="en-CA" i="1" dirty="0">
                <a:latin typeface="+mj-lt"/>
              </a:rPr>
              <a:t>Q</a:t>
            </a:r>
            <a:r>
              <a:rPr lang="en-CA" dirty="0">
                <a:latin typeface="+mj-lt"/>
              </a:rPr>
              <a:t>(</a:t>
            </a:r>
            <a:r>
              <a:rPr lang="en-CA" i="1" dirty="0">
                <a:latin typeface="+mj-lt"/>
              </a:rPr>
              <a:t>S</a:t>
            </a:r>
            <a:r>
              <a:rPr lang="en-CA" dirty="0">
                <a:latin typeface="+mj-lt"/>
              </a:rPr>
              <a:t>,</a:t>
            </a:r>
            <a:r>
              <a:rPr lang="en-CA" i="1" dirty="0">
                <a:latin typeface="+mj-lt"/>
              </a:rPr>
              <a:t>A</a:t>
            </a:r>
            <a:r>
              <a:rPr lang="en-CA" dirty="0">
                <a:latin typeface="+mj-lt"/>
              </a:rPr>
              <a:t>)</a:t>
            </a:r>
            <a:r>
              <a:rPr lang="en-CA" dirty="0"/>
              <a:t> function from observed values.</a:t>
            </a:r>
          </a:p>
          <a:p>
            <a:r>
              <a:rPr lang="en-CA" dirty="0"/>
              <a:t>As this function is in general non-linear a natural approach is to use artificial neural networks (ANNs).</a:t>
            </a:r>
          </a:p>
          <a:p>
            <a:r>
              <a:rPr lang="en-CA" dirty="0"/>
              <a:t>We use an ANN to minimize the sum of squared errors between the estimates and the target</a:t>
            </a:r>
          </a:p>
          <a:p>
            <a:r>
              <a:rPr lang="en-CA" dirty="0"/>
              <a:t>This is known as deep </a:t>
            </a:r>
            <a:r>
              <a:rPr lang="en-CA" i="1" dirty="0">
                <a:latin typeface="+mj-lt"/>
              </a:rPr>
              <a:t>Q</a:t>
            </a:r>
            <a:r>
              <a:rPr lang="en-CA" dirty="0"/>
              <a:t>-learning or deep reinforcement learning</a:t>
            </a:r>
          </a:p>
        </p:txBody>
      </p:sp>
      <p:sp>
        <p:nvSpPr>
          <p:cNvPr id="5" name="Slide Number Placeholder 4"/>
          <p:cNvSpPr>
            <a:spLocks noGrp="1"/>
          </p:cNvSpPr>
          <p:nvPr>
            <p:ph type="sldNum" sz="quarter" idx="12"/>
          </p:nvPr>
        </p:nvSpPr>
        <p:spPr/>
        <p:txBody>
          <a:bodyPr/>
          <a:lstStyle/>
          <a:p>
            <a:fld id="{B095A5CE-67BC-412D-BFFD-14F19C21C82C}" type="slidenum">
              <a:rPr lang="en-CA" smtClean="0"/>
              <a:t>27</a:t>
            </a:fld>
            <a:endParaRPr lang="en-CA"/>
          </a:p>
        </p:txBody>
      </p:sp>
      <p:sp>
        <p:nvSpPr>
          <p:cNvPr id="3" name="Footer Placeholder 2"/>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1331059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endParaRPr lang="en-CA" dirty="0"/>
          </a:p>
        </p:txBody>
      </p:sp>
      <p:sp>
        <p:nvSpPr>
          <p:cNvPr id="3" name="Content Placeholder 2"/>
          <p:cNvSpPr>
            <a:spLocks noGrp="1"/>
          </p:cNvSpPr>
          <p:nvPr>
            <p:ph idx="1"/>
          </p:nvPr>
        </p:nvSpPr>
        <p:spPr/>
        <p:txBody>
          <a:bodyPr/>
          <a:lstStyle/>
          <a:p>
            <a:r>
              <a:rPr lang="en-US" dirty="0"/>
              <a:t>Games such as Go and chess</a:t>
            </a:r>
          </a:p>
          <a:p>
            <a:r>
              <a:rPr lang="en-US" dirty="0"/>
              <a:t>Driverless cars</a:t>
            </a:r>
          </a:p>
          <a:p>
            <a:r>
              <a:rPr lang="en-US" dirty="0"/>
              <a:t>Programming of traffic lights </a:t>
            </a:r>
          </a:p>
          <a:p>
            <a:r>
              <a:rPr lang="en-US" dirty="0"/>
              <a:t>Healthcare</a:t>
            </a:r>
          </a:p>
          <a:p>
            <a:r>
              <a:rPr lang="en-US" dirty="0"/>
              <a:t>Finance applications</a:t>
            </a:r>
          </a:p>
          <a:p>
            <a:pPr lvl="1"/>
            <a:r>
              <a:rPr lang="en-US" dirty="0"/>
              <a:t>Optimally selling a large block of shares</a:t>
            </a:r>
          </a:p>
          <a:p>
            <a:pPr lvl="1"/>
            <a:r>
              <a:rPr lang="en-US" dirty="0"/>
              <a:t>Portfolio management where there are transaction costs</a:t>
            </a:r>
          </a:p>
          <a:p>
            <a:pPr lvl="1"/>
            <a:r>
              <a:rPr lang="en-US" dirty="0"/>
              <a:t>Hedging</a:t>
            </a: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28</a:t>
            </a:fld>
            <a:endParaRPr lang="en-CA"/>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Tree>
    <p:extLst>
      <p:ext uri="{BB962C8B-B14F-4D97-AF65-F5344CB8AC3E}">
        <p14:creationId xmlns:p14="http://schemas.microsoft.com/office/powerpoint/2010/main" val="455692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B2270-A8D7-42DE-9E18-6B26468A58D9}"/>
              </a:ext>
            </a:extLst>
          </p:cNvPr>
          <p:cNvSpPr>
            <a:spLocks noGrp="1"/>
          </p:cNvSpPr>
          <p:nvPr>
            <p:ph type="title"/>
          </p:nvPr>
        </p:nvSpPr>
        <p:spPr/>
        <p:txBody>
          <a:bodyPr/>
          <a:lstStyle/>
          <a:p>
            <a:r>
              <a:rPr lang="en-CA" dirty="0"/>
              <a:t>Data Requirements</a:t>
            </a:r>
          </a:p>
        </p:txBody>
      </p:sp>
      <p:sp>
        <p:nvSpPr>
          <p:cNvPr id="3" name="Content Placeholder 2">
            <a:extLst>
              <a:ext uri="{FF2B5EF4-FFF2-40B4-BE49-F238E27FC236}">
                <a16:creationId xmlns:a16="http://schemas.microsoft.com/office/drawing/2014/main" id="{DA3FEAE3-4844-40E7-ABDD-40017DE4B7CC}"/>
              </a:ext>
            </a:extLst>
          </p:cNvPr>
          <p:cNvSpPr>
            <a:spLocks noGrp="1"/>
          </p:cNvSpPr>
          <p:nvPr>
            <p:ph idx="1"/>
          </p:nvPr>
        </p:nvSpPr>
        <p:spPr/>
        <p:txBody>
          <a:bodyPr/>
          <a:lstStyle/>
          <a:p>
            <a:r>
              <a:rPr lang="en-CA" dirty="0"/>
              <a:t>Reinforcement learning is very data hungry</a:t>
            </a:r>
          </a:p>
          <a:p>
            <a:r>
              <a:rPr lang="en-CA" dirty="0"/>
              <a:t>In many situations there is not enough real-life data to train the model</a:t>
            </a:r>
          </a:p>
          <a:p>
            <a:r>
              <a:rPr lang="en-CA" dirty="0"/>
              <a:t>An approach often used is to estimate the process generating real-life data and then simulate from this process</a:t>
            </a:r>
          </a:p>
          <a:p>
            <a:r>
              <a:rPr lang="en-CA" dirty="0"/>
              <a:t>An alternative is to use machine learning to generate data that is indistinguishable from historical data. One approach for doing this is to use variational autoencoders. Another is to use generative autoencoder networks.</a:t>
            </a:r>
          </a:p>
        </p:txBody>
      </p:sp>
      <p:sp>
        <p:nvSpPr>
          <p:cNvPr id="4" name="Footer Placeholder 3">
            <a:extLst>
              <a:ext uri="{FF2B5EF4-FFF2-40B4-BE49-F238E27FC236}">
                <a16:creationId xmlns:a16="http://schemas.microsoft.com/office/drawing/2014/main" id="{46C62EAF-8B93-486A-B239-817A999FCF08}"/>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a:extLst>
              <a:ext uri="{FF2B5EF4-FFF2-40B4-BE49-F238E27FC236}">
                <a16:creationId xmlns:a16="http://schemas.microsoft.com/office/drawing/2014/main" id="{488255E9-72A7-4D86-8F78-2C611C5337B8}"/>
              </a:ext>
            </a:extLst>
          </p:cNvPr>
          <p:cNvSpPr>
            <a:spLocks noGrp="1"/>
          </p:cNvSpPr>
          <p:nvPr>
            <p:ph type="sldNum" sz="quarter" idx="12"/>
          </p:nvPr>
        </p:nvSpPr>
        <p:spPr/>
        <p:txBody>
          <a:bodyPr/>
          <a:lstStyle/>
          <a:p>
            <a:fld id="{F979D778-5668-409F-BE61-8F31D5437AFC}" type="slidenum">
              <a:rPr lang="en-CA" smtClean="0"/>
              <a:t>29</a:t>
            </a:fld>
            <a:endParaRPr lang="en-CA"/>
          </a:p>
        </p:txBody>
      </p:sp>
    </p:spTree>
    <p:extLst>
      <p:ext uri="{BB962C8B-B14F-4D97-AF65-F5344CB8AC3E}">
        <p14:creationId xmlns:p14="http://schemas.microsoft.com/office/powerpoint/2010/main" val="3302561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Hedging Derivatives Portfolios</a:t>
            </a:r>
            <a:endParaRPr lang="en-CA" dirty="0"/>
          </a:p>
        </p:txBody>
      </p:sp>
      <p:sp>
        <p:nvSpPr>
          <p:cNvPr id="3" name="Content Placeholder 2"/>
          <p:cNvSpPr>
            <a:spLocks noGrp="1"/>
          </p:cNvSpPr>
          <p:nvPr>
            <p:ph idx="1"/>
          </p:nvPr>
        </p:nvSpPr>
        <p:spPr/>
        <p:txBody>
          <a:bodyPr/>
          <a:lstStyle/>
          <a:p>
            <a:r>
              <a:rPr lang="en-US" dirty="0"/>
              <a:t>Hedging is a sequential decision making problem</a:t>
            </a:r>
          </a:p>
          <a:p>
            <a:r>
              <a:rPr lang="en-US" dirty="0"/>
              <a:t>In the absence of transaction costs, each decision can be made independently of each other decision</a:t>
            </a:r>
          </a:p>
          <a:p>
            <a:r>
              <a:rPr lang="en-US" dirty="0"/>
              <a:t>When there are transaction costs, reinforcement learning can be used to develop a multi-period strategy</a:t>
            </a:r>
          </a:p>
          <a:p>
            <a:pPr marL="0" indent="0">
              <a:buNone/>
            </a:pPr>
            <a:endParaRPr lang="en-US" dirty="0"/>
          </a:p>
          <a:p>
            <a:endParaRPr lang="en-US"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30</a:t>
            </a:fld>
            <a:endParaRPr lang="en-CA"/>
          </a:p>
        </p:txBody>
      </p:sp>
    </p:spTree>
    <p:extLst>
      <p:ext uri="{BB962C8B-B14F-4D97-AF65-F5344CB8AC3E}">
        <p14:creationId xmlns:p14="http://schemas.microsoft.com/office/powerpoint/2010/main" val="2622665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BEAAC-9764-48E6-91FC-74A90C77BD71}"/>
              </a:ext>
            </a:extLst>
          </p:cNvPr>
          <p:cNvSpPr>
            <a:spLocks noGrp="1"/>
          </p:cNvSpPr>
          <p:nvPr>
            <p:ph type="title"/>
          </p:nvPr>
        </p:nvSpPr>
        <p:spPr/>
        <p:txBody>
          <a:bodyPr/>
          <a:lstStyle/>
          <a:p>
            <a:r>
              <a:rPr lang="en-CA" dirty="0"/>
              <a:t>Portfolio Management</a:t>
            </a:r>
          </a:p>
        </p:txBody>
      </p:sp>
      <p:sp>
        <p:nvSpPr>
          <p:cNvPr id="3" name="Content Placeholder 2">
            <a:extLst>
              <a:ext uri="{FF2B5EF4-FFF2-40B4-BE49-F238E27FC236}">
                <a16:creationId xmlns:a16="http://schemas.microsoft.com/office/drawing/2014/main" id="{673E3690-BB32-4E21-AE7B-F95E06FD20F3}"/>
              </a:ext>
            </a:extLst>
          </p:cNvPr>
          <p:cNvSpPr>
            <a:spLocks noGrp="1"/>
          </p:cNvSpPr>
          <p:nvPr>
            <p:ph idx="1"/>
          </p:nvPr>
        </p:nvSpPr>
        <p:spPr/>
        <p:txBody>
          <a:bodyPr/>
          <a:lstStyle/>
          <a:p>
            <a:r>
              <a:rPr lang="en-CA" dirty="0"/>
              <a:t>Reinforcement learning also has applications in portfolio management</a:t>
            </a:r>
          </a:p>
          <a:p>
            <a:r>
              <a:rPr lang="en-CA" dirty="0"/>
              <a:t>In taking a decision today it is necessary to consider how further decision will be taken as the environment changes</a:t>
            </a:r>
          </a:p>
        </p:txBody>
      </p:sp>
      <p:sp>
        <p:nvSpPr>
          <p:cNvPr id="4" name="Footer Placeholder 3">
            <a:extLst>
              <a:ext uri="{FF2B5EF4-FFF2-40B4-BE49-F238E27FC236}">
                <a16:creationId xmlns:a16="http://schemas.microsoft.com/office/drawing/2014/main" id="{605B01BB-67AD-4692-8991-60930DF90B2A}"/>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a:extLst>
              <a:ext uri="{FF2B5EF4-FFF2-40B4-BE49-F238E27FC236}">
                <a16:creationId xmlns:a16="http://schemas.microsoft.com/office/drawing/2014/main" id="{3346E9EC-C01F-4F2F-A899-CA6BDA63EDE2}"/>
              </a:ext>
            </a:extLst>
          </p:cNvPr>
          <p:cNvSpPr>
            <a:spLocks noGrp="1"/>
          </p:cNvSpPr>
          <p:nvPr>
            <p:ph type="sldNum" sz="quarter" idx="12"/>
          </p:nvPr>
        </p:nvSpPr>
        <p:spPr/>
        <p:txBody>
          <a:bodyPr/>
          <a:lstStyle/>
          <a:p>
            <a:fld id="{F979D778-5668-409F-BE61-8F31D5437AFC}" type="slidenum">
              <a:rPr lang="en-CA" smtClean="0"/>
              <a:t>31</a:t>
            </a:fld>
            <a:endParaRPr lang="en-CA"/>
          </a:p>
        </p:txBody>
      </p:sp>
    </p:spTree>
    <p:extLst>
      <p:ext uri="{BB962C8B-B14F-4D97-AF65-F5344CB8AC3E}">
        <p14:creationId xmlns:p14="http://schemas.microsoft.com/office/powerpoint/2010/main" val="2995949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CD6DB-4F00-4D70-A4BF-20B5C0F8F189}"/>
              </a:ext>
            </a:extLst>
          </p:cNvPr>
          <p:cNvSpPr>
            <a:spLocks noGrp="1"/>
          </p:cNvSpPr>
          <p:nvPr>
            <p:ph type="title"/>
          </p:nvPr>
        </p:nvSpPr>
        <p:spPr/>
        <p:txBody>
          <a:bodyPr/>
          <a:lstStyle/>
          <a:p>
            <a:r>
              <a:rPr lang="en-CA" dirty="0"/>
              <a:t>Optimal Trade Execution</a:t>
            </a:r>
          </a:p>
        </p:txBody>
      </p:sp>
      <p:sp>
        <p:nvSpPr>
          <p:cNvPr id="3" name="Content Placeholder 2">
            <a:extLst>
              <a:ext uri="{FF2B5EF4-FFF2-40B4-BE49-F238E27FC236}">
                <a16:creationId xmlns:a16="http://schemas.microsoft.com/office/drawing/2014/main" id="{705816D4-9622-42DD-8D2F-3164BB3B525E}"/>
              </a:ext>
            </a:extLst>
          </p:cNvPr>
          <p:cNvSpPr>
            <a:spLocks noGrp="1"/>
          </p:cNvSpPr>
          <p:nvPr>
            <p:ph idx="1"/>
          </p:nvPr>
        </p:nvSpPr>
        <p:spPr/>
        <p:txBody>
          <a:bodyPr/>
          <a:lstStyle/>
          <a:p>
            <a:r>
              <a:rPr lang="en-CA" dirty="0"/>
              <a:t>If a trader has a large block of shares to sell (or buy) what is the optimal strategy</a:t>
            </a:r>
          </a:p>
          <a:p>
            <a:r>
              <a:rPr lang="en-CA" dirty="0"/>
              <a:t>One large trade is likely to have  a negative impact on the price per share</a:t>
            </a:r>
          </a:p>
          <a:p>
            <a:r>
              <a:rPr lang="en-CA" dirty="0"/>
              <a:t>A series of small trades exposes the trader to market risk.</a:t>
            </a:r>
          </a:p>
        </p:txBody>
      </p:sp>
      <p:sp>
        <p:nvSpPr>
          <p:cNvPr id="4" name="Footer Placeholder 3">
            <a:extLst>
              <a:ext uri="{FF2B5EF4-FFF2-40B4-BE49-F238E27FC236}">
                <a16:creationId xmlns:a16="http://schemas.microsoft.com/office/drawing/2014/main" id="{4BD3B9D2-BA5E-4048-B3F1-4D48173CAB6E}"/>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a:extLst>
              <a:ext uri="{FF2B5EF4-FFF2-40B4-BE49-F238E27FC236}">
                <a16:creationId xmlns:a16="http://schemas.microsoft.com/office/drawing/2014/main" id="{788BB652-F557-416B-B5E2-2DB897E94D14}"/>
              </a:ext>
            </a:extLst>
          </p:cNvPr>
          <p:cNvSpPr>
            <a:spLocks noGrp="1"/>
          </p:cNvSpPr>
          <p:nvPr>
            <p:ph type="sldNum" sz="quarter" idx="12"/>
          </p:nvPr>
        </p:nvSpPr>
        <p:spPr/>
        <p:txBody>
          <a:bodyPr/>
          <a:lstStyle/>
          <a:p>
            <a:fld id="{F979D778-5668-409F-BE61-8F31D5437AFC}" type="slidenum">
              <a:rPr lang="en-CA" smtClean="0"/>
              <a:t>32</a:t>
            </a:fld>
            <a:endParaRPr lang="en-CA"/>
          </a:p>
        </p:txBody>
      </p:sp>
    </p:spTree>
    <p:extLst>
      <p:ext uri="{BB962C8B-B14F-4D97-AF65-F5344CB8AC3E}">
        <p14:creationId xmlns:p14="http://schemas.microsoft.com/office/powerpoint/2010/main" val="2439215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0F2BD-7372-449E-98CE-1D538DECB0F7}"/>
              </a:ext>
            </a:extLst>
          </p:cNvPr>
          <p:cNvSpPr>
            <a:spLocks noGrp="1"/>
          </p:cNvSpPr>
          <p:nvPr>
            <p:ph type="title"/>
          </p:nvPr>
        </p:nvSpPr>
        <p:spPr/>
        <p:txBody>
          <a:bodyPr/>
          <a:lstStyle/>
          <a:p>
            <a:r>
              <a:rPr lang="en-CA" dirty="0"/>
              <a:t>A Simple Example</a:t>
            </a:r>
          </a:p>
        </p:txBody>
      </p:sp>
      <p:sp>
        <p:nvSpPr>
          <p:cNvPr id="3" name="Content Placeholder 2">
            <a:extLst>
              <a:ext uri="{FF2B5EF4-FFF2-40B4-BE49-F238E27FC236}">
                <a16:creationId xmlns:a16="http://schemas.microsoft.com/office/drawing/2014/main" id="{561CA480-5AC2-42BA-A161-B8DD3460BD94}"/>
              </a:ext>
            </a:extLst>
          </p:cNvPr>
          <p:cNvSpPr>
            <a:spLocks noGrp="1"/>
          </p:cNvSpPr>
          <p:nvPr>
            <p:ph idx="1"/>
          </p:nvPr>
        </p:nvSpPr>
        <p:spPr/>
        <p:txBody>
          <a:bodyPr/>
          <a:lstStyle/>
          <a:p>
            <a:r>
              <a:rPr lang="en-CA" dirty="0"/>
              <a:t>A trader wants to sell 10 million shares over at most 10 days to maximize the expected price received</a:t>
            </a:r>
          </a:p>
          <a:p>
            <a:r>
              <a:rPr lang="en-CA" dirty="0"/>
              <a:t>The bid-mid spread for small trades is highly variable with 0.5%, 0.6%,….1.5% being equally likely</a:t>
            </a:r>
          </a:p>
          <a:p>
            <a:r>
              <a:rPr lang="en-CA" dirty="0"/>
              <a:t>For large trades the bid-mid spread increases by 0.05q where q is the number of shares traded.</a:t>
            </a:r>
          </a:p>
          <a:p>
            <a:r>
              <a:rPr lang="en-CA" dirty="0"/>
              <a:t>If all shares are traded at once the expected mid-bid cost is 1.5%. If they are traded one million per day over 10 days the mid-bid spread is 1.05%.</a:t>
            </a:r>
          </a:p>
          <a:p>
            <a:r>
              <a:rPr lang="en-CA" dirty="0"/>
              <a:t>Reinforcement learning shows that this can be reduced to 0.934%. </a:t>
            </a:r>
          </a:p>
        </p:txBody>
      </p:sp>
      <p:sp>
        <p:nvSpPr>
          <p:cNvPr id="4" name="Footer Placeholder 3">
            <a:extLst>
              <a:ext uri="{FF2B5EF4-FFF2-40B4-BE49-F238E27FC236}">
                <a16:creationId xmlns:a16="http://schemas.microsoft.com/office/drawing/2014/main" id="{212FA4A6-AF89-4454-819F-E537E488EB67}"/>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a:extLst>
              <a:ext uri="{FF2B5EF4-FFF2-40B4-BE49-F238E27FC236}">
                <a16:creationId xmlns:a16="http://schemas.microsoft.com/office/drawing/2014/main" id="{4EFC5FC1-9462-4A42-9912-6A1C0826649C}"/>
              </a:ext>
            </a:extLst>
          </p:cNvPr>
          <p:cNvSpPr>
            <a:spLocks noGrp="1"/>
          </p:cNvSpPr>
          <p:nvPr>
            <p:ph type="sldNum" sz="quarter" idx="12"/>
          </p:nvPr>
        </p:nvSpPr>
        <p:spPr/>
        <p:txBody>
          <a:bodyPr/>
          <a:lstStyle/>
          <a:p>
            <a:fld id="{F979D778-5668-409F-BE61-8F31D5437AFC}" type="slidenum">
              <a:rPr lang="en-CA" smtClean="0"/>
              <a:t>33</a:t>
            </a:fld>
            <a:endParaRPr lang="en-CA"/>
          </a:p>
        </p:txBody>
      </p:sp>
    </p:spTree>
    <p:extLst>
      <p:ext uri="{BB962C8B-B14F-4D97-AF65-F5344CB8AC3E}">
        <p14:creationId xmlns:p14="http://schemas.microsoft.com/office/powerpoint/2010/main" val="1692118662"/>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A5BA14-1DFC-4A17-ADE4-362DFF3C07D5}"/>
</file>

<file path=customXml/itemProps2.xml><?xml version="1.0" encoding="utf-8"?>
<ds:datastoreItem xmlns:ds="http://schemas.openxmlformats.org/officeDocument/2006/customXml" ds:itemID="{6697E1F8-4636-47E9-9E55-CBCC0949EDDE}"/>
</file>

<file path=customXml/itemProps3.xml><?xml version="1.0" encoding="utf-8"?>
<ds:datastoreItem xmlns:ds="http://schemas.openxmlformats.org/officeDocument/2006/customXml" ds:itemID="{F59FBE1B-95AC-43FB-9AB6-994A618A1260}"/>
</file>

<file path=docProps/app.xml><?xml version="1.0" encoding="utf-8"?>
<Properties xmlns="http://schemas.openxmlformats.org/officeDocument/2006/extended-properties" xmlns:vt="http://schemas.openxmlformats.org/officeDocument/2006/docPropsVTypes">
  <Template>Chapter 2</Template>
  <TotalTime>2998</TotalTime>
  <Words>2427</Words>
  <Application>Microsoft Office PowerPoint</Application>
  <PresentationFormat>On-screen Show (4:3)</PresentationFormat>
  <Paragraphs>377</Paragraphs>
  <Slides>33</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3" baseType="lpstr">
      <vt:lpstr>Arial</vt:lpstr>
      <vt:lpstr>Calibri</vt:lpstr>
      <vt:lpstr>Cambria</vt:lpstr>
      <vt:lpstr>Cambria Math</vt:lpstr>
      <vt:lpstr>Symbol</vt:lpstr>
      <vt:lpstr>Tahoma</vt:lpstr>
      <vt:lpstr>Times New Roman</vt:lpstr>
      <vt:lpstr>Global</vt:lpstr>
      <vt:lpstr>Global</vt:lpstr>
      <vt:lpstr>Equation</vt:lpstr>
      <vt:lpstr>Machine Learning and Business,  3rd Edition</vt:lpstr>
      <vt:lpstr>Reinforcement Learning</vt:lpstr>
      <vt:lpstr>Rewards and costs</vt:lpstr>
      <vt:lpstr>Well known successes</vt:lpstr>
      <vt:lpstr>A Simple Example: K-armed bandits</vt:lpstr>
      <vt:lpstr>Strategy</vt:lpstr>
      <vt:lpstr>The Math (page 174)</vt:lpstr>
      <vt:lpstr>The exploration parameter e</vt:lpstr>
      <vt:lpstr>4 bandits (m1=1.2, m2=1, m3=0.8, m4=1.4); e starts at 1 but has a decay factor of 0.99 Initially Q-values are set equal to zero. (Table 8.3)</vt:lpstr>
      <vt:lpstr>The More General Model: Actions and States (Figure 8.1)</vt:lpstr>
      <vt:lpstr>Objective</vt:lpstr>
      <vt:lpstr>Updating</vt:lpstr>
      <vt:lpstr>A Simple Example: the game of Nim</vt:lpstr>
      <vt:lpstr>Using Monte Carlo</vt:lpstr>
      <vt:lpstr>Using Monte Carlo continued</vt:lpstr>
      <vt:lpstr>Nim with 8 matches in the pile initially</vt:lpstr>
      <vt:lpstr>Nim continued</vt:lpstr>
      <vt:lpstr>Nim after one trial (1,[3],1,[3])</vt:lpstr>
      <vt:lpstr>Next trials</vt:lpstr>
      <vt:lpstr>Example of convergence, (Tables 8.9 to 8.11). e starts at 1 and has a decay factor of 0.9995</vt:lpstr>
      <vt:lpstr>Dynamic Programming</vt:lpstr>
      <vt:lpstr>Temporal difference learning</vt:lpstr>
      <vt:lpstr>Example (page 158-159)</vt:lpstr>
      <vt:lpstr>Example of convergence. e starts at 1 and has a decay factor of 0.9995. Temporal Difference Learning (Tables 8.12, 8.13, 8.14)</vt:lpstr>
      <vt:lpstr>Temporal Difference Results When Opponent Also Learns</vt:lpstr>
      <vt:lpstr>n-step bootstrapping</vt:lpstr>
      <vt:lpstr>When there are many states or actions (or both)</vt:lpstr>
      <vt:lpstr>Applications</vt:lpstr>
      <vt:lpstr>Data Requirements</vt:lpstr>
      <vt:lpstr>Hedging Derivatives Portfolios</vt:lpstr>
      <vt:lpstr>Portfolio Management</vt:lpstr>
      <vt:lpstr>Optimal Trade Execution</vt:lpstr>
      <vt:lpstr>A Simple Example</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dc:title>
  <dc:subject>Machine Learning in Business</dc:subject>
  <dc:creator>hull</dc:creator>
  <cp:keywords>Chapter 7</cp:keywords>
  <dc:description>Copyright 2019 by John C. Hull. All Rights Reserved. Published 2019.</dc:description>
  <cp:lastModifiedBy>John Hull</cp:lastModifiedBy>
  <cp:revision>101</cp:revision>
  <dcterms:created xsi:type="dcterms:W3CDTF">2019-07-16T22:03:37Z</dcterms:created>
  <dcterms:modified xsi:type="dcterms:W3CDTF">2021-05-28T16:42:13Z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