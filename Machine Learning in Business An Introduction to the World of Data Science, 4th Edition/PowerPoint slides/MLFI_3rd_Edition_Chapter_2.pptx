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5" r:id="rId2"/>
  </p:sldMasterIdLst>
  <p:notesMasterIdLst>
    <p:notesMasterId r:id="rId37"/>
  </p:notesMasterIdLst>
  <p:sldIdLst>
    <p:sldId id="256" r:id="rId3"/>
    <p:sldId id="268" r:id="rId4"/>
    <p:sldId id="267" r:id="rId5"/>
    <p:sldId id="269" r:id="rId6"/>
    <p:sldId id="292" r:id="rId7"/>
    <p:sldId id="270" r:id="rId8"/>
    <p:sldId id="271" r:id="rId9"/>
    <p:sldId id="272" r:id="rId10"/>
    <p:sldId id="262" r:id="rId11"/>
    <p:sldId id="287" r:id="rId12"/>
    <p:sldId id="288" r:id="rId13"/>
    <p:sldId id="289" r:id="rId14"/>
    <p:sldId id="290" r:id="rId15"/>
    <p:sldId id="293" r:id="rId16"/>
    <p:sldId id="291" r:id="rId17"/>
    <p:sldId id="273" r:id="rId18"/>
    <p:sldId id="274" r:id="rId19"/>
    <p:sldId id="275" r:id="rId20"/>
    <p:sldId id="276" r:id="rId21"/>
    <p:sldId id="259" r:id="rId22"/>
    <p:sldId id="294" r:id="rId23"/>
    <p:sldId id="295" r:id="rId24"/>
    <p:sldId id="260" r:id="rId25"/>
    <p:sldId id="263" r:id="rId26"/>
    <p:sldId id="277" r:id="rId27"/>
    <p:sldId id="279" r:id="rId28"/>
    <p:sldId id="278" r:id="rId29"/>
    <p:sldId id="280" r:id="rId30"/>
    <p:sldId id="281" r:id="rId31"/>
    <p:sldId id="282" r:id="rId32"/>
    <p:sldId id="283" r:id="rId33"/>
    <p:sldId id="284" r:id="rId34"/>
    <p:sldId id="285" r:id="rId35"/>
    <p:sldId id="286"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39D4B7-931E-4932-B6F7-1EB6D6295997}" v="2" dt="2021-05-27T20:54:32.9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59" autoAdjust="0"/>
    <p:restoredTop sz="86482" autoAdjust="0"/>
  </p:normalViewPr>
  <p:slideViewPr>
    <p:cSldViewPr>
      <p:cViewPr varScale="1">
        <p:scale>
          <a:sx n="95" d="100"/>
          <a:sy n="95" d="100"/>
        </p:scale>
        <p:origin x="772" y="10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45"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customXml" Target="../customXml/item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46" Type="http://schemas.openxmlformats.org/officeDocument/2006/relationships/customXml" Target="../customXml/item3.xml"/><Relationship Id="rId20" Type="http://schemas.openxmlformats.org/officeDocument/2006/relationships/slide" Target="slides/slide18.xml"/><Relationship Id="rId4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Hull" userId="b3f65f64fa01e6a6" providerId="LiveId" clId="{4B39D4B7-931E-4932-B6F7-1EB6D6295997}"/>
    <pc:docChg chg="modSld">
      <pc:chgData name="John Hull" userId="b3f65f64fa01e6a6" providerId="LiveId" clId="{4B39D4B7-931E-4932-B6F7-1EB6D6295997}" dt="2021-05-28T00:12:41.706" v="29" actId="20577"/>
      <pc:docMkLst>
        <pc:docMk/>
      </pc:docMkLst>
      <pc:sldChg chg="modSp mod">
        <pc:chgData name="John Hull" userId="b3f65f64fa01e6a6" providerId="LiveId" clId="{4B39D4B7-931E-4932-B6F7-1EB6D6295997}" dt="2021-05-28T00:12:41.706" v="29" actId="20577"/>
        <pc:sldMkLst>
          <pc:docMk/>
          <pc:sldMk cId="2480475516" sldId="256"/>
        </pc:sldMkLst>
        <pc:spChg chg="mod">
          <ac:chgData name="John Hull" userId="b3f65f64fa01e6a6" providerId="LiveId" clId="{4B39D4B7-931E-4932-B6F7-1EB6D6295997}" dt="2021-05-28T00:12:41.706" v="29" actId="20577"/>
          <ac:spMkLst>
            <pc:docMk/>
            <pc:sldMk cId="2480475516" sldId="25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AC7D64-316E-4F08-8B44-0EC06156AAEF}" type="datetimeFigureOut">
              <a:rPr lang="en-CA" smtClean="0"/>
              <a:t>2021-05-27</a:t>
            </a:fld>
            <a:endParaRPr lang="en-CA"/>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409B72-5246-4E92-9BC5-1AEC953ADA5C}" type="slidenum">
              <a:rPr lang="en-CA" smtClean="0"/>
              <a:t>‹#›</a:t>
            </a:fld>
            <a:endParaRPr lang="en-CA"/>
          </a:p>
        </p:txBody>
      </p:sp>
    </p:spTree>
    <p:extLst>
      <p:ext uri="{BB962C8B-B14F-4D97-AF65-F5344CB8AC3E}">
        <p14:creationId xmlns:p14="http://schemas.microsoft.com/office/powerpoint/2010/main" val="1832601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8263" y="1162050"/>
            <a:ext cx="4181475" cy="3136900"/>
          </a:xfrm>
        </p:spPr>
      </p:sp>
      <p:sp>
        <p:nvSpPr>
          <p:cNvPr id="3" name="Notes Placeholder 2"/>
          <p:cNvSpPr>
            <a:spLocks noGrp="1"/>
          </p:cNvSpPr>
          <p:nvPr>
            <p:ph type="body" idx="1"/>
          </p:nvPr>
        </p:nvSpPr>
        <p:spPr/>
        <p:txBody>
          <a:bodyPr/>
          <a:lstStyle/>
          <a:p>
            <a:r>
              <a:rPr lang="en-US" dirty="0"/>
              <a:t>Simple example to illustrate how the algorithm works</a:t>
            </a:r>
            <a:endParaRPr lang="en-CA" dirty="0"/>
          </a:p>
        </p:txBody>
      </p:sp>
      <p:sp>
        <p:nvSpPr>
          <p:cNvPr id="4" name="Slide Number Placeholder 3"/>
          <p:cNvSpPr>
            <a:spLocks noGrp="1"/>
          </p:cNvSpPr>
          <p:nvPr>
            <p:ph type="sldNum" sz="quarter" idx="10"/>
          </p:nvPr>
        </p:nvSpPr>
        <p:spPr/>
        <p:txBody>
          <a:bodyPr/>
          <a:lstStyle/>
          <a:p>
            <a:fld id="{D7B6EEB0-B81E-400F-AEF9-BEEEAA58A4C7}" type="slidenum">
              <a:rPr lang="en-CA" smtClean="0"/>
              <a:t>10</a:t>
            </a:fld>
            <a:endParaRPr lang="en-CA"/>
          </a:p>
        </p:txBody>
      </p:sp>
    </p:spTree>
    <p:extLst>
      <p:ext uri="{BB962C8B-B14F-4D97-AF65-F5344CB8AC3E}">
        <p14:creationId xmlns:p14="http://schemas.microsoft.com/office/powerpoint/2010/main" val="11621253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eaLnBrk="1" fontAlgn="auto" hangingPunct="1">
                <a:spcBef>
                  <a:spcPts val="0"/>
                </a:spcBef>
                <a:spcAft>
                  <a:spcPts val="0"/>
                </a:spcAft>
                <a:defRPr/>
              </a:pPr>
              <a:endParaRPr lang="en-US" sz="1350">
                <a:latin typeface="Arial" charset="0"/>
                <a:cs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64333 w 4848"/>
                  <a:gd name="T1" fmla="*/ 203416971 h 432"/>
                  <a:gd name="T2" fmla="*/ 0 w 4848"/>
                  <a:gd name="T3" fmla="*/ 203416971 h 432"/>
                  <a:gd name="T4" fmla="*/ 0 w 4848"/>
                  <a:gd name="T5" fmla="*/ 0 h 432"/>
                  <a:gd name="T6" fmla="*/ 64333 w 4848"/>
                  <a:gd name="T7" fmla="*/ 0 h 432"/>
                  <a:gd name="T8" fmla="*/ 64333 w 4848"/>
                  <a:gd name="T9" fmla="*/ 203416971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33 w 15"/>
                    <a:gd name="T1" fmla="*/ 3 h 23"/>
                    <a:gd name="T2" fmla="*/ 97 w 15"/>
                    <a:gd name="T3" fmla="*/ 3 h 23"/>
                    <a:gd name="T4" fmla="*/ 86 w 15"/>
                    <a:gd name="T5" fmla="*/ 3 h 23"/>
                    <a:gd name="T6" fmla="*/ 33 w 15"/>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39" name="Freeform 8"/>
                <p:cNvSpPr>
                  <a:spLocks/>
                </p:cNvSpPr>
                <p:nvPr userDrawn="1"/>
              </p:nvSpPr>
              <p:spPr bwMode="ltGray">
                <a:xfrm>
                  <a:off x="3406" y="1015"/>
                  <a:ext cx="21" cy="20"/>
                </a:xfrm>
                <a:custGeom>
                  <a:avLst/>
                  <a:gdLst>
                    <a:gd name="T0" fmla="*/ 3 w 20"/>
                    <a:gd name="T1" fmla="*/ 3 h 23"/>
                    <a:gd name="T2" fmla="*/ 26 w 20"/>
                    <a:gd name="T3" fmla="*/ 3 h 23"/>
                    <a:gd name="T4" fmla="*/ 7 w 20"/>
                    <a:gd name="T5" fmla="*/ 3 h 23"/>
                    <a:gd name="T6" fmla="*/ 3 w 20"/>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0" name="Freeform 9"/>
                <p:cNvSpPr>
                  <a:spLocks/>
                </p:cNvSpPr>
                <p:nvPr userDrawn="1"/>
              </p:nvSpPr>
              <p:spPr bwMode="ltGray">
                <a:xfrm>
                  <a:off x="2909" y="908"/>
                  <a:ext cx="31" cy="34"/>
                </a:xfrm>
                <a:custGeom>
                  <a:avLst/>
                  <a:gdLst>
                    <a:gd name="T0" fmla="*/ 31 w 30"/>
                    <a:gd name="T1" fmla="*/ 2 h 42"/>
                    <a:gd name="T2" fmla="*/ 8 w 30"/>
                    <a:gd name="T3" fmla="*/ 2 h 42"/>
                    <a:gd name="T4" fmla="*/ 0 w 30"/>
                    <a:gd name="T5" fmla="*/ 2 h 42"/>
                    <a:gd name="T6" fmla="*/ 31 w 30"/>
                    <a:gd name="T7" fmla="*/ 2 h 42"/>
                    <a:gd name="T8" fmla="*/ 45 w 30"/>
                    <a:gd name="T9" fmla="*/ 2 h 42"/>
                    <a:gd name="T10" fmla="*/ 43 w 30"/>
                    <a:gd name="T11" fmla="*/ 2 h 42"/>
                    <a:gd name="T12" fmla="*/ 31 w 30"/>
                    <a:gd name="T13" fmla="*/ 2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1" name="Freeform 10"/>
                <p:cNvSpPr>
                  <a:spLocks/>
                </p:cNvSpPr>
                <p:nvPr userDrawn="1"/>
              </p:nvSpPr>
              <p:spPr bwMode="ltGray">
                <a:xfrm>
                  <a:off x="2551" y="940"/>
                  <a:ext cx="25" cy="12"/>
                </a:xfrm>
                <a:custGeom>
                  <a:avLst/>
                  <a:gdLst>
                    <a:gd name="T0" fmla="*/ 15 w 25"/>
                    <a:gd name="T1" fmla="*/ 2 h 16"/>
                    <a:gd name="T2" fmla="*/ 3 w 25"/>
                    <a:gd name="T3" fmla="*/ 2 h 16"/>
                    <a:gd name="T4" fmla="*/ 15 w 25"/>
                    <a:gd name="T5" fmla="*/ 0 h 16"/>
                    <a:gd name="T6" fmla="*/ 15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2" name="Freeform 11"/>
                <p:cNvSpPr>
                  <a:spLocks/>
                </p:cNvSpPr>
                <p:nvPr userDrawn="1"/>
              </p:nvSpPr>
              <p:spPr bwMode="ltGray">
                <a:xfrm>
                  <a:off x="2443" y="954"/>
                  <a:ext cx="65" cy="39"/>
                </a:xfrm>
                <a:custGeom>
                  <a:avLst/>
                  <a:gdLst>
                    <a:gd name="T0" fmla="*/ 14 w 65"/>
                    <a:gd name="T1" fmla="*/ 3 h 46"/>
                    <a:gd name="T2" fmla="*/ 30 w 65"/>
                    <a:gd name="T3" fmla="*/ 3 h 46"/>
                    <a:gd name="T4" fmla="*/ 42 w 65"/>
                    <a:gd name="T5" fmla="*/ 0 h 46"/>
                    <a:gd name="T6" fmla="*/ 58 w 65"/>
                    <a:gd name="T7" fmla="*/ 3 h 46"/>
                    <a:gd name="T8" fmla="*/ 32 w 65"/>
                    <a:gd name="T9" fmla="*/ 3 h 46"/>
                    <a:gd name="T10" fmla="*/ 12 w 65"/>
                    <a:gd name="T11" fmla="*/ 3 h 46"/>
                    <a:gd name="T12" fmla="*/ 8 w 65"/>
                    <a:gd name="T13" fmla="*/ 3 h 46"/>
                    <a:gd name="T14" fmla="*/ 12 w 65"/>
                    <a:gd name="T15" fmla="*/ 3 h 46"/>
                    <a:gd name="T16" fmla="*/ 14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3" name="Freeform 12"/>
                <p:cNvSpPr>
                  <a:spLocks/>
                </p:cNvSpPr>
                <p:nvPr userDrawn="1"/>
              </p:nvSpPr>
              <p:spPr bwMode="ltGray">
                <a:xfrm>
                  <a:off x="2375" y="952"/>
                  <a:ext cx="68" cy="39"/>
                </a:xfrm>
                <a:custGeom>
                  <a:avLst/>
                  <a:gdLst>
                    <a:gd name="T0" fmla="*/ 0 w 69"/>
                    <a:gd name="T1" fmla="*/ 2 h 47"/>
                    <a:gd name="T2" fmla="*/ 18 w 69"/>
                    <a:gd name="T3" fmla="*/ 2 h 47"/>
                    <a:gd name="T4" fmla="*/ 37 w 69"/>
                    <a:gd name="T5" fmla="*/ 1 h 47"/>
                    <a:gd name="T6" fmla="*/ 49 w 69"/>
                    <a:gd name="T7" fmla="*/ 2 h 47"/>
                    <a:gd name="T8" fmla="*/ 35 w 69"/>
                    <a:gd name="T9" fmla="*/ 2 h 47"/>
                    <a:gd name="T10" fmla="*/ 28 w 69"/>
                    <a:gd name="T11" fmla="*/ 2 h 47"/>
                    <a:gd name="T12" fmla="*/ 22 w 69"/>
                    <a:gd name="T13" fmla="*/ 2 h 47"/>
                    <a:gd name="T14" fmla="*/ 16 w 69"/>
                    <a:gd name="T15" fmla="*/ 2 h 47"/>
                    <a:gd name="T16" fmla="*/ 12 w 69"/>
                    <a:gd name="T17" fmla="*/ 2 h 47"/>
                    <a:gd name="T18" fmla="*/ 0 w 69"/>
                    <a:gd name="T19" fmla="*/ 2 h 47"/>
                    <a:gd name="T20" fmla="*/ 0 w 69"/>
                    <a:gd name="T21" fmla="*/ 2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4" name="Freeform 13"/>
                <p:cNvSpPr>
                  <a:spLocks/>
                </p:cNvSpPr>
                <p:nvPr userDrawn="1"/>
              </p:nvSpPr>
              <p:spPr bwMode="ltGray">
                <a:xfrm>
                  <a:off x="2007" y="739"/>
                  <a:ext cx="354" cy="228"/>
                </a:xfrm>
                <a:custGeom>
                  <a:avLst/>
                  <a:gdLst>
                    <a:gd name="T0" fmla="*/ 10 w 355"/>
                    <a:gd name="T1" fmla="*/ 2 h 277"/>
                    <a:gd name="T2" fmla="*/ 36 w 355"/>
                    <a:gd name="T3" fmla="*/ 2 h 277"/>
                    <a:gd name="T4" fmla="*/ 46 w 355"/>
                    <a:gd name="T5" fmla="*/ 2 h 277"/>
                    <a:gd name="T6" fmla="*/ 76 w 355"/>
                    <a:gd name="T7" fmla="*/ 2 h 277"/>
                    <a:gd name="T8" fmla="*/ 92 w 355"/>
                    <a:gd name="T9" fmla="*/ 4 h 277"/>
                    <a:gd name="T10" fmla="*/ 122 w 355"/>
                    <a:gd name="T11" fmla="*/ 6 h 277"/>
                    <a:gd name="T12" fmla="*/ 136 w 355"/>
                    <a:gd name="T13" fmla="*/ 7 h 277"/>
                    <a:gd name="T14" fmla="*/ 148 w 355"/>
                    <a:gd name="T15" fmla="*/ 7 h 277"/>
                    <a:gd name="T16" fmla="*/ 154 w 355"/>
                    <a:gd name="T17" fmla="*/ 8 h 277"/>
                    <a:gd name="T18" fmla="*/ 176 w 355"/>
                    <a:gd name="T19" fmla="*/ 8 h 277"/>
                    <a:gd name="T20" fmla="*/ 170 w 355"/>
                    <a:gd name="T21" fmla="*/ 11 h 277"/>
                    <a:gd name="T22" fmla="*/ 177 w 355"/>
                    <a:gd name="T23" fmla="*/ 12 h 277"/>
                    <a:gd name="T24" fmla="*/ 183 w 355"/>
                    <a:gd name="T25" fmla="*/ 12 h 277"/>
                    <a:gd name="T26" fmla="*/ 201 w 355"/>
                    <a:gd name="T27" fmla="*/ 12 h 277"/>
                    <a:gd name="T28" fmla="*/ 221 w 355"/>
                    <a:gd name="T29" fmla="*/ 13 h 277"/>
                    <a:gd name="T30" fmla="*/ 239 w 355"/>
                    <a:gd name="T31" fmla="*/ 13 h 277"/>
                    <a:gd name="T32" fmla="*/ 257 w 355"/>
                    <a:gd name="T33" fmla="*/ 13 h 277"/>
                    <a:gd name="T34" fmla="*/ 281 w 355"/>
                    <a:gd name="T35" fmla="*/ 14 h 277"/>
                    <a:gd name="T36" fmla="*/ 299 w 355"/>
                    <a:gd name="T37" fmla="*/ 14 h 277"/>
                    <a:gd name="T38" fmla="*/ 337 w 355"/>
                    <a:gd name="T39" fmla="*/ 14 h 277"/>
                    <a:gd name="T40" fmla="*/ 327 w 355"/>
                    <a:gd name="T41" fmla="*/ 15 h 277"/>
                    <a:gd name="T42" fmla="*/ 307 w 355"/>
                    <a:gd name="T43" fmla="*/ 14 h 277"/>
                    <a:gd name="T44" fmla="*/ 285 w 355"/>
                    <a:gd name="T45" fmla="*/ 14 h 277"/>
                    <a:gd name="T46" fmla="*/ 273 w 355"/>
                    <a:gd name="T47" fmla="*/ 14 h 277"/>
                    <a:gd name="T48" fmla="*/ 237 w 355"/>
                    <a:gd name="T49" fmla="*/ 14 h 277"/>
                    <a:gd name="T50" fmla="*/ 219 w 355"/>
                    <a:gd name="T51" fmla="*/ 14 h 277"/>
                    <a:gd name="T52" fmla="*/ 172 w 355"/>
                    <a:gd name="T53" fmla="*/ 13 h 277"/>
                    <a:gd name="T54" fmla="*/ 160 w 355"/>
                    <a:gd name="T55" fmla="*/ 12 h 277"/>
                    <a:gd name="T56" fmla="*/ 126 w 355"/>
                    <a:gd name="T57" fmla="*/ 11 h 277"/>
                    <a:gd name="T58" fmla="*/ 108 w 355"/>
                    <a:gd name="T59" fmla="*/ 10 h 277"/>
                    <a:gd name="T60" fmla="*/ 94 w 355"/>
                    <a:gd name="T61" fmla="*/ 8 h 277"/>
                    <a:gd name="T62" fmla="*/ 68 w 355"/>
                    <a:gd name="T63" fmla="*/ 6 h 277"/>
                    <a:gd name="T64" fmla="*/ 64 w 355"/>
                    <a:gd name="T65" fmla="*/ 6 h 277"/>
                    <a:gd name="T66" fmla="*/ 58 w 355"/>
                    <a:gd name="T67" fmla="*/ 6 h 277"/>
                    <a:gd name="T68" fmla="*/ 54 w 355"/>
                    <a:gd name="T69" fmla="*/ 5 h 277"/>
                    <a:gd name="T70" fmla="*/ 38 w 355"/>
                    <a:gd name="T71" fmla="*/ 3 h 277"/>
                    <a:gd name="T72" fmla="*/ 20 w 355"/>
                    <a:gd name="T73" fmla="*/ 2 h 277"/>
                    <a:gd name="T74" fmla="*/ 4 w 355"/>
                    <a:gd name="T75" fmla="*/ 2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5" name="Freeform 14"/>
                <p:cNvSpPr>
                  <a:spLocks/>
                </p:cNvSpPr>
                <p:nvPr userDrawn="1"/>
              </p:nvSpPr>
              <p:spPr bwMode="ltGray">
                <a:xfrm>
                  <a:off x="2222" y="724"/>
                  <a:ext cx="157" cy="167"/>
                </a:xfrm>
                <a:custGeom>
                  <a:avLst/>
                  <a:gdLst>
                    <a:gd name="T0" fmla="*/ 54 w 156"/>
                    <a:gd name="T1" fmla="*/ 2 h 206"/>
                    <a:gd name="T2" fmla="*/ 66 w 156"/>
                    <a:gd name="T3" fmla="*/ 2 h 206"/>
                    <a:gd name="T4" fmla="*/ 68 w 156"/>
                    <a:gd name="T5" fmla="*/ 2 h 206"/>
                    <a:gd name="T6" fmla="*/ 95 w 156"/>
                    <a:gd name="T7" fmla="*/ 2 h 206"/>
                    <a:gd name="T8" fmla="*/ 121 w 156"/>
                    <a:gd name="T9" fmla="*/ 2 h 206"/>
                    <a:gd name="T10" fmla="*/ 127 w 156"/>
                    <a:gd name="T11" fmla="*/ 2 h 206"/>
                    <a:gd name="T12" fmla="*/ 139 w 156"/>
                    <a:gd name="T13" fmla="*/ 0 h 206"/>
                    <a:gd name="T14" fmla="*/ 165 w 156"/>
                    <a:gd name="T15" fmla="*/ 2 h 206"/>
                    <a:gd name="T16" fmla="*/ 161 w 156"/>
                    <a:gd name="T17" fmla="*/ 2 h 206"/>
                    <a:gd name="T18" fmla="*/ 141 w 156"/>
                    <a:gd name="T19" fmla="*/ 2 h 206"/>
                    <a:gd name="T20" fmla="*/ 147 w 156"/>
                    <a:gd name="T21" fmla="*/ 4 h 206"/>
                    <a:gd name="T22" fmla="*/ 157 w 156"/>
                    <a:gd name="T23" fmla="*/ 5 h 206"/>
                    <a:gd name="T24" fmla="*/ 161 w 156"/>
                    <a:gd name="T25" fmla="*/ 5 h 206"/>
                    <a:gd name="T26" fmla="*/ 143 w 156"/>
                    <a:gd name="T27" fmla="*/ 5 h 206"/>
                    <a:gd name="T28" fmla="*/ 131 w 156"/>
                    <a:gd name="T29" fmla="*/ 6 h 206"/>
                    <a:gd name="T30" fmla="*/ 119 w 156"/>
                    <a:gd name="T31" fmla="*/ 6 h 206"/>
                    <a:gd name="T32" fmla="*/ 115 w 156"/>
                    <a:gd name="T33" fmla="*/ 8 h 206"/>
                    <a:gd name="T34" fmla="*/ 103 w 156"/>
                    <a:gd name="T35" fmla="*/ 9 h 206"/>
                    <a:gd name="T36" fmla="*/ 97 w 156"/>
                    <a:gd name="T37" fmla="*/ 9 h 206"/>
                    <a:gd name="T38" fmla="*/ 76 w 156"/>
                    <a:gd name="T39" fmla="*/ 9 h 206"/>
                    <a:gd name="T40" fmla="*/ 72 w 156"/>
                    <a:gd name="T41" fmla="*/ 8 h 206"/>
                    <a:gd name="T42" fmla="*/ 60 w 156"/>
                    <a:gd name="T43" fmla="*/ 8 h 206"/>
                    <a:gd name="T44" fmla="*/ 42 w 156"/>
                    <a:gd name="T45" fmla="*/ 8 h 206"/>
                    <a:gd name="T46" fmla="*/ 28 w 156"/>
                    <a:gd name="T47" fmla="*/ 8 h 206"/>
                    <a:gd name="T48" fmla="*/ 10 w 156"/>
                    <a:gd name="T49" fmla="*/ 6 h 206"/>
                    <a:gd name="T50" fmla="*/ 4 w 156"/>
                    <a:gd name="T51" fmla="*/ 5 h 206"/>
                    <a:gd name="T52" fmla="*/ 0 w 156"/>
                    <a:gd name="T53" fmla="*/ 5 h 206"/>
                    <a:gd name="T54" fmla="*/ 20 w 156"/>
                    <a:gd name="T55" fmla="*/ 4 h 206"/>
                    <a:gd name="T56" fmla="*/ 32 w 156"/>
                    <a:gd name="T57" fmla="*/ 4 h 206"/>
                    <a:gd name="T58" fmla="*/ 34 w 156"/>
                    <a:gd name="T59" fmla="*/ 3 h 206"/>
                    <a:gd name="T60" fmla="*/ 52 w 156"/>
                    <a:gd name="T61" fmla="*/ 2 h 206"/>
                    <a:gd name="T62" fmla="*/ 54 w 156"/>
                    <a:gd name="T63" fmla="*/ 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6" name="Freeform 15"/>
                <p:cNvSpPr>
                  <a:spLocks/>
                </p:cNvSpPr>
                <p:nvPr userDrawn="1"/>
              </p:nvSpPr>
              <p:spPr bwMode="ltGray">
                <a:xfrm>
                  <a:off x="2375" y="800"/>
                  <a:ext cx="110" cy="32"/>
                </a:xfrm>
                <a:custGeom>
                  <a:avLst/>
                  <a:gdLst>
                    <a:gd name="T0" fmla="*/ 4 w 109"/>
                    <a:gd name="T1" fmla="*/ 3 h 38"/>
                    <a:gd name="T2" fmla="*/ 18 w 109"/>
                    <a:gd name="T3" fmla="*/ 3 h 38"/>
                    <a:gd name="T4" fmla="*/ 46 w 109"/>
                    <a:gd name="T5" fmla="*/ 3 h 38"/>
                    <a:gd name="T6" fmla="*/ 87 w 109"/>
                    <a:gd name="T7" fmla="*/ 3 h 38"/>
                    <a:gd name="T8" fmla="*/ 105 w 109"/>
                    <a:gd name="T9" fmla="*/ 0 h 38"/>
                    <a:gd name="T10" fmla="*/ 91 w 109"/>
                    <a:gd name="T11" fmla="*/ 3 h 38"/>
                    <a:gd name="T12" fmla="*/ 75 w 109"/>
                    <a:gd name="T13" fmla="*/ 3 h 38"/>
                    <a:gd name="T14" fmla="*/ 42 w 109"/>
                    <a:gd name="T15" fmla="*/ 3 h 38"/>
                    <a:gd name="T16" fmla="*/ 14 w 109"/>
                    <a:gd name="T17" fmla="*/ 3 h 38"/>
                    <a:gd name="T18" fmla="*/ 4 w 109"/>
                    <a:gd name="T19" fmla="*/ 3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7" name="Freeform 16"/>
                <p:cNvSpPr>
                  <a:spLocks/>
                </p:cNvSpPr>
                <p:nvPr userDrawn="1"/>
              </p:nvSpPr>
              <p:spPr bwMode="ltGray">
                <a:xfrm>
                  <a:off x="2370" y="839"/>
                  <a:ext cx="75" cy="84"/>
                </a:xfrm>
                <a:custGeom>
                  <a:avLst/>
                  <a:gdLst>
                    <a:gd name="T0" fmla="*/ 8 w 76"/>
                    <a:gd name="T1" fmla="*/ 2 h 104"/>
                    <a:gd name="T2" fmla="*/ 18 w 76"/>
                    <a:gd name="T3" fmla="*/ 0 h 104"/>
                    <a:gd name="T4" fmla="*/ 34 w 76"/>
                    <a:gd name="T5" fmla="*/ 2 h 104"/>
                    <a:gd name="T6" fmla="*/ 47 w 76"/>
                    <a:gd name="T7" fmla="*/ 2 h 104"/>
                    <a:gd name="T8" fmla="*/ 38 w 76"/>
                    <a:gd name="T9" fmla="*/ 2 h 104"/>
                    <a:gd name="T10" fmla="*/ 39 w 76"/>
                    <a:gd name="T11" fmla="*/ 2 h 104"/>
                    <a:gd name="T12" fmla="*/ 43 w 76"/>
                    <a:gd name="T13" fmla="*/ 2 h 104"/>
                    <a:gd name="T14" fmla="*/ 38 w 76"/>
                    <a:gd name="T15" fmla="*/ 3 h 104"/>
                    <a:gd name="T16" fmla="*/ 34 w 76"/>
                    <a:gd name="T17" fmla="*/ 2 h 104"/>
                    <a:gd name="T18" fmla="*/ 22 w 76"/>
                    <a:gd name="T19" fmla="*/ 2 h 104"/>
                    <a:gd name="T20" fmla="*/ 28 w 76"/>
                    <a:gd name="T21" fmla="*/ 2 h 104"/>
                    <a:gd name="T22" fmla="*/ 30 w 76"/>
                    <a:gd name="T23" fmla="*/ 3 h 104"/>
                    <a:gd name="T24" fmla="*/ 20 w 76"/>
                    <a:gd name="T25" fmla="*/ 4 h 104"/>
                    <a:gd name="T26" fmla="*/ 12 w 76"/>
                    <a:gd name="T27" fmla="*/ 4 h 104"/>
                    <a:gd name="T28" fmla="*/ 8 w 76"/>
                    <a:gd name="T29" fmla="*/ 4 h 104"/>
                    <a:gd name="T30" fmla="*/ 0 w 76"/>
                    <a:gd name="T31" fmla="*/ 2 h 104"/>
                    <a:gd name="T32" fmla="*/ 2 w 76"/>
                    <a:gd name="T33" fmla="*/ 2 h 104"/>
                    <a:gd name="T34" fmla="*/ 8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8" name="Freeform 17"/>
                <p:cNvSpPr>
                  <a:spLocks/>
                </p:cNvSpPr>
                <p:nvPr userDrawn="1"/>
              </p:nvSpPr>
              <p:spPr bwMode="ltGray">
                <a:xfrm>
                  <a:off x="2497" y="793"/>
                  <a:ext cx="37" cy="49"/>
                </a:xfrm>
                <a:custGeom>
                  <a:avLst/>
                  <a:gdLst>
                    <a:gd name="T0" fmla="*/ 3 w 37"/>
                    <a:gd name="T1" fmla="*/ 2 h 61"/>
                    <a:gd name="T2" fmla="*/ 13 w 37"/>
                    <a:gd name="T3" fmla="*/ 0 h 61"/>
                    <a:gd name="T4" fmla="*/ 15 w 37"/>
                    <a:gd name="T5" fmla="*/ 2 h 61"/>
                    <a:gd name="T6" fmla="*/ 37 w 37"/>
                    <a:gd name="T7" fmla="*/ 2 h 61"/>
                    <a:gd name="T8" fmla="*/ 19 w 37"/>
                    <a:gd name="T9" fmla="*/ 2 h 61"/>
                    <a:gd name="T10" fmla="*/ 5 w 37"/>
                    <a:gd name="T11" fmla="*/ 2 h 61"/>
                    <a:gd name="T12" fmla="*/ 1 w 37"/>
                    <a:gd name="T13" fmla="*/ 2 h 61"/>
                    <a:gd name="T14" fmla="*/ 3 w 37"/>
                    <a:gd name="T15" fmla="*/ 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9" name="Freeform 18"/>
                <p:cNvSpPr>
                  <a:spLocks/>
                </p:cNvSpPr>
                <p:nvPr userDrawn="1"/>
              </p:nvSpPr>
              <p:spPr bwMode="ltGray">
                <a:xfrm>
                  <a:off x="2506" y="869"/>
                  <a:ext cx="47" cy="24"/>
                </a:xfrm>
                <a:custGeom>
                  <a:avLst/>
                  <a:gdLst>
                    <a:gd name="T0" fmla="*/ 7 w 49"/>
                    <a:gd name="T1" fmla="*/ 0 h 29"/>
                    <a:gd name="T2" fmla="*/ 14 w 49"/>
                    <a:gd name="T3" fmla="*/ 0 h 29"/>
                    <a:gd name="T4" fmla="*/ 27 w 49"/>
                    <a:gd name="T5" fmla="*/ 2 h 29"/>
                    <a:gd name="T6" fmla="*/ 20 w 49"/>
                    <a:gd name="T7" fmla="*/ 2 h 29"/>
                    <a:gd name="T8" fmla="*/ 3 w 49"/>
                    <a:gd name="T9" fmla="*/ 2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0" name="Freeform 19"/>
                <p:cNvSpPr>
                  <a:spLocks/>
                </p:cNvSpPr>
                <p:nvPr userDrawn="1"/>
              </p:nvSpPr>
              <p:spPr bwMode="ltGray">
                <a:xfrm>
                  <a:off x="2555" y="832"/>
                  <a:ext cx="61" cy="42"/>
                </a:xfrm>
                <a:custGeom>
                  <a:avLst/>
                  <a:gdLst>
                    <a:gd name="T0" fmla="*/ 21 w 61"/>
                    <a:gd name="T1" fmla="*/ 5 h 48"/>
                    <a:gd name="T2" fmla="*/ 15 w 61"/>
                    <a:gd name="T3" fmla="*/ 4 h 48"/>
                    <a:gd name="T4" fmla="*/ 3 w 61"/>
                    <a:gd name="T5" fmla="*/ 4 h 48"/>
                    <a:gd name="T6" fmla="*/ 13 w 61"/>
                    <a:gd name="T7" fmla="*/ 4 h 48"/>
                    <a:gd name="T8" fmla="*/ 25 w 61"/>
                    <a:gd name="T9" fmla="*/ 0 h 48"/>
                    <a:gd name="T10" fmla="*/ 49 w 61"/>
                    <a:gd name="T11" fmla="*/ 4 h 48"/>
                    <a:gd name="T12" fmla="*/ 53 w 61"/>
                    <a:gd name="T13" fmla="*/ 4 h 48"/>
                    <a:gd name="T14" fmla="*/ 61 w 61"/>
                    <a:gd name="T15" fmla="*/ 4 h 48"/>
                    <a:gd name="T16" fmla="*/ 41 w 61"/>
                    <a:gd name="T17" fmla="*/ 5 h 48"/>
                    <a:gd name="T18" fmla="*/ 23 w 61"/>
                    <a:gd name="T19" fmla="*/ 7 h 48"/>
                    <a:gd name="T20" fmla="*/ 21 w 61"/>
                    <a:gd name="T21" fmla="*/ 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1" name="Freeform 20"/>
                <p:cNvSpPr>
                  <a:spLocks/>
                </p:cNvSpPr>
                <p:nvPr userDrawn="1"/>
              </p:nvSpPr>
              <p:spPr bwMode="ltGray">
                <a:xfrm>
                  <a:off x="2572" y="852"/>
                  <a:ext cx="286" cy="149"/>
                </a:xfrm>
                <a:custGeom>
                  <a:avLst/>
                  <a:gdLst>
                    <a:gd name="T0" fmla="*/ 46 w 286"/>
                    <a:gd name="T1" fmla="*/ 2 h 182"/>
                    <a:gd name="T2" fmla="*/ 36 w 286"/>
                    <a:gd name="T3" fmla="*/ 2 h 182"/>
                    <a:gd name="T4" fmla="*/ 26 w 286"/>
                    <a:gd name="T5" fmla="*/ 2 h 182"/>
                    <a:gd name="T6" fmla="*/ 0 w 286"/>
                    <a:gd name="T7" fmla="*/ 2 h 182"/>
                    <a:gd name="T8" fmla="*/ 10 w 286"/>
                    <a:gd name="T9" fmla="*/ 2 h 182"/>
                    <a:gd name="T10" fmla="*/ 16 w 286"/>
                    <a:gd name="T11" fmla="*/ 3 h 182"/>
                    <a:gd name="T12" fmla="*/ 24 w 286"/>
                    <a:gd name="T13" fmla="*/ 2 h 182"/>
                    <a:gd name="T14" fmla="*/ 30 w 286"/>
                    <a:gd name="T15" fmla="*/ 2 h 182"/>
                    <a:gd name="T16" fmla="*/ 48 w 286"/>
                    <a:gd name="T17" fmla="*/ 2 h 182"/>
                    <a:gd name="T18" fmla="*/ 70 w 286"/>
                    <a:gd name="T19" fmla="*/ 3 h 182"/>
                    <a:gd name="T20" fmla="*/ 88 w 286"/>
                    <a:gd name="T21" fmla="*/ 3 h 182"/>
                    <a:gd name="T22" fmla="*/ 106 w 286"/>
                    <a:gd name="T23" fmla="*/ 5 h 182"/>
                    <a:gd name="T24" fmla="*/ 104 w 286"/>
                    <a:gd name="T25" fmla="*/ 6 h 182"/>
                    <a:gd name="T26" fmla="*/ 98 w 286"/>
                    <a:gd name="T27" fmla="*/ 7 h 182"/>
                    <a:gd name="T28" fmla="*/ 122 w 286"/>
                    <a:gd name="T29" fmla="*/ 6 h 182"/>
                    <a:gd name="T30" fmla="*/ 140 w 286"/>
                    <a:gd name="T31" fmla="*/ 7 h 182"/>
                    <a:gd name="T32" fmla="*/ 168 w 286"/>
                    <a:gd name="T33" fmla="*/ 7 h 182"/>
                    <a:gd name="T34" fmla="*/ 174 w 286"/>
                    <a:gd name="T35" fmla="*/ 7 h 182"/>
                    <a:gd name="T36" fmla="*/ 168 w 286"/>
                    <a:gd name="T37" fmla="*/ 7 h 182"/>
                    <a:gd name="T38" fmla="*/ 178 w 286"/>
                    <a:gd name="T39" fmla="*/ 7 h 182"/>
                    <a:gd name="T40" fmla="*/ 186 w 286"/>
                    <a:gd name="T41" fmla="*/ 6 h 182"/>
                    <a:gd name="T42" fmla="*/ 202 w 286"/>
                    <a:gd name="T43" fmla="*/ 6 h 182"/>
                    <a:gd name="T44" fmla="*/ 214 w 286"/>
                    <a:gd name="T45" fmla="*/ 6 h 182"/>
                    <a:gd name="T46" fmla="*/ 244 w 286"/>
                    <a:gd name="T47" fmla="*/ 9 h 182"/>
                    <a:gd name="T48" fmla="*/ 262 w 286"/>
                    <a:gd name="T49" fmla="*/ 9 h 182"/>
                    <a:gd name="T50" fmla="*/ 284 w 286"/>
                    <a:gd name="T51" fmla="*/ 9 h 182"/>
                    <a:gd name="T52" fmla="*/ 268 w 286"/>
                    <a:gd name="T53" fmla="*/ 7 h 182"/>
                    <a:gd name="T54" fmla="*/ 256 w 286"/>
                    <a:gd name="T55" fmla="*/ 7 h 182"/>
                    <a:gd name="T56" fmla="*/ 250 w 286"/>
                    <a:gd name="T57" fmla="*/ 6 h 182"/>
                    <a:gd name="T58" fmla="*/ 248 w 286"/>
                    <a:gd name="T59" fmla="*/ 6 h 182"/>
                    <a:gd name="T60" fmla="*/ 236 w 286"/>
                    <a:gd name="T61" fmla="*/ 6 h 182"/>
                    <a:gd name="T62" fmla="*/ 240 w 286"/>
                    <a:gd name="T63" fmla="*/ 5 h 182"/>
                    <a:gd name="T64" fmla="*/ 220 w 286"/>
                    <a:gd name="T65" fmla="*/ 4 h 182"/>
                    <a:gd name="T66" fmla="*/ 210 w 286"/>
                    <a:gd name="T67" fmla="*/ 3 h 182"/>
                    <a:gd name="T68" fmla="*/ 190 w 286"/>
                    <a:gd name="T69" fmla="*/ 2 h 182"/>
                    <a:gd name="T70" fmla="*/ 168 w 286"/>
                    <a:gd name="T71" fmla="*/ 2 h 182"/>
                    <a:gd name="T72" fmla="*/ 156 w 286"/>
                    <a:gd name="T73" fmla="*/ 2 h 182"/>
                    <a:gd name="T74" fmla="*/ 120 w 286"/>
                    <a:gd name="T75" fmla="*/ 2 h 182"/>
                    <a:gd name="T76" fmla="*/ 102 w 286"/>
                    <a:gd name="T77" fmla="*/ 2 h 182"/>
                    <a:gd name="T78" fmla="*/ 96 w 286"/>
                    <a:gd name="T79" fmla="*/ 0 h 182"/>
                    <a:gd name="T80" fmla="*/ 70 w 286"/>
                    <a:gd name="T81" fmla="*/ 2 h 182"/>
                    <a:gd name="T82" fmla="*/ 56 w 286"/>
                    <a:gd name="T83" fmla="*/ 2 h 182"/>
                    <a:gd name="T84" fmla="*/ 46 w 286"/>
                    <a:gd name="T85" fmla="*/ 2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2" name="Freeform 21"/>
                <p:cNvSpPr>
                  <a:spLocks/>
                </p:cNvSpPr>
                <p:nvPr userDrawn="1"/>
              </p:nvSpPr>
              <p:spPr bwMode="ltGray">
                <a:xfrm>
                  <a:off x="2820" y="866"/>
                  <a:ext cx="78" cy="64"/>
                </a:xfrm>
                <a:custGeom>
                  <a:avLst/>
                  <a:gdLst>
                    <a:gd name="T0" fmla="*/ 1 w 78"/>
                    <a:gd name="T1" fmla="*/ 2 h 78"/>
                    <a:gd name="T2" fmla="*/ 27 w 78"/>
                    <a:gd name="T3" fmla="*/ 3 h 78"/>
                    <a:gd name="T4" fmla="*/ 45 w 78"/>
                    <a:gd name="T5" fmla="*/ 2 h 78"/>
                    <a:gd name="T6" fmla="*/ 57 w 78"/>
                    <a:gd name="T7" fmla="*/ 2 h 78"/>
                    <a:gd name="T8" fmla="*/ 43 w 78"/>
                    <a:gd name="T9" fmla="*/ 2 h 78"/>
                    <a:gd name="T10" fmla="*/ 43 w 78"/>
                    <a:gd name="T11" fmla="*/ 2 h 78"/>
                    <a:gd name="T12" fmla="*/ 71 w 78"/>
                    <a:gd name="T13" fmla="*/ 2 h 78"/>
                    <a:gd name="T14" fmla="*/ 67 w 78"/>
                    <a:gd name="T15" fmla="*/ 2 h 78"/>
                    <a:gd name="T16" fmla="*/ 33 w 78"/>
                    <a:gd name="T17" fmla="*/ 4 h 78"/>
                    <a:gd name="T18" fmla="*/ 9 w 78"/>
                    <a:gd name="T19" fmla="*/ 3 h 78"/>
                    <a:gd name="T20" fmla="*/ 3 w 78"/>
                    <a:gd name="T21" fmla="*/ 3 h 78"/>
                    <a:gd name="T22" fmla="*/ 1 w 78"/>
                    <a:gd name="T23" fmla="*/ 2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3" name="Freeform 22"/>
                <p:cNvSpPr>
                  <a:spLocks/>
                </p:cNvSpPr>
                <p:nvPr userDrawn="1"/>
              </p:nvSpPr>
              <p:spPr bwMode="ltGray">
                <a:xfrm>
                  <a:off x="2984" y="732"/>
                  <a:ext cx="19" cy="14"/>
                </a:xfrm>
                <a:custGeom>
                  <a:avLst/>
                  <a:gdLst>
                    <a:gd name="T0" fmla="*/ 3 w 17"/>
                    <a:gd name="T1" fmla="*/ 2 h 18"/>
                    <a:gd name="T2" fmla="*/ 3 w 17"/>
                    <a:gd name="T3" fmla="*/ 2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4" name="Freeform 23"/>
                <p:cNvSpPr>
                  <a:spLocks/>
                </p:cNvSpPr>
                <p:nvPr userDrawn="1"/>
              </p:nvSpPr>
              <p:spPr bwMode="ltGray">
                <a:xfrm>
                  <a:off x="3083" y="830"/>
                  <a:ext cx="26" cy="19"/>
                </a:xfrm>
                <a:custGeom>
                  <a:avLst/>
                  <a:gdLst>
                    <a:gd name="T0" fmla="*/ 8 w 26"/>
                    <a:gd name="T1" fmla="*/ 3 h 22"/>
                    <a:gd name="T2" fmla="*/ 14 w 26"/>
                    <a:gd name="T3" fmla="*/ 0 h 22"/>
                    <a:gd name="T4" fmla="*/ 14 w 26"/>
                    <a:gd name="T5" fmla="*/ 3 h 22"/>
                    <a:gd name="T6" fmla="*/ 8 w 26"/>
                    <a:gd name="T7" fmla="*/ 3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5" name="Freeform 24"/>
                <p:cNvSpPr>
                  <a:spLocks/>
                </p:cNvSpPr>
                <p:nvPr userDrawn="1"/>
              </p:nvSpPr>
              <p:spPr bwMode="ltGray">
                <a:xfrm>
                  <a:off x="2766" y="610"/>
                  <a:ext cx="19" cy="12"/>
                </a:xfrm>
                <a:custGeom>
                  <a:avLst/>
                  <a:gdLst>
                    <a:gd name="T0" fmla="*/ 7 w 20"/>
                    <a:gd name="T1" fmla="*/ 2 h 15"/>
                    <a:gd name="T2" fmla="*/ 10 w 20"/>
                    <a:gd name="T3" fmla="*/ 2 h 15"/>
                    <a:gd name="T4" fmla="*/ 9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6" name="Freeform 25"/>
                <p:cNvSpPr>
                  <a:spLocks/>
                </p:cNvSpPr>
                <p:nvPr userDrawn="1"/>
              </p:nvSpPr>
              <p:spPr bwMode="ltGray">
                <a:xfrm>
                  <a:off x="2600" y="712"/>
                  <a:ext cx="19" cy="12"/>
                </a:xfrm>
                <a:custGeom>
                  <a:avLst/>
                  <a:gdLst>
                    <a:gd name="T0" fmla="*/ 7 w 20"/>
                    <a:gd name="T1" fmla="*/ 2 h 15"/>
                    <a:gd name="T2" fmla="*/ 10 w 20"/>
                    <a:gd name="T3" fmla="*/ 2 h 15"/>
                    <a:gd name="T4" fmla="*/ 10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7" name="Freeform 26"/>
                <p:cNvSpPr>
                  <a:spLocks/>
                </p:cNvSpPr>
                <p:nvPr userDrawn="1"/>
              </p:nvSpPr>
              <p:spPr bwMode="ltGray">
                <a:xfrm>
                  <a:off x="2417" y="680"/>
                  <a:ext cx="80" cy="66"/>
                </a:xfrm>
                <a:custGeom>
                  <a:avLst/>
                  <a:gdLst>
                    <a:gd name="T0" fmla="*/ 0 w 80"/>
                    <a:gd name="T1" fmla="*/ 2 h 80"/>
                    <a:gd name="T2" fmla="*/ 14 w 80"/>
                    <a:gd name="T3" fmla="*/ 2 h 80"/>
                    <a:gd name="T4" fmla="*/ 26 w 80"/>
                    <a:gd name="T5" fmla="*/ 2 h 80"/>
                    <a:gd name="T6" fmla="*/ 48 w 80"/>
                    <a:gd name="T7" fmla="*/ 2 h 80"/>
                    <a:gd name="T8" fmla="*/ 58 w 80"/>
                    <a:gd name="T9" fmla="*/ 0 h 80"/>
                    <a:gd name="T10" fmla="*/ 80 w 80"/>
                    <a:gd name="T11" fmla="*/ 2 h 80"/>
                    <a:gd name="T12" fmla="*/ 70 w 80"/>
                    <a:gd name="T13" fmla="*/ 3 h 80"/>
                    <a:gd name="T14" fmla="*/ 54 w 80"/>
                    <a:gd name="T15" fmla="*/ 4 h 80"/>
                    <a:gd name="T16" fmla="*/ 48 w 80"/>
                    <a:gd name="T17" fmla="*/ 5 h 80"/>
                    <a:gd name="T18" fmla="*/ 32 w 80"/>
                    <a:gd name="T19" fmla="*/ 4 h 80"/>
                    <a:gd name="T20" fmla="*/ 38 w 80"/>
                    <a:gd name="T21" fmla="*/ 3 h 80"/>
                    <a:gd name="T22" fmla="*/ 30 w 80"/>
                    <a:gd name="T23" fmla="*/ 2 h 80"/>
                    <a:gd name="T24" fmla="*/ 20 w 80"/>
                    <a:gd name="T25" fmla="*/ 2 h 80"/>
                    <a:gd name="T26" fmla="*/ 8 w 80"/>
                    <a:gd name="T27" fmla="*/ 3 h 80"/>
                    <a:gd name="T28" fmla="*/ 0 w 80"/>
                    <a:gd name="T29" fmla="*/ 2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8" name="Freeform 27"/>
                <p:cNvSpPr>
                  <a:spLocks/>
                </p:cNvSpPr>
                <p:nvPr userDrawn="1"/>
              </p:nvSpPr>
              <p:spPr bwMode="ltGray">
                <a:xfrm>
                  <a:off x="2391" y="541"/>
                  <a:ext cx="94" cy="142"/>
                </a:xfrm>
                <a:custGeom>
                  <a:avLst/>
                  <a:gdLst>
                    <a:gd name="T0" fmla="*/ 14 w 94"/>
                    <a:gd name="T1" fmla="*/ 5 h 174"/>
                    <a:gd name="T2" fmla="*/ 26 w 94"/>
                    <a:gd name="T3" fmla="*/ 6 h 174"/>
                    <a:gd name="T4" fmla="*/ 32 w 94"/>
                    <a:gd name="T5" fmla="*/ 5 h 174"/>
                    <a:gd name="T6" fmla="*/ 52 w 94"/>
                    <a:gd name="T7" fmla="*/ 5 h 174"/>
                    <a:gd name="T8" fmla="*/ 46 w 94"/>
                    <a:gd name="T9" fmla="*/ 6 h 174"/>
                    <a:gd name="T10" fmla="*/ 66 w 94"/>
                    <a:gd name="T11" fmla="*/ 6 h 174"/>
                    <a:gd name="T12" fmla="*/ 76 w 94"/>
                    <a:gd name="T13" fmla="*/ 7 h 174"/>
                    <a:gd name="T14" fmla="*/ 58 w 94"/>
                    <a:gd name="T15" fmla="*/ 7 h 174"/>
                    <a:gd name="T16" fmla="*/ 74 w 94"/>
                    <a:gd name="T17" fmla="*/ 9 h 174"/>
                    <a:gd name="T18" fmla="*/ 84 w 94"/>
                    <a:gd name="T19" fmla="*/ 7 h 174"/>
                    <a:gd name="T20" fmla="*/ 82 w 94"/>
                    <a:gd name="T21" fmla="*/ 6 h 174"/>
                    <a:gd name="T22" fmla="*/ 60 w 94"/>
                    <a:gd name="T23" fmla="*/ 5 h 174"/>
                    <a:gd name="T24" fmla="*/ 50 w 94"/>
                    <a:gd name="T25" fmla="*/ 4 h 174"/>
                    <a:gd name="T26" fmla="*/ 34 w 94"/>
                    <a:gd name="T27" fmla="*/ 4 h 174"/>
                    <a:gd name="T28" fmla="*/ 30 w 94"/>
                    <a:gd name="T29" fmla="*/ 3 h 174"/>
                    <a:gd name="T30" fmla="*/ 42 w 94"/>
                    <a:gd name="T31" fmla="*/ 2 h 174"/>
                    <a:gd name="T32" fmla="*/ 30 w 94"/>
                    <a:gd name="T33" fmla="*/ 0 h 174"/>
                    <a:gd name="T34" fmla="*/ 18 w 94"/>
                    <a:gd name="T35" fmla="*/ 2 h 174"/>
                    <a:gd name="T36" fmla="*/ 4 w 94"/>
                    <a:gd name="T37" fmla="*/ 2 h 174"/>
                    <a:gd name="T38" fmla="*/ 14 w 94"/>
                    <a:gd name="T39" fmla="*/ 4 h 174"/>
                    <a:gd name="T40" fmla="*/ 14 w 94"/>
                    <a:gd name="T41" fmla="*/ 5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9" name="Freeform 28"/>
                <p:cNvSpPr>
                  <a:spLocks/>
                </p:cNvSpPr>
                <p:nvPr userDrawn="1"/>
              </p:nvSpPr>
              <p:spPr bwMode="ltGray">
                <a:xfrm>
                  <a:off x="2415" y="644"/>
                  <a:ext cx="32" cy="41"/>
                </a:xfrm>
                <a:custGeom>
                  <a:avLst/>
                  <a:gdLst>
                    <a:gd name="T0" fmla="*/ 6 w 32"/>
                    <a:gd name="T1" fmla="*/ 2 h 50"/>
                    <a:gd name="T2" fmla="*/ 12 w 32"/>
                    <a:gd name="T3" fmla="*/ 0 h 50"/>
                    <a:gd name="T4" fmla="*/ 20 w 32"/>
                    <a:gd name="T5" fmla="*/ 2 h 50"/>
                    <a:gd name="T6" fmla="*/ 22 w 32"/>
                    <a:gd name="T7" fmla="*/ 2 h 50"/>
                    <a:gd name="T8" fmla="*/ 28 w 32"/>
                    <a:gd name="T9" fmla="*/ 2 h 50"/>
                    <a:gd name="T10" fmla="*/ 32 w 32"/>
                    <a:gd name="T11" fmla="*/ 2 h 50"/>
                    <a:gd name="T12" fmla="*/ 18 w 32"/>
                    <a:gd name="T13" fmla="*/ 2 h 50"/>
                    <a:gd name="T14" fmla="*/ 6 w 32"/>
                    <a:gd name="T15" fmla="*/ 2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0" name="Freeform 29"/>
                <p:cNvSpPr>
                  <a:spLocks/>
                </p:cNvSpPr>
                <p:nvPr userDrawn="1"/>
              </p:nvSpPr>
              <p:spPr bwMode="ltGray">
                <a:xfrm>
                  <a:off x="2349" y="654"/>
                  <a:ext cx="45" cy="41"/>
                </a:xfrm>
                <a:custGeom>
                  <a:avLst/>
                  <a:gdLst>
                    <a:gd name="T0" fmla="*/ 0 w 43"/>
                    <a:gd name="T1" fmla="*/ 2 h 50"/>
                    <a:gd name="T2" fmla="*/ 41 w 43"/>
                    <a:gd name="T3" fmla="*/ 2 h 50"/>
                    <a:gd name="T4" fmla="*/ 72 w 43"/>
                    <a:gd name="T5" fmla="*/ 0 h 50"/>
                    <a:gd name="T6" fmla="*/ 45 w 43"/>
                    <a:gd name="T7" fmla="*/ 2 h 50"/>
                    <a:gd name="T8" fmla="*/ 2 w 43"/>
                    <a:gd name="T9" fmla="*/ 2 h 50"/>
                    <a:gd name="T10" fmla="*/ 0 w 43"/>
                    <a:gd name="T11" fmla="*/ 2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1" name="Freeform 30"/>
                <p:cNvSpPr>
                  <a:spLocks/>
                </p:cNvSpPr>
                <p:nvPr userDrawn="1"/>
              </p:nvSpPr>
              <p:spPr bwMode="ltGray">
                <a:xfrm>
                  <a:off x="4808" y="597"/>
                  <a:ext cx="701" cy="438"/>
                </a:xfrm>
                <a:custGeom>
                  <a:avLst/>
                  <a:gdLst>
                    <a:gd name="T0" fmla="*/ 7988 w 471"/>
                    <a:gd name="T1" fmla="*/ 218026 h 281"/>
                    <a:gd name="T2" fmla="*/ 9412 w 471"/>
                    <a:gd name="T3" fmla="*/ 195014 h 281"/>
                    <a:gd name="T4" fmla="*/ 8641 w 471"/>
                    <a:gd name="T5" fmla="*/ 190648 h 281"/>
                    <a:gd name="T6" fmla="*/ 6324 w 471"/>
                    <a:gd name="T7" fmla="*/ 170005 h 281"/>
                    <a:gd name="T8" fmla="*/ 1520 w 471"/>
                    <a:gd name="T9" fmla="*/ 167461 h 281"/>
                    <a:gd name="T10" fmla="*/ 0 w 471"/>
                    <a:gd name="T11" fmla="*/ 148755 h 281"/>
                    <a:gd name="T12" fmla="*/ 4725 w 471"/>
                    <a:gd name="T13" fmla="*/ 140509 h 281"/>
                    <a:gd name="T14" fmla="*/ 2262 w 471"/>
                    <a:gd name="T15" fmla="*/ 128519 h 281"/>
                    <a:gd name="T16" fmla="*/ 686 w 471"/>
                    <a:gd name="T17" fmla="*/ 124428 h 281"/>
                    <a:gd name="T18" fmla="*/ 11100 w 471"/>
                    <a:gd name="T19" fmla="*/ 93492 h 281"/>
                    <a:gd name="T20" fmla="*/ 17020 w 471"/>
                    <a:gd name="T21" fmla="*/ 75130 h 281"/>
                    <a:gd name="T22" fmla="*/ 16520 w 471"/>
                    <a:gd name="T23" fmla="*/ 54526 h 281"/>
                    <a:gd name="T24" fmla="*/ 9412 w 471"/>
                    <a:gd name="T25" fmla="*/ 33363 h 281"/>
                    <a:gd name="T26" fmla="*/ 7946 w 471"/>
                    <a:gd name="T27" fmla="*/ 25052 h 281"/>
                    <a:gd name="T28" fmla="*/ 10196 w 471"/>
                    <a:gd name="T29" fmla="*/ 27926 h 281"/>
                    <a:gd name="T30" fmla="*/ 18649 w 471"/>
                    <a:gd name="T31" fmla="*/ 27614 h 281"/>
                    <a:gd name="T32" fmla="*/ 24867 w 471"/>
                    <a:gd name="T33" fmla="*/ 8475 h 281"/>
                    <a:gd name="T34" fmla="*/ 32002 w 471"/>
                    <a:gd name="T35" fmla="*/ 0 h 281"/>
                    <a:gd name="T36" fmla="*/ 34276 w 471"/>
                    <a:gd name="T37" fmla="*/ 1635 h 281"/>
                    <a:gd name="T38" fmla="*/ 35903 w 471"/>
                    <a:gd name="T39" fmla="*/ 7002 h 281"/>
                    <a:gd name="T40" fmla="*/ 38199 w 471"/>
                    <a:gd name="T41" fmla="*/ 3973 h 281"/>
                    <a:gd name="T42" fmla="*/ 42895 w 471"/>
                    <a:gd name="T43" fmla="*/ 6193 h 281"/>
                    <a:gd name="T44" fmla="*/ 45188 w 471"/>
                    <a:gd name="T45" fmla="*/ 7002 h 281"/>
                    <a:gd name="T46" fmla="*/ 55083 w 471"/>
                    <a:gd name="T47" fmla="*/ 10914 h 281"/>
                    <a:gd name="T48" fmla="*/ 60490 w 471"/>
                    <a:gd name="T49" fmla="*/ 18477 h 281"/>
                    <a:gd name="T50" fmla="*/ 65220 w 471"/>
                    <a:gd name="T51" fmla="*/ 13210 h 281"/>
                    <a:gd name="T52" fmla="*/ 67254 w 471"/>
                    <a:gd name="T53" fmla="*/ 10914 h 281"/>
                    <a:gd name="T54" fmla="*/ 75925 w 471"/>
                    <a:gd name="T55" fmla="*/ 10914 h 281"/>
                    <a:gd name="T56" fmla="*/ 82090 w 471"/>
                    <a:gd name="T57" fmla="*/ 25052 h 281"/>
                    <a:gd name="T58" fmla="*/ 90029 w 471"/>
                    <a:gd name="T59" fmla="*/ 45895 h 281"/>
                    <a:gd name="T60" fmla="*/ 95458 w 471"/>
                    <a:gd name="T61" fmla="*/ 54526 h 281"/>
                    <a:gd name="T62" fmla="*/ 100096 w 471"/>
                    <a:gd name="T63" fmla="*/ 52897 h 281"/>
                    <a:gd name="T64" fmla="*/ 105165 w 471"/>
                    <a:gd name="T65" fmla="*/ 50342 h 281"/>
                    <a:gd name="T66" fmla="*/ 113001 w 471"/>
                    <a:gd name="T67" fmla="*/ 55575 h 281"/>
                    <a:gd name="T68" fmla="*/ 116667 w 471"/>
                    <a:gd name="T69" fmla="*/ 62989 h 281"/>
                    <a:gd name="T70" fmla="*/ 119922 w 471"/>
                    <a:gd name="T71" fmla="*/ 69972 h 281"/>
                    <a:gd name="T72" fmla="*/ 123845 w 471"/>
                    <a:gd name="T73" fmla="*/ 86626 h 281"/>
                    <a:gd name="T74" fmla="*/ 125338 w 471"/>
                    <a:gd name="T75" fmla="*/ 93492 h 281"/>
                    <a:gd name="T76" fmla="*/ 126013 w 471"/>
                    <a:gd name="T77" fmla="*/ 97538 h 281"/>
                    <a:gd name="T78" fmla="*/ 120639 w 471"/>
                    <a:gd name="T79" fmla="*/ 110205 h 281"/>
                    <a:gd name="T80" fmla="*/ 125338 w 471"/>
                    <a:gd name="T81" fmla="*/ 110025 h 281"/>
                    <a:gd name="T82" fmla="*/ 133258 w 471"/>
                    <a:gd name="T83" fmla="*/ 120949 h 281"/>
                    <a:gd name="T84" fmla="*/ 141849 w 471"/>
                    <a:gd name="T85" fmla="*/ 122311 h 281"/>
                    <a:gd name="T86" fmla="*/ 148066 w 471"/>
                    <a:gd name="T87" fmla="*/ 130786 h 281"/>
                    <a:gd name="T88" fmla="*/ 148975 w 471"/>
                    <a:gd name="T89" fmla="*/ 134079 h 281"/>
                    <a:gd name="T90" fmla="*/ 148975 w 471"/>
                    <a:gd name="T91" fmla="*/ 136966 h 281"/>
                    <a:gd name="T92" fmla="*/ 153334 w 471"/>
                    <a:gd name="T93" fmla="*/ 134079 h 281"/>
                    <a:gd name="T94" fmla="*/ 155845 w 471"/>
                    <a:gd name="T95" fmla="*/ 133266 h 281"/>
                    <a:gd name="T96" fmla="*/ 170989 w 471"/>
                    <a:gd name="T97" fmla="*/ 143996 h 281"/>
                    <a:gd name="T98" fmla="*/ 173980 w 471"/>
                    <a:gd name="T99" fmla="*/ 154887 h 281"/>
                    <a:gd name="T100" fmla="*/ 181093 w 471"/>
                    <a:gd name="T101" fmla="*/ 156533 h 281"/>
                    <a:gd name="T102" fmla="*/ 183357 w 471"/>
                    <a:gd name="T103" fmla="*/ 167461 h 281"/>
                    <a:gd name="T104" fmla="*/ 175673 w 471"/>
                    <a:gd name="T105" fmla="*/ 200942 h 281"/>
                    <a:gd name="T106" fmla="*/ 169307 w 471"/>
                    <a:gd name="T107" fmla="*/ 219014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2" name="Freeform 31"/>
                <p:cNvSpPr>
                  <a:spLocks/>
                </p:cNvSpPr>
                <p:nvPr userDrawn="1"/>
              </p:nvSpPr>
              <p:spPr bwMode="ltGray">
                <a:xfrm>
                  <a:off x="3880" y="-7"/>
                  <a:ext cx="984" cy="692"/>
                </a:xfrm>
                <a:custGeom>
                  <a:avLst/>
                  <a:gdLst>
                    <a:gd name="T0" fmla="*/ 406 w 984"/>
                    <a:gd name="T1" fmla="*/ 2 h 844"/>
                    <a:gd name="T2" fmla="*/ 502 w 984"/>
                    <a:gd name="T3" fmla="*/ 2 h 844"/>
                    <a:gd name="T4" fmla="*/ 550 w 984"/>
                    <a:gd name="T5" fmla="*/ 2 h 844"/>
                    <a:gd name="T6" fmla="*/ 578 w 984"/>
                    <a:gd name="T7" fmla="*/ 6 h 844"/>
                    <a:gd name="T8" fmla="*/ 586 w 984"/>
                    <a:gd name="T9" fmla="*/ 5 h 844"/>
                    <a:gd name="T10" fmla="*/ 606 w 984"/>
                    <a:gd name="T11" fmla="*/ 3 h 844"/>
                    <a:gd name="T12" fmla="*/ 642 w 984"/>
                    <a:gd name="T13" fmla="*/ 6 h 844"/>
                    <a:gd name="T14" fmla="*/ 682 w 984"/>
                    <a:gd name="T15" fmla="*/ 5 h 844"/>
                    <a:gd name="T16" fmla="*/ 706 w 984"/>
                    <a:gd name="T17" fmla="*/ 4 h 844"/>
                    <a:gd name="T18" fmla="*/ 762 w 984"/>
                    <a:gd name="T19" fmla="*/ 2 h 844"/>
                    <a:gd name="T20" fmla="*/ 798 w 984"/>
                    <a:gd name="T21" fmla="*/ 3 h 844"/>
                    <a:gd name="T22" fmla="*/ 798 w 984"/>
                    <a:gd name="T23" fmla="*/ 6 h 844"/>
                    <a:gd name="T24" fmla="*/ 790 w 984"/>
                    <a:gd name="T25" fmla="*/ 7 h 844"/>
                    <a:gd name="T26" fmla="*/ 766 w 984"/>
                    <a:gd name="T27" fmla="*/ 8 h 844"/>
                    <a:gd name="T28" fmla="*/ 762 w 984"/>
                    <a:gd name="T29" fmla="*/ 9 h 844"/>
                    <a:gd name="T30" fmla="*/ 802 w 984"/>
                    <a:gd name="T31" fmla="*/ 11 h 844"/>
                    <a:gd name="T32" fmla="*/ 786 w 984"/>
                    <a:gd name="T33" fmla="*/ 16 h 844"/>
                    <a:gd name="T34" fmla="*/ 830 w 984"/>
                    <a:gd name="T35" fmla="*/ 21 h 844"/>
                    <a:gd name="T36" fmla="*/ 854 w 984"/>
                    <a:gd name="T37" fmla="*/ 23 h 844"/>
                    <a:gd name="T38" fmla="*/ 830 w 984"/>
                    <a:gd name="T39" fmla="*/ 23 h 844"/>
                    <a:gd name="T40" fmla="*/ 746 w 984"/>
                    <a:gd name="T41" fmla="*/ 20 h 844"/>
                    <a:gd name="T42" fmla="*/ 678 w 984"/>
                    <a:gd name="T43" fmla="*/ 20 h 844"/>
                    <a:gd name="T44" fmla="*/ 590 w 984"/>
                    <a:gd name="T45" fmla="*/ 23 h 844"/>
                    <a:gd name="T46" fmla="*/ 642 w 984"/>
                    <a:gd name="T47" fmla="*/ 30 h 844"/>
                    <a:gd name="T48" fmla="*/ 710 w 984"/>
                    <a:gd name="T49" fmla="*/ 32 h 844"/>
                    <a:gd name="T50" fmla="*/ 738 w 984"/>
                    <a:gd name="T51" fmla="*/ 28 h 844"/>
                    <a:gd name="T52" fmla="*/ 774 w 984"/>
                    <a:gd name="T53" fmla="*/ 29 h 844"/>
                    <a:gd name="T54" fmla="*/ 766 w 984"/>
                    <a:gd name="T55" fmla="*/ 32 h 844"/>
                    <a:gd name="T56" fmla="*/ 802 w 984"/>
                    <a:gd name="T57" fmla="*/ 34 h 844"/>
                    <a:gd name="T58" fmla="*/ 838 w 984"/>
                    <a:gd name="T59" fmla="*/ 34 h 844"/>
                    <a:gd name="T60" fmla="*/ 922 w 984"/>
                    <a:gd name="T61" fmla="*/ 41 h 844"/>
                    <a:gd name="T62" fmla="*/ 942 w 984"/>
                    <a:gd name="T63" fmla="*/ 42 h 844"/>
                    <a:gd name="T64" fmla="*/ 874 w 984"/>
                    <a:gd name="T65" fmla="*/ 41 h 844"/>
                    <a:gd name="T66" fmla="*/ 830 w 984"/>
                    <a:gd name="T67" fmla="*/ 39 h 844"/>
                    <a:gd name="T68" fmla="*/ 778 w 984"/>
                    <a:gd name="T69" fmla="*/ 36 h 844"/>
                    <a:gd name="T70" fmla="*/ 702 w 984"/>
                    <a:gd name="T71" fmla="*/ 34 h 844"/>
                    <a:gd name="T72" fmla="*/ 614 w 984"/>
                    <a:gd name="T73" fmla="*/ 33 h 844"/>
                    <a:gd name="T74" fmla="*/ 506 w 984"/>
                    <a:gd name="T75" fmla="*/ 30 h 844"/>
                    <a:gd name="T76" fmla="*/ 462 w 984"/>
                    <a:gd name="T77" fmla="*/ 26 h 844"/>
                    <a:gd name="T78" fmla="*/ 430 w 984"/>
                    <a:gd name="T79" fmla="*/ 24 h 844"/>
                    <a:gd name="T80" fmla="*/ 382 w 984"/>
                    <a:gd name="T81" fmla="*/ 21 h 844"/>
                    <a:gd name="T82" fmla="*/ 342 w 984"/>
                    <a:gd name="T83" fmla="*/ 19 h 844"/>
                    <a:gd name="T84" fmla="*/ 354 w 984"/>
                    <a:gd name="T85" fmla="*/ 21 h 844"/>
                    <a:gd name="T86" fmla="*/ 418 w 984"/>
                    <a:gd name="T87" fmla="*/ 25 h 844"/>
                    <a:gd name="T88" fmla="*/ 422 w 984"/>
                    <a:gd name="T89" fmla="*/ 26 h 844"/>
                    <a:gd name="T90" fmla="*/ 394 w 984"/>
                    <a:gd name="T91" fmla="*/ 26 h 844"/>
                    <a:gd name="T92" fmla="*/ 354 w 984"/>
                    <a:gd name="T93" fmla="*/ 24 h 844"/>
                    <a:gd name="T94" fmla="*/ 314 w 984"/>
                    <a:gd name="T95" fmla="*/ 20 h 844"/>
                    <a:gd name="T96" fmla="*/ 266 w 984"/>
                    <a:gd name="T97" fmla="*/ 17 h 844"/>
                    <a:gd name="T98" fmla="*/ 210 w 984"/>
                    <a:gd name="T99" fmla="*/ 16 h 844"/>
                    <a:gd name="T100" fmla="*/ 154 w 984"/>
                    <a:gd name="T101" fmla="*/ 11 h 844"/>
                    <a:gd name="T102" fmla="*/ 66 w 984"/>
                    <a:gd name="T103" fmla="*/ 3 h 844"/>
                    <a:gd name="T104" fmla="*/ 34 w 984"/>
                    <a:gd name="T105" fmla="*/ 2 h 844"/>
                    <a:gd name="T106" fmla="*/ 46 w 984"/>
                    <a:gd name="T107" fmla="*/ 2 h 844"/>
                    <a:gd name="T108" fmla="*/ 102 w 984"/>
                    <a:gd name="T109" fmla="*/ 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3" name="Freeform 32"/>
                <p:cNvSpPr>
                  <a:spLocks/>
                </p:cNvSpPr>
                <p:nvPr userDrawn="1"/>
              </p:nvSpPr>
              <p:spPr bwMode="ltGray">
                <a:xfrm>
                  <a:off x="3577" y="490"/>
                  <a:ext cx="36" cy="39"/>
                </a:xfrm>
                <a:custGeom>
                  <a:avLst/>
                  <a:gdLst>
                    <a:gd name="T0" fmla="*/ 6 w 36"/>
                    <a:gd name="T1" fmla="*/ 2 h 48"/>
                    <a:gd name="T2" fmla="*/ 10 w 36"/>
                    <a:gd name="T3" fmla="*/ 2 h 48"/>
                    <a:gd name="T4" fmla="*/ 6 w 36"/>
                    <a:gd name="T5" fmla="*/ 2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4" name="Freeform 33"/>
                <p:cNvSpPr>
                  <a:spLocks/>
                </p:cNvSpPr>
                <p:nvPr userDrawn="1"/>
              </p:nvSpPr>
              <p:spPr bwMode="ltGray">
                <a:xfrm>
                  <a:off x="3549" y="475"/>
                  <a:ext cx="38" cy="29"/>
                </a:xfrm>
                <a:custGeom>
                  <a:avLst/>
                  <a:gdLst>
                    <a:gd name="T0" fmla="*/ 0 w 36"/>
                    <a:gd name="T1" fmla="*/ 2 h 37"/>
                    <a:gd name="T2" fmla="*/ 27 w 36"/>
                    <a:gd name="T3" fmla="*/ 1 h 37"/>
                    <a:gd name="T4" fmla="*/ 80 w 36"/>
                    <a:gd name="T5" fmla="*/ 2 h 37"/>
                    <a:gd name="T6" fmla="*/ 8 w 36"/>
                    <a:gd name="T7" fmla="*/ 2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5" name="Freeform 34"/>
                <p:cNvSpPr>
                  <a:spLocks/>
                </p:cNvSpPr>
                <p:nvPr userDrawn="1"/>
              </p:nvSpPr>
              <p:spPr bwMode="ltGray">
                <a:xfrm>
                  <a:off x="4686" y="394"/>
                  <a:ext cx="171" cy="81"/>
                </a:xfrm>
                <a:custGeom>
                  <a:avLst/>
                  <a:gdLst>
                    <a:gd name="T0" fmla="*/ 0 w 170"/>
                    <a:gd name="T1" fmla="*/ 4 h 96"/>
                    <a:gd name="T2" fmla="*/ 28 w 170"/>
                    <a:gd name="T3" fmla="*/ 3 h 96"/>
                    <a:gd name="T4" fmla="*/ 56 w 170"/>
                    <a:gd name="T5" fmla="*/ 3 h 96"/>
                    <a:gd name="T6" fmla="*/ 80 w 170"/>
                    <a:gd name="T7" fmla="*/ 3 h 96"/>
                    <a:gd name="T8" fmla="*/ 64 w 170"/>
                    <a:gd name="T9" fmla="*/ 3 h 96"/>
                    <a:gd name="T10" fmla="*/ 139 w 170"/>
                    <a:gd name="T11" fmla="*/ 4 h 96"/>
                    <a:gd name="T12" fmla="*/ 175 w 170"/>
                    <a:gd name="T13" fmla="*/ 5 h 96"/>
                    <a:gd name="T14" fmla="*/ 131 w 170"/>
                    <a:gd name="T15" fmla="*/ 6 h 96"/>
                    <a:gd name="T16" fmla="*/ 103 w 170"/>
                    <a:gd name="T17" fmla="*/ 5 h 96"/>
                    <a:gd name="T18" fmla="*/ 76 w 170"/>
                    <a:gd name="T19" fmla="*/ 4 h 96"/>
                    <a:gd name="T20" fmla="*/ 24 w 170"/>
                    <a:gd name="T21" fmla="*/ 3 h 96"/>
                    <a:gd name="T22" fmla="*/ 0 w 170"/>
                    <a:gd name="T23" fmla="*/ 4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3 h 44"/>
                    <a:gd name="T6" fmla="*/ 112 w 138"/>
                    <a:gd name="T7" fmla="*/ 3 h 44"/>
                    <a:gd name="T8" fmla="*/ 108 w 138"/>
                    <a:gd name="T9" fmla="*/ 3 h 44"/>
                    <a:gd name="T10" fmla="*/ 64 w 138"/>
                    <a:gd name="T11" fmla="*/ 3 h 44"/>
                    <a:gd name="T12" fmla="*/ 0 w 138"/>
                    <a:gd name="T13" fmla="*/ 3 h 44"/>
                    <a:gd name="T14" fmla="*/ 28 w 138"/>
                    <a:gd name="T15" fmla="*/ 3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7" name="Freeform 36"/>
                <p:cNvSpPr>
                  <a:spLocks/>
                </p:cNvSpPr>
                <p:nvPr userDrawn="1"/>
              </p:nvSpPr>
              <p:spPr bwMode="ltGray">
                <a:xfrm>
                  <a:off x="4794" y="480"/>
                  <a:ext cx="56" cy="34"/>
                </a:xfrm>
                <a:custGeom>
                  <a:avLst/>
                  <a:gdLst>
                    <a:gd name="T0" fmla="*/ 17 w 57"/>
                    <a:gd name="T1" fmla="*/ 2 h 42"/>
                    <a:gd name="T2" fmla="*/ 28 w 57"/>
                    <a:gd name="T3" fmla="*/ 2 h 42"/>
                    <a:gd name="T4" fmla="*/ 17 w 57"/>
                    <a:gd name="T5" fmla="*/ 2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8" name="Freeform 37"/>
                <p:cNvSpPr>
                  <a:spLocks/>
                </p:cNvSpPr>
                <p:nvPr userDrawn="1"/>
              </p:nvSpPr>
              <p:spPr bwMode="ltGray">
                <a:xfrm>
                  <a:off x="4757" y="375"/>
                  <a:ext cx="37" cy="44"/>
                </a:xfrm>
                <a:custGeom>
                  <a:avLst/>
                  <a:gdLst>
                    <a:gd name="T0" fmla="*/ 9 w 39"/>
                    <a:gd name="T1" fmla="*/ 3 h 52"/>
                    <a:gd name="T2" fmla="*/ 9 w 39"/>
                    <a:gd name="T3" fmla="*/ 0 h 52"/>
                    <a:gd name="T4" fmla="*/ 9 w 39"/>
                    <a:gd name="T5" fmla="*/ 3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9" name="Freeform 38"/>
                <p:cNvSpPr>
                  <a:spLocks/>
                </p:cNvSpPr>
                <p:nvPr userDrawn="1"/>
              </p:nvSpPr>
              <p:spPr bwMode="ltGray">
                <a:xfrm>
                  <a:off x="5054" y="507"/>
                  <a:ext cx="45" cy="66"/>
                </a:xfrm>
                <a:custGeom>
                  <a:avLst/>
                  <a:gdLst>
                    <a:gd name="T0" fmla="*/ 4 w 44"/>
                    <a:gd name="T1" fmla="*/ 2 h 80"/>
                    <a:gd name="T2" fmla="*/ 20 w 44"/>
                    <a:gd name="T3" fmla="*/ 2 h 80"/>
                    <a:gd name="T4" fmla="*/ 39 w 44"/>
                    <a:gd name="T5" fmla="*/ 2 h 80"/>
                    <a:gd name="T6" fmla="*/ 51 w 44"/>
                    <a:gd name="T7" fmla="*/ 3 h 80"/>
                    <a:gd name="T8" fmla="*/ 39 w 44"/>
                    <a:gd name="T9" fmla="*/ 4 h 80"/>
                    <a:gd name="T10" fmla="*/ 0 w 44"/>
                    <a:gd name="T11" fmla="*/ 2 h 80"/>
                    <a:gd name="T12" fmla="*/ 4 w 44"/>
                    <a:gd name="T13" fmla="*/ 2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0" name="Freeform 39"/>
                <p:cNvSpPr>
                  <a:spLocks/>
                </p:cNvSpPr>
                <p:nvPr userDrawn="1"/>
              </p:nvSpPr>
              <p:spPr bwMode="ltGray">
                <a:xfrm>
                  <a:off x="4260" y="6"/>
                  <a:ext cx="480" cy="100"/>
                </a:xfrm>
                <a:custGeom>
                  <a:avLst/>
                  <a:gdLst>
                    <a:gd name="T0" fmla="*/ 83771 w 323"/>
                    <a:gd name="T1" fmla="*/ 1091 h 64"/>
                    <a:gd name="T2" fmla="*/ 87877 w 323"/>
                    <a:gd name="T3" fmla="*/ 6505 h 64"/>
                    <a:gd name="T4" fmla="*/ 89460 w 323"/>
                    <a:gd name="T5" fmla="*/ 0 h 64"/>
                    <a:gd name="T6" fmla="*/ 101018 w 323"/>
                    <a:gd name="T7" fmla="*/ 0 h 64"/>
                    <a:gd name="T8" fmla="*/ 109508 w 323"/>
                    <a:gd name="T9" fmla="*/ 14019 h 64"/>
                    <a:gd name="T10" fmla="*/ 121274 w 323"/>
                    <a:gd name="T11" fmla="*/ 8211 h 64"/>
                    <a:gd name="T12" fmla="*/ 119609 w 323"/>
                    <a:gd name="T13" fmla="*/ 23111 h 64"/>
                    <a:gd name="T14" fmla="*/ 113381 w 323"/>
                    <a:gd name="T15" fmla="*/ 37586 h 64"/>
                    <a:gd name="T16" fmla="*/ 112148 w 323"/>
                    <a:gd name="T17" fmla="*/ 23111 h 64"/>
                    <a:gd name="T18" fmla="*/ 109508 w 323"/>
                    <a:gd name="T19" fmla="*/ 24814 h 64"/>
                    <a:gd name="T20" fmla="*/ 106429 w 323"/>
                    <a:gd name="T21" fmla="*/ 23111 h 64"/>
                    <a:gd name="T22" fmla="*/ 100067 w 323"/>
                    <a:gd name="T23" fmla="*/ 17173 h 64"/>
                    <a:gd name="T24" fmla="*/ 86901 w 323"/>
                    <a:gd name="T25" fmla="*/ 30517 h 64"/>
                    <a:gd name="T26" fmla="*/ 76585 w 323"/>
                    <a:gd name="T27" fmla="*/ 35813 h 64"/>
                    <a:gd name="T28" fmla="*/ 80637 w 323"/>
                    <a:gd name="T29" fmla="*/ 45973 h 64"/>
                    <a:gd name="T30" fmla="*/ 71618 w 323"/>
                    <a:gd name="T31" fmla="*/ 50544 h 64"/>
                    <a:gd name="T32" fmla="*/ 64216 w 323"/>
                    <a:gd name="T33" fmla="*/ 48942 h 64"/>
                    <a:gd name="T34" fmla="*/ 67337 w 323"/>
                    <a:gd name="T35" fmla="*/ 45973 h 64"/>
                    <a:gd name="T36" fmla="*/ 64938 w 323"/>
                    <a:gd name="T37" fmla="*/ 32348 h 64"/>
                    <a:gd name="T38" fmla="*/ 64216 w 323"/>
                    <a:gd name="T39" fmla="*/ 24814 h 64"/>
                    <a:gd name="T40" fmla="*/ 60199 w 323"/>
                    <a:gd name="T41" fmla="*/ 18758 h 64"/>
                    <a:gd name="T42" fmla="*/ 54161 w 323"/>
                    <a:gd name="T43" fmla="*/ 21905 h 64"/>
                    <a:gd name="T44" fmla="*/ 51039 w 323"/>
                    <a:gd name="T45" fmla="*/ 21905 h 64"/>
                    <a:gd name="T46" fmla="*/ 46884 w 323"/>
                    <a:gd name="T47" fmla="*/ 20047 h 64"/>
                    <a:gd name="T48" fmla="*/ 31549 w 323"/>
                    <a:gd name="T49" fmla="*/ 1705 h 64"/>
                    <a:gd name="T50" fmla="*/ 22618 w 323"/>
                    <a:gd name="T51" fmla="*/ 11253 h 64"/>
                    <a:gd name="T52" fmla="*/ 1 w 323"/>
                    <a:gd name="T53" fmla="*/ 0 h 64"/>
                    <a:gd name="T54" fmla="*/ 83771 w 323"/>
                    <a:gd name="T55" fmla="*/ 109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1" name="Freeform 40"/>
                <p:cNvSpPr>
                  <a:spLocks/>
                </p:cNvSpPr>
                <p:nvPr userDrawn="1"/>
              </p:nvSpPr>
              <p:spPr bwMode="ltGray">
                <a:xfrm>
                  <a:off x="3835" y="3"/>
                  <a:ext cx="446" cy="49"/>
                </a:xfrm>
                <a:custGeom>
                  <a:avLst/>
                  <a:gdLst>
                    <a:gd name="T0" fmla="*/ 40241 w 300"/>
                    <a:gd name="T1" fmla="*/ 29681 h 31"/>
                    <a:gd name="T2" fmla="*/ 11713 w 300"/>
                    <a:gd name="T3" fmla="*/ 1279 h 31"/>
                    <a:gd name="T4" fmla="*/ 109208 w 300"/>
                    <a:gd name="T5" fmla="*/ 0 h 31"/>
                    <a:gd name="T6" fmla="*/ 113272 w 300"/>
                    <a:gd name="T7" fmla="*/ 13426 h 31"/>
                    <a:gd name="T8" fmla="*/ 101044 w 300"/>
                    <a:gd name="T9" fmla="*/ 15383 h 31"/>
                    <a:gd name="T10" fmla="*/ 40241 w 300"/>
                    <a:gd name="T11" fmla="*/ 2968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2" name="Freeform 41"/>
                <p:cNvSpPr>
                  <a:spLocks/>
                </p:cNvSpPr>
                <p:nvPr userDrawn="1"/>
              </p:nvSpPr>
              <p:spPr bwMode="ltGray">
                <a:xfrm>
                  <a:off x="2853" y="74"/>
                  <a:ext cx="42" cy="25"/>
                </a:xfrm>
                <a:custGeom>
                  <a:avLst/>
                  <a:gdLst>
                    <a:gd name="T0" fmla="*/ 0 w 41"/>
                    <a:gd name="T1" fmla="*/ 3 h 29"/>
                    <a:gd name="T2" fmla="*/ 1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3" name="Freeform 42"/>
                <p:cNvSpPr>
                  <a:spLocks/>
                </p:cNvSpPr>
                <p:nvPr userDrawn="1"/>
              </p:nvSpPr>
              <p:spPr bwMode="ltGray">
                <a:xfrm>
                  <a:off x="1704" y="3"/>
                  <a:ext cx="1022" cy="372"/>
                </a:xfrm>
                <a:custGeom>
                  <a:avLst/>
                  <a:gdLst>
                    <a:gd name="T0" fmla="*/ 25861419 w 436"/>
                    <a:gd name="T1" fmla="*/ 548578 h 152"/>
                    <a:gd name="T2" fmla="*/ 154524473 w 436"/>
                    <a:gd name="T3" fmla="*/ 0 h 152"/>
                    <a:gd name="T4" fmla="*/ 147374486 w 436"/>
                    <a:gd name="T5" fmla="*/ 36526122 h 152"/>
                    <a:gd name="T6" fmla="*/ 140743099 w 436"/>
                    <a:gd name="T7" fmla="*/ 45900314 h 152"/>
                    <a:gd name="T8" fmla="*/ 138924928 w 436"/>
                    <a:gd name="T9" fmla="*/ 47333755 h 152"/>
                    <a:gd name="T10" fmla="*/ 132865898 w 436"/>
                    <a:gd name="T11" fmla="*/ 49506188 h 152"/>
                    <a:gd name="T12" fmla="*/ 127888603 w 436"/>
                    <a:gd name="T13" fmla="*/ 59429406 h 152"/>
                    <a:gd name="T14" fmla="*/ 128357863 w 436"/>
                    <a:gd name="T15" fmla="*/ 66896919 h 152"/>
                    <a:gd name="T16" fmla="*/ 128934943 w 436"/>
                    <a:gd name="T17" fmla="*/ 72446599 h 152"/>
                    <a:gd name="T18" fmla="*/ 129710604 w 436"/>
                    <a:gd name="T19" fmla="*/ 76595963 h 152"/>
                    <a:gd name="T20" fmla="*/ 128357863 w 436"/>
                    <a:gd name="T21" fmla="*/ 82694252 h 152"/>
                    <a:gd name="T22" fmla="*/ 124426908 w 436"/>
                    <a:gd name="T23" fmla="*/ 81351686 h 152"/>
                    <a:gd name="T24" fmla="*/ 121258814 w 436"/>
                    <a:gd name="T25" fmla="*/ 87349413 h 152"/>
                    <a:gd name="T26" fmla="*/ 122935869 w 436"/>
                    <a:gd name="T27" fmla="*/ 71068312 h 152"/>
                    <a:gd name="T28" fmla="*/ 119720650 w 436"/>
                    <a:gd name="T29" fmla="*/ 67785196 h 152"/>
                    <a:gd name="T30" fmla="*/ 121833914 w 436"/>
                    <a:gd name="T31" fmla="*/ 63073317 h 152"/>
                    <a:gd name="T32" fmla="*/ 121258814 w 436"/>
                    <a:gd name="T33" fmla="*/ 60352267 h 152"/>
                    <a:gd name="T34" fmla="*/ 113390574 w 436"/>
                    <a:gd name="T35" fmla="*/ 63621278 h 152"/>
                    <a:gd name="T36" fmla="*/ 112348183 w 436"/>
                    <a:gd name="T37" fmla="*/ 57523606 h 152"/>
                    <a:gd name="T38" fmla="*/ 105187306 w 436"/>
                    <a:gd name="T39" fmla="*/ 63621278 h 152"/>
                    <a:gd name="T40" fmla="*/ 113390574 w 436"/>
                    <a:gd name="T41" fmla="*/ 69725771 h 152"/>
                    <a:gd name="T42" fmla="*/ 108111890 w 436"/>
                    <a:gd name="T43" fmla="*/ 79087648 h 152"/>
                    <a:gd name="T44" fmla="*/ 110227156 w 436"/>
                    <a:gd name="T45" fmla="*/ 85182068 h 152"/>
                    <a:gd name="T46" fmla="*/ 111572415 w 436"/>
                    <a:gd name="T47" fmla="*/ 93447707 h 152"/>
                    <a:gd name="T48" fmla="*/ 109459622 w 436"/>
                    <a:gd name="T49" fmla="*/ 94011265 h 152"/>
                    <a:gd name="T50" fmla="*/ 111241646 w 436"/>
                    <a:gd name="T51" fmla="*/ 97293015 h 152"/>
                    <a:gd name="T52" fmla="*/ 108874759 w 436"/>
                    <a:gd name="T53" fmla="*/ 102821162 h 152"/>
                    <a:gd name="T54" fmla="*/ 0 w 436"/>
                    <a:gd name="T55" fmla="*/ 100931542 h 152"/>
                    <a:gd name="T56" fmla="*/ 25861419 w 436"/>
                    <a:gd name="T57" fmla="*/ 548578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4" name="Freeform 43"/>
                <p:cNvSpPr>
                  <a:spLocks/>
                </p:cNvSpPr>
                <p:nvPr userDrawn="1"/>
              </p:nvSpPr>
              <p:spPr bwMode="ltGray">
                <a:xfrm>
                  <a:off x="2729" y="-9"/>
                  <a:ext cx="47" cy="134"/>
                </a:xfrm>
                <a:custGeom>
                  <a:avLst/>
                  <a:gdLst>
                    <a:gd name="T0" fmla="*/ 5 w 47"/>
                    <a:gd name="T1" fmla="*/ 6 h 165"/>
                    <a:gd name="T2" fmla="*/ 15 w 47"/>
                    <a:gd name="T3" fmla="*/ 5 h 165"/>
                    <a:gd name="T4" fmla="*/ 17 w 47"/>
                    <a:gd name="T5" fmla="*/ 2 h 165"/>
                    <a:gd name="T6" fmla="*/ 11 w 47"/>
                    <a:gd name="T7" fmla="*/ 2 h 165"/>
                    <a:gd name="T8" fmla="*/ 17 w 47"/>
                    <a:gd name="T9" fmla="*/ 2 h 165"/>
                    <a:gd name="T10" fmla="*/ 21 w 47"/>
                    <a:gd name="T11" fmla="*/ 0 h 165"/>
                    <a:gd name="T12" fmla="*/ 31 w 47"/>
                    <a:gd name="T13" fmla="*/ 2 h 165"/>
                    <a:gd name="T14" fmla="*/ 47 w 47"/>
                    <a:gd name="T15" fmla="*/ 4 h 165"/>
                    <a:gd name="T16" fmla="*/ 31 w 47"/>
                    <a:gd name="T17" fmla="*/ 5 h 165"/>
                    <a:gd name="T18" fmla="*/ 23 w 47"/>
                    <a:gd name="T19" fmla="*/ 5 h 165"/>
                    <a:gd name="T20" fmla="*/ 21 w 47"/>
                    <a:gd name="T21" fmla="*/ 6 h 165"/>
                    <a:gd name="T22" fmla="*/ 27 w 47"/>
                    <a:gd name="T23" fmla="*/ 6 h 165"/>
                    <a:gd name="T24" fmla="*/ 31 w 47"/>
                    <a:gd name="T25" fmla="*/ 6 h 165"/>
                    <a:gd name="T26" fmla="*/ 13 w 47"/>
                    <a:gd name="T27" fmla="*/ 6 h 165"/>
                    <a:gd name="T28" fmla="*/ 7 w 47"/>
                    <a:gd name="T29" fmla="*/ 6 h 165"/>
                    <a:gd name="T30" fmla="*/ 3 w 47"/>
                    <a:gd name="T31" fmla="*/ 6 h 165"/>
                    <a:gd name="T32" fmla="*/ 5 w 47"/>
                    <a:gd name="T33" fmla="*/ 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5" name="Freeform 44"/>
                <p:cNvSpPr>
                  <a:spLocks/>
                </p:cNvSpPr>
                <p:nvPr userDrawn="1"/>
              </p:nvSpPr>
              <p:spPr bwMode="ltGray">
                <a:xfrm>
                  <a:off x="2701" y="103"/>
                  <a:ext cx="138" cy="84"/>
                </a:xfrm>
                <a:custGeom>
                  <a:avLst/>
                  <a:gdLst>
                    <a:gd name="T0" fmla="*/ 26 w 138"/>
                    <a:gd name="T1" fmla="*/ 3 h 103"/>
                    <a:gd name="T2" fmla="*/ 30 w 138"/>
                    <a:gd name="T3" fmla="*/ 2 h 103"/>
                    <a:gd name="T4" fmla="*/ 50 w 138"/>
                    <a:gd name="T5" fmla="*/ 2 h 103"/>
                    <a:gd name="T6" fmla="*/ 54 w 138"/>
                    <a:gd name="T7" fmla="*/ 2 h 103"/>
                    <a:gd name="T8" fmla="*/ 66 w 138"/>
                    <a:gd name="T9" fmla="*/ 2 h 103"/>
                    <a:gd name="T10" fmla="*/ 80 w 138"/>
                    <a:gd name="T11" fmla="*/ 2 h 103"/>
                    <a:gd name="T12" fmla="*/ 116 w 138"/>
                    <a:gd name="T13" fmla="*/ 2 h 103"/>
                    <a:gd name="T14" fmla="*/ 130 w 138"/>
                    <a:gd name="T15" fmla="*/ 2 h 103"/>
                    <a:gd name="T16" fmla="*/ 138 w 138"/>
                    <a:gd name="T17" fmla="*/ 2 h 103"/>
                    <a:gd name="T18" fmla="*/ 106 w 138"/>
                    <a:gd name="T19" fmla="*/ 2 h 103"/>
                    <a:gd name="T20" fmla="*/ 84 w 138"/>
                    <a:gd name="T21" fmla="*/ 3 h 103"/>
                    <a:gd name="T22" fmla="*/ 66 w 138"/>
                    <a:gd name="T23" fmla="*/ 4 h 103"/>
                    <a:gd name="T24" fmla="*/ 48 w 138"/>
                    <a:gd name="T25" fmla="*/ 5 h 103"/>
                    <a:gd name="T26" fmla="*/ 26 w 138"/>
                    <a:gd name="T27" fmla="*/ 5 h 103"/>
                    <a:gd name="T28" fmla="*/ 20 w 138"/>
                    <a:gd name="T29" fmla="*/ 4 h 103"/>
                    <a:gd name="T30" fmla="*/ 22 w 138"/>
                    <a:gd name="T31" fmla="*/ 5 h 103"/>
                    <a:gd name="T32" fmla="*/ 0 w 138"/>
                    <a:gd name="T33" fmla="*/ 5 h 103"/>
                    <a:gd name="T34" fmla="*/ 10 w 138"/>
                    <a:gd name="T35" fmla="*/ 4 h 103"/>
                    <a:gd name="T36" fmla="*/ 26 w 138"/>
                    <a:gd name="T37" fmla="*/ 3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6" name="Freeform 45"/>
                <p:cNvSpPr>
                  <a:spLocks/>
                </p:cNvSpPr>
                <p:nvPr userDrawn="1"/>
              </p:nvSpPr>
              <p:spPr bwMode="ltGray">
                <a:xfrm>
                  <a:off x="2553" y="182"/>
                  <a:ext cx="187" cy="176"/>
                </a:xfrm>
                <a:custGeom>
                  <a:avLst/>
                  <a:gdLst>
                    <a:gd name="T0" fmla="*/ 143 w 188"/>
                    <a:gd name="T1" fmla="*/ 2 h 214"/>
                    <a:gd name="T2" fmla="*/ 145 w 188"/>
                    <a:gd name="T3" fmla="*/ 2 h 214"/>
                    <a:gd name="T4" fmla="*/ 155 w 188"/>
                    <a:gd name="T5" fmla="*/ 0 h 214"/>
                    <a:gd name="T6" fmla="*/ 167 w 188"/>
                    <a:gd name="T7" fmla="*/ 2 h 214"/>
                    <a:gd name="T8" fmla="*/ 173 w 188"/>
                    <a:gd name="T9" fmla="*/ 2 h 214"/>
                    <a:gd name="T10" fmla="*/ 163 w 188"/>
                    <a:gd name="T11" fmla="*/ 3 h 214"/>
                    <a:gd name="T12" fmla="*/ 155 w 188"/>
                    <a:gd name="T13" fmla="*/ 4 h 214"/>
                    <a:gd name="T14" fmla="*/ 147 w 188"/>
                    <a:gd name="T15" fmla="*/ 7 h 214"/>
                    <a:gd name="T16" fmla="*/ 129 w 188"/>
                    <a:gd name="T17" fmla="*/ 7 h 214"/>
                    <a:gd name="T18" fmla="*/ 105 w 188"/>
                    <a:gd name="T19" fmla="*/ 7 h 214"/>
                    <a:gd name="T20" fmla="*/ 97 w 188"/>
                    <a:gd name="T21" fmla="*/ 7 h 214"/>
                    <a:gd name="T22" fmla="*/ 94 w 188"/>
                    <a:gd name="T23" fmla="*/ 8 h 214"/>
                    <a:gd name="T24" fmla="*/ 90 w 188"/>
                    <a:gd name="T25" fmla="*/ 8 h 214"/>
                    <a:gd name="T26" fmla="*/ 80 w 188"/>
                    <a:gd name="T27" fmla="*/ 7 h 214"/>
                    <a:gd name="T28" fmla="*/ 58 w 188"/>
                    <a:gd name="T29" fmla="*/ 8 h 214"/>
                    <a:gd name="T30" fmla="*/ 76 w 188"/>
                    <a:gd name="T31" fmla="*/ 8 h 214"/>
                    <a:gd name="T32" fmla="*/ 78 w 188"/>
                    <a:gd name="T33" fmla="*/ 9 h 214"/>
                    <a:gd name="T34" fmla="*/ 58 w 188"/>
                    <a:gd name="T35" fmla="*/ 9 h 214"/>
                    <a:gd name="T36" fmla="*/ 34 w 188"/>
                    <a:gd name="T37" fmla="*/ 9 h 214"/>
                    <a:gd name="T38" fmla="*/ 36 w 188"/>
                    <a:gd name="T39" fmla="*/ 8 h 214"/>
                    <a:gd name="T40" fmla="*/ 46 w 188"/>
                    <a:gd name="T41" fmla="*/ 8 h 214"/>
                    <a:gd name="T42" fmla="*/ 34 w 188"/>
                    <a:gd name="T43" fmla="*/ 8 h 214"/>
                    <a:gd name="T44" fmla="*/ 26 w 188"/>
                    <a:gd name="T45" fmla="*/ 9 h 214"/>
                    <a:gd name="T46" fmla="*/ 30 w 188"/>
                    <a:gd name="T47" fmla="*/ 10 h 214"/>
                    <a:gd name="T48" fmla="*/ 14 w 188"/>
                    <a:gd name="T49" fmla="*/ 11 h 214"/>
                    <a:gd name="T50" fmla="*/ 0 w 188"/>
                    <a:gd name="T51" fmla="*/ 12 h 214"/>
                    <a:gd name="T52" fmla="*/ 8 w 188"/>
                    <a:gd name="T53" fmla="*/ 10 h 214"/>
                    <a:gd name="T54" fmla="*/ 0 w 188"/>
                    <a:gd name="T55" fmla="*/ 9 h 214"/>
                    <a:gd name="T56" fmla="*/ 14 w 188"/>
                    <a:gd name="T57" fmla="*/ 8 h 214"/>
                    <a:gd name="T58" fmla="*/ 32 w 188"/>
                    <a:gd name="T59" fmla="*/ 7 h 214"/>
                    <a:gd name="T60" fmla="*/ 44 w 188"/>
                    <a:gd name="T61" fmla="*/ 7 h 214"/>
                    <a:gd name="T62" fmla="*/ 72 w 188"/>
                    <a:gd name="T63" fmla="*/ 7 h 214"/>
                    <a:gd name="T64" fmla="*/ 84 w 188"/>
                    <a:gd name="T65" fmla="*/ 6 h 214"/>
                    <a:gd name="T66" fmla="*/ 99 w 188"/>
                    <a:gd name="T67" fmla="*/ 5 h 214"/>
                    <a:gd name="T68" fmla="*/ 105 w 188"/>
                    <a:gd name="T69" fmla="*/ 5 h 214"/>
                    <a:gd name="T70" fmla="*/ 117 w 188"/>
                    <a:gd name="T71" fmla="*/ 4 h 214"/>
                    <a:gd name="T72" fmla="*/ 135 w 188"/>
                    <a:gd name="T73" fmla="*/ 3 h 214"/>
                    <a:gd name="T74" fmla="*/ 139 w 188"/>
                    <a:gd name="T75" fmla="*/ 2 h 214"/>
                    <a:gd name="T76" fmla="*/ 133 w 188"/>
                    <a:gd name="T77" fmla="*/ 2 h 214"/>
                    <a:gd name="T78" fmla="*/ 137 w 188"/>
                    <a:gd name="T79" fmla="*/ 2 h 214"/>
                    <a:gd name="T80" fmla="*/ 143 w 188"/>
                    <a:gd name="T81" fmla="*/ 2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7" name="Freeform 46"/>
                <p:cNvSpPr>
                  <a:spLocks/>
                </p:cNvSpPr>
                <p:nvPr userDrawn="1"/>
              </p:nvSpPr>
              <p:spPr bwMode="ltGray">
                <a:xfrm>
                  <a:off x="2677" y="233"/>
                  <a:ext cx="14" cy="10"/>
                </a:xfrm>
                <a:custGeom>
                  <a:avLst/>
                  <a:gdLst>
                    <a:gd name="T0" fmla="*/ 0 w 13"/>
                    <a:gd name="T1" fmla="*/ 2 h 13"/>
                    <a:gd name="T2" fmla="*/ 4 w 13"/>
                    <a:gd name="T3" fmla="*/ 2 h 13"/>
                    <a:gd name="T4" fmla="*/ 0 w 13"/>
                    <a:gd name="T5" fmla="*/ 2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8" name="Freeform 47"/>
                <p:cNvSpPr>
                  <a:spLocks/>
                </p:cNvSpPr>
                <p:nvPr userDrawn="1"/>
              </p:nvSpPr>
              <p:spPr bwMode="ltGray">
                <a:xfrm>
                  <a:off x="1627" y="353"/>
                  <a:ext cx="813" cy="462"/>
                </a:xfrm>
                <a:custGeom>
                  <a:avLst/>
                  <a:gdLst>
                    <a:gd name="T0" fmla="*/ 827 w 812"/>
                    <a:gd name="T1" fmla="*/ 2 h 564"/>
                    <a:gd name="T2" fmla="*/ 793 w 812"/>
                    <a:gd name="T3" fmla="*/ 4 h 564"/>
                    <a:gd name="T4" fmla="*/ 763 w 812"/>
                    <a:gd name="T5" fmla="*/ 6 h 564"/>
                    <a:gd name="T6" fmla="*/ 737 w 812"/>
                    <a:gd name="T7" fmla="*/ 7 h 564"/>
                    <a:gd name="T8" fmla="*/ 649 w 812"/>
                    <a:gd name="T9" fmla="*/ 9 h 564"/>
                    <a:gd name="T10" fmla="*/ 647 w 812"/>
                    <a:gd name="T11" fmla="*/ 11 h 564"/>
                    <a:gd name="T12" fmla="*/ 619 w 812"/>
                    <a:gd name="T13" fmla="*/ 11 h 564"/>
                    <a:gd name="T14" fmla="*/ 635 w 812"/>
                    <a:gd name="T15" fmla="*/ 9 h 564"/>
                    <a:gd name="T16" fmla="*/ 591 w 812"/>
                    <a:gd name="T17" fmla="*/ 9 h 564"/>
                    <a:gd name="T18" fmla="*/ 571 w 812"/>
                    <a:gd name="T19" fmla="*/ 11 h 564"/>
                    <a:gd name="T20" fmla="*/ 611 w 812"/>
                    <a:gd name="T21" fmla="*/ 14 h 564"/>
                    <a:gd name="T22" fmla="*/ 609 w 812"/>
                    <a:gd name="T23" fmla="*/ 19 h 564"/>
                    <a:gd name="T24" fmla="*/ 557 w 812"/>
                    <a:gd name="T25" fmla="*/ 20 h 564"/>
                    <a:gd name="T26" fmla="*/ 537 w 812"/>
                    <a:gd name="T27" fmla="*/ 20 h 564"/>
                    <a:gd name="T28" fmla="*/ 497 w 812"/>
                    <a:gd name="T29" fmla="*/ 17 h 564"/>
                    <a:gd name="T30" fmla="*/ 477 w 812"/>
                    <a:gd name="T31" fmla="*/ 17 h 564"/>
                    <a:gd name="T32" fmla="*/ 465 w 812"/>
                    <a:gd name="T33" fmla="*/ 20 h 564"/>
                    <a:gd name="T34" fmla="*/ 515 w 812"/>
                    <a:gd name="T35" fmla="*/ 24 h 564"/>
                    <a:gd name="T36" fmla="*/ 525 w 812"/>
                    <a:gd name="T37" fmla="*/ 26 h 564"/>
                    <a:gd name="T38" fmla="*/ 541 w 812"/>
                    <a:gd name="T39" fmla="*/ 28 h 564"/>
                    <a:gd name="T40" fmla="*/ 507 w 812"/>
                    <a:gd name="T41" fmla="*/ 28 h 564"/>
                    <a:gd name="T42" fmla="*/ 485 w 812"/>
                    <a:gd name="T43" fmla="*/ 26 h 564"/>
                    <a:gd name="T44" fmla="*/ 437 w 812"/>
                    <a:gd name="T45" fmla="*/ 21 h 564"/>
                    <a:gd name="T46" fmla="*/ 441 w 812"/>
                    <a:gd name="T47" fmla="*/ 16 h 564"/>
                    <a:gd name="T48" fmla="*/ 437 w 812"/>
                    <a:gd name="T49" fmla="*/ 13 h 564"/>
                    <a:gd name="T50" fmla="*/ 427 w 812"/>
                    <a:gd name="T51" fmla="*/ 14 h 564"/>
                    <a:gd name="T52" fmla="*/ 386 w 812"/>
                    <a:gd name="T53" fmla="*/ 13 h 564"/>
                    <a:gd name="T54" fmla="*/ 360 w 812"/>
                    <a:gd name="T55" fmla="*/ 9 h 564"/>
                    <a:gd name="T56" fmla="*/ 330 w 812"/>
                    <a:gd name="T57" fmla="*/ 9 h 564"/>
                    <a:gd name="T58" fmla="*/ 288 w 812"/>
                    <a:gd name="T59" fmla="*/ 9 h 564"/>
                    <a:gd name="T60" fmla="*/ 242 w 812"/>
                    <a:gd name="T61" fmla="*/ 11 h 564"/>
                    <a:gd name="T62" fmla="*/ 196 w 812"/>
                    <a:gd name="T63" fmla="*/ 13 h 564"/>
                    <a:gd name="T64" fmla="*/ 184 w 812"/>
                    <a:gd name="T65" fmla="*/ 13 h 564"/>
                    <a:gd name="T66" fmla="*/ 160 w 812"/>
                    <a:gd name="T67" fmla="*/ 16 h 564"/>
                    <a:gd name="T68" fmla="*/ 152 w 812"/>
                    <a:gd name="T69" fmla="*/ 17 h 564"/>
                    <a:gd name="T70" fmla="*/ 128 w 812"/>
                    <a:gd name="T71" fmla="*/ 20 h 564"/>
                    <a:gd name="T72" fmla="*/ 94 w 812"/>
                    <a:gd name="T73" fmla="*/ 20 h 564"/>
                    <a:gd name="T74" fmla="*/ 66 w 812"/>
                    <a:gd name="T75" fmla="*/ 13 h 564"/>
                    <a:gd name="T76" fmla="*/ 72 w 812"/>
                    <a:gd name="T77" fmla="*/ 7 h 564"/>
                    <a:gd name="T78" fmla="*/ 44 w 812"/>
                    <a:gd name="T79" fmla="*/ 9 h 564"/>
                    <a:gd name="T80" fmla="*/ 20 w 812"/>
                    <a:gd name="T81" fmla="*/ 7 h 564"/>
                    <a:gd name="T82" fmla="*/ 24 w 812"/>
                    <a:gd name="T83" fmla="*/ 7 h 564"/>
                    <a:gd name="T84" fmla="*/ 0 w 812"/>
                    <a:gd name="T85" fmla="*/ 5 h 564"/>
                    <a:gd name="T86" fmla="*/ 813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9" name="Freeform 48"/>
                <p:cNvSpPr>
                  <a:spLocks/>
                </p:cNvSpPr>
                <p:nvPr userDrawn="1"/>
              </p:nvSpPr>
              <p:spPr bwMode="ltGray">
                <a:xfrm>
                  <a:off x="1770" y="671"/>
                  <a:ext cx="45" cy="71"/>
                </a:xfrm>
                <a:custGeom>
                  <a:avLst/>
                  <a:gdLst>
                    <a:gd name="T0" fmla="*/ 7 w 43"/>
                    <a:gd name="T1" fmla="*/ 3 h 85"/>
                    <a:gd name="T2" fmla="*/ 32 w 43"/>
                    <a:gd name="T3" fmla="*/ 3 h 85"/>
                    <a:gd name="T4" fmla="*/ 73 w 43"/>
                    <a:gd name="T5" fmla="*/ 3 h 85"/>
                    <a:gd name="T6" fmla="*/ 35 w 43"/>
                    <a:gd name="T7" fmla="*/ 6 h 85"/>
                    <a:gd name="T8" fmla="*/ 1 w 43"/>
                    <a:gd name="T9" fmla="*/ 5 h 85"/>
                    <a:gd name="T10" fmla="*/ 7 w 43"/>
                    <a:gd name="T11" fmla="*/ 3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0" name="Freeform 49"/>
                <p:cNvSpPr>
                  <a:spLocks/>
                </p:cNvSpPr>
                <p:nvPr userDrawn="1"/>
              </p:nvSpPr>
              <p:spPr bwMode="ltGray">
                <a:xfrm>
                  <a:off x="2394" y="431"/>
                  <a:ext cx="42" cy="59"/>
                </a:xfrm>
                <a:custGeom>
                  <a:avLst/>
                  <a:gdLst>
                    <a:gd name="T0" fmla="*/ 11 w 44"/>
                    <a:gd name="T1" fmla="*/ 2 h 74"/>
                    <a:gd name="T2" fmla="*/ 14 w 44"/>
                    <a:gd name="T3" fmla="*/ 2 h 74"/>
                    <a:gd name="T4" fmla="*/ 23 w 44"/>
                    <a:gd name="T5" fmla="*/ 2 h 74"/>
                    <a:gd name="T6" fmla="*/ 21 w 44"/>
                    <a:gd name="T7" fmla="*/ 2 h 74"/>
                    <a:gd name="T8" fmla="*/ 11 w 44"/>
                    <a:gd name="T9" fmla="*/ 2 h 74"/>
                    <a:gd name="T10" fmla="*/ 7 w 44"/>
                    <a:gd name="T11" fmla="*/ 2 h 74"/>
                    <a:gd name="T12" fmla="*/ 3 w 44"/>
                    <a:gd name="T13" fmla="*/ 2 h 74"/>
                    <a:gd name="T14" fmla="*/ 11 w 44"/>
                    <a:gd name="T15" fmla="*/ 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1" name="Freeform 50"/>
                <p:cNvSpPr>
                  <a:spLocks/>
                </p:cNvSpPr>
                <p:nvPr userDrawn="1"/>
              </p:nvSpPr>
              <p:spPr bwMode="ltGray">
                <a:xfrm>
                  <a:off x="2513" y="402"/>
                  <a:ext cx="21" cy="24"/>
                </a:xfrm>
                <a:custGeom>
                  <a:avLst/>
                  <a:gdLst>
                    <a:gd name="T0" fmla="*/ 7 w 20"/>
                    <a:gd name="T1" fmla="*/ 2 h 30"/>
                    <a:gd name="T2" fmla="*/ 5 w 20"/>
                    <a:gd name="T3" fmla="*/ 2 h 30"/>
                    <a:gd name="T4" fmla="*/ 7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2" name="Freeform 51"/>
                <p:cNvSpPr>
                  <a:spLocks/>
                </p:cNvSpPr>
                <p:nvPr userDrawn="1"/>
              </p:nvSpPr>
              <p:spPr bwMode="ltGray">
                <a:xfrm>
                  <a:off x="333" y="169"/>
                  <a:ext cx="1015" cy="866"/>
                </a:xfrm>
                <a:custGeom>
                  <a:avLst/>
                  <a:gdLst>
                    <a:gd name="T0" fmla="*/ 187232 w 682"/>
                    <a:gd name="T1" fmla="*/ 347720 h 557"/>
                    <a:gd name="T2" fmla="*/ 189101 w 682"/>
                    <a:gd name="T3" fmla="*/ 338147 h 557"/>
                    <a:gd name="T4" fmla="*/ 194652 w 682"/>
                    <a:gd name="T5" fmla="*/ 309636 h 557"/>
                    <a:gd name="T6" fmla="*/ 120394 w 682"/>
                    <a:gd name="T7" fmla="*/ 214838 h 557"/>
                    <a:gd name="T8" fmla="*/ 109830 w 682"/>
                    <a:gd name="T9" fmla="*/ 259318 h 557"/>
                    <a:gd name="T10" fmla="*/ 117972 w 682"/>
                    <a:gd name="T11" fmla="*/ 416544 h 557"/>
                    <a:gd name="T12" fmla="*/ 109830 w 682"/>
                    <a:gd name="T13" fmla="*/ 370326 h 557"/>
                    <a:gd name="T14" fmla="*/ 94255 w 682"/>
                    <a:gd name="T15" fmla="*/ 329386 h 557"/>
                    <a:gd name="T16" fmla="*/ 95431 w 682"/>
                    <a:gd name="T17" fmla="*/ 309636 h 557"/>
                    <a:gd name="T18" fmla="*/ 96319 w 682"/>
                    <a:gd name="T19" fmla="*/ 295619 h 557"/>
                    <a:gd name="T20" fmla="*/ 85614 w 682"/>
                    <a:gd name="T21" fmla="*/ 281141 h 557"/>
                    <a:gd name="T22" fmla="*/ 75558 w 682"/>
                    <a:gd name="T23" fmla="*/ 259318 h 557"/>
                    <a:gd name="T24" fmla="*/ 57526 w 682"/>
                    <a:gd name="T25" fmla="*/ 265078 h 557"/>
                    <a:gd name="T26" fmla="*/ 49245 w 682"/>
                    <a:gd name="T27" fmla="*/ 273580 h 557"/>
                    <a:gd name="T28" fmla="*/ 30353 w 682"/>
                    <a:gd name="T29" fmla="*/ 273580 h 557"/>
                    <a:gd name="T30" fmla="*/ 8641 w 682"/>
                    <a:gd name="T31" fmla="*/ 233862 h 557"/>
                    <a:gd name="T32" fmla="*/ 4249 w 682"/>
                    <a:gd name="T33" fmla="*/ 221516 h 557"/>
                    <a:gd name="T34" fmla="*/ 0 w 682"/>
                    <a:gd name="T35" fmla="*/ 197501 h 557"/>
                    <a:gd name="T36" fmla="*/ 9412 w 682"/>
                    <a:gd name="T37" fmla="*/ 159775 h 557"/>
                    <a:gd name="T38" fmla="*/ 12530 w 682"/>
                    <a:gd name="T39" fmla="*/ 135508 h 557"/>
                    <a:gd name="T40" fmla="*/ 19868 w 682"/>
                    <a:gd name="T41" fmla="*/ 106855 h 557"/>
                    <a:gd name="T42" fmla="*/ 31690 w 682"/>
                    <a:gd name="T43" fmla="*/ 86727 h 557"/>
                    <a:gd name="T44" fmla="*/ 65210 w 682"/>
                    <a:gd name="T45" fmla="*/ 50262 h 557"/>
                    <a:gd name="T46" fmla="*/ 85614 w 682"/>
                    <a:gd name="T47" fmla="*/ 22602 h 557"/>
                    <a:gd name="T48" fmla="*/ 100366 w 682"/>
                    <a:gd name="T49" fmla="*/ 4327 h 557"/>
                    <a:gd name="T50" fmla="*/ 141319 w 682"/>
                    <a:gd name="T51" fmla="*/ 1600 h 557"/>
                    <a:gd name="T52" fmla="*/ 154814 w 682"/>
                    <a:gd name="T53" fmla="*/ 0 h 557"/>
                    <a:gd name="T54" fmla="*/ 149372 w 682"/>
                    <a:gd name="T55" fmla="*/ 25282 h 557"/>
                    <a:gd name="T56" fmla="*/ 172398 w 682"/>
                    <a:gd name="T57" fmla="*/ 63221 h 557"/>
                    <a:gd name="T58" fmla="*/ 193527 w 682"/>
                    <a:gd name="T59" fmla="*/ 55469 h 557"/>
                    <a:gd name="T60" fmla="*/ 205840 w 682"/>
                    <a:gd name="T61" fmla="*/ 61113 h 557"/>
                    <a:gd name="T62" fmla="*/ 217472 w 682"/>
                    <a:gd name="T63" fmla="*/ 72794 h 557"/>
                    <a:gd name="T64" fmla="*/ 222720 w 682"/>
                    <a:gd name="T65" fmla="*/ 140878 h 557"/>
                    <a:gd name="T66" fmla="*/ 222720 w 682"/>
                    <a:gd name="T67" fmla="*/ 179906 h 557"/>
                    <a:gd name="T68" fmla="*/ 232980 w 682"/>
                    <a:gd name="T69" fmla="*/ 212134 h 557"/>
                    <a:gd name="T70" fmla="*/ 251195 w 682"/>
                    <a:gd name="T71" fmla="*/ 224812 h 557"/>
                    <a:gd name="T72" fmla="*/ 264567 w 682"/>
                    <a:gd name="T73" fmla="*/ 221516 h 557"/>
                    <a:gd name="T74" fmla="*/ 258338 w 682"/>
                    <a:gd name="T75" fmla="*/ 254971 h 557"/>
                    <a:gd name="T76" fmla="*/ 232980 w 682"/>
                    <a:gd name="T77" fmla="*/ 305277 h 557"/>
                    <a:gd name="T78" fmla="*/ 213342 w 682"/>
                    <a:gd name="T79" fmla="*/ 363599 h 557"/>
                    <a:gd name="T80" fmla="*/ 216406 w 682"/>
                    <a:gd name="T81" fmla="*/ 380855 h 557"/>
                    <a:gd name="T82" fmla="*/ 169227 w 682"/>
                    <a:gd name="T83" fmla="*/ 41654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3" name="Freeform 52"/>
                <p:cNvSpPr>
                  <a:spLocks/>
                </p:cNvSpPr>
                <p:nvPr userDrawn="1"/>
              </p:nvSpPr>
              <p:spPr bwMode="ltGray">
                <a:xfrm>
                  <a:off x="727" y="495"/>
                  <a:ext cx="382" cy="540"/>
                </a:xfrm>
                <a:custGeom>
                  <a:avLst/>
                  <a:gdLst>
                    <a:gd name="T0" fmla="*/ 92770 w 257"/>
                    <a:gd name="T1" fmla="*/ 263634 h 347"/>
                    <a:gd name="T2" fmla="*/ 88889 w 257"/>
                    <a:gd name="T3" fmla="*/ 228571 h 347"/>
                    <a:gd name="T4" fmla="*/ 82985 w 257"/>
                    <a:gd name="T5" fmla="*/ 218842 h 347"/>
                    <a:gd name="T6" fmla="*/ 82344 w 257"/>
                    <a:gd name="T7" fmla="*/ 204870 h 347"/>
                    <a:gd name="T8" fmla="*/ 79892 w 257"/>
                    <a:gd name="T9" fmla="*/ 193026 h 347"/>
                    <a:gd name="T10" fmla="*/ 79892 w 257"/>
                    <a:gd name="T11" fmla="*/ 173891 h 347"/>
                    <a:gd name="T12" fmla="*/ 79197 w 257"/>
                    <a:gd name="T13" fmla="*/ 162534 h 347"/>
                    <a:gd name="T14" fmla="*/ 87065 w 257"/>
                    <a:gd name="T15" fmla="*/ 153508 h 347"/>
                    <a:gd name="T16" fmla="*/ 98170 w 257"/>
                    <a:gd name="T17" fmla="*/ 150100 h 347"/>
                    <a:gd name="T18" fmla="*/ 98170 w 257"/>
                    <a:gd name="T19" fmla="*/ 103672 h 347"/>
                    <a:gd name="T20" fmla="*/ 20591 w 257"/>
                    <a:gd name="T21" fmla="*/ 72923 h 347"/>
                    <a:gd name="T22" fmla="*/ 12355 w 257"/>
                    <a:gd name="T23" fmla="*/ 74595 h 347"/>
                    <a:gd name="T24" fmla="*/ 6270 w 257"/>
                    <a:gd name="T25" fmla="*/ 77564 h 347"/>
                    <a:gd name="T26" fmla="*/ 0 w 257"/>
                    <a:gd name="T27" fmla="*/ 113482 h 347"/>
                    <a:gd name="T28" fmla="*/ 35407 w 257"/>
                    <a:gd name="T29" fmla="*/ 262845 h 347"/>
                    <a:gd name="T30" fmla="*/ 92770 w 257"/>
                    <a:gd name="T31" fmla="*/ 263634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4" name="Freeform 53"/>
                <p:cNvSpPr>
                  <a:spLocks/>
                </p:cNvSpPr>
                <p:nvPr userDrawn="1"/>
              </p:nvSpPr>
              <p:spPr bwMode="ltGray">
                <a:xfrm>
                  <a:off x="1400" y="896"/>
                  <a:ext cx="16" cy="29"/>
                </a:xfrm>
                <a:custGeom>
                  <a:avLst/>
                  <a:gdLst>
                    <a:gd name="T0" fmla="*/ 3 w 19"/>
                    <a:gd name="T1" fmla="*/ 2 h 37"/>
                    <a:gd name="T2" fmla="*/ 3 w 19"/>
                    <a:gd name="T3" fmla="*/ 2 h 37"/>
                    <a:gd name="T4" fmla="*/ 3 w 19"/>
                    <a:gd name="T5" fmla="*/ 2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5" name="Freeform 54"/>
                <p:cNvSpPr>
                  <a:spLocks/>
                </p:cNvSpPr>
                <p:nvPr userDrawn="1"/>
              </p:nvSpPr>
              <p:spPr bwMode="ltGray">
                <a:xfrm>
                  <a:off x="1379" y="617"/>
                  <a:ext cx="21" cy="17"/>
                </a:xfrm>
                <a:custGeom>
                  <a:avLst/>
                  <a:gdLst>
                    <a:gd name="T0" fmla="*/ 11 w 22"/>
                    <a:gd name="T1" fmla="*/ 3 h 20"/>
                    <a:gd name="T2" fmla="*/ 11 w 22"/>
                    <a:gd name="T3" fmla="*/ 0 h 20"/>
                    <a:gd name="T4" fmla="*/ 11 w 22"/>
                    <a:gd name="T5" fmla="*/ 3 h 20"/>
                    <a:gd name="T6" fmla="*/ 8 w 22"/>
                    <a:gd name="T7" fmla="*/ 3 h 20"/>
                    <a:gd name="T8" fmla="*/ 11 w 22"/>
                    <a:gd name="T9" fmla="*/ 3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6" name="Freeform 55"/>
                <p:cNvSpPr>
                  <a:spLocks/>
                </p:cNvSpPr>
                <p:nvPr userDrawn="1"/>
              </p:nvSpPr>
              <p:spPr bwMode="ltGray">
                <a:xfrm>
                  <a:off x="453" y="275"/>
                  <a:ext cx="58" cy="24"/>
                </a:xfrm>
                <a:custGeom>
                  <a:avLst/>
                  <a:gdLst>
                    <a:gd name="T0" fmla="*/ 24 w 57"/>
                    <a:gd name="T1" fmla="*/ 2 h 30"/>
                    <a:gd name="T2" fmla="*/ 47 w 57"/>
                    <a:gd name="T3" fmla="*/ 2 h 30"/>
                    <a:gd name="T4" fmla="*/ 51 w 57"/>
                    <a:gd name="T5" fmla="*/ 2 h 30"/>
                    <a:gd name="T6" fmla="*/ 24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7" name="Freeform 56"/>
                <p:cNvSpPr>
                  <a:spLocks/>
                </p:cNvSpPr>
                <p:nvPr userDrawn="1"/>
              </p:nvSpPr>
              <p:spPr bwMode="ltGray">
                <a:xfrm>
                  <a:off x="1161" y="50"/>
                  <a:ext cx="691" cy="569"/>
                </a:xfrm>
                <a:custGeom>
                  <a:avLst/>
                  <a:gdLst>
                    <a:gd name="T0" fmla="*/ 458 w 693"/>
                    <a:gd name="T1" fmla="*/ 23 h 696"/>
                    <a:gd name="T2" fmla="*/ 378 w 693"/>
                    <a:gd name="T3" fmla="*/ 22 h 696"/>
                    <a:gd name="T4" fmla="*/ 310 w 693"/>
                    <a:gd name="T5" fmla="*/ 20 h 696"/>
                    <a:gd name="T6" fmla="*/ 250 w 693"/>
                    <a:gd name="T7" fmla="*/ 20 h 696"/>
                    <a:gd name="T8" fmla="*/ 222 w 693"/>
                    <a:gd name="T9" fmla="*/ 20 h 696"/>
                    <a:gd name="T10" fmla="*/ 246 w 693"/>
                    <a:gd name="T11" fmla="*/ 20 h 696"/>
                    <a:gd name="T12" fmla="*/ 278 w 693"/>
                    <a:gd name="T13" fmla="*/ 23 h 696"/>
                    <a:gd name="T14" fmla="*/ 306 w 693"/>
                    <a:gd name="T15" fmla="*/ 24 h 696"/>
                    <a:gd name="T16" fmla="*/ 318 w 693"/>
                    <a:gd name="T17" fmla="*/ 25 h 696"/>
                    <a:gd name="T18" fmla="*/ 298 w 693"/>
                    <a:gd name="T19" fmla="*/ 27 h 696"/>
                    <a:gd name="T20" fmla="*/ 246 w 693"/>
                    <a:gd name="T21" fmla="*/ 31 h 696"/>
                    <a:gd name="T22" fmla="*/ 210 w 693"/>
                    <a:gd name="T23" fmla="*/ 31 h 696"/>
                    <a:gd name="T24" fmla="*/ 97 w 693"/>
                    <a:gd name="T25" fmla="*/ 34 h 696"/>
                    <a:gd name="T26" fmla="*/ 77 w 693"/>
                    <a:gd name="T27" fmla="*/ 31 h 696"/>
                    <a:gd name="T28" fmla="*/ 45 w 693"/>
                    <a:gd name="T29" fmla="*/ 25 h 696"/>
                    <a:gd name="T30" fmla="*/ 33 w 693"/>
                    <a:gd name="T31" fmla="*/ 22 h 696"/>
                    <a:gd name="T32" fmla="*/ 53 w 693"/>
                    <a:gd name="T33" fmla="*/ 16 h 696"/>
                    <a:gd name="T34" fmla="*/ 17 w 693"/>
                    <a:gd name="T35" fmla="*/ 20 h 696"/>
                    <a:gd name="T36" fmla="*/ 81 w 693"/>
                    <a:gd name="T37" fmla="*/ 13 h 696"/>
                    <a:gd name="T38" fmla="*/ 113 w 693"/>
                    <a:gd name="T39" fmla="*/ 11 h 696"/>
                    <a:gd name="T40" fmla="*/ 37 w 693"/>
                    <a:gd name="T41" fmla="*/ 11 h 696"/>
                    <a:gd name="T42" fmla="*/ 1 w 693"/>
                    <a:gd name="T43" fmla="*/ 9 h 696"/>
                    <a:gd name="T44" fmla="*/ 25 w 693"/>
                    <a:gd name="T45" fmla="*/ 7 h 696"/>
                    <a:gd name="T46" fmla="*/ 97 w 693"/>
                    <a:gd name="T47" fmla="*/ 6 h 696"/>
                    <a:gd name="T48" fmla="*/ 206 w 693"/>
                    <a:gd name="T49" fmla="*/ 6 h 696"/>
                    <a:gd name="T50" fmla="*/ 214 w 693"/>
                    <a:gd name="T51" fmla="*/ 3 h 696"/>
                    <a:gd name="T52" fmla="*/ 246 w 693"/>
                    <a:gd name="T53" fmla="*/ 0 h 696"/>
                    <a:gd name="T54" fmla="*/ 342 w 693"/>
                    <a:gd name="T55" fmla="*/ 2 h 696"/>
                    <a:gd name="T56" fmla="*/ 314 w 693"/>
                    <a:gd name="T57" fmla="*/ 4 h 696"/>
                    <a:gd name="T58" fmla="*/ 286 w 693"/>
                    <a:gd name="T59" fmla="*/ 9 h 696"/>
                    <a:gd name="T60" fmla="*/ 346 w 693"/>
                    <a:gd name="T61" fmla="*/ 9 h 696"/>
                    <a:gd name="T62" fmla="*/ 358 w 693"/>
                    <a:gd name="T63" fmla="*/ 7 h 696"/>
                    <a:gd name="T64" fmla="*/ 402 w 693"/>
                    <a:gd name="T65" fmla="*/ 5 h 696"/>
                    <a:gd name="T66" fmla="*/ 482 w 693"/>
                    <a:gd name="T67" fmla="*/ 4 h 696"/>
                    <a:gd name="T68" fmla="*/ 509 w 693"/>
                    <a:gd name="T69" fmla="*/ 2 h 696"/>
                    <a:gd name="T70" fmla="*/ 515 w 693"/>
                    <a:gd name="T71" fmla="*/ 23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8" name="Freeform 57"/>
                <p:cNvSpPr>
                  <a:spLocks/>
                </p:cNvSpPr>
                <p:nvPr userDrawn="1"/>
              </p:nvSpPr>
              <p:spPr bwMode="ltGray">
                <a:xfrm>
                  <a:off x="689" y="6"/>
                  <a:ext cx="1386" cy="232"/>
                </a:xfrm>
                <a:custGeom>
                  <a:avLst/>
                  <a:gdLst>
                    <a:gd name="T0" fmla="*/ 322484 w 931"/>
                    <a:gd name="T1" fmla="*/ 0 h 149"/>
                    <a:gd name="T2" fmla="*/ 56001 w 931"/>
                    <a:gd name="T3" fmla="*/ 22213 h 149"/>
                    <a:gd name="T4" fmla="*/ 35417 w 931"/>
                    <a:gd name="T5" fmla="*/ 31868 h 149"/>
                    <a:gd name="T6" fmla="*/ 24195 w 931"/>
                    <a:gd name="T7" fmla="*/ 31868 h 149"/>
                    <a:gd name="T8" fmla="*/ 8661 w 931"/>
                    <a:gd name="T9" fmla="*/ 59081 h 149"/>
                    <a:gd name="T10" fmla="*/ 0 w 931"/>
                    <a:gd name="T11" fmla="*/ 80255 h 149"/>
                    <a:gd name="T12" fmla="*/ 23090 w 931"/>
                    <a:gd name="T13" fmla="*/ 88232 h 149"/>
                    <a:gd name="T14" fmla="*/ 37828 w 931"/>
                    <a:gd name="T15" fmla="*/ 73261 h 149"/>
                    <a:gd name="T16" fmla="*/ 42315 w 931"/>
                    <a:gd name="T17" fmla="*/ 64535 h 149"/>
                    <a:gd name="T18" fmla="*/ 65428 w 931"/>
                    <a:gd name="T19" fmla="*/ 39804 h 149"/>
                    <a:gd name="T20" fmla="*/ 84064 w 931"/>
                    <a:gd name="T21" fmla="*/ 35339 h 149"/>
                    <a:gd name="T22" fmla="*/ 92816 w 931"/>
                    <a:gd name="T23" fmla="*/ 71702 h 149"/>
                    <a:gd name="T24" fmla="*/ 73559 w 931"/>
                    <a:gd name="T25" fmla="*/ 83853 h 149"/>
                    <a:gd name="T26" fmla="*/ 90257 w 931"/>
                    <a:gd name="T27" fmla="*/ 86714 h 149"/>
                    <a:gd name="T28" fmla="*/ 97739 w 931"/>
                    <a:gd name="T29" fmla="*/ 68857 h 149"/>
                    <a:gd name="T30" fmla="*/ 104063 w 931"/>
                    <a:gd name="T31" fmla="*/ 70402 h 149"/>
                    <a:gd name="T32" fmla="*/ 98920 w 931"/>
                    <a:gd name="T33" fmla="*/ 41447 h 149"/>
                    <a:gd name="T34" fmla="*/ 104063 w 931"/>
                    <a:gd name="T35" fmla="*/ 33925 h 149"/>
                    <a:gd name="T36" fmla="*/ 108175 w 931"/>
                    <a:gd name="T37" fmla="*/ 67406 h 149"/>
                    <a:gd name="T38" fmla="*/ 104063 w 931"/>
                    <a:gd name="T39" fmla="*/ 86714 h 149"/>
                    <a:gd name="T40" fmla="*/ 115962 w 931"/>
                    <a:gd name="T41" fmla="*/ 99534 h 149"/>
                    <a:gd name="T42" fmla="*/ 116856 w 931"/>
                    <a:gd name="T43" fmla="*/ 70402 h 149"/>
                    <a:gd name="T44" fmla="*/ 129502 w 931"/>
                    <a:gd name="T45" fmla="*/ 78774 h 149"/>
                    <a:gd name="T46" fmla="*/ 149396 w 931"/>
                    <a:gd name="T47" fmla="*/ 56200 h 149"/>
                    <a:gd name="T48" fmla="*/ 159996 w 931"/>
                    <a:gd name="T49" fmla="*/ 38199 h 149"/>
                    <a:gd name="T50" fmla="*/ 171877 w 931"/>
                    <a:gd name="T51" fmla="*/ 42666 h 149"/>
                    <a:gd name="T52" fmla="*/ 177916 w 931"/>
                    <a:gd name="T53" fmla="*/ 38199 h 149"/>
                    <a:gd name="T54" fmla="*/ 168598 w 931"/>
                    <a:gd name="T55" fmla="*/ 33925 h 149"/>
                    <a:gd name="T56" fmla="*/ 185481 w 931"/>
                    <a:gd name="T57" fmla="*/ 26619 h 149"/>
                    <a:gd name="T58" fmla="*/ 212709 w 931"/>
                    <a:gd name="T59" fmla="*/ 41447 h 149"/>
                    <a:gd name="T60" fmla="*/ 227233 w 931"/>
                    <a:gd name="T61" fmla="*/ 31868 h 149"/>
                    <a:gd name="T62" fmla="*/ 228223 w 931"/>
                    <a:gd name="T63" fmla="*/ 48398 h 149"/>
                    <a:gd name="T64" fmla="*/ 222108 w 931"/>
                    <a:gd name="T65" fmla="*/ 77261 h 149"/>
                    <a:gd name="T66" fmla="*/ 239084 w 931"/>
                    <a:gd name="T67" fmla="*/ 67406 h 149"/>
                    <a:gd name="T68" fmla="*/ 243996 w 931"/>
                    <a:gd name="T69" fmla="*/ 61628 h 149"/>
                    <a:gd name="T70" fmla="*/ 253491 w 931"/>
                    <a:gd name="T71" fmla="*/ 46638 h 149"/>
                    <a:gd name="T72" fmla="*/ 310491 w 931"/>
                    <a:gd name="T73" fmla="*/ 64535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9" name="Freeform 58"/>
                <p:cNvSpPr>
                  <a:spLocks/>
                </p:cNvSpPr>
                <p:nvPr userDrawn="1"/>
              </p:nvSpPr>
              <p:spPr bwMode="ltGray">
                <a:xfrm>
                  <a:off x="971" y="91"/>
                  <a:ext cx="30" cy="25"/>
                </a:xfrm>
                <a:custGeom>
                  <a:avLst/>
                  <a:gdLst>
                    <a:gd name="T0" fmla="*/ 3 w 31"/>
                    <a:gd name="T1" fmla="*/ 3 h 30"/>
                    <a:gd name="T2" fmla="*/ 16 w 31"/>
                    <a:gd name="T3" fmla="*/ 0 h 30"/>
                    <a:gd name="T4" fmla="*/ 15 w 31"/>
                    <a:gd name="T5" fmla="*/ 3 h 30"/>
                    <a:gd name="T6" fmla="*/ 3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0" name="Freeform 59"/>
                <p:cNvSpPr>
                  <a:spLocks/>
                </p:cNvSpPr>
                <p:nvPr userDrawn="1"/>
              </p:nvSpPr>
              <p:spPr bwMode="ltGray">
                <a:xfrm>
                  <a:off x="935" y="125"/>
                  <a:ext cx="45" cy="27"/>
                </a:xfrm>
                <a:custGeom>
                  <a:avLst/>
                  <a:gdLst>
                    <a:gd name="T0" fmla="*/ 6 w 44"/>
                    <a:gd name="T1" fmla="*/ 3 h 32"/>
                    <a:gd name="T2" fmla="*/ 37 w 44"/>
                    <a:gd name="T3" fmla="*/ 0 h 32"/>
                    <a:gd name="T4" fmla="*/ 53 w 44"/>
                    <a:gd name="T5" fmla="*/ 3 h 32"/>
                    <a:gd name="T6" fmla="*/ 6 w 44"/>
                    <a:gd name="T7" fmla="*/ 3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1" name="Freeform 60"/>
                <p:cNvSpPr>
                  <a:spLocks/>
                </p:cNvSpPr>
                <p:nvPr userDrawn="1"/>
              </p:nvSpPr>
              <p:spPr bwMode="ltGray">
                <a:xfrm>
                  <a:off x="1081" y="226"/>
                  <a:ext cx="75" cy="14"/>
                </a:xfrm>
                <a:custGeom>
                  <a:avLst/>
                  <a:gdLst>
                    <a:gd name="T0" fmla="*/ 37 w 76"/>
                    <a:gd name="T1" fmla="*/ 2 h 18"/>
                    <a:gd name="T2" fmla="*/ 25 w 76"/>
                    <a:gd name="T3" fmla="*/ 2 h 18"/>
                    <a:gd name="T4" fmla="*/ 3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2" name="Freeform 61"/>
                <p:cNvSpPr>
                  <a:spLocks/>
                </p:cNvSpPr>
                <p:nvPr userDrawn="1"/>
              </p:nvSpPr>
              <p:spPr bwMode="ltGray">
                <a:xfrm>
                  <a:off x="1210" y="223"/>
                  <a:ext cx="42" cy="37"/>
                </a:xfrm>
                <a:custGeom>
                  <a:avLst/>
                  <a:gdLst>
                    <a:gd name="T0" fmla="*/ 0 w 42"/>
                    <a:gd name="T1" fmla="*/ 3 h 44"/>
                    <a:gd name="T2" fmla="*/ 12 w 42"/>
                    <a:gd name="T3" fmla="*/ 3 h 44"/>
                    <a:gd name="T4" fmla="*/ 0 w 42"/>
                    <a:gd name="T5" fmla="*/ 3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3" name="Freeform 62"/>
                <p:cNvSpPr>
                  <a:spLocks/>
                </p:cNvSpPr>
                <p:nvPr userDrawn="1"/>
              </p:nvSpPr>
              <p:spPr bwMode="ltGray">
                <a:xfrm>
                  <a:off x="865" y="123"/>
                  <a:ext cx="33" cy="24"/>
                </a:xfrm>
                <a:custGeom>
                  <a:avLst/>
                  <a:gdLst>
                    <a:gd name="T0" fmla="*/ 7 w 31"/>
                    <a:gd name="T1" fmla="*/ 2 h 30"/>
                    <a:gd name="T2" fmla="*/ 78 w 31"/>
                    <a:gd name="T3" fmla="*/ 2 h 30"/>
                    <a:gd name="T4" fmla="*/ 7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a:lvl1pPr>
          </a:lstStyle>
          <a:p>
            <a:r>
              <a:rPr lang="en-US"/>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a:t>Click to edit Master subtitle style</a:t>
            </a:r>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fld id="{320BC953-3741-45AB-BF56-AD4032388004}" type="datetime1">
              <a:rPr lang="en-CA" smtClean="0"/>
              <a:t>2021-05-27</a:t>
            </a:fld>
            <a:endParaRPr lang="en-CA"/>
          </a:p>
        </p:txBody>
      </p:sp>
      <p:sp>
        <p:nvSpPr>
          <p:cNvPr id="95" name="Rectangle 95"/>
          <p:cNvSpPr>
            <a:spLocks noGrp="1" noChangeArrowheads="1"/>
          </p:cNvSpPr>
          <p:nvPr>
            <p:ph type="ftr" sz="quarter" idx="11"/>
          </p:nvPr>
        </p:nvSpPr>
        <p:spPr>
          <a:xfrm>
            <a:off x="1905000" y="6324600"/>
            <a:ext cx="5791200" cy="457200"/>
          </a:xfrm>
        </p:spPr>
        <p:txBody>
          <a:bodyPr/>
          <a:lstStyle>
            <a:lvl1pPr>
              <a:defRPr smtClean="0"/>
            </a:lvl1pPr>
          </a:lstStyle>
          <a:p>
            <a:r>
              <a:rPr lang="en-US"/>
              <a:t>Machine Learning and Financial Institutions, 3rd Ed.  Copyright  © John C. Hull 2021</a:t>
            </a:r>
            <a:endParaRPr lang="en-CA"/>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8F6C609E-065A-4A0E-A6D3-976F18D4BC33}" type="slidenum">
              <a:rPr lang="en-CA" smtClean="0"/>
              <a:t>‹#›</a:t>
            </a:fld>
            <a:endParaRPr lang="en-CA"/>
          </a:p>
        </p:txBody>
      </p:sp>
    </p:spTree>
    <p:extLst>
      <p:ext uri="{BB962C8B-B14F-4D97-AF65-F5344CB8AC3E}">
        <p14:creationId xmlns:p14="http://schemas.microsoft.com/office/powerpoint/2010/main" val="3899206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4F327C01-9A8F-40FD-A559-84B54017456C}" type="datetime1">
              <a:rPr lang="en-CA" smtClean="0"/>
              <a:t>2021-05-27</a:t>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a:t>Machine Learning and Financial Institutions, 3rd Ed.  Copyright  © John C. Hull 2021</a:t>
            </a:r>
            <a:endParaRPr lang="en-CA"/>
          </a:p>
        </p:txBody>
      </p:sp>
      <p:sp>
        <p:nvSpPr>
          <p:cNvPr id="6" name="Slide Number Placeholder 5"/>
          <p:cNvSpPr>
            <a:spLocks noGrp="1"/>
          </p:cNvSpPr>
          <p:nvPr>
            <p:ph type="sldNum" sz="quarter" idx="12"/>
          </p:nvPr>
        </p:nvSpPr>
        <p:spPr/>
        <p:txBody>
          <a:bodyPr/>
          <a:lstStyle>
            <a:lvl1pPr>
              <a:defRPr/>
            </a:lvl1pPr>
          </a:lstStyle>
          <a:p>
            <a:fld id="{8F6C609E-065A-4A0E-A6D3-976F18D4BC33}" type="slidenum">
              <a:rPr lang="en-CA" smtClean="0"/>
              <a:t>‹#›</a:t>
            </a:fld>
            <a:endParaRPr lang="en-CA"/>
          </a:p>
        </p:txBody>
      </p:sp>
    </p:spTree>
    <p:extLst>
      <p:ext uri="{BB962C8B-B14F-4D97-AF65-F5344CB8AC3E}">
        <p14:creationId xmlns:p14="http://schemas.microsoft.com/office/powerpoint/2010/main" val="3004633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94216833-7B11-49A2-8BED-E047F5503352}" type="datetime1">
              <a:rPr lang="en-CA" smtClean="0"/>
              <a:t>2021-05-27</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a:t>Machine Learning and Financial Institutions, 3rd Ed.  Copyright  © John C. Hull 2021</a:t>
            </a:r>
            <a:endParaRPr lang="en-CA"/>
          </a:p>
        </p:txBody>
      </p:sp>
      <p:sp>
        <p:nvSpPr>
          <p:cNvPr id="6" name="Rectangle 6"/>
          <p:cNvSpPr>
            <a:spLocks noGrp="1" noChangeArrowheads="1"/>
          </p:cNvSpPr>
          <p:nvPr>
            <p:ph type="sldNum" sz="quarter" idx="12"/>
          </p:nvPr>
        </p:nvSpPr>
        <p:spPr>
          <a:ln/>
        </p:spPr>
        <p:txBody>
          <a:bodyPr/>
          <a:lstStyle>
            <a:lvl1pPr>
              <a:defRPr/>
            </a:lvl1pPr>
          </a:lstStyle>
          <a:p>
            <a:fld id="{8F6C609E-065A-4A0E-A6D3-976F18D4BC33}" type="slidenum">
              <a:rPr lang="en-CA" smtClean="0"/>
              <a:t>‹#›</a:t>
            </a:fld>
            <a:endParaRPr lang="en-CA"/>
          </a:p>
        </p:txBody>
      </p:sp>
    </p:spTree>
    <p:extLst>
      <p:ext uri="{BB962C8B-B14F-4D97-AF65-F5344CB8AC3E}">
        <p14:creationId xmlns:p14="http://schemas.microsoft.com/office/powerpoint/2010/main" val="385639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2B449649-6D85-4DB0-9F6A-C0E733176970}" type="datetime1">
              <a:rPr lang="en-CA" smtClean="0"/>
              <a:t>2021-05-27</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and Financial Institutions,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8F6C609E-065A-4A0E-A6D3-976F18D4BC33}" type="slidenum">
              <a:rPr lang="en-CA" smtClean="0"/>
              <a:t>‹#›</a:t>
            </a:fld>
            <a:endParaRPr lang="en-CA"/>
          </a:p>
        </p:txBody>
      </p:sp>
    </p:spTree>
    <p:extLst>
      <p:ext uri="{BB962C8B-B14F-4D97-AF65-F5344CB8AC3E}">
        <p14:creationId xmlns:p14="http://schemas.microsoft.com/office/powerpoint/2010/main" val="270259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659A55B7-D8C1-40AF-B3A3-3AC7D3C6F404}" type="datetime1">
              <a:rPr lang="en-CA" smtClean="0"/>
              <a:t>2021-05-27</a:t>
            </a:fld>
            <a:endParaRPr lang="en-CA"/>
          </a:p>
        </p:txBody>
      </p:sp>
      <p:sp>
        <p:nvSpPr>
          <p:cNvPr id="8" name="Rectangle 5"/>
          <p:cNvSpPr>
            <a:spLocks noGrp="1" noChangeArrowheads="1"/>
          </p:cNvSpPr>
          <p:nvPr>
            <p:ph type="ftr" sz="quarter" idx="11"/>
          </p:nvPr>
        </p:nvSpPr>
        <p:spPr>
          <a:ln/>
        </p:spPr>
        <p:txBody>
          <a:bodyPr/>
          <a:lstStyle>
            <a:lvl1pPr>
              <a:defRPr/>
            </a:lvl1pPr>
          </a:lstStyle>
          <a:p>
            <a:r>
              <a:rPr lang="en-US"/>
              <a:t>Machine Learning and Financial Institutions, 3rd Ed.  Copyright  © John C. Hull 2021</a:t>
            </a:r>
            <a:endParaRPr lang="en-CA"/>
          </a:p>
        </p:txBody>
      </p:sp>
      <p:sp>
        <p:nvSpPr>
          <p:cNvPr id="9" name="Rectangle 6"/>
          <p:cNvSpPr>
            <a:spLocks noGrp="1" noChangeArrowheads="1"/>
          </p:cNvSpPr>
          <p:nvPr>
            <p:ph type="sldNum" sz="quarter" idx="12"/>
          </p:nvPr>
        </p:nvSpPr>
        <p:spPr>
          <a:ln/>
        </p:spPr>
        <p:txBody>
          <a:bodyPr/>
          <a:lstStyle>
            <a:lvl1pPr>
              <a:defRPr/>
            </a:lvl1pPr>
          </a:lstStyle>
          <a:p>
            <a:fld id="{8F6C609E-065A-4A0E-A6D3-976F18D4BC33}" type="slidenum">
              <a:rPr lang="en-CA" smtClean="0"/>
              <a:t>‹#›</a:t>
            </a:fld>
            <a:endParaRPr lang="en-CA"/>
          </a:p>
        </p:txBody>
      </p:sp>
    </p:spTree>
    <p:extLst>
      <p:ext uri="{BB962C8B-B14F-4D97-AF65-F5344CB8AC3E}">
        <p14:creationId xmlns:p14="http://schemas.microsoft.com/office/powerpoint/2010/main" val="76695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44D50AD1-5AD0-468E-8B37-FF04096AA8B3}" type="datetime1">
              <a:rPr lang="en-CA" smtClean="0"/>
              <a:t>2021-05-27</a:t>
            </a:fld>
            <a:endParaRPr lang="en-CA"/>
          </a:p>
        </p:txBody>
      </p:sp>
      <p:sp>
        <p:nvSpPr>
          <p:cNvPr id="4" name="Rectangle 5"/>
          <p:cNvSpPr>
            <a:spLocks noGrp="1" noChangeArrowheads="1"/>
          </p:cNvSpPr>
          <p:nvPr>
            <p:ph type="ftr" sz="quarter" idx="11"/>
          </p:nvPr>
        </p:nvSpPr>
        <p:spPr>
          <a:ln/>
        </p:spPr>
        <p:txBody>
          <a:bodyPr/>
          <a:lstStyle>
            <a:lvl1pPr>
              <a:defRPr/>
            </a:lvl1pPr>
          </a:lstStyle>
          <a:p>
            <a:r>
              <a:rPr lang="en-US"/>
              <a:t>Machine Learning and Financial Institutions, 3rd Ed.  Copyright  © John C. Hull 2021</a:t>
            </a:r>
            <a:endParaRPr lang="en-CA"/>
          </a:p>
        </p:txBody>
      </p:sp>
      <p:sp>
        <p:nvSpPr>
          <p:cNvPr id="5" name="Rectangle 6"/>
          <p:cNvSpPr>
            <a:spLocks noGrp="1" noChangeArrowheads="1"/>
          </p:cNvSpPr>
          <p:nvPr>
            <p:ph type="sldNum" sz="quarter" idx="12"/>
          </p:nvPr>
        </p:nvSpPr>
        <p:spPr>
          <a:ln/>
        </p:spPr>
        <p:txBody>
          <a:bodyPr/>
          <a:lstStyle>
            <a:lvl1pPr>
              <a:defRPr/>
            </a:lvl1pPr>
          </a:lstStyle>
          <a:p>
            <a:fld id="{8F6C609E-065A-4A0E-A6D3-976F18D4BC33}" type="slidenum">
              <a:rPr lang="en-CA" smtClean="0"/>
              <a:t>‹#›</a:t>
            </a:fld>
            <a:endParaRPr lang="en-CA"/>
          </a:p>
        </p:txBody>
      </p:sp>
    </p:spTree>
    <p:extLst>
      <p:ext uri="{BB962C8B-B14F-4D97-AF65-F5344CB8AC3E}">
        <p14:creationId xmlns:p14="http://schemas.microsoft.com/office/powerpoint/2010/main" val="190941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CF1D0008-5B79-4620-BE31-BF496FDE1AB5}" type="datetime1">
              <a:rPr lang="en-CA" smtClean="0"/>
              <a:t>2021-05-27</a:t>
            </a:fld>
            <a:endParaRPr lang="en-CA"/>
          </a:p>
        </p:txBody>
      </p:sp>
      <p:sp>
        <p:nvSpPr>
          <p:cNvPr id="3" name="Rectangle 5"/>
          <p:cNvSpPr>
            <a:spLocks noGrp="1" noChangeArrowheads="1"/>
          </p:cNvSpPr>
          <p:nvPr>
            <p:ph type="ftr" sz="quarter" idx="11"/>
          </p:nvPr>
        </p:nvSpPr>
        <p:spPr>
          <a:ln/>
        </p:spPr>
        <p:txBody>
          <a:bodyPr/>
          <a:lstStyle>
            <a:lvl1pPr>
              <a:defRPr/>
            </a:lvl1pPr>
          </a:lstStyle>
          <a:p>
            <a:r>
              <a:rPr lang="en-US"/>
              <a:t>Machine Learning and Financial Institutions, 3rd Ed.  Copyright  © John C. Hull 2021</a:t>
            </a:r>
            <a:endParaRPr lang="en-CA"/>
          </a:p>
        </p:txBody>
      </p:sp>
      <p:sp>
        <p:nvSpPr>
          <p:cNvPr id="4" name="Rectangle 6"/>
          <p:cNvSpPr>
            <a:spLocks noGrp="1" noChangeArrowheads="1"/>
          </p:cNvSpPr>
          <p:nvPr>
            <p:ph type="sldNum" sz="quarter" idx="12"/>
          </p:nvPr>
        </p:nvSpPr>
        <p:spPr>
          <a:ln/>
        </p:spPr>
        <p:txBody>
          <a:bodyPr/>
          <a:lstStyle>
            <a:lvl1pPr>
              <a:defRPr/>
            </a:lvl1pPr>
          </a:lstStyle>
          <a:p>
            <a:fld id="{8F6C609E-065A-4A0E-A6D3-976F18D4BC33}" type="slidenum">
              <a:rPr lang="en-CA" smtClean="0"/>
              <a:t>‹#›</a:t>
            </a:fld>
            <a:endParaRPr lang="en-CA"/>
          </a:p>
        </p:txBody>
      </p:sp>
    </p:spTree>
    <p:extLst>
      <p:ext uri="{BB962C8B-B14F-4D97-AF65-F5344CB8AC3E}">
        <p14:creationId xmlns:p14="http://schemas.microsoft.com/office/powerpoint/2010/main" val="40168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F65272E2-C1C7-406D-BD44-662E0EE07986}" type="datetime1">
              <a:rPr lang="en-CA" smtClean="0"/>
              <a:t>2021-05-27</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and Financial Institutions,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8F6C609E-065A-4A0E-A6D3-976F18D4BC33}" type="slidenum">
              <a:rPr lang="en-CA" smtClean="0"/>
              <a:t>‹#›</a:t>
            </a:fld>
            <a:endParaRPr lang="en-CA"/>
          </a:p>
        </p:txBody>
      </p:sp>
    </p:spTree>
    <p:extLst>
      <p:ext uri="{BB962C8B-B14F-4D97-AF65-F5344CB8AC3E}">
        <p14:creationId xmlns:p14="http://schemas.microsoft.com/office/powerpoint/2010/main" val="4079828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CB6DB4DB-EB34-4985-8B69-F6598AD352E1}" type="datetime1">
              <a:rPr lang="en-CA" smtClean="0"/>
              <a:t>2021-05-27</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and Financial Institutions,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8F6C609E-065A-4A0E-A6D3-976F18D4BC33}" type="slidenum">
              <a:rPr lang="en-CA" smtClean="0"/>
              <a:t>‹#›</a:t>
            </a:fld>
            <a:endParaRPr lang="en-CA"/>
          </a:p>
        </p:txBody>
      </p:sp>
    </p:spTree>
    <p:extLst>
      <p:ext uri="{BB962C8B-B14F-4D97-AF65-F5344CB8AC3E}">
        <p14:creationId xmlns:p14="http://schemas.microsoft.com/office/powerpoint/2010/main" val="3245219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05218C3F-7FEE-4059-91C2-8E019D06B426}" type="datetime1">
              <a:rPr lang="en-CA" smtClean="0"/>
              <a:t>2021-05-27</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a:t>Machine Learning and Financial Institutions, 3rd Ed.  Copyright  © John C. Hull 2021</a:t>
            </a:r>
            <a:endParaRPr lang="en-CA"/>
          </a:p>
        </p:txBody>
      </p:sp>
      <p:sp>
        <p:nvSpPr>
          <p:cNvPr id="6" name="Rectangle 6"/>
          <p:cNvSpPr>
            <a:spLocks noGrp="1" noChangeArrowheads="1"/>
          </p:cNvSpPr>
          <p:nvPr>
            <p:ph type="sldNum" sz="quarter" idx="12"/>
          </p:nvPr>
        </p:nvSpPr>
        <p:spPr>
          <a:ln/>
        </p:spPr>
        <p:txBody>
          <a:bodyPr/>
          <a:lstStyle>
            <a:lvl1pPr>
              <a:defRPr/>
            </a:lvl1pPr>
          </a:lstStyle>
          <a:p>
            <a:fld id="{8F6C609E-065A-4A0E-A6D3-976F18D4BC33}" type="slidenum">
              <a:rPr lang="en-CA" smtClean="0"/>
              <a:t>‹#›</a:t>
            </a:fld>
            <a:endParaRPr lang="en-CA"/>
          </a:p>
        </p:txBody>
      </p:sp>
    </p:spTree>
    <p:extLst>
      <p:ext uri="{BB962C8B-B14F-4D97-AF65-F5344CB8AC3E}">
        <p14:creationId xmlns:p14="http://schemas.microsoft.com/office/powerpoint/2010/main" val="3502955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4" y="930277"/>
            <a:ext cx="2052637" cy="53324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6064" y="930277"/>
            <a:ext cx="6007100" cy="53324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43DC8B32-26FA-43F9-9861-F9DB65445C5F}" type="datetime1">
              <a:rPr lang="en-CA" smtClean="0"/>
              <a:t>2021-05-27</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a:t>Machine Learning and Financial Institutions, 3rd Ed.  Copyright  © John C. Hull 2021</a:t>
            </a:r>
            <a:endParaRPr lang="en-CA"/>
          </a:p>
        </p:txBody>
      </p:sp>
      <p:sp>
        <p:nvSpPr>
          <p:cNvPr id="6" name="Rectangle 6"/>
          <p:cNvSpPr>
            <a:spLocks noGrp="1" noChangeArrowheads="1"/>
          </p:cNvSpPr>
          <p:nvPr>
            <p:ph type="sldNum" sz="quarter" idx="12"/>
          </p:nvPr>
        </p:nvSpPr>
        <p:spPr>
          <a:ln/>
        </p:spPr>
        <p:txBody>
          <a:bodyPr/>
          <a:lstStyle>
            <a:lvl1pPr>
              <a:defRPr/>
            </a:lvl1pPr>
          </a:lstStyle>
          <a:p>
            <a:fld id="{8F6C609E-065A-4A0E-A6D3-976F18D4BC33}" type="slidenum">
              <a:rPr lang="en-CA" smtClean="0"/>
              <a:t>‹#›</a:t>
            </a:fld>
            <a:endParaRPr lang="en-CA"/>
          </a:p>
        </p:txBody>
      </p:sp>
    </p:spTree>
    <p:extLst>
      <p:ext uri="{BB962C8B-B14F-4D97-AF65-F5344CB8AC3E}">
        <p14:creationId xmlns:p14="http://schemas.microsoft.com/office/powerpoint/2010/main" val="311075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7DA8CFED-CDD8-4379-A50F-029E2F5ACD10}" type="datetime1">
              <a:rPr lang="en-CA" smtClean="0"/>
              <a:t>2021-05-27</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and Financial Institutions,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8F6C609E-065A-4A0E-A6D3-976F18D4BC33}" type="slidenum">
              <a:rPr lang="en-CA" smtClean="0"/>
              <a:t>‹#›</a:t>
            </a:fld>
            <a:endParaRPr lang="en-CA"/>
          </a:p>
        </p:txBody>
      </p:sp>
    </p:spTree>
    <p:extLst>
      <p:ext uri="{BB962C8B-B14F-4D97-AF65-F5344CB8AC3E}">
        <p14:creationId xmlns:p14="http://schemas.microsoft.com/office/powerpoint/2010/main" val="125513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9265"/>
            <a:ext cx="4038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2"/>
            <a:ext cx="4038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fld id="{0DBCB110-E8AD-4E39-A7A2-6C1CC59AB80F}" type="datetime1">
              <a:rPr lang="en-CA" smtClean="0"/>
              <a:t>2021-05-27</a:t>
            </a:fld>
            <a:endParaRPr lang="en-CA"/>
          </a:p>
        </p:txBody>
      </p:sp>
      <p:sp>
        <p:nvSpPr>
          <p:cNvPr id="7" name="Rectangle 5"/>
          <p:cNvSpPr>
            <a:spLocks noGrp="1" noChangeArrowheads="1"/>
          </p:cNvSpPr>
          <p:nvPr>
            <p:ph type="ftr" sz="quarter" idx="11"/>
          </p:nvPr>
        </p:nvSpPr>
        <p:spPr>
          <a:ln/>
        </p:spPr>
        <p:txBody>
          <a:bodyPr/>
          <a:lstStyle>
            <a:lvl1pPr>
              <a:defRPr/>
            </a:lvl1pPr>
          </a:lstStyle>
          <a:p>
            <a:r>
              <a:rPr lang="en-US"/>
              <a:t>Machine Learning and Financial Institutions, 3rd Ed.  Copyright  © John C. Hull 2021</a:t>
            </a:r>
            <a:endParaRPr lang="en-CA"/>
          </a:p>
        </p:txBody>
      </p:sp>
      <p:sp>
        <p:nvSpPr>
          <p:cNvPr id="8" name="Rectangle 6"/>
          <p:cNvSpPr>
            <a:spLocks noGrp="1" noChangeArrowheads="1"/>
          </p:cNvSpPr>
          <p:nvPr>
            <p:ph type="sldNum" sz="quarter" idx="12"/>
          </p:nvPr>
        </p:nvSpPr>
        <p:spPr>
          <a:ln/>
        </p:spPr>
        <p:txBody>
          <a:bodyPr/>
          <a:lstStyle>
            <a:lvl1pPr>
              <a:defRPr/>
            </a:lvl1pPr>
          </a:lstStyle>
          <a:p>
            <a:fld id="{8F6C609E-065A-4A0E-A6D3-976F18D4BC33}" type="slidenum">
              <a:rPr lang="en-CA" smtClean="0"/>
              <a:t>‹#›</a:t>
            </a:fld>
            <a:endParaRPr lang="en-CA"/>
          </a:p>
        </p:txBody>
      </p:sp>
    </p:spTree>
    <p:extLst>
      <p:ext uri="{BB962C8B-B14F-4D97-AF65-F5344CB8AC3E}">
        <p14:creationId xmlns:p14="http://schemas.microsoft.com/office/powerpoint/2010/main" val="3181141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yan - Blank">
    <p:spTree>
      <p:nvGrpSpPr>
        <p:cNvPr id="1" name=""/>
        <p:cNvGrpSpPr/>
        <p:nvPr/>
      </p:nvGrpSpPr>
      <p:grpSpPr>
        <a:xfrm>
          <a:off x="0" y="0"/>
          <a:ext cx="0" cy="0"/>
          <a:chOff x="0" y="0"/>
          <a:chExt cx="0" cy="0"/>
        </a:xfrm>
      </p:grpSpPr>
      <p:sp>
        <p:nvSpPr>
          <p:cNvPr id="2" name="Title 1"/>
          <p:cNvSpPr>
            <a:spLocks noGrp="1"/>
          </p:cNvSpPr>
          <p:nvPr>
            <p:ph type="ctrTitle"/>
          </p:nvPr>
        </p:nvSpPr>
        <p:spPr>
          <a:xfrm>
            <a:off x="251521" y="274638"/>
            <a:ext cx="7200800" cy="563564"/>
          </a:xfrm>
        </p:spPr>
        <p:txBody>
          <a:bodyPr anchor="b"/>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5D959205-8B60-4D59-A87E-030759540F05}" type="datetime1">
              <a:rPr lang="en-CA" smtClean="0"/>
              <a:t>2021-05-27</a:t>
            </a:fld>
            <a:endParaRPr lang="en-CA"/>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US"/>
              <a:t>Machine Learning and Financial Institutions, 3rd Ed.  Copyright  © John C. Hull 2021</a:t>
            </a:r>
            <a:endParaRPr lang="en-CA"/>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8F6C609E-065A-4A0E-A6D3-976F18D4BC33}" type="slidenum">
              <a:rPr lang="en-CA" smtClean="0"/>
              <a:t>‹#›</a:t>
            </a:fld>
            <a:endParaRPr lang="en-CA"/>
          </a:p>
        </p:txBody>
      </p:sp>
      <p:sp>
        <p:nvSpPr>
          <p:cNvPr id="3" name="Subtitle 2"/>
          <p:cNvSpPr>
            <a:spLocks noGrp="1"/>
          </p:cNvSpPr>
          <p:nvPr>
            <p:ph type="subTitle" idx="1"/>
          </p:nvPr>
        </p:nvSpPr>
        <p:spPr>
          <a:xfrm>
            <a:off x="251521" y="838201"/>
            <a:ext cx="7200800" cy="533400"/>
          </a:xfrm>
        </p:spPr>
        <p:txBody>
          <a:bodyPr anchor="t">
            <a:normAutofit/>
          </a:bodyPr>
          <a:lstStyle>
            <a:lvl1pPr marL="0" indent="0" algn="l">
              <a:buNone/>
              <a:defRPr sz="1350" b="0">
                <a:solidFill>
                  <a:schemeClr val="bg1">
                    <a:lumMod val="65000"/>
                  </a:schemeClr>
                </a:solidFill>
                <a:latin typeface="Arial" panose="020B0604020202020204" pitchFamily="34" charset="0"/>
                <a:cs typeface="Arial" panose="020B060402020202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12" name="Content Placeholder 2"/>
          <p:cNvSpPr>
            <a:spLocks noGrp="1"/>
          </p:cNvSpPr>
          <p:nvPr>
            <p:ph idx="14"/>
          </p:nvPr>
        </p:nvSpPr>
        <p:spPr>
          <a:xfrm>
            <a:off x="251520" y="1484784"/>
            <a:ext cx="8637640" cy="4752528"/>
          </a:xfrm>
        </p:spPr>
        <p:txBody>
          <a:bodyPr/>
          <a:lstStyle>
            <a:lvl1pPr>
              <a:defRPr>
                <a:latin typeface="Arial" panose="020B0604020202020204" pitchFamily="34"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005514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575"/>
            </a:lvl1pPr>
            <a:lvl2pPr>
              <a:defRPr sz="135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F8F64B24-EBB1-4BEC-9EB1-FBF8335E6B04}" type="datetime1">
              <a:rPr lang="en-CA" smtClean="0"/>
              <a:t>2021-05-27</a:t>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a:t>Machine Learning and Financial Institutions, 3rd Ed.  Copyright  © John C. Hull 2021</a:t>
            </a:r>
            <a:endParaRPr lang="en-CA"/>
          </a:p>
        </p:txBody>
      </p:sp>
      <p:sp>
        <p:nvSpPr>
          <p:cNvPr id="6" name="Slide Number Placeholder 5"/>
          <p:cNvSpPr>
            <a:spLocks noGrp="1"/>
          </p:cNvSpPr>
          <p:nvPr>
            <p:ph type="sldNum" sz="quarter" idx="12"/>
          </p:nvPr>
        </p:nvSpPr>
        <p:spPr/>
        <p:txBody>
          <a:bodyPr/>
          <a:lstStyle>
            <a:lvl1pPr>
              <a:defRPr/>
            </a:lvl1pPr>
          </a:lstStyle>
          <a:p>
            <a:fld id="{8F6C609E-065A-4A0E-A6D3-976F18D4BC33}" type="slidenum">
              <a:rPr lang="en-CA" smtClean="0"/>
              <a:t>‹#›</a:t>
            </a:fld>
            <a:endParaRPr lang="en-CA"/>
          </a:p>
        </p:txBody>
      </p:sp>
    </p:spTree>
    <p:extLst>
      <p:ext uri="{BB962C8B-B14F-4D97-AF65-F5344CB8AC3E}">
        <p14:creationId xmlns:p14="http://schemas.microsoft.com/office/powerpoint/2010/main" val="3004633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5.xml"/><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050" smtClean="0">
                <a:latin typeface="Arial" charset="0"/>
                <a:cs typeface="Arial" charset="0"/>
              </a:defRPr>
            </a:lvl1pPr>
          </a:lstStyle>
          <a:p>
            <a:fld id="{15438F68-5F95-477B-8A31-6E5819209467}" type="datetime1">
              <a:rPr lang="en-CA" smtClean="0"/>
              <a:t>2021-05-27</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050" smtClean="0">
                <a:latin typeface="Arial" charset="0"/>
                <a:cs typeface="Arial" charset="0"/>
              </a:defRPr>
            </a:lvl1pPr>
          </a:lstStyle>
          <a:p>
            <a:r>
              <a:rPr lang="en-US"/>
              <a:t>Machine Learning and Financial Institutions, 3rd Ed.  Copyright  © John C. Hull 2021</a:t>
            </a:r>
            <a:endParaRPr lang="en-CA"/>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50">
                <a:latin typeface="Arial" panose="020B0604020202020204" pitchFamily="34" charset="0"/>
              </a:defRPr>
            </a:lvl1pPr>
          </a:lstStyle>
          <a:p>
            <a:fld id="{8F6C609E-065A-4A0E-A6D3-976F18D4BC33}" type="slidenum">
              <a:rPr lang="en-CA" smtClean="0"/>
              <a:t>‹#›</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35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16">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17"/>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18"/>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788" smtClean="0">
                <a:latin typeface="Arial" charset="0"/>
                <a:cs typeface="Arial" charset="0"/>
              </a:defRPr>
            </a:lvl1pPr>
          </a:lstStyle>
          <a:p>
            <a:fld id="{32545FAB-F456-4654-9035-1B2D4F3766DF}" type="datetime1">
              <a:rPr lang="en-CA" smtClean="0"/>
              <a:t>2021-05-27</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788" smtClean="0">
                <a:latin typeface="Arial" charset="0"/>
                <a:cs typeface="Arial" charset="0"/>
              </a:defRPr>
            </a:lvl1pPr>
          </a:lstStyle>
          <a:p>
            <a:r>
              <a:rPr lang="en-US"/>
              <a:t>Machine Learning and Financial Institutions, 3rd Ed.  Copyright  © John C. Hull 2021</a:t>
            </a:r>
            <a:endParaRPr lang="en-CA"/>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788">
                <a:latin typeface="Arial" panose="020B0604020202020204" pitchFamily="34" charset="0"/>
              </a:defRPr>
            </a:lvl1pPr>
          </a:lstStyle>
          <a:p>
            <a:fld id="{8F6C609E-065A-4A0E-A6D3-976F18D4BC33}" type="slidenum">
              <a:rPr lang="en-CA" smtClean="0"/>
              <a:t>‹#›</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013"/>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013"/>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013"/>
                </a:p>
              </p:txBody>
            </p:sp>
          </p:grpSp>
        </p:grpSp>
        <p:pic>
          <p:nvPicPr>
            <p:cNvPr id="1033" name="Picture 159" descr="earth"/>
            <p:cNvPicPr>
              <a:picLocks noChangeAspect="1" noChangeArrowheads="1"/>
            </p:cNvPicPr>
            <p:nvPr userDrawn="1"/>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76" r:id="rId1"/>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4"/>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5"/>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a:t>Machine Learning in Business, 3rd Edition</a:t>
            </a:r>
            <a:endParaRPr lang="en-CA" sz="4000" dirty="0"/>
          </a:p>
        </p:txBody>
      </p:sp>
      <p:sp>
        <p:nvSpPr>
          <p:cNvPr id="3" name="Subtitle 2"/>
          <p:cNvSpPr>
            <a:spLocks noGrp="1"/>
          </p:cNvSpPr>
          <p:nvPr>
            <p:ph type="subTitle" idx="1"/>
          </p:nvPr>
        </p:nvSpPr>
        <p:spPr>
          <a:xfrm>
            <a:off x="1828800" y="4581128"/>
            <a:ext cx="6869088" cy="1295400"/>
          </a:xfrm>
        </p:spPr>
        <p:txBody>
          <a:bodyPr/>
          <a:lstStyle/>
          <a:p>
            <a:r>
              <a:rPr lang="en-US" sz="3200" dirty="0"/>
              <a:t>Chapter 2: Unsupervised Learning</a:t>
            </a:r>
            <a:endParaRPr lang="en-CA" sz="3200" dirty="0"/>
          </a:p>
        </p:txBody>
      </p:sp>
      <p:sp>
        <p:nvSpPr>
          <p:cNvPr id="4" name="Footer Placeholder 3"/>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p:cNvSpPr>
            <a:spLocks noGrp="1"/>
          </p:cNvSpPr>
          <p:nvPr>
            <p:ph type="sldNum" sz="quarter" idx="12"/>
          </p:nvPr>
        </p:nvSpPr>
        <p:spPr/>
        <p:txBody>
          <a:bodyPr/>
          <a:lstStyle/>
          <a:p>
            <a:fld id="{8F6C609E-065A-4A0E-A6D3-976F18D4BC33}" type="slidenum">
              <a:rPr lang="en-CA" smtClean="0"/>
              <a:t>1</a:t>
            </a:fld>
            <a:endParaRPr lang="en-CA"/>
          </a:p>
        </p:txBody>
      </p:sp>
    </p:spTree>
    <p:extLst>
      <p:ext uri="{BB962C8B-B14F-4D97-AF65-F5344CB8AC3E}">
        <p14:creationId xmlns:p14="http://schemas.microsoft.com/office/powerpoint/2010/main" val="2480475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Unsupervised Learning</a:t>
            </a:r>
            <a:endParaRPr lang="en-CA" dirty="0"/>
          </a:p>
        </p:txBody>
      </p:sp>
      <p:sp>
        <p:nvSpPr>
          <p:cNvPr id="3" name="Content Placeholder 2"/>
          <p:cNvSpPr>
            <a:spLocks noGrp="1"/>
          </p:cNvSpPr>
          <p:nvPr>
            <p:ph idx="1"/>
          </p:nvPr>
        </p:nvSpPr>
        <p:spPr/>
        <p:txBody>
          <a:bodyPr/>
          <a:lstStyle/>
          <a:p>
            <a:r>
              <a:rPr lang="en-US" sz="2400" dirty="0"/>
              <a:t>In unsupervised learning we are not trying to predict anything</a:t>
            </a:r>
          </a:p>
          <a:p>
            <a:r>
              <a:rPr lang="en-US" sz="2400" dirty="0"/>
              <a:t>The objective is to cluster data to increase our understanding of the environment</a:t>
            </a:r>
            <a:endParaRPr lang="en-CA" sz="2400" dirty="0"/>
          </a:p>
        </p:txBody>
      </p:sp>
      <p:sp>
        <p:nvSpPr>
          <p:cNvPr id="4" name="Footer Placeholder 3"/>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p:cNvSpPr>
            <a:spLocks noGrp="1"/>
          </p:cNvSpPr>
          <p:nvPr>
            <p:ph type="sldNum" sz="quarter" idx="12"/>
          </p:nvPr>
        </p:nvSpPr>
        <p:spPr/>
        <p:txBody>
          <a:bodyPr/>
          <a:lstStyle/>
          <a:p>
            <a:fld id="{8F6C609E-065A-4A0E-A6D3-976F18D4BC33}" type="slidenum">
              <a:rPr lang="en-CA" smtClean="0"/>
              <a:t>2</a:t>
            </a:fld>
            <a:endParaRPr lang="en-CA"/>
          </a:p>
        </p:txBody>
      </p:sp>
    </p:spTree>
    <p:extLst>
      <p:ext uri="{BB962C8B-B14F-4D97-AF65-F5344CB8AC3E}">
        <p14:creationId xmlns:p14="http://schemas.microsoft.com/office/powerpoint/2010/main" val="1950798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Clustering Customers </a:t>
            </a:r>
            <a:endParaRPr lang="en-CA" dirty="0"/>
          </a:p>
        </p:txBody>
      </p:sp>
      <p:sp>
        <p:nvSpPr>
          <p:cNvPr id="3" name="Content Placeholder 2"/>
          <p:cNvSpPr>
            <a:spLocks noGrp="1"/>
          </p:cNvSpPr>
          <p:nvPr>
            <p:ph idx="1"/>
          </p:nvPr>
        </p:nvSpPr>
        <p:spPr/>
        <p:txBody>
          <a:bodyPr/>
          <a:lstStyle/>
          <a:p>
            <a:r>
              <a:rPr lang="en-US" dirty="0"/>
              <a:t>Suppose you are a bank and have hundreds of thousands of customers and 100 features describing each one</a:t>
            </a:r>
          </a:p>
          <a:p>
            <a:r>
              <a:rPr lang="en-US" dirty="0"/>
              <a:t>Unsupervised learning algorithms can be used to divide your customers into clusters so that you can anticipate their needs and communicate with them more effectively </a:t>
            </a:r>
            <a:endParaRPr lang="en-CA" dirty="0"/>
          </a:p>
        </p:txBody>
      </p:sp>
      <p:sp>
        <p:nvSpPr>
          <p:cNvPr id="4" name="Footer Placeholder 3"/>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3</a:t>
            </a:fld>
            <a:endParaRPr lang="en-CA"/>
          </a:p>
        </p:txBody>
      </p:sp>
    </p:spTree>
    <p:extLst>
      <p:ext uri="{BB962C8B-B14F-4D97-AF65-F5344CB8AC3E}">
        <p14:creationId xmlns:p14="http://schemas.microsoft.com/office/powerpoint/2010/main" val="2951614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557064"/>
            <a:ext cx="7772400" cy="1143000"/>
          </a:xfrm>
        </p:spPr>
        <p:txBody>
          <a:bodyPr/>
          <a:lstStyle/>
          <a:p>
            <a:r>
              <a:rPr lang="en-US" dirty="0"/>
              <a:t>Feature Scaling (page 24-25)</a:t>
            </a:r>
            <a:endParaRPr lang="en-CA" dirty="0"/>
          </a:p>
        </p:txBody>
      </p:sp>
      <p:sp>
        <p:nvSpPr>
          <p:cNvPr id="3" name="Content Placeholder 2"/>
          <p:cNvSpPr>
            <a:spLocks noGrp="1"/>
          </p:cNvSpPr>
          <p:nvPr>
            <p:ph idx="1"/>
          </p:nvPr>
        </p:nvSpPr>
        <p:spPr>
          <a:xfrm>
            <a:off x="467544" y="1556792"/>
            <a:ext cx="7772400" cy="4114800"/>
          </a:xfrm>
        </p:spPr>
        <p:txBody>
          <a:bodyPr/>
          <a:lstStyle/>
          <a:p>
            <a:r>
              <a:rPr lang="en-US" dirty="0"/>
              <a:t>Before using many ML algorithms (including those for unsupervised learning), it is important to scale feature values so that they are comparable.</a:t>
            </a:r>
          </a:p>
          <a:p>
            <a:r>
              <a:rPr lang="en-US" dirty="0"/>
              <a:t> Z-score scaling involves calculating the mean and SD from the values of each feature from the training set. Scaled feature values for all data sets are then created by subtracting the mean and dividing by the SD. The scaled feature values have a mean of zero and SD of one.</a:t>
            </a:r>
          </a:p>
          <a:p>
            <a:r>
              <a:rPr lang="en-US" dirty="0"/>
              <a:t>Min-max scaling involves calculating the maximum and minimum value of each feature from the training set. Scaled feature values for all data sets are then created by subtracting the minimum and dividing by the difference between the maximum and minimum. The scaled feature values lie between zero and one.</a:t>
            </a:r>
          </a:p>
          <a:p>
            <a:pPr marL="0" indent="0">
              <a:buNone/>
            </a:pPr>
            <a:endParaRPr lang="en-CA" dirty="0"/>
          </a:p>
        </p:txBody>
      </p:sp>
      <p:sp>
        <p:nvSpPr>
          <p:cNvPr id="4" name="Footer Placeholder 3"/>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p:cNvSpPr>
            <a:spLocks noGrp="1"/>
          </p:cNvSpPr>
          <p:nvPr>
            <p:ph type="sldNum" sz="quarter" idx="12"/>
          </p:nvPr>
        </p:nvSpPr>
        <p:spPr/>
        <p:txBody>
          <a:bodyPr/>
          <a:lstStyle/>
          <a:p>
            <a:fld id="{8F6C609E-065A-4A0E-A6D3-976F18D4BC33}" type="slidenum">
              <a:rPr lang="en-CA" smtClean="0"/>
              <a:t>4</a:t>
            </a:fld>
            <a:endParaRPr lang="en-CA"/>
          </a:p>
        </p:txBody>
      </p:sp>
    </p:spTree>
    <p:extLst>
      <p:ext uri="{BB962C8B-B14F-4D97-AF65-F5344CB8AC3E}">
        <p14:creationId xmlns:p14="http://schemas.microsoft.com/office/powerpoint/2010/main" val="3473444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3B61C-1A5A-44F6-AAFF-63364155487F}"/>
              </a:ext>
            </a:extLst>
          </p:cNvPr>
          <p:cNvSpPr>
            <a:spLocks noGrp="1"/>
          </p:cNvSpPr>
          <p:nvPr>
            <p:ph type="title"/>
          </p:nvPr>
        </p:nvSpPr>
        <p:spPr/>
        <p:txBody>
          <a:bodyPr/>
          <a:lstStyle/>
          <a:p>
            <a:r>
              <a:rPr lang="en-CA" dirty="0"/>
              <a:t>Feature Scaling 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9A6974-C61E-4DA6-8543-2ADBE4AADF64}"/>
                  </a:ext>
                </a:extLst>
              </p:cNvPr>
              <p:cNvSpPr>
                <a:spLocks noGrp="1"/>
              </p:cNvSpPr>
              <p:nvPr>
                <p:ph idx="1"/>
              </p:nvPr>
            </p:nvSpPr>
            <p:spPr/>
            <p:txBody>
              <a:bodyPr/>
              <a:lstStyle/>
              <a:p>
                <a:pPr marL="0" indent="0">
                  <a:buNone/>
                </a:pPr>
                <a:r>
                  <a:rPr lang="en-CA" b="0" dirty="0"/>
                  <a:t>Z-score scaling:    </a:t>
                </a:r>
                <a14:m>
                  <m:oMath xmlns:m="http://schemas.openxmlformats.org/officeDocument/2006/math">
                    <m:r>
                      <m:rPr>
                        <m:sty m:val="p"/>
                      </m:rPr>
                      <a:rPr lang="en-CA" b="0" i="0" smtClean="0">
                        <a:latin typeface="Cambria Math" panose="02040503050406030204" pitchFamily="18" charset="0"/>
                      </a:rPr>
                      <m:t>Value</m:t>
                    </m:r>
                    <m:r>
                      <a:rPr lang="en-CA" b="0" i="0" smtClean="0">
                        <a:latin typeface="Cambria Math" panose="02040503050406030204" pitchFamily="18" charset="0"/>
                        <a:ea typeface="Cambria Math" panose="02040503050406030204" pitchFamily="18" charset="0"/>
                      </a:rPr>
                      <m:t>→</m:t>
                    </m:r>
                    <m:f>
                      <m:fPr>
                        <m:ctrlPr>
                          <a:rPr lang="en-CA" b="0" i="1" smtClean="0">
                            <a:latin typeface="Cambria Math" panose="02040503050406030204" pitchFamily="18" charset="0"/>
                            <a:ea typeface="Cambria Math" panose="02040503050406030204" pitchFamily="18" charset="0"/>
                          </a:rPr>
                        </m:ctrlPr>
                      </m:fPr>
                      <m:num>
                        <m:r>
                          <m:rPr>
                            <m:sty m:val="p"/>
                          </m:rPr>
                          <a:rPr lang="en-CA" b="0" i="0" smtClean="0">
                            <a:latin typeface="Cambria Math" panose="02040503050406030204" pitchFamily="18" charset="0"/>
                            <a:ea typeface="Cambria Math" panose="02040503050406030204" pitchFamily="18" charset="0"/>
                          </a:rPr>
                          <m:t>Value</m:t>
                        </m:r>
                        <m:r>
                          <a:rPr lang="en-CA" b="0" i="0" smtClean="0">
                            <a:latin typeface="Cambria Math" panose="02040503050406030204" pitchFamily="18" charset="0"/>
                            <a:ea typeface="Cambria Math" panose="02040503050406030204" pitchFamily="18" charset="0"/>
                          </a:rPr>
                          <m:t>−</m:t>
                        </m:r>
                        <m:r>
                          <m:rPr>
                            <m:sty m:val="p"/>
                          </m:rPr>
                          <a:rPr lang="en-CA" b="0" i="0" smtClean="0">
                            <a:latin typeface="Cambria Math" panose="02040503050406030204" pitchFamily="18" charset="0"/>
                            <a:ea typeface="Cambria Math" panose="02040503050406030204" pitchFamily="18" charset="0"/>
                          </a:rPr>
                          <m:t>Mean</m:t>
                        </m:r>
                      </m:num>
                      <m:den>
                        <m:r>
                          <m:rPr>
                            <m:sty m:val="p"/>
                          </m:rPr>
                          <a:rPr lang="en-CA" b="0" i="0" smtClean="0">
                            <a:latin typeface="Cambria Math" panose="02040503050406030204" pitchFamily="18" charset="0"/>
                            <a:ea typeface="Cambria Math" panose="02040503050406030204" pitchFamily="18" charset="0"/>
                          </a:rPr>
                          <m:t>SD</m:t>
                        </m:r>
                      </m:den>
                    </m:f>
                  </m:oMath>
                </a14:m>
                <a:endParaRPr lang="en-CA" dirty="0"/>
              </a:p>
              <a:p>
                <a:pPr marL="0" indent="0">
                  <a:buNone/>
                </a:pPr>
                <a:endParaRPr lang="en-CA" dirty="0"/>
              </a:p>
              <a:p>
                <a:pPr marL="0" indent="0">
                  <a:buNone/>
                </a:pPr>
                <a:r>
                  <a:rPr lang="en-CA" dirty="0"/>
                  <a:t>Min-Max scaling: </a:t>
                </a:r>
                <a14:m>
                  <m:oMath xmlns:m="http://schemas.openxmlformats.org/officeDocument/2006/math">
                    <m:r>
                      <m:rPr>
                        <m:sty m:val="p"/>
                      </m:rPr>
                      <a:rPr lang="en-CA">
                        <a:latin typeface="Cambria Math" panose="02040503050406030204" pitchFamily="18" charset="0"/>
                      </a:rPr>
                      <m:t>Value</m:t>
                    </m:r>
                    <m:r>
                      <a:rPr lang="en-CA">
                        <a:latin typeface="Cambria Math" panose="02040503050406030204" pitchFamily="18" charset="0"/>
                        <a:ea typeface="Cambria Math" panose="02040503050406030204" pitchFamily="18" charset="0"/>
                      </a:rPr>
                      <m:t>→</m:t>
                    </m:r>
                    <m:f>
                      <m:fPr>
                        <m:ctrlPr>
                          <a:rPr lang="en-CA" i="1">
                            <a:latin typeface="Cambria Math" panose="02040503050406030204" pitchFamily="18" charset="0"/>
                            <a:ea typeface="Cambria Math" panose="02040503050406030204" pitchFamily="18" charset="0"/>
                          </a:rPr>
                        </m:ctrlPr>
                      </m:fPr>
                      <m:num>
                        <m:r>
                          <m:rPr>
                            <m:sty m:val="p"/>
                          </m:rPr>
                          <a:rPr lang="en-CA">
                            <a:latin typeface="Cambria Math" panose="02040503050406030204" pitchFamily="18" charset="0"/>
                            <a:ea typeface="Cambria Math" panose="02040503050406030204" pitchFamily="18" charset="0"/>
                          </a:rPr>
                          <m:t>Value</m:t>
                        </m:r>
                        <m:r>
                          <a:rPr lang="en-CA">
                            <a:latin typeface="Cambria Math" panose="02040503050406030204" pitchFamily="18" charset="0"/>
                            <a:ea typeface="Cambria Math" panose="02040503050406030204" pitchFamily="18" charset="0"/>
                          </a:rPr>
                          <m:t>−</m:t>
                        </m:r>
                        <m:r>
                          <m:rPr>
                            <m:sty m:val="p"/>
                          </m:rPr>
                          <a:rPr lang="en-CA">
                            <a:latin typeface="Cambria Math" panose="02040503050406030204" pitchFamily="18" charset="0"/>
                            <a:ea typeface="Cambria Math" panose="02040503050406030204" pitchFamily="18" charset="0"/>
                          </a:rPr>
                          <m:t>Minimum</m:t>
                        </m:r>
                      </m:num>
                      <m:den>
                        <m:r>
                          <m:rPr>
                            <m:sty m:val="p"/>
                          </m:rPr>
                          <a:rPr lang="en-CA" b="0" i="0" smtClean="0">
                            <a:latin typeface="Cambria Math" panose="02040503050406030204" pitchFamily="18" charset="0"/>
                            <a:ea typeface="Cambria Math" panose="02040503050406030204" pitchFamily="18" charset="0"/>
                          </a:rPr>
                          <m:t>Maximum</m:t>
                        </m:r>
                        <m:r>
                          <a:rPr lang="en-CA" b="0" i="0" smtClean="0">
                            <a:latin typeface="Cambria Math" panose="02040503050406030204" pitchFamily="18" charset="0"/>
                            <a:ea typeface="Cambria Math" panose="02040503050406030204" pitchFamily="18" charset="0"/>
                          </a:rPr>
                          <m:t>−</m:t>
                        </m:r>
                        <m:r>
                          <m:rPr>
                            <m:sty m:val="p"/>
                          </m:rPr>
                          <a:rPr lang="en-CA" b="0" i="0" smtClean="0">
                            <a:latin typeface="Cambria Math" panose="02040503050406030204" pitchFamily="18" charset="0"/>
                            <a:ea typeface="Cambria Math" panose="02040503050406030204" pitchFamily="18" charset="0"/>
                          </a:rPr>
                          <m:t>Minimum</m:t>
                        </m:r>
                      </m:den>
                    </m:f>
                  </m:oMath>
                </a14:m>
                <a:endParaRPr lang="en-CA" dirty="0"/>
              </a:p>
            </p:txBody>
          </p:sp>
        </mc:Choice>
        <mc:Fallback xmlns="">
          <p:sp>
            <p:nvSpPr>
              <p:cNvPr id="3" name="Content Placeholder 2">
                <a:extLst>
                  <a:ext uri="{FF2B5EF4-FFF2-40B4-BE49-F238E27FC236}">
                    <a16:creationId xmlns:a16="http://schemas.microsoft.com/office/drawing/2014/main" id="{319A6974-C61E-4DA6-8543-2ADBE4AADF64}"/>
                  </a:ext>
                </a:extLst>
              </p:cNvPr>
              <p:cNvSpPr>
                <a:spLocks noGrp="1" noRot="1" noChangeAspect="1" noMove="1" noResize="1" noEditPoints="1" noAdjustHandles="1" noChangeArrowheads="1" noChangeShapeType="1" noTextEdit="1"/>
              </p:cNvSpPr>
              <p:nvPr>
                <p:ph idx="1"/>
              </p:nvPr>
            </p:nvSpPr>
            <p:spPr>
              <a:blipFill>
                <a:blip r:embed="rId2"/>
                <a:stretch>
                  <a:fillRect l="-941"/>
                </a:stretch>
              </a:blipFill>
            </p:spPr>
            <p:txBody>
              <a:bodyPr/>
              <a:lstStyle/>
              <a:p>
                <a:r>
                  <a:rPr lang="en-CA">
                    <a:noFill/>
                  </a:rPr>
                  <a:t> </a:t>
                </a:r>
              </a:p>
            </p:txBody>
          </p:sp>
        </mc:Fallback>
      </mc:AlternateContent>
      <p:sp>
        <p:nvSpPr>
          <p:cNvPr id="4" name="Footer Placeholder 3">
            <a:extLst>
              <a:ext uri="{FF2B5EF4-FFF2-40B4-BE49-F238E27FC236}">
                <a16:creationId xmlns:a16="http://schemas.microsoft.com/office/drawing/2014/main" id="{5E610DEB-FA4F-47D6-8A13-4B3153C9229F}"/>
              </a:ext>
            </a:extLst>
          </p:cNvPr>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a:extLst>
              <a:ext uri="{FF2B5EF4-FFF2-40B4-BE49-F238E27FC236}">
                <a16:creationId xmlns:a16="http://schemas.microsoft.com/office/drawing/2014/main" id="{98B34A55-69E7-46C0-BBAC-C70065885CE6}"/>
              </a:ext>
            </a:extLst>
          </p:cNvPr>
          <p:cNvSpPr>
            <a:spLocks noGrp="1"/>
          </p:cNvSpPr>
          <p:nvPr>
            <p:ph type="sldNum" sz="quarter" idx="12"/>
          </p:nvPr>
        </p:nvSpPr>
        <p:spPr/>
        <p:txBody>
          <a:bodyPr/>
          <a:lstStyle/>
          <a:p>
            <a:fld id="{8F6C609E-065A-4A0E-A6D3-976F18D4BC33}" type="slidenum">
              <a:rPr lang="en-CA" smtClean="0"/>
              <a:t>5</a:t>
            </a:fld>
            <a:endParaRPr lang="en-CA"/>
          </a:p>
        </p:txBody>
      </p:sp>
    </p:spTree>
    <p:extLst>
      <p:ext uri="{BB962C8B-B14F-4D97-AF65-F5344CB8AC3E}">
        <p14:creationId xmlns:p14="http://schemas.microsoft.com/office/powerpoint/2010/main" val="4255718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Distance Measure</a:t>
            </a:r>
            <a:endParaRPr lang="en-CA" dirty="0"/>
          </a:p>
        </p:txBody>
      </p:sp>
      <p:sp>
        <p:nvSpPr>
          <p:cNvPr id="3" name="Content Placeholder 2"/>
          <p:cNvSpPr>
            <a:spLocks noGrp="1"/>
          </p:cNvSpPr>
          <p:nvPr>
            <p:ph idx="1"/>
          </p:nvPr>
        </p:nvSpPr>
        <p:spPr/>
        <p:txBody>
          <a:bodyPr/>
          <a:lstStyle/>
          <a:p>
            <a:r>
              <a:rPr lang="en-US" dirty="0"/>
              <a:t>For clustering we need a distance measure</a:t>
            </a:r>
          </a:p>
          <a:p>
            <a:r>
              <a:rPr lang="en-US" dirty="0"/>
              <a:t>The simplest distance measure is the Euclidean distance measure. Distance =</a:t>
            </a:r>
          </a:p>
          <a:p>
            <a:pPr marL="0" indent="0">
              <a:buNone/>
            </a:pPr>
            <a:endParaRPr lang="en-US" dirty="0"/>
          </a:p>
          <a:p>
            <a:endParaRPr lang="en-CA"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593657" y="3356992"/>
            <a:ext cx="4498623" cy="2770247"/>
          </a:xfrm>
          <a:prstGeom prst="rect">
            <a:avLst/>
          </a:prstGeom>
          <a:noFill/>
          <a:ln>
            <a:noFill/>
          </a:ln>
        </p:spPr>
      </p:pic>
      <p:graphicFrame>
        <p:nvGraphicFramePr>
          <p:cNvPr id="5" name="Object 4"/>
          <p:cNvGraphicFramePr>
            <a:graphicFrameLocks noChangeAspect="1"/>
          </p:cNvGraphicFramePr>
          <p:nvPr>
            <p:extLst>
              <p:ext uri="{D42A27DB-BD31-4B8C-83A1-F6EECF244321}">
                <p14:modId xmlns:p14="http://schemas.microsoft.com/office/powerpoint/2010/main" val="1740694938"/>
              </p:ext>
            </p:extLst>
          </p:nvPr>
        </p:nvGraphicFramePr>
        <p:xfrm>
          <a:off x="3635895" y="2852936"/>
          <a:ext cx="1872208" cy="397637"/>
        </p:xfrm>
        <a:graphic>
          <a:graphicData uri="http://schemas.openxmlformats.org/presentationml/2006/ole">
            <mc:AlternateContent xmlns:mc="http://schemas.openxmlformats.org/markup-compatibility/2006">
              <mc:Choice xmlns:v="urn:schemas-microsoft-com:vml" Requires="v">
                <p:oleObj name="Equation" r:id="rId3" imgW="1434960" imgH="304560" progId="Equation.DSMT4">
                  <p:embed/>
                </p:oleObj>
              </mc:Choice>
              <mc:Fallback>
                <p:oleObj name="Equation" r:id="rId3" imgW="1434960" imgH="304560" progId="Equation.DSMT4">
                  <p:embed/>
                  <p:pic>
                    <p:nvPicPr>
                      <p:cNvPr id="5" name="Object 4"/>
                      <p:cNvPicPr/>
                      <p:nvPr/>
                    </p:nvPicPr>
                    <p:blipFill>
                      <a:blip r:embed="rId4"/>
                      <a:stretch>
                        <a:fillRect/>
                      </a:stretch>
                    </p:blipFill>
                    <p:spPr>
                      <a:xfrm>
                        <a:off x="3635895" y="2852936"/>
                        <a:ext cx="1872208" cy="397637"/>
                      </a:xfrm>
                      <a:prstGeom prst="rect">
                        <a:avLst/>
                      </a:prstGeom>
                    </p:spPr>
                  </p:pic>
                </p:oleObj>
              </mc:Fallback>
            </mc:AlternateContent>
          </a:graphicData>
        </a:graphic>
      </p:graphicFrame>
      <p:sp>
        <p:nvSpPr>
          <p:cNvPr id="6" name="Footer Placeholder 5"/>
          <p:cNvSpPr>
            <a:spLocks noGrp="1"/>
          </p:cNvSpPr>
          <p:nvPr>
            <p:ph type="ftr" sz="quarter" idx="11"/>
          </p:nvPr>
        </p:nvSpPr>
        <p:spPr/>
        <p:txBody>
          <a:bodyPr/>
          <a:lstStyle/>
          <a:p>
            <a:r>
              <a:rPr lang="en-US"/>
              <a:t>Machine Learning and Financial Institutions, 3rd Ed.  Copyright  © John C. Hull 2021</a:t>
            </a:r>
            <a:endParaRPr lang="en-CA"/>
          </a:p>
        </p:txBody>
      </p:sp>
      <p:sp>
        <p:nvSpPr>
          <p:cNvPr id="7" name="Slide Number Placeholder 6"/>
          <p:cNvSpPr>
            <a:spLocks noGrp="1"/>
          </p:cNvSpPr>
          <p:nvPr>
            <p:ph type="sldNum" sz="quarter" idx="12"/>
          </p:nvPr>
        </p:nvSpPr>
        <p:spPr/>
        <p:txBody>
          <a:bodyPr/>
          <a:lstStyle/>
          <a:p>
            <a:fld id="{8F6C609E-065A-4A0E-A6D3-976F18D4BC33}" type="slidenum">
              <a:rPr lang="en-CA" smtClean="0"/>
              <a:t>6</a:t>
            </a:fld>
            <a:endParaRPr lang="en-CA"/>
          </a:p>
        </p:txBody>
      </p:sp>
    </p:spTree>
    <p:extLst>
      <p:ext uri="{BB962C8B-B14F-4D97-AF65-F5344CB8AC3E}">
        <p14:creationId xmlns:p14="http://schemas.microsoft.com/office/powerpoint/2010/main" val="495936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Distance Measure </a:t>
            </a:r>
            <a:r>
              <a:rPr lang="en-US" sz="2400" dirty="0"/>
              <a:t>continued</a:t>
            </a:r>
            <a:endParaRPr lang="en-CA" sz="2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 general when there are</a:t>
                </a:r>
                <a:r>
                  <a:rPr lang="en-US" dirty="0">
                    <a:latin typeface="+mj-lt"/>
                  </a:rPr>
                  <a:t> </a:t>
                </a:r>
                <a:r>
                  <a:rPr lang="en-US" i="1" dirty="0">
                    <a:latin typeface="+mj-lt"/>
                  </a:rPr>
                  <a:t>m</a:t>
                </a:r>
                <a:r>
                  <a:rPr lang="en-US" dirty="0"/>
                  <a:t> features the distance between P and Q is</a:t>
                </a:r>
              </a:p>
              <a:p>
                <a:pPr marL="0" indent="0">
                  <a:buNone/>
                </a:pPr>
                <a14:m>
                  <m:oMathPara xmlns:m="http://schemas.openxmlformats.org/officeDocument/2006/math">
                    <m:oMathParaPr>
                      <m:jc m:val="centerGroup"/>
                    </m:oMathParaPr>
                    <m:oMath xmlns:m="http://schemas.openxmlformats.org/officeDocument/2006/math">
                      <m:rad>
                        <m:radPr>
                          <m:degHide m:val="on"/>
                          <m:ctrlPr>
                            <a:rPr lang="en-CA" i="1">
                              <a:latin typeface="Cambria Math" panose="02040503050406030204" pitchFamily="18" charset="0"/>
                            </a:rPr>
                          </m:ctrlPr>
                        </m:radPr>
                        <m:deg/>
                        <m:e>
                          <m:nary>
                            <m:naryPr>
                              <m:chr m:val="∑"/>
                              <m:limLoc m:val="subSup"/>
                              <m:ctrlPr>
                                <a:rPr lang="en-CA" i="1">
                                  <a:latin typeface="Cambria Math" panose="02040503050406030204" pitchFamily="18" charset="0"/>
                                </a:rPr>
                              </m:ctrlPr>
                            </m:naryPr>
                            <m:sub>
                              <m:r>
                                <m:rPr>
                                  <m:brk m:alnAt="25"/>
                                </m:rPr>
                                <a:rPr lang="en-US" i="1">
                                  <a:latin typeface="Cambria Math"/>
                                </a:rPr>
                                <m:t>𝑗</m:t>
                              </m:r>
                              <m:r>
                                <a:rPr lang="en-US" i="1">
                                  <a:latin typeface="Cambria Math"/>
                                </a:rPr>
                                <m:t>=1</m:t>
                              </m:r>
                            </m:sub>
                            <m:sup>
                              <m:r>
                                <a:rPr lang="en-US" i="1">
                                  <a:latin typeface="Cambria Math"/>
                                </a:rPr>
                                <m:t>𝑚</m:t>
                              </m:r>
                            </m:sup>
                            <m:e>
                              <m:sSup>
                                <m:sSupPr>
                                  <m:ctrlPr>
                                    <a:rPr lang="en-CA" i="1">
                                      <a:latin typeface="Cambria Math" panose="02040503050406030204" pitchFamily="18" charset="0"/>
                                    </a:rPr>
                                  </m:ctrlPr>
                                </m:sSupPr>
                                <m:e>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US" i="1">
                                              <a:latin typeface="Cambria Math"/>
                                            </a:rPr>
                                            <m:t>𝑣</m:t>
                                          </m:r>
                                        </m:e>
                                        <m:sub>
                                          <m:r>
                                            <a:rPr lang="en-US" i="1">
                                              <a:latin typeface="Cambria Math"/>
                                            </a:rPr>
                                            <m:t>𝑝𝑗</m:t>
                                          </m:r>
                                        </m:sub>
                                      </m:sSub>
                                      <m:r>
                                        <a:rPr lang="en-US" i="1">
                                          <a:latin typeface="Cambria Math"/>
                                        </a:rPr>
                                        <m:t>−</m:t>
                                      </m:r>
                                      <m:sSub>
                                        <m:sSubPr>
                                          <m:ctrlPr>
                                            <a:rPr lang="en-US" i="1">
                                              <a:latin typeface="Cambria Math" panose="02040503050406030204" pitchFamily="18" charset="0"/>
                                            </a:rPr>
                                          </m:ctrlPr>
                                        </m:sSubPr>
                                        <m:e>
                                          <m:r>
                                            <a:rPr lang="en-US" i="1">
                                              <a:latin typeface="Cambria Math"/>
                                            </a:rPr>
                                            <m:t>𝑣</m:t>
                                          </m:r>
                                        </m:e>
                                        <m:sub>
                                          <m:r>
                                            <a:rPr lang="en-US" i="1">
                                              <a:latin typeface="Cambria Math"/>
                                            </a:rPr>
                                            <m:t>𝑞𝑗</m:t>
                                          </m:r>
                                        </m:sub>
                                      </m:sSub>
                                    </m:e>
                                  </m:d>
                                </m:e>
                                <m:sup>
                                  <m:r>
                                    <a:rPr lang="en-US" i="1">
                                      <a:latin typeface="Cambria Math"/>
                                    </a:rPr>
                                    <m:t>2</m:t>
                                  </m:r>
                                </m:sup>
                              </m:sSup>
                            </m:e>
                          </m:nary>
                        </m:e>
                      </m:rad>
                    </m:oMath>
                  </m:oMathPara>
                </a14:m>
                <a:endParaRPr lang="en-US" dirty="0">
                  <a:latin typeface="+mj-lt"/>
                </a:endParaRPr>
              </a:p>
              <a:p>
                <a:pPr marL="0" indent="0">
                  <a:buNone/>
                </a:pPr>
                <a:endParaRPr lang="en-US" dirty="0"/>
              </a:p>
              <a:p>
                <a:pPr marL="261938" indent="0">
                  <a:buNone/>
                </a:pPr>
                <a:r>
                  <a:rPr lang="en-US" dirty="0"/>
                  <a:t>where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𝑣</m:t>
                        </m:r>
                      </m:e>
                      <m:sub>
                        <m:r>
                          <a:rPr lang="en-US" b="0" i="1" smtClean="0">
                            <a:latin typeface="Cambria Math"/>
                          </a:rPr>
                          <m:t>𝑝𝑗</m:t>
                        </m:r>
                      </m:sub>
                    </m:sSub>
                    <m:r>
                      <a:rPr lang="en-US" b="0" i="1" smtClean="0">
                        <a:latin typeface="Cambria Math"/>
                      </a:rPr>
                      <m:t> </m:t>
                    </m:r>
                  </m:oMath>
                </a14:m>
                <a:r>
                  <a:rPr lang="en-US" dirty="0"/>
                  <a:t>and </a:t>
                </a:r>
                <a14:m>
                  <m:oMath xmlns:m="http://schemas.openxmlformats.org/officeDocument/2006/math">
                    <m:sSub>
                      <m:sSubPr>
                        <m:ctrlPr>
                          <a:rPr lang="en-US" i="1">
                            <a:latin typeface="Cambria Math" panose="02040503050406030204" pitchFamily="18" charset="0"/>
                          </a:rPr>
                        </m:ctrlPr>
                      </m:sSubPr>
                      <m:e>
                        <m:r>
                          <a:rPr lang="en-US" i="1">
                            <a:latin typeface="Cambria Math"/>
                          </a:rPr>
                          <m:t>𝑣</m:t>
                        </m:r>
                      </m:e>
                      <m:sub>
                        <m:r>
                          <a:rPr lang="en-US" b="0" i="1" smtClean="0">
                            <a:latin typeface="Cambria Math"/>
                          </a:rPr>
                          <m:t>𝑞</m:t>
                        </m:r>
                        <m:r>
                          <a:rPr lang="en-US" i="1">
                            <a:latin typeface="Cambria Math"/>
                          </a:rPr>
                          <m:t>𝑗</m:t>
                        </m:r>
                      </m:sub>
                    </m:sSub>
                  </m:oMath>
                </a14:m>
                <a:r>
                  <a:rPr lang="en-US" dirty="0"/>
                  <a:t> and the values of the </a:t>
                </a:r>
                <a:r>
                  <a:rPr lang="en-US" i="1" dirty="0" err="1"/>
                  <a:t>j</a:t>
                </a:r>
                <a:r>
                  <a:rPr lang="en-US" dirty="0" err="1"/>
                  <a:t>th</a:t>
                </a:r>
                <a:r>
                  <a:rPr lang="en-US" dirty="0"/>
                  <a:t> feature for P and Q</a:t>
                </a:r>
              </a:p>
              <a:p>
                <a:pPr marL="0" indent="0">
                  <a:buNone/>
                </a:pPr>
                <a:r>
                  <a:rPr lang="en-US" dirty="0"/>
                  <a:t> </a:t>
                </a: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1037"/>
                </a:stretch>
              </a:blipFill>
            </p:spPr>
            <p:txBody>
              <a:bodyPr/>
              <a:lstStyle/>
              <a:p>
                <a:r>
                  <a:rPr lang="en-CA">
                    <a:noFill/>
                  </a:rPr>
                  <a:t> </a:t>
                </a:r>
              </a:p>
            </p:txBody>
          </p:sp>
        </mc:Fallback>
      </mc:AlternateContent>
      <p:sp>
        <p:nvSpPr>
          <p:cNvPr id="4" name="Footer Placeholder 3"/>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p:cNvSpPr>
            <a:spLocks noGrp="1"/>
          </p:cNvSpPr>
          <p:nvPr>
            <p:ph type="sldNum" sz="quarter" idx="12"/>
          </p:nvPr>
        </p:nvSpPr>
        <p:spPr/>
        <p:txBody>
          <a:bodyPr/>
          <a:lstStyle/>
          <a:p>
            <a:fld id="{8F6C609E-065A-4A0E-A6D3-976F18D4BC33}" type="slidenum">
              <a:rPr lang="en-CA" smtClean="0"/>
              <a:t>7</a:t>
            </a:fld>
            <a:endParaRPr lang="en-CA"/>
          </a:p>
        </p:txBody>
      </p:sp>
    </p:spTree>
    <p:extLst>
      <p:ext uri="{BB962C8B-B14F-4D97-AF65-F5344CB8AC3E}">
        <p14:creationId xmlns:p14="http://schemas.microsoft.com/office/powerpoint/2010/main" val="1383710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 Centers (Table 2.1)</a:t>
            </a:r>
            <a:endParaRPr lang="en-CA" dirty="0"/>
          </a:p>
        </p:txBody>
      </p:sp>
      <p:sp>
        <p:nvSpPr>
          <p:cNvPr id="3" name="Content Placeholder 2"/>
          <p:cNvSpPr>
            <a:spLocks noGrp="1"/>
          </p:cNvSpPr>
          <p:nvPr>
            <p:ph idx="1"/>
          </p:nvPr>
        </p:nvSpPr>
        <p:spPr/>
        <p:txBody>
          <a:bodyPr/>
          <a:lstStyle/>
          <a:p>
            <a:r>
              <a:rPr lang="en-US" dirty="0"/>
              <a:t>The center of a cluster (sometimes called the centroid) is determined by averaging the values of each feature for all points in the cluster. Example: </a:t>
            </a:r>
            <a:endParaRPr lang="en-CA" dirty="0"/>
          </a:p>
        </p:txBody>
      </p:sp>
      <p:graphicFrame>
        <p:nvGraphicFramePr>
          <p:cNvPr id="4" name="Table 3"/>
          <p:cNvGraphicFramePr>
            <a:graphicFrameLocks noGrp="1"/>
          </p:cNvGraphicFramePr>
          <p:nvPr>
            <p:extLst>
              <p:ext uri="{D42A27DB-BD31-4B8C-83A1-F6EECF244321}">
                <p14:modId xmlns:p14="http://schemas.microsoft.com/office/powerpoint/2010/main" val="184715654"/>
              </p:ext>
            </p:extLst>
          </p:nvPr>
        </p:nvGraphicFramePr>
        <p:xfrm>
          <a:off x="1043607" y="3284982"/>
          <a:ext cx="6336706" cy="2736306"/>
        </p:xfrm>
        <a:graphic>
          <a:graphicData uri="http://schemas.openxmlformats.org/drawingml/2006/table">
            <a:tbl>
              <a:tblPr firstRow="1" firstCol="1" bandRow="1">
                <a:tableStyleId>{5940675A-B579-460E-94D1-54222C63F5DA}</a:tableStyleId>
              </a:tblPr>
              <a:tblGrid>
                <a:gridCol w="1031195">
                  <a:extLst>
                    <a:ext uri="{9D8B030D-6E8A-4147-A177-3AD203B41FA5}">
                      <a16:colId xmlns:a16="http://schemas.microsoft.com/office/drawing/2014/main" val="20000"/>
                    </a:ext>
                  </a:extLst>
                </a:gridCol>
                <a:gridCol w="1030156">
                  <a:extLst>
                    <a:ext uri="{9D8B030D-6E8A-4147-A177-3AD203B41FA5}">
                      <a16:colId xmlns:a16="http://schemas.microsoft.com/office/drawing/2014/main" val="20001"/>
                    </a:ext>
                  </a:extLst>
                </a:gridCol>
                <a:gridCol w="1030156">
                  <a:extLst>
                    <a:ext uri="{9D8B030D-6E8A-4147-A177-3AD203B41FA5}">
                      <a16:colId xmlns:a16="http://schemas.microsoft.com/office/drawing/2014/main" val="20002"/>
                    </a:ext>
                  </a:extLst>
                </a:gridCol>
                <a:gridCol w="1030156">
                  <a:extLst>
                    <a:ext uri="{9D8B030D-6E8A-4147-A177-3AD203B41FA5}">
                      <a16:colId xmlns:a16="http://schemas.microsoft.com/office/drawing/2014/main" val="20003"/>
                    </a:ext>
                  </a:extLst>
                </a:gridCol>
                <a:gridCol w="1278938">
                  <a:extLst>
                    <a:ext uri="{9D8B030D-6E8A-4147-A177-3AD203B41FA5}">
                      <a16:colId xmlns:a16="http://schemas.microsoft.com/office/drawing/2014/main" val="20004"/>
                    </a:ext>
                  </a:extLst>
                </a:gridCol>
                <a:gridCol w="936105">
                  <a:extLst>
                    <a:ext uri="{9D8B030D-6E8A-4147-A177-3AD203B41FA5}">
                      <a16:colId xmlns:a16="http://schemas.microsoft.com/office/drawing/2014/main" val="20005"/>
                    </a:ext>
                  </a:extLst>
                </a:gridCol>
              </a:tblGrid>
              <a:tr h="697260">
                <a:tc>
                  <a:txBody>
                    <a:bodyPr/>
                    <a:lstStyle/>
                    <a:p>
                      <a:pPr indent="-68580" algn="ctr">
                        <a:lnSpc>
                          <a:spcPct val="107000"/>
                        </a:lnSpc>
                        <a:spcAft>
                          <a:spcPts val="0"/>
                        </a:spcAft>
                      </a:pPr>
                      <a:r>
                        <a:rPr lang="en-US" sz="1600" dirty="0" err="1">
                          <a:effectLst/>
                          <a:latin typeface="Arial" panose="020B0604020202020204" pitchFamily="34" charset="0"/>
                          <a:cs typeface="Arial" panose="020B0604020202020204" pitchFamily="34" charset="0"/>
                        </a:rPr>
                        <a:t>Observ</a:t>
                      </a:r>
                      <a:r>
                        <a:rPr lang="en-US" sz="1600" dirty="0">
                          <a:effectLst/>
                          <a:latin typeface="Arial" panose="020B0604020202020204" pitchFamily="34" charset="0"/>
                          <a:cs typeface="Arial" panose="020B0604020202020204" pitchFamily="34" charset="0"/>
                        </a:rPr>
                        <a:t>.</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Feature 1</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Feature 2</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Feature 3</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Feature</a:t>
                      </a:r>
                      <a:r>
                        <a:rPr lang="en-CA" sz="1600" baseline="0" dirty="0">
                          <a:effectLst/>
                          <a:latin typeface="Arial" panose="020B0604020202020204" pitchFamily="34" charset="0"/>
                          <a:cs typeface="Arial" panose="020B0604020202020204" pitchFamily="34" charset="0"/>
                        </a:rPr>
                        <a:t> </a:t>
                      </a:r>
                      <a:r>
                        <a:rPr lang="en-US" sz="1600" dirty="0">
                          <a:effectLst/>
                          <a:latin typeface="Arial" panose="020B0604020202020204" pitchFamily="34" charset="0"/>
                          <a:cs typeface="Arial" panose="020B0604020202020204" pitchFamily="34" charset="0"/>
                        </a:rPr>
                        <a:t>4</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Distance to center</a:t>
                      </a:r>
                      <a:endParaRPr lang="en-CA" sz="160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0"/>
                  </a:ext>
                </a:extLst>
              </a:tr>
              <a:tr h="339841">
                <a:tc>
                  <a:txBody>
                    <a:bodyPr/>
                    <a:lstStyle/>
                    <a:p>
                      <a:pPr indent="-68580" algn="ctr">
                        <a:lnSpc>
                          <a:spcPct val="107000"/>
                        </a:lnSpc>
                        <a:spcAft>
                          <a:spcPts val="0"/>
                        </a:spcAft>
                      </a:pPr>
                      <a:r>
                        <a:rPr lang="en-US" sz="1600">
                          <a:effectLst/>
                          <a:latin typeface="Arial" panose="020B0604020202020204" pitchFamily="34" charset="0"/>
                          <a:cs typeface="Arial" panose="020B0604020202020204" pitchFamily="34" charset="0"/>
                        </a:rPr>
                        <a:t>1</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1.00</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1.00</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0.40</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0.25</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0.145</a:t>
                      </a:r>
                      <a:endParaRPr lang="en-CA" sz="160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1"/>
                  </a:ext>
                </a:extLst>
              </a:tr>
              <a:tr h="339841">
                <a:tc>
                  <a:txBody>
                    <a:bodyPr/>
                    <a:lstStyle/>
                    <a:p>
                      <a:pPr indent="-68580" algn="ctr">
                        <a:lnSpc>
                          <a:spcPct val="107000"/>
                        </a:lnSpc>
                        <a:spcAft>
                          <a:spcPts val="0"/>
                        </a:spcAft>
                      </a:pPr>
                      <a:r>
                        <a:rPr lang="en-US" sz="1600">
                          <a:effectLst/>
                          <a:latin typeface="Arial" panose="020B0604020202020204" pitchFamily="34" charset="0"/>
                          <a:cs typeface="Arial" panose="020B0604020202020204" pitchFamily="34" charset="0"/>
                        </a:rPr>
                        <a:t>2</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0.80</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1.20</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0.25</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0.40</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0.258</a:t>
                      </a:r>
                      <a:endParaRPr lang="en-CA" sz="160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2"/>
                  </a:ext>
                </a:extLst>
              </a:tr>
              <a:tr h="339841">
                <a:tc>
                  <a:txBody>
                    <a:bodyPr/>
                    <a:lstStyle/>
                    <a:p>
                      <a:pPr indent="-68580" algn="ctr">
                        <a:lnSpc>
                          <a:spcPct val="107000"/>
                        </a:lnSpc>
                        <a:spcAft>
                          <a:spcPts val="0"/>
                        </a:spcAft>
                      </a:pPr>
                      <a:r>
                        <a:rPr lang="en-US" sz="1600">
                          <a:effectLst/>
                          <a:latin typeface="Arial" panose="020B0604020202020204" pitchFamily="34" charset="0"/>
                          <a:cs typeface="Arial" panose="020B0604020202020204" pitchFamily="34" charset="0"/>
                        </a:rPr>
                        <a:t>3</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0.82</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1.05</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0.35</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0.50</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0.206</a:t>
                      </a:r>
                      <a:endParaRPr lang="en-CA" sz="160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3"/>
                  </a:ext>
                </a:extLst>
              </a:tr>
              <a:tr h="339841">
                <a:tc>
                  <a:txBody>
                    <a:bodyPr/>
                    <a:lstStyle/>
                    <a:p>
                      <a:pPr indent="-68580" algn="ctr">
                        <a:lnSpc>
                          <a:spcPct val="107000"/>
                        </a:lnSpc>
                        <a:spcAft>
                          <a:spcPts val="0"/>
                        </a:spcAft>
                      </a:pPr>
                      <a:r>
                        <a:rPr lang="en-US" sz="1600">
                          <a:effectLst/>
                          <a:latin typeface="Arial" panose="020B0604020202020204" pitchFamily="34" charset="0"/>
                          <a:cs typeface="Arial" panose="020B0604020202020204" pitchFamily="34" charset="0"/>
                        </a:rPr>
                        <a:t>4</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1.10</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0.80</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0.21</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0.23</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0.303</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4"/>
                  </a:ext>
                </a:extLst>
              </a:tr>
              <a:tr h="339841">
                <a:tc>
                  <a:txBody>
                    <a:bodyPr/>
                    <a:lstStyle/>
                    <a:p>
                      <a:pPr indent="-68580" algn="ctr">
                        <a:lnSpc>
                          <a:spcPct val="107000"/>
                        </a:lnSpc>
                        <a:spcAft>
                          <a:spcPts val="0"/>
                        </a:spcAft>
                      </a:pPr>
                      <a:r>
                        <a:rPr lang="en-US" sz="1600">
                          <a:effectLst/>
                          <a:latin typeface="Arial" panose="020B0604020202020204" pitchFamily="34" charset="0"/>
                          <a:cs typeface="Arial" panose="020B0604020202020204" pitchFamily="34" charset="0"/>
                        </a:rPr>
                        <a:t>5</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0.85</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0.90</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0.37</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0.27</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0.137</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5"/>
                  </a:ext>
                </a:extLst>
              </a:tr>
              <a:tr h="339841">
                <a:tc>
                  <a:txBody>
                    <a:bodyPr/>
                    <a:lstStyle/>
                    <a:p>
                      <a:pPr indent="-68580" algn="ctr">
                        <a:lnSpc>
                          <a:spcPct val="107000"/>
                        </a:lnSpc>
                        <a:spcAft>
                          <a:spcPts val="0"/>
                        </a:spcAft>
                      </a:pPr>
                      <a:r>
                        <a:rPr lang="en-US" sz="1600">
                          <a:effectLst/>
                          <a:latin typeface="Arial" panose="020B0604020202020204" pitchFamily="34" charset="0"/>
                          <a:cs typeface="Arial" panose="020B0604020202020204" pitchFamily="34" charset="0"/>
                        </a:rPr>
                        <a:t>Center</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0.914</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0.990</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0.316</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0.330</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indent="180340" algn="ctr">
                        <a:lnSpc>
                          <a:spcPct val="107000"/>
                        </a:lnSpc>
                        <a:spcAft>
                          <a:spcPts val="0"/>
                        </a:spcAft>
                      </a:pPr>
                      <a:r>
                        <a:rPr lang="en-US" sz="1600" dirty="0">
                          <a:effectLst/>
                          <a:latin typeface="Arial" panose="020B0604020202020204" pitchFamily="34" charset="0"/>
                          <a:cs typeface="Arial" panose="020B0604020202020204" pitchFamily="34" charset="0"/>
                        </a:rPr>
                        <a:t> </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6"/>
                  </a:ext>
                </a:extLst>
              </a:tr>
            </a:tbl>
          </a:graphicData>
        </a:graphic>
      </p:graphicFrame>
      <p:sp>
        <p:nvSpPr>
          <p:cNvPr id="5" name="Footer Placeholder 4"/>
          <p:cNvSpPr>
            <a:spLocks noGrp="1"/>
          </p:cNvSpPr>
          <p:nvPr>
            <p:ph type="ftr" sz="quarter" idx="11"/>
          </p:nvPr>
        </p:nvSpPr>
        <p:spPr/>
        <p:txBody>
          <a:bodyPr/>
          <a:lstStyle/>
          <a:p>
            <a:r>
              <a:rPr lang="en-US"/>
              <a:t>Machine Learning and Financial Institutions, 3rd Ed.  Copyright  © John C. Hull 2021</a:t>
            </a:r>
            <a:endParaRPr lang="en-CA"/>
          </a:p>
        </p:txBody>
      </p:sp>
      <p:sp>
        <p:nvSpPr>
          <p:cNvPr id="6" name="Slide Number Placeholder 5"/>
          <p:cNvSpPr>
            <a:spLocks noGrp="1"/>
          </p:cNvSpPr>
          <p:nvPr>
            <p:ph type="sldNum" sz="quarter" idx="12"/>
          </p:nvPr>
        </p:nvSpPr>
        <p:spPr/>
        <p:txBody>
          <a:bodyPr/>
          <a:lstStyle/>
          <a:p>
            <a:fld id="{8F6C609E-065A-4A0E-A6D3-976F18D4BC33}" type="slidenum">
              <a:rPr lang="en-CA" smtClean="0"/>
              <a:t>8</a:t>
            </a:fld>
            <a:endParaRPr lang="en-CA"/>
          </a:p>
        </p:txBody>
      </p:sp>
    </p:spTree>
    <p:extLst>
      <p:ext uri="{BB962C8B-B14F-4D97-AF65-F5344CB8AC3E}">
        <p14:creationId xmlns:p14="http://schemas.microsoft.com/office/powerpoint/2010/main" val="2494935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498" y="989638"/>
            <a:ext cx="7886700" cy="994172"/>
          </a:xfrm>
        </p:spPr>
        <p:txBody>
          <a:bodyPr>
            <a:normAutofit fontScale="90000"/>
          </a:bodyPr>
          <a:lstStyle/>
          <a:p>
            <a:r>
              <a:rPr lang="en-CA" dirty="0"/>
              <a:t>k-means algorithm to find k clusters (Figure 2.2) </a:t>
            </a:r>
          </a:p>
        </p:txBody>
      </p:sp>
      <p:sp>
        <p:nvSpPr>
          <p:cNvPr id="5" name="Content Placeholder 4"/>
          <p:cNvSpPr>
            <a:spLocks noGrp="1"/>
          </p:cNvSpPr>
          <p:nvPr>
            <p:ph idx="1"/>
          </p:nvPr>
        </p:nvSpPr>
        <p:spPr>
          <a:xfrm>
            <a:off x="551498" y="2125266"/>
            <a:ext cx="7886700" cy="3263504"/>
          </a:xfrm>
        </p:spPr>
        <p:txBody>
          <a:bodyPr/>
          <a:lstStyle/>
          <a:p>
            <a:pPr marL="0" indent="0">
              <a:buNone/>
            </a:pPr>
            <a:endParaRPr lang="en-CA" dirty="0"/>
          </a:p>
          <a:p>
            <a:endParaRPr lang="en-CA" dirty="0"/>
          </a:p>
        </p:txBody>
      </p:sp>
      <p:sp>
        <p:nvSpPr>
          <p:cNvPr id="3" name="Footer Placeholder 2"/>
          <p:cNvSpPr>
            <a:spLocks noGrp="1"/>
          </p:cNvSpPr>
          <p:nvPr>
            <p:ph type="ftr" sz="quarter" idx="11"/>
          </p:nvPr>
        </p:nvSpPr>
        <p:spPr/>
        <p:txBody>
          <a:bodyPr/>
          <a:lstStyle/>
          <a:p>
            <a:r>
              <a:rPr lang="en-US"/>
              <a:t>Machine Learning and Financial Institutions, 3rd Ed.  Copyright  © John C. Hull 2021</a:t>
            </a:r>
            <a:endParaRPr lang="en-CA"/>
          </a:p>
        </p:txBody>
      </p:sp>
      <p:sp>
        <p:nvSpPr>
          <p:cNvPr id="18" name="Slide Number Placeholder 17"/>
          <p:cNvSpPr>
            <a:spLocks noGrp="1"/>
          </p:cNvSpPr>
          <p:nvPr>
            <p:ph type="sldNum" sz="quarter" idx="12"/>
          </p:nvPr>
        </p:nvSpPr>
        <p:spPr/>
        <p:txBody>
          <a:bodyPr/>
          <a:lstStyle/>
          <a:p>
            <a:fld id="{2E8C09BE-1715-42CA-A91A-E7B0E09A3015}" type="slidenum">
              <a:rPr lang="en-CA" smtClean="0"/>
              <a:t>9</a:t>
            </a:fld>
            <a:endParaRPr lang="en-CA"/>
          </a:p>
        </p:txBody>
      </p:sp>
      <p:grpSp>
        <p:nvGrpSpPr>
          <p:cNvPr id="4" name="Group 3"/>
          <p:cNvGrpSpPr/>
          <p:nvPr/>
        </p:nvGrpSpPr>
        <p:grpSpPr>
          <a:xfrm>
            <a:off x="1105853" y="2125266"/>
            <a:ext cx="5597842" cy="3226241"/>
            <a:chOff x="891540" y="1232077"/>
            <a:chExt cx="8046719" cy="4730359"/>
          </a:xfrm>
          <a:solidFill>
            <a:schemeClr val="tx2"/>
          </a:solidFill>
        </p:grpSpPr>
        <p:sp>
          <p:nvSpPr>
            <p:cNvPr id="6" name="Rounded Rectangle 5"/>
            <p:cNvSpPr/>
            <p:nvPr/>
          </p:nvSpPr>
          <p:spPr>
            <a:xfrm>
              <a:off x="3560445" y="2617470"/>
              <a:ext cx="3348990" cy="697230"/>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350" dirty="0"/>
                <a:t>Assign each observation to nearest  cluster center</a:t>
              </a:r>
            </a:p>
          </p:txBody>
        </p:sp>
        <p:sp>
          <p:nvSpPr>
            <p:cNvPr id="7" name="Rounded Rectangle 6"/>
            <p:cNvSpPr/>
            <p:nvPr/>
          </p:nvSpPr>
          <p:spPr>
            <a:xfrm>
              <a:off x="3451861" y="1232077"/>
              <a:ext cx="3348989" cy="711023"/>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350" dirty="0"/>
                <a:t>Choose k random points as cluster centers</a:t>
              </a:r>
            </a:p>
          </p:txBody>
        </p:sp>
        <p:sp>
          <p:nvSpPr>
            <p:cNvPr id="8" name="Down Arrow 7"/>
            <p:cNvSpPr/>
            <p:nvPr/>
          </p:nvSpPr>
          <p:spPr>
            <a:xfrm>
              <a:off x="5009197" y="1931670"/>
              <a:ext cx="285750" cy="685800"/>
            </a:xfrm>
            <a:prstGeom prst="downArrow">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a:p>
          </p:txBody>
        </p:sp>
        <p:sp>
          <p:nvSpPr>
            <p:cNvPr id="9" name="Rounded Rectangle 8"/>
            <p:cNvSpPr/>
            <p:nvPr/>
          </p:nvSpPr>
          <p:spPr>
            <a:xfrm>
              <a:off x="3680461" y="3945713"/>
              <a:ext cx="3228974" cy="591997"/>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350" dirty="0"/>
                <a:t>Calculate new cluster centers</a:t>
              </a:r>
            </a:p>
          </p:txBody>
        </p:sp>
        <p:sp>
          <p:nvSpPr>
            <p:cNvPr id="10" name="Down Arrow 9"/>
            <p:cNvSpPr/>
            <p:nvPr/>
          </p:nvSpPr>
          <p:spPr>
            <a:xfrm>
              <a:off x="5009198" y="3314700"/>
              <a:ext cx="285749" cy="640080"/>
            </a:xfrm>
            <a:prstGeom prst="downArrow">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a:p>
          </p:txBody>
        </p:sp>
        <p:sp>
          <p:nvSpPr>
            <p:cNvPr id="11" name="Rounded Rectangle 10"/>
            <p:cNvSpPr/>
            <p:nvPr/>
          </p:nvSpPr>
          <p:spPr>
            <a:xfrm>
              <a:off x="4197667" y="5048036"/>
              <a:ext cx="2194560" cy="914400"/>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350" dirty="0"/>
                <a:t>Have cluster centers changed?</a:t>
              </a:r>
            </a:p>
          </p:txBody>
        </p:sp>
        <p:sp>
          <p:nvSpPr>
            <p:cNvPr id="12" name="Left Arrow 11"/>
            <p:cNvSpPr/>
            <p:nvPr/>
          </p:nvSpPr>
          <p:spPr>
            <a:xfrm>
              <a:off x="2608897" y="5372100"/>
              <a:ext cx="1588770" cy="449552"/>
            </a:xfrm>
            <a:prstGeom prst="leftArrow">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350" dirty="0"/>
                <a:t>No</a:t>
              </a:r>
            </a:p>
          </p:txBody>
        </p:sp>
        <p:sp>
          <p:nvSpPr>
            <p:cNvPr id="13" name="Rounded Rectangle 12"/>
            <p:cNvSpPr/>
            <p:nvPr/>
          </p:nvSpPr>
          <p:spPr>
            <a:xfrm>
              <a:off x="891540" y="5230916"/>
              <a:ext cx="1717357" cy="731520"/>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350" dirty="0"/>
                <a:t>End</a:t>
              </a:r>
            </a:p>
          </p:txBody>
        </p:sp>
        <p:sp>
          <p:nvSpPr>
            <p:cNvPr id="14" name="Left Arrow 13"/>
            <p:cNvSpPr/>
            <p:nvPr/>
          </p:nvSpPr>
          <p:spPr>
            <a:xfrm rot="16200000">
              <a:off x="4935919" y="4607443"/>
              <a:ext cx="482423" cy="335867"/>
            </a:xfrm>
            <a:prstGeom prst="leftArrow">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a:p>
          </p:txBody>
        </p:sp>
        <p:sp>
          <p:nvSpPr>
            <p:cNvPr id="15" name="Bent Arrow 14"/>
            <p:cNvSpPr/>
            <p:nvPr/>
          </p:nvSpPr>
          <p:spPr>
            <a:xfrm flipH="1">
              <a:off x="8239601" y="2762705"/>
              <a:ext cx="698658" cy="2609395"/>
            </a:xfrm>
            <a:prstGeom prst="bentArrow">
              <a:avLst>
                <a:gd name="adj1" fmla="val 25000"/>
                <a:gd name="adj2" fmla="val 16366"/>
                <a:gd name="adj3" fmla="val 1633"/>
                <a:gd name="adj4" fmla="val 43750"/>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a:solidFill>
                  <a:schemeClr val="tx1"/>
                </a:solidFill>
              </a:endParaRPr>
            </a:p>
          </p:txBody>
        </p:sp>
        <p:sp>
          <p:nvSpPr>
            <p:cNvPr id="16" name="Left Arrow 15"/>
            <p:cNvSpPr/>
            <p:nvPr/>
          </p:nvSpPr>
          <p:spPr>
            <a:xfrm>
              <a:off x="6909436" y="2711266"/>
              <a:ext cx="1330165" cy="342900"/>
            </a:xfrm>
            <a:prstGeom prst="leftArrow">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a:p>
          </p:txBody>
        </p:sp>
        <p:sp>
          <p:nvSpPr>
            <p:cNvPr id="17" name="Bent Arrow 16"/>
            <p:cNvSpPr/>
            <p:nvPr/>
          </p:nvSpPr>
          <p:spPr>
            <a:xfrm flipH="1" flipV="1">
              <a:off x="6392227" y="4969685"/>
              <a:ext cx="2546032" cy="867726"/>
            </a:xfrm>
            <a:prstGeom prst="bentArrow">
              <a:avLst>
                <a:gd name="adj1" fmla="val 19412"/>
                <a:gd name="adj2" fmla="val 27000"/>
                <a:gd name="adj3" fmla="val 1633"/>
                <a:gd name="adj4" fmla="val 43750"/>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dirty="0">
                <a:solidFill>
                  <a:schemeClr val="tx1"/>
                </a:solidFill>
              </a:endParaRPr>
            </a:p>
          </p:txBody>
        </p:sp>
        <p:sp>
          <p:nvSpPr>
            <p:cNvPr id="19" name="TextBox 18"/>
            <p:cNvSpPr txBox="1"/>
            <p:nvPr/>
          </p:nvSpPr>
          <p:spPr>
            <a:xfrm>
              <a:off x="6995160" y="5403548"/>
              <a:ext cx="832231" cy="439984"/>
            </a:xfrm>
            <a:prstGeom prst="rect">
              <a:avLst/>
            </a:prstGeom>
            <a:grpFill/>
            <a:ln>
              <a:solidFill>
                <a:schemeClr val="tx1"/>
              </a:solidFill>
            </a:ln>
          </p:spPr>
          <p:txBody>
            <a:bodyPr wrap="square" rtlCol="0">
              <a:spAutoFit/>
            </a:bodyPr>
            <a:lstStyle/>
            <a:p>
              <a:r>
                <a:rPr lang="en-CA" sz="1350" dirty="0">
                  <a:solidFill>
                    <a:schemeClr val="bg1"/>
                  </a:solidFill>
                </a:rPr>
                <a:t>Yes</a:t>
              </a:r>
            </a:p>
          </p:txBody>
        </p:sp>
      </p:grpSp>
    </p:spTree>
    <p:extLst>
      <p:ext uri="{BB962C8B-B14F-4D97-AF65-F5344CB8AC3E}">
        <p14:creationId xmlns:p14="http://schemas.microsoft.com/office/powerpoint/2010/main" val="750755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 Simple Example</a:t>
            </a:r>
            <a:endParaRPr lang="en-CA" dirty="0"/>
          </a:p>
        </p:txBody>
      </p:sp>
      <p:sp>
        <p:nvSpPr>
          <p:cNvPr id="6" name="Content Placeholder 5"/>
          <p:cNvSpPr>
            <a:spLocks noGrp="1"/>
          </p:cNvSpPr>
          <p:nvPr>
            <p:ph idx="1"/>
          </p:nvPr>
        </p:nvSpPr>
        <p:spPr/>
        <p:txBody>
          <a:bodyPr/>
          <a:lstStyle/>
          <a:p>
            <a:pPr marL="0" indent="0">
              <a:buNone/>
            </a:pPr>
            <a:r>
              <a:rPr lang="en-US" dirty="0"/>
              <a:t> </a:t>
            </a:r>
            <a:endParaRPr lang="en-CA" dirty="0"/>
          </a:p>
        </p:txBody>
      </p:sp>
      <p:sp>
        <p:nvSpPr>
          <p:cNvPr id="2" name="Footer Placeholder 1"/>
          <p:cNvSpPr>
            <a:spLocks noGrp="1"/>
          </p:cNvSpPr>
          <p:nvPr>
            <p:ph type="ftr" sz="quarter" idx="11"/>
          </p:nvPr>
        </p:nvSpPr>
        <p:spPr/>
        <p:txBody>
          <a:bodyPr/>
          <a:lstStyle/>
          <a:p>
            <a:r>
              <a:rPr lang="en-US"/>
              <a:t>Machine Learning and Financial Institutions, 3rd Ed.  Copyright  © John C. Hull 2021</a:t>
            </a:r>
            <a:endParaRPr lang="en-CA"/>
          </a:p>
        </p:txBody>
      </p:sp>
      <p:sp>
        <p:nvSpPr>
          <p:cNvPr id="3" name="Slide Number Placeholder 2"/>
          <p:cNvSpPr>
            <a:spLocks noGrp="1"/>
          </p:cNvSpPr>
          <p:nvPr>
            <p:ph type="sldNum" sz="quarter" idx="12"/>
          </p:nvPr>
        </p:nvSpPr>
        <p:spPr/>
        <p:txBody>
          <a:bodyPr/>
          <a:lstStyle/>
          <a:p>
            <a:fld id="{D070B3ED-7B1D-4E55-9BB7-B29E7E31CCE6}" type="slidenum">
              <a:rPr lang="en-CA" smtClean="0"/>
              <a:t>10</a:t>
            </a:fld>
            <a:endParaRPr lang="en-CA"/>
          </a:p>
        </p:txBody>
      </p:sp>
      <p:pic>
        <p:nvPicPr>
          <p:cNvPr id="4" name="Picture 3"/>
          <p:cNvPicPr>
            <a:picLocks noChangeAspect="1"/>
          </p:cNvPicPr>
          <p:nvPr/>
        </p:nvPicPr>
        <p:blipFill>
          <a:blip r:embed="rId3"/>
          <a:stretch>
            <a:fillRect/>
          </a:stretch>
        </p:blipFill>
        <p:spPr>
          <a:xfrm>
            <a:off x="1922480" y="2729760"/>
            <a:ext cx="4639436" cy="2785811"/>
          </a:xfrm>
          <a:prstGeom prst="rect">
            <a:avLst/>
          </a:prstGeom>
        </p:spPr>
      </p:pic>
    </p:spTree>
    <p:extLst>
      <p:ext uri="{BB962C8B-B14F-4D97-AF65-F5344CB8AC3E}">
        <p14:creationId xmlns:p14="http://schemas.microsoft.com/office/powerpoint/2010/main" val="459444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Example Continued</a:t>
            </a:r>
            <a:endParaRPr lang="en-CA" dirty="0"/>
          </a:p>
        </p:txBody>
      </p:sp>
      <p:sp>
        <p:nvSpPr>
          <p:cNvPr id="6" name="Content Placeholder 5"/>
          <p:cNvSpPr>
            <a:spLocks noGrp="1"/>
          </p:cNvSpPr>
          <p:nvPr>
            <p:ph idx="1"/>
          </p:nvPr>
        </p:nvSpPr>
        <p:spPr/>
        <p:txBody>
          <a:bodyPr/>
          <a:lstStyle/>
          <a:p>
            <a:pPr marL="0" indent="0">
              <a:buNone/>
            </a:pPr>
            <a:r>
              <a:rPr lang="en-US" dirty="0"/>
              <a:t> </a:t>
            </a:r>
            <a:endParaRPr lang="en-CA" dirty="0"/>
          </a:p>
        </p:txBody>
      </p:sp>
      <p:sp>
        <p:nvSpPr>
          <p:cNvPr id="2" name="Footer Placeholder 1"/>
          <p:cNvSpPr>
            <a:spLocks noGrp="1"/>
          </p:cNvSpPr>
          <p:nvPr>
            <p:ph type="ftr" sz="quarter" idx="11"/>
          </p:nvPr>
        </p:nvSpPr>
        <p:spPr/>
        <p:txBody>
          <a:bodyPr/>
          <a:lstStyle/>
          <a:p>
            <a:r>
              <a:rPr lang="en-US"/>
              <a:t>Machine Learning and Financial Institutions, 3rd Ed.  Copyright  © John C. Hull 2021</a:t>
            </a:r>
            <a:endParaRPr lang="en-CA"/>
          </a:p>
        </p:txBody>
      </p:sp>
      <p:sp>
        <p:nvSpPr>
          <p:cNvPr id="3" name="Slide Number Placeholder 2"/>
          <p:cNvSpPr>
            <a:spLocks noGrp="1"/>
          </p:cNvSpPr>
          <p:nvPr>
            <p:ph type="sldNum" sz="quarter" idx="12"/>
          </p:nvPr>
        </p:nvSpPr>
        <p:spPr/>
        <p:txBody>
          <a:bodyPr/>
          <a:lstStyle/>
          <a:p>
            <a:fld id="{D070B3ED-7B1D-4E55-9BB7-B29E7E31CCE6}" type="slidenum">
              <a:rPr lang="en-CA" smtClean="0"/>
              <a:t>11</a:t>
            </a:fld>
            <a:endParaRPr lang="en-CA"/>
          </a:p>
        </p:txBody>
      </p:sp>
      <p:pic>
        <p:nvPicPr>
          <p:cNvPr id="4" name="Picture 3"/>
          <p:cNvPicPr>
            <a:picLocks noChangeAspect="1"/>
          </p:cNvPicPr>
          <p:nvPr/>
        </p:nvPicPr>
        <p:blipFill>
          <a:blip r:embed="rId2"/>
          <a:stretch>
            <a:fillRect/>
          </a:stretch>
        </p:blipFill>
        <p:spPr>
          <a:xfrm>
            <a:off x="2195736" y="2412208"/>
            <a:ext cx="5215412" cy="3131662"/>
          </a:xfrm>
          <a:prstGeom prst="rect">
            <a:avLst/>
          </a:prstGeom>
        </p:spPr>
      </p:pic>
    </p:spTree>
    <p:extLst>
      <p:ext uri="{BB962C8B-B14F-4D97-AF65-F5344CB8AC3E}">
        <p14:creationId xmlns:p14="http://schemas.microsoft.com/office/powerpoint/2010/main" val="1248653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Example continued</a:t>
            </a:r>
            <a:endParaRPr lang="en-CA" dirty="0"/>
          </a:p>
        </p:txBody>
      </p:sp>
      <p:sp>
        <p:nvSpPr>
          <p:cNvPr id="6" name="Content Placeholder 5"/>
          <p:cNvSpPr>
            <a:spLocks noGrp="1"/>
          </p:cNvSpPr>
          <p:nvPr>
            <p:ph idx="1"/>
          </p:nvPr>
        </p:nvSpPr>
        <p:spPr/>
        <p:txBody>
          <a:bodyPr/>
          <a:lstStyle/>
          <a:p>
            <a:pPr marL="0" indent="0">
              <a:buNone/>
            </a:pPr>
            <a:r>
              <a:rPr lang="en-US" dirty="0"/>
              <a:t> </a:t>
            </a:r>
            <a:endParaRPr lang="en-CA" dirty="0"/>
          </a:p>
        </p:txBody>
      </p:sp>
      <p:sp>
        <p:nvSpPr>
          <p:cNvPr id="2" name="Footer Placeholder 1"/>
          <p:cNvSpPr>
            <a:spLocks noGrp="1"/>
          </p:cNvSpPr>
          <p:nvPr>
            <p:ph type="ftr" sz="quarter" idx="11"/>
          </p:nvPr>
        </p:nvSpPr>
        <p:spPr/>
        <p:txBody>
          <a:bodyPr/>
          <a:lstStyle/>
          <a:p>
            <a:r>
              <a:rPr lang="en-US"/>
              <a:t>Machine Learning and Financial Institutions, 3rd Ed.  Copyright  © John C. Hull 2021</a:t>
            </a:r>
            <a:endParaRPr lang="en-CA"/>
          </a:p>
        </p:txBody>
      </p:sp>
      <p:sp>
        <p:nvSpPr>
          <p:cNvPr id="3" name="Slide Number Placeholder 2"/>
          <p:cNvSpPr>
            <a:spLocks noGrp="1"/>
          </p:cNvSpPr>
          <p:nvPr>
            <p:ph type="sldNum" sz="quarter" idx="12"/>
          </p:nvPr>
        </p:nvSpPr>
        <p:spPr/>
        <p:txBody>
          <a:bodyPr/>
          <a:lstStyle/>
          <a:p>
            <a:fld id="{D070B3ED-7B1D-4E55-9BB7-B29E7E31CCE6}" type="slidenum">
              <a:rPr lang="en-CA" smtClean="0"/>
              <a:t>12</a:t>
            </a:fld>
            <a:endParaRPr lang="en-CA"/>
          </a:p>
        </p:txBody>
      </p:sp>
      <p:pic>
        <p:nvPicPr>
          <p:cNvPr id="4" name="Picture 3"/>
          <p:cNvPicPr>
            <a:picLocks noChangeAspect="1"/>
          </p:cNvPicPr>
          <p:nvPr/>
        </p:nvPicPr>
        <p:blipFill>
          <a:blip r:embed="rId2"/>
          <a:stretch>
            <a:fillRect/>
          </a:stretch>
        </p:blipFill>
        <p:spPr>
          <a:xfrm>
            <a:off x="1979713" y="2548690"/>
            <a:ext cx="5177135" cy="3119474"/>
          </a:xfrm>
          <a:prstGeom prst="rect">
            <a:avLst/>
          </a:prstGeom>
        </p:spPr>
      </p:pic>
    </p:spTree>
    <p:extLst>
      <p:ext uri="{BB962C8B-B14F-4D97-AF65-F5344CB8AC3E}">
        <p14:creationId xmlns:p14="http://schemas.microsoft.com/office/powerpoint/2010/main" val="2358098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Example continued</a:t>
            </a:r>
            <a:endParaRPr lang="en-CA" dirty="0"/>
          </a:p>
        </p:txBody>
      </p:sp>
      <p:sp>
        <p:nvSpPr>
          <p:cNvPr id="6" name="Content Placeholder 5"/>
          <p:cNvSpPr>
            <a:spLocks noGrp="1"/>
          </p:cNvSpPr>
          <p:nvPr>
            <p:ph idx="1"/>
          </p:nvPr>
        </p:nvSpPr>
        <p:spPr/>
        <p:txBody>
          <a:bodyPr/>
          <a:lstStyle/>
          <a:p>
            <a:pPr marL="0" indent="0">
              <a:buNone/>
            </a:pPr>
            <a:r>
              <a:rPr lang="en-US" dirty="0"/>
              <a:t> </a:t>
            </a:r>
            <a:endParaRPr lang="en-CA" dirty="0"/>
          </a:p>
        </p:txBody>
      </p:sp>
      <p:sp>
        <p:nvSpPr>
          <p:cNvPr id="2" name="Footer Placeholder 1"/>
          <p:cNvSpPr>
            <a:spLocks noGrp="1"/>
          </p:cNvSpPr>
          <p:nvPr>
            <p:ph type="ftr" sz="quarter" idx="11"/>
          </p:nvPr>
        </p:nvSpPr>
        <p:spPr/>
        <p:txBody>
          <a:bodyPr/>
          <a:lstStyle/>
          <a:p>
            <a:r>
              <a:rPr lang="en-US"/>
              <a:t>Machine Learning and Financial Institutions, 3rd Ed.  Copyright  © John C. Hull 2021</a:t>
            </a:r>
            <a:endParaRPr lang="en-CA"/>
          </a:p>
        </p:txBody>
      </p:sp>
      <p:sp>
        <p:nvSpPr>
          <p:cNvPr id="3" name="Slide Number Placeholder 2"/>
          <p:cNvSpPr>
            <a:spLocks noGrp="1"/>
          </p:cNvSpPr>
          <p:nvPr>
            <p:ph type="sldNum" sz="quarter" idx="12"/>
          </p:nvPr>
        </p:nvSpPr>
        <p:spPr/>
        <p:txBody>
          <a:bodyPr/>
          <a:lstStyle/>
          <a:p>
            <a:fld id="{D070B3ED-7B1D-4E55-9BB7-B29E7E31CCE6}" type="slidenum">
              <a:rPr lang="en-CA" smtClean="0"/>
              <a:t>13</a:t>
            </a:fld>
            <a:endParaRPr lang="en-CA"/>
          </a:p>
        </p:txBody>
      </p:sp>
      <p:pic>
        <p:nvPicPr>
          <p:cNvPr id="4" name="Picture 3"/>
          <p:cNvPicPr>
            <a:picLocks noChangeAspect="1"/>
          </p:cNvPicPr>
          <p:nvPr/>
        </p:nvPicPr>
        <p:blipFill>
          <a:blip r:embed="rId2"/>
          <a:stretch>
            <a:fillRect/>
          </a:stretch>
        </p:blipFill>
        <p:spPr>
          <a:xfrm>
            <a:off x="1803654" y="2421732"/>
            <a:ext cx="4968621" cy="2983475"/>
          </a:xfrm>
          <a:prstGeom prst="rect">
            <a:avLst/>
          </a:prstGeom>
        </p:spPr>
      </p:pic>
    </p:spTree>
    <p:extLst>
      <p:ext uri="{BB962C8B-B14F-4D97-AF65-F5344CB8AC3E}">
        <p14:creationId xmlns:p14="http://schemas.microsoft.com/office/powerpoint/2010/main" val="1946397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71949-DCD9-46F5-B7CE-063E7E847CC5}"/>
              </a:ext>
            </a:extLst>
          </p:cNvPr>
          <p:cNvSpPr>
            <a:spLocks noGrp="1"/>
          </p:cNvSpPr>
          <p:nvPr>
            <p:ph type="title"/>
          </p:nvPr>
        </p:nvSpPr>
        <p:spPr/>
        <p:txBody>
          <a:bodyPr/>
          <a:lstStyle/>
          <a:p>
            <a:r>
              <a:rPr lang="en-US" dirty="0"/>
              <a:t>Example continued</a:t>
            </a:r>
            <a:endParaRPr lang="en-CA" dirty="0"/>
          </a:p>
        </p:txBody>
      </p:sp>
      <p:sp>
        <p:nvSpPr>
          <p:cNvPr id="4" name="Footer Placeholder 3">
            <a:extLst>
              <a:ext uri="{FF2B5EF4-FFF2-40B4-BE49-F238E27FC236}">
                <a16:creationId xmlns:a16="http://schemas.microsoft.com/office/drawing/2014/main" id="{73413324-6D33-4F59-9218-A0246431E640}"/>
              </a:ext>
            </a:extLst>
          </p:cNvPr>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a:extLst>
              <a:ext uri="{FF2B5EF4-FFF2-40B4-BE49-F238E27FC236}">
                <a16:creationId xmlns:a16="http://schemas.microsoft.com/office/drawing/2014/main" id="{D8C5885C-B608-48A4-9218-D3A3CC4DFB44}"/>
              </a:ext>
            </a:extLst>
          </p:cNvPr>
          <p:cNvSpPr>
            <a:spLocks noGrp="1"/>
          </p:cNvSpPr>
          <p:nvPr>
            <p:ph type="sldNum" sz="quarter" idx="12"/>
          </p:nvPr>
        </p:nvSpPr>
        <p:spPr/>
        <p:txBody>
          <a:bodyPr/>
          <a:lstStyle/>
          <a:p>
            <a:fld id="{8F6C609E-065A-4A0E-A6D3-976F18D4BC33}" type="slidenum">
              <a:rPr lang="en-CA" smtClean="0"/>
              <a:t>14</a:t>
            </a:fld>
            <a:endParaRPr lang="en-CA"/>
          </a:p>
        </p:txBody>
      </p:sp>
      <p:pic>
        <p:nvPicPr>
          <p:cNvPr id="10" name="Picture 9">
            <a:extLst>
              <a:ext uri="{FF2B5EF4-FFF2-40B4-BE49-F238E27FC236}">
                <a16:creationId xmlns:a16="http://schemas.microsoft.com/office/drawing/2014/main" id="{5C574659-17A3-49FC-9462-73CF3980A2B9}"/>
              </a:ext>
            </a:extLst>
          </p:cNvPr>
          <p:cNvPicPr>
            <a:picLocks noChangeAspect="1"/>
          </p:cNvPicPr>
          <p:nvPr/>
        </p:nvPicPr>
        <p:blipFill>
          <a:blip r:embed="rId2"/>
          <a:stretch>
            <a:fillRect/>
          </a:stretch>
        </p:blipFill>
        <p:spPr>
          <a:xfrm>
            <a:off x="1816932" y="2492896"/>
            <a:ext cx="5259324" cy="3157728"/>
          </a:xfrm>
          <a:prstGeom prst="rect">
            <a:avLst/>
          </a:prstGeom>
        </p:spPr>
      </p:pic>
    </p:spTree>
    <p:extLst>
      <p:ext uri="{BB962C8B-B14F-4D97-AF65-F5344CB8AC3E}">
        <p14:creationId xmlns:p14="http://schemas.microsoft.com/office/powerpoint/2010/main" val="674828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Example continued</a:t>
            </a:r>
            <a:endParaRPr lang="en-CA" dirty="0"/>
          </a:p>
        </p:txBody>
      </p:sp>
      <p:sp>
        <p:nvSpPr>
          <p:cNvPr id="6" name="Content Placeholder 5"/>
          <p:cNvSpPr>
            <a:spLocks noGrp="1"/>
          </p:cNvSpPr>
          <p:nvPr>
            <p:ph idx="1"/>
          </p:nvPr>
        </p:nvSpPr>
        <p:spPr>
          <a:xfrm>
            <a:off x="685800" y="2194520"/>
            <a:ext cx="7772400" cy="4114800"/>
          </a:xfrm>
        </p:spPr>
        <p:txBody>
          <a:bodyPr/>
          <a:lstStyle/>
          <a:p>
            <a:pPr marL="0" indent="0">
              <a:buNone/>
            </a:pPr>
            <a:r>
              <a:rPr lang="en-US" dirty="0"/>
              <a:t> </a:t>
            </a:r>
            <a:endParaRPr lang="en-CA" dirty="0"/>
          </a:p>
        </p:txBody>
      </p:sp>
      <p:sp>
        <p:nvSpPr>
          <p:cNvPr id="2" name="Footer Placeholder 1"/>
          <p:cNvSpPr>
            <a:spLocks noGrp="1"/>
          </p:cNvSpPr>
          <p:nvPr>
            <p:ph type="ftr" sz="quarter" idx="11"/>
          </p:nvPr>
        </p:nvSpPr>
        <p:spPr/>
        <p:txBody>
          <a:bodyPr/>
          <a:lstStyle/>
          <a:p>
            <a:r>
              <a:rPr lang="en-US"/>
              <a:t>Machine Learning and Financial Institutions, 3rd Ed.  Copyright  © John C. Hull 2021</a:t>
            </a:r>
            <a:endParaRPr lang="en-CA"/>
          </a:p>
        </p:txBody>
      </p:sp>
      <p:sp>
        <p:nvSpPr>
          <p:cNvPr id="3" name="Slide Number Placeholder 2"/>
          <p:cNvSpPr>
            <a:spLocks noGrp="1"/>
          </p:cNvSpPr>
          <p:nvPr>
            <p:ph type="sldNum" sz="quarter" idx="12"/>
          </p:nvPr>
        </p:nvSpPr>
        <p:spPr/>
        <p:txBody>
          <a:bodyPr/>
          <a:lstStyle/>
          <a:p>
            <a:fld id="{D070B3ED-7B1D-4E55-9BB7-B29E7E31CCE6}" type="slidenum">
              <a:rPr lang="en-CA" smtClean="0"/>
              <a:t>15</a:t>
            </a:fld>
            <a:endParaRPr lang="en-CA"/>
          </a:p>
        </p:txBody>
      </p:sp>
      <p:pic>
        <p:nvPicPr>
          <p:cNvPr id="5" name="Picture 4"/>
          <p:cNvPicPr>
            <a:picLocks noChangeAspect="1"/>
          </p:cNvPicPr>
          <p:nvPr/>
        </p:nvPicPr>
        <p:blipFill>
          <a:blip r:embed="rId2"/>
          <a:stretch>
            <a:fillRect/>
          </a:stretch>
        </p:blipFill>
        <p:spPr>
          <a:xfrm>
            <a:off x="1906872" y="2294874"/>
            <a:ext cx="5315106" cy="3191526"/>
          </a:xfrm>
          <a:prstGeom prst="rect">
            <a:avLst/>
          </a:prstGeom>
        </p:spPr>
      </p:pic>
    </p:spTree>
    <p:extLst>
      <p:ext uri="{BB962C8B-B14F-4D97-AF65-F5344CB8AC3E}">
        <p14:creationId xmlns:p14="http://schemas.microsoft.com/office/powerpoint/2010/main" val="1253393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Inertia</a:t>
            </a:r>
            <a:endParaRPr lang="en-CA" dirty="0"/>
          </a:p>
        </p:txBody>
      </p:sp>
      <p:sp>
        <p:nvSpPr>
          <p:cNvPr id="3" name="Content Placeholder 2"/>
          <p:cNvSpPr>
            <a:spLocks noGrp="1"/>
          </p:cNvSpPr>
          <p:nvPr>
            <p:ph idx="1"/>
          </p:nvPr>
        </p:nvSpPr>
        <p:spPr/>
        <p:txBody>
          <a:bodyPr/>
          <a:lstStyle/>
          <a:p>
            <a:r>
              <a:rPr lang="en-US" dirty="0"/>
              <a:t>For any given </a:t>
            </a:r>
            <a:r>
              <a:rPr lang="en-US" i="1" dirty="0">
                <a:latin typeface="+mj-lt"/>
              </a:rPr>
              <a:t>k</a:t>
            </a:r>
            <a:r>
              <a:rPr lang="en-US" dirty="0"/>
              <a:t> the objective is to minimize inertia, which is defined as the within cluster sum of squares:</a:t>
            </a:r>
          </a:p>
          <a:p>
            <a:endParaRPr lang="en-US" dirty="0"/>
          </a:p>
          <a:p>
            <a:endParaRPr lang="en-US" dirty="0"/>
          </a:p>
          <a:p>
            <a:pPr marL="0" indent="0">
              <a:buNone/>
            </a:pPr>
            <a:r>
              <a:rPr lang="en-US" dirty="0"/>
              <a:t>   where </a:t>
            </a:r>
            <a:r>
              <a:rPr lang="en-US" i="1" dirty="0">
                <a:latin typeface="+mj-lt"/>
              </a:rPr>
              <a:t>d</a:t>
            </a:r>
            <a:r>
              <a:rPr lang="en-US" i="1" baseline="-25000" dirty="0">
                <a:latin typeface="+mj-lt"/>
              </a:rPr>
              <a:t>i</a:t>
            </a:r>
            <a:r>
              <a:rPr lang="en-US" dirty="0"/>
              <a:t> is the distance of observation </a:t>
            </a:r>
            <a:r>
              <a:rPr lang="en-US" i="1" dirty="0" err="1">
                <a:latin typeface="+mj-lt"/>
              </a:rPr>
              <a:t>i</a:t>
            </a:r>
            <a:r>
              <a:rPr lang="en-US" dirty="0">
                <a:latin typeface="+mj-lt"/>
              </a:rPr>
              <a:t> </a:t>
            </a:r>
            <a:r>
              <a:rPr lang="en-US" dirty="0"/>
              <a:t>from its cluster center</a:t>
            </a:r>
          </a:p>
          <a:p>
            <a:endParaRPr lang="en-US" dirty="0"/>
          </a:p>
          <a:p>
            <a:r>
              <a:rPr lang="en-US" dirty="0"/>
              <a:t>In practice we use the </a:t>
            </a:r>
            <a:r>
              <a:rPr lang="en-US" i="1" dirty="0"/>
              <a:t>k</a:t>
            </a:r>
            <a:r>
              <a:rPr lang="en-US" dirty="0"/>
              <a:t>-means algorithm with several different starting points and choose the result that has the smallest inertia </a:t>
            </a:r>
          </a:p>
          <a:p>
            <a:endParaRPr lang="en-US" dirty="0"/>
          </a:p>
          <a:p>
            <a:endParaRPr lang="en-US" dirty="0"/>
          </a:p>
          <a:p>
            <a:pPr marL="0" indent="0">
              <a:buNone/>
            </a:pPr>
            <a:endParaRPr lang="en-US" dirty="0"/>
          </a:p>
          <a:p>
            <a:pPr marL="0" indent="0">
              <a:buNone/>
            </a:pPr>
            <a:endParaRPr lang="en-US" dirty="0"/>
          </a:p>
          <a:p>
            <a:pPr marL="273050" indent="0">
              <a:buNone/>
            </a:pPr>
            <a:endParaRPr lang="en-US" dirty="0"/>
          </a:p>
          <a:p>
            <a:pPr marL="273050" indent="0">
              <a:buNone/>
            </a:pPr>
            <a:endParaRPr lang="en-CA" dirty="0"/>
          </a:p>
        </p:txBody>
      </p:sp>
      <p:graphicFrame>
        <p:nvGraphicFramePr>
          <p:cNvPr id="4" name="Object 3"/>
          <p:cNvGraphicFramePr>
            <a:graphicFrameLocks noChangeAspect="1"/>
          </p:cNvGraphicFramePr>
          <p:nvPr>
            <p:extLst>
              <p:ext uri="{D42A27DB-BD31-4B8C-83A1-F6EECF244321}">
                <p14:modId xmlns:p14="http://schemas.microsoft.com/office/powerpoint/2010/main" val="3349833862"/>
              </p:ext>
            </p:extLst>
          </p:nvPr>
        </p:nvGraphicFramePr>
        <p:xfrm>
          <a:off x="3491880" y="2924944"/>
          <a:ext cx="1503438" cy="719956"/>
        </p:xfrm>
        <a:graphic>
          <a:graphicData uri="http://schemas.openxmlformats.org/presentationml/2006/ole">
            <mc:AlternateContent xmlns:mc="http://schemas.openxmlformats.org/markup-compatibility/2006">
              <mc:Choice xmlns:v="urn:schemas-microsoft-com:vml" Requires="v">
                <p:oleObj name="Equation" r:id="rId2" imgW="901440" imgH="431640" progId="Equation.DSMT4">
                  <p:embed/>
                </p:oleObj>
              </mc:Choice>
              <mc:Fallback>
                <p:oleObj name="Equation" r:id="rId2" imgW="901440" imgH="431640" progId="Equation.DSMT4">
                  <p:embed/>
                  <p:pic>
                    <p:nvPicPr>
                      <p:cNvPr id="4" name="Object 3"/>
                      <p:cNvPicPr/>
                      <p:nvPr/>
                    </p:nvPicPr>
                    <p:blipFill>
                      <a:blip r:embed="rId3"/>
                      <a:stretch>
                        <a:fillRect/>
                      </a:stretch>
                    </p:blipFill>
                    <p:spPr>
                      <a:xfrm>
                        <a:off x="3491880" y="2924944"/>
                        <a:ext cx="1503438" cy="719956"/>
                      </a:xfrm>
                      <a:prstGeom prst="rect">
                        <a:avLst/>
                      </a:prstGeom>
                    </p:spPr>
                  </p:pic>
                </p:oleObj>
              </mc:Fallback>
            </mc:AlternateContent>
          </a:graphicData>
        </a:graphic>
      </p:graphicFrame>
      <p:sp>
        <p:nvSpPr>
          <p:cNvPr id="5" name="Footer Placeholder 4"/>
          <p:cNvSpPr>
            <a:spLocks noGrp="1"/>
          </p:cNvSpPr>
          <p:nvPr>
            <p:ph type="ftr" sz="quarter" idx="11"/>
          </p:nvPr>
        </p:nvSpPr>
        <p:spPr/>
        <p:txBody>
          <a:bodyPr/>
          <a:lstStyle/>
          <a:p>
            <a:r>
              <a:rPr lang="en-US"/>
              <a:t>Machine Learning and Financial Institutions, 3rd Ed.  Copyright  © John C. Hull 2021</a:t>
            </a:r>
            <a:endParaRPr lang="en-CA"/>
          </a:p>
        </p:txBody>
      </p:sp>
      <p:sp>
        <p:nvSpPr>
          <p:cNvPr id="6" name="Slide Number Placeholder 5"/>
          <p:cNvSpPr>
            <a:spLocks noGrp="1"/>
          </p:cNvSpPr>
          <p:nvPr>
            <p:ph type="sldNum" sz="quarter" idx="12"/>
          </p:nvPr>
        </p:nvSpPr>
        <p:spPr/>
        <p:txBody>
          <a:bodyPr/>
          <a:lstStyle/>
          <a:p>
            <a:fld id="{8F6C609E-065A-4A0E-A6D3-976F18D4BC33}" type="slidenum">
              <a:rPr lang="en-CA" smtClean="0"/>
              <a:t>16</a:t>
            </a:fld>
            <a:endParaRPr lang="en-CA"/>
          </a:p>
        </p:txBody>
      </p:sp>
    </p:spTree>
    <p:extLst>
      <p:ext uri="{BB962C8B-B14F-4D97-AF65-F5344CB8AC3E}">
        <p14:creationId xmlns:p14="http://schemas.microsoft.com/office/powerpoint/2010/main" val="1921810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k</a:t>
            </a:r>
            <a:endParaRPr lang="en-CA"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The elbow approach (see next slide) </a:t>
                </a:r>
              </a:p>
              <a:p>
                <a:r>
                  <a:rPr lang="en-US" dirty="0"/>
                  <a:t>The silhouette method: </a:t>
                </a:r>
              </a:p>
              <a:p>
                <a:pPr marL="342900" lvl="1" indent="0">
                  <a:buNone/>
                </a:pPr>
                <a:r>
                  <a:rPr lang="en-US" dirty="0"/>
                  <a:t>For each observation </a:t>
                </a:r>
                <a:r>
                  <a:rPr lang="en-US" i="1" dirty="0" err="1">
                    <a:latin typeface="+mj-lt"/>
                  </a:rPr>
                  <a:t>i</a:t>
                </a:r>
                <a:r>
                  <a:rPr lang="en-US" dirty="0"/>
                  <a:t> calculate </a:t>
                </a:r>
                <a:r>
                  <a:rPr lang="en-US" i="1" dirty="0">
                    <a:latin typeface="+mj-lt"/>
                  </a:rPr>
                  <a:t>a</a:t>
                </a:r>
                <a:r>
                  <a:rPr lang="en-US" dirty="0">
                    <a:latin typeface="+mj-lt"/>
                  </a:rPr>
                  <a:t>(</a:t>
                </a:r>
                <a:r>
                  <a:rPr lang="en-US" i="1" dirty="0" err="1">
                    <a:latin typeface="+mj-lt"/>
                  </a:rPr>
                  <a:t>i</a:t>
                </a:r>
                <a:r>
                  <a:rPr lang="en-US" dirty="0">
                    <a:latin typeface="+mj-lt"/>
                  </a:rPr>
                  <a:t>)</a:t>
                </a:r>
                <a:r>
                  <a:rPr lang="en-US" dirty="0"/>
                  <a:t>, the average distance from other observations in its cluster, and </a:t>
                </a:r>
                <a:r>
                  <a:rPr lang="en-US" i="1" dirty="0">
                    <a:latin typeface="+mj-lt"/>
                  </a:rPr>
                  <a:t>b</a:t>
                </a:r>
                <a:r>
                  <a:rPr lang="en-US" dirty="0">
                    <a:latin typeface="+mj-lt"/>
                  </a:rPr>
                  <a:t>(</a:t>
                </a:r>
                <a:r>
                  <a:rPr lang="en-US" i="1" dirty="0" err="1">
                    <a:latin typeface="+mj-lt"/>
                  </a:rPr>
                  <a:t>i</a:t>
                </a:r>
                <a:r>
                  <a:rPr lang="en-US" dirty="0">
                    <a:latin typeface="+mj-lt"/>
                  </a:rPr>
                  <a:t>)</a:t>
                </a:r>
                <a:r>
                  <a:rPr lang="en-US" dirty="0"/>
                  <a:t>, the average distance from observations in the closest other cluster. The silhouette score for observation </a:t>
                </a:r>
                <a:r>
                  <a:rPr lang="en-US" i="1" dirty="0" err="1">
                    <a:latin typeface="+mj-lt"/>
                  </a:rPr>
                  <a:t>i</a:t>
                </a:r>
                <a:r>
                  <a:rPr lang="en-US" i="1" dirty="0">
                    <a:latin typeface="+mj-lt"/>
                  </a:rPr>
                  <a:t>,</a:t>
                </a:r>
                <a:r>
                  <a:rPr lang="en-US" dirty="0"/>
                  <a:t> </a:t>
                </a:r>
                <a:r>
                  <a:rPr lang="en-US" i="1" dirty="0">
                    <a:latin typeface="+mj-lt"/>
                  </a:rPr>
                  <a:t>s</a:t>
                </a:r>
                <a:r>
                  <a:rPr lang="en-US" dirty="0">
                    <a:latin typeface="+mj-lt"/>
                  </a:rPr>
                  <a:t>(</a:t>
                </a:r>
                <a:r>
                  <a:rPr lang="en-US" i="1" dirty="0" err="1">
                    <a:latin typeface="+mj-lt"/>
                  </a:rPr>
                  <a:t>i</a:t>
                </a:r>
                <a:r>
                  <a:rPr lang="en-US" dirty="0">
                    <a:latin typeface="+mj-lt"/>
                  </a:rPr>
                  <a:t>)</a:t>
                </a:r>
                <a:r>
                  <a:rPr lang="en-US" dirty="0"/>
                  <a:t>, is defined as </a:t>
                </a:r>
              </a:p>
              <a:p>
                <a:pPr marL="342900" lvl="1" indent="0">
                  <a:buNone/>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𝑠</m:t>
                      </m:r>
                      <m:d>
                        <m:dPr>
                          <m:ctrlPr>
                            <a:rPr lang="en-CA" i="1">
                              <a:latin typeface="Cambria Math" panose="02040503050406030204" pitchFamily="18" charset="0"/>
                            </a:rPr>
                          </m:ctrlPr>
                        </m:dPr>
                        <m:e>
                          <m:r>
                            <a:rPr lang="en-CA" i="1">
                              <a:latin typeface="Cambria Math" panose="02040503050406030204" pitchFamily="18" charset="0"/>
                            </a:rPr>
                            <m:t>𝑖</m:t>
                          </m:r>
                        </m:e>
                      </m:d>
                      <m:r>
                        <a:rPr lang="en-CA" i="1">
                          <a:latin typeface="Cambria Math" panose="02040503050406030204" pitchFamily="18" charset="0"/>
                        </a:rPr>
                        <m:t>=</m:t>
                      </m:r>
                      <m:f>
                        <m:fPr>
                          <m:ctrlPr>
                            <a:rPr lang="en-CA" i="1">
                              <a:latin typeface="Cambria Math" panose="02040503050406030204" pitchFamily="18" charset="0"/>
                            </a:rPr>
                          </m:ctrlPr>
                        </m:fPr>
                        <m:num>
                          <m:r>
                            <a:rPr lang="en-CA" i="1">
                              <a:latin typeface="Cambria Math" panose="02040503050406030204" pitchFamily="18" charset="0"/>
                            </a:rPr>
                            <m:t>𝑏</m:t>
                          </m:r>
                          <m:d>
                            <m:dPr>
                              <m:ctrlPr>
                                <a:rPr lang="en-CA" i="1">
                                  <a:latin typeface="Cambria Math" panose="02040503050406030204" pitchFamily="18" charset="0"/>
                                </a:rPr>
                              </m:ctrlPr>
                            </m:dPr>
                            <m:e>
                              <m:r>
                                <a:rPr lang="en-CA" i="1">
                                  <a:latin typeface="Cambria Math" panose="02040503050406030204" pitchFamily="18" charset="0"/>
                                </a:rPr>
                                <m:t>𝑖</m:t>
                              </m:r>
                            </m:e>
                          </m:d>
                          <m:r>
                            <a:rPr lang="en-CA" i="1">
                              <a:latin typeface="Cambria Math" panose="02040503050406030204" pitchFamily="18" charset="0"/>
                            </a:rPr>
                            <m:t>−</m:t>
                          </m:r>
                          <m:r>
                            <a:rPr lang="en-CA" i="1">
                              <a:latin typeface="Cambria Math" panose="02040503050406030204" pitchFamily="18" charset="0"/>
                            </a:rPr>
                            <m:t>𝑎</m:t>
                          </m:r>
                          <m:r>
                            <a:rPr lang="en-CA" i="1">
                              <a:latin typeface="Cambria Math" panose="02040503050406030204" pitchFamily="18" charset="0"/>
                            </a:rPr>
                            <m:t>(</m:t>
                          </m:r>
                          <m:r>
                            <a:rPr lang="en-CA" i="1">
                              <a:latin typeface="Cambria Math" panose="02040503050406030204" pitchFamily="18" charset="0"/>
                            </a:rPr>
                            <m:t>𝑖</m:t>
                          </m:r>
                          <m:r>
                            <a:rPr lang="en-CA" i="1">
                              <a:latin typeface="Cambria Math" panose="02040503050406030204" pitchFamily="18" charset="0"/>
                            </a:rPr>
                            <m:t>)</m:t>
                          </m:r>
                        </m:num>
                        <m:den>
                          <m:func>
                            <m:funcPr>
                              <m:ctrlPr>
                                <a:rPr lang="en-CA" i="1">
                                  <a:latin typeface="Cambria Math" panose="02040503050406030204" pitchFamily="18" charset="0"/>
                                </a:rPr>
                              </m:ctrlPr>
                            </m:funcPr>
                            <m:fName>
                              <m:r>
                                <m:rPr>
                                  <m:sty m:val="p"/>
                                </m:rPr>
                                <a:rPr lang="en-CA">
                                  <a:latin typeface="Cambria Math" panose="02040503050406030204" pitchFamily="18" charset="0"/>
                                </a:rPr>
                                <m:t>max</m:t>
                              </m:r>
                            </m:fName>
                            <m:e>
                              <m:d>
                                <m:dPr>
                                  <m:begChr m:val="["/>
                                  <m:endChr m:val="]"/>
                                  <m:ctrlPr>
                                    <a:rPr lang="en-CA" i="1" smtClean="0">
                                      <a:latin typeface="Cambria Math" panose="02040503050406030204" pitchFamily="18" charset="0"/>
                                    </a:rPr>
                                  </m:ctrlPr>
                                </m:dPr>
                                <m:e>
                                  <m:r>
                                    <a:rPr lang="en-CA" i="1">
                                      <a:latin typeface="Cambria Math" panose="02040503050406030204" pitchFamily="18" charset="0"/>
                                    </a:rPr>
                                    <m:t>𝑎</m:t>
                                  </m:r>
                                  <m:r>
                                    <a:rPr lang="en-CA" i="1">
                                      <a:latin typeface="Cambria Math" panose="02040503050406030204" pitchFamily="18" charset="0"/>
                                    </a:rPr>
                                    <m:t>(</m:t>
                                  </m:r>
                                  <m:r>
                                    <a:rPr lang="en-CA" i="1">
                                      <a:latin typeface="Cambria Math" panose="02040503050406030204" pitchFamily="18" charset="0"/>
                                    </a:rPr>
                                    <m:t>𝑖</m:t>
                                  </m:r>
                                  <m:r>
                                    <a:rPr lang="en-CA" i="1">
                                      <a:latin typeface="Cambria Math" panose="02040503050406030204" pitchFamily="18" charset="0"/>
                                    </a:rPr>
                                    <m:t>),</m:t>
                                  </m:r>
                                  <m:r>
                                    <a:rPr lang="en-CA" i="1">
                                      <a:latin typeface="Cambria Math" panose="02040503050406030204" pitchFamily="18" charset="0"/>
                                    </a:rPr>
                                    <m:t>𝑏</m:t>
                                  </m:r>
                                  <m:r>
                                    <a:rPr lang="en-CA" i="1">
                                      <a:latin typeface="Cambria Math" panose="02040503050406030204" pitchFamily="18" charset="0"/>
                                    </a:rPr>
                                    <m:t>(</m:t>
                                  </m:r>
                                  <m:r>
                                    <a:rPr lang="en-CA" i="1">
                                      <a:latin typeface="Cambria Math" panose="02040503050406030204" pitchFamily="18" charset="0"/>
                                    </a:rPr>
                                    <m:t>𝑖</m:t>
                                  </m:r>
                                  <m:r>
                                    <a:rPr lang="en-CA" i="1">
                                      <a:latin typeface="Cambria Math" panose="02040503050406030204" pitchFamily="18" charset="0"/>
                                    </a:rPr>
                                    <m:t>)</m:t>
                                  </m:r>
                                </m:e>
                              </m:d>
                            </m:e>
                          </m:func>
                        </m:den>
                      </m:f>
                    </m:oMath>
                  </m:oMathPara>
                </a14:m>
                <a:endParaRPr lang="en-CA" dirty="0"/>
              </a:p>
              <a:p>
                <a:pPr marL="352425" lvl="1" indent="0">
                  <a:buNone/>
                  <a:tabLst>
                    <a:tab pos="546100" algn="l"/>
                  </a:tabLst>
                </a:pPr>
                <a:r>
                  <a:rPr lang="en-US" dirty="0"/>
                  <a:t>Choose the number of clusters that maximizes the average silhouette score across all observations   </a:t>
                </a:r>
              </a:p>
              <a:p>
                <a:r>
                  <a:rPr lang="en-US" dirty="0"/>
                  <a:t>Use the gap statistic which compares the within cluster sum of squares with what would be expected with random data</a:t>
                </a: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889" r="-1725"/>
                </a:stretch>
              </a:blipFill>
            </p:spPr>
            <p:txBody>
              <a:bodyPr/>
              <a:lstStyle/>
              <a:p>
                <a:r>
                  <a:rPr lang="en-CA">
                    <a:noFill/>
                  </a:rPr>
                  <a:t> </a:t>
                </a:r>
              </a:p>
            </p:txBody>
          </p:sp>
        </mc:Fallback>
      </mc:AlternateContent>
      <p:sp>
        <p:nvSpPr>
          <p:cNvPr id="4" name="Footer Placeholder 3"/>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p:cNvSpPr>
            <a:spLocks noGrp="1"/>
          </p:cNvSpPr>
          <p:nvPr>
            <p:ph type="sldNum" sz="quarter" idx="12"/>
          </p:nvPr>
        </p:nvSpPr>
        <p:spPr/>
        <p:txBody>
          <a:bodyPr/>
          <a:lstStyle/>
          <a:p>
            <a:fld id="{8F6C609E-065A-4A0E-A6D3-976F18D4BC33}" type="slidenum">
              <a:rPr lang="en-CA" smtClean="0"/>
              <a:t>17</a:t>
            </a:fld>
            <a:endParaRPr lang="en-CA"/>
          </a:p>
        </p:txBody>
      </p:sp>
    </p:spTree>
    <p:extLst>
      <p:ext uri="{BB962C8B-B14F-4D97-AF65-F5344CB8AC3E}">
        <p14:creationId xmlns:p14="http://schemas.microsoft.com/office/powerpoint/2010/main" val="1560697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elbow method </a:t>
            </a:r>
            <a:r>
              <a:rPr lang="en-US" sz="2400" dirty="0"/>
              <a:t>(In this example k=4 is suggested)</a:t>
            </a:r>
            <a:endParaRPr lang="en-CA" sz="2400"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5656" y="1988840"/>
            <a:ext cx="6336703" cy="3960440"/>
          </a:xfrm>
          <a:prstGeom prst="rect">
            <a:avLst/>
          </a:prstGeom>
          <a:noFill/>
          <a:ln>
            <a:noFill/>
          </a:ln>
        </p:spPr>
      </p:pic>
      <p:sp>
        <p:nvSpPr>
          <p:cNvPr id="3" name="Footer Placeholder 2"/>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p:cNvSpPr>
            <a:spLocks noGrp="1"/>
          </p:cNvSpPr>
          <p:nvPr>
            <p:ph type="sldNum" sz="quarter" idx="12"/>
          </p:nvPr>
        </p:nvSpPr>
        <p:spPr/>
        <p:txBody>
          <a:bodyPr/>
          <a:lstStyle/>
          <a:p>
            <a:fld id="{8F6C609E-065A-4A0E-A6D3-976F18D4BC33}" type="slidenum">
              <a:rPr lang="en-CA" smtClean="0"/>
              <a:t>18</a:t>
            </a:fld>
            <a:endParaRPr lang="en-CA"/>
          </a:p>
        </p:txBody>
      </p:sp>
    </p:spTree>
    <p:extLst>
      <p:ext uri="{BB962C8B-B14F-4D97-AF65-F5344CB8AC3E}">
        <p14:creationId xmlns:p14="http://schemas.microsoft.com/office/powerpoint/2010/main" val="2366947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Curse of Dimensionality (page 33)</a:t>
            </a:r>
            <a:endParaRPr lang="en-CA" dirty="0"/>
          </a:p>
        </p:txBody>
      </p:sp>
      <p:sp>
        <p:nvSpPr>
          <p:cNvPr id="3" name="Content Placeholder 2"/>
          <p:cNvSpPr>
            <a:spLocks noGrp="1"/>
          </p:cNvSpPr>
          <p:nvPr>
            <p:ph idx="1"/>
          </p:nvPr>
        </p:nvSpPr>
        <p:spPr/>
        <p:txBody>
          <a:bodyPr/>
          <a:lstStyle/>
          <a:p>
            <a:r>
              <a:rPr lang="en-US" dirty="0"/>
              <a:t>The Euclidean distance measure increases as the number of features increase.</a:t>
            </a:r>
          </a:p>
          <a:p>
            <a:r>
              <a:rPr lang="en-US" dirty="0"/>
              <a:t>This is referred to as the curse of dimensionality</a:t>
            </a:r>
          </a:p>
          <a:p>
            <a:r>
              <a:rPr lang="en-US" dirty="0"/>
              <a:t>Consider two observations that have values for feature </a:t>
            </a:r>
            <a:r>
              <a:rPr lang="en-US" i="1" dirty="0"/>
              <a:t>j</a:t>
            </a:r>
            <a:r>
              <a:rPr lang="en-US" dirty="0"/>
              <a:t> equal to </a:t>
            </a:r>
            <a:r>
              <a:rPr lang="en-US" i="1" dirty="0" err="1"/>
              <a:t>x</a:t>
            </a:r>
            <a:r>
              <a:rPr lang="en-US" i="1" baseline="-25000" dirty="0" err="1"/>
              <a:t>j</a:t>
            </a:r>
            <a:r>
              <a:rPr lang="en-US" dirty="0"/>
              <a:t> and </a:t>
            </a:r>
            <a:r>
              <a:rPr lang="en-US" i="1" dirty="0" err="1"/>
              <a:t>y</a:t>
            </a:r>
            <a:r>
              <a:rPr lang="en-US" i="1" baseline="-25000" dirty="0" err="1"/>
              <a:t>j</a:t>
            </a:r>
            <a:r>
              <a:rPr lang="en-US" dirty="0"/>
              <a:t>.  An alternative distance measure that always lies between 0 and 2 is</a:t>
            </a:r>
          </a:p>
          <a:p>
            <a:pPr marL="0" indent="0">
              <a:buNone/>
            </a:pP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2412040640"/>
              </p:ext>
            </p:extLst>
          </p:nvPr>
        </p:nvGraphicFramePr>
        <p:xfrm>
          <a:off x="2699792" y="4581128"/>
          <a:ext cx="2942074" cy="1414458"/>
        </p:xfrm>
        <a:graphic>
          <a:graphicData uri="http://schemas.openxmlformats.org/presentationml/2006/ole">
            <mc:AlternateContent xmlns:mc="http://schemas.openxmlformats.org/markup-compatibility/2006">
              <mc:Choice xmlns:v="urn:schemas-microsoft-com:vml" Requires="v">
                <p:oleObj name="Equation" r:id="rId2" imgW="1320480" imgH="634680" progId="Equation.DSMT4">
                  <p:embed/>
                </p:oleObj>
              </mc:Choice>
              <mc:Fallback>
                <p:oleObj name="Equation" r:id="rId2" imgW="1320480" imgH="634680" progId="Equation.DSMT4">
                  <p:embed/>
                  <p:pic>
                    <p:nvPicPr>
                      <p:cNvPr id="4" name="Object 3"/>
                      <p:cNvPicPr/>
                      <p:nvPr/>
                    </p:nvPicPr>
                    <p:blipFill>
                      <a:blip r:embed="rId3"/>
                      <a:stretch>
                        <a:fillRect/>
                      </a:stretch>
                    </p:blipFill>
                    <p:spPr>
                      <a:xfrm>
                        <a:off x="2699792" y="4581128"/>
                        <a:ext cx="2942074" cy="1414458"/>
                      </a:xfrm>
                      <a:prstGeom prst="rect">
                        <a:avLst/>
                      </a:prstGeom>
                    </p:spPr>
                  </p:pic>
                </p:oleObj>
              </mc:Fallback>
            </mc:AlternateContent>
          </a:graphicData>
        </a:graphic>
      </p:graphicFrame>
      <p:sp>
        <p:nvSpPr>
          <p:cNvPr id="5" name="Footer Placeholder 4"/>
          <p:cNvSpPr>
            <a:spLocks noGrp="1"/>
          </p:cNvSpPr>
          <p:nvPr>
            <p:ph type="ftr" sz="quarter" idx="11"/>
          </p:nvPr>
        </p:nvSpPr>
        <p:spPr/>
        <p:txBody>
          <a:bodyPr/>
          <a:lstStyle/>
          <a:p>
            <a:r>
              <a:rPr lang="en-US"/>
              <a:t>Machine Learning and Financial Institutions, 3rd Ed.  Copyright  © John C. Hull 2021</a:t>
            </a:r>
            <a:endParaRPr lang="en-CA"/>
          </a:p>
        </p:txBody>
      </p:sp>
      <p:sp>
        <p:nvSpPr>
          <p:cNvPr id="6" name="Slide Number Placeholder 5"/>
          <p:cNvSpPr>
            <a:spLocks noGrp="1"/>
          </p:cNvSpPr>
          <p:nvPr>
            <p:ph type="sldNum" sz="quarter" idx="12"/>
          </p:nvPr>
        </p:nvSpPr>
        <p:spPr/>
        <p:txBody>
          <a:bodyPr/>
          <a:lstStyle/>
          <a:p>
            <a:fld id="{8F6C609E-065A-4A0E-A6D3-976F18D4BC33}" type="slidenum">
              <a:rPr lang="en-CA" smtClean="0"/>
              <a:t>19</a:t>
            </a:fld>
            <a:endParaRPr lang="en-CA"/>
          </a:p>
        </p:txBody>
      </p:sp>
    </p:spTree>
    <p:extLst>
      <p:ext uri="{BB962C8B-B14F-4D97-AF65-F5344CB8AC3E}">
        <p14:creationId xmlns:p14="http://schemas.microsoft.com/office/powerpoint/2010/main" val="3018262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Country Risk Case</a:t>
            </a:r>
          </a:p>
        </p:txBody>
      </p:sp>
      <p:sp>
        <p:nvSpPr>
          <p:cNvPr id="3" name="Content Placeholder 2"/>
          <p:cNvSpPr>
            <a:spLocks noGrp="1"/>
          </p:cNvSpPr>
          <p:nvPr>
            <p:ph idx="1"/>
          </p:nvPr>
        </p:nvSpPr>
        <p:spPr/>
        <p:txBody>
          <a:bodyPr/>
          <a:lstStyle/>
          <a:p>
            <a:pPr marL="0" indent="0">
              <a:buNone/>
            </a:pPr>
            <a:r>
              <a:rPr lang="en-CA" dirty="0"/>
              <a:t>Objective is to cluster countries according to their riskiness for foreign investment using 2019 data</a:t>
            </a:r>
          </a:p>
          <a:p>
            <a:pPr marL="0" indent="0">
              <a:buNone/>
            </a:pPr>
            <a:endParaRPr lang="en-CA" dirty="0"/>
          </a:p>
          <a:p>
            <a:pPr marL="0" indent="0">
              <a:buNone/>
            </a:pPr>
            <a:r>
              <a:rPr lang="en-CA" dirty="0"/>
              <a:t>Measures of Country Risk</a:t>
            </a:r>
          </a:p>
          <a:p>
            <a:r>
              <a:rPr lang="en-CA" dirty="0"/>
              <a:t>GDP real growth rate (IMF)</a:t>
            </a:r>
          </a:p>
          <a:p>
            <a:r>
              <a:rPr lang="en-CA" dirty="0"/>
              <a:t>Corruption index (Transparency international)</a:t>
            </a:r>
          </a:p>
          <a:p>
            <a:r>
              <a:rPr lang="en-CA" dirty="0"/>
              <a:t>Peace index (Institute for Economics and Peace)</a:t>
            </a:r>
          </a:p>
          <a:p>
            <a:r>
              <a:rPr lang="en-CA" dirty="0"/>
              <a:t>Legal Risk Index (Property Rights Association)</a:t>
            </a:r>
          </a:p>
          <a:p>
            <a:pPr marL="0" indent="0">
              <a:buNone/>
            </a:pPr>
            <a:endParaRPr lang="en-CA" dirty="0"/>
          </a:p>
          <a:p>
            <a:pPr marL="0" indent="0">
              <a:buNone/>
            </a:pPr>
            <a:r>
              <a:rPr lang="en-CA" dirty="0"/>
              <a:t>Collected data on 121 countries. Used Z-score scaling.</a:t>
            </a:r>
          </a:p>
          <a:p>
            <a:pPr marL="0" indent="0">
              <a:buNone/>
            </a:pPr>
            <a:endParaRPr lang="en-CA" dirty="0"/>
          </a:p>
          <a:p>
            <a:pPr marL="0" indent="0">
              <a:buNone/>
            </a:pPr>
            <a:endParaRPr lang="en-CA" dirty="0"/>
          </a:p>
          <a:p>
            <a:pPr marL="0" indent="0">
              <a:buNone/>
            </a:pPr>
            <a:endParaRPr lang="en-CA" dirty="0"/>
          </a:p>
          <a:p>
            <a:endParaRPr lang="en-CA" dirty="0"/>
          </a:p>
          <a:p>
            <a:pPr marL="0" indent="0">
              <a:buNone/>
            </a:pPr>
            <a:endParaRPr lang="en-CA" dirty="0"/>
          </a:p>
        </p:txBody>
      </p:sp>
      <p:sp>
        <p:nvSpPr>
          <p:cNvPr id="4" name="Footer Placeholder 3"/>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20</a:t>
            </a:fld>
            <a:endParaRPr lang="en-CA"/>
          </a:p>
        </p:txBody>
      </p:sp>
    </p:spTree>
    <p:extLst>
      <p:ext uri="{BB962C8B-B14F-4D97-AF65-F5344CB8AC3E}">
        <p14:creationId xmlns:p14="http://schemas.microsoft.com/office/powerpoint/2010/main" val="2514416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F566E-43A9-498B-B2CA-D89786FABDA2}"/>
              </a:ext>
            </a:extLst>
          </p:cNvPr>
          <p:cNvSpPr>
            <a:spLocks noGrp="1"/>
          </p:cNvSpPr>
          <p:nvPr>
            <p:ph type="title"/>
          </p:nvPr>
        </p:nvSpPr>
        <p:spPr/>
        <p:txBody>
          <a:bodyPr/>
          <a:lstStyle/>
          <a:p>
            <a:r>
              <a:rPr lang="en-CA" dirty="0"/>
              <a:t>Part of Original Data (Table 2.2)</a:t>
            </a:r>
          </a:p>
        </p:txBody>
      </p:sp>
      <p:sp>
        <p:nvSpPr>
          <p:cNvPr id="3" name="Footer Placeholder 2">
            <a:extLst>
              <a:ext uri="{FF2B5EF4-FFF2-40B4-BE49-F238E27FC236}">
                <a16:creationId xmlns:a16="http://schemas.microsoft.com/office/drawing/2014/main" id="{EC4BCA92-D957-4187-B5B5-C5C5BC195FEC}"/>
              </a:ext>
            </a:extLst>
          </p:cNvPr>
          <p:cNvSpPr>
            <a:spLocks noGrp="1"/>
          </p:cNvSpPr>
          <p:nvPr>
            <p:ph type="ftr" sz="quarter" idx="11"/>
          </p:nvPr>
        </p:nvSpPr>
        <p:spPr/>
        <p:txBody>
          <a:bodyPr/>
          <a:lstStyle/>
          <a:p>
            <a:r>
              <a:rPr lang="en-US"/>
              <a:t>Machine Learning and Financial Institutions, 3rd Ed.  Copyright  © John C. Hull 2021</a:t>
            </a:r>
            <a:endParaRPr lang="en-CA" dirty="0"/>
          </a:p>
        </p:txBody>
      </p:sp>
      <p:sp>
        <p:nvSpPr>
          <p:cNvPr id="4" name="Slide Number Placeholder 3">
            <a:extLst>
              <a:ext uri="{FF2B5EF4-FFF2-40B4-BE49-F238E27FC236}">
                <a16:creationId xmlns:a16="http://schemas.microsoft.com/office/drawing/2014/main" id="{1B4473C1-0DE7-4F22-B354-7E73C875DB4E}"/>
              </a:ext>
            </a:extLst>
          </p:cNvPr>
          <p:cNvSpPr>
            <a:spLocks noGrp="1"/>
          </p:cNvSpPr>
          <p:nvPr>
            <p:ph type="sldNum" sz="quarter" idx="12"/>
          </p:nvPr>
        </p:nvSpPr>
        <p:spPr/>
        <p:txBody>
          <a:bodyPr/>
          <a:lstStyle/>
          <a:p>
            <a:fld id="{8F6C609E-065A-4A0E-A6D3-976F18D4BC33}" type="slidenum">
              <a:rPr lang="en-CA" smtClean="0"/>
              <a:t>21</a:t>
            </a:fld>
            <a:endParaRPr lang="en-CA"/>
          </a:p>
        </p:txBody>
      </p:sp>
      <p:graphicFrame>
        <p:nvGraphicFramePr>
          <p:cNvPr id="7" name="Table 7">
            <a:extLst>
              <a:ext uri="{FF2B5EF4-FFF2-40B4-BE49-F238E27FC236}">
                <a16:creationId xmlns:a16="http://schemas.microsoft.com/office/drawing/2014/main" id="{DF554B8A-DCBF-41EE-A52B-C99BB8A16C73}"/>
              </a:ext>
            </a:extLst>
          </p:cNvPr>
          <p:cNvGraphicFramePr>
            <a:graphicFrameLocks noGrp="1"/>
          </p:cNvGraphicFramePr>
          <p:nvPr>
            <p:extLst>
              <p:ext uri="{D42A27DB-BD31-4B8C-83A1-F6EECF244321}">
                <p14:modId xmlns:p14="http://schemas.microsoft.com/office/powerpoint/2010/main" val="1836571223"/>
              </p:ext>
            </p:extLst>
          </p:nvPr>
        </p:nvGraphicFramePr>
        <p:xfrm>
          <a:off x="1084262" y="2276872"/>
          <a:ext cx="6512075" cy="2727960"/>
        </p:xfrm>
        <a:graphic>
          <a:graphicData uri="http://schemas.openxmlformats.org/drawingml/2006/table">
            <a:tbl>
              <a:tblPr firstRow="1" bandRow="1">
                <a:tableStyleId>{5940675A-B579-460E-94D1-54222C63F5DA}</a:tableStyleId>
              </a:tblPr>
              <a:tblGrid>
                <a:gridCol w="1302415">
                  <a:extLst>
                    <a:ext uri="{9D8B030D-6E8A-4147-A177-3AD203B41FA5}">
                      <a16:colId xmlns:a16="http://schemas.microsoft.com/office/drawing/2014/main" val="1357698104"/>
                    </a:ext>
                  </a:extLst>
                </a:gridCol>
                <a:gridCol w="1302415">
                  <a:extLst>
                    <a:ext uri="{9D8B030D-6E8A-4147-A177-3AD203B41FA5}">
                      <a16:colId xmlns:a16="http://schemas.microsoft.com/office/drawing/2014/main" val="2473340240"/>
                    </a:ext>
                  </a:extLst>
                </a:gridCol>
                <a:gridCol w="1302415">
                  <a:extLst>
                    <a:ext uri="{9D8B030D-6E8A-4147-A177-3AD203B41FA5}">
                      <a16:colId xmlns:a16="http://schemas.microsoft.com/office/drawing/2014/main" val="2265009712"/>
                    </a:ext>
                  </a:extLst>
                </a:gridCol>
                <a:gridCol w="1092661">
                  <a:extLst>
                    <a:ext uri="{9D8B030D-6E8A-4147-A177-3AD203B41FA5}">
                      <a16:colId xmlns:a16="http://schemas.microsoft.com/office/drawing/2014/main" val="1795290759"/>
                    </a:ext>
                  </a:extLst>
                </a:gridCol>
                <a:gridCol w="1512169">
                  <a:extLst>
                    <a:ext uri="{9D8B030D-6E8A-4147-A177-3AD203B41FA5}">
                      <a16:colId xmlns:a16="http://schemas.microsoft.com/office/drawing/2014/main" val="1057989994"/>
                    </a:ext>
                  </a:extLst>
                </a:gridCol>
              </a:tblGrid>
              <a:tr h="370840">
                <a:tc>
                  <a:txBody>
                    <a:bodyPr/>
                    <a:lstStyle/>
                    <a:p>
                      <a:r>
                        <a:rPr lang="en-CA" i="0" dirty="0"/>
                        <a:t>Country</a:t>
                      </a:r>
                    </a:p>
                  </a:txBody>
                  <a:tcPr/>
                </a:tc>
                <a:tc>
                  <a:txBody>
                    <a:bodyPr/>
                    <a:lstStyle/>
                    <a:p>
                      <a:pPr algn="ctr"/>
                      <a:r>
                        <a:rPr lang="en-CA" i="0" dirty="0"/>
                        <a:t>Corruption Index</a:t>
                      </a:r>
                    </a:p>
                  </a:txBody>
                  <a:tcPr/>
                </a:tc>
                <a:tc>
                  <a:txBody>
                    <a:bodyPr/>
                    <a:lstStyle/>
                    <a:p>
                      <a:pPr algn="ctr"/>
                      <a:r>
                        <a:rPr lang="en-CA" i="0" dirty="0"/>
                        <a:t>Peace Index</a:t>
                      </a:r>
                    </a:p>
                  </a:txBody>
                  <a:tcPr/>
                </a:tc>
                <a:tc>
                  <a:txBody>
                    <a:bodyPr/>
                    <a:lstStyle/>
                    <a:p>
                      <a:pPr algn="ctr"/>
                      <a:r>
                        <a:rPr lang="en-CA" i="0" dirty="0"/>
                        <a:t>Legal Risk Index</a:t>
                      </a:r>
                    </a:p>
                  </a:txBody>
                  <a:tcPr/>
                </a:tc>
                <a:tc>
                  <a:txBody>
                    <a:bodyPr/>
                    <a:lstStyle/>
                    <a:p>
                      <a:pPr algn="ctr"/>
                      <a:r>
                        <a:rPr lang="en-CA" i="0" dirty="0"/>
                        <a:t>Real GDP growth rate (% per </a:t>
                      </a:r>
                      <a:r>
                        <a:rPr lang="en-CA" i="0" dirty="0" err="1"/>
                        <a:t>yr</a:t>
                      </a:r>
                      <a:r>
                        <a:rPr lang="en-CA" i="0" dirty="0"/>
                        <a:t>)</a:t>
                      </a:r>
                    </a:p>
                  </a:txBody>
                  <a:tcPr/>
                </a:tc>
                <a:extLst>
                  <a:ext uri="{0D108BD9-81ED-4DB2-BD59-A6C34878D82A}">
                    <a16:rowId xmlns:a16="http://schemas.microsoft.com/office/drawing/2014/main" val="4164962930"/>
                  </a:ext>
                </a:extLst>
              </a:tr>
              <a:tr h="370840">
                <a:tc>
                  <a:txBody>
                    <a:bodyPr/>
                    <a:lstStyle/>
                    <a:p>
                      <a:r>
                        <a:rPr lang="en-CA" dirty="0"/>
                        <a:t>Albania</a:t>
                      </a:r>
                    </a:p>
                  </a:txBody>
                  <a:tcPr/>
                </a:tc>
                <a:tc>
                  <a:txBody>
                    <a:bodyPr/>
                    <a:lstStyle/>
                    <a:p>
                      <a:pPr algn="ctr"/>
                      <a:r>
                        <a:rPr lang="en-CA" dirty="0"/>
                        <a:t>35</a:t>
                      </a:r>
                    </a:p>
                  </a:txBody>
                  <a:tcPr/>
                </a:tc>
                <a:tc>
                  <a:txBody>
                    <a:bodyPr/>
                    <a:lstStyle/>
                    <a:p>
                      <a:pPr algn="ctr"/>
                      <a:r>
                        <a:rPr lang="en-CA" dirty="0"/>
                        <a:t>1.821</a:t>
                      </a:r>
                    </a:p>
                  </a:txBody>
                  <a:tcPr/>
                </a:tc>
                <a:tc>
                  <a:txBody>
                    <a:bodyPr/>
                    <a:lstStyle/>
                    <a:p>
                      <a:pPr algn="ctr"/>
                      <a:r>
                        <a:rPr lang="en-CA" dirty="0"/>
                        <a:t>4.546</a:t>
                      </a:r>
                    </a:p>
                  </a:txBody>
                  <a:tcPr/>
                </a:tc>
                <a:tc>
                  <a:txBody>
                    <a:bodyPr/>
                    <a:lstStyle/>
                    <a:p>
                      <a:pPr algn="ctr"/>
                      <a:r>
                        <a:rPr lang="en-CA" dirty="0"/>
                        <a:t>2.983</a:t>
                      </a:r>
                    </a:p>
                  </a:txBody>
                  <a:tcPr/>
                </a:tc>
                <a:extLst>
                  <a:ext uri="{0D108BD9-81ED-4DB2-BD59-A6C34878D82A}">
                    <a16:rowId xmlns:a16="http://schemas.microsoft.com/office/drawing/2014/main" val="412258833"/>
                  </a:ext>
                </a:extLst>
              </a:tr>
              <a:tr h="370840">
                <a:tc>
                  <a:txBody>
                    <a:bodyPr/>
                    <a:lstStyle/>
                    <a:p>
                      <a:r>
                        <a:rPr lang="en-CA" dirty="0"/>
                        <a:t>Algeria</a:t>
                      </a:r>
                    </a:p>
                  </a:txBody>
                  <a:tcPr/>
                </a:tc>
                <a:tc>
                  <a:txBody>
                    <a:bodyPr/>
                    <a:lstStyle/>
                    <a:p>
                      <a:pPr algn="ctr"/>
                      <a:r>
                        <a:rPr lang="en-CA" dirty="0"/>
                        <a:t>35</a:t>
                      </a:r>
                    </a:p>
                  </a:txBody>
                  <a:tcPr/>
                </a:tc>
                <a:tc>
                  <a:txBody>
                    <a:bodyPr/>
                    <a:lstStyle/>
                    <a:p>
                      <a:pPr algn="ctr"/>
                      <a:r>
                        <a:rPr lang="en-CA" dirty="0"/>
                        <a:t>2.219</a:t>
                      </a:r>
                    </a:p>
                  </a:txBody>
                  <a:tcPr/>
                </a:tc>
                <a:tc>
                  <a:txBody>
                    <a:bodyPr/>
                    <a:lstStyle/>
                    <a:p>
                      <a:pPr algn="ctr"/>
                      <a:r>
                        <a:rPr lang="en-CA" dirty="0"/>
                        <a:t>4.435</a:t>
                      </a:r>
                    </a:p>
                  </a:txBody>
                  <a:tcPr/>
                </a:tc>
                <a:tc>
                  <a:txBody>
                    <a:bodyPr/>
                    <a:lstStyle/>
                    <a:p>
                      <a:pPr algn="ctr"/>
                      <a:r>
                        <a:rPr lang="en-CA" dirty="0"/>
                        <a:t>2.553</a:t>
                      </a:r>
                    </a:p>
                  </a:txBody>
                  <a:tcPr/>
                </a:tc>
                <a:extLst>
                  <a:ext uri="{0D108BD9-81ED-4DB2-BD59-A6C34878D82A}">
                    <a16:rowId xmlns:a16="http://schemas.microsoft.com/office/drawing/2014/main" val="2284388203"/>
                  </a:ext>
                </a:extLst>
              </a:tr>
              <a:tr h="370840">
                <a:tc>
                  <a:txBody>
                    <a:bodyPr/>
                    <a:lstStyle/>
                    <a:p>
                      <a:r>
                        <a:rPr lang="en-CA" dirty="0"/>
                        <a:t>Argentina</a:t>
                      </a:r>
                    </a:p>
                  </a:txBody>
                  <a:tcPr/>
                </a:tc>
                <a:tc>
                  <a:txBody>
                    <a:bodyPr/>
                    <a:lstStyle/>
                    <a:p>
                      <a:pPr algn="ctr"/>
                      <a:r>
                        <a:rPr lang="en-CA" dirty="0"/>
                        <a:t>45</a:t>
                      </a:r>
                    </a:p>
                  </a:txBody>
                  <a:tcPr/>
                </a:tc>
                <a:tc>
                  <a:txBody>
                    <a:bodyPr/>
                    <a:lstStyle/>
                    <a:p>
                      <a:pPr algn="ctr"/>
                      <a:r>
                        <a:rPr lang="en-CA" dirty="0"/>
                        <a:t>1.989</a:t>
                      </a:r>
                    </a:p>
                  </a:txBody>
                  <a:tcPr/>
                </a:tc>
                <a:tc>
                  <a:txBody>
                    <a:bodyPr/>
                    <a:lstStyle/>
                    <a:p>
                      <a:pPr algn="ctr"/>
                      <a:r>
                        <a:rPr lang="en-CA" dirty="0"/>
                        <a:t>5.087</a:t>
                      </a:r>
                    </a:p>
                  </a:txBody>
                  <a:tcPr/>
                </a:tc>
                <a:tc>
                  <a:txBody>
                    <a:bodyPr/>
                    <a:lstStyle/>
                    <a:p>
                      <a:pPr algn="l"/>
                      <a:r>
                        <a:rPr lang="en-US" sz="1400" dirty="0">
                          <a:effectLst/>
                          <a:latin typeface="Arial" panose="020B0604020202020204" pitchFamily="34" charset="0"/>
                          <a:cs typeface="Arial" panose="020B0604020202020204" pitchFamily="34" charset="0"/>
                        </a:rPr>
                        <a:t>       −3.061</a:t>
                      </a:r>
                      <a:endParaRPr lang="en-CA" dirty="0"/>
                    </a:p>
                  </a:txBody>
                  <a:tcPr/>
                </a:tc>
                <a:extLst>
                  <a:ext uri="{0D108BD9-81ED-4DB2-BD59-A6C34878D82A}">
                    <a16:rowId xmlns:a16="http://schemas.microsoft.com/office/drawing/2014/main" val="2045717651"/>
                  </a:ext>
                </a:extLst>
              </a:tr>
              <a:tr h="370840">
                <a:tc>
                  <a:txBody>
                    <a:bodyPr/>
                    <a:lstStyle/>
                    <a:p>
                      <a:r>
                        <a:rPr lang="en-CA" dirty="0"/>
                        <a:t>Armenia</a:t>
                      </a:r>
                    </a:p>
                  </a:txBody>
                  <a:tcPr/>
                </a:tc>
                <a:tc>
                  <a:txBody>
                    <a:bodyPr/>
                    <a:lstStyle/>
                    <a:p>
                      <a:pPr algn="ctr"/>
                      <a:r>
                        <a:rPr lang="en-CA" dirty="0"/>
                        <a:t>42</a:t>
                      </a:r>
                    </a:p>
                  </a:txBody>
                  <a:tcPr/>
                </a:tc>
                <a:tc>
                  <a:txBody>
                    <a:bodyPr/>
                    <a:lstStyle/>
                    <a:p>
                      <a:pPr algn="ctr"/>
                      <a:r>
                        <a:rPr lang="en-CA" dirty="0"/>
                        <a:t>2.294</a:t>
                      </a:r>
                    </a:p>
                  </a:txBody>
                  <a:tcPr/>
                </a:tc>
                <a:tc>
                  <a:txBody>
                    <a:bodyPr/>
                    <a:lstStyle/>
                    <a:p>
                      <a:pPr algn="ctr"/>
                      <a:r>
                        <a:rPr lang="en-CA" dirty="0"/>
                        <a:t>4.812</a:t>
                      </a:r>
                    </a:p>
                  </a:txBody>
                  <a:tcPr/>
                </a:tc>
                <a:tc>
                  <a:txBody>
                    <a:bodyPr/>
                    <a:lstStyle/>
                    <a:p>
                      <a:pPr algn="ctr"/>
                      <a:r>
                        <a:rPr lang="en-CA" dirty="0"/>
                        <a:t>6.000</a:t>
                      </a:r>
                    </a:p>
                  </a:txBody>
                  <a:tcPr/>
                </a:tc>
                <a:extLst>
                  <a:ext uri="{0D108BD9-81ED-4DB2-BD59-A6C34878D82A}">
                    <a16:rowId xmlns:a16="http://schemas.microsoft.com/office/drawing/2014/main" val="3683951492"/>
                  </a:ext>
                </a:extLst>
              </a:tr>
              <a:tr h="370840">
                <a:tc>
                  <a:txBody>
                    <a:bodyPr/>
                    <a:lstStyle/>
                    <a:p>
                      <a:r>
                        <a:rPr lang="en-CA" dirty="0"/>
                        <a:t>Australia</a:t>
                      </a:r>
                    </a:p>
                  </a:txBody>
                  <a:tcPr/>
                </a:tc>
                <a:tc>
                  <a:txBody>
                    <a:bodyPr/>
                    <a:lstStyle/>
                    <a:p>
                      <a:pPr algn="ctr"/>
                      <a:r>
                        <a:rPr lang="en-CA" dirty="0"/>
                        <a:t>77</a:t>
                      </a:r>
                    </a:p>
                  </a:txBody>
                  <a:tcPr/>
                </a:tc>
                <a:tc>
                  <a:txBody>
                    <a:bodyPr/>
                    <a:lstStyle/>
                    <a:p>
                      <a:pPr algn="ctr"/>
                      <a:r>
                        <a:rPr lang="en-CA" dirty="0"/>
                        <a:t>1.419</a:t>
                      </a:r>
                    </a:p>
                  </a:txBody>
                  <a:tcPr/>
                </a:tc>
                <a:tc>
                  <a:txBody>
                    <a:bodyPr/>
                    <a:lstStyle/>
                    <a:p>
                      <a:pPr algn="ctr"/>
                      <a:r>
                        <a:rPr lang="en-CA" dirty="0"/>
                        <a:t>8.363</a:t>
                      </a:r>
                    </a:p>
                  </a:txBody>
                  <a:tcPr/>
                </a:tc>
                <a:tc>
                  <a:txBody>
                    <a:bodyPr/>
                    <a:lstStyle/>
                    <a:p>
                      <a:pPr algn="ctr"/>
                      <a:r>
                        <a:rPr lang="en-CA" dirty="0"/>
                        <a:t>1.713</a:t>
                      </a:r>
                    </a:p>
                  </a:txBody>
                  <a:tcPr/>
                </a:tc>
                <a:extLst>
                  <a:ext uri="{0D108BD9-81ED-4DB2-BD59-A6C34878D82A}">
                    <a16:rowId xmlns:a16="http://schemas.microsoft.com/office/drawing/2014/main" val="2341298024"/>
                  </a:ext>
                </a:extLst>
              </a:tr>
              <a:tr h="370840">
                <a:tc>
                  <a:txBody>
                    <a:bodyPr/>
                    <a:lstStyle/>
                    <a:p>
                      <a:r>
                        <a:rPr lang="en-CA" dirty="0"/>
                        <a:t>Austria</a:t>
                      </a:r>
                    </a:p>
                  </a:txBody>
                  <a:tcPr/>
                </a:tc>
                <a:tc>
                  <a:txBody>
                    <a:bodyPr/>
                    <a:lstStyle/>
                    <a:p>
                      <a:pPr algn="ctr"/>
                      <a:r>
                        <a:rPr lang="en-CA" dirty="0"/>
                        <a:t>77</a:t>
                      </a:r>
                    </a:p>
                  </a:txBody>
                  <a:tcPr/>
                </a:tc>
                <a:tc>
                  <a:txBody>
                    <a:bodyPr/>
                    <a:lstStyle/>
                    <a:p>
                      <a:pPr algn="ctr"/>
                      <a:r>
                        <a:rPr lang="en-CA" dirty="0"/>
                        <a:t>1.291</a:t>
                      </a:r>
                    </a:p>
                  </a:txBody>
                  <a:tcPr/>
                </a:tc>
                <a:tc>
                  <a:txBody>
                    <a:bodyPr/>
                    <a:lstStyle/>
                    <a:p>
                      <a:pPr algn="ctr"/>
                      <a:r>
                        <a:rPr lang="en-CA" dirty="0"/>
                        <a:t>8.089</a:t>
                      </a:r>
                    </a:p>
                  </a:txBody>
                  <a:tcPr/>
                </a:tc>
                <a:tc>
                  <a:txBody>
                    <a:bodyPr/>
                    <a:lstStyle/>
                    <a:p>
                      <a:pPr algn="ctr"/>
                      <a:r>
                        <a:rPr lang="en-CA" dirty="0"/>
                        <a:t>1.605</a:t>
                      </a:r>
                    </a:p>
                  </a:txBody>
                  <a:tcPr/>
                </a:tc>
                <a:extLst>
                  <a:ext uri="{0D108BD9-81ED-4DB2-BD59-A6C34878D82A}">
                    <a16:rowId xmlns:a16="http://schemas.microsoft.com/office/drawing/2014/main" val="4088908835"/>
                  </a:ext>
                </a:extLst>
              </a:tr>
            </a:tbl>
          </a:graphicData>
        </a:graphic>
      </p:graphicFrame>
    </p:spTree>
    <p:extLst>
      <p:ext uri="{BB962C8B-B14F-4D97-AF65-F5344CB8AC3E}">
        <p14:creationId xmlns:p14="http://schemas.microsoft.com/office/powerpoint/2010/main" val="2924701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90A85-20CD-474A-A4F5-CBAD2AB2AB42}"/>
              </a:ext>
            </a:extLst>
          </p:cNvPr>
          <p:cNvSpPr>
            <a:spLocks noGrp="1"/>
          </p:cNvSpPr>
          <p:nvPr>
            <p:ph type="title"/>
          </p:nvPr>
        </p:nvSpPr>
        <p:spPr/>
        <p:txBody>
          <a:bodyPr/>
          <a:lstStyle/>
          <a:p>
            <a:r>
              <a:rPr lang="en-CA" dirty="0"/>
              <a:t>Data after Z-score Scaling </a:t>
            </a:r>
          </a:p>
        </p:txBody>
      </p:sp>
      <p:sp>
        <p:nvSpPr>
          <p:cNvPr id="3" name="Footer Placeholder 2">
            <a:extLst>
              <a:ext uri="{FF2B5EF4-FFF2-40B4-BE49-F238E27FC236}">
                <a16:creationId xmlns:a16="http://schemas.microsoft.com/office/drawing/2014/main" id="{BF8B5682-2012-4FF4-93AF-E5F115AB9826}"/>
              </a:ext>
            </a:extLst>
          </p:cNvPr>
          <p:cNvSpPr>
            <a:spLocks noGrp="1"/>
          </p:cNvSpPr>
          <p:nvPr>
            <p:ph type="ftr" sz="quarter" idx="11"/>
          </p:nvPr>
        </p:nvSpPr>
        <p:spPr/>
        <p:txBody>
          <a:bodyPr/>
          <a:lstStyle/>
          <a:p>
            <a:r>
              <a:rPr lang="en-US"/>
              <a:t>Machine Learning and Financial Institutions, 3rd Ed.  Copyright  © John C. Hull 2021</a:t>
            </a:r>
            <a:endParaRPr lang="en-CA"/>
          </a:p>
        </p:txBody>
      </p:sp>
      <p:sp>
        <p:nvSpPr>
          <p:cNvPr id="4" name="Slide Number Placeholder 3">
            <a:extLst>
              <a:ext uri="{FF2B5EF4-FFF2-40B4-BE49-F238E27FC236}">
                <a16:creationId xmlns:a16="http://schemas.microsoft.com/office/drawing/2014/main" id="{76010B90-F285-4ECB-8586-BC1786646A3A}"/>
              </a:ext>
            </a:extLst>
          </p:cNvPr>
          <p:cNvSpPr>
            <a:spLocks noGrp="1"/>
          </p:cNvSpPr>
          <p:nvPr>
            <p:ph type="sldNum" sz="quarter" idx="12"/>
          </p:nvPr>
        </p:nvSpPr>
        <p:spPr/>
        <p:txBody>
          <a:bodyPr/>
          <a:lstStyle/>
          <a:p>
            <a:fld id="{8F6C609E-065A-4A0E-A6D3-976F18D4BC33}" type="slidenum">
              <a:rPr lang="en-CA" smtClean="0"/>
              <a:t>22</a:t>
            </a:fld>
            <a:endParaRPr lang="en-CA"/>
          </a:p>
        </p:txBody>
      </p:sp>
      <p:graphicFrame>
        <p:nvGraphicFramePr>
          <p:cNvPr id="5" name="Table 7">
            <a:extLst>
              <a:ext uri="{FF2B5EF4-FFF2-40B4-BE49-F238E27FC236}">
                <a16:creationId xmlns:a16="http://schemas.microsoft.com/office/drawing/2014/main" id="{AD7AFAB7-3579-4F8B-AA74-97903BD765D8}"/>
              </a:ext>
            </a:extLst>
          </p:cNvPr>
          <p:cNvGraphicFramePr>
            <a:graphicFrameLocks noGrp="1"/>
          </p:cNvGraphicFramePr>
          <p:nvPr>
            <p:extLst>
              <p:ext uri="{D42A27DB-BD31-4B8C-83A1-F6EECF244321}">
                <p14:modId xmlns:p14="http://schemas.microsoft.com/office/powerpoint/2010/main" val="3488105210"/>
              </p:ext>
            </p:extLst>
          </p:nvPr>
        </p:nvGraphicFramePr>
        <p:xfrm>
          <a:off x="1084262" y="2276872"/>
          <a:ext cx="6512075" cy="2727960"/>
        </p:xfrm>
        <a:graphic>
          <a:graphicData uri="http://schemas.openxmlformats.org/drawingml/2006/table">
            <a:tbl>
              <a:tblPr firstRow="1" bandRow="1">
                <a:tableStyleId>{5940675A-B579-460E-94D1-54222C63F5DA}</a:tableStyleId>
              </a:tblPr>
              <a:tblGrid>
                <a:gridCol w="1302415">
                  <a:extLst>
                    <a:ext uri="{9D8B030D-6E8A-4147-A177-3AD203B41FA5}">
                      <a16:colId xmlns:a16="http://schemas.microsoft.com/office/drawing/2014/main" val="1357698104"/>
                    </a:ext>
                  </a:extLst>
                </a:gridCol>
                <a:gridCol w="1302415">
                  <a:extLst>
                    <a:ext uri="{9D8B030D-6E8A-4147-A177-3AD203B41FA5}">
                      <a16:colId xmlns:a16="http://schemas.microsoft.com/office/drawing/2014/main" val="2473340240"/>
                    </a:ext>
                  </a:extLst>
                </a:gridCol>
                <a:gridCol w="1302415">
                  <a:extLst>
                    <a:ext uri="{9D8B030D-6E8A-4147-A177-3AD203B41FA5}">
                      <a16:colId xmlns:a16="http://schemas.microsoft.com/office/drawing/2014/main" val="2265009712"/>
                    </a:ext>
                  </a:extLst>
                </a:gridCol>
                <a:gridCol w="1092661">
                  <a:extLst>
                    <a:ext uri="{9D8B030D-6E8A-4147-A177-3AD203B41FA5}">
                      <a16:colId xmlns:a16="http://schemas.microsoft.com/office/drawing/2014/main" val="1795290759"/>
                    </a:ext>
                  </a:extLst>
                </a:gridCol>
                <a:gridCol w="1512169">
                  <a:extLst>
                    <a:ext uri="{9D8B030D-6E8A-4147-A177-3AD203B41FA5}">
                      <a16:colId xmlns:a16="http://schemas.microsoft.com/office/drawing/2014/main" val="1057989994"/>
                    </a:ext>
                  </a:extLst>
                </a:gridCol>
              </a:tblGrid>
              <a:tr h="370840">
                <a:tc>
                  <a:txBody>
                    <a:bodyPr/>
                    <a:lstStyle/>
                    <a:p>
                      <a:r>
                        <a:rPr lang="en-CA" i="0" dirty="0"/>
                        <a:t>Country</a:t>
                      </a:r>
                    </a:p>
                  </a:txBody>
                  <a:tcPr/>
                </a:tc>
                <a:tc>
                  <a:txBody>
                    <a:bodyPr/>
                    <a:lstStyle/>
                    <a:p>
                      <a:pPr algn="ctr"/>
                      <a:r>
                        <a:rPr lang="en-CA" i="0" dirty="0"/>
                        <a:t>Corruption Index</a:t>
                      </a:r>
                    </a:p>
                  </a:txBody>
                  <a:tcPr/>
                </a:tc>
                <a:tc>
                  <a:txBody>
                    <a:bodyPr/>
                    <a:lstStyle/>
                    <a:p>
                      <a:pPr algn="ctr"/>
                      <a:r>
                        <a:rPr lang="en-CA" i="0" dirty="0"/>
                        <a:t>Peace Index</a:t>
                      </a:r>
                    </a:p>
                  </a:txBody>
                  <a:tcPr/>
                </a:tc>
                <a:tc>
                  <a:txBody>
                    <a:bodyPr/>
                    <a:lstStyle/>
                    <a:p>
                      <a:pPr algn="ctr"/>
                      <a:r>
                        <a:rPr lang="en-CA" i="0" dirty="0"/>
                        <a:t>Legal Risk Index</a:t>
                      </a:r>
                    </a:p>
                  </a:txBody>
                  <a:tcPr/>
                </a:tc>
                <a:tc>
                  <a:txBody>
                    <a:bodyPr/>
                    <a:lstStyle/>
                    <a:p>
                      <a:pPr algn="ctr"/>
                      <a:r>
                        <a:rPr lang="en-CA" i="0" dirty="0"/>
                        <a:t>Real GDP growth rate (% per </a:t>
                      </a:r>
                      <a:r>
                        <a:rPr lang="en-CA" i="0" dirty="0" err="1"/>
                        <a:t>yr</a:t>
                      </a:r>
                      <a:r>
                        <a:rPr lang="en-CA" i="0" dirty="0"/>
                        <a:t>)</a:t>
                      </a:r>
                    </a:p>
                  </a:txBody>
                  <a:tcPr/>
                </a:tc>
                <a:extLst>
                  <a:ext uri="{0D108BD9-81ED-4DB2-BD59-A6C34878D82A}">
                    <a16:rowId xmlns:a16="http://schemas.microsoft.com/office/drawing/2014/main" val="4164962930"/>
                  </a:ext>
                </a:extLst>
              </a:tr>
              <a:tr h="370840">
                <a:tc>
                  <a:txBody>
                    <a:bodyPr/>
                    <a:lstStyle/>
                    <a:p>
                      <a:r>
                        <a:rPr lang="en-CA" dirty="0"/>
                        <a:t>Albania</a:t>
                      </a:r>
                    </a:p>
                  </a:txBody>
                  <a:tcPr/>
                </a:tc>
                <a:tc>
                  <a:txBody>
                    <a:bodyPr/>
                    <a:lstStyle/>
                    <a:p>
                      <a:pPr algn="ctr"/>
                      <a:r>
                        <a:rPr lang="en-US" sz="1350" dirty="0">
                          <a:effectLst/>
                          <a:latin typeface="Arial" panose="020B0604020202020204" pitchFamily="34" charset="0"/>
                          <a:cs typeface="Arial" panose="020B0604020202020204" pitchFamily="34" charset="0"/>
                        </a:rPr>
                        <a:t>−0.633</a:t>
                      </a:r>
                      <a:endParaRPr lang="en-CA" sz="1350" dirty="0"/>
                    </a:p>
                  </a:txBody>
                  <a:tcPr/>
                </a:tc>
                <a:tc>
                  <a:txBody>
                    <a:bodyPr/>
                    <a:lstStyle/>
                    <a:p>
                      <a:pPr algn="ctr"/>
                      <a:r>
                        <a:rPr lang="en-US" sz="1350" dirty="0">
                          <a:effectLst/>
                          <a:latin typeface="Arial" panose="020B0604020202020204" pitchFamily="34" charset="0"/>
                          <a:cs typeface="Arial" panose="020B0604020202020204" pitchFamily="34" charset="0"/>
                        </a:rPr>
                        <a:t> −0.390</a:t>
                      </a:r>
                      <a:endParaRPr lang="en-CA" sz="1350" dirty="0"/>
                    </a:p>
                  </a:txBody>
                  <a:tcPr/>
                </a:tc>
                <a:tc>
                  <a:txBody>
                    <a:bodyPr/>
                    <a:lstStyle/>
                    <a:p>
                      <a:pPr algn="ctr"/>
                      <a:r>
                        <a:rPr lang="en-US" sz="1350" dirty="0">
                          <a:effectLst/>
                          <a:latin typeface="Arial" panose="020B0604020202020204" pitchFamily="34" charset="0"/>
                          <a:cs typeface="Arial" panose="020B0604020202020204" pitchFamily="34" charset="0"/>
                        </a:rPr>
                        <a:t>−0.878</a:t>
                      </a:r>
                      <a:endParaRPr lang="en-CA" sz="1350" dirty="0"/>
                    </a:p>
                  </a:txBody>
                  <a:tcPr/>
                </a:tc>
                <a:tc>
                  <a:txBody>
                    <a:bodyPr/>
                    <a:lstStyle/>
                    <a:p>
                      <a:pPr algn="l"/>
                      <a:r>
                        <a:rPr lang="en-CA" sz="1350" dirty="0"/>
                        <a:t>        0.127</a:t>
                      </a:r>
                    </a:p>
                  </a:txBody>
                  <a:tcPr/>
                </a:tc>
                <a:extLst>
                  <a:ext uri="{0D108BD9-81ED-4DB2-BD59-A6C34878D82A}">
                    <a16:rowId xmlns:a16="http://schemas.microsoft.com/office/drawing/2014/main" val="412258833"/>
                  </a:ext>
                </a:extLst>
              </a:tr>
              <a:tr h="370840">
                <a:tc>
                  <a:txBody>
                    <a:bodyPr/>
                    <a:lstStyle/>
                    <a:p>
                      <a:r>
                        <a:rPr lang="en-CA" dirty="0"/>
                        <a:t>Algeria</a:t>
                      </a:r>
                    </a:p>
                  </a:txBody>
                  <a:tcPr/>
                </a:tc>
                <a:tc>
                  <a:txBody>
                    <a:bodyPr/>
                    <a:lstStyle/>
                    <a:p>
                      <a:pPr algn="ctr"/>
                      <a:r>
                        <a:rPr lang="en-US" sz="1350" dirty="0">
                          <a:effectLst/>
                          <a:latin typeface="Arial" panose="020B0604020202020204" pitchFamily="34" charset="0"/>
                          <a:cs typeface="Arial" panose="020B0604020202020204" pitchFamily="34" charset="0"/>
                        </a:rPr>
                        <a:t>−0.633</a:t>
                      </a:r>
                      <a:endParaRPr lang="en-CA" sz="1350" dirty="0"/>
                    </a:p>
                  </a:txBody>
                  <a:tcPr/>
                </a:tc>
                <a:tc>
                  <a:txBody>
                    <a:bodyPr/>
                    <a:lstStyle/>
                    <a:p>
                      <a:pPr algn="ctr"/>
                      <a:r>
                        <a:rPr lang="en-CA" sz="1350" dirty="0"/>
                        <a:t>   0.472</a:t>
                      </a:r>
                    </a:p>
                  </a:txBody>
                  <a:tcPr/>
                </a:tc>
                <a:tc>
                  <a:txBody>
                    <a:bodyPr/>
                    <a:lstStyle/>
                    <a:p>
                      <a:pPr algn="ctr"/>
                      <a:r>
                        <a:rPr lang="en-US" sz="1350" dirty="0">
                          <a:effectLst/>
                          <a:latin typeface="Arial" panose="020B0604020202020204" pitchFamily="34" charset="0"/>
                          <a:cs typeface="Arial" panose="020B0604020202020204" pitchFamily="34" charset="0"/>
                        </a:rPr>
                        <a:t>−0.959</a:t>
                      </a:r>
                      <a:endParaRPr lang="en-CA" sz="1350" dirty="0"/>
                    </a:p>
                  </a:txBody>
                  <a:tcPr/>
                </a:tc>
                <a:tc>
                  <a:txBody>
                    <a:bodyPr/>
                    <a:lstStyle/>
                    <a:p>
                      <a:pPr algn="l"/>
                      <a:r>
                        <a:rPr lang="en-US" sz="1350" dirty="0">
                          <a:effectLst/>
                          <a:latin typeface="Arial" panose="020B0604020202020204" pitchFamily="34" charset="0"/>
                          <a:cs typeface="Arial" panose="020B0604020202020204" pitchFamily="34" charset="0"/>
                        </a:rPr>
                        <a:t>       −0.041</a:t>
                      </a:r>
                      <a:endParaRPr lang="en-CA" sz="1350" dirty="0"/>
                    </a:p>
                  </a:txBody>
                  <a:tcPr/>
                </a:tc>
                <a:extLst>
                  <a:ext uri="{0D108BD9-81ED-4DB2-BD59-A6C34878D82A}">
                    <a16:rowId xmlns:a16="http://schemas.microsoft.com/office/drawing/2014/main" val="2284388203"/>
                  </a:ext>
                </a:extLst>
              </a:tr>
              <a:tr h="370840">
                <a:tc>
                  <a:txBody>
                    <a:bodyPr/>
                    <a:lstStyle/>
                    <a:p>
                      <a:r>
                        <a:rPr lang="en-CA" dirty="0"/>
                        <a:t>Argentina</a:t>
                      </a:r>
                    </a:p>
                  </a:txBody>
                  <a:tcPr/>
                </a:tc>
                <a:tc>
                  <a:txBody>
                    <a:bodyPr/>
                    <a:lstStyle/>
                    <a:p>
                      <a:pPr algn="ctr"/>
                      <a:r>
                        <a:rPr lang="en-US" sz="1350" dirty="0">
                          <a:effectLst/>
                          <a:latin typeface="Arial" panose="020B0604020202020204" pitchFamily="34" charset="0"/>
                          <a:cs typeface="Arial" panose="020B0604020202020204" pitchFamily="34" charset="0"/>
                        </a:rPr>
                        <a:t>−0.099</a:t>
                      </a:r>
                      <a:endParaRPr lang="en-CA" sz="1350" dirty="0"/>
                    </a:p>
                  </a:txBody>
                  <a:tcPr/>
                </a:tc>
                <a:tc>
                  <a:txBody>
                    <a:bodyPr/>
                    <a:lstStyle/>
                    <a:p>
                      <a:pPr algn="ctr"/>
                      <a:r>
                        <a:rPr lang="en-US" sz="1350" dirty="0">
                          <a:effectLst/>
                          <a:latin typeface="Arial" panose="020B0604020202020204" pitchFamily="34" charset="0"/>
                          <a:cs typeface="Arial" panose="020B0604020202020204" pitchFamily="34" charset="0"/>
                        </a:rPr>
                        <a:t> −0.026</a:t>
                      </a:r>
                      <a:endParaRPr lang="en-CA" sz="1350" dirty="0"/>
                    </a:p>
                  </a:txBody>
                  <a:tcPr/>
                </a:tc>
                <a:tc>
                  <a:txBody>
                    <a:bodyPr/>
                    <a:lstStyle/>
                    <a:p>
                      <a:pPr algn="ctr"/>
                      <a:r>
                        <a:rPr lang="en-US" sz="1350" dirty="0">
                          <a:effectLst/>
                          <a:latin typeface="Arial" panose="020B0604020202020204" pitchFamily="34" charset="0"/>
                          <a:cs typeface="Arial" panose="020B0604020202020204" pitchFamily="34" charset="0"/>
                        </a:rPr>
                        <a:t>−0.484</a:t>
                      </a:r>
                      <a:endParaRPr lang="en-CA" sz="1350" dirty="0"/>
                    </a:p>
                  </a:txBody>
                  <a:tcPr/>
                </a:tc>
                <a:tc>
                  <a:txBody>
                    <a:bodyPr/>
                    <a:lstStyle/>
                    <a:p>
                      <a:pPr algn="l"/>
                      <a:r>
                        <a:rPr lang="en-US" sz="1350" dirty="0">
                          <a:effectLst/>
                          <a:latin typeface="Arial" panose="020B0604020202020204" pitchFamily="34" charset="0"/>
                          <a:cs typeface="Arial" panose="020B0604020202020204" pitchFamily="34" charset="0"/>
                        </a:rPr>
                        <a:t>       −2.231</a:t>
                      </a:r>
                      <a:endParaRPr lang="en-CA" sz="1350" dirty="0"/>
                    </a:p>
                  </a:txBody>
                  <a:tcPr/>
                </a:tc>
                <a:extLst>
                  <a:ext uri="{0D108BD9-81ED-4DB2-BD59-A6C34878D82A}">
                    <a16:rowId xmlns:a16="http://schemas.microsoft.com/office/drawing/2014/main" val="2045717651"/>
                  </a:ext>
                </a:extLst>
              </a:tr>
              <a:tr h="370840">
                <a:tc>
                  <a:txBody>
                    <a:bodyPr/>
                    <a:lstStyle/>
                    <a:p>
                      <a:r>
                        <a:rPr lang="en-CA" dirty="0"/>
                        <a:t>Armenia</a:t>
                      </a:r>
                    </a:p>
                  </a:txBody>
                  <a:tcPr/>
                </a:tc>
                <a:tc>
                  <a:txBody>
                    <a:bodyPr/>
                    <a:lstStyle/>
                    <a:p>
                      <a:pPr algn="ctr"/>
                      <a:r>
                        <a:rPr lang="en-US" sz="1350" dirty="0">
                          <a:effectLst/>
                          <a:latin typeface="Arial" panose="020B0604020202020204" pitchFamily="34" charset="0"/>
                          <a:cs typeface="Arial" panose="020B0604020202020204" pitchFamily="34" charset="0"/>
                        </a:rPr>
                        <a:t>−0.259</a:t>
                      </a:r>
                      <a:endParaRPr lang="en-CA" sz="1350" dirty="0"/>
                    </a:p>
                  </a:txBody>
                  <a:tcPr/>
                </a:tc>
                <a:tc>
                  <a:txBody>
                    <a:bodyPr/>
                    <a:lstStyle/>
                    <a:p>
                      <a:pPr algn="ctr"/>
                      <a:r>
                        <a:rPr lang="en-CA" sz="1350" dirty="0"/>
                        <a:t>  0.635</a:t>
                      </a:r>
                    </a:p>
                  </a:txBody>
                  <a:tcPr/>
                </a:tc>
                <a:tc>
                  <a:txBody>
                    <a:bodyPr/>
                    <a:lstStyle/>
                    <a:p>
                      <a:pPr algn="ctr"/>
                      <a:r>
                        <a:rPr lang="en-US" sz="1350" dirty="0">
                          <a:effectLst/>
                          <a:latin typeface="Arial" panose="020B0604020202020204" pitchFamily="34" charset="0"/>
                          <a:cs typeface="Arial" panose="020B0604020202020204" pitchFamily="34" charset="0"/>
                        </a:rPr>
                        <a:t>−0.685</a:t>
                      </a:r>
                      <a:endParaRPr lang="en-CA" sz="1350" dirty="0"/>
                    </a:p>
                  </a:txBody>
                  <a:tcPr/>
                </a:tc>
                <a:tc>
                  <a:txBody>
                    <a:bodyPr/>
                    <a:lstStyle/>
                    <a:p>
                      <a:pPr algn="l"/>
                      <a:r>
                        <a:rPr lang="en-CA" sz="1350" dirty="0"/>
                        <a:t>        1.304</a:t>
                      </a:r>
                    </a:p>
                  </a:txBody>
                  <a:tcPr/>
                </a:tc>
                <a:extLst>
                  <a:ext uri="{0D108BD9-81ED-4DB2-BD59-A6C34878D82A}">
                    <a16:rowId xmlns:a16="http://schemas.microsoft.com/office/drawing/2014/main" val="3683951492"/>
                  </a:ext>
                </a:extLst>
              </a:tr>
              <a:tr h="370840">
                <a:tc>
                  <a:txBody>
                    <a:bodyPr/>
                    <a:lstStyle/>
                    <a:p>
                      <a:r>
                        <a:rPr lang="en-CA" dirty="0"/>
                        <a:t>Australia</a:t>
                      </a:r>
                    </a:p>
                  </a:txBody>
                  <a:tcPr/>
                </a:tc>
                <a:tc>
                  <a:txBody>
                    <a:bodyPr/>
                    <a:lstStyle/>
                    <a:p>
                      <a:pPr algn="ctr"/>
                      <a:r>
                        <a:rPr lang="en-CA" sz="1350" dirty="0"/>
                        <a:t>  1.612</a:t>
                      </a:r>
                    </a:p>
                  </a:txBody>
                  <a:tcPr/>
                </a:tc>
                <a:tc>
                  <a:txBody>
                    <a:bodyPr/>
                    <a:lstStyle/>
                    <a:p>
                      <a:pPr algn="ctr"/>
                      <a:r>
                        <a:rPr lang="en-US" sz="1350" dirty="0">
                          <a:effectLst/>
                          <a:latin typeface="Arial" panose="020B0604020202020204" pitchFamily="34" charset="0"/>
                          <a:cs typeface="Arial" panose="020B0604020202020204" pitchFamily="34" charset="0"/>
                        </a:rPr>
                        <a:t>−1.261</a:t>
                      </a:r>
                      <a:endParaRPr lang="en-CA" sz="1350" dirty="0"/>
                    </a:p>
                  </a:txBody>
                  <a:tcPr/>
                </a:tc>
                <a:tc>
                  <a:txBody>
                    <a:bodyPr/>
                    <a:lstStyle/>
                    <a:p>
                      <a:pPr algn="ctr"/>
                      <a:r>
                        <a:rPr lang="en-CA" sz="1350" dirty="0"/>
                        <a:t>  1.900</a:t>
                      </a:r>
                    </a:p>
                  </a:txBody>
                  <a:tcPr/>
                </a:tc>
                <a:tc>
                  <a:txBody>
                    <a:bodyPr/>
                    <a:lstStyle/>
                    <a:p>
                      <a:pPr algn="l"/>
                      <a:r>
                        <a:rPr lang="en-US" sz="1350" dirty="0">
                          <a:effectLst/>
                          <a:latin typeface="Arial" panose="020B0604020202020204" pitchFamily="34" charset="0"/>
                          <a:cs typeface="Arial" panose="020B0604020202020204" pitchFamily="34" charset="0"/>
                        </a:rPr>
                        <a:t>       −0.368</a:t>
                      </a:r>
                      <a:endParaRPr lang="en-CA" sz="1350" dirty="0"/>
                    </a:p>
                  </a:txBody>
                  <a:tcPr/>
                </a:tc>
                <a:extLst>
                  <a:ext uri="{0D108BD9-81ED-4DB2-BD59-A6C34878D82A}">
                    <a16:rowId xmlns:a16="http://schemas.microsoft.com/office/drawing/2014/main" val="2341298024"/>
                  </a:ext>
                </a:extLst>
              </a:tr>
              <a:tr h="370840">
                <a:tc>
                  <a:txBody>
                    <a:bodyPr/>
                    <a:lstStyle/>
                    <a:p>
                      <a:r>
                        <a:rPr lang="en-CA" dirty="0"/>
                        <a:t>Austria</a:t>
                      </a:r>
                    </a:p>
                  </a:txBody>
                  <a:tcPr/>
                </a:tc>
                <a:tc>
                  <a:txBody>
                    <a:bodyPr/>
                    <a:lstStyle/>
                    <a:p>
                      <a:pPr algn="ctr"/>
                      <a:r>
                        <a:rPr lang="en-CA" sz="1350" dirty="0"/>
                        <a:t>  1.612</a:t>
                      </a:r>
                    </a:p>
                  </a:txBody>
                  <a:tcPr/>
                </a:tc>
                <a:tc>
                  <a:txBody>
                    <a:bodyPr/>
                    <a:lstStyle/>
                    <a:p>
                      <a:pPr algn="ctr"/>
                      <a:r>
                        <a:rPr lang="en-US" sz="1350" dirty="0">
                          <a:effectLst/>
                          <a:latin typeface="Arial" panose="020B0604020202020204" pitchFamily="34" charset="0"/>
                          <a:cs typeface="Arial" panose="020B0604020202020204" pitchFamily="34" charset="0"/>
                        </a:rPr>
                        <a:t>−1.539</a:t>
                      </a:r>
                      <a:endParaRPr lang="en-CA" sz="1350" dirty="0"/>
                    </a:p>
                  </a:txBody>
                  <a:tcPr/>
                </a:tc>
                <a:tc>
                  <a:txBody>
                    <a:bodyPr/>
                    <a:lstStyle/>
                    <a:p>
                      <a:pPr algn="ctr"/>
                      <a:r>
                        <a:rPr lang="en-CA" sz="1350" dirty="0"/>
                        <a:t>  1.701</a:t>
                      </a:r>
                    </a:p>
                  </a:txBody>
                  <a:tcPr/>
                </a:tc>
                <a:tc>
                  <a:txBody>
                    <a:bodyPr/>
                    <a:lstStyle/>
                    <a:p>
                      <a:pPr algn="l"/>
                      <a:r>
                        <a:rPr lang="en-US" sz="1350" dirty="0">
                          <a:effectLst/>
                          <a:latin typeface="Arial" panose="020B0604020202020204" pitchFamily="34" charset="0"/>
                          <a:cs typeface="Arial" panose="020B0604020202020204" pitchFamily="34" charset="0"/>
                        </a:rPr>
                        <a:t>       −0.411</a:t>
                      </a:r>
                      <a:endParaRPr lang="en-CA" sz="1350" dirty="0"/>
                    </a:p>
                  </a:txBody>
                  <a:tcPr/>
                </a:tc>
                <a:extLst>
                  <a:ext uri="{0D108BD9-81ED-4DB2-BD59-A6C34878D82A}">
                    <a16:rowId xmlns:a16="http://schemas.microsoft.com/office/drawing/2014/main" val="4088908835"/>
                  </a:ext>
                </a:extLst>
              </a:tr>
            </a:tbl>
          </a:graphicData>
        </a:graphic>
      </p:graphicFrame>
    </p:spTree>
    <p:extLst>
      <p:ext uri="{BB962C8B-B14F-4D97-AF65-F5344CB8AC3E}">
        <p14:creationId xmlns:p14="http://schemas.microsoft.com/office/powerpoint/2010/main" val="139030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CA" dirty="0"/>
              <a:t>Scaled corruption and legal risk were highly correlated</a:t>
            </a:r>
          </a:p>
        </p:txBody>
      </p:sp>
      <p:sp>
        <p:nvSpPr>
          <p:cNvPr id="4" name="Content Placeholder 3"/>
          <p:cNvSpPr>
            <a:spLocks noGrp="1"/>
          </p:cNvSpPr>
          <p:nvPr>
            <p:ph idx="1"/>
          </p:nvPr>
        </p:nvSpPr>
        <p:spPr>
          <a:xfrm>
            <a:off x="191453" y="2188606"/>
            <a:ext cx="6023610" cy="2320529"/>
          </a:xfrm>
        </p:spPr>
        <p:txBody>
          <a:bodyPr/>
          <a:lstStyle/>
          <a:p>
            <a:pPr marL="0" indent="0">
              <a:buNone/>
            </a:pPr>
            <a:r>
              <a:rPr lang="en-CA" dirty="0"/>
              <a:t> </a:t>
            </a:r>
          </a:p>
        </p:txBody>
      </p:sp>
      <p:sp>
        <p:nvSpPr>
          <p:cNvPr id="8" name="Footer Placeholder 7"/>
          <p:cNvSpPr>
            <a:spLocks noGrp="1"/>
          </p:cNvSpPr>
          <p:nvPr>
            <p:ph type="ftr" sz="quarter" idx="11"/>
          </p:nvPr>
        </p:nvSpPr>
        <p:spPr>
          <a:xfrm>
            <a:off x="1043608" y="6239739"/>
            <a:ext cx="5029200" cy="342900"/>
          </a:xfrm>
        </p:spPr>
        <p:txBody>
          <a:bodyPr/>
          <a:lstStyle/>
          <a:p>
            <a:r>
              <a:rPr lang="en-US"/>
              <a:t>Machine Learning and Financial Institutions, 3rd Ed.  Copyright  © John C. Hull 2021</a:t>
            </a:r>
            <a:endParaRPr lang="en-CA" dirty="0"/>
          </a:p>
        </p:txBody>
      </p:sp>
      <p:sp>
        <p:nvSpPr>
          <p:cNvPr id="9" name="Slide Number Placeholder 8"/>
          <p:cNvSpPr>
            <a:spLocks noGrp="1"/>
          </p:cNvSpPr>
          <p:nvPr>
            <p:ph type="sldNum" sz="quarter" idx="12"/>
          </p:nvPr>
        </p:nvSpPr>
        <p:spPr/>
        <p:txBody>
          <a:bodyPr/>
          <a:lstStyle/>
          <a:p>
            <a:fld id="{2E8C09BE-1715-42CA-A91A-E7B0E09A3015}" type="slidenum">
              <a:rPr lang="en-CA" smtClean="0"/>
              <a:t>23</a:t>
            </a:fld>
            <a:endParaRPr lang="en-CA"/>
          </a:p>
        </p:txBody>
      </p:sp>
      <p:sp>
        <p:nvSpPr>
          <p:cNvPr id="6" name="TextBox 5"/>
          <p:cNvSpPr txBox="1"/>
          <p:nvPr/>
        </p:nvSpPr>
        <p:spPr>
          <a:xfrm>
            <a:off x="6000750" y="2460308"/>
            <a:ext cx="2647950" cy="2677656"/>
          </a:xfrm>
          <a:prstGeom prst="rect">
            <a:avLst/>
          </a:prstGeom>
          <a:noFill/>
        </p:spPr>
        <p:txBody>
          <a:bodyPr wrap="square" rtlCol="0">
            <a:spAutoFit/>
          </a:bodyPr>
          <a:lstStyle/>
          <a:p>
            <a:r>
              <a:rPr lang="en-CA" sz="2100" dirty="0"/>
              <a:t>Therefore analysis based on </a:t>
            </a:r>
          </a:p>
          <a:p>
            <a:endParaRPr lang="en-CA" sz="2100" dirty="0"/>
          </a:p>
          <a:p>
            <a:pPr marL="342900" indent="-342900">
              <a:buFont typeface="Arial" panose="020B0604020202020204" pitchFamily="34" charset="0"/>
              <a:buChar char="•"/>
            </a:pPr>
            <a:r>
              <a:rPr lang="en-CA" sz="2100" dirty="0"/>
              <a:t>GDP growth rate</a:t>
            </a:r>
          </a:p>
          <a:p>
            <a:pPr marL="342900" indent="-342900">
              <a:buFont typeface="Arial" panose="020B0604020202020204" pitchFamily="34" charset="0"/>
              <a:buChar char="•"/>
            </a:pPr>
            <a:r>
              <a:rPr lang="en-CA" sz="2100" dirty="0"/>
              <a:t>Peace index</a:t>
            </a:r>
          </a:p>
          <a:p>
            <a:pPr marL="342900" indent="-342900">
              <a:buFont typeface="Arial" panose="020B0604020202020204" pitchFamily="34" charset="0"/>
              <a:buChar char="•"/>
            </a:pPr>
            <a:r>
              <a:rPr lang="en-CA" sz="2100" dirty="0"/>
              <a:t>Legal risk index</a:t>
            </a:r>
          </a:p>
          <a:p>
            <a:endParaRPr lang="en-CA" sz="2100" dirty="0"/>
          </a:p>
          <a:p>
            <a:endParaRPr lang="en-CA" sz="2100" dirty="0"/>
          </a:p>
        </p:txBody>
      </p:sp>
      <p:pic>
        <p:nvPicPr>
          <p:cNvPr id="10" name="Picture 9">
            <a:extLst>
              <a:ext uri="{FF2B5EF4-FFF2-40B4-BE49-F238E27FC236}">
                <a16:creationId xmlns:a16="http://schemas.microsoft.com/office/drawing/2014/main" id="{816468A5-AC06-445A-A5BE-AC4D47C010EA}"/>
              </a:ext>
            </a:extLst>
          </p:cNvPr>
          <p:cNvPicPr>
            <a:picLocks noChangeAspect="1"/>
          </p:cNvPicPr>
          <p:nvPr/>
        </p:nvPicPr>
        <p:blipFill>
          <a:blip r:embed="rId2"/>
          <a:stretch>
            <a:fillRect/>
          </a:stretch>
        </p:blipFill>
        <p:spPr>
          <a:xfrm>
            <a:off x="395536" y="2460308"/>
            <a:ext cx="5128430" cy="3272948"/>
          </a:xfrm>
          <a:prstGeom prst="rect">
            <a:avLst/>
          </a:prstGeom>
        </p:spPr>
      </p:pic>
    </p:spTree>
    <p:extLst>
      <p:ext uri="{BB962C8B-B14F-4D97-AF65-F5344CB8AC3E}">
        <p14:creationId xmlns:p14="http://schemas.microsoft.com/office/powerpoint/2010/main" val="2293593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CA" dirty="0"/>
              <a:t>How the total within-cluster sum of squares declines as k increases when k-means algorithm is used (Figure 2.6)</a:t>
            </a:r>
          </a:p>
        </p:txBody>
      </p:sp>
      <p:sp>
        <p:nvSpPr>
          <p:cNvPr id="4" name="Content Placeholder 3"/>
          <p:cNvSpPr>
            <a:spLocks noGrp="1"/>
          </p:cNvSpPr>
          <p:nvPr>
            <p:ph idx="1"/>
          </p:nvPr>
        </p:nvSpPr>
        <p:spPr>
          <a:xfrm>
            <a:off x="552450" y="2569369"/>
            <a:ext cx="7886700" cy="3263504"/>
          </a:xfrm>
        </p:spPr>
        <p:txBody>
          <a:bodyPr/>
          <a:lstStyle/>
          <a:p>
            <a:pPr marL="0" indent="0">
              <a:buNone/>
            </a:pPr>
            <a:r>
              <a:rPr lang="en-CA" dirty="0"/>
              <a:t> </a:t>
            </a:r>
          </a:p>
        </p:txBody>
      </p:sp>
      <p:sp>
        <p:nvSpPr>
          <p:cNvPr id="5" name="Footer Placeholder 4"/>
          <p:cNvSpPr>
            <a:spLocks noGrp="1"/>
          </p:cNvSpPr>
          <p:nvPr>
            <p:ph type="ftr" sz="quarter" idx="11"/>
          </p:nvPr>
        </p:nvSpPr>
        <p:spPr/>
        <p:txBody>
          <a:bodyPr/>
          <a:lstStyle/>
          <a:p>
            <a:r>
              <a:rPr lang="en-US"/>
              <a:t>Machine Learning and Financial Institutions, 3rd Ed.  Copyright  © John C. Hull 2021</a:t>
            </a:r>
            <a:endParaRPr lang="en-CA"/>
          </a:p>
        </p:txBody>
      </p:sp>
      <p:sp>
        <p:nvSpPr>
          <p:cNvPr id="6" name="Slide Number Placeholder 5"/>
          <p:cNvSpPr>
            <a:spLocks noGrp="1"/>
          </p:cNvSpPr>
          <p:nvPr>
            <p:ph type="sldNum" sz="quarter" idx="12"/>
          </p:nvPr>
        </p:nvSpPr>
        <p:spPr/>
        <p:txBody>
          <a:bodyPr/>
          <a:lstStyle/>
          <a:p>
            <a:fld id="{2E8C09BE-1715-42CA-A91A-E7B0E09A3015}" type="slidenum">
              <a:rPr lang="en-CA" smtClean="0"/>
              <a:t>24</a:t>
            </a:fld>
            <a:endParaRPr lang="en-CA"/>
          </a:p>
        </p:txBody>
      </p:sp>
      <p:pic>
        <p:nvPicPr>
          <p:cNvPr id="7" name="Picture 6">
            <a:extLst>
              <a:ext uri="{FF2B5EF4-FFF2-40B4-BE49-F238E27FC236}">
                <a16:creationId xmlns:a16="http://schemas.microsoft.com/office/drawing/2014/main" id="{9922663B-7284-4205-B45F-04A96EAB09DF}"/>
              </a:ext>
            </a:extLst>
          </p:cNvPr>
          <p:cNvPicPr>
            <a:picLocks noChangeAspect="1"/>
          </p:cNvPicPr>
          <p:nvPr/>
        </p:nvPicPr>
        <p:blipFill>
          <a:blip r:embed="rId2"/>
          <a:stretch>
            <a:fillRect/>
          </a:stretch>
        </p:blipFill>
        <p:spPr>
          <a:xfrm>
            <a:off x="971600" y="2437375"/>
            <a:ext cx="5029200" cy="3490350"/>
          </a:xfrm>
          <a:prstGeom prst="rect">
            <a:avLst/>
          </a:prstGeom>
        </p:spPr>
      </p:pic>
    </p:spTree>
    <p:extLst>
      <p:ext uri="{BB962C8B-B14F-4D97-AF65-F5344CB8AC3E}">
        <p14:creationId xmlns:p14="http://schemas.microsoft.com/office/powerpoint/2010/main" val="64163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Silhouette scores (suggest k=3)</a:t>
            </a:r>
            <a:endParaRPr lang="en-CA" dirty="0"/>
          </a:p>
        </p:txBody>
      </p:sp>
      <p:graphicFrame>
        <p:nvGraphicFramePr>
          <p:cNvPr id="3" name="Table 2"/>
          <p:cNvGraphicFramePr>
            <a:graphicFrameLocks noGrp="1"/>
          </p:cNvGraphicFramePr>
          <p:nvPr>
            <p:extLst>
              <p:ext uri="{D42A27DB-BD31-4B8C-83A1-F6EECF244321}">
                <p14:modId xmlns:p14="http://schemas.microsoft.com/office/powerpoint/2010/main" val="58817514"/>
              </p:ext>
            </p:extLst>
          </p:nvPr>
        </p:nvGraphicFramePr>
        <p:xfrm>
          <a:off x="2123728" y="2204868"/>
          <a:ext cx="4968552" cy="3405591"/>
        </p:xfrm>
        <a:graphic>
          <a:graphicData uri="http://schemas.openxmlformats.org/drawingml/2006/table">
            <a:tbl>
              <a:tblPr firstRow="1" firstCol="1" bandRow="1">
                <a:tableStyleId>{5940675A-B579-460E-94D1-54222C63F5DA}</a:tableStyleId>
              </a:tblPr>
              <a:tblGrid>
                <a:gridCol w="2152416">
                  <a:extLst>
                    <a:ext uri="{9D8B030D-6E8A-4147-A177-3AD203B41FA5}">
                      <a16:colId xmlns:a16="http://schemas.microsoft.com/office/drawing/2014/main" val="20000"/>
                    </a:ext>
                  </a:extLst>
                </a:gridCol>
                <a:gridCol w="2816136">
                  <a:extLst>
                    <a:ext uri="{9D8B030D-6E8A-4147-A177-3AD203B41FA5}">
                      <a16:colId xmlns:a16="http://schemas.microsoft.com/office/drawing/2014/main" val="20001"/>
                    </a:ext>
                  </a:extLst>
                </a:gridCol>
              </a:tblGrid>
              <a:tr h="695039">
                <a:tc>
                  <a:txBody>
                    <a:bodyPr/>
                    <a:lstStyle/>
                    <a:p>
                      <a:pPr indent="177800" algn="ctr">
                        <a:lnSpc>
                          <a:spcPct val="107000"/>
                        </a:lnSpc>
                        <a:spcAft>
                          <a:spcPts val="0"/>
                        </a:spcAft>
                      </a:pPr>
                      <a:r>
                        <a:rPr lang="en-US" sz="1600" dirty="0">
                          <a:effectLst/>
                        </a:rPr>
                        <a:t>Number of clusters</a:t>
                      </a:r>
                      <a:endParaRPr lang="en-CA" sz="1600" dirty="0">
                        <a:effectLst/>
                        <a:latin typeface="Book Antiqua"/>
                        <a:ea typeface="Times New Roman"/>
                        <a:cs typeface="Times New Roman"/>
                      </a:endParaRPr>
                    </a:p>
                  </a:txBody>
                  <a:tcPr marL="68580" marR="68580" marT="0" marB="0"/>
                </a:tc>
                <a:tc>
                  <a:txBody>
                    <a:bodyPr/>
                    <a:lstStyle/>
                    <a:p>
                      <a:pPr indent="177800" algn="ctr">
                        <a:lnSpc>
                          <a:spcPct val="107000"/>
                        </a:lnSpc>
                        <a:spcAft>
                          <a:spcPts val="0"/>
                        </a:spcAft>
                      </a:pPr>
                      <a:r>
                        <a:rPr lang="en-US" sz="1600">
                          <a:effectLst/>
                        </a:rPr>
                        <a:t>Average silhouette score</a:t>
                      </a:r>
                      <a:endParaRPr lang="en-CA" sz="160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0"/>
                  </a:ext>
                </a:extLst>
              </a:tr>
              <a:tr h="338819">
                <a:tc>
                  <a:txBody>
                    <a:bodyPr/>
                    <a:lstStyle/>
                    <a:p>
                      <a:pPr indent="177800" algn="ctr">
                        <a:lnSpc>
                          <a:spcPct val="107000"/>
                        </a:lnSpc>
                        <a:spcAft>
                          <a:spcPts val="0"/>
                        </a:spcAft>
                      </a:pPr>
                      <a:r>
                        <a:rPr lang="en-US" sz="1600" dirty="0">
                          <a:effectLst/>
                        </a:rPr>
                        <a:t>2</a:t>
                      </a:r>
                      <a:endParaRPr lang="en-CA" sz="1600" dirty="0">
                        <a:effectLst/>
                        <a:latin typeface="Book Antiqua"/>
                        <a:ea typeface="Times New Roman"/>
                        <a:cs typeface="Times New Roman"/>
                      </a:endParaRPr>
                    </a:p>
                  </a:txBody>
                  <a:tcPr marL="68580" marR="68580" marT="0" marB="0"/>
                </a:tc>
                <a:tc>
                  <a:txBody>
                    <a:bodyPr/>
                    <a:lstStyle/>
                    <a:p>
                      <a:pPr indent="177800" algn="ctr">
                        <a:lnSpc>
                          <a:spcPct val="107000"/>
                        </a:lnSpc>
                        <a:spcAft>
                          <a:spcPts val="0"/>
                        </a:spcAft>
                      </a:pPr>
                      <a:r>
                        <a:rPr lang="en-US" sz="1600" dirty="0">
                          <a:effectLst/>
                        </a:rPr>
                        <a:t>0.351</a:t>
                      </a:r>
                      <a:endParaRPr lang="en-CA" sz="16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1"/>
                  </a:ext>
                </a:extLst>
              </a:tr>
              <a:tr h="338819">
                <a:tc>
                  <a:txBody>
                    <a:bodyPr/>
                    <a:lstStyle/>
                    <a:p>
                      <a:pPr indent="177800" algn="ctr">
                        <a:lnSpc>
                          <a:spcPct val="107000"/>
                        </a:lnSpc>
                        <a:spcAft>
                          <a:spcPts val="0"/>
                        </a:spcAft>
                      </a:pPr>
                      <a:r>
                        <a:rPr lang="en-US" sz="1600" dirty="0">
                          <a:effectLst/>
                        </a:rPr>
                        <a:t>3</a:t>
                      </a:r>
                      <a:endParaRPr lang="en-CA" sz="1600" dirty="0">
                        <a:effectLst/>
                        <a:latin typeface="Book Antiqua"/>
                        <a:ea typeface="Times New Roman"/>
                        <a:cs typeface="Times New Roman"/>
                      </a:endParaRPr>
                    </a:p>
                  </a:txBody>
                  <a:tcPr marL="68580" marR="68580" marT="0" marB="0"/>
                </a:tc>
                <a:tc>
                  <a:txBody>
                    <a:bodyPr/>
                    <a:lstStyle/>
                    <a:p>
                      <a:pPr indent="177800" algn="ctr">
                        <a:lnSpc>
                          <a:spcPct val="107000"/>
                        </a:lnSpc>
                        <a:spcAft>
                          <a:spcPts val="0"/>
                        </a:spcAft>
                      </a:pPr>
                      <a:r>
                        <a:rPr lang="en-US" sz="1600" dirty="0">
                          <a:effectLst/>
                        </a:rPr>
                        <a:t>0.360</a:t>
                      </a:r>
                      <a:endParaRPr lang="en-CA" sz="16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2"/>
                  </a:ext>
                </a:extLst>
              </a:tr>
              <a:tr h="338819">
                <a:tc>
                  <a:txBody>
                    <a:bodyPr/>
                    <a:lstStyle/>
                    <a:p>
                      <a:pPr indent="177800" algn="ctr">
                        <a:lnSpc>
                          <a:spcPct val="107000"/>
                        </a:lnSpc>
                        <a:spcAft>
                          <a:spcPts val="0"/>
                        </a:spcAft>
                      </a:pPr>
                      <a:r>
                        <a:rPr lang="en-US" sz="1600">
                          <a:effectLst/>
                        </a:rPr>
                        <a:t>4</a:t>
                      </a:r>
                      <a:endParaRPr lang="en-CA" sz="1600">
                        <a:effectLst/>
                        <a:latin typeface="Book Antiqua"/>
                        <a:ea typeface="Times New Roman"/>
                        <a:cs typeface="Times New Roman"/>
                      </a:endParaRPr>
                    </a:p>
                  </a:txBody>
                  <a:tcPr marL="68580" marR="68580" marT="0" marB="0"/>
                </a:tc>
                <a:tc>
                  <a:txBody>
                    <a:bodyPr/>
                    <a:lstStyle/>
                    <a:p>
                      <a:pPr indent="177800" algn="ctr">
                        <a:lnSpc>
                          <a:spcPct val="107000"/>
                        </a:lnSpc>
                        <a:spcAft>
                          <a:spcPts val="0"/>
                        </a:spcAft>
                      </a:pPr>
                      <a:r>
                        <a:rPr lang="en-US" sz="1600" dirty="0">
                          <a:effectLst/>
                        </a:rPr>
                        <a:t>0.340</a:t>
                      </a:r>
                      <a:endParaRPr lang="en-CA" sz="16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3"/>
                  </a:ext>
                </a:extLst>
              </a:tr>
              <a:tr h="338819">
                <a:tc>
                  <a:txBody>
                    <a:bodyPr/>
                    <a:lstStyle/>
                    <a:p>
                      <a:pPr indent="177800" algn="ctr">
                        <a:lnSpc>
                          <a:spcPct val="107000"/>
                        </a:lnSpc>
                        <a:spcAft>
                          <a:spcPts val="0"/>
                        </a:spcAft>
                      </a:pPr>
                      <a:r>
                        <a:rPr lang="en-US" sz="1600">
                          <a:effectLst/>
                        </a:rPr>
                        <a:t>5</a:t>
                      </a:r>
                      <a:endParaRPr lang="en-CA" sz="1600">
                        <a:effectLst/>
                        <a:latin typeface="Book Antiqua"/>
                        <a:ea typeface="Times New Roman"/>
                        <a:cs typeface="Times New Roman"/>
                      </a:endParaRPr>
                    </a:p>
                  </a:txBody>
                  <a:tcPr marL="68580" marR="68580" marT="0" marB="0"/>
                </a:tc>
                <a:tc>
                  <a:txBody>
                    <a:bodyPr/>
                    <a:lstStyle/>
                    <a:p>
                      <a:pPr indent="177800" algn="ctr">
                        <a:lnSpc>
                          <a:spcPct val="107000"/>
                        </a:lnSpc>
                        <a:spcAft>
                          <a:spcPts val="0"/>
                        </a:spcAft>
                      </a:pPr>
                      <a:r>
                        <a:rPr lang="en-US" sz="1600" dirty="0">
                          <a:effectLst/>
                        </a:rPr>
                        <a:t>0.344</a:t>
                      </a:r>
                      <a:endParaRPr lang="en-CA" sz="16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4"/>
                  </a:ext>
                </a:extLst>
              </a:tr>
              <a:tr h="338819">
                <a:tc>
                  <a:txBody>
                    <a:bodyPr/>
                    <a:lstStyle/>
                    <a:p>
                      <a:pPr indent="177800" algn="ctr">
                        <a:lnSpc>
                          <a:spcPct val="107000"/>
                        </a:lnSpc>
                        <a:spcAft>
                          <a:spcPts val="0"/>
                        </a:spcAft>
                      </a:pPr>
                      <a:r>
                        <a:rPr lang="en-US" sz="1600">
                          <a:effectLst/>
                        </a:rPr>
                        <a:t>6</a:t>
                      </a:r>
                      <a:endParaRPr lang="en-CA" sz="1600">
                        <a:effectLst/>
                        <a:latin typeface="Book Antiqua"/>
                        <a:ea typeface="Times New Roman"/>
                        <a:cs typeface="Times New Roman"/>
                      </a:endParaRPr>
                    </a:p>
                  </a:txBody>
                  <a:tcPr marL="68580" marR="68580" marT="0" marB="0"/>
                </a:tc>
                <a:tc>
                  <a:txBody>
                    <a:bodyPr/>
                    <a:lstStyle/>
                    <a:p>
                      <a:pPr indent="177800" algn="ctr">
                        <a:lnSpc>
                          <a:spcPct val="107000"/>
                        </a:lnSpc>
                        <a:spcAft>
                          <a:spcPts val="0"/>
                        </a:spcAft>
                      </a:pPr>
                      <a:r>
                        <a:rPr lang="en-US" sz="1600" dirty="0">
                          <a:effectLst/>
                        </a:rPr>
                        <a:t>0.348</a:t>
                      </a:r>
                      <a:endParaRPr lang="en-CA" sz="16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5"/>
                  </a:ext>
                </a:extLst>
              </a:tr>
              <a:tr h="338819">
                <a:tc>
                  <a:txBody>
                    <a:bodyPr/>
                    <a:lstStyle/>
                    <a:p>
                      <a:pPr indent="177800" algn="ctr">
                        <a:lnSpc>
                          <a:spcPct val="107000"/>
                        </a:lnSpc>
                        <a:spcAft>
                          <a:spcPts val="0"/>
                        </a:spcAft>
                      </a:pPr>
                      <a:r>
                        <a:rPr lang="en-US" sz="1600">
                          <a:effectLst/>
                        </a:rPr>
                        <a:t>7</a:t>
                      </a:r>
                      <a:endParaRPr lang="en-CA" sz="1600">
                        <a:effectLst/>
                        <a:latin typeface="Book Antiqua"/>
                        <a:ea typeface="Times New Roman"/>
                        <a:cs typeface="Times New Roman"/>
                      </a:endParaRPr>
                    </a:p>
                  </a:txBody>
                  <a:tcPr marL="68580" marR="68580" marT="0" marB="0"/>
                </a:tc>
                <a:tc>
                  <a:txBody>
                    <a:bodyPr/>
                    <a:lstStyle/>
                    <a:p>
                      <a:pPr indent="177800" algn="ctr">
                        <a:lnSpc>
                          <a:spcPct val="107000"/>
                        </a:lnSpc>
                        <a:spcAft>
                          <a:spcPts val="0"/>
                        </a:spcAft>
                      </a:pPr>
                      <a:r>
                        <a:rPr lang="en-US" sz="1600" dirty="0">
                          <a:effectLst/>
                        </a:rPr>
                        <a:t>0.355</a:t>
                      </a:r>
                      <a:endParaRPr lang="en-CA" sz="16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6"/>
                  </a:ext>
                </a:extLst>
              </a:tr>
              <a:tr h="338819">
                <a:tc>
                  <a:txBody>
                    <a:bodyPr/>
                    <a:lstStyle/>
                    <a:p>
                      <a:pPr indent="177800" algn="ctr">
                        <a:lnSpc>
                          <a:spcPct val="107000"/>
                        </a:lnSpc>
                        <a:spcAft>
                          <a:spcPts val="0"/>
                        </a:spcAft>
                      </a:pPr>
                      <a:r>
                        <a:rPr lang="en-US" sz="1600">
                          <a:effectLst/>
                        </a:rPr>
                        <a:t>8</a:t>
                      </a:r>
                      <a:endParaRPr lang="en-CA" sz="1600">
                        <a:effectLst/>
                        <a:latin typeface="Book Antiqua"/>
                        <a:ea typeface="Times New Roman"/>
                        <a:cs typeface="Times New Roman"/>
                      </a:endParaRPr>
                    </a:p>
                  </a:txBody>
                  <a:tcPr marL="68580" marR="68580" marT="0" marB="0"/>
                </a:tc>
                <a:tc>
                  <a:txBody>
                    <a:bodyPr/>
                    <a:lstStyle/>
                    <a:p>
                      <a:pPr indent="177800" algn="ctr">
                        <a:lnSpc>
                          <a:spcPct val="107000"/>
                        </a:lnSpc>
                        <a:spcAft>
                          <a:spcPts val="0"/>
                        </a:spcAft>
                      </a:pPr>
                      <a:r>
                        <a:rPr lang="en-US" sz="1600" dirty="0">
                          <a:effectLst/>
                        </a:rPr>
                        <a:t>0.355</a:t>
                      </a:r>
                      <a:endParaRPr lang="en-CA" sz="16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7"/>
                  </a:ext>
                </a:extLst>
              </a:tr>
              <a:tr h="338819">
                <a:tc>
                  <a:txBody>
                    <a:bodyPr/>
                    <a:lstStyle/>
                    <a:p>
                      <a:pPr indent="177800" algn="ctr">
                        <a:lnSpc>
                          <a:spcPct val="107000"/>
                        </a:lnSpc>
                        <a:spcAft>
                          <a:spcPts val="0"/>
                        </a:spcAft>
                      </a:pPr>
                      <a:r>
                        <a:rPr lang="en-US" sz="1600">
                          <a:effectLst/>
                        </a:rPr>
                        <a:t>9</a:t>
                      </a:r>
                      <a:endParaRPr lang="en-CA" sz="1600">
                        <a:effectLst/>
                        <a:latin typeface="Book Antiqua"/>
                        <a:ea typeface="Times New Roman"/>
                        <a:cs typeface="Times New Roman"/>
                      </a:endParaRPr>
                    </a:p>
                  </a:txBody>
                  <a:tcPr marL="68580" marR="68580" marT="0" marB="0"/>
                </a:tc>
                <a:tc>
                  <a:txBody>
                    <a:bodyPr/>
                    <a:lstStyle/>
                    <a:p>
                      <a:pPr indent="177800" algn="ctr">
                        <a:lnSpc>
                          <a:spcPct val="107000"/>
                        </a:lnSpc>
                        <a:spcAft>
                          <a:spcPts val="0"/>
                        </a:spcAft>
                      </a:pPr>
                      <a:r>
                        <a:rPr lang="en-US" sz="1600" dirty="0">
                          <a:effectLst/>
                        </a:rPr>
                        <a:t>0.332</a:t>
                      </a:r>
                      <a:endParaRPr lang="en-CA" sz="16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8"/>
                  </a:ext>
                </a:extLst>
              </a:tr>
            </a:tbl>
          </a:graphicData>
        </a:graphic>
      </p:graphicFrame>
      <p:sp>
        <p:nvSpPr>
          <p:cNvPr id="4" name="Footer Placeholder 3"/>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p:cNvSpPr>
            <a:spLocks noGrp="1"/>
          </p:cNvSpPr>
          <p:nvPr>
            <p:ph type="sldNum" sz="quarter" idx="12"/>
          </p:nvPr>
        </p:nvSpPr>
        <p:spPr/>
        <p:txBody>
          <a:bodyPr/>
          <a:lstStyle/>
          <a:p>
            <a:fld id="{8F6C609E-065A-4A0E-A6D3-976F18D4BC33}" type="slidenum">
              <a:rPr lang="en-CA" smtClean="0"/>
              <a:t>25</a:t>
            </a:fld>
            <a:endParaRPr lang="en-CA"/>
          </a:p>
        </p:txBody>
      </p:sp>
    </p:spTree>
    <p:extLst>
      <p:ext uri="{BB962C8B-B14F-4D97-AF65-F5344CB8AC3E}">
        <p14:creationId xmlns:p14="http://schemas.microsoft.com/office/powerpoint/2010/main" val="26698506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96752"/>
            <a:ext cx="7772400" cy="1143000"/>
          </a:xfrm>
        </p:spPr>
        <p:txBody>
          <a:bodyPr/>
          <a:lstStyle/>
          <a:p>
            <a:r>
              <a:rPr lang="en-US" dirty="0"/>
              <a:t>Cluster centers (scaled values) Table 2.5</a:t>
            </a:r>
            <a:br>
              <a:rPr lang="en-US" dirty="0"/>
            </a:br>
            <a:r>
              <a:rPr lang="en-US" sz="2400" dirty="0"/>
              <a:t>Note that high values for the peace index are bad whereas high values for the legal risk index are good </a:t>
            </a:r>
            <a:endParaRPr lang="en-CA" sz="2400" dirty="0"/>
          </a:p>
        </p:txBody>
      </p:sp>
      <p:graphicFrame>
        <p:nvGraphicFramePr>
          <p:cNvPr id="3" name="Table 2"/>
          <p:cNvGraphicFramePr>
            <a:graphicFrameLocks noGrp="1"/>
          </p:cNvGraphicFramePr>
          <p:nvPr>
            <p:extLst>
              <p:ext uri="{D42A27DB-BD31-4B8C-83A1-F6EECF244321}">
                <p14:modId xmlns:p14="http://schemas.microsoft.com/office/powerpoint/2010/main" val="117062060"/>
              </p:ext>
            </p:extLst>
          </p:nvPr>
        </p:nvGraphicFramePr>
        <p:xfrm>
          <a:off x="1619672" y="2708920"/>
          <a:ext cx="6120680" cy="2342629"/>
        </p:xfrm>
        <a:graphic>
          <a:graphicData uri="http://schemas.openxmlformats.org/drawingml/2006/table">
            <a:tbl>
              <a:tblPr firstRow="1" firstCol="1" bandRow="1">
                <a:tableStyleId>{5940675A-B579-460E-94D1-54222C63F5DA}</a:tableStyleId>
              </a:tblPr>
              <a:tblGrid>
                <a:gridCol w="1761779">
                  <a:extLst>
                    <a:ext uri="{9D8B030D-6E8A-4147-A177-3AD203B41FA5}">
                      <a16:colId xmlns:a16="http://schemas.microsoft.com/office/drawing/2014/main" val="20000"/>
                    </a:ext>
                  </a:extLst>
                </a:gridCol>
                <a:gridCol w="1613756">
                  <a:extLst>
                    <a:ext uri="{9D8B030D-6E8A-4147-A177-3AD203B41FA5}">
                      <a16:colId xmlns:a16="http://schemas.microsoft.com/office/drawing/2014/main" val="20001"/>
                    </a:ext>
                  </a:extLst>
                </a:gridCol>
                <a:gridCol w="1464698">
                  <a:extLst>
                    <a:ext uri="{9D8B030D-6E8A-4147-A177-3AD203B41FA5}">
                      <a16:colId xmlns:a16="http://schemas.microsoft.com/office/drawing/2014/main" val="20002"/>
                    </a:ext>
                  </a:extLst>
                </a:gridCol>
                <a:gridCol w="1280447">
                  <a:extLst>
                    <a:ext uri="{9D8B030D-6E8A-4147-A177-3AD203B41FA5}">
                      <a16:colId xmlns:a16="http://schemas.microsoft.com/office/drawing/2014/main" val="20003"/>
                    </a:ext>
                  </a:extLst>
                </a:gridCol>
              </a:tblGrid>
              <a:tr h="720080">
                <a:tc>
                  <a:txBody>
                    <a:bodyPr/>
                    <a:lstStyle/>
                    <a:p>
                      <a:pPr indent="248285" algn="ctr">
                        <a:lnSpc>
                          <a:spcPct val="107000"/>
                        </a:lnSpc>
                        <a:spcAft>
                          <a:spcPts val="0"/>
                        </a:spcAft>
                      </a:pPr>
                      <a:r>
                        <a:rPr lang="en-US" sz="2000" dirty="0">
                          <a:effectLst/>
                        </a:rPr>
                        <a:t> </a:t>
                      </a:r>
                      <a:endParaRPr lang="en-CA" sz="2000" dirty="0">
                        <a:effectLst/>
                        <a:latin typeface="Book Antiqua"/>
                        <a:ea typeface="Times New Roman"/>
                        <a:cs typeface="Times New Roman"/>
                      </a:endParaRPr>
                    </a:p>
                  </a:txBody>
                  <a:tcPr marL="68580" marR="68580" marT="0" marB="0"/>
                </a:tc>
                <a:tc>
                  <a:txBody>
                    <a:bodyPr/>
                    <a:lstStyle/>
                    <a:p>
                      <a:pPr algn="ctr">
                        <a:lnSpc>
                          <a:spcPct val="107000"/>
                        </a:lnSpc>
                        <a:spcAft>
                          <a:spcPts val="0"/>
                        </a:spcAft>
                      </a:pPr>
                      <a:r>
                        <a:rPr lang="en-US" sz="2000">
                          <a:effectLst/>
                        </a:rPr>
                        <a:t>Peace index</a:t>
                      </a:r>
                      <a:endParaRPr lang="en-CA" sz="2000">
                        <a:effectLst/>
                        <a:latin typeface="Book Antiqua"/>
                        <a:ea typeface="Times New Roman"/>
                        <a:cs typeface="Times New Roman"/>
                      </a:endParaRPr>
                    </a:p>
                  </a:txBody>
                  <a:tcPr marL="68580" marR="68580" marT="0" marB="0"/>
                </a:tc>
                <a:tc>
                  <a:txBody>
                    <a:bodyPr/>
                    <a:lstStyle/>
                    <a:p>
                      <a:pPr algn="ctr">
                        <a:lnSpc>
                          <a:spcPct val="107000"/>
                        </a:lnSpc>
                        <a:spcAft>
                          <a:spcPts val="0"/>
                        </a:spcAft>
                      </a:pPr>
                      <a:r>
                        <a:rPr lang="en-US" sz="2000" dirty="0">
                          <a:effectLst/>
                        </a:rPr>
                        <a:t>Legal index</a:t>
                      </a:r>
                      <a:endParaRPr lang="en-CA" sz="2000" dirty="0">
                        <a:effectLst/>
                        <a:latin typeface="Book Antiqua"/>
                        <a:ea typeface="Times New Roman"/>
                        <a:cs typeface="Times New Roman"/>
                      </a:endParaRPr>
                    </a:p>
                  </a:txBody>
                  <a:tcPr marL="68580" marR="68580" marT="0" marB="0"/>
                </a:tc>
                <a:tc>
                  <a:txBody>
                    <a:bodyPr/>
                    <a:lstStyle/>
                    <a:p>
                      <a:pPr algn="ctr">
                        <a:lnSpc>
                          <a:spcPct val="107000"/>
                        </a:lnSpc>
                        <a:spcAft>
                          <a:spcPts val="0"/>
                        </a:spcAft>
                      </a:pPr>
                      <a:r>
                        <a:rPr lang="en-US" sz="2000">
                          <a:effectLst/>
                        </a:rPr>
                        <a:t>GDP</a:t>
                      </a:r>
                      <a:endParaRPr lang="en-CA" sz="200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0"/>
                  </a:ext>
                </a:extLst>
              </a:tr>
              <a:tr h="470421">
                <a:tc>
                  <a:txBody>
                    <a:bodyPr/>
                    <a:lstStyle/>
                    <a:p>
                      <a:pPr indent="248285" algn="ctr">
                        <a:lnSpc>
                          <a:spcPct val="107000"/>
                        </a:lnSpc>
                        <a:spcAft>
                          <a:spcPts val="0"/>
                        </a:spcAft>
                      </a:pPr>
                      <a:r>
                        <a:rPr lang="en-US" sz="2000">
                          <a:effectLst/>
                        </a:rPr>
                        <a:t>High risk</a:t>
                      </a:r>
                      <a:endParaRPr lang="en-CA" sz="2000">
                        <a:effectLst/>
                        <a:latin typeface="Book Antiqua"/>
                        <a:ea typeface="Times New Roman"/>
                        <a:cs typeface="Times New Roman"/>
                      </a:endParaRPr>
                    </a:p>
                  </a:txBody>
                  <a:tcPr marL="68580" marR="68580" marT="0" marB="0"/>
                </a:tc>
                <a:tc>
                  <a:txBody>
                    <a:bodyPr/>
                    <a:lstStyle/>
                    <a:p>
                      <a:pPr algn="ctr">
                        <a:lnSpc>
                          <a:spcPct val="107000"/>
                        </a:lnSpc>
                        <a:spcAft>
                          <a:spcPts val="0"/>
                        </a:spcAft>
                      </a:pPr>
                      <a:r>
                        <a:rPr lang="en-US" sz="2000" dirty="0">
                          <a:effectLst/>
                        </a:rPr>
                        <a:t>1.35</a:t>
                      </a:r>
                      <a:endParaRPr lang="en-CA" sz="2000" dirty="0">
                        <a:effectLst/>
                        <a:latin typeface="Book Antiqua"/>
                        <a:ea typeface="Times New Roman"/>
                        <a:cs typeface="Times New Roman"/>
                      </a:endParaRPr>
                    </a:p>
                  </a:txBody>
                  <a:tcPr marL="68580" marR="68580" marT="0" marB="0"/>
                </a:tc>
                <a:tc>
                  <a:txBody>
                    <a:bodyPr/>
                    <a:lstStyle/>
                    <a:p>
                      <a:pPr algn="ctr">
                        <a:lnSpc>
                          <a:spcPct val="107000"/>
                        </a:lnSpc>
                        <a:spcAft>
                          <a:spcPts val="0"/>
                        </a:spcAft>
                      </a:pPr>
                      <a:r>
                        <a:rPr lang="en-US" sz="2000" dirty="0">
                          <a:effectLst/>
                        </a:rPr>
                        <a:t>−0.83</a:t>
                      </a:r>
                      <a:endParaRPr lang="en-CA" sz="2000" dirty="0">
                        <a:effectLst/>
                        <a:latin typeface="Book Antiqua"/>
                        <a:ea typeface="Times New Roman"/>
                        <a:cs typeface="Times New Roman"/>
                      </a:endParaRPr>
                    </a:p>
                  </a:txBody>
                  <a:tcPr marL="68580" marR="68580" marT="0" marB="0"/>
                </a:tc>
                <a:tc>
                  <a:txBody>
                    <a:bodyPr/>
                    <a:lstStyle/>
                    <a:p>
                      <a:pPr algn="ctr">
                        <a:lnSpc>
                          <a:spcPct val="107000"/>
                        </a:lnSpc>
                        <a:spcAft>
                          <a:spcPts val="0"/>
                        </a:spcAft>
                      </a:pPr>
                      <a:r>
                        <a:rPr lang="en-US" sz="2000" dirty="0">
                          <a:effectLst/>
                        </a:rPr>
                        <a:t>−1.11</a:t>
                      </a:r>
                      <a:endParaRPr lang="en-CA" sz="20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1"/>
                  </a:ext>
                </a:extLst>
              </a:tr>
              <a:tr h="681707">
                <a:tc>
                  <a:txBody>
                    <a:bodyPr/>
                    <a:lstStyle/>
                    <a:p>
                      <a:pPr indent="248285" algn="ctr">
                        <a:lnSpc>
                          <a:spcPct val="107000"/>
                        </a:lnSpc>
                        <a:spcAft>
                          <a:spcPts val="0"/>
                        </a:spcAft>
                      </a:pPr>
                      <a:r>
                        <a:rPr lang="en-US" sz="2000" dirty="0">
                          <a:effectLst/>
                        </a:rPr>
                        <a:t>Moderate risk</a:t>
                      </a:r>
                      <a:endParaRPr lang="en-CA" sz="2000" dirty="0">
                        <a:effectLst/>
                        <a:latin typeface="Book Antiqua"/>
                        <a:ea typeface="Times New Roman"/>
                        <a:cs typeface="Times New Roman"/>
                      </a:endParaRPr>
                    </a:p>
                  </a:txBody>
                  <a:tcPr marL="68580" marR="68580" marT="0" marB="0"/>
                </a:tc>
                <a:tc>
                  <a:txBody>
                    <a:bodyPr/>
                    <a:lstStyle/>
                    <a:p>
                      <a:pPr algn="ctr">
                        <a:lnSpc>
                          <a:spcPct val="107000"/>
                        </a:lnSpc>
                        <a:spcAft>
                          <a:spcPts val="0"/>
                        </a:spcAft>
                      </a:pPr>
                      <a:r>
                        <a:rPr lang="en-US" sz="2000" dirty="0">
                          <a:effectLst/>
                        </a:rPr>
                        <a:t>0.22</a:t>
                      </a:r>
                      <a:endParaRPr lang="en-CA" sz="2000" dirty="0">
                        <a:effectLst/>
                        <a:latin typeface="Book Antiqua"/>
                        <a:ea typeface="Times New Roman"/>
                        <a:cs typeface="Times New Roman"/>
                      </a:endParaRPr>
                    </a:p>
                  </a:txBody>
                  <a:tcPr marL="68580" marR="68580" marT="0" marB="0"/>
                </a:tc>
                <a:tc>
                  <a:txBody>
                    <a:bodyPr/>
                    <a:lstStyle/>
                    <a:p>
                      <a:pPr algn="ctr">
                        <a:lnSpc>
                          <a:spcPct val="107000"/>
                        </a:lnSpc>
                        <a:spcAft>
                          <a:spcPts val="0"/>
                        </a:spcAft>
                      </a:pPr>
                      <a:r>
                        <a:rPr lang="en-US" sz="2000" dirty="0">
                          <a:effectLst/>
                        </a:rPr>
                        <a:t>−0.55</a:t>
                      </a:r>
                      <a:endParaRPr lang="en-CA" sz="2000" dirty="0">
                        <a:effectLst/>
                        <a:latin typeface="Book Antiqua"/>
                        <a:ea typeface="Times New Roman"/>
                        <a:cs typeface="Times New Roman"/>
                      </a:endParaRPr>
                    </a:p>
                  </a:txBody>
                  <a:tcPr marL="68580" marR="68580" marT="0" marB="0"/>
                </a:tc>
                <a:tc>
                  <a:txBody>
                    <a:bodyPr/>
                    <a:lstStyle/>
                    <a:p>
                      <a:pPr algn="ctr">
                        <a:lnSpc>
                          <a:spcPct val="107000"/>
                        </a:lnSpc>
                        <a:spcAft>
                          <a:spcPts val="0"/>
                        </a:spcAft>
                      </a:pPr>
                      <a:r>
                        <a:rPr lang="en-US" sz="2000" dirty="0">
                          <a:effectLst/>
                        </a:rPr>
                        <a:t>  0.60</a:t>
                      </a:r>
                      <a:endParaRPr lang="en-CA" sz="20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2"/>
                  </a:ext>
                </a:extLst>
              </a:tr>
              <a:tr h="470421">
                <a:tc>
                  <a:txBody>
                    <a:bodyPr/>
                    <a:lstStyle/>
                    <a:p>
                      <a:pPr indent="248285" algn="ctr">
                        <a:lnSpc>
                          <a:spcPct val="107000"/>
                        </a:lnSpc>
                        <a:spcAft>
                          <a:spcPts val="0"/>
                        </a:spcAft>
                      </a:pPr>
                      <a:r>
                        <a:rPr lang="en-US" sz="2000">
                          <a:effectLst/>
                        </a:rPr>
                        <a:t>Low risk</a:t>
                      </a:r>
                      <a:endParaRPr lang="en-CA" sz="2000">
                        <a:effectLst/>
                        <a:latin typeface="Book Antiqua"/>
                        <a:ea typeface="Times New Roman"/>
                        <a:cs typeface="Times New Roman"/>
                      </a:endParaRPr>
                    </a:p>
                  </a:txBody>
                  <a:tcPr marL="68580" marR="68580" marT="0" marB="0"/>
                </a:tc>
                <a:tc>
                  <a:txBody>
                    <a:bodyPr/>
                    <a:lstStyle/>
                    <a:p>
                      <a:pPr algn="ctr">
                        <a:lnSpc>
                          <a:spcPct val="107000"/>
                        </a:lnSpc>
                        <a:spcAft>
                          <a:spcPts val="0"/>
                        </a:spcAft>
                      </a:pPr>
                      <a:r>
                        <a:rPr lang="en-US" sz="2000" dirty="0">
                          <a:effectLst/>
                        </a:rPr>
                        <a:t>−0.85</a:t>
                      </a:r>
                      <a:endParaRPr lang="en-CA" sz="2000" dirty="0">
                        <a:effectLst/>
                        <a:latin typeface="Book Antiqua"/>
                        <a:ea typeface="Times New Roman"/>
                        <a:cs typeface="Times New Roman"/>
                      </a:endParaRPr>
                    </a:p>
                  </a:txBody>
                  <a:tcPr marL="68580" marR="68580" marT="0" marB="0"/>
                </a:tc>
                <a:tc>
                  <a:txBody>
                    <a:bodyPr/>
                    <a:lstStyle/>
                    <a:p>
                      <a:pPr algn="ctr">
                        <a:lnSpc>
                          <a:spcPct val="107000"/>
                        </a:lnSpc>
                        <a:spcAft>
                          <a:spcPts val="0"/>
                        </a:spcAft>
                      </a:pPr>
                      <a:r>
                        <a:rPr lang="en-US" sz="2000" dirty="0">
                          <a:effectLst/>
                        </a:rPr>
                        <a:t>  1.02</a:t>
                      </a:r>
                      <a:endParaRPr lang="en-CA" sz="2000" dirty="0">
                        <a:effectLst/>
                        <a:latin typeface="Book Antiqua"/>
                        <a:ea typeface="Times New Roman"/>
                        <a:cs typeface="Times New Roman"/>
                      </a:endParaRPr>
                    </a:p>
                  </a:txBody>
                  <a:tcPr marL="68580" marR="68580" marT="0" marB="0"/>
                </a:tc>
                <a:tc>
                  <a:txBody>
                    <a:bodyPr/>
                    <a:lstStyle/>
                    <a:p>
                      <a:pPr algn="ctr">
                        <a:lnSpc>
                          <a:spcPct val="107000"/>
                        </a:lnSpc>
                        <a:spcAft>
                          <a:spcPts val="0"/>
                        </a:spcAft>
                      </a:pPr>
                      <a:r>
                        <a:rPr lang="en-US" sz="2000" dirty="0">
                          <a:effectLst/>
                          <a:latin typeface="Book Antiqua"/>
                          <a:ea typeface="Times New Roman"/>
                          <a:cs typeface="Times New Roman"/>
                        </a:rPr>
                        <a:t>−0.24</a:t>
                      </a:r>
                      <a:endParaRPr lang="en-CA" sz="2000" dirty="0">
                        <a:effectLst/>
                        <a:latin typeface="Book Antiqua"/>
                        <a:ea typeface="Times New Roman"/>
                        <a:cs typeface="Times New Roman"/>
                      </a:endParaRPr>
                    </a:p>
                  </a:txBody>
                  <a:tcPr marL="68580" marR="68580" marT="0" marB="0"/>
                </a:tc>
                <a:extLst>
                  <a:ext uri="{0D108BD9-81ED-4DB2-BD59-A6C34878D82A}">
                    <a16:rowId xmlns:a16="http://schemas.microsoft.com/office/drawing/2014/main" val="10003"/>
                  </a:ext>
                </a:extLst>
              </a:tr>
            </a:tbl>
          </a:graphicData>
        </a:graphic>
      </p:graphicFrame>
      <p:sp>
        <p:nvSpPr>
          <p:cNvPr id="4" name="Rectangle 1"/>
          <p:cNvSpPr>
            <a:spLocks noChangeArrowheads="1"/>
          </p:cNvSpPr>
          <p:nvPr/>
        </p:nvSpPr>
        <p:spPr bwMode="auto">
          <a:xfrm>
            <a:off x="2693988" y="37560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5" name="Footer Placeholder 4"/>
          <p:cNvSpPr>
            <a:spLocks noGrp="1"/>
          </p:cNvSpPr>
          <p:nvPr>
            <p:ph type="ftr" sz="quarter" idx="11"/>
          </p:nvPr>
        </p:nvSpPr>
        <p:spPr/>
        <p:txBody>
          <a:bodyPr/>
          <a:lstStyle/>
          <a:p>
            <a:r>
              <a:rPr lang="en-US"/>
              <a:t>Machine Learning and Financial Institutions, 3rd Ed.  Copyright  © John C. Hull 2021</a:t>
            </a:r>
            <a:endParaRPr lang="en-CA" dirty="0"/>
          </a:p>
        </p:txBody>
      </p:sp>
      <p:sp>
        <p:nvSpPr>
          <p:cNvPr id="6" name="Slide Number Placeholder 5"/>
          <p:cNvSpPr>
            <a:spLocks noGrp="1"/>
          </p:cNvSpPr>
          <p:nvPr>
            <p:ph type="sldNum" sz="quarter" idx="12"/>
          </p:nvPr>
        </p:nvSpPr>
        <p:spPr/>
        <p:txBody>
          <a:bodyPr/>
          <a:lstStyle/>
          <a:p>
            <a:fld id="{8F6C609E-065A-4A0E-A6D3-976F18D4BC33}" type="slidenum">
              <a:rPr lang="en-CA" smtClean="0"/>
              <a:t>26</a:t>
            </a:fld>
            <a:endParaRPr lang="en-CA"/>
          </a:p>
        </p:txBody>
      </p:sp>
    </p:spTree>
    <p:extLst>
      <p:ext uri="{BB962C8B-B14F-4D97-AF65-F5344CB8AC3E}">
        <p14:creationId xmlns:p14="http://schemas.microsoft.com/office/powerpoint/2010/main" val="637148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Hierarchical Clustering (page 39-40)</a:t>
            </a:r>
            <a:endParaRPr lang="en-CA" dirty="0"/>
          </a:p>
        </p:txBody>
      </p:sp>
      <p:sp>
        <p:nvSpPr>
          <p:cNvPr id="3" name="Content Placeholder 2"/>
          <p:cNvSpPr>
            <a:spLocks noGrp="1"/>
          </p:cNvSpPr>
          <p:nvPr>
            <p:ph idx="1"/>
          </p:nvPr>
        </p:nvSpPr>
        <p:spPr/>
        <p:txBody>
          <a:bodyPr/>
          <a:lstStyle/>
          <a:p>
            <a:r>
              <a:rPr lang="en-US" dirty="0"/>
              <a:t>Start with each observation in its own cluster</a:t>
            </a:r>
          </a:p>
          <a:p>
            <a:r>
              <a:rPr lang="en-US" dirty="0"/>
              <a:t>Combine the two closest clusters</a:t>
            </a:r>
          </a:p>
          <a:p>
            <a:r>
              <a:rPr lang="en-US" dirty="0"/>
              <a:t>Continue until all observations have been combined into a single cluster</a:t>
            </a:r>
          </a:p>
          <a:p>
            <a:r>
              <a:rPr lang="en-US" dirty="0"/>
              <a:t>Can be implemented in Python with </a:t>
            </a:r>
            <a:r>
              <a:rPr lang="en-US" dirty="0" err="1"/>
              <a:t>AgglomerativeClustering</a:t>
            </a:r>
            <a:r>
              <a:rPr lang="en-US" dirty="0"/>
              <a:t>.</a:t>
            </a:r>
          </a:p>
          <a:p>
            <a:r>
              <a:rPr lang="en-US" dirty="0"/>
              <a:t>Measures of closeness of clusters:</a:t>
            </a:r>
          </a:p>
          <a:p>
            <a:pPr lvl="1"/>
            <a:r>
              <a:rPr lang="en-US" dirty="0"/>
              <a:t>Average Euclidean distance between points in clusters</a:t>
            </a:r>
          </a:p>
          <a:p>
            <a:pPr lvl="1"/>
            <a:r>
              <a:rPr lang="en-US" dirty="0"/>
              <a:t>Maximum distance between points in clusters</a:t>
            </a:r>
          </a:p>
          <a:p>
            <a:pPr lvl="1"/>
            <a:r>
              <a:rPr lang="en-US" dirty="0"/>
              <a:t>Minimum distance between points in clusters</a:t>
            </a:r>
          </a:p>
          <a:p>
            <a:pPr lvl="1"/>
            <a:r>
              <a:rPr lang="en-US" dirty="0"/>
              <a:t>Increase in inertia (a version of Ward’s method)</a:t>
            </a:r>
          </a:p>
          <a:p>
            <a:pPr lvl="1"/>
            <a:endParaRPr lang="en-US" dirty="0"/>
          </a:p>
          <a:p>
            <a:pPr marL="0" indent="0">
              <a:buNone/>
            </a:pPr>
            <a:endParaRPr lang="en-CA" dirty="0"/>
          </a:p>
        </p:txBody>
      </p:sp>
      <p:sp>
        <p:nvSpPr>
          <p:cNvPr id="4" name="Footer Placeholder 3"/>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p:cNvSpPr>
            <a:spLocks noGrp="1"/>
          </p:cNvSpPr>
          <p:nvPr>
            <p:ph type="sldNum" sz="quarter" idx="12"/>
          </p:nvPr>
        </p:nvSpPr>
        <p:spPr/>
        <p:txBody>
          <a:bodyPr/>
          <a:lstStyle/>
          <a:p>
            <a:fld id="{8F6C609E-065A-4A0E-A6D3-976F18D4BC33}" type="slidenum">
              <a:rPr lang="en-CA" smtClean="0"/>
              <a:t>27</a:t>
            </a:fld>
            <a:endParaRPr lang="en-CA"/>
          </a:p>
        </p:txBody>
      </p:sp>
    </p:spTree>
    <p:extLst>
      <p:ext uri="{BB962C8B-B14F-4D97-AF65-F5344CB8AC3E}">
        <p14:creationId xmlns:p14="http://schemas.microsoft.com/office/powerpoint/2010/main" val="1742192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Density-based clustering</a:t>
            </a:r>
            <a:endParaRPr lang="en-CA" dirty="0"/>
          </a:p>
        </p:txBody>
      </p:sp>
      <p:sp>
        <p:nvSpPr>
          <p:cNvPr id="3" name="Content Placeholder 2"/>
          <p:cNvSpPr>
            <a:spLocks noGrp="1"/>
          </p:cNvSpPr>
          <p:nvPr>
            <p:ph idx="1"/>
          </p:nvPr>
        </p:nvSpPr>
        <p:spPr/>
        <p:txBody>
          <a:bodyPr/>
          <a:lstStyle/>
          <a:p>
            <a:r>
              <a:rPr lang="en-US" sz="2400" dirty="0"/>
              <a:t>Forms clusters based on the closeness of individual observations</a:t>
            </a:r>
          </a:p>
          <a:p>
            <a:r>
              <a:rPr lang="en-US" sz="2400" dirty="0"/>
              <a:t>Unlike </a:t>
            </a:r>
            <a:r>
              <a:rPr lang="en-US" sz="2400" i="1" dirty="0"/>
              <a:t>k</a:t>
            </a:r>
            <a:r>
              <a:rPr lang="en-US" sz="2400" dirty="0"/>
              <a:t>-means the algorithm, it is not based on cluster centers.</a:t>
            </a:r>
          </a:p>
          <a:p>
            <a:r>
              <a:rPr lang="en-US" sz="2400" dirty="0"/>
              <a:t>We might initially choose 8 observations that are close. After that we add an observation to the cluster if it is close to at least 5 other observations in the cluster, and repeat. </a:t>
            </a:r>
            <a:endParaRPr lang="en-CA" sz="2400" dirty="0"/>
          </a:p>
        </p:txBody>
      </p:sp>
      <p:sp>
        <p:nvSpPr>
          <p:cNvPr id="4" name="Footer Placeholder 3"/>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p:cNvSpPr>
            <a:spLocks noGrp="1"/>
          </p:cNvSpPr>
          <p:nvPr>
            <p:ph type="sldNum" sz="quarter" idx="12"/>
          </p:nvPr>
        </p:nvSpPr>
        <p:spPr/>
        <p:txBody>
          <a:bodyPr/>
          <a:lstStyle/>
          <a:p>
            <a:fld id="{8F6C609E-065A-4A0E-A6D3-976F18D4BC33}" type="slidenum">
              <a:rPr lang="en-CA" smtClean="0"/>
              <a:t>28</a:t>
            </a:fld>
            <a:endParaRPr lang="en-CA"/>
          </a:p>
        </p:txBody>
      </p:sp>
    </p:spTree>
    <p:extLst>
      <p:ext uri="{BB962C8B-B14F-4D97-AF65-F5344CB8AC3E}">
        <p14:creationId xmlns:p14="http://schemas.microsoft.com/office/powerpoint/2010/main" val="3316163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Density-based Clustering Examples</a:t>
            </a:r>
            <a:endParaRPr lang="en-CA" dirty="0"/>
          </a:p>
        </p:txBody>
      </p:sp>
      <p:pic>
        <p:nvPicPr>
          <p:cNvPr id="3" name="Picture 2"/>
          <p:cNvPicPr/>
          <p:nvPr/>
        </p:nvPicPr>
        <p:blipFill>
          <a:blip r:embed="rId2" cstate="print">
            <a:biLevel thresh="75000"/>
            <a:extLst>
              <a:ext uri="{28A0092B-C50C-407E-A947-70E740481C1C}">
                <a14:useLocalDpi xmlns:a14="http://schemas.microsoft.com/office/drawing/2010/main" val="0"/>
              </a:ext>
            </a:extLst>
          </a:blip>
          <a:srcRect/>
          <a:stretch>
            <a:fillRect/>
          </a:stretch>
        </p:blipFill>
        <p:spPr bwMode="auto">
          <a:xfrm>
            <a:off x="971600" y="2652711"/>
            <a:ext cx="3960440" cy="2720505"/>
          </a:xfrm>
          <a:prstGeom prst="rect">
            <a:avLst/>
          </a:prstGeom>
          <a:noFill/>
          <a:ln>
            <a:noFill/>
          </a:ln>
        </p:spPr>
      </p:pic>
      <p:pic>
        <p:nvPicPr>
          <p:cNvPr id="4" name="Picture 3"/>
          <p:cNvPicPr/>
          <p:nvPr/>
        </p:nvPicPr>
        <p:blipFill>
          <a:blip r:embed="rId3">
            <a:biLevel thresh="75000"/>
            <a:extLst>
              <a:ext uri="{28A0092B-C50C-407E-A947-70E740481C1C}">
                <a14:useLocalDpi xmlns:a14="http://schemas.microsoft.com/office/drawing/2010/main" val="0"/>
              </a:ext>
            </a:extLst>
          </a:blip>
          <a:srcRect/>
          <a:stretch>
            <a:fillRect/>
          </a:stretch>
        </p:blipFill>
        <p:spPr bwMode="auto">
          <a:xfrm>
            <a:off x="4932040" y="2633662"/>
            <a:ext cx="3096344" cy="2307506"/>
          </a:xfrm>
          <a:prstGeom prst="rect">
            <a:avLst/>
          </a:prstGeom>
          <a:noFill/>
          <a:ln>
            <a:noFill/>
          </a:ln>
        </p:spPr>
      </p:pic>
      <p:sp>
        <p:nvSpPr>
          <p:cNvPr id="5" name="Footer Placeholder 4"/>
          <p:cNvSpPr>
            <a:spLocks noGrp="1"/>
          </p:cNvSpPr>
          <p:nvPr>
            <p:ph type="ftr" sz="quarter" idx="11"/>
          </p:nvPr>
        </p:nvSpPr>
        <p:spPr/>
        <p:txBody>
          <a:bodyPr/>
          <a:lstStyle/>
          <a:p>
            <a:r>
              <a:rPr lang="en-US"/>
              <a:t>Machine Learning and Financial Institutions, 3rd Ed.  Copyright  © John C. Hull 2021</a:t>
            </a:r>
            <a:endParaRPr lang="en-CA"/>
          </a:p>
        </p:txBody>
      </p:sp>
      <p:sp>
        <p:nvSpPr>
          <p:cNvPr id="6" name="Slide Number Placeholder 5"/>
          <p:cNvSpPr>
            <a:spLocks noGrp="1"/>
          </p:cNvSpPr>
          <p:nvPr>
            <p:ph type="sldNum" sz="quarter" idx="12"/>
          </p:nvPr>
        </p:nvSpPr>
        <p:spPr/>
        <p:txBody>
          <a:bodyPr/>
          <a:lstStyle/>
          <a:p>
            <a:fld id="{8F6C609E-065A-4A0E-A6D3-976F18D4BC33}" type="slidenum">
              <a:rPr lang="en-CA" smtClean="0"/>
              <a:t>29</a:t>
            </a:fld>
            <a:endParaRPr lang="en-CA"/>
          </a:p>
        </p:txBody>
      </p:sp>
    </p:spTree>
    <p:extLst>
      <p:ext uri="{BB962C8B-B14F-4D97-AF65-F5344CB8AC3E}">
        <p14:creationId xmlns:p14="http://schemas.microsoft.com/office/powerpoint/2010/main" val="27960702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Distribution-based Clustering</a:t>
            </a:r>
            <a:endParaRPr lang="en-CA" dirty="0"/>
          </a:p>
        </p:txBody>
      </p:sp>
      <p:sp>
        <p:nvSpPr>
          <p:cNvPr id="3" name="Content Placeholder 2"/>
          <p:cNvSpPr>
            <a:spLocks noGrp="1"/>
          </p:cNvSpPr>
          <p:nvPr>
            <p:ph idx="1"/>
          </p:nvPr>
        </p:nvSpPr>
        <p:spPr/>
        <p:txBody>
          <a:bodyPr/>
          <a:lstStyle/>
          <a:p>
            <a:r>
              <a:rPr lang="en-US" sz="2800" dirty="0"/>
              <a:t>Assumes that observations come from a mixture of distributions and uses statistical procedures to separate the distributions </a:t>
            </a:r>
            <a:endParaRPr lang="en-CA" sz="2800" dirty="0"/>
          </a:p>
        </p:txBody>
      </p:sp>
      <p:sp>
        <p:nvSpPr>
          <p:cNvPr id="4" name="Footer Placeholder 3"/>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p:cNvSpPr>
            <a:spLocks noGrp="1"/>
          </p:cNvSpPr>
          <p:nvPr>
            <p:ph type="sldNum" sz="quarter" idx="12"/>
          </p:nvPr>
        </p:nvSpPr>
        <p:spPr/>
        <p:txBody>
          <a:bodyPr/>
          <a:lstStyle/>
          <a:p>
            <a:fld id="{8F6C609E-065A-4A0E-A6D3-976F18D4BC33}" type="slidenum">
              <a:rPr lang="en-CA" smtClean="0"/>
              <a:t>30</a:t>
            </a:fld>
            <a:endParaRPr lang="en-CA"/>
          </a:p>
        </p:txBody>
      </p:sp>
    </p:spTree>
    <p:extLst>
      <p:ext uri="{BB962C8B-B14F-4D97-AF65-F5344CB8AC3E}">
        <p14:creationId xmlns:p14="http://schemas.microsoft.com/office/powerpoint/2010/main" val="655581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Principal Components Analysis</a:t>
            </a:r>
          </a:p>
        </p:txBody>
      </p:sp>
      <p:sp>
        <p:nvSpPr>
          <p:cNvPr id="3" name="Content Placeholder 2"/>
          <p:cNvSpPr>
            <a:spLocks noGrp="1"/>
          </p:cNvSpPr>
          <p:nvPr>
            <p:ph idx="1"/>
          </p:nvPr>
        </p:nvSpPr>
        <p:spPr/>
        <p:txBody>
          <a:bodyPr/>
          <a:lstStyle/>
          <a:p>
            <a:r>
              <a:rPr lang="en-CA" dirty="0"/>
              <a:t>This is another approach to reducing the number of variables</a:t>
            </a:r>
          </a:p>
          <a:p>
            <a:r>
              <a:rPr lang="en-CA" dirty="0"/>
              <a:t>PCA replaces a set of </a:t>
            </a:r>
            <a:r>
              <a:rPr lang="en-CA" i="1" dirty="0"/>
              <a:t>n</a:t>
            </a:r>
            <a:r>
              <a:rPr lang="en-CA" dirty="0"/>
              <a:t> variables by </a:t>
            </a:r>
            <a:r>
              <a:rPr lang="en-CA" i="1" dirty="0"/>
              <a:t>n</a:t>
            </a:r>
            <a:r>
              <a:rPr lang="en-CA" dirty="0"/>
              <a:t> factors so that:</a:t>
            </a:r>
          </a:p>
          <a:p>
            <a:pPr lvl="1"/>
            <a:r>
              <a:rPr lang="en-CA" dirty="0"/>
              <a:t>Any observation on the original variables is a linear combination of the </a:t>
            </a:r>
            <a:r>
              <a:rPr lang="en-CA" i="1" dirty="0"/>
              <a:t>n</a:t>
            </a:r>
            <a:r>
              <a:rPr lang="en-CA" dirty="0"/>
              <a:t> factors</a:t>
            </a:r>
          </a:p>
          <a:p>
            <a:pPr lvl="1"/>
            <a:r>
              <a:rPr lang="en-CA" dirty="0"/>
              <a:t>The </a:t>
            </a:r>
            <a:r>
              <a:rPr lang="en-CA" i="1" dirty="0"/>
              <a:t>n</a:t>
            </a:r>
            <a:r>
              <a:rPr lang="en-CA" dirty="0"/>
              <a:t> factors are uncorrelated</a:t>
            </a:r>
          </a:p>
          <a:p>
            <a:pPr lvl="1"/>
            <a:r>
              <a:rPr lang="en-CA" dirty="0"/>
              <a:t>The quantity of a particular factor in a particular observation is the factor score</a:t>
            </a:r>
          </a:p>
          <a:p>
            <a:pPr lvl="1"/>
            <a:r>
              <a:rPr lang="en-CA" dirty="0"/>
              <a:t>The importance of a particular factor is measured by the standard deviation of its factor score across observations  </a:t>
            </a:r>
          </a:p>
          <a:p>
            <a:r>
              <a:rPr lang="en-CA" dirty="0"/>
              <a:t>The idea is to find a few variables that account for a high percentage of the variance in the observations</a:t>
            </a:r>
          </a:p>
          <a:p>
            <a:pPr lvl="1"/>
            <a:endParaRPr lang="en-CA" dirty="0"/>
          </a:p>
        </p:txBody>
      </p:sp>
      <p:sp>
        <p:nvSpPr>
          <p:cNvPr id="4" name="Footer Placeholder 3"/>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31</a:t>
            </a:fld>
            <a:endParaRPr lang="en-CA"/>
          </a:p>
        </p:txBody>
      </p:sp>
    </p:spTree>
    <p:extLst>
      <p:ext uri="{BB962C8B-B14F-4D97-AF65-F5344CB8AC3E}">
        <p14:creationId xmlns:p14="http://schemas.microsoft.com/office/powerpoint/2010/main" val="1331260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CA" dirty="0"/>
              <a:t>Example: Daily interest rate changes</a:t>
            </a:r>
            <a:endParaRPr lang="en-CA" sz="2000" dirty="0"/>
          </a:p>
        </p:txBody>
      </p:sp>
      <p:sp>
        <p:nvSpPr>
          <p:cNvPr id="4" name="Footer Placeholder 3"/>
          <p:cNvSpPr>
            <a:spLocks noGrp="1"/>
          </p:cNvSpPr>
          <p:nvPr>
            <p:ph type="ftr" sz="quarter" idx="11"/>
          </p:nvPr>
        </p:nvSpPr>
        <p:spPr/>
        <p:txBody>
          <a:bodyPr/>
          <a:lstStyle/>
          <a:p>
            <a:r>
              <a:rPr lang="en-US"/>
              <a:t>Machine Learning and Financial Institutions,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32</a:t>
            </a:fld>
            <a:endParaRPr lang="en-CA"/>
          </a:p>
        </p:txBody>
      </p:sp>
      <p:sp>
        <p:nvSpPr>
          <p:cNvPr id="7" name="Content Placeholder 6"/>
          <p:cNvSpPr>
            <a:spLocks noGrp="1"/>
          </p:cNvSpPr>
          <p:nvPr>
            <p:ph idx="1"/>
          </p:nvPr>
        </p:nvSpPr>
        <p:spPr>
          <a:xfrm>
            <a:off x="685800" y="2132856"/>
            <a:ext cx="7772400" cy="4114800"/>
          </a:xfrm>
        </p:spPr>
        <p:txBody>
          <a:bodyPr/>
          <a:lstStyle/>
          <a:p>
            <a:pPr marL="0" indent="0">
              <a:buNone/>
            </a:pPr>
            <a:r>
              <a:rPr lang="en-CA" dirty="0"/>
              <a:t> </a:t>
            </a:r>
          </a:p>
        </p:txBody>
      </p:sp>
      <p:graphicFrame>
        <p:nvGraphicFramePr>
          <p:cNvPr id="3" name="Table 5">
            <a:extLst>
              <a:ext uri="{FF2B5EF4-FFF2-40B4-BE49-F238E27FC236}">
                <a16:creationId xmlns:a16="http://schemas.microsoft.com/office/drawing/2014/main" id="{9BA64F65-FEC7-45D5-AA64-5A23B1B9D80A}"/>
              </a:ext>
            </a:extLst>
          </p:cNvPr>
          <p:cNvGraphicFramePr>
            <a:graphicFrameLocks noGrp="1"/>
          </p:cNvGraphicFramePr>
          <p:nvPr>
            <p:extLst>
              <p:ext uri="{D42A27DB-BD31-4B8C-83A1-F6EECF244321}">
                <p14:modId xmlns:p14="http://schemas.microsoft.com/office/powerpoint/2010/main" val="1671653570"/>
              </p:ext>
            </p:extLst>
          </p:nvPr>
        </p:nvGraphicFramePr>
        <p:xfrm>
          <a:off x="1084263" y="2321349"/>
          <a:ext cx="6096000" cy="333756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1971913635"/>
                    </a:ext>
                  </a:extLst>
                </a:gridCol>
                <a:gridCol w="1524000">
                  <a:extLst>
                    <a:ext uri="{9D8B030D-6E8A-4147-A177-3AD203B41FA5}">
                      <a16:colId xmlns:a16="http://schemas.microsoft.com/office/drawing/2014/main" val="3309008754"/>
                    </a:ext>
                  </a:extLst>
                </a:gridCol>
                <a:gridCol w="1524000">
                  <a:extLst>
                    <a:ext uri="{9D8B030D-6E8A-4147-A177-3AD203B41FA5}">
                      <a16:colId xmlns:a16="http://schemas.microsoft.com/office/drawing/2014/main" val="530439538"/>
                    </a:ext>
                  </a:extLst>
                </a:gridCol>
                <a:gridCol w="1524000">
                  <a:extLst>
                    <a:ext uri="{9D8B030D-6E8A-4147-A177-3AD203B41FA5}">
                      <a16:colId xmlns:a16="http://schemas.microsoft.com/office/drawing/2014/main" val="840198406"/>
                    </a:ext>
                  </a:extLst>
                </a:gridCol>
              </a:tblGrid>
              <a:tr h="370840">
                <a:tc>
                  <a:txBody>
                    <a:bodyPr/>
                    <a:lstStyle/>
                    <a:p>
                      <a:pPr algn="ctr"/>
                      <a:r>
                        <a:rPr lang="en-CA" dirty="0"/>
                        <a:t>Maturity</a:t>
                      </a:r>
                    </a:p>
                  </a:txBody>
                  <a:tcPr/>
                </a:tc>
                <a:tc>
                  <a:txBody>
                    <a:bodyPr/>
                    <a:lstStyle/>
                    <a:p>
                      <a:pPr algn="ctr"/>
                      <a:r>
                        <a:rPr lang="en-CA" dirty="0"/>
                        <a:t>PC1</a:t>
                      </a:r>
                    </a:p>
                  </a:txBody>
                  <a:tcPr/>
                </a:tc>
                <a:tc>
                  <a:txBody>
                    <a:bodyPr/>
                    <a:lstStyle/>
                    <a:p>
                      <a:pPr algn="ctr"/>
                      <a:r>
                        <a:rPr lang="en-CA" dirty="0"/>
                        <a:t>PC2</a:t>
                      </a:r>
                    </a:p>
                  </a:txBody>
                  <a:tcPr/>
                </a:tc>
                <a:tc>
                  <a:txBody>
                    <a:bodyPr/>
                    <a:lstStyle/>
                    <a:p>
                      <a:pPr algn="ctr"/>
                      <a:r>
                        <a:rPr lang="en-CA" dirty="0"/>
                        <a:t> PC3</a:t>
                      </a:r>
                    </a:p>
                  </a:txBody>
                  <a:tcPr/>
                </a:tc>
                <a:extLst>
                  <a:ext uri="{0D108BD9-81ED-4DB2-BD59-A6C34878D82A}">
                    <a16:rowId xmlns:a16="http://schemas.microsoft.com/office/drawing/2014/main" val="799681119"/>
                  </a:ext>
                </a:extLst>
              </a:tr>
              <a:tr h="370840">
                <a:tc>
                  <a:txBody>
                    <a:bodyPr/>
                    <a:lstStyle/>
                    <a:p>
                      <a:pPr algn="ctr"/>
                      <a:r>
                        <a:rPr lang="en-CA" dirty="0"/>
                        <a:t>1yr</a:t>
                      </a:r>
                    </a:p>
                  </a:txBody>
                  <a:tcPr/>
                </a:tc>
                <a:tc>
                  <a:txBody>
                    <a:bodyPr/>
                    <a:lstStyle/>
                    <a:p>
                      <a:pPr algn="ctr"/>
                      <a:r>
                        <a:rPr lang="en-CA" dirty="0"/>
                        <a:t>0.083</a:t>
                      </a:r>
                    </a:p>
                  </a:txBody>
                  <a:tcPr/>
                </a:tc>
                <a:tc>
                  <a:txBody>
                    <a:bodyPr/>
                    <a:lstStyle/>
                    <a:p>
                      <a:pPr algn="ctr"/>
                      <a:r>
                        <a:rPr lang="en-CA" dirty="0"/>
                        <a:t>−0.242</a:t>
                      </a:r>
                    </a:p>
                  </a:txBody>
                  <a:tcPr/>
                </a:tc>
                <a:tc>
                  <a:txBody>
                    <a:bodyPr/>
                    <a:lstStyle/>
                    <a:p>
                      <a:pPr algn="ctr"/>
                      <a:r>
                        <a:rPr lang="en-CA" dirty="0"/>
                        <a:t>   0.685</a:t>
                      </a:r>
                    </a:p>
                  </a:txBody>
                  <a:tcPr/>
                </a:tc>
                <a:extLst>
                  <a:ext uri="{0D108BD9-81ED-4DB2-BD59-A6C34878D82A}">
                    <a16:rowId xmlns:a16="http://schemas.microsoft.com/office/drawing/2014/main" val="3256868726"/>
                  </a:ext>
                </a:extLst>
              </a:tr>
              <a:tr h="370840">
                <a:tc>
                  <a:txBody>
                    <a:bodyPr/>
                    <a:lstStyle/>
                    <a:p>
                      <a:pPr algn="ctr"/>
                      <a:r>
                        <a:rPr lang="en-CA" dirty="0"/>
                        <a:t>2yr</a:t>
                      </a:r>
                    </a:p>
                  </a:txBody>
                  <a:tcPr/>
                </a:tc>
                <a:tc>
                  <a:txBody>
                    <a:bodyPr/>
                    <a:lstStyle/>
                    <a:p>
                      <a:pPr algn="ctr"/>
                      <a:r>
                        <a:rPr lang="en-CA" dirty="0"/>
                        <a:t>0.210</a:t>
                      </a:r>
                    </a:p>
                  </a:txBody>
                  <a:tcPr/>
                </a:tc>
                <a:tc>
                  <a:txBody>
                    <a:bodyPr/>
                    <a:lstStyle/>
                    <a:p>
                      <a:pPr algn="ctr"/>
                      <a:r>
                        <a:rPr lang="en-CA" dirty="0"/>
                        <a:t>−0.465</a:t>
                      </a:r>
                    </a:p>
                  </a:txBody>
                  <a:tcPr/>
                </a:tc>
                <a:tc>
                  <a:txBody>
                    <a:bodyPr/>
                    <a:lstStyle/>
                    <a:p>
                      <a:pPr algn="ctr"/>
                      <a:r>
                        <a:rPr lang="en-CA" dirty="0"/>
                        <a:t>   0.376</a:t>
                      </a:r>
                    </a:p>
                  </a:txBody>
                  <a:tcPr/>
                </a:tc>
                <a:extLst>
                  <a:ext uri="{0D108BD9-81ED-4DB2-BD59-A6C34878D82A}">
                    <a16:rowId xmlns:a16="http://schemas.microsoft.com/office/drawing/2014/main" val="2473204671"/>
                  </a:ext>
                </a:extLst>
              </a:tr>
              <a:tr h="370840">
                <a:tc>
                  <a:txBody>
                    <a:bodyPr/>
                    <a:lstStyle/>
                    <a:p>
                      <a:pPr algn="ctr"/>
                      <a:r>
                        <a:rPr lang="en-CA" dirty="0"/>
                        <a:t>3yr</a:t>
                      </a:r>
                    </a:p>
                  </a:txBody>
                  <a:tcPr/>
                </a:tc>
                <a:tc>
                  <a:txBody>
                    <a:bodyPr/>
                    <a:lstStyle/>
                    <a:p>
                      <a:pPr algn="ctr"/>
                      <a:r>
                        <a:rPr lang="en-CA" dirty="0"/>
                        <a:t>0.286</a:t>
                      </a:r>
                    </a:p>
                  </a:txBody>
                  <a:tcPr/>
                </a:tc>
                <a:tc>
                  <a:txBody>
                    <a:bodyPr/>
                    <a:lstStyle/>
                    <a:p>
                      <a:pPr algn="ctr"/>
                      <a:r>
                        <a:rPr lang="en-CA" dirty="0"/>
                        <a:t>−0.467</a:t>
                      </a:r>
                    </a:p>
                  </a:txBody>
                  <a:tcPr/>
                </a:tc>
                <a:tc>
                  <a:txBody>
                    <a:bodyPr/>
                    <a:lstStyle/>
                    <a:p>
                      <a:pPr algn="ctr"/>
                      <a:r>
                        <a:rPr lang="en-CA" dirty="0"/>
                        <a:t>   0.006</a:t>
                      </a:r>
                    </a:p>
                  </a:txBody>
                  <a:tcPr/>
                </a:tc>
                <a:extLst>
                  <a:ext uri="{0D108BD9-81ED-4DB2-BD59-A6C34878D82A}">
                    <a16:rowId xmlns:a16="http://schemas.microsoft.com/office/drawing/2014/main" val="1287996650"/>
                  </a:ext>
                </a:extLst>
              </a:tr>
              <a:tr h="370840">
                <a:tc>
                  <a:txBody>
                    <a:bodyPr/>
                    <a:lstStyle/>
                    <a:p>
                      <a:pPr algn="ctr"/>
                      <a:r>
                        <a:rPr lang="en-CA" dirty="0"/>
                        <a:t>5yr</a:t>
                      </a:r>
                    </a:p>
                  </a:txBody>
                  <a:tcPr/>
                </a:tc>
                <a:tc>
                  <a:txBody>
                    <a:bodyPr/>
                    <a:lstStyle/>
                    <a:p>
                      <a:pPr algn="ctr"/>
                      <a:r>
                        <a:rPr lang="en-CA" dirty="0"/>
                        <a:t>0.386</a:t>
                      </a:r>
                    </a:p>
                  </a:txBody>
                  <a:tcPr/>
                </a:tc>
                <a:tc>
                  <a:txBody>
                    <a:bodyPr/>
                    <a:lstStyle/>
                    <a:p>
                      <a:pPr algn="ctr"/>
                      <a:r>
                        <a:rPr lang="en-CA" dirty="0"/>
                        <a:t>−0.315</a:t>
                      </a:r>
                    </a:p>
                  </a:txBody>
                  <a:tcPr/>
                </a:tc>
                <a:tc>
                  <a:txBody>
                    <a:bodyPr/>
                    <a:lstStyle/>
                    <a:p>
                      <a:pPr algn="ctr"/>
                      <a:r>
                        <a:rPr lang="en-CA" dirty="0"/>
                        <a:t>−0.332</a:t>
                      </a:r>
                    </a:p>
                  </a:txBody>
                  <a:tcPr/>
                </a:tc>
                <a:extLst>
                  <a:ext uri="{0D108BD9-81ED-4DB2-BD59-A6C34878D82A}">
                    <a16:rowId xmlns:a16="http://schemas.microsoft.com/office/drawing/2014/main" val="4291287890"/>
                  </a:ext>
                </a:extLst>
              </a:tr>
              <a:tr h="370840">
                <a:tc>
                  <a:txBody>
                    <a:bodyPr/>
                    <a:lstStyle/>
                    <a:p>
                      <a:pPr algn="ctr"/>
                      <a:r>
                        <a:rPr lang="en-CA" dirty="0"/>
                        <a:t>7yr</a:t>
                      </a:r>
                    </a:p>
                  </a:txBody>
                  <a:tcPr/>
                </a:tc>
                <a:tc>
                  <a:txBody>
                    <a:bodyPr/>
                    <a:lstStyle/>
                    <a:p>
                      <a:pPr algn="ctr"/>
                      <a:r>
                        <a:rPr lang="en-CA" dirty="0"/>
                        <a:t>0.430</a:t>
                      </a:r>
                    </a:p>
                  </a:txBody>
                  <a:tcPr/>
                </a:tc>
                <a:tc>
                  <a:txBody>
                    <a:bodyPr/>
                    <a:lstStyle/>
                    <a:p>
                      <a:pPr algn="ctr"/>
                      <a:r>
                        <a:rPr lang="en-CA" dirty="0"/>
                        <a:t>−0.099</a:t>
                      </a:r>
                    </a:p>
                  </a:txBody>
                  <a:tcPr/>
                </a:tc>
                <a:tc>
                  <a:txBody>
                    <a:bodyPr/>
                    <a:lstStyle/>
                    <a:p>
                      <a:pPr algn="ctr"/>
                      <a:r>
                        <a:rPr lang="en-CA" dirty="0"/>
                        <a:t>−0.349</a:t>
                      </a:r>
                    </a:p>
                  </a:txBody>
                  <a:tcPr/>
                </a:tc>
                <a:extLst>
                  <a:ext uri="{0D108BD9-81ED-4DB2-BD59-A6C34878D82A}">
                    <a16:rowId xmlns:a16="http://schemas.microsoft.com/office/drawing/2014/main" val="4080295934"/>
                  </a:ext>
                </a:extLst>
              </a:tr>
              <a:tr h="370840">
                <a:tc>
                  <a:txBody>
                    <a:bodyPr/>
                    <a:lstStyle/>
                    <a:p>
                      <a:pPr algn="ctr"/>
                      <a:r>
                        <a:rPr lang="en-CA" dirty="0"/>
                        <a:t>10yr</a:t>
                      </a:r>
                    </a:p>
                  </a:txBody>
                  <a:tcPr/>
                </a:tc>
                <a:tc>
                  <a:txBody>
                    <a:bodyPr/>
                    <a:lstStyle/>
                    <a:p>
                      <a:pPr algn="ctr"/>
                      <a:r>
                        <a:rPr lang="en-CA" dirty="0"/>
                        <a:t>0.428</a:t>
                      </a:r>
                    </a:p>
                  </a:txBody>
                  <a:tcPr/>
                </a:tc>
                <a:tc>
                  <a:txBody>
                    <a:bodyPr/>
                    <a:lstStyle/>
                    <a:p>
                      <a:pPr algn="ctr"/>
                      <a:r>
                        <a:rPr lang="en-CA" dirty="0"/>
                        <a:t>  0.119</a:t>
                      </a:r>
                    </a:p>
                  </a:txBody>
                  <a:tcPr/>
                </a:tc>
                <a:tc>
                  <a:txBody>
                    <a:bodyPr/>
                    <a:lstStyle/>
                    <a:p>
                      <a:pPr algn="ctr"/>
                      <a:r>
                        <a:rPr lang="en-CA" dirty="0"/>
                        <a:t>−0.153</a:t>
                      </a:r>
                    </a:p>
                  </a:txBody>
                  <a:tcPr/>
                </a:tc>
                <a:extLst>
                  <a:ext uri="{0D108BD9-81ED-4DB2-BD59-A6C34878D82A}">
                    <a16:rowId xmlns:a16="http://schemas.microsoft.com/office/drawing/2014/main" val="2647265202"/>
                  </a:ext>
                </a:extLst>
              </a:tr>
              <a:tr h="370840">
                <a:tc>
                  <a:txBody>
                    <a:bodyPr/>
                    <a:lstStyle/>
                    <a:p>
                      <a:pPr algn="ctr"/>
                      <a:r>
                        <a:rPr lang="en-CA" dirty="0"/>
                        <a:t>20yr</a:t>
                      </a:r>
                    </a:p>
                  </a:txBody>
                  <a:tcPr/>
                </a:tc>
                <a:tc>
                  <a:txBody>
                    <a:bodyPr/>
                    <a:lstStyle/>
                    <a:p>
                      <a:pPr algn="ctr"/>
                      <a:r>
                        <a:rPr lang="en-CA" dirty="0"/>
                        <a:t>0.426</a:t>
                      </a:r>
                    </a:p>
                  </a:txBody>
                  <a:tcPr/>
                </a:tc>
                <a:tc>
                  <a:txBody>
                    <a:bodyPr/>
                    <a:lstStyle/>
                    <a:p>
                      <a:pPr algn="ctr"/>
                      <a:r>
                        <a:rPr lang="en-CA" dirty="0"/>
                        <a:t>  0.394</a:t>
                      </a:r>
                    </a:p>
                  </a:txBody>
                  <a:tcPr/>
                </a:tc>
                <a:tc>
                  <a:txBody>
                    <a:bodyPr/>
                    <a:lstStyle/>
                    <a:p>
                      <a:pPr algn="ctr"/>
                      <a:r>
                        <a:rPr lang="en-CA" dirty="0"/>
                        <a:t>  0.172</a:t>
                      </a:r>
                    </a:p>
                  </a:txBody>
                  <a:tcPr/>
                </a:tc>
                <a:extLst>
                  <a:ext uri="{0D108BD9-81ED-4DB2-BD59-A6C34878D82A}">
                    <a16:rowId xmlns:a16="http://schemas.microsoft.com/office/drawing/2014/main" val="1111545255"/>
                  </a:ext>
                </a:extLst>
              </a:tr>
              <a:tr h="370840">
                <a:tc>
                  <a:txBody>
                    <a:bodyPr/>
                    <a:lstStyle/>
                    <a:p>
                      <a:pPr algn="ctr"/>
                      <a:r>
                        <a:rPr lang="en-CA" dirty="0"/>
                        <a:t>30yr</a:t>
                      </a:r>
                    </a:p>
                  </a:txBody>
                  <a:tcPr/>
                </a:tc>
                <a:tc>
                  <a:txBody>
                    <a:bodyPr/>
                    <a:lstStyle/>
                    <a:p>
                      <a:pPr algn="ctr"/>
                      <a:r>
                        <a:rPr lang="en-CA" dirty="0"/>
                        <a:t>0.411</a:t>
                      </a:r>
                    </a:p>
                  </a:txBody>
                  <a:tcPr/>
                </a:tc>
                <a:tc>
                  <a:txBody>
                    <a:bodyPr/>
                    <a:lstStyle/>
                    <a:p>
                      <a:pPr algn="ctr"/>
                      <a:r>
                        <a:rPr lang="en-CA" dirty="0"/>
                        <a:t>  0.478</a:t>
                      </a:r>
                    </a:p>
                  </a:txBody>
                  <a:tcPr/>
                </a:tc>
                <a:tc>
                  <a:txBody>
                    <a:bodyPr/>
                    <a:lstStyle/>
                    <a:p>
                      <a:pPr algn="ctr"/>
                      <a:r>
                        <a:rPr lang="en-CA" dirty="0"/>
                        <a:t>  0.323</a:t>
                      </a:r>
                    </a:p>
                  </a:txBody>
                  <a:tcPr/>
                </a:tc>
                <a:extLst>
                  <a:ext uri="{0D108BD9-81ED-4DB2-BD59-A6C34878D82A}">
                    <a16:rowId xmlns:a16="http://schemas.microsoft.com/office/drawing/2014/main" val="3186813406"/>
                  </a:ext>
                </a:extLst>
              </a:tr>
            </a:tbl>
          </a:graphicData>
        </a:graphic>
      </p:graphicFrame>
    </p:spTree>
    <p:extLst>
      <p:ext uri="{BB962C8B-B14F-4D97-AF65-F5344CB8AC3E}">
        <p14:creationId xmlns:p14="http://schemas.microsoft.com/office/powerpoint/2010/main" val="19123380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Interest rate changes </a:t>
            </a:r>
            <a:r>
              <a:rPr lang="en-CA" sz="2200" dirty="0"/>
              <a:t>continued</a:t>
            </a:r>
          </a:p>
        </p:txBody>
      </p:sp>
      <p:sp>
        <p:nvSpPr>
          <p:cNvPr id="3" name="Content Placeholder 2"/>
          <p:cNvSpPr>
            <a:spLocks noGrp="1"/>
          </p:cNvSpPr>
          <p:nvPr>
            <p:ph idx="1"/>
          </p:nvPr>
        </p:nvSpPr>
        <p:spPr/>
        <p:txBody>
          <a:bodyPr/>
          <a:lstStyle/>
          <a:p>
            <a:r>
              <a:rPr lang="en-CA" dirty="0"/>
              <a:t>SD of factor scores</a:t>
            </a:r>
          </a:p>
          <a:p>
            <a:endParaRPr lang="en-CA" dirty="0"/>
          </a:p>
          <a:p>
            <a:endParaRPr lang="en-CA" dirty="0"/>
          </a:p>
          <a:p>
            <a:pPr marL="0" indent="0">
              <a:buNone/>
            </a:pPr>
            <a:endParaRPr lang="en-CA" dirty="0"/>
          </a:p>
          <a:p>
            <a:r>
              <a:rPr lang="en-CA" dirty="0"/>
              <a:t>The fraction of the variance accounted for by first factor is</a:t>
            </a:r>
          </a:p>
          <a:p>
            <a:pPr marL="0" indent="0">
              <a:buNone/>
            </a:pPr>
            <a:endParaRPr lang="en-CA" dirty="0"/>
          </a:p>
          <a:p>
            <a:pPr marL="0" indent="0">
              <a:buNone/>
            </a:pPr>
            <a:r>
              <a:rPr lang="en-CA" dirty="0"/>
              <a:t>    or about 87.3%.</a:t>
            </a:r>
          </a:p>
          <a:p>
            <a:r>
              <a:rPr lang="en-CA" dirty="0"/>
              <a:t>The first two factors account for about 95.6% of the variance</a:t>
            </a:r>
          </a:p>
          <a:p>
            <a:pPr marL="0" indent="0">
              <a:buNone/>
            </a:pPr>
            <a:endParaRPr lang="en-CA" dirty="0"/>
          </a:p>
        </p:txBody>
      </p:sp>
      <p:sp>
        <p:nvSpPr>
          <p:cNvPr id="4" name="Footer Placeholder 3"/>
          <p:cNvSpPr>
            <a:spLocks noGrp="1"/>
          </p:cNvSpPr>
          <p:nvPr>
            <p:ph type="ftr" sz="quarter" idx="11"/>
          </p:nvPr>
        </p:nvSpPr>
        <p:spPr/>
        <p:txBody>
          <a:bodyPr/>
          <a:lstStyle/>
          <a:p>
            <a:r>
              <a:rPr lang="en-US"/>
              <a:t>Machine Learning and Financial Institutions, 3rd Ed.  Copyright  © John C. Hull 2021</a:t>
            </a:r>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t>33</a:t>
            </a:fld>
            <a:endParaRPr lang="en-CA"/>
          </a:p>
        </p:txBody>
      </p:sp>
      <p:graphicFrame>
        <p:nvGraphicFramePr>
          <p:cNvPr id="8" name="Table 7"/>
          <p:cNvGraphicFramePr>
            <a:graphicFrameLocks noGrp="1"/>
          </p:cNvGraphicFramePr>
          <p:nvPr>
            <p:extLst>
              <p:ext uri="{D42A27DB-BD31-4B8C-83A1-F6EECF244321}">
                <p14:modId xmlns:p14="http://schemas.microsoft.com/office/powerpoint/2010/main" val="915146215"/>
              </p:ext>
            </p:extLst>
          </p:nvPr>
        </p:nvGraphicFramePr>
        <p:xfrm>
          <a:off x="1066800" y="2708920"/>
          <a:ext cx="2466975" cy="617845"/>
        </p:xfrm>
        <a:graphic>
          <a:graphicData uri="http://schemas.openxmlformats.org/drawingml/2006/table">
            <a:tbl>
              <a:tblPr firstRow="1" bandRow="1">
                <a:tableStyleId>{5940675A-B579-460E-94D1-54222C63F5DA}</a:tableStyleId>
              </a:tblPr>
              <a:tblGrid>
                <a:gridCol w="822325">
                  <a:extLst>
                    <a:ext uri="{9D8B030D-6E8A-4147-A177-3AD203B41FA5}">
                      <a16:colId xmlns:a16="http://schemas.microsoft.com/office/drawing/2014/main" val="3842056204"/>
                    </a:ext>
                  </a:extLst>
                </a:gridCol>
                <a:gridCol w="822325">
                  <a:extLst>
                    <a:ext uri="{9D8B030D-6E8A-4147-A177-3AD203B41FA5}">
                      <a16:colId xmlns:a16="http://schemas.microsoft.com/office/drawing/2014/main" val="1814122300"/>
                    </a:ext>
                  </a:extLst>
                </a:gridCol>
                <a:gridCol w="822325">
                  <a:extLst>
                    <a:ext uri="{9D8B030D-6E8A-4147-A177-3AD203B41FA5}">
                      <a16:colId xmlns:a16="http://schemas.microsoft.com/office/drawing/2014/main" val="3155518338"/>
                    </a:ext>
                  </a:extLst>
                </a:gridCol>
              </a:tblGrid>
              <a:tr h="274859">
                <a:tc>
                  <a:txBody>
                    <a:bodyPr/>
                    <a:lstStyle/>
                    <a:p>
                      <a:pPr algn="ctr"/>
                      <a:r>
                        <a:rPr lang="en-CA" sz="1200" dirty="0"/>
                        <a:t>PC1</a:t>
                      </a:r>
                    </a:p>
                  </a:txBody>
                  <a:tcPr marL="68580" marR="68580" marT="34290" marB="34290"/>
                </a:tc>
                <a:tc>
                  <a:txBody>
                    <a:bodyPr/>
                    <a:lstStyle/>
                    <a:p>
                      <a:pPr algn="ctr"/>
                      <a:r>
                        <a:rPr lang="en-CA" sz="1200" dirty="0"/>
                        <a:t>PC2</a:t>
                      </a:r>
                    </a:p>
                  </a:txBody>
                  <a:tcPr marL="68580" marR="68580" marT="34290" marB="34290"/>
                </a:tc>
                <a:tc>
                  <a:txBody>
                    <a:bodyPr/>
                    <a:lstStyle/>
                    <a:p>
                      <a:pPr algn="ctr"/>
                      <a:r>
                        <a:rPr lang="en-CA" sz="1200" dirty="0"/>
                        <a:t>PC3</a:t>
                      </a:r>
                    </a:p>
                  </a:txBody>
                  <a:tcPr marL="68580" marR="68580" marT="34290" marB="34290"/>
                </a:tc>
                <a:extLst>
                  <a:ext uri="{0D108BD9-81ED-4DB2-BD59-A6C34878D82A}">
                    <a16:rowId xmlns:a16="http://schemas.microsoft.com/office/drawing/2014/main" val="1327669301"/>
                  </a:ext>
                </a:extLst>
              </a:tr>
              <a:tr h="342986">
                <a:tc>
                  <a:txBody>
                    <a:bodyPr/>
                    <a:lstStyle/>
                    <a:p>
                      <a:pPr algn="ctr"/>
                      <a:r>
                        <a:rPr lang="en-CA" sz="1200" dirty="0"/>
                        <a:t>11.54</a:t>
                      </a:r>
                    </a:p>
                  </a:txBody>
                  <a:tcPr marL="68580" marR="68580" marT="34290" marB="34290"/>
                </a:tc>
                <a:tc>
                  <a:txBody>
                    <a:bodyPr/>
                    <a:lstStyle/>
                    <a:p>
                      <a:pPr algn="ctr"/>
                      <a:r>
                        <a:rPr lang="en-CA" sz="1200" dirty="0"/>
                        <a:t>3.55</a:t>
                      </a:r>
                    </a:p>
                  </a:txBody>
                  <a:tcPr marL="68580" marR="68580" marT="34290" marB="34290"/>
                </a:tc>
                <a:tc>
                  <a:txBody>
                    <a:bodyPr/>
                    <a:lstStyle/>
                    <a:p>
                      <a:pPr algn="ctr"/>
                      <a:r>
                        <a:rPr lang="en-CA" sz="1200" dirty="0"/>
                        <a:t>1.78</a:t>
                      </a:r>
                    </a:p>
                  </a:txBody>
                  <a:tcPr marL="68580" marR="68580" marT="34290" marB="34290"/>
                </a:tc>
                <a:extLst>
                  <a:ext uri="{0D108BD9-81ED-4DB2-BD59-A6C34878D82A}">
                    <a16:rowId xmlns:a16="http://schemas.microsoft.com/office/drawing/2014/main" val="1067364945"/>
                  </a:ext>
                </a:extLst>
              </a:tr>
            </a:tbl>
          </a:graphicData>
        </a:graphic>
      </p:graphicFrame>
      <mc:AlternateContent xmlns:mc="http://schemas.openxmlformats.org/markup-compatibility/2006" xmlns:a14="http://schemas.microsoft.com/office/drawing/2010/main">
        <mc:Choice Requires="a14">
          <p:sp>
            <p:nvSpPr>
              <p:cNvPr id="6" name="Object 5"/>
              <p:cNvSpPr txBox="1"/>
              <p:nvPr/>
            </p:nvSpPr>
            <p:spPr>
              <a:xfrm>
                <a:off x="3533775" y="4005263"/>
                <a:ext cx="2200275" cy="522287"/>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en-CA" sz="1400" i="1" smtClean="0">
                          <a:solidFill>
                            <a:srgbClr val="000000"/>
                          </a:solidFill>
                          <a:latin typeface="Cambria Math" panose="02040503050406030204" pitchFamily="18" charset="0"/>
                        </a:rPr>
                        <m:t>=</m:t>
                      </m:r>
                      <m:f>
                        <m:fPr>
                          <m:ctrlPr>
                            <a:rPr lang="en-CA" sz="1400" i="1">
                              <a:solidFill>
                                <a:srgbClr val="000000"/>
                              </a:solidFill>
                              <a:latin typeface="Cambria Math" panose="02040503050406030204" pitchFamily="18" charset="0"/>
                            </a:rPr>
                          </m:ctrlPr>
                        </m:fPr>
                        <m:num>
                          <m:sSup>
                            <m:sSupPr>
                              <m:ctrlPr>
                                <a:rPr lang="en-CA" sz="1400" i="1">
                                  <a:solidFill>
                                    <a:srgbClr val="000000"/>
                                  </a:solidFill>
                                  <a:latin typeface="Cambria Math" panose="02040503050406030204" pitchFamily="18" charset="0"/>
                                </a:rPr>
                              </m:ctrlPr>
                            </m:sSupPr>
                            <m:e>
                              <m:r>
                                <a:rPr lang="en-CA" sz="1400" i="1">
                                  <a:solidFill>
                                    <a:srgbClr val="000000"/>
                                  </a:solidFill>
                                  <a:latin typeface="Cambria Math" panose="02040503050406030204" pitchFamily="18" charset="0"/>
                                </a:rPr>
                                <m:t>11.54</m:t>
                              </m:r>
                            </m:e>
                            <m:sup>
                              <m:r>
                                <a:rPr lang="en-CA" sz="1400" i="1">
                                  <a:solidFill>
                                    <a:srgbClr val="000000"/>
                                  </a:solidFill>
                                  <a:latin typeface="Cambria Math" panose="02040503050406030204" pitchFamily="18" charset="0"/>
                                </a:rPr>
                                <m:t>2</m:t>
                              </m:r>
                            </m:sup>
                          </m:sSup>
                        </m:num>
                        <m:den>
                          <m:sSup>
                            <m:sSupPr>
                              <m:ctrlPr>
                                <a:rPr lang="en-CA" sz="1400" i="1">
                                  <a:solidFill>
                                    <a:srgbClr val="000000"/>
                                  </a:solidFill>
                                  <a:latin typeface="Cambria Math" panose="02040503050406030204" pitchFamily="18" charset="0"/>
                                </a:rPr>
                              </m:ctrlPr>
                            </m:sSupPr>
                            <m:e>
                              <m:r>
                                <a:rPr lang="en-CA" sz="1400" b="0" i="1" smtClean="0">
                                  <a:solidFill>
                                    <a:srgbClr val="000000"/>
                                  </a:solidFill>
                                  <a:latin typeface="Cambria Math" panose="02040503050406030204" pitchFamily="18" charset="0"/>
                                </a:rPr>
                                <m:t>11.54</m:t>
                              </m:r>
                            </m:e>
                            <m:sup>
                              <m:r>
                                <a:rPr lang="en-CA" sz="1400" i="1">
                                  <a:solidFill>
                                    <a:srgbClr val="000000"/>
                                  </a:solidFill>
                                  <a:latin typeface="Cambria Math" panose="02040503050406030204" pitchFamily="18" charset="0"/>
                                </a:rPr>
                                <m:t>2</m:t>
                              </m:r>
                            </m:sup>
                          </m:sSup>
                          <m:r>
                            <a:rPr lang="en-CA" sz="1400" i="1">
                              <a:solidFill>
                                <a:srgbClr val="000000"/>
                              </a:solidFill>
                              <a:latin typeface="Cambria Math" panose="02040503050406030204" pitchFamily="18" charset="0"/>
                            </a:rPr>
                            <m:t>+</m:t>
                          </m:r>
                          <m:sSup>
                            <m:sSupPr>
                              <m:ctrlPr>
                                <a:rPr lang="en-CA" sz="1400" i="1">
                                  <a:solidFill>
                                    <a:srgbClr val="000000"/>
                                  </a:solidFill>
                                  <a:latin typeface="Cambria Math" panose="02040503050406030204" pitchFamily="18" charset="0"/>
                                </a:rPr>
                              </m:ctrlPr>
                            </m:sSupPr>
                            <m:e>
                              <m:r>
                                <a:rPr lang="en-CA" sz="1400" b="0" i="1" smtClean="0">
                                  <a:solidFill>
                                    <a:srgbClr val="000000"/>
                                  </a:solidFill>
                                  <a:latin typeface="Cambria Math" panose="02040503050406030204" pitchFamily="18" charset="0"/>
                                </a:rPr>
                                <m:t>3.55</m:t>
                              </m:r>
                            </m:e>
                            <m:sup>
                              <m:r>
                                <a:rPr lang="en-CA" sz="1400" i="1">
                                  <a:solidFill>
                                    <a:srgbClr val="000000"/>
                                  </a:solidFill>
                                  <a:latin typeface="Cambria Math" panose="02040503050406030204" pitchFamily="18" charset="0"/>
                                </a:rPr>
                                <m:t>2</m:t>
                              </m:r>
                            </m:sup>
                          </m:sSup>
                          <m:r>
                            <a:rPr lang="en-CA" sz="1400" i="1">
                              <a:solidFill>
                                <a:srgbClr val="000000"/>
                              </a:solidFill>
                              <a:latin typeface="Cambria Math" panose="02040503050406030204" pitchFamily="18" charset="0"/>
                            </a:rPr>
                            <m:t>+</m:t>
                          </m:r>
                          <m:r>
                            <a:rPr lang="en-CA" sz="1400" b="0" i="1" smtClean="0">
                              <a:solidFill>
                                <a:srgbClr val="000000"/>
                              </a:solidFill>
                              <a:latin typeface="Cambria Math" panose="02040503050406030204" pitchFamily="18" charset="0"/>
                            </a:rPr>
                            <m:t>1.7</m:t>
                          </m:r>
                          <m:sSup>
                            <m:sSupPr>
                              <m:ctrlPr>
                                <a:rPr lang="en-CA" sz="1400" i="1">
                                  <a:solidFill>
                                    <a:srgbClr val="000000"/>
                                  </a:solidFill>
                                  <a:latin typeface="Cambria Math" panose="02040503050406030204" pitchFamily="18" charset="0"/>
                                </a:rPr>
                              </m:ctrlPr>
                            </m:sSupPr>
                            <m:e>
                              <m:r>
                                <a:rPr lang="en-CA" sz="1400" i="1">
                                  <a:solidFill>
                                    <a:srgbClr val="000000"/>
                                  </a:solidFill>
                                  <a:latin typeface="Cambria Math" panose="02040503050406030204" pitchFamily="18" charset="0"/>
                                </a:rPr>
                                <m:t>8</m:t>
                              </m:r>
                            </m:e>
                            <m:sup>
                              <m:r>
                                <a:rPr lang="en-CA" sz="1400" i="1">
                                  <a:solidFill>
                                    <a:srgbClr val="000000"/>
                                  </a:solidFill>
                                  <a:latin typeface="Cambria Math" panose="02040503050406030204" pitchFamily="18" charset="0"/>
                                </a:rPr>
                                <m:t>2</m:t>
                              </m:r>
                            </m:sup>
                          </m:sSup>
                          <m:r>
                            <a:rPr lang="en-CA" sz="1400" i="1">
                              <a:solidFill>
                                <a:srgbClr val="000000"/>
                              </a:solidFill>
                              <a:latin typeface="Cambria Math" panose="02040503050406030204" pitchFamily="18" charset="0"/>
                            </a:rPr>
                            <m:t>+⋯</m:t>
                          </m:r>
                        </m:den>
                      </m:f>
                    </m:oMath>
                  </m:oMathPara>
                </a14:m>
                <a:endParaRPr lang="en-CA" sz="1400" dirty="0"/>
              </a:p>
            </p:txBody>
          </p:sp>
        </mc:Choice>
        <mc:Fallback xmlns="">
          <p:sp>
            <p:nvSpPr>
              <p:cNvPr id="6" name="Object 5"/>
              <p:cNvSpPr txBox="1">
                <a:spLocks noRot="1" noChangeAspect="1" noMove="1" noResize="1" noEditPoints="1" noAdjustHandles="1" noChangeArrowheads="1" noChangeShapeType="1" noTextEdit="1"/>
              </p:cNvSpPr>
              <p:nvPr/>
            </p:nvSpPr>
            <p:spPr>
              <a:xfrm>
                <a:off x="3533775" y="4005263"/>
                <a:ext cx="2200275" cy="522287"/>
              </a:xfrm>
              <a:prstGeom prst="rect">
                <a:avLst/>
              </a:prstGeom>
              <a:blipFill>
                <a:blip r:embed="rId2"/>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1474873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to Country Risk case when all 4 features are used (Tables 2.11 and 2.12)</a:t>
            </a:r>
            <a:endParaRPr lang="en-CA" dirty="0"/>
          </a:p>
        </p:txBody>
      </p:sp>
      <p:graphicFrame>
        <p:nvGraphicFramePr>
          <p:cNvPr id="7" name="Table 6"/>
          <p:cNvGraphicFramePr>
            <a:graphicFrameLocks noGrp="1"/>
          </p:cNvGraphicFramePr>
          <p:nvPr>
            <p:extLst>
              <p:ext uri="{D42A27DB-BD31-4B8C-83A1-F6EECF244321}">
                <p14:modId xmlns:p14="http://schemas.microsoft.com/office/powerpoint/2010/main" val="2334432027"/>
              </p:ext>
            </p:extLst>
          </p:nvPr>
        </p:nvGraphicFramePr>
        <p:xfrm>
          <a:off x="1403649" y="2175074"/>
          <a:ext cx="5472608" cy="2448271"/>
        </p:xfrm>
        <a:graphic>
          <a:graphicData uri="http://schemas.openxmlformats.org/drawingml/2006/table">
            <a:tbl>
              <a:tblPr firstRow="1" firstCol="1" bandRow="1">
                <a:tableStyleId>{5940675A-B579-460E-94D1-54222C63F5DA}</a:tableStyleId>
              </a:tblPr>
              <a:tblGrid>
                <a:gridCol w="1895788">
                  <a:extLst>
                    <a:ext uri="{9D8B030D-6E8A-4147-A177-3AD203B41FA5}">
                      <a16:colId xmlns:a16="http://schemas.microsoft.com/office/drawing/2014/main" val="20000"/>
                    </a:ext>
                  </a:extLst>
                </a:gridCol>
                <a:gridCol w="824779">
                  <a:extLst>
                    <a:ext uri="{9D8B030D-6E8A-4147-A177-3AD203B41FA5}">
                      <a16:colId xmlns:a16="http://schemas.microsoft.com/office/drawing/2014/main" val="20001"/>
                    </a:ext>
                  </a:extLst>
                </a:gridCol>
                <a:gridCol w="983070">
                  <a:extLst>
                    <a:ext uri="{9D8B030D-6E8A-4147-A177-3AD203B41FA5}">
                      <a16:colId xmlns:a16="http://schemas.microsoft.com/office/drawing/2014/main" val="20002"/>
                    </a:ext>
                  </a:extLst>
                </a:gridCol>
                <a:gridCol w="876617">
                  <a:extLst>
                    <a:ext uri="{9D8B030D-6E8A-4147-A177-3AD203B41FA5}">
                      <a16:colId xmlns:a16="http://schemas.microsoft.com/office/drawing/2014/main" val="20003"/>
                    </a:ext>
                  </a:extLst>
                </a:gridCol>
                <a:gridCol w="892354">
                  <a:extLst>
                    <a:ext uri="{9D8B030D-6E8A-4147-A177-3AD203B41FA5}">
                      <a16:colId xmlns:a16="http://schemas.microsoft.com/office/drawing/2014/main" val="20004"/>
                    </a:ext>
                  </a:extLst>
                </a:gridCol>
              </a:tblGrid>
              <a:tr h="489655">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 </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PC1</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PC2</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PC3</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a:effectLst/>
                          <a:latin typeface="Arial" panose="020B0604020202020204" pitchFamily="34" charset="0"/>
                          <a:cs typeface="Arial" panose="020B0604020202020204" pitchFamily="34" charset="0"/>
                        </a:rPr>
                        <a:t>PC4</a:t>
                      </a:r>
                      <a:endParaRPr lang="en-CA" sz="160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0"/>
                  </a:ext>
                </a:extLst>
              </a:tr>
              <a:tr h="489654">
                <a:tc>
                  <a:txBody>
                    <a:bodyPr/>
                    <a:lstStyle/>
                    <a:p>
                      <a:pPr>
                        <a:lnSpc>
                          <a:spcPct val="107000"/>
                        </a:lnSpc>
                        <a:spcAft>
                          <a:spcPts val="0"/>
                        </a:spcAft>
                      </a:pPr>
                      <a:r>
                        <a:rPr lang="en-US" sz="1600" dirty="0">
                          <a:effectLst/>
                          <a:latin typeface="Arial" panose="020B0604020202020204" pitchFamily="34" charset="0"/>
                          <a:cs typeface="Arial" panose="020B0604020202020204" pitchFamily="34" charset="0"/>
                        </a:rPr>
                        <a:t>Corruption index</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  0.602</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CA" sz="1600" dirty="0">
                          <a:effectLst/>
                          <a:latin typeface="Arial" panose="020B0604020202020204" pitchFamily="34" charset="0"/>
                          <a:ea typeface="Times New Roman"/>
                          <a:cs typeface="Arial" panose="020B0604020202020204" pitchFamily="34" charset="0"/>
                        </a:rPr>
                        <a:t>  −0.015</a:t>
                      </a: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0.328</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  0.728</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1"/>
                  </a:ext>
                </a:extLst>
              </a:tr>
              <a:tr h="489654">
                <a:tc>
                  <a:txBody>
                    <a:bodyPr/>
                    <a:lstStyle/>
                    <a:p>
                      <a:pPr>
                        <a:lnSpc>
                          <a:spcPct val="107000"/>
                        </a:lnSpc>
                        <a:spcAft>
                          <a:spcPts val="0"/>
                        </a:spcAft>
                      </a:pPr>
                      <a:r>
                        <a:rPr lang="en-US" sz="1600">
                          <a:effectLst/>
                          <a:latin typeface="Arial" panose="020B0604020202020204" pitchFamily="34" charset="0"/>
                          <a:cs typeface="Arial" panose="020B0604020202020204" pitchFamily="34" charset="0"/>
                        </a:rPr>
                        <a:t>Peace index</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−0.524</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   0.201</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0.825</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  0.065</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2"/>
                  </a:ext>
                </a:extLst>
              </a:tr>
              <a:tr h="489654">
                <a:tc>
                  <a:txBody>
                    <a:bodyPr/>
                    <a:lstStyle/>
                    <a:p>
                      <a:pPr>
                        <a:lnSpc>
                          <a:spcPct val="107000"/>
                        </a:lnSpc>
                        <a:spcAft>
                          <a:spcPts val="0"/>
                        </a:spcAft>
                      </a:pPr>
                      <a:r>
                        <a:rPr lang="en-US" sz="1600">
                          <a:effectLst/>
                          <a:latin typeface="Arial" panose="020B0604020202020204" pitchFamily="34" charset="0"/>
                          <a:cs typeface="Arial" panose="020B0604020202020204" pitchFamily="34" charset="0"/>
                        </a:rPr>
                        <a:t>Legal risk index</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  0.594</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   0.022</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0.425</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−0.683</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3"/>
                  </a:ext>
                </a:extLst>
              </a:tr>
              <a:tr h="489654">
                <a:tc>
                  <a:txBody>
                    <a:bodyPr/>
                    <a:lstStyle/>
                    <a:p>
                      <a:pPr>
                        <a:lnSpc>
                          <a:spcPct val="107000"/>
                        </a:lnSpc>
                        <a:spcAft>
                          <a:spcPts val="0"/>
                        </a:spcAft>
                      </a:pPr>
                      <a:r>
                        <a:rPr lang="en-US" sz="1600">
                          <a:effectLst/>
                          <a:latin typeface="Arial" panose="020B0604020202020204" pitchFamily="34" charset="0"/>
                          <a:cs typeface="Arial" panose="020B0604020202020204" pitchFamily="34" charset="0"/>
                        </a:rPr>
                        <a:t>GDP Growth rate</a:t>
                      </a:r>
                      <a:endParaRPr lang="en-CA" sz="160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  0.103</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−0.979</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0.174</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−0.013</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500060826"/>
              </p:ext>
            </p:extLst>
          </p:nvPr>
        </p:nvGraphicFramePr>
        <p:xfrm>
          <a:off x="1403649" y="4953682"/>
          <a:ext cx="5544617" cy="1040580"/>
        </p:xfrm>
        <a:graphic>
          <a:graphicData uri="http://schemas.openxmlformats.org/drawingml/2006/table">
            <a:tbl>
              <a:tblPr firstRow="1" firstCol="1" bandRow="1">
                <a:tableStyleId>{5940675A-B579-460E-94D1-54222C63F5DA}</a:tableStyleId>
              </a:tblPr>
              <a:tblGrid>
                <a:gridCol w="1944216">
                  <a:extLst>
                    <a:ext uri="{9D8B030D-6E8A-4147-A177-3AD203B41FA5}">
                      <a16:colId xmlns:a16="http://schemas.microsoft.com/office/drawing/2014/main" val="20000"/>
                    </a:ext>
                  </a:extLst>
                </a:gridCol>
                <a:gridCol w="791127">
                  <a:extLst>
                    <a:ext uri="{9D8B030D-6E8A-4147-A177-3AD203B41FA5}">
                      <a16:colId xmlns:a16="http://schemas.microsoft.com/office/drawing/2014/main" val="20001"/>
                    </a:ext>
                  </a:extLst>
                </a:gridCol>
                <a:gridCol w="961067">
                  <a:extLst>
                    <a:ext uri="{9D8B030D-6E8A-4147-A177-3AD203B41FA5}">
                      <a16:colId xmlns:a16="http://schemas.microsoft.com/office/drawing/2014/main" val="20002"/>
                    </a:ext>
                  </a:extLst>
                </a:gridCol>
                <a:gridCol w="721887">
                  <a:extLst>
                    <a:ext uri="{9D8B030D-6E8A-4147-A177-3AD203B41FA5}">
                      <a16:colId xmlns:a16="http://schemas.microsoft.com/office/drawing/2014/main" val="20003"/>
                    </a:ext>
                  </a:extLst>
                </a:gridCol>
                <a:gridCol w="1126320">
                  <a:extLst>
                    <a:ext uri="{9D8B030D-6E8A-4147-A177-3AD203B41FA5}">
                      <a16:colId xmlns:a16="http://schemas.microsoft.com/office/drawing/2014/main" val="20004"/>
                    </a:ext>
                  </a:extLst>
                </a:gridCol>
              </a:tblGrid>
              <a:tr h="399580">
                <a:tc>
                  <a:txBody>
                    <a:bodyPr/>
                    <a:lstStyle/>
                    <a:p>
                      <a:pPr algn="ctr">
                        <a:lnSpc>
                          <a:spcPct val="107000"/>
                        </a:lnSpc>
                        <a:spcAft>
                          <a:spcPts val="0"/>
                        </a:spcAft>
                      </a:pP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PC1</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PC2</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PC3</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PC4</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0"/>
                  </a:ext>
                </a:extLst>
              </a:tr>
              <a:tr h="320500">
                <a:tc>
                  <a:txBody>
                    <a:bodyPr/>
                    <a:lstStyle/>
                    <a:p>
                      <a:pPr algn="ctr">
                        <a:lnSpc>
                          <a:spcPct val="107000"/>
                        </a:lnSpc>
                        <a:spcAft>
                          <a:spcPts val="0"/>
                        </a:spcAft>
                      </a:pPr>
                      <a:r>
                        <a:rPr lang="en-US" sz="1600" dirty="0">
                          <a:effectLst/>
                          <a:latin typeface="Arial" panose="020B0604020202020204" pitchFamily="34" charset="0"/>
                          <a:ea typeface="Times New Roman"/>
                          <a:cs typeface="Arial" panose="020B0604020202020204" pitchFamily="34" charset="0"/>
                        </a:rPr>
                        <a:t>SD of factor scores</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1.600</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ea typeface="Times New Roman"/>
                          <a:cs typeface="Arial" panose="020B0604020202020204" pitchFamily="34" charset="0"/>
                        </a:rPr>
                        <a:t>1.001</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0.614</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cs typeface="Arial" panose="020B0604020202020204" pitchFamily="34" charset="0"/>
                        </a:rPr>
                        <a:t>0.243</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1"/>
                  </a:ext>
                </a:extLst>
              </a:tr>
              <a:tr h="320500">
                <a:tc>
                  <a:txBody>
                    <a:bodyPr/>
                    <a:lstStyle/>
                    <a:p>
                      <a:pPr algn="l">
                        <a:lnSpc>
                          <a:spcPct val="107000"/>
                        </a:lnSpc>
                        <a:spcAft>
                          <a:spcPts val="0"/>
                        </a:spcAft>
                      </a:pPr>
                      <a:r>
                        <a:rPr lang="en-US" sz="1600" dirty="0">
                          <a:effectLst/>
                          <a:latin typeface="Arial" panose="020B0604020202020204" pitchFamily="34" charset="0"/>
                          <a:ea typeface="Times New Roman"/>
                          <a:cs typeface="Arial" panose="020B0604020202020204" pitchFamily="34" charset="0"/>
                        </a:rPr>
                        <a:t>% of variance</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ea typeface="Times New Roman"/>
                          <a:cs typeface="Arial" panose="020B0604020202020204" pitchFamily="34" charset="0"/>
                        </a:rPr>
                        <a:t>64%</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ea typeface="Times New Roman"/>
                          <a:cs typeface="Arial" panose="020B0604020202020204" pitchFamily="34" charset="0"/>
                        </a:rPr>
                        <a:t>25%</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ea typeface="Times New Roman"/>
                          <a:cs typeface="Arial" panose="020B0604020202020204" pitchFamily="34" charset="0"/>
                        </a:rPr>
                        <a:t>9%</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algn="ctr">
                        <a:lnSpc>
                          <a:spcPct val="107000"/>
                        </a:lnSpc>
                        <a:spcAft>
                          <a:spcPts val="0"/>
                        </a:spcAft>
                      </a:pPr>
                      <a:r>
                        <a:rPr lang="en-US" sz="1600" dirty="0">
                          <a:effectLst/>
                          <a:latin typeface="Arial" panose="020B0604020202020204" pitchFamily="34" charset="0"/>
                          <a:ea typeface="Times New Roman"/>
                          <a:cs typeface="Arial" panose="020B0604020202020204" pitchFamily="34" charset="0"/>
                        </a:rPr>
                        <a:t>2%</a:t>
                      </a:r>
                      <a:endParaRPr lang="en-CA" sz="1600" dirty="0">
                        <a:effectLst/>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2"/>
                  </a:ext>
                </a:extLst>
              </a:tr>
            </a:tbl>
          </a:graphicData>
        </a:graphic>
      </p:graphicFrame>
      <p:sp>
        <p:nvSpPr>
          <p:cNvPr id="3" name="Footer Placeholder 2"/>
          <p:cNvSpPr>
            <a:spLocks noGrp="1"/>
          </p:cNvSpPr>
          <p:nvPr>
            <p:ph type="ftr" sz="quarter" idx="11"/>
          </p:nvPr>
        </p:nvSpPr>
        <p:spPr/>
        <p:txBody>
          <a:bodyPr/>
          <a:lstStyle/>
          <a:p>
            <a:r>
              <a:rPr lang="en-US"/>
              <a:t>Machine Learning and Financial Institutions, 3rd Ed.  Copyright  © John C. Hull 2021</a:t>
            </a:r>
            <a:endParaRPr lang="en-CA"/>
          </a:p>
        </p:txBody>
      </p:sp>
      <p:sp>
        <p:nvSpPr>
          <p:cNvPr id="4" name="Slide Number Placeholder 3"/>
          <p:cNvSpPr>
            <a:spLocks noGrp="1"/>
          </p:cNvSpPr>
          <p:nvPr>
            <p:ph type="sldNum" sz="quarter" idx="12"/>
          </p:nvPr>
        </p:nvSpPr>
        <p:spPr/>
        <p:txBody>
          <a:bodyPr/>
          <a:lstStyle/>
          <a:p>
            <a:fld id="{8F6C609E-065A-4A0E-A6D3-976F18D4BC33}" type="slidenum">
              <a:rPr lang="en-CA" smtClean="0"/>
              <a:t>34</a:t>
            </a:fld>
            <a:endParaRPr lang="en-CA"/>
          </a:p>
        </p:txBody>
      </p:sp>
    </p:spTree>
    <p:extLst>
      <p:ext uri="{BB962C8B-B14F-4D97-AF65-F5344CB8AC3E}">
        <p14:creationId xmlns:p14="http://schemas.microsoft.com/office/powerpoint/2010/main" val="2006879745"/>
      </p:ext>
    </p:extLst>
  </p:cSld>
  <p:clrMapOvr>
    <a:masterClrMapping/>
  </p:clrMapOvr>
</p:sld>
</file>

<file path=ppt/theme/theme1.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380B1DB-60CC-4308-A99E-E70DABA297CA}"/>
</file>

<file path=customXml/itemProps2.xml><?xml version="1.0" encoding="utf-8"?>
<ds:datastoreItem xmlns:ds="http://schemas.openxmlformats.org/officeDocument/2006/customXml" ds:itemID="{4D3BCDA9-67E3-45FF-81E5-241178038300}"/>
</file>

<file path=customXml/itemProps3.xml><?xml version="1.0" encoding="utf-8"?>
<ds:datastoreItem xmlns:ds="http://schemas.openxmlformats.org/officeDocument/2006/customXml" ds:itemID="{6E991952-6880-4231-AD74-FBAD2A125E4D}"/>
</file>

<file path=docProps/app.xml><?xml version="1.0" encoding="utf-8"?>
<Properties xmlns="http://schemas.openxmlformats.org/officeDocument/2006/extended-properties" xmlns:vt="http://schemas.openxmlformats.org/officeDocument/2006/docPropsVTypes">
  <Template>Chapter 1</Template>
  <TotalTime>413</TotalTime>
  <Words>2009</Words>
  <Application>Microsoft Office PowerPoint</Application>
  <PresentationFormat>On-screen Show (4:3)</PresentationFormat>
  <Paragraphs>430</Paragraphs>
  <Slides>34</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34</vt:i4>
      </vt:variant>
    </vt:vector>
  </HeadingPairs>
  <TitlesOfParts>
    <vt:vector size="43" baseType="lpstr">
      <vt:lpstr>Arial</vt:lpstr>
      <vt:lpstr>Book Antiqua</vt:lpstr>
      <vt:lpstr>Calibri</vt:lpstr>
      <vt:lpstr>Cambria Math</vt:lpstr>
      <vt:lpstr>Tahoma</vt:lpstr>
      <vt:lpstr>Times New Roman</vt:lpstr>
      <vt:lpstr>Global</vt:lpstr>
      <vt:lpstr>Global</vt:lpstr>
      <vt:lpstr>Equation</vt:lpstr>
      <vt:lpstr>Machine Learning in Business, 3rd Edition</vt:lpstr>
      <vt:lpstr>Unsupervised Learning</vt:lpstr>
      <vt:lpstr>Clustering Customers </vt:lpstr>
      <vt:lpstr>Feature Scaling (page 24-25)</vt:lpstr>
      <vt:lpstr>Feature Scaling Summary</vt:lpstr>
      <vt:lpstr>A Distance Measure</vt:lpstr>
      <vt:lpstr>Distance Measure continued</vt:lpstr>
      <vt:lpstr>Cluster Centers (Table 2.1)</vt:lpstr>
      <vt:lpstr>k-means algorithm to find k clusters (Figure 2.2) </vt:lpstr>
      <vt:lpstr>A Simple Example</vt:lpstr>
      <vt:lpstr>Example Continued</vt:lpstr>
      <vt:lpstr>Example continued</vt:lpstr>
      <vt:lpstr>Example continued</vt:lpstr>
      <vt:lpstr>Example continued</vt:lpstr>
      <vt:lpstr>Example continued</vt:lpstr>
      <vt:lpstr>Inertia</vt:lpstr>
      <vt:lpstr>Choosing k</vt:lpstr>
      <vt:lpstr>The elbow method (In this example k=4 is suggested)</vt:lpstr>
      <vt:lpstr>The Curse of Dimensionality (page 33)</vt:lpstr>
      <vt:lpstr>Country Risk Case</vt:lpstr>
      <vt:lpstr>Part of Original Data (Table 2.2)</vt:lpstr>
      <vt:lpstr>Data after Z-score Scaling </vt:lpstr>
      <vt:lpstr>Scaled corruption and legal risk were highly correlated</vt:lpstr>
      <vt:lpstr>How the total within-cluster sum of squares declines as k increases when k-means algorithm is used (Figure 2.6)</vt:lpstr>
      <vt:lpstr>Silhouette scores (suggest k=3)</vt:lpstr>
      <vt:lpstr>Cluster centers (scaled values) Table 2.5 Note that high values for the peace index are bad whereas high values for the legal risk index are good </vt:lpstr>
      <vt:lpstr>Hierarchical Clustering (page 39-40)</vt:lpstr>
      <vt:lpstr>Density-based clustering</vt:lpstr>
      <vt:lpstr>Density-based Clustering Examples</vt:lpstr>
      <vt:lpstr>Distribution-based Clustering</vt:lpstr>
      <vt:lpstr>Principal Components Analysis</vt:lpstr>
      <vt:lpstr>Example: Daily interest rate changes</vt:lpstr>
      <vt:lpstr>Interest rate changes continued</vt:lpstr>
      <vt:lpstr>Application to Country Risk case when all 4 features are used (Tables 2.11 and 2.12)</vt:lpstr>
    </vt:vector>
  </TitlesOfParts>
  <Company>Joseph L. 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Unsupervised Learning</dc:title>
  <dc:subject>Machine Learning in Business</dc:subject>
  <dc:creator>hull</dc:creator>
  <cp:keywords>Chapter 2</cp:keywords>
  <dc:description>Copyright 2019 by John C. Hull. All Rights Reserved. Published 2019</dc:description>
  <cp:lastModifiedBy>John Hull</cp:lastModifiedBy>
  <cp:revision>43</cp:revision>
  <dcterms:created xsi:type="dcterms:W3CDTF">2019-07-16T16:13:50Z</dcterms:created>
  <dcterms:modified xsi:type="dcterms:W3CDTF">2021-05-28T00:13:00Z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