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07B207-53D0-42FB-B245-53F166E2000A}" v="1" dt="2021-05-28T16:55:17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596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5C07B207-53D0-42FB-B245-53F166E2000A}"/>
    <pc:docChg chg="modSld">
      <pc:chgData name="John Hull" userId="b3f65f64fa01e6a6" providerId="LiveId" clId="{5C07B207-53D0-42FB-B245-53F166E2000A}" dt="2021-05-28T16:56:34.260" v="19" actId="20577"/>
      <pc:docMkLst>
        <pc:docMk/>
      </pc:docMkLst>
      <pc:sldChg chg="modSp">
        <pc:chgData name="John Hull" userId="b3f65f64fa01e6a6" providerId="LiveId" clId="{5C07B207-53D0-42FB-B245-53F166E2000A}" dt="2021-05-28T16:55:17.095" v="0" actId="1036"/>
        <pc:sldMkLst>
          <pc:docMk/>
          <pc:sldMk cId="2609102905" sldId="256"/>
        </pc:sldMkLst>
        <pc:spChg chg="mod">
          <ac:chgData name="John Hull" userId="b3f65f64fa01e6a6" providerId="LiveId" clId="{5C07B207-53D0-42FB-B245-53F166E2000A}" dt="2021-05-28T16:55:17.095" v="0" actId="1036"/>
          <ac:spMkLst>
            <pc:docMk/>
            <pc:sldMk cId="2609102905" sldId="256"/>
            <ac:spMk id="2" creationId="{00000000-0000-0000-0000-000000000000}"/>
          </ac:spMkLst>
        </pc:spChg>
      </pc:sldChg>
      <pc:sldChg chg="modSp mod">
        <pc:chgData name="John Hull" userId="b3f65f64fa01e6a6" providerId="LiveId" clId="{5C07B207-53D0-42FB-B245-53F166E2000A}" dt="2021-05-28T16:55:53.529" v="10" actId="20577"/>
        <pc:sldMkLst>
          <pc:docMk/>
          <pc:sldMk cId="51225564" sldId="260"/>
        </pc:sldMkLst>
        <pc:spChg chg="mod">
          <ac:chgData name="John Hull" userId="b3f65f64fa01e6a6" providerId="LiveId" clId="{5C07B207-53D0-42FB-B245-53F166E2000A}" dt="2021-05-28T16:55:53.529" v="10" actId="20577"/>
          <ac:spMkLst>
            <pc:docMk/>
            <pc:sldMk cId="51225564" sldId="260"/>
            <ac:spMk id="2" creationId="{00000000-0000-0000-0000-000000000000}"/>
          </ac:spMkLst>
        </pc:spChg>
      </pc:sldChg>
      <pc:sldChg chg="modSp mod">
        <pc:chgData name="John Hull" userId="b3f65f64fa01e6a6" providerId="LiveId" clId="{5C07B207-53D0-42FB-B245-53F166E2000A}" dt="2021-05-28T16:56:34.260" v="19" actId="20577"/>
        <pc:sldMkLst>
          <pc:docMk/>
          <pc:sldMk cId="1399106106" sldId="265"/>
        </pc:sldMkLst>
        <pc:spChg chg="mod">
          <ac:chgData name="John Hull" userId="b3f65f64fa01e6a6" providerId="LiveId" clId="{5C07B207-53D0-42FB-B245-53F166E2000A}" dt="2021-05-28T16:56:34.260" v="19" actId="20577"/>
          <ac:spMkLst>
            <pc:docMk/>
            <pc:sldMk cId="1399106106" sldId="265"/>
            <ac:spMk id="2" creationId="{00000000-0000-0000-0000-000000000000}"/>
          </ac:spMkLst>
        </pc:spChg>
      </pc:sldChg>
      <pc:sldChg chg="modSp mod">
        <pc:chgData name="John Hull" userId="b3f65f64fa01e6a6" providerId="LiveId" clId="{5C07B207-53D0-42FB-B245-53F166E2000A}" dt="2021-05-28T16:56:11.593" v="16" actId="20577"/>
        <pc:sldMkLst>
          <pc:docMk/>
          <pc:sldMk cId="602170531" sldId="266"/>
        </pc:sldMkLst>
        <pc:spChg chg="mod">
          <ac:chgData name="John Hull" userId="b3f65f64fa01e6a6" providerId="LiveId" clId="{5C07B207-53D0-42FB-B245-53F166E2000A}" dt="2021-05-28T16:56:11.593" v="16" actId="20577"/>
          <ac:spMkLst>
            <pc:docMk/>
            <pc:sldMk cId="602170531" sldId="266"/>
            <ac:spMk id="2" creationId="{00000000-0000-0000-0000-000000000000}"/>
          </ac:spMkLst>
        </pc:spChg>
      </pc:sldChg>
      <pc:sldChg chg="modSp mod">
        <pc:chgData name="John Hull" userId="b3f65f64fa01e6a6" providerId="LiveId" clId="{5C07B207-53D0-42FB-B245-53F166E2000A}" dt="2021-05-28T16:55:35.554" v="4" actId="20577"/>
        <pc:sldMkLst>
          <pc:docMk/>
          <pc:sldMk cId="3195680175" sldId="268"/>
        </pc:sldMkLst>
        <pc:spChg chg="mod">
          <ac:chgData name="John Hull" userId="b3f65f64fa01e6a6" providerId="LiveId" clId="{5C07B207-53D0-42FB-B245-53F166E2000A}" dt="2021-05-28T16:55:35.554" v="4" actId="20577"/>
          <ac:spMkLst>
            <pc:docMk/>
            <pc:sldMk cId="3195680175" sldId="26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  <a:t>2021-05-28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1B6D3A3B-A035-4D56-92E0-63B1FF403E3D}" type="datetime1">
              <a:rPr lang="en-CA" smtClean="0"/>
              <a:t>2021-05-28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744A2B55-1A63-4A3D-96E8-A67DAA5B26CE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3E8DAF-8A14-4118-8186-37F7C01AD6B9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5C5620-6FEB-4898-818D-9896803EA668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62DD6F-D67A-48A9-AD6A-2DA4ADDBACF4}" type="datetime1">
              <a:rPr lang="en-CA" smtClean="0"/>
              <a:t>2021-05-28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5CE118-E8B8-49B4-B72E-C0B8A825E3AC}" type="datetime1">
              <a:rPr lang="en-CA" smtClean="0"/>
              <a:t>2021-05-28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CF5295-CE8F-4F17-84F6-00471BBAF83D}" type="datetime1">
              <a:rPr lang="en-CA" smtClean="0"/>
              <a:t>2021-05-28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454DAA-9244-4D84-83F2-3529B455A2A0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8B6D9-FD09-45A4-93FA-19C4892ACD23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1AF6CD-F980-4E0B-AF3F-29BFE8E3C1DB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3A9B3-3402-4F08-9443-CC2C59142BDC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D996CB-DBF2-4B00-87A3-819019B341EE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1A427B-3A64-4635-8002-D963126F2479}" type="datetime1">
              <a:rPr lang="en-CA" smtClean="0"/>
              <a:t>2021-05-28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544769-BD68-4E82-AE06-DA32C40ABC8F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9401EF6E-05B1-4F8C-9927-8BDD4E5E9B3E}" type="datetime1">
              <a:rPr lang="en-CA" smtClean="0"/>
              <a:t>2021-05-28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858888"/>
            <a:ext cx="6127576" cy="2362200"/>
          </a:xfrm>
        </p:spPr>
        <p:txBody>
          <a:bodyPr/>
          <a:lstStyle/>
          <a:p>
            <a:r>
              <a:rPr lang="en-US" dirty="0"/>
              <a:t>Machine Learning in Business,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  <a:br>
              <a:rPr lang="en-US" dirty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r>
              <a:rPr lang="en-US" sz="3600" dirty="0"/>
              <a:t>Chapter 11</a:t>
            </a:r>
          </a:p>
          <a:p>
            <a:r>
              <a:rPr lang="en-US" sz="3600" dirty="0"/>
              <a:t>Issues for Society</a:t>
            </a:r>
            <a:endParaRPr lang="en-CA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10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Issues with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Data privacy</a:t>
            </a:r>
          </a:p>
          <a:p>
            <a:r>
              <a:rPr lang="en-CA" dirty="0"/>
              <a:t>Biases </a:t>
            </a:r>
          </a:p>
          <a:p>
            <a:r>
              <a:rPr lang="en-CA" dirty="0"/>
              <a:t>Ethics</a:t>
            </a:r>
          </a:p>
          <a:p>
            <a:r>
              <a:rPr lang="en-CA" dirty="0"/>
              <a:t>Transparency</a:t>
            </a:r>
          </a:p>
          <a:p>
            <a:r>
              <a:rPr lang="en-US" dirty="0"/>
              <a:t>Adversarial machine learning</a:t>
            </a:r>
          </a:p>
          <a:p>
            <a:r>
              <a:rPr lang="en-US" dirty="0"/>
              <a:t>Legal issues</a:t>
            </a:r>
            <a:endParaRPr lang="en-CA" dirty="0"/>
          </a:p>
          <a:p>
            <a:r>
              <a:rPr lang="en-US" dirty="0"/>
              <a:t>Man vs. machine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142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Privacy (EU), page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Cambridge </a:t>
            </a:r>
            <a:r>
              <a:rPr lang="en-US" dirty="0" err="1"/>
              <a:t>Analytica</a:t>
            </a:r>
            <a:r>
              <a:rPr lang="en-US" dirty="0"/>
              <a:t> story has raised concerns about data privacy </a:t>
            </a:r>
            <a:endParaRPr lang="en-CA" dirty="0"/>
          </a:p>
          <a:p>
            <a:r>
              <a:rPr lang="en-CA" dirty="0"/>
              <a:t>General Data Protection Regulation:</a:t>
            </a:r>
          </a:p>
          <a:p>
            <a:pPr lvl="1"/>
            <a:r>
              <a:rPr lang="en-CA" dirty="0"/>
              <a:t>Recognizes that data is valuable</a:t>
            </a:r>
          </a:p>
          <a:p>
            <a:pPr lvl="1"/>
            <a:r>
              <a:rPr lang="en-CA" dirty="0"/>
              <a:t>Companies need consent for using data for other than the purpose it was collected</a:t>
            </a:r>
          </a:p>
          <a:p>
            <a:pPr lvl="1"/>
            <a:r>
              <a:rPr lang="en-CA" dirty="0"/>
              <a:t>Must provide data breach notifications</a:t>
            </a:r>
          </a:p>
          <a:p>
            <a:pPr lvl="1"/>
            <a:r>
              <a:rPr lang="en-US" dirty="0"/>
              <a:t>Citizen have a “right to explanation”</a:t>
            </a:r>
            <a:endParaRPr lang="en-CA" dirty="0"/>
          </a:p>
          <a:p>
            <a:pPr lvl="1"/>
            <a:r>
              <a:rPr lang="en-CA" dirty="0"/>
              <a:t>Safe handling across borders</a:t>
            </a:r>
          </a:p>
          <a:p>
            <a:pPr lvl="1"/>
            <a:r>
              <a:rPr lang="en-CA" dirty="0"/>
              <a:t>Must appoint data protection officer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680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900" y="838201"/>
            <a:ext cx="7200800" cy="563564"/>
          </a:xfrm>
        </p:spPr>
        <p:txBody>
          <a:bodyPr>
            <a:normAutofit/>
          </a:bodyPr>
          <a:lstStyle/>
          <a:p>
            <a:r>
              <a:rPr lang="en-CA" sz="2800" dirty="0"/>
              <a:t>Biases in Data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Machine Learning in Business, 3rd Ed. Copyright © John C. Hull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823BAD-F2F5-41A4-878B-C3B9F3B5E5E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>
          <a:xfrm>
            <a:off x="251521" y="1924622"/>
            <a:ext cx="8637640" cy="4752528"/>
          </a:xfrm>
        </p:spPr>
        <p:txBody>
          <a:bodyPr/>
          <a:lstStyle/>
          <a:p>
            <a:r>
              <a:rPr lang="en-CA" sz="2000" dirty="0"/>
              <a:t>Literary Digest predicted Landon (Republican) would beat Roosevelt (Democrat) by 57.1% to 42.9% in 1936 for U.S. president. This was based on polling 10 million people (2.4 million responding) consisting of its readers, telephone users, and those with car registrations</a:t>
            </a:r>
          </a:p>
          <a:p>
            <a:r>
              <a:rPr lang="en-CA" sz="2000" dirty="0"/>
              <a:t>Some facial recognition software was trained largely on images of white people which led to problems</a:t>
            </a:r>
          </a:p>
          <a:p>
            <a:r>
              <a:rPr lang="en-CA" sz="2000" dirty="0"/>
              <a:t>Data used to make loan decisions likely to reflect existing criteria</a:t>
            </a:r>
          </a:p>
          <a:p>
            <a:r>
              <a:rPr lang="en-CA" sz="2000" dirty="0"/>
              <a:t>Analysts may consciously or unconsciously incorporate their biases in the selection of features, the choice of models, the way data is cleaned, </a:t>
            </a:r>
            <a:r>
              <a:rPr lang="en-CA" sz="2000" dirty="0" err="1"/>
              <a:t>etc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13239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Ethics (pages 232-233)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It is clearly unacceptable to base decisions on race, gender, or other sensitive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Including features that are highly correlated with the sensitive inputs should be avoided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China’s social credit system which provides credit scores for citizens or businesses is controversial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ethics considerations: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of ML in warfare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trolley problem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Can machines be trained to be ethical in the data used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22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Consumers have a right to know why a certain decision (</a:t>
            </a:r>
            <a:r>
              <a:rPr lang="en-CA" dirty="0" err="1"/>
              <a:t>e.g</a:t>
            </a:r>
            <a:r>
              <a:rPr lang="en-CA" dirty="0"/>
              <a:t>, a loan being refused)  was made. </a:t>
            </a:r>
          </a:p>
          <a:p>
            <a:r>
              <a:rPr lang="en-CA" dirty="0"/>
              <a:t>Predictions need to be explained. “Black box” algorithms are not likely to be acceptable.</a:t>
            </a:r>
          </a:p>
          <a:p>
            <a:r>
              <a:rPr lang="en-CA" dirty="0"/>
              <a:t>This means that in addition to making a prediction the algorithm must output the relative importance of different features in reaching conclusions</a:t>
            </a:r>
          </a:p>
          <a:p>
            <a:r>
              <a:rPr lang="en-US" dirty="0"/>
              <a:t>It can do this by investigating the importance of a feature by changing its value or removing it from the analysis altogether</a:t>
            </a:r>
          </a:p>
          <a:p>
            <a:r>
              <a:rPr lang="en-US" dirty="0"/>
              <a:t>The Hans story</a:t>
            </a:r>
            <a:endParaRPr lang="en-CA" dirty="0"/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84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212137" cy="1143000"/>
          </a:xfrm>
        </p:spPr>
        <p:txBody>
          <a:bodyPr/>
          <a:lstStyle/>
          <a:p>
            <a:r>
              <a:rPr lang="en-US" dirty="0"/>
              <a:t>Adversarial Machine Learning (page 233-234)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Machines are easier to fool than human beings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Avoiding spam filters</a:t>
            </a:r>
          </a:p>
          <a:p>
            <a:pPr lvl="1"/>
            <a:r>
              <a:rPr lang="en-US" dirty="0"/>
              <a:t>Spoofing financial markets</a:t>
            </a:r>
          </a:p>
          <a:p>
            <a:pPr lvl="1"/>
            <a:r>
              <a:rPr lang="en-US" dirty="0"/>
              <a:t>Confusing driverless cars</a:t>
            </a:r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2170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issues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driverless car hits a pedestrian, who is liable:</a:t>
            </a:r>
          </a:p>
          <a:p>
            <a:pPr lvl="1"/>
            <a:r>
              <a:rPr lang="en-US" dirty="0"/>
              <a:t>The person who programmed the car?</a:t>
            </a:r>
          </a:p>
          <a:p>
            <a:pPr lvl="1"/>
            <a:r>
              <a:rPr lang="en-US" dirty="0"/>
              <a:t>The manufacturer of the car?</a:t>
            </a:r>
          </a:p>
          <a:p>
            <a:pPr lvl="1"/>
            <a:r>
              <a:rPr lang="en-US" dirty="0"/>
              <a:t>The owner of the car?</a:t>
            </a:r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273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Technology interacting with 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can be dangerous</a:t>
            </a:r>
          </a:p>
          <a:p>
            <a:r>
              <a:rPr lang="en-CA" dirty="0"/>
              <a:t>An extreme example is Microsoft’s Tay </a:t>
            </a:r>
            <a:r>
              <a:rPr lang="en-CA" dirty="0" err="1"/>
              <a:t>chatbot</a:t>
            </a:r>
            <a:endParaRPr lang="en-CA" dirty="0"/>
          </a:p>
          <a:p>
            <a:r>
              <a:rPr lang="en-CA" dirty="0"/>
              <a:t>This interacted with teenagers via Twitter and learned politically incorrect phrases</a:t>
            </a:r>
          </a:p>
          <a:p>
            <a:r>
              <a:rPr lang="en-CA" dirty="0"/>
              <a:t>It was shut down after only one day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7248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Limitations of ML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relies on historical data</a:t>
            </a:r>
          </a:p>
          <a:p>
            <a:r>
              <a:rPr lang="en-US" dirty="0"/>
              <a:t>If there is a regime change so that historical data no longer applies then ML will not be a good guide to decision making</a:t>
            </a:r>
          </a:p>
          <a:p>
            <a:r>
              <a:rPr lang="en-US" dirty="0"/>
              <a:t>How would self-driving cars perform if rules on left or right turning were change</a:t>
            </a:r>
            <a:r>
              <a:rPr lang="en-US" i="1" dirty="0"/>
              <a:t>d</a:t>
            </a:r>
            <a:r>
              <a:rPr lang="en-US" dirty="0"/>
              <a:t>?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9472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 vs. Machine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beings will need to learn how to manage large data sets and interpret the output from machine learning algorithms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9939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900" y="1271588"/>
            <a:ext cx="7200800" cy="563563"/>
          </a:xfrm>
        </p:spPr>
        <p:txBody>
          <a:bodyPr>
            <a:noAutofit/>
          </a:bodyPr>
          <a:lstStyle/>
          <a:p>
            <a:r>
              <a:rPr lang="en-US" dirty="0"/>
              <a:t>Industrial Revolutions (</a:t>
            </a:r>
            <a:r>
              <a:rPr lang="en-US"/>
              <a:t>page 235)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Steam engine and water power (1760-1840)</a:t>
            </a:r>
          </a:p>
          <a:p>
            <a:r>
              <a:rPr lang="en-CA" sz="2400" dirty="0"/>
              <a:t>Electricity and mass production (1840-1920)</a:t>
            </a:r>
          </a:p>
          <a:p>
            <a:r>
              <a:rPr lang="en-CA" sz="2400" dirty="0"/>
              <a:t>Computers and digital technology (1950-2000)</a:t>
            </a:r>
          </a:p>
          <a:p>
            <a:r>
              <a:rPr lang="en-CA" sz="2400" dirty="0"/>
              <a:t>AI and data science (2000 onward)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Machine Learning in Business, 3rd Ed. Copyright © John C. Hull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9106106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BB52AF-C958-46CC-905D-7ED60B2B6F5C}"/>
</file>

<file path=customXml/itemProps2.xml><?xml version="1.0" encoding="utf-8"?>
<ds:datastoreItem xmlns:ds="http://schemas.openxmlformats.org/officeDocument/2006/customXml" ds:itemID="{5F4888E1-B588-49CA-93F1-C1DA1245DC8C}"/>
</file>

<file path=customXml/itemProps3.xml><?xml version="1.0" encoding="utf-8"?>
<ds:datastoreItem xmlns:ds="http://schemas.openxmlformats.org/officeDocument/2006/customXml" ds:itemID="{38478193-D809-48C6-9E81-5EF247EA17ED}"/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2164</TotalTime>
  <Words>758</Words>
  <Application>Microsoft Office PowerPoint</Application>
  <PresentationFormat>On-screen Show (4:3)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Tahoma</vt:lpstr>
      <vt:lpstr>Times New Roman</vt:lpstr>
      <vt:lpstr>Global</vt:lpstr>
      <vt:lpstr>Machine Learning in Business, 3rd Edition </vt:lpstr>
      <vt:lpstr>Issues with Machine Learning</vt:lpstr>
      <vt:lpstr>Data Privacy (EU), page 230</vt:lpstr>
      <vt:lpstr>Biases in Data</vt:lpstr>
      <vt:lpstr>Ethics (pages 232-233)</vt:lpstr>
      <vt:lpstr>Transparency</vt:lpstr>
      <vt:lpstr>Adversarial Machine Learning (page 233-234)</vt:lpstr>
      <vt:lpstr>Legal issues </vt:lpstr>
      <vt:lpstr>Technology interacting with humans</vt:lpstr>
      <vt:lpstr> Limitations of ML</vt:lpstr>
      <vt:lpstr>Man vs. Machine</vt:lpstr>
      <vt:lpstr>Industrial Revolutions (page 235)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Issues for Society</dc:title>
  <dc:subject>Machine Learning in Business</dc:subject>
  <dc:creator>hull</dc:creator>
  <cp:keywords>Chapter 8</cp:keywords>
  <dc:description>Copyright 2019 by John C. Hull. All Rights Reserved. Published 2019.</dc:description>
  <cp:lastModifiedBy>John Hull</cp:lastModifiedBy>
  <cp:revision>74</cp:revision>
  <dcterms:created xsi:type="dcterms:W3CDTF">2019-07-16T22:03:37Z</dcterms:created>
  <dcterms:modified xsi:type="dcterms:W3CDTF">2021-05-28T16:56:38Z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